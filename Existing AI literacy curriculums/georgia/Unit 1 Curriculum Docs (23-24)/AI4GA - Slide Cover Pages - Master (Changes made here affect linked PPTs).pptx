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Helvetica Neue"/>
      <p:regular r:id="rId19"/>
      <p:bold r:id="rId20"/>
      <p:italic r:id="rId21"/>
      <p:boldItalic r:id="rId22"/>
    </p:embeddedFont>
    <p:embeddedFont>
      <p:font typeface="Merriweather"/>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fntdata"/><Relationship Id="rId22" Type="http://schemas.openxmlformats.org/officeDocument/2006/relationships/font" Target="fonts/HelveticaNeue-boldItalic.fntdata"/><Relationship Id="rId21" Type="http://schemas.openxmlformats.org/officeDocument/2006/relationships/font" Target="fonts/HelveticaNeue-italic.fntdata"/><Relationship Id="rId24" Type="http://schemas.openxmlformats.org/officeDocument/2006/relationships/font" Target="fonts/Merriweather-bold.fntdata"/><Relationship Id="rId23" Type="http://schemas.openxmlformats.org/officeDocument/2006/relationships/font" Target="fonts/Merriweath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boldItalic.fntdata"/><Relationship Id="rId25" Type="http://schemas.openxmlformats.org/officeDocument/2006/relationships/font" Target="fonts/Merriweath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HelveticaNeue-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be0ad674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be0ad674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5be0ad674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5be0ad674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5be0ad674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5be0ad674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5be0ad674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5be0ad674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5be0ad674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5be0ad674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5be0ad674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5be0ad674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5be0ad674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5be0ad674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5be0ad674d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5be0ad674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be0ad674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5be0ad674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5be0ad674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5be0ad674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5be0ad674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5be0ad674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5be0ad674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5be0ad674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5be0ad674d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5be0ad674d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hyperlink" Target="https://creativecommons.org/licenses/by-nc-sa/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hyperlink" Target="https://creativecommons.org/licenses/by-nc-sa/4.0/" TargetMode="External"/><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hyperlink" Target="http://www.youtube.com/watch?v=-e1_QhJ1EhQ" TargetMode="External"/><Relationship Id="rId7"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image" Target="../media/image3.gif"/><Relationship Id="rId7" Type="http://schemas.openxmlformats.org/officeDocument/2006/relationships/hyperlink" Target="https://techcrunch.com/2017/11/07/waymo-now-testing-its-self-driving-cars-on-public-roads-with-no-one-at-the-wheel/" TargetMode="External"/><Relationship Id="rId8" Type="http://schemas.openxmlformats.org/officeDocument/2006/relationships/hyperlink" Target="https://techcrunch.com/author/darrell-etheringt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lab.scratch.mit.edu/face/" TargetMode="External"/><Relationship Id="rId6" Type="http://schemas.openxmlformats.org/officeDocument/2006/relationships/hyperlink" Target="https://creativecommons.org/licenses/by-nc-sa/4.0/" TargetMode="External"/><Relationship Id="rId7" Type="http://schemas.openxmlformats.org/officeDocument/2006/relationships/image" Target="../media/image5.png"/><Relationship Id="rId8" Type="http://schemas.openxmlformats.org/officeDocument/2006/relationships/image" Target="../media/image9.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image" Target="../media/image7.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hyperlink" Target="http://www.youtube.com/watch?v=NHUZxeSUFUk" TargetMode="External"/><Relationship Id="rId7"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hyperlink" Target="http://www.youtube.com/watch?v=NHUZxeSUFUk" TargetMode="External"/><Relationship Id="rId7"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creativecommons.org/licenses/by-nc-sa/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80475" y="2745150"/>
            <a:ext cx="9490800" cy="1591200"/>
          </a:xfrm>
          <a:prstGeom prst="rect">
            <a:avLst/>
          </a:prstGeom>
          <a:solidFill>
            <a:srgbClr val="FCE5CD">
              <a:alpha val="3396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Merriweather"/>
                <a:ea typeface="Merriweather"/>
                <a:cs typeface="Merriweather"/>
                <a:sym typeface="Merriweather"/>
              </a:rPr>
              <a:t>Unit 1</a:t>
            </a:r>
            <a:endParaRPr sz="2100">
              <a:solidFill>
                <a:schemeClr val="dk2"/>
              </a:solidFill>
              <a:latin typeface="Merriweather"/>
              <a:ea typeface="Merriweather"/>
              <a:cs typeface="Merriweather"/>
              <a:sym typeface="Merriweather"/>
            </a:endParaRPr>
          </a:p>
          <a:p>
            <a:pPr indent="0" lvl="0" marL="0" rtl="0" algn="l">
              <a:spcBef>
                <a:spcPts val="0"/>
              </a:spcBef>
              <a:spcAft>
                <a:spcPts val="0"/>
              </a:spcAft>
              <a:buNone/>
            </a:pPr>
            <a:r>
              <a:rPr lang="en" sz="2100">
                <a:solidFill>
                  <a:schemeClr val="dk2"/>
                </a:solidFill>
                <a:latin typeface="Merriweather"/>
                <a:ea typeface="Merriweather"/>
                <a:cs typeface="Merriweather"/>
                <a:sym typeface="Merriweather"/>
              </a:rPr>
              <a:t>Autonomous</a:t>
            </a:r>
            <a:r>
              <a:rPr lang="en" sz="2100">
                <a:solidFill>
                  <a:schemeClr val="dk2"/>
                </a:solidFill>
                <a:latin typeface="Merriweather"/>
                <a:ea typeface="Merriweather"/>
                <a:cs typeface="Merriweather"/>
                <a:sym typeface="Merriweather"/>
              </a:rPr>
              <a:t> Robots </a:t>
            </a:r>
            <a:endParaRPr sz="2100">
              <a:solidFill>
                <a:schemeClr val="dk2"/>
              </a:solidFill>
              <a:latin typeface="Merriweather"/>
              <a:ea typeface="Merriweather"/>
              <a:cs typeface="Merriweather"/>
              <a:sym typeface="Merriweather"/>
            </a:endParaRPr>
          </a:p>
          <a:p>
            <a:pPr indent="0" lvl="0" marL="0" rtl="0" algn="l">
              <a:spcBef>
                <a:spcPts val="0"/>
              </a:spcBef>
              <a:spcAft>
                <a:spcPts val="0"/>
              </a:spcAft>
              <a:buNone/>
            </a:pPr>
            <a:r>
              <a:rPr lang="en" sz="2100">
                <a:solidFill>
                  <a:schemeClr val="dk2"/>
                </a:solidFill>
                <a:latin typeface="Merriweather"/>
                <a:ea typeface="Merriweather"/>
                <a:cs typeface="Merriweather"/>
                <a:sym typeface="Merriweather"/>
              </a:rPr>
              <a:t>&amp; Self-Driving Cars</a:t>
            </a:r>
            <a:endParaRPr sz="700"/>
          </a:p>
        </p:txBody>
      </p:sp>
      <p:sp>
        <p:nvSpPr>
          <p:cNvPr id="55" name="Google Shape;55;p13"/>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1.1</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Course Overview &amp; 5 Big Ideas in AI</a:t>
            </a:r>
            <a:endParaRPr sz="2800">
              <a:solidFill>
                <a:schemeClr val="dk2"/>
              </a:solidFill>
              <a:latin typeface="Merriweather"/>
              <a:ea typeface="Merriweather"/>
              <a:cs typeface="Merriweather"/>
              <a:sym typeface="Merriweather"/>
            </a:endParaRPr>
          </a:p>
        </p:txBody>
      </p:sp>
      <p:sp>
        <p:nvSpPr>
          <p:cNvPr id="56" name="Google Shape;56;p13"/>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7" name="Google Shape;57;p13"/>
          <p:cNvPicPr preferRelativeResize="0"/>
          <p:nvPr/>
        </p:nvPicPr>
        <p:blipFill>
          <a:blip r:embed="rId3">
            <a:alphaModFix/>
          </a:blip>
          <a:stretch>
            <a:fillRect/>
          </a:stretch>
        </p:blipFill>
        <p:spPr>
          <a:xfrm>
            <a:off x="3148899" y="1754325"/>
            <a:ext cx="4131200" cy="2582000"/>
          </a:xfrm>
          <a:prstGeom prst="rect">
            <a:avLst/>
          </a:prstGeom>
          <a:noFill/>
          <a:ln>
            <a:noFill/>
          </a:ln>
        </p:spPr>
      </p:pic>
      <p:pic>
        <p:nvPicPr>
          <p:cNvPr id="58" name="Google Shape;58;p13"/>
          <p:cNvPicPr preferRelativeResize="0"/>
          <p:nvPr/>
        </p:nvPicPr>
        <p:blipFill>
          <a:blip r:embed="rId4">
            <a:alphaModFix/>
          </a:blip>
          <a:stretch>
            <a:fillRect/>
          </a:stretch>
        </p:blipFill>
        <p:spPr>
          <a:xfrm>
            <a:off x="24425" y="4552275"/>
            <a:ext cx="1375825" cy="481375"/>
          </a:xfrm>
          <a:prstGeom prst="rect">
            <a:avLst/>
          </a:prstGeom>
          <a:noFill/>
          <a:ln>
            <a:noFill/>
          </a:ln>
        </p:spPr>
      </p:pic>
      <p:pic>
        <p:nvPicPr>
          <p:cNvPr id="59" name="Google Shape;59;p13"/>
          <p:cNvPicPr preferRelativeResize="0"/>
          <p:nvPr/>
        </p:nvPicPr>
        <p:blipFill>
          <a:blip r:embed="rId5">
            <a:alphaModFix/>
          </a:blip>
          <a:stretch>
            <a:fillRect/>
          </a:stretch>
        </p:blipFill>
        <p:spPr>
          <a:xfrm>
            <a:off x="100625" y="237362"/>
            <a:ext cx="1979932" cy="2334375"/>
          </a:xfrm>
          <a:prstGeom prst="rect">
            <a:avLst/>
          </a:prstGeom>
          <a:noFill/>
          <a:ln>
            <a:noFill/>
          </a:ln>
        </p:spPr>
      </p:pic>
      <p:sp>
        <p:nvSpPr>
          <p:cNvPr id="60" name="Google Shape;60;p1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t>
            </a:r>
            <a:r>
              <a:rPr b="1" lang="en" sz="2600">
                <a:solidFill>
                  <a:srgbClr val="F89D77"/>
                </a:solidFill>
                <a:latin typeface="Helvetica Neue"/>
                <a:ea typeface="Helvetica Neue"/>
                <a:cs typeface="Helvetica Neue"/>
                <a:sym typeface="Helvetica Neue"/>
              </a:rPr>
              <a:t>and </a:t>
            </a:r>
            <a:r>
              <a:rPr b="1" lang="en" sz="2600">
                <a:solidFill>
                  <a:srgbClr val="F89D77"/>
                </a:solidFill>
                <a:latin typeface="Helvetica Neue"/>
                <a:ea typeface="Helvetica Neue"/>
                <a:cs typeface="Helvetica Neue"/>
                <a:sym typeface="Helvetica Neue"/>
              </a:rPr>
              <a:t>Working with Artificial Intelligence</a:t>
            </a:r>
            <a:endParaRPr b="1" sz="2600">
              <a:solidFill>
                <a:srgbClr val="F89D77"/>
              </a:solidFill>
              <a:latin typeface="Helvetica Neue"/>
              <a:ea typeface="Helvetica Neue"/>
              <a:cs typeface="Helvetica Neue"/>
              <a:sym typeface="Helvetica Neue"/>
            </a:endParaRPr>
          </a:p>
        </p:txBody>
      </p:sp>
      <p:sp>
        <p:nvSpPr>
          <p:cNvPr id="61" name="Google Shape;61;p13"/>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6">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sz="9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1.2 (A)</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Autonomous Robots: Robot or Not</a:t>
            </a:r>
            <a:endParaRPr sz="2800">
              <a:solidFill>
                <a:schemeClr val="dk2"/>
              </a:solidFill>
              <a:latin typeface="Merriweather"/>
              <a:ea typeface="Merriweather"/>
              <a:cs typeface="Merriweather"/>
              <a:sym typeface="Merriweather"/>
            </a:endParaRPr>
          </a:p>
        </p:txBody>
      </p:sp>
      <p:sp>
        <p:nvSpPr>
          <p:cNvPr id="67" name="Google Shape;67;p14"/>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8" name="Google Shape;68;p14"/>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69" name="Google Shape;69;p14"/>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70" name="Google Shape;70;p14"/>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71" name="Google Shape;71;p14"/>
          <p:cNvSpPr txBox="1"/>
          <p:nvPr/>
        </p:nvSpPr>
        <p:spPr>
          <a:xfrm>
            <a:off x="1377450" y="44125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Inspired by the AI or Not Activity developed by MIT. Robot ot Not Activity d</a:t>
            </a:r>
            <a:r>
              <a:rPr lang="en" sz="900">
                <a:solidFill>
                  <a:schemeClr val="dk1"/>
                </a:solidFill>
              </a:rPr>
              <a:t>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6">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72" name="Google Shape;72;p14"/>
          <p:cNvPicPr preferRelativeResize="0"/>
          <p:nvPr/>
        </p:nvPicPr>
        <p:blipFill>
          <a:blip r:embed="rId7">
            <a:alphaModFix/>
          </a:blip>
          <a:stretch>
            <a:fillRect/>
          </a:stretch>
        </p:blipFill>
        <p:spPr>
          <a:xfrm>
            <a:off x="4114863" y="1722849"/>
            <a:ext cx="2199274" cy="2613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1.2 (B)</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Autonomous Robots: Robot Videos</a:t>
            </a:r>
            <a:endParaRPr sz="2800">
              <a:solidFill>
                <a:schemeClr val="dk2"/>
              </a:solidFill>
              <a:latin typeface="Merriweather"/>
              <a:ea typeface="Merriweather"/>
              <a:cs typeface="Merriweather"/>
              <a:sym typeface="Merriweather"/>
            </a:endParaRPr>
          </a:p>
        </p:txBody>
      </p:sp>
      <p:sp>
        <p:nvSpPr>
          <p:cNvPr id="78" name="Google Shape;78;p15"/>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79" name="Google Shape;79;p15"/>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80" name="Google Shape;80;p15"/>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81" name="Google Shape;81;p1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82" name="Google Shape;82;p15"/>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descr="It’s time for Atlas to pick up a new set of skills and get hands on. In this video, the humanoid robot manipulates the world around it: Atlas interacts with objects and modifies the course to reach its goal—pushing the limits of locomotion, sensing, and athleticism.&#10;&#10;To learn how we go from idea to execution, go being the scenes with our team: https://youtu.be/XPVC4IyRTG8&#10;&#10;To learn more about how we enable Atlas to make smart decisions, check out our blog: https://www.bostondynamics.com/resources/blog/picking-momentum&#10;&#10;#BostonDynamics #Robots #Robotics" id="83" name="Google Shape;83;p15" title="Atlas Gets a Grip | Boston Dynamics">
            <a:hlinkClick r:id="rId6"/>
          </p:cNvPr>
          <p:cNvPicPr preferRelativeResize="0"/>
          <p:nvPr/>
        </p:nvPicPr>
        <p:blipFill>
          <a:blip r:embed="rId7">
            <a:alphaModFix/>
          </a:blip>
          <a:stretch>
            <a:fillRect/>
          </a:stretch>
        </p:blipFill>
        <p:spPr>
          <a:xfrm>
            <a:off x="3251063" y="1922979"/>
            <a:ext cx="4019466" cy="2260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1.3 </a:t>
            </a:r>
            <a:br>
              <a:rPr lang="en" sz="2800">
                <a:solidFill>
                  <a:schemeClr val="dk2"/>
                </a:solidFill>
                <a:latin typeface="Merriweather"/>
                <a:ea typeface="Merriweather"/>
                <a:cs typeface="Merriweather"/>
                <a:sym typeface="Merriweather"/>
              </a:rPr>
            </a:br>
            <a:r>
              <a:rPr lang="en" sz="2800">
                <a:solidFill>
                  <a:schemeClr val="dk2"/>
                </a:solidFill>
                <a:latin typeface="Merriweather"/>
                <a:ea typeface="Merriweather"/>
                <a:cs typeface="Merriweather"/>
                <a:sym typeface="Merriweather"/>
              </a:rPr>
              <a:t>Anatomy of Self-Driving Vehicles &amp; Applications </a:t>
            </a:r>
            <a:endParaRPr sz="2800">
              <a:solidFill>
                <a:schemeClr val="dk2"/>
              </a:solidFill>
              <a:latin typeface="Merriweather"/>
              <a:ea typeface="Merriweather"/>
              <a:cs typeface="Merriweather"/>
              <a:sym typeface="Merriweather"/>
            </a:endParaRPr>
          </a:p>
        </p:txBody>
      </p:sp>
      <p:sp>
        <p:nvSpPr>
          <p:cNvPr id="89" name="Google Shape;89;p16"/>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0" name="Google Shape;90;p16"/>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91" name="Google Shape;91;p16"/>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92" name="Google Shape;92;p16"/>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93" name="Google Shape;93;p16"/>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94" name="Google Shape;94;p16"/>
          <p:cNvPicPr preferRelativeResize="0"/>
          <p:nvPr/>
        </p:nvPicPr>
        <p:blipFill>
          <a:blip r:embed="rId6">
            <a:alphaModFix/>
          </a:blip>
          <a:stretch>
            <a:fillRect/>
          </a:stretch>
        </p:blipFill>
        <p:spPr>
          <a:xfrm>
            <a:off x="3298250" y="2075363"/>
            <a:ext cx="4019490" cy="2260963"/>
          </a:xfrm>
          <a:prstGeom prst="rect">
            <a:avLst/>
          </a:prstGeom>
          <a:noFill/>
          <a:ln>
            <a:noFill/>
          </a:ln>
        </p:spPr>
      </p:pic>
      <p:sp>
        <p:nvSpPr>
          <p:cNvPr id="95" name="Google Shape;95;p16"/>
          <p:cNvSpPr txBox="1"/>
          <p:nvPr/>
        </p:nvSpPr>
        <p:spPr>
          <a:xfrm>
            <a:off x="3298250" y="4242575"/>
            <a:ext cx="4019400" cy="24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rPr>
              <a:t>Source: </a:t>
            </a:r>
            <a:r>
              <a:rPr lang="en" sz="900" u="sng">
                <a:solidFill>
                  <a:schemeClr val="dk1"/>
                </a:solidFill>
                <a:hlinkClick r:id="rId7">
                  <a:extLst>
                    <a:ext uri="{A12FA001-AC4F-418D-AE19-62706E023703}">
                      <ahyp:hlinkClr val="tx"/>
                    </a:ext>
                  </a:extLst>
                </a:hlinkClick>
              </a:rPr>
              <a:t>TechCrunch</a:t>
            </a:r>
            <a:r>
              <a:rPr lang="en" sz="900">
                <a:solidFill>
                  <a:schemeClr val="dk1"/>
                </a:solidFill>
              </a:rPr>
              <a:t> - </a:t>
            </a:r>
            <a:r>
              <a:rPr b="1" lang="en" sz="900">
                <a:solidFill>
                  <a:schemeClr val="dk1"/>
                </a:solidFill>
                <a:uFill>
                  <a:noFill/>
                </a:uFill>
                <a:hlinkClick r:id="rId8">
                  <a:extLst>
                    <a:ext uri="{A12FA001-AC4F-418D-AE19-62706E023703}">
                      <ahyp:hlinkClr val="tx"/>
                    </a:ext>
                  </a:extLst>
                </a:hlinkClick>
              </a:rPr>
              <a:t>Darrell Etherington</a:t>
            </a:r>
            <a:r>
              <a:rPr lang="en" sz="900">
                <a:solidFill>
                  <a:schemeClr val="dk1"/>
                </a:solidFill>
              </a:rPr>
              <a:t> </a:t>
            </a:r>
            <a:endParaRPr sz="9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1.4</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 Robot &amp; Computer Perception</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Clr>
                <a:schemeClr val="dk1"/>
              </a:buClr>
              <a:buSzPct val="39285"/>
              <a:buFont typeface="Arial"/>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101" name="Google Shape;101;p17"/>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2" name="Google Shape;102;p17"/>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03" name="Google Shape;103;p17"/>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04" name="Google Shape;104;p17"/>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05" name="Google Shape;105;p17"/>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06" name="Google Shape;106;p17"/>
          <p:cNvPicPr preferRelativeResize="0"/>
          <p:nvPr/>
        </p:nvPicPr>
        <p:blipFill>
          <a:blip r:embed="rId6">
            <a:alphaModFix/>
          </a:blip>
          <a:stretch>
            <a:fillRect/>
          </a:stretch>
        </p:blipFill>
        <p:spPr>
          <a:xfrm>
            <a:off x="3298250" y="1626250"/>
            <a:ext cx="3948850" cy="2633875"/>
          </a:xfrm>
          <a:prstGeom prst="rect">
            <a:avLst/>
          </a:prstGeom>
          <a:noFill/>
          <a:ln>
            <a:noFill/>
          </a:ln>
        </p:spPr>
      </p:pic>
      <p:sp>
        <p:nvSpPr>
          <p:cNvPr id="107" name="Google Shape;107;p17"/>
          <p:cNvSpPr txBox="1"/>
          <p:nvPr/>
        </p:nvSpPr>
        <p:spPr>
          <a:xfrm>
            <a:off x="4146425" y="4185725"/>
            <a:ext cx="2681100" cy="1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Licensed from </a:t>
            </a:r>
            <a:r>
              <a:rPr lang="en" sz="1000"/>
              <a:t>Adobe Stock Images</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1.4</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Scratch Face Filter Activity</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113" name="Google Shape;113;p18"/>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14" name="Google Shape;114;p18"/>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15" name="Google Shape;115;p18"/>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16" name="Google Shape;116;p18"/>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17" name="Google Shape;117;p18"/>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Face Filter Activity adapted from the starter project available  from the Scratch Face Sensing Lab </a:t>
            </a:r>
            <a:r>
              <a:rPr lang="en" sz="900" u="sng">
                <a:solidFill>
                  <a:schemeClr val="hlink"/>
                </a:solidFill>
                <a:hlinkClick r:id="rId5"/>
              </a:rPr>
              <a:t>https://lab.scratch.mit.edu/face/</a:t>
            </a:r>
            <a:r>
              <a:rPr lang="en" sz="900">
                <a:solidFill>
                  <a:schemeClr val="dk1"/>
                </a:solidFill>
              </a:rPr>
              <a:t>. Activity d</a:t>
            </a:r>
            <a:r>
              <a:rPr lang="en" sz="900">
                <a:solidFill>
                  <a:schemeClr val="dk1"/>
                </a:solidFill>
              </a:rPr>
              <a:t>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6">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18" name="Google Shape;118;p18"/>
          <p:cNvPicPr preferRelativeResize="0"/>
          <p:nvPr/>
        </p:nvPicPr>
        <p:blipFill>
          <a:blip r:embed="rId7">
            <a:alphaModFix/>
          </a:blip>
          <a:stretch>
            <a:fillRect/>
          </a:stretch>
        </p:blipFill>
        <p:spPr>
          <a:xfrm>
            <a:off x="2966702" y="1733850"/>
            <a:ext cx="1476324" cy="2334400"/>
          </a:xfrm>
          <a:prstGeom prst="rect">
            <a:avLst/>
          </a:prstGeom>
          <a:noFill/>
          <a:ln>
            <a:noFill/>
          </a:ln>
        </p:spPr>
      </p:pic>
      <p:pic>
        <p:nvPicPr>
          <p:cNvPr id="119" name="Google Shape;119;p18"/>
          <p:cNvPicPr preferRelativeResize="0"/>
          <p:nvPr/>
        </p:nvPicPr>
        <p:blipFill>
          <a:blip r:embed="rId8">
            <a:alphaModFix/>
          </a:blip>
          <a:stretch>
            <a:fillRect/>
          </a:stretch>
        </p:blipFill>
        <p:spPr>
          <a:xfrm>
            <a:off x="4859138" y="2060090"/>
            <a:ext cx="3107713" cy="1986715"/>
          </a:xfrm>
          <a:prstGeom prst="rect">
            <a:avLst/>
          </a:prstGeom>
          <a:noFill/>
          <a:ln>
            <a:noFill/>
          </a:ln>
        </p:spPr>
      </p:pic>
      <p:sp>
        <p:nvSpPr>
          <p:cNvPr id="120" name="Google Shape;120;p18"/>
          <p:cNvSpPr txBox="1"/>
          <p:nvPr/>
        </p:nvSpPr>
        <p:spPr>
          <a:xfrm>
            <a:off x="2919425" y="4125900"/>
            <a:ext cx="4665900" cy="27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Source: Scratch Face Sensing Lab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1.5</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 Route Finding</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126" name="Google Shape;126;p19"/>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27" name="Google Shape;127;p19"/>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28" name="Google Shape;128;p19"/>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29" name="Google Shape;129;p19"/>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30" name="Google Shape;130;p19"/>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31" name="Google Shape;131;p19"/>
          <p:cNvPicPr preferRelativeResize="0"/>
          <p:nvPr/>
        </p:nvPicPr>
        <p:blipFill rotWithShape="1">
          <a:blip r:embed="rId6">
            <a:alphaModFix/>
          </a:blip>
          <a:srcRect b="0" l="0" r="0" t="15081"/>
          <a:stretch/>
        </p:blipFill>
        <p:spPr>
          <a:xfrm>
            <a:off x="4097100" y="1684625"/>
            <a:ext cx="3863000" cy="2727900"/>
          </a:xfrm>
          <a:prstGeom prst="rect">
            <a:avLst/>
          </a:prstGeom>
          <a:noFill/>
          <a:ln>
            <a:noFill/>
          </a:ln>
        </p:spPr>
      </p:pic>
      <p:pic>
        <p:nvPicPr>
          <p:cNvPr id="132" name="Google Shape;132;p19"/>
          <p:cNvPicPr preferRelativeResize="0"/>
          <p:nvPr/>
        </p:nvPicPr>
        <p:blipFill>
          <a:blip r:embed="rId7">
            <a:alphaModFix/>
          </a:blip>
          <a:stretch>
            <a:fillRect/>
          </a:stretch>
        </p:blipFill>
        <p:spPr>
          <a:xfrm>
            <a:off x="2918750" y="2042410"/>
            <a:ext cx="1979924" cy="2250679"/>
          </a:xfrm>
          <a:prstGeom prst="rect">
            <a:avLst/>
          </a:prstGeom>
          <a:noFill/>
          <a:ln>
            <a:noFill/>
          </a:ln>
        </p:spPr>
      </p:pic>
      <p:sp>
        <p:nvSpPr>
          <p:cNvPr id="133" name="Google Shape;133;p19"/>
          <p:cNvSpPr txBox="1"/>
          <p:nvPr/>
        </p:nvSpPr>
        <p:spPr>
          <a:xfrm>
            <a:off x="3756950" y="2986325"/>
            <a:ext cx="2181600" cy="666900"/>
          </a:xfrm>
          <a:prstGeom prst="rect">
            <a:avLst/>
          </a:prstGeom>
          <a:solidFill>
            <a:srgbClr val="EEEEEE">
              <a:alpha val="50309"/>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Find a route from Atlanta to Tifton</a:t>
            </a:r>
            <a:endParaRPr b="1"/>
          </a:p>
        </p:txBody>
      </p:sp>
      <p:sp>
        <p:nvSpPr>
          <p:cNvPr id="134" name="Google Shape;134;p19"/>
          <p:cNvSpPr/>
          <p:nvPr/>
        </p:nvSpPr>
        <p:spPr>
          <a:xfrm>
            <a:off x="2760175" y="1714500"/>
            <a:ext cx="5199900" cy="27279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1.6,  Case Study #1:</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Sleeping Drivers in Self-Driving Cars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140" name="Google Shape;140;p20"/>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41" name="Google Shape;141;p20"/>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42" name="Google Shape;142;p20"/>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43" name="Google Shape;143;p20"/>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44" name="Google Shape;144;p20"/>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descr="A motorist on a Massachusetts highway captured a man asleep behind the wheel of his Tesla, presumably in autopilot mode. It’s the latest incident involving semi-autonomous cars that have police and federal safety experts sounding an alarm.&#10;» Subscribe to NBC News: http://nbcnews.to/SubscribeToNBC&#10;» Watch more NBC video: http://bit.ly/MoreNBCNews&#10;&#10;NBC News Digital is a collection of innovative and powerful news brands that deliver compelling, diverse and engaging news stories. NBC News Digital features NBCNews.com, MSNBC.com, TODAY.com, Nightly News, Meet the Press, Dateline, and the existing apps and digital extensions of these respective properties.  We deliver the best in breaking news, live video coverage, original journalism and segments from your favorite NBC News Shows.&#10;&#10;Connect with NBC News Online!&#10;NBC News App: https://smart.link/5d0cd9df61b80&#10;Breaking News Alerts: https://link.nbcnews.com/join/5cj/breaking-news-signup?cid=sm_npd_nn_yt_bn-clip_190621&#10;Visit NBCNews.Com: http://nbcnews.to/ReadNBC&#10;Find NBC News on Facebook: http://nbcnews.to/LikeNBC&#10;Follow NBC News on Twitter: http://nbcnews.to/FollowNBC&#10;Follow NBC News on Instagram: http://nbcnews.to/InstaNBC&#10;&#10;Tesla Driver Caught On Camera Apparently Asleep At The Wheel | NBC Nightly News" id="145" name="Google Shape;145;p20" title="Tesla Driver Caught On Camera Apparently Asleep At The Wheel | NBC Nightly News">
            <a:hlinkClick r:id="rId6"/>
          </p:cNvPr>
          <p:cNvPicPr preferRelativeResize="0"/>
          <p:nvPr/>
        </p:nvPicPr>
        <p:blipFill>
          <a:blip r:embed="rId7">
            <a:alphaModFix/>
          </a:blip>
          <a:stretch>
            <a:fillRect/>
          </a:stretch>
        </p:blipFill>
        <p:spPr>
          <a:xfrm>
            <a:off x="3726525" y="1922975"/>
            <a:ext cx="3112534" cy="2334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1.6,  Case Study #1:</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Sleeping Drivers in Self-Driving Cars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151" name="Google Shape;151;p21"/>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2" name="Google Shape;152;p21"/>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53" name="Google Shape;153;p21"/>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54" name="Google Shape;154;p21"/>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55" name="Google Shape;155;p21"/>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descr="A motorist on a Massachusetts highway captured a man asleep behind the wheel of his Tesla, presumably in autopilot mode. It’s the latest incident involving semi-autonomous cars that have police and federal safety experts sounding an alarm.&#10;» Subscribe to NBC News: http://nbcnews.to/SubscribeToNBC&#10;» Watch more NBC video: http://bit.ly/MoreNBCNews&#10;&#10;NBC News Digital is a collection of innovative and powerful news brands that deliver compelling, diverse and engaging news stories. NBC News Digital features NBCNews.com, MSNBC.com, TODAY.com, Nightly News, Meet the Press, Dateline, and the existing apps and digital extensions of these respective properties.  We deliver the best in breaking news, live video coverage, original journalism and segments from your favorite NBC News Shows.&#10;&#10;Connect with NBC News Online!&#10;NBC News App: https://smart.link/5d0cd9df61b80&#10;Breaking News Alerts: https://link.nbcnews.com/join/5cj/breaking-news-signup?cid=sm_npd_nn_yt_bn-clip_190621&#10;Visit NBCNews.Com: http://nbcnews.to/ReadNBC&#10;Find NBC News on Facebook: http://nbcnews.to/LikeNBC&#10;Follow NBC News on Twitter: http://nbcnews.to/FollowNBC&#10;Follow NBC News on Instagram: http://nbcnews.to/InstaNBC&#10;&#10;Tesla Driver Caught On Camera Apparently Asleep At The Wheel | NBC Nightly News" id="156" name="Google Shape;156;p21" title="Tesla Driver Caught On Camera Apparently Asleep At The Wheel | NBC Nightly News">
            <a:hlinkClick r:id="rId6"/>
          </p:cNvPr>
          <p:cNvPicPr preferRelativeResize="0"/>
          <p:nvPr/>
        </p:nvPicPr>
        <p:blipFill>
          <a:blip r:embed="rId7">
            <a:alphaModFix/>
          </a:blip>
          <a:stretch>
            <a:fillRect/>
          </a:stretch>
        </p:blipFill>
        <p:spPr>
          <a:xfrm>
            <a:off x="3726525" y="1922975"/>
            <a:ext cx="3112534" cy="2334400"/>
          </a:xfrm>
          <a:prstGeom prst="rect">
            <a:avLst/>
          </a:prstGeom>
          <a:noFill/>
          <a:ln>
            <a:noFill/>
          </a:ln>
        </p:spPr>
      </p:pic>
      <p:sp>
        <p:nvSpPr>
          <p:cNvPr id="157" name="Google Shape;157;p21"/>
          <p:cNvSpPr txBox="1"/>
          <p:nvPr/>
        </p:nvSpPr>
        <p:spPr>
          <a:xfrm>
            <a:off x="368925" y="3021750"/>
            <a:ext cx="1980000" cy="8313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Student Activity Slides</a:t>
            </a: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1.7</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Mini-Project: Build Your Own Robot</a:t>
            </a:r>
            <a:endParaRPr sz="28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163" name="Google Shape;163;p22"/>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22"/>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65" name="Google Shape;165;p22"/>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66" name="Google Shape;166;p22"/>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67" name="Google Shape;167;p22"/>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68" name="Google Shape;168;p22"/>
          <p:cNvPicPr preferRelativeResize="0"/>
          <p:nvPr/>
        </p:nvPicPr>
        <p:blipFill>
          <a:blip r:embed="rId6">
            <a:alphaModFix/>
          </a:blip>
          <a:stretch>
            <a:fillRect/>
          </a:stretch>
        </p:blipFill>
        <p:spPr>
          <a:xfrm>
            <a:off x="3866500" y="1775525"/>
            <a:ext cx="2482275" cy="2482275"/>
          </a:xfrm>
          <a:prstGeom prst="rect">
            <a:avLst/>
          </a:prstGeom>
          <a:noFill/>
          <a:ln>
            <a:noFill/>
          </a:ln>
        </p:spPr>
      </p:pic>
      <p:sp>
        <p:nvSpPr>
          <p:cNvPr id="169" name="Google Shape;169;p22"/>
          <p:cNvSpPr txBox="1"/>
          <p:nvPr/>
        </p:nvSpPr>
        <p:spPr>
          <a:xfrm>
            <a:off x="3046825" y="4166825"/>
            <a:ext cx="4856700" cy="3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Created by Sharonda Haddock with Stable Diffusion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3"/>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1.7: Resource</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Imagine Your Robot</a:t>
            </a:r>
            <a:endParaRPr sz="28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175" name="Google Shape;175;p23"/>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76" name="Google Shape;176;p23"/>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77" name="Google Shape;177;p23"/>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78" name="Google Shape;178;p2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79" name="Google Shape;179;p23"/>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1.7</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Mini-Project: Choice Boards</a:t>
            </a:r>
            <a:endParaRPr sz="28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185" name="Google Shape;185;p24"/>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86" name="Google Shape;186;p24"/>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87" name="Google Shape;187;p24"/>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88" name="Google Shape;188;p24"/>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89" name="Google Shape;189;p24"/>
          <p:cNvSpPr txBox="1"/>
          <p:nvPr/>
        </p:nvSpPr>
        <p:spPr>
          <a:xfrm>
            <a:off x="1377450" y="44125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Inspired by the AI or Not Activity developed by MIT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End of Unit:</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Clr>
                <a:schemeClr val="dk1"/>
              </a:buClr>
              <a:buSzPct val="39285"/>
              <a:buFont typeface="Arial"/>
              <a:buNone/>
            </a:pPr>
            <a:r>
              <a:rPr lang="en" sz="2800">
                <a:solidFill>
                  <a:schemeClr val="dk2"/>
                </a:solidFill>
                <a:latin typeface="Merriweather"/>
                <a:ea typeface="Merriweather"/>
                <a:cs typeface="Merriweather"/>
                <a:sym typeface="Merriweather"/>
              </a:rPr>
              <a:t>AI Vocabulary Concept Review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Clr>
                <a:schemeClr val="dk1"/>
              </a:buClr>
              <a:buSzPct val="39285"/>
              <a:buFont typeface="Arial"/>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l">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pic>
        <p:nvPicPr>
          <p:cNvPr id="195" name="Google Shape;195;p25"/>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96" name="Google Shape;196;p25"/>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97" name="Google Shape;197;p2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98" name="Google Shape;198;p25"/>
          <p:cNvSpPr txBox="1"/>
          <p:nvPr/>
        </p:nvSpPr>
        <p:spPr>
          <a:xfrm>
            <a:off x="1377450" y="4459788"/>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chemeClr val="lt1"/>
                </a:highlight>
              </a:rPr>
              <a:t>This work is licensed under the Creative Commons. Attribution-NonComercial-ShareAlike 4.0 International License. </a:t>
            </a:r>
            <a:r>
              <a:rPr b="1" lang="en" sz="900" u="sng">
                <a:solidFill>
                  <a:schemeClr val="accent5"/>
                </a:solidFill>
                <a:highlight>
                  <a:schemeClr val="lt1"/>
                </a:highlight>
                <a:hlinkClick r:id="rId5">
                  <a:extLst>
                    <a:ext uri="{A12FA001-AC4F-418D-AE19-62706E023703}">
                      <ahyp:hlinkClr val="tx"/>
                    </a:ext>
                  </a:extLst>
                </a:hlinkClick>
              </a:rPr>
              <a:t>https://creativecommons.org/licenses/by-nc-sa/4.0/</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