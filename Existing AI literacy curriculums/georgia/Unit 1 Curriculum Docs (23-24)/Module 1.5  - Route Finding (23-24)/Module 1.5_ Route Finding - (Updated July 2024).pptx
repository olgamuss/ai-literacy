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 id="2147483693" r:id="rId5"/>
    <p:sldMasterId id="2147483694" r:id="rId6"/>
    <p:sldMasterId id="214748369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Lst>
  <p:sldSz cy="5143500" cx="9144000"/>
  <p:notesSz cx="6858000" cy="9144000"/>
  <p:embeddedFontLst>
    <p:embeddedFont>
      <p:font typeface="PT Sans Narrow"/>
      <p:regular r:id="rId64"/>
      <p:bold r:id="rId65"/>
    </p:embeddedFont>
    <p:embeddedFont>
      <p:font typeface="Helvetica Neue"/>
      <p:regular r:id="rId66"/>
      <p:bold r:id="rId67"/>
      <p:italic r:id="rId68"/>
      <p:boldItalic r:id="rId69"/>
    </p:embeddedFont>
    <p:embeddedFont>
      <p:font typeface="Merriweather"/>
      <p:regular r:id="rId70"/>
      <p:bold r:id="rId71"/>
      <p:italic r:id="rId72"/>
      <p:boldItalic r:id="rId73"/>
    </p:embeddedFont>
    <p:embeddedFont>
      <p:font typeface="Open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Merriweather-boldItalic.fntdata"/><Relationship Id="rId72" Type="http://schemas.openxmlformats.org/officeDocument/2006/relationships/font" Target="fonts/Merriweather-italic.fntdata"/><Relationship Id="rId31" Type="http://schemas.openxmlformats.org/officeDocument/2006/relationships/slide" Target="slides/slide23.xml"/><Relationship Id="rId75" Type="http://schemas.openxmlformats.org/officeDocument/2006/relationships/font" Target="fonts/OpenSans-bold.fntdata"/><Relationship Id="rId30" Type="http://schemas.openxmlformats.org/officeDocument/2006/relationships/slide" Target="slides/slide22.xml"/><Relationship Id="rId74" Type="http://schemas.openxmlformats.org/officeDocument/2006/relationships/font" Target="fonts/OpenSans-regular.fntdata"/><Relationship Id="rId33" Type="http://schemas.openxmlformats.org/officeDocument/2006/relationships/slide" Target="slides/slide25.xml"/><Relationship Id="rId77" Type="http://schemas.openxmlformats.org/officeDocument/2006/relationships/font" Target="fonts/OpenSans-boldItalic.fntdata"/><Relationship Id="rId32" Type="http://schemas.openxmlformats.org/officeDocument/2006/relationships/slide" Target="slides/slide24.xml"/><Relationship Id="rId76" Type="http://schemas.openxmlformats.org/officeDocument/2006/relationships/font" Target="fonts/OpenSans-italic.fntdata"/><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Merriweather-bold.fntdata"/><Relationship Id="rId70" Type="http://schemas.openxmlformats.org/officeDocument/2006/relationships/font" Target="fonts/Merriweather-regular.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font" Target="fonts/PTSansNarrow-regular.fntdata"/><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font" Target="fonts/HelveticaNeue-regular.fntdata"/><Relationship Id="rId21" Type="http://schemas.openxmlformats.org/officeDocument/2006/relationships/slide" Target="slides/slide13.xml"/><Relationship Id="rId65" Type="http://schemas.openxmlformats.org/officeDocument/2006/relationships/font" Target="fonts/PTSansNarrow-bold.fntdata"/><Relationship Id="rId24" Type="http://schemas.openxmlformats.org/officeDocument/2006/relationships/slide" Target="slides/slide16.xml"/><Relationship Id="rId68" Type="http://schemas.openxmlformats.org/officeDocument/2006/relationships/font" Target="fonts/HelveticaNeue-italic.fntdata"/><Relationship Id="rId23" Type="http://schemas.openxmlformats.org/officeDocument/2006/relationships/slide" Target="slides/slide15.xml"/><Relationship Id="rId67" Type="http://schemas.openxmlformats.org/officeDocument/2006/relationships/font" Target="fonts/HelveticaNeue-bold.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HelveticaNeue-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ixflags.com/sites/default/files/sfog_fullmap.pdf"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5c1acf38d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5c1acf38d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f7917e90a0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f7917e90a0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f7917e90a0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f7917e90a0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f7917e90a0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f7917e90a0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f7917e90a0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f7917e90a0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 the students provide some examples.</a:t>
            </a:r>
            <a:endParaRPr/>
          </a:p>
          <a:p>
            <a:pPr indent="0" lvl="0" marL="0" rtl="0" algn="l">
              <a:spcBef>
                <a:spcPts val="0"/>
              </a:spcBef>
              <a:spcAft>
                <a:spcPts val="0"/>
              </a:spcAft>
              <a:buNone/>
            </a:pPr>
            <a:r>
              <a:rPr lang="en"/>
              <a:t>Then click through the next few slides and show them maps with different representations and of different locations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f7917e90a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f7917e90a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Take Away - levels of representation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Here is a map of Six Flags over Georgia, What kinds of things have they chosen to represent and how?</a:t>
            </a:r>
            <a:endParaRPr>
              <a:solidFill>
                <a:schemeClr val="dk1"/>
              </a:solidFill>
            </a:endParaRPr>
          </a:p>
          <a:p>
            <a:pPr indent="0" lvl="0" marL="0" rtl="0" algn="l">
              <a:spcBef>
                <a:spcPts val="0"/>
              </a:spcBef>
              <a:spcAft>
                <a:spcPts val="0"/>
              </a:spcAft>
              <a:buNone/>
            </a:pPr>
            <a:r>
              <a:rPr lang="en">
                <a:solidFill>
                  <a:schemeClr val="dk1"/>
                </a:solidFill>
              </a:rPr>
              <a:t>This map tries to reflect the geographical features of the amusement park as well as key places a person might want to know about: </a:t>
            </a:r>
            <a:r>
              <a:rPr lang="en">
                <a:solidFill>
                  <a:schemeClr val="dk1"/>
                </a:solidFill>
              </a:rPr>
              <a:t>Bathrooms, major rides, places to eat</a:t>
            </a:r>
            <a:endParaRPr>
              <a:solidFill>
                <a:schemeClr val="dk1"/>
              </a:solidFill>
            </a:endParaRPr>
          </a:p>
          <a:p>
            <a:pPr indent="0" lvl="0" marL="0" rtl="0" algn="l">
              <a:spcBef>
                <a:spcPts val="0"/>
              </a:spcBef>
              <a:spcAft>
                <a:spcPts val="0"/>
              </a:spcAft>
              <a:buNone/>
            </a:pPr>
            <a:r>
              <a:rPr lang="en">
                <a:solidFill>
                  <a:schemeClr val="dk1"/>
                </a:solidFill>
              </a:rPr>
              <a:t>Instead of adding names for each location, they label them with numbers.</a:t>
            </a:r>
            <a:endParaRPr>
              <a:solidFill>
                <a:schemeClr val="dk1"/>
              </a:solidFill>
            </a:endParaRPr>
          </a:p>
          <a:p>
            <a:pPr indent="0" lvl="0" marL="0" rtl="0" algn="l">
              <a:spcBef>
                <a:spcPts val="0"/>
              </a:spcBef>
              <a:spcAft>
                <a:spcPts val="0"/>
              </a:spcAft>
              <a:buNone/>
            </a:pPr>
            <a:r>
              <a:rPr lang="en">
                <a:solidFill>
                  <a:schemeClr val="dk1"/>
                </a:solidFill>
              </a:rPr>
              <a:t>They have also labeled major park areas using colors. </a:t>
            </a:r>
            <a:endParaRPr>
              <a:solidFill>
                <a:schemeClr val="dk1"/>
              </a:solidFill>
            </a:endParaRPr>
          </a:p>
          <a:p>
            <a:pPr indent="0" lvl="0" marL="0" rtl="0" algn="l">
              <a:spcBef>
                <a:spcPts val="0"/>
              </a:spcBef>
              <a:spcAft>
                <a:spcPts val="0"/>
              </a:spcAft>
              <a:buNone/>
            </a:pPr>
            <a:r>
              <a:rPr lang="en">
                <a:solidFill>
                  <a:schemeClr val="dk1"/>
                </a:solidFill>
              </a:rPr>
              <a:t>How would you give instructions to a person using this map?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Link to Source with key - </a:t>
            </a:r>
            <a:r>
              <a:rPr lang="en" u="sng">
                <a:solidFill>
                  <a:srgbClr val="0097A7"/>
                </a:solidFill>
                <a:hlinkClick r:id="rId2">
                  <a:extLst>
                    <a:ext uri="{A12FA001-AC4F-418D-AE19-62706E023703}">
                      <ahyp:hlinkClr val="tx"/>
                    </a:ext>
                  </a:extLst>
                </a:hlinkClick>
              </a:rPr>
              <a:t>https://www.sixflags.com/sites/default/files/sfog_fullmap.pdf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f7917e90a0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f7917e90a0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another map, this one is of </a:t>
            </a:r>
            <a:r>
              <a:rPr lang="en"/>
              <a:t>downtown</a:t>
            </a:r>
            <a:r>
              <a:rPr lang="en"/>
              <a:t> Thomasville, GA.</a:t>
            </a:r>
            <a:endParaRPr/>
          </a:p>
          <a:p>
            <a:pPr indent="0" lvl="0" marL="0" rtl="0" algn="l">
              <a:spcBef>
                <a:spcPts val="0"/>
              </a:spcBef>
              <a:spcAft>
                <a:spcPts val="0"/>
              </a:spcAft>
              <a:buNone/>
            </a:pPr>
            <a:r>
              <a:rPr lang="en"/>
              <a:t>Pre-pandemic, they help their annual Victorian Christmas festival.</a:t>
            </a:r>
            <a:endParaRPr/>
          </a:p>
          <a:p>
            <a:pPr indent="0" lvl="0" marL="0" rtl="0" algn="l">
              <a:spcBef>
                <a:spcPts val="0"/>
              </a:spcBef>
              <a:spcAft>
                <a:spcPts val="0"/>
              </a:spcAft>
              <a:buNone/>
            </a:pPr>
            <a:r>
              <a:rPr lang="en"/>
              <a:t>What do you notice about this map? What key things did the map designer chose to represent?</a:t>
            </a:r>
            <a:endParaRPr/>
          </a:p>
          <a:p>
            <a:pPr indent="-298450" lvl="0" marL="457200" rtl="0" algn="l">
              <a:spcBef>
                <a:spcPts val="0"/>
              </a:spcBef>
              <a:spcAft>
                <a:spcPts val="0"/>
              </a:spcAft>
              <a:buSzPts val="1100"/>
              <a:buChar char="-"/>
            </a:pPr>
            <a:r>
              <a:rPr lang="en"/>
              <a:t>Street names</a:t>
            </a:r>
            <a:endParaRPr/>
          </a:p>
          <a:p>
            <a:pPr indent="-298450" lvl="0" marL="457200" rtl="0" algn="l">
              <a:spcBef>
                <a:spcPts val="0"/>
              </a:spcBef>
              <a:spcAft>
                <a:spcPts val="0"/>
              </a:spcAft>
              <a:buSzPts val="1100"/>
              <a:buChar char="-"/>
            </a:pPr>
            <a:r>
              <a:rPr lang="en"/>
              <a:t>Major festival </a:t>
            </a:r>
            <a:r>
              <a:rPr lang="en"/>
              <a:t>activity path</a:t>
            </a:r>
            <a:r>
              <a:rPr lang="en"/>
              <a:t> in brown</a:t>
            </a:r>
            <a:endParaRPr/>
          </a:p>
          <a:p>
            <a:pPr indent="-298450" lvl="0" marL="457200" rtl="0" algn="l">
              <a:spcBef>
                <a:spcPts val="0"/>
              </a:spcBef>
              <a:spcAft>
                <a:spcPts val="0"/>
              </a:spcAft>
              <a:buSzPts val="1100"/>
              <a:buChar char="-"/>
            </a:pPr>
            <a:r>
              <a:rPr lang="en"/>
              <a:t>Major landmarks (big tree and railroad)</a:t>
            </a:r>
            <a:endParaRPr/>
          </a:p>
          <a:p>
            <a:pPr indent="-298450" lvl="0" marL="457200" rtl="0" algn="l">
              <a:spcBef>
                <a:spcPts val="0"/>
              </a:spcBef>
              <a:spcAft>
                <a:spcPts val="0"/>
              </a:spcAft>
              <a:buSzPts val="1100"/>
              <a:buChar char="-"/>
            </a:pPr>
            <a:r>
              <a:rPr lang="en"/>
              <a:t>Key </a:t>
            </a:r>
            <a:r>
              <a:rPr lang="en"/>
              <a:t>festival</a:t>
            </a:r>
            <a:r>
              <a:rPr lang="en"/>
              <a:t> activities - nativity scene, christmas tree, train ride,</a:t>
            </a:r>
            <a:endParaRPr/>
          </a:p>
          <a:p>
            <a:pPr indent="-298450" lvl="0" marL="457200" rtl="0" algn="l">
              <a:spcBef>
                <a:spcPts val="0"/>
              </a:spcBef>
              <a:spcAft>
                <a:spcPts val="0"/>
              </a:spcAft>
              <a:buSzPts val="1100"/>
              <a:buChar char="-"/>
            </a:pPr>
            <a:r>
              <a:rPr lang="en"/>
              <a:t>Key festival booths/stations</a:t>
            </a:r>
            <a:endParaRPr/>
          </a:p>
          <a:p>
            <a:pPr indent="0" lvl="0" marL="0" rtl="0" algn="l">
              <a:spcBef>
                <a:spcPts val="0"/>
              </a:spcBef>
              <a:spcAft>
                <a:spcPts val="0"/>
              </a:spcAft>
              <a:buNone/>
            </a:pPr>
            <a:r>
              <a:rPr lang="en"/>
              <a:t>How </a:t>
            </a:r>
            <a:r>
              <a:rPr lang="en"/>
              <a:t>would</a:t>
            </a:r>
            <a:r>
              <a:rPr lang="en"/>
              <a:t> you give directions using this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Link to Source with key - https://thomasvillega.com/uploads/groups/3/Attractions/Festivals/Victorian%20Christmas/Small-Map-Final.jpg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f7917e90a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f7917e90a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map of the Marta train in Atlanta.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f7917e90a0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f7917e90a0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f7917e90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f7917e90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f7917e90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f7917e90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identify some key cities in Georgia and label them on the map in blue.</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f7917e90a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f7917e90a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add nodes representing the location of the selected cities, we’ll place the nodes next to their labels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f7917e90a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f7917e90a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we need need to create links between these node (cities) represent roads that connect the cities.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f7917e90a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f7917e90a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have our completed graph with nodes representing each city and their labels, and link representing the roads that connect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064f2dcc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064f2dcc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f7917e90a0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f7917e90a0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f7917e90a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f7917e90a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f7917e90a0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f7917e90a0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f7917e90a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f7917e90a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f7917e90a0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f7917e90a0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f7917e90a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f7917e90a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f7917e90a0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f7917e90a0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f7917e90a0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f7917e90a0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10c9fbf665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10c9fbf665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f7917e90a0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f7917e90a0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print the worksheet in color. If you print in black and white, have students color the levels the same colors as they appear on the slides. Do this before </a:t>
            </a:r>
            <a:r>
              <a:rPr lang="en"/>
              <a:t>beginning</a:t>
            </a:r>
            <a:r>
              <a:rPr lang="en"/>
              <a:t> the worksheet.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134f74767d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134f74767d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10064f2dc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10064f2dc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f7917e90a0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f7917e90a0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ff0fbb2c4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ff0fbb2c4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 the students provide some examples.</a:t>
            </a:r>
            <a:endParaRPr/>
          </a:p>
          <a:p>
            <a:pPr indent="0" lvl="0" marL="0" rtl="0" algn="l">
              <a:spcBef>
                <a:spcPts val="0"/>
              </a:spcBef>
              <a:spcAft>
                <a:spcPts val="0"/>
              </a:spcAft>
              <a:buNone/>
            </a:pPr>
            <a:r>
              <a:rPr lang="en"/>
              <a:t>Then click through the next few slides and show them maps with different representations and of different locations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134f74767de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134f74767d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10064f2dccd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10064f2dccd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interesting things to note about the “Atlanta to Warner Robins” problem. Atlanta has roads going off in all directions, so it emphasizes the fact that the algorithm has no idea which way to proceed; it has to try all possible paths. Also note that both Athens and Toccoa are directly reachable from Atlanta, so they will end up with the same color; the fact that there is a road from Athens to Toccoa doesn’t matter because Toccoa has already been colored by the time we start looking at Athens’ neighbors.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f7917e90a0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f7917e90a0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0064f2dccd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0064f2dccd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f7917e90a0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f7917e90a0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10064f2dccd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5" name="Google Shape;1525;g10064f2dccd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f7917e90a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f7917e90a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gf7917e90a0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gf7917e90a0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f7917e90a0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gf7917e90a0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f7917e90a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f7917e90a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2e7f1ffdb7b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4" name="Google Shape;1674;g2e7f1ffdb7b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2e7f1ffdb7b_3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2e7f1ffdb7b_3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2e7f1ffdb7b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2e7f1ffdb7b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2e7f1ffdb7b_3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5" name="Google Shape;1695;g2e7f1ffdb7b_3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2e7f1ffdb7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2e7f1ffdb7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f7917e90a0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f7917e90a0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interesting things to note about the “Atlanta to Warner Robins” problem. Atlanta has roads going off in all directions, so it emphasizes the fact that the algorithm has no idea which way to proceed; it has to try all possible paths. Also note that both Athens and Toccoa are directly reachable from Atlanta, so they will end up with the same color; the fact that there is a road from Athens to Toccoa doesn’t matter because Toccoa has already been colored by the time we start looking at Athens’ neighbors.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10064f2dccd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10064f2dccd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gf7917e90a0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0" name="Google Shape;1820;gf7917e90a0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gf462bd27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7" name="Google Shape;1827;gf462bd27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f7917e90a0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f7917e90a0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f7917e90a0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0" name="Google Shape;1840;gf7917e90a0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10c9fbf66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9" name="Google Shape;1849;g10c9fbf66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2e8e9f8acc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6" name="Google Shape;1926;g2e8e9f8acc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g2e8e9f8ac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4" name="Google Shape;1934;g2e8e9f8ac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g2e8e9f8acc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2" name="Google Shape;1942;g2e8e9f8acc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2e8e9f8acc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g2e8e9f8acc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0000"/>
              </a:buClr>
              <a:buSzPts val="3600"/>
              <a:buNone/>
              <a:defRPr sz="3600">
                <a:solidFill>
                  <a:srgbClr val="000000"/>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1" name="Google Shape;10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2" name="Google Shape;10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5" name="Google Shape;10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8" name="Google Shape;10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09" name="Google Shape;10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2" name="Google Shape;112;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3" name="Google Shape;113;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4" name="Google Shape;11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0" name="Google Shape;12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1" name="Google Shape;12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2" name="Shape 122"/>
        <p:cNvGrpSpPr/>
        <p:nvPr/>
      </p:nvGrpSpPr>
      <p:grpSpPr>
        <a:xfrm>
          <a:off x="0" y="0"/>
          <a:ext cx="0" cy="0"/>
          <a:chOff x="0" y="0"/>
          <a:chExt cx="0" cy="0"/>
        </a:xfrm>
      </p:grpSpPr>
      <p:sp>
        <p:nvSpPr>
          <p:cNvPr id="123" name="Google Shape;123;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4" name="Google Shape;12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 name="Shape 125"/>
        <p:cNvGrpSpPr/>
        <p:nvPr/>
      </p:nvGrpSpPr>
      <p:grpSpPr>
        <a:xfrm>
          <a:off x="0" y="0"/>
          <a:ext cx="0" cy="0"/>
          <a:chOff x="0" y="0"/>
          <a:chExt cx="0" cy="0"/>
        </a:xfrm>
      </p:grpSpPr>
      <p:sp>
        <p:nvSpPr>
          <p:cNvPr id="126" name="Google Shape;126;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8" name="Google Shape;128;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9" name="Google Shape;129;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0" name="Google Shape;1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33" name="Google Shape;13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6" name="Google Shape;136;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37" name="Google Shape;13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4" name="Shape 144"/>
        <p:cNvGrpSpPr/>
        <p:nvPr/>
      </p:nvGrpSpPr>
      <p:grpSpPr>
        <a:xfrm>
          <a:off x="0" y="0"/>
          <a:ext cx="0" cy="0"/>
          <a:chOff x="0" y="0"/>
          <a:chExt cx="0" cy="0"/>
        </a:xfrm>
      </p:grpSpPr>
      <p:cxnSp>
        <p:nvCxnSpPr>
          <p:cNvPr id="145" name="Google Shape;145;p38"/>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46" name="Google Shape;146;p38"/>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47" name="Google Shape;147;p38"/>
          <p:cNvGrpSpPr/>
          <p:nvPr/>
        </p:nvGrpSpPr>
        <p:grpSpPr>
          <a:xfrm>
            <a:off x="1004144" y="1022025"/>
            <a:ext cx="7136668" cy="152400"/>
            <a:chOff x="1346429" y="1011300"/>
            <a:chExt cx="6452100" cy="152400"/>
          </a:xfrm>
        </p:grpSpPr>
        <p:cxnSp>
          <p:nvCxnSpPr>
            <p:cNvPr id="148" name="Google Shape;148;p38"/>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9" name="Google Shape;149;p38"/>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0" name="Google Shape;150;p38"/>
          <p:cNvGrpSpPr/>
          <p:nvPr/>
        </p:nvGrpSpPr>
        <p:grpSpPr>
          <a:xfrm>
            <a:off x="1004151" y="3969100"/>
            <a:ext cx="7136668" cy="152400"/>
            <a:chOff x="1346435" y="3969088"/>
            <a:chExt cx="6452100" cy="152400"/>
          </a:xfrm>
        </p:grpSpPr>
        <p:cxnSp>
          <p:nvCxnSpPr>
            <p:cNvPr id="151" name="Google Shape;151;p38"/>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52" name="Google Shape;152;p38"/>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53" name="Google Shape;153;p38"/>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154" name="Google Shape;154;p38"/>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55" name="Google Shape;15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6" name="Shape 156"/>
        <p:cNvGrpSpPr/>
        <p:nvPr/>
      </p:nvGrpSpPr>
      <p:grpSpPr>
        <a:xfrm>
          <a:off x="0" y="0"/>
          <a:ext cx="0" cy="0"/>
          <a:chOff x="0" y="0"/>
          <a:chExt cx="0" cy="0"/>
        </a:xfrm>
      </p:grpSpPr>
      <p:sp>
        <p:nvSpPr>
          <p:cNvPr id="157" name="Google Shape;157;p39"/>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9"/>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159" name="Google Shape;15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0" name="Shape 160"/>
        <p:cNvGrpSpPr/>
        <p:nvPr/>
      </p:nvGrpSpPr>
      <p:grpSpPr>
        <a:xfrm>
          <a:off x="0" y="0"/>
          <a:ext cx="0" cy="0"/>
          <a:chOff x="0" y="0"/>
          <a:chExt cx="0" cy="0"/>
        </a:xfrm>
      </p:grpSpPr>
      <p:sp>
        <p:nvSpPr>
          <p:cNvPr id="161" name="Google Shape;161;p40"/>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63" name="Google Shape;163;p4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64" name="Google Shape;16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5" name="Shape 165"/>
        <p:cNvGrpSpPr/>
        <p:nvPr/>
      </p:nvGrpSpPr>
      <p:grpSpPr>
        <a:xfrm>
          <a:off x="0" y="0"/>
          <a:ext cx="0" cy="0"/>
          <a:chOff x="0" y="0"/>
          <a:chExt cx="0" cy="0"/>
        </a:xfrm>
      </p:grpSpPr>
      <p:sp>
        <p:nvSpPr>
          <p:cNvPr id="166" name="Google Shape;166;p41"/>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67" name="Google Shape;167;p41"/>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68" name="Google Shape;168;p41"/>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69" name="Google Shape;169;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0" name="Shape 170"/>
        <p:cNvGrpSpPr/>
        <p:nvPr/>
      </p:nvGrpSpPr>
      <p:grpSpPr>
        <a:xfrm>
          <a:off x="0" y="0"/>
          <a:ext cx="0" cy="0"/>
          <a:chOff x="0" y="0"/>
          <a:chExt cx="0" cy="0"/>
        </a:xfrm>
      </p:grpSpPr>
      <p:sp>
        <p:nvSpPr>
          <p:cNvPr id="171" name="Google Shape;171;p4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72" name="Google Shape;17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3" name="Shape 173"/>
        <p:cNvGrpSpPr/>
        <p:nvPr/>
      </p:nvGrpSpPr>
      <p:grpSpPr>
        <a:xfrm>
          <a:off x="0" y="0"/>
          <a:ext cx="0" cy="0"/>
          <a:chOff x="0" y="0"/>
          <a:chExt cx="0" cy="0"/>
        </a:xfrm>
      </p:grpSpPr>
      <p:sp>
        <p:nvSpPr>
          <p:cNvPr id="174" name="Google Shape;174;p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75" name="Google Shape;175;p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76" name="Google Shape;17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177" name="Shape 177"/>
        <p:cNvGrpSpPr/>
        <p:nvPr/>
      </p:nvGrpSpPr>
      <p:grpSpPr>
        <a:xfrm>
          <a:off x="0" y="0"/>
          <a:ext cx="0" cy="0"/>
          <a:chOff x="0" y="0"/>
          <a:chExt cx="0" cy="0"/>
        </a:xfrm>
      </p:grpSpPr>
      <p:sp>
        <p:nvSpPr>
          <p:cNvPr id="178" name="Google Shape;178;p44"/>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79" name="Google Shape;17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 name="Shape 180"/>
        <p:cNvGrpSpPr/>
        <p:nvPr/>
      </p:nvGrpSpPr>
      <p:grpSpPr>
        <a:xfrm>
          <a:off x="0" y="0"/>
          <a:ext cx="0" cy="0"/>
          <a:chOff x="0" y="0"/>
          <a:chExt cx="0" cy="0"/>
        </a:xfrm>
      </p:grpSpPr>
      <p:sp>
        <p:nvSpPr>
          <p:cNvPr id="181" name="Google Shape;181;p45"/>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 name="Google Shape;182;p45"/>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83" name="Google Shape;183;p45"/>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84" name="Google Shape;184;p45"/>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5" name="Google Shape;185;p4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186" name="Google Shape;18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7" name="Shape 187"/>
        <p:cNvGrpSpPr/>
        <p:nvPr/>
      </p:nvGrpSpPr>
      <p:grpSpPr>
        <a:xfrm>
          <a:off x="0" y="0"/>
          <a:ext cx="0" cy="0"/>
          <a:chOff x="0" y="0"/>
          <a:chExt cx="0" cy="0"/>
        </a:xfrm>
      </p:grpSpPr>
      <p:sp>
        <p:nvSpPr>
          <p:cNvPr id="188" name="Google Shape;188;p46"/>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89" name="Google Shape;1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0" name="Shape 190"/>
        <p:cNvGrpSpPr/>
        <p:nvPr/>
      </p:nvGrpSpPr>
      <p:grpSpPr>
        <a:xfrm>
          <a:off x="0" y="0"/>
          <a:ext cx="0" cy="0"/>
          <a:chOff x="0" y="0"/>
          <a:chExt cx="0" cy="0"/>
        </a:xfrm>
      </p:grpSpPr>
      <p:sp>
        <p:nvSpPr>
          <p:cNvPr id="191" name="Google Shape;191;p47"/>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7"/>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93" name="Google Shape;193;p47"/>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94" name="Google Shape;19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5" name="Shape 195"/>
        <p:cNvGrpSpPr/>
        <p:nvPr/>
      </p:nvGrpSpPr>
      <p:grpSpPr>
        <a:xfrm>
          <a:off x="0" y="0"/>
          <a:ext cx="0" cy="0"/>
          <a:chOff x="0" y="0"/>
          <a:chExt cx="0" cy="0"/>
        </a:xfrm>
      </p:grpSpPr>
      <p:sp>
        <p:nvSpPr>
          <p:cNvPr id="196" name="Google Shape;19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2" Type="http://schemas.openxmlformats.org/officeDocument/2006/relationships/theme" Target="../theme/theme5.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7" name="Google Shape;9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140" name="Shape 140"/>
        <p:cNvGrpSpPr/>
        <p:nvPr/>
      </p:nvGrpSpPr>
      <p:grpSpPr>
        <a:xfrm>
          <a:off x="0" y="0"/>
          <a:ext cx="0" cy="0"/>
          <a:chOff x="0" y="0"/>
          <a:chExt cx="0" cy="0"/>
        </a:xfrm>
      </p:grpSpPr>
      <p:sp>
        <p:nvSpPr>
          <p:cNvPr id="141" name="Google Shape;141;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142" name="Google Shape;142;p3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143" name="Google Shape;14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hyperlink" Target="https://creativecommons.org/licenses/by-nc-sa/4.0/" TargetMode="External"/><Relationship Id="rId6" Type="http://schemas.openxmlformats.org/officeDocument/2006/relationships/image" Target="../media/image1.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6.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jamboard.google.com/d/1HjHOZIW13QscDqyvQ87eZGgJL3o-ERGfkDw5lDe_Zj8/edit?usp=sharing" TargetMode="External"/><Relationship Id="rId4" Type="http://schemas.openxmlformats.org/officeDocument/2006/relationships/hyperlink" Target="https://jamboard.google.com/d/1HjHOZIW13QscDqyvQ87eZGgJL3o-ERGfkDw5lDe_Zj8/edit?usp=sharing" TargetMode="External"/><Relationship Id="rId5" Type="http://schemas.openxmlformats.org/officeDocument/2006/relationships/hyperlink" Target="https://jamboard.google.com/d/1HjHOZIW13QscDqyvQ87eZGgJL3o-ERGfkDw5lDe_Zj8/edit?usp=sharing" TargetMode="External"/><Relationship Id="rId6" Type="http://schemas.openxmlformats.org/officeDocument/2006/relationships/hyperlink" Target="https://jamboard.google.com/d/1HjHOZIW13QscDqyvQ87eZGgJL3o-ERGfkDw5lDe_Zj8/edit?usp=shar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7.png"/><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2.xml"/><Relationship Id="rId3"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4.png"/><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9"/>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 Route Finding</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202" name="Google Shape;202;p49"/>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03" name="Google Shape;203;p49"/>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204" name="Google Shape;204;p49"/>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205" name="Google Shape;205;p49"/>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206" name="Google Shape;206;p49"/>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lang="en" sz="900"/>
              <a:t>Additional funding was provided by a gift from Google. </a:t>
            </a:r>
            <a:r>
              <a:rPr b="1" lang="en" sz="900">
                <a:highlight>
                  <a:srgbClr val="FFFFFF"/>
                </a:highlight>
              </a:rPr>
              <a:t>This work is licensed under the Creative Commons Attribution-NonCommercial-ShareAlike 4.0 International License. </a:t>
            </a:r>
            <a:r>
              <a:rPr b="1" lang="en" sz="900" u="sng">
                <a:solidFill>
                  <a:srgbClr val="0097A7"/>
                </a:solidFill>
                <a:highlight>
                  <a:srgbClr val="FFFFFF"/>
                </a:highlight>
                <a:hlinkClick r:id="rId5">
                  <a:extLst>
                    <a:ext uri="{A12FA001-AC4F-418D-AE19-62706E023703}">
                      <ahyp:hlinkClr val="tx"/>
                    </a:ext>
                  </a:extLst>
                </a:hlinkClick>
              </a:rPr>
              <a:t>https://creativecommons.org/licenses/by-nc-sa/4.0/</a:t>
            </a:r>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207" name="Google Shape;207;p49"/>
          <p:cNvPicPr preferRelativeResize="0"/>
          <p:nvPr/>
        </p:nvPicPr>
        <p:blipFill rotWithShape="1">
          <a:blip r:embed="rId6">
            <a:alphaModFix/>
          </a:blip>
          <a:srcRect b="0" l="0" r="0" t="15081"/>
          <a:stretch/>
        </p:blipFill>
        <p:spPr>
          <a:xfrm>
            <a:off x="4097100" y="1684625"/>
            <a:ext cx="3863000" cy="2727900"/>
          </a:xfrm>
          <a:prstGeom prst="rect">
            <a:avLst/>
          </a:prstGeom>
          <a:noFill/>
          <a:ln>
            <a:noFill/>
          </a:ln>
        </p:spPr>
      </p:pic>
      <p:pic>
        <p:nvPicPr>
          <p:cNvPr id="208" name="Google Shape;208;p49"/>
          <p:cNvPicPr preferRelativeResize="0"/>
          <p:nvPr/>
        </p:nvPicPr>
        <p:blipFill>
          <a:blip r:embed="rId7">
            <a:alphaModFix/>
          </a:blip>
          <a:stretch>
            <a:fillRect/>
          </a:stretch>
        </p:blipFill>
        <p:spPr>
          <a:xfrm>
            <a:off x="2766350" y="2042410"/>
            <a:ext cx="1979924" cy="2250679"/>
          </a:xfrm>
          <a:prstGeom prst="rect">
            <a:avLst/>
          </a:prstGeom>
          <a:noFill/>
          <a:ln>
            <a:noFill/>
          </a:ln>
        </p:spPr>
      </p:pic>
      <p:sp>
        <p:nvSpPr>
          <p:cNvPr id="209" name="Google Shape;209;p49"/>
          <p:cNvSpPr txBox="1"/>
          <p:nvPr/>
        </p:nvSpPr>
        <p:spPr>
          <a:xfrm>
            <a:off x="6825100" y="1495200"/>
            <a:ext cx="2181600" cy="666900"/>
          </a:xfrm>
          <a:prstGeom prst="rect">
            <a:avLst/>
          </a:prstGeom>
          <a:solidFill>
            <a:srgbClr val="EEEEEE">
              <a:alpha val="50309"/>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Find a route from Atlanta to Tifton</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13" name="Shape 213"/>
        <p:cNvGrpSpPr/>
        <p:nvPr/>
      </p:nvGrpSpPr>
      <p:grpSpPr>
        <a:xfrm>
          <a:off x="0" y="0"/>
          <a:ext cx="0" cy="0"/>
          <a:chOff x="0" y="0"/>
          <a:chExt cx="0" cy="0"/>
        </a:xfrm>
      </p:grpSpPr>
      <p:sp>
        <p:nvSpPr>
          <p:cNvPr id="214" name="Google Shape;214;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Warm-up Questions</a:t>
            </a:r>
            <a:endParaRPr/>
          </a:p>
        </p:txBody>
      </p:sp>
      <p:sp>
        <p:nvSpPr>
          <p:cNvPr id="215" name="Google Shape;21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19" name="Shape 219"/>
        <p:cNvGrpSpPr/>
        <p:nvPr/>
      </p:nvGrpSpPr>
      <p:grpSpPr>
        <a:xfrm>
          <a:off x="0" y="0"/>
          <a:ext cx="0" cy="0"/>
          <a:chOff x="0" y="0"/>
          <a:chExt cx="0" cy="0"/>
        </a:xfrm>
      </p:grpSpPr>
      <p:sp>
        <p:nvSpPr>
          <p:cNvPr id="220" name="Google Shape;22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Warm-up Question</a:t>
            </a:r>
            <a:endParaRPr/>
          </a:p>
        </p:txBody>
      </p:sp>
      <p:sp>
        <p:nvSpPr>
          <p:cNvPr id="221" name="Google Shape;221;p51"/>
          <p:cNvSpPr txBox="1"/>
          <p:nvPr>
            <p:ph idx="1" type="body"/>
          </p:nvPr>
        </p:nvSpPr>
        <p:spPr>
          <a:xfrm>
            <a:off x="1418850" y="1152475"/>
            <a:ext cx="61041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 sz="2400"/>
              <a:t>How do autonomous robots and self-driving cars </a:t>
            </a:r>
            <a:r>
              <a:rPr lang="en" sz="2400">
                <a:solidFill>
                  <a:srgbClr val="0000FF"/>
                </a:solidFill>
              </a:rPr>
              <a:t>find their way</a:t>
            </a:r>
            <a:r>
              <a:rPr lang="en" sz="2400"/>
              <a:t> through the world?</a:t>
            </a:r>
            <a:endParaRPr sz="2400"/>
          </a:p>
        </p:txBody>
      </p:sp>
      <p:sp>
        <p:nvSpPr>
          <p:cNvPr id="222" name="Google Shape;22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26" name="Shape 226"/>
        <p:cNvGrpSpPr/>
        <p:nvPr/>
      </p:nvGrpSpPr>
      <p:grpSpPr>
        <a:xfrm>
          <a:off x="0" y="0"/>
          <a:ext cx="0" cy="0"/>
          <a:chOff x="0" y="0"/>
          <a:chExt cx="0" cy="0"/>
        </a:xfrm>
      </p:grpSpPr>
      <p:sp>
        <p:nvSpPr>
          <p:cNvPr id="227" name="Google Shape;227;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Autonomous robots and self-driving cars make and use maps of their worlds</a:t>
            </a:r>
            <a:endParaRPr/>
          </a:p>
        </p:txBody>
      </p:sp>
      <p:sp>
        <p:nvSpPr>
          <p:cNvPr id="228" name="Google Shape;22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32" name="Shape 232"/>
        <p:cNvGrpSpPr/>
        <p:nvPr/>
      </p:nvGrpSpPr>
      <p:grpSpPr>
        <a:xfrm>
          <a:off x="0" y="0"/>
          <a:ext cx="0" cy="0"/>
          <a:chOff x="0" y="0"/>
          <a:chExt cx="0" cy="0"/>
        </a:xfrm>
      </p:grpSpPr>
      <p:sp>
        <p:nvSpPr>
          <p:cNvPr id="233" name="Google Shape;233;p53"/>
          <p:cNvSpPr txBox="1"/>
          <p:nvPr>
            <p:ph type="title"/>
          </p:nvPr>
        </p:nvSpPr>
        <p:spPr>
          <a:xfrm>
            <a:off x="311700" y="2150850"/>
            <a:ext cx="8520600" cy="1386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Personal Connection:</a:t>
            </a:r>
            <a:endParaRPr/>
          </a:p>
          <a:p>
            <a:pPr indent="0" lvl="0" marL="0" rtl="0" algn="ctr">
              <a:spcBef>
                <a:spcPts val="0"/>
              </a:spcBef>
              <a:spcAft>
                <a:spcPts val="0"/>
              </a:spcAft>
              <a:buNone/>
            </a:pPr>
            <a:r>
              <a:rPr lang="en"/>
              <a:t>What kinds of maps have </a:t>
            </a:r>
            <a:endParaRPr/>
          </a:p>
          <a:p>
            <a:pPr indent="0" lvl="0" marL="0" rtl="0" algn="ctr">
              <a:spcBef>
                <a:spcPts val="0"/>
              </a:spcBef>
              <a:spcAft>
                <a:spcPts val="0"/>
              </a:spcAft>
              <a:buNone/>
            </a:pPr>
            <a:r>
              <a:rPr lang="en"/>
              <a:t>you used in the past?</a:t>
            </a:r>
            <a:endParaRPr/>
          </a:p>
        </p:txBody>
      </p:sp>
      <p:sp>
        <p:nvSpPr>
          <p:cNvPr id="234" name="Google Shape;23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40" name="Google Shape;240;p54"/>
          <p:cNvPicPr preferRelativeResize="0"/>
          <p:nvPr/>
        </p:nvPicPr>
        <p:blipFill>
          <a:blip r:embed="rId3">
            <a:alphaModFix/>
          </a:blip>
          <a:stretch>
            <a:fillRect/>
          </a:stretch>
        </p:blipFill>
        <p:spPr>
          <a:xfrm>
            <a:off x="176963" y="0"/>
            <a:ext cx="8844188" cy="4961525"/>
          </a:xfrm>
          <a:prstGeom prst="rect">
            <a:avLst/>
          </a:prstGeom>
          <a:noFill/>
          <a:ln>
            <a:noFill/>
          </a:ln>
        </p:spPr>
      </p:pic>
      <p:sp>
        <p:nvSpPr>
          <p:cNvPr id="241" name="Google Shape;24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7" name="Google Shape;247;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8" name="Google Shape;248;p55"/>
          <p:cNvPicPr preferRelativeResize="0"/>
          <p:nvPr/>
        </p:nvPicPr>
        <p:blipFill>
          <a:blip r:embed="rId3">
            <a:alphaModFix/>
          </a:blip>
          <a:stretch>
            <a:fillRect/>
          </a:stretch>
        </p:blipFill>
        <p:spPr>
          <a:xfrm>
            <a:off x="271028" y="0"/>
            <a:ext cx="8601945" cy="5143501"/>
          </a:xfrm>
          <a:prstGeom prst="rect">
            <a:avLst/>
          </a:prstGeom>
          <a:noFill/>
          <a:ln>
            <a:noFill/>
          </a:ln>
        </p:spPr>
      </p:pic>
      <p:sp>
        <p:nvSpPr>
          <p:cNvPr id="249" name="Google Shape;24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56"/>
          <p:cNvPicPr preferRelativeResize="0"/>
          <p:nvPr/>
        </p:nvPicPr>
        <p:blipFill>
          <a:blip r:embed="rId3">
            <a:alphaModFix/>
          </a:blip>
          <a:stretch>
            <a:fillRect/>
          </a:stretch>
        </p:blipFill>
        <p:spPr>
          <a:xfrm>
            <a:off x="152400" y="152400"/>
            <a:ext cx="5966601" cy="2983300"/>
          </a:xfrm>
          <a:prstGeom prst="rect">
            <a:avLst/>
          </a:prstGeom>
          <a:noFill/>
          <a:ln>
            <a:noFill/>
          </a:ln>
        </p:spPr>
      </p:pic>
      <p:pic>
        <p:nvPicPr>
          <p:cNvPr id="255" name="Google Shape;255;p56"/>
          <p:cNvPicPr preferRelativeResize="0"/>
          <p:nvPr/>
        </p:nvPicPr>
        <p:blipFill>
          <a:blip r:embed="rId4">
            <a:alphaModFix/>
          </a:blip>
          <a:stretch>
            <a:fillRect/>
          </a:stretch>
        </p:blipFill>
        <p:spPr>
          <a:xfrm>
            <a:off x="4572000" y="152400"/>
            <a:ext cx="4398818" cy="4838700"/>
          </a:xfrm>
          <a:prstGeom prst="rect">
            <a:avLst/>
          </a:prstGeom>
          <a:noFill/>
          <a:ln>
            <a:noFill/>
          </a:ln>
        </p:spPr>
      </p:pic>
      <p:sp>
        <p:nvSpPr>
          <p:cNvPr id="256" name="Google Shape;25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57"/>
          <p:cNvPicPr preferRelativeResize="0"/>
          <p:nvPr/>
        </p:nvPicPr>
        <p:blipFill>
          <a:blip r:embed="rId3">
            <a:alphaModFix/>
          </a:blip>
          <a:stretch>
            <a:fillRect/>
          </a:stretch>
        </p:blipFill>
        <p:spPr>
          <a:xfrm rot="-5400000">
            <a:off x="2117862" y="-1136015"/>
            <a:ext cx="5053927" cy="7415551"/>
          </a:xfrm>
          <a:prstGeom prst="rect">
            <a:avLst/>
          </a:prstGeom>
          <a:noFill/>
          <a:ln>
            <a:noFill/>
          </a:ln>
        </p:spPr>
      </p:pic>
      <p:sp>
        <p:nvSpPr>
          <p:cNvPr id="262" name="Google Shape;262;p57"/>
          <p:cNvSpPr txBox="1"/>
          <p:nvPr/>
        </p:nvSpPr>
        <p:spPr>
          <a:xfrm>
            <a:off x="1199350" y="169350"/>
            <a:ext cx="1714500" cy="61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Finding paths through the mall</a:t>
            </a:r>
            <a:endParaRPr/>
          </a:p>
        </p:txBody>
      </p:sp>
      <p:sp>
        <p:nvSpPr>
          <p:cNvPr id="263" name="Google Shape;263;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58"/>
          <p:cNvPicPr preferRelativeResize="0"/>
          <p:nvPr/>
        </p:nvPicPr>
        <p:blipFill>
          <a:blip r:embed="rId3">
            <a:alphaModFix/>
          </a:blip>
          <a:stretch>
            <a:fillRect/>
          </a:stretch>
        </p:blipFill>
        <p:spPr>
          <a:xfrm>
            <a:off x="64150" y="973175"/>
            <a:ext cx="3706750" cy="4213649"/>
          </a:xfrm>
          <a:prstGeom prst="rect">
            <a:avLst/>
          </a:prstGeom>
          <a:noFill/>
          <a:ln>
            <a:noFill/>
          </a:ln>
        </p:spPr>
      </p:pic>
      <p:sp>
        <p:nvSpPr>
          <p:cNvPr id="269" name="Google Shape;269;p58"/>
          <p:cNvSpPr txBox="1"/>
          <p:nvPr>
            <p:ph idx="1" type="body"/>
          </p:nvPr>
        </p:nvSpPr>
        <p:spPr>
          <a:xfrm>
            <a:off x="2492775" y="1461150"/>
            <a:ext cx="1446000" cy="3936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a:t>Map of Georgia</a:t>
            </a:r>
            <a:endParaRPr/>
          </a:p>
        </p:txBody>
      </p:sp>
      <p:sp>
        <p:nvSpPr>
          <p:cNvPr id="270" name="Google Shape;270;p5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58"/>
          <p:cNvSpPr txBox="1"/>
          <p:nvPr>
            <p:ph idx="1" type="body"/>
          </p:nvPr>
        </p:nvSpPr>
        <p:spPr>
          <a:xfrm>
            <a:off x="150367" y="170550"/>
            <a:ext cx="8870700" cy="898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Clr>
                <a:schemeClr val="dk1"/>
              </a:buClr>
              <a:buSzPct val="40740"/>
              <a:buFont typeface="Arial"/>
              <a:buNone/>
            </a:pPr>
            <a:r>
              <a:rPr b="1" lang="en" sz="2700">
                <a:solidFill>
                  <a:schemeClr val="dk1"/>
                </a:solidFill>
              </a:rPr>
              <a:t>How does a self-driving car know which route to follow?</a:t>
            </a:r>
            <a:endParaRPr b="1" sz="3300"/>
          </a:p>
        </p:txBody>
      </p:sp>
      <p:pic>
        <p:nvPicPr>
          <p:cNvPr id="272" name="Google Shape;272;p58"/>
          <p:cNvPicPr preferRelativeResize="0"/>
          <p:nvPr/>
        </p:nvPicPr>
        <p:blipFill>
          <a:blip r:embed="rId4">
            <a:alphaModFix/>
          </a:blip>
          <a:stretch>
            <a:fillRect/>
          </a:stretch>
        </p:blipFill>
        <p:spPr>
          <a:xfrm>
            <a:off x="4237938" y="1795149"/>
            <a:ext cx="4702373" cy="2811799"/>
          </a:xfrm>
          <a:prstGeom prst="rect">
            <a:avLst/>
          </a:prstGeom>
          <a:noFill/>
          <a:ln>
            <a:noFill/>
          </a:ln>
        </p:spPr>
      </p:pic>
      <p:sp>
        <p:nvSpPr>
          <p:cNvPr id="273" name="Google Shape;273;p58"/>
          <p:cNvSpPr txBox="1"/>
          <p:nvPr/>
        </p:nvSpPr>
        <p:spPr>
          <a:xfrm>
            <a:off x="3938775" y="4556400"/>
            <a:ext cx="5300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How does Google Maps create directions for you?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9" name="Google Shape;279;p59"/>
          <p:cNvPicPr preferRelativeResize="0"/>
          <p:nvPr/>
        </p:nvPicPr>
        <p:blipFill>
          <a:blip r:embed="rId3">
            <a:alphaModFix/>
          </a:blip>
          <a:stretch>
            <a:fillRect/>
          </a:stretch>
        </p:blipFill>
        <p:spPr>
          <a:xfrm>
            <a:off x="3066673" y="588475"/>
            <a:ext cx="3615625" cy="4278750"/>
          </a:xfrm>
          <a:prstGeom prst="rect">
            <a:avLst/>
          </a:prstGeom>
          <a:noFill/>
          <a:ln>
            <a:noFill/>
          </a:ln>
        </p:spPr>
      </p:pic>
      <p:sp>
        <p:nvSpPr>
          <p:cNvPr id="280" name="Google Shape;280;p59"/>
          <p:cNvSpPr/>
          <p:nvPr/>
        </p:nvSpPr>
        <p:spPr>
          <a:xfrm>
            <a:off x="363825" y="3746875"/>
            <a:ext cx="1890600" cy="4548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r>
              <a:rPr lang="en"/>
              <a:t>Label</a:t>
            </a:r>
            <a:r>
              <a:rPr lang="en"/>
              <a:t> for each city</a:t>
            </a:r>
            <a:endParaRPr/>
          </a:p>
        </p:txBody>
      </p:sp>
      <p:sp>
        <p:nvSpPr>
          <p:cNvPr id="281" name="Google Shape;281;p59"/>
          <p:cNvSpPr txBox="1"/>
          <p:nvPr/>
        </p:nvSpPr>
        <p:spPr>
          <a:xfrm>
            <a:off x="142075" y="188600"/>
            <a:ext cx="6345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Let’s create a representation a computer could use. </a:t>
            </a:r>
            <a:endParaRPr sz="2100"/>
          </a:p>
        </p:txBody>
      </p:sp>
      <p:sp>
        <p:nvSpPr>
          <p:cNvPr id="282" name="Google Shape;282;p59"/>
          <p:cNvSpPr txBox="1"/>
          <p:nvPr/>
        </p:nvSpPr>
        <p:spPr>
          <a:xfrm>
            <a:off x="230650" y="2168638"/>
            <a:ext cx="2610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For each city, we’ll </a:t>
            </a:r>
            <a:r>
              <a:rPr b="1" lang="en" sz="2100"/>
              <a:t>add a blue </a:t>
            </a:r>
            <a:r>
              <a:rPr b="1" lang="en" sz="2100">
                <a:solidFill>
                  <a:srgbClr val="0000FF"/>
                </a:solidFill>
              </a:rPr>
              <a:t>label</a:t>
            </a:r>
            <a:r>
              <a:rPr b="1" lang="en" sz="2100"/>
              <a:t> </a:t>
            </a:r>
            <a:r>
              <a:rPr lang="en" sz="2100"/>
              <a:t>and </a:t>
            </a:r>
            <a:r>
              <a:rPr b="1" lang="en" sz="2100"/>
              <a:t>type the city name.</a:t>
            </a:r>
            <a:endParaRPr b="1"/>
          </a:p>
        </p:txBody>
      </p:sp>
      <p:sp>
        <p:nvSpPr>
          <p:cNvPr id="283" name="Google Shape;283;p59"/>
          <p:cNvSpPr txBox="1"/>
          <p:nvPr/>
        </p:nvSpPr>
        <p:spPr>
          <a:xfrm>
            <a:off x="230650" y="865650"/>
            <a:ext cx="2745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It’s called a </a:t>
            </a:r>
            <a:r>
              <a:rPr b="1" lang="en" sz="2100">
                <a:solidFill>
                  <a:srgbClr val="0000FF"/>
                </a:solidFill>
              </a:rPr>
              <a:t>“graph”</a:t>
            </a:r>
            <a:r>
              <a:rPr lang="en" sz="2100"/>
              <a:t>.</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60"/>
          <p:cNvPicPr preferRelativeResize="0"/>
          <p:nvPr/>
        </p:nvPicPr>
        <p:blipFill>
          <a:blip r:embed="rId3">
            <a:alphaModFix/>
          </a:blip>
          <a:stretch>
            <a:fillRect/>
          </a:stretch>
        </p:blipFill>
        <p:spPr>
          <a:xfrm>
            <a:off x="3052623" y="580575"/>
            <a:ext cx="3615625" cy="4278750"/>
          </a:xfrm>
          <a:prstGeom prst="rect">
            <a:avLst/>
          </a:prstGeom>
          <a:noFill/>
          <a:ln>
            <a:noFill/>
          </a:ln>
        </p:spPr>
      </p:pic>
      <p:sp>
        <p:nvSpPr>
          <p:cNvPr id="289" name="Google Shape;289;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60"/>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0"/>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0"/>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0"/>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0"/>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0"/>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0"/>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0"/>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0"/>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0"/>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0"/>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0"/>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0"/>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0"/>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0"/>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0"/>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0"/>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0"/>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0"/>
          <p:cNvSpPr/>
          <p:nvPr/>
        </p:nvSpPr>
        <p:spPr>
          <a:xfrm>
            <a:off x="284975" y="936825"/>
            <a:ext cx="391800" cy="3936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0"/>
          <p:cNvSpPr txBox="1"/>
          <p:nvPr/>
        </p:nvSpPr>
        <p:spPr>
          <a:xfrm>
            <a:off x="142075" y="188600"/>
            <a:ext cx="8468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For each city, we now need to add a node</a:t>
            </a:r>
            <a:endParaRPr sz="2100"/>
          </a:p>
        </p:txBody>
      </p:sp>
      <p:sp>
        <p:nvSpPr>
          <p:cNvPr id="313" name="Google Shape;313;p60"/>
          <p:cNvSpPr txBox="1"/>
          <p:nvPr/>
        </p:nvSpPr>
        <p:spPr>
          <a:xfrm>
            <a:off x="750675" y="879675"/>
            <a:ext cx="23301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accent1"/>
                </a:solidFill>
              </a:rPr>
              <a:t>Node </a:t>
            </a:r>
            <a:r>
              <a:rPr lang="en" sz="1900"/>
              <a:t>- represents the location for each city</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61"/>
          <p:cNvPicPr preferRelativeResize="0"/>
          <p:nvPr/>
        </p:nvPicPr>
        <p:blipFill>
          <a:blip r:embed="rId3">
            <a:alphaModFix amt="22000"/>
          </a:blip>
          <a:stretch>
            <a:fillRect/>
          </a:stretch>
        </p:blipFill>
        <p:spPr>
          <a:xfrm>
            <a:off x="2976423" y="558500"/>
            <a:ext cx="3615625" cy="4278750"/>
          </a:xfrm>
          <a:prstGeom prst="rect">
            <a:avLst/>
          </a:prstGeom>
          <a:noFill/>
          <a:ln>
            <a:noFill/>
          </a:ln>
        </p:spPr>
      </p:pic>
      <p:sp>
        <p:nvSpPr>
          <p:cNvPr id="319" name="Google Shape;319;p61"/>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320" name="Google Shape;320;p61"/>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321" name="Google Shape;321;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61"/>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323" name="Google Shape;323;p61"/>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324" name="Google Shape;324;p61"/>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325" name="Google Shape;325;p61"/>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326" name="Google Shape;326;p61"/>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327" name="Google Shape;327;p61"/>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328" name="Google Shape;328;p61"/>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329" name="Google Shape;329;p61"/>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330" name="Google Shape;330;p61"/>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331" name="Google Shape;331;p61"/>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332" name="Google Shape;332;p61"/>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333" name="Google Shape;333;p61"/>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334" name="Google Shape;334;p61"/>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335" name="Google Shape;335;p61"/>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336" name="Google Shape;336;p61"/>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337" name="Google Shape;337;p61"/>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338" name="Google Shape;338;p61"/>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339" name="Google Shape;339;p61"/>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340" name="Google Shape;340;p61"/>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341" name="Google Shape;341;p61"/>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342" name="Google Shape;342;p61"/>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343" name="Google Shape;343;p61"/>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344" name="Google Shape;344;p61"/>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345" name="Google Shape;345;p61"/>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346" name="Google Shape;346;p61"/>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347" name="Google Shape;347;p61"/>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348" name="Google Shape;348;p61"/>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1"/>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61"/>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61"/>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61"/>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1"/>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1"/>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1"/>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1"/>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1"/>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1"/>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1"/>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1"/>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1"/>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1"/>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1"/>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1"/>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61"/>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61"/>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61"/>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1"/>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61"/>
          <p:cNvSpPr txBox="1"/>
          <p:nvPr/>
        </p:nvSpPr>
        <p:spPr>
          <a:xfrm>
            <a:off x="470275" y="1078475"/>
            <a:ext cx="23127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accent1"/>
                </a:solidFill>
              </a:rPr>
              <a:t>links</a:t>
            </a:r>
            <a:r>
              <a:rPr b="1" lang="en" sz="2000">
                <a:solidFill>
                  <a:schemeClr val="accent1"/>
                </a:solidFill>
              </a:rPr>
              <a:t> </a:t>
            </a:r>
            <a:r>
              <a:rPr lang="en" sz="1900">
                <a:solidFill>
                  <a:schemeClr val="dk1"/>
                </a:solidFill>
              </a:rPr>
              <a:t>- represent the roads connecting cities</a:t>
            </a:r>
            <a:endParaRPr sz="1900">
              <a:solidFill>
                <a:schemeClr val="dk1"/>
              </a:solidFill>
            </a:endParaRPr>
          </a:p>
          <a:p>
            <a:pPr indent="0" lvl="0" marL="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None/>
            </a:pPr>
            <a:r>
              <a:rPr lang="en"/>
              <a:t>Links connect nodes together</a:t>
            </a:r>
            <a:endParaRPr/>
          </a:p>
        </p:txBody>
      </p:sp>
      <p:cxnSp>
        <p:nvCxnSpPr>
          <p:cNvPr id="370" name="Google Shape;370;p61"/>
          <p:cNvCxnSpPr/>
          <p:nvPr/>
        </p:nvCxnSpPr>
        <p:spPr>
          <a:xfrm flipH="1" rot="10800000">
            <a:off x="691850" y="3124275"/>
            <a:ext cx="1794000" cy="21600"/>
          </a:xfrm>
          <a:prstGeom prst="straightConnector1">
            <a:avLst/>
          </a:prstGeom>
          <a:noFill/>
          <a:ln cap="flat" cmpd="sng" w="9525">
            <a:solidFill>
              <a:schemeClr val="dk2"/>
            </a:solidFill>
            <a:prstDash val="solid"/>
            <a:round/>
            <a:headEnd len="med" w="med" type="oval"/>
            <a:tailEnd len="med" w="med" type="oval"/>
          </a:ln>
        </p:spPr>
      </p:cxnSp>
      <p:sp>
        <p:nvSpPr>
          <p:cNvPr id="371" name="Google Shape;371;p61"/>
          <p:cNvSpPr txBox="1"/>
          <p:nvPr/>
        </p:nvSpPr>
        <p:spPr>
          <a:xfrm>
            <a:off x="142075" y="188600"/>
            <a:ext cx="8468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Now, we need to represent the roads that connect the cities, we’ll use:</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Georgia cities graph</a:t>
            </a:r>
            <a:endParaRPr/>
          </a:p>
        </p:txBody>
      </p:sp>
      <p:sp>
        <p:nvSpPr>
          <p:cNvPr id="377" name="Google Shape;377;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78" name="Google Shape;378;p62"/>
          <p:cNvGrpSpPr/>
          <p:nvPr/>
        </p:nvGrpSpPr>
        <p:grpSpPr>
          <a:xfrm>
            <a:off x="2819750" y="881249"/>
            <a:ext cx="4233425" cy="3768338"/>
            <a:chOff x="2819750" y="881249"/>
            <a:chExt cx="4233425" cy="3768338"/>
          </a:xfrm>
        </p:grpSpPr>
        <p:sp>
          <p:nvSpPr>
            <p:cNvPr id="379" name="Google Shape;379;p62"/>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380" name="Google Shape;380;p62"/>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381" name="Google Shape;381;p62"/>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382" name="Google Shape;382;p62"/>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383" name="Google Shape;383;p62"/>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384" name="Google Shape;384;p62"/>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385" name="Google Shape;385;p62"/>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386" name="Google Shape;386;p62"/>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387" name="Google Shape;387;p62"/>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388" name="Google Shape;388;p62"/>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389" name="Google Shape;389;p62"/>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390" name="Google Shape;390;p62"/>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391" name="Google Shape;391;p62"/>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392" name="Google Shape;392;p62"/>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393" name="Google Shape;393;p62"/>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394" name="Google Shape;394;p62"/>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395" name="Google Shape;395;p62"/>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396" name="Google Shape;396;p62"/>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397" name="Google Shape;397;p62"/>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398" name="Google Shape;398;p62"/>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399" name="Google Shape;399;p62"/>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400" name="Google Shape;400;p62"/>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401" name="Google Shape;401;p62"/>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402" name="Google Shape;402;p62"/>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403" name="Google Shape;403;p62"/>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404" name="Google Shape;404;p62"/>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405" name="Google Shape;405;p62"/>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406" name="Google Shape;406;p62"/>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407" name="Google Shape;407;p62"/>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62"/>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2"/>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2"/>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2"/>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2"/>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2"/>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62"/>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62"/>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62"/>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2"/>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62"/>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2"/>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62"/>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2"/>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2"/>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2"/>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2"/>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2"/>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2"/>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2"/>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429" name="Google Shape;429;p62"/>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430" name="Google Shape;430;p62"/>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431" name="Google Shape;431;p62"/>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432" name="Google Shape;432;p62"/>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433" name="Google Shape;433;p62"/>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434" name="Google Shape;434;p62"/>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435" name="Google Shape;435;p62"/>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436" name="Google Shape;436;p62"/>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437" name="Google Shape;437;p62"/>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438" name="Google Shape;438;p62"/>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439" name="Google Shape;439;p62"/>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440" name="Google Shape;440;p62"/>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441" name="Google Shape;441;p62"/>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442" name="Google Shape;442;p62"/>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443" name="Google Shape;443;p62"/>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444" name="Google Shape;444;p62"/>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445" name="Google Shape;445;p62"/>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446" name="Google Shape;446;p62"/>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447" name="Google Shape;447;p62"/>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448" name="Google Shape;448;p62"/>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449" name="Google Shape;449;p62"/>
          <p:cNvSpPr txBox="1"/>
          <p:nvPr>
            <p:ph idx="1" type="body"/>
          </p:nvPr>
        </p:nvSpPr>
        <p:spPr>
          <a:xfrm>
            <a:off x="311700" y="1152475"/>
            <a:ext cx="2379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Route finding is</a:t>
            </a:r>
            <a:br>
              <a:rPr lang="en"/>
            </a:br>
            <a:r>
              <a:rPr lang="en"/>
              <a:t>a graph search</a:t>
            </a:r>
            <a:br>
              <a:rPr lang="en"/>
            </a:br>
            <a:r>
              <a:rPr lang="en"/>
              <a:t>problem.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a:t>
            </a:r>
            <a:endParaRPr/>
          </a:p>
        </p:txBody>
      </p:sp>
      <p:sp>
        <p:nvSpPr>
          <p:cNvPr id="455" name="Google Shape;455;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Today we will learn an algorithm called the </a:t>
            </a:r>
            <a:r>
              <a:rPr lang="en" sz="1700">
                <a:solidFill>
                  <a:srgbClr val="0000FF"/>
                </a:solidFill>
              </a:rPr>
              <a:t>“breadth-first search”</a:t>
            </a:r>
            <a:r>
              <a:rPr lang="en" sz="1700"/>
              <a:t>. </a:t>
            </a:r>
            <a:endParaRPr sz="1700"/>
          </a:p>
          <a:p>
            <a:pPr indent="0" lvl="0" marL="0" rtl="0" algn="l">
              <a:spcBef>
                <a:spcPts val="1200"/>
              </a:spcBef>
              <a:spcAft>
                <a:spcPts val="0"/>
              </a:spcAft>
              <a:buNone/>
            </a:pPr>
            <a:r>
              <a:rPr lang="en" sz="1700"/>
              <a:t>Breadth-First means at each level, we</a:t>
            </a:r>
            <a:r>
              <a:rPr lang="en" sz="1700"/>
              <a:t> examine </a:t>
            </a:r>
            <a:r>
              <a:rPr b="1" lang="en" sz="1700" u="sng">
                <a:solidFill>
                  <a:schemeClr val="accent1"/>
                </a:solidFill>
              </a:rPr>
              <a:t>all</a:t>
            </a:r>
            <a:r>
              <a:rPr lang="en" sz="1700"/>
              <a:t> the </a:t>
            </a:r>
            <a:r>
              <a:rPr b="1" lang="en" sz="1700" u="sng">
                <a:solidFill>
                  <a:schemeClr val="accent1"/>
                </a:solidFill>
              </a:rPr>
              <a:t>neighboring</a:t>
            </a:r>
            <a:r>
              <a:rPr lang="en" sz="1700"/>
              <a:t> cities to the ones just reached, before proceeding to the next level. We keep going until we reach our destination.</a:t>
            </a:r>
            <a:endParaRPr sz="1700"/>
          </a:p>
          <a:p>
            <a:pPr indent="0" lvl="0" marL="0" rtl="0" algn="l">
              <a:spcBef>
                <a:spcPts val="1200"/>
              </a:spcBef>
              <a:spcAft>
                <a:spcPts val="1200"/>
              </a:spcAft>
              <a:buNone/>
            </a:pPr>
            <a:r>
              <a:t/>
            </a:r>
            <a:endParaRPr sz="1700"/>
          </a:p>
        </p:txBody>
      </p:sp>
      <p:sp>
        <p:nvSpPr>
          <p:cNvPr id="456" name="Google Shape;456;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type="title"/>
          </p:nvPr>
        </p:nvSpPr>
        <p:spPr>
          <a:xfrm>
            <a:off x="814150" y="286350"/>
            <a:ext cx="387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Breadth-First Search (Using Colors)</a:t>
            </a:r>
            <a:endParaRPr/>
          </a:p>
        </p:txBody>
      </p:sp>
      <p:sp>
        <p:nvSpPr>
          <p:cNvPr id="462" name="Google Shape;462;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Color the starting city as level 0.</a:t>
            </a:r>
            <a:endParaRPr/>
          </a:p>
          <a:p>
            <a:pPr indent="-342900" lvl="0" marL="457200" rtl="0" algn="l">
              <a:spcBef>
                <a:spcPts val="0"/>
              </a:spcBef>
              <a:spcAft>
                <a:spcPts val="0"/>
              </a:spcAft>
              <a:buSzPts val="1800"/>
              <a:buAutoNum type="arabicPeriod"/>
            </a:pPr>
            <a:r>
              <a:rPr lang="en"/>
              <a:t>Find all the uncolored neighbors, and</a:t>
            </a:r>
            <a:br>
              <a:rPr lang="en"/>
            </a:br>
            <a:r>
              <a:rPr lang="en"/>
              <a:t>c</a:t>
            </a:r>
            <a:r>
              <a:rPr lang="en"/>
              <a:t>olor </a:t>
            </a:r>
            <a:r>
              <a:rPr lang="en"/>
              <a:t>t</a:t>
            </a:r>
            <a:r>
              <a:rPr lang="en"/>
              <a:t>hem using the next level’s color.</a:t>
            </a:r>
            <a:endParaRPr/>
          </a:p>
          <a:p>
            <a:pPr indent="-342900" lvl="0" marL="457200" rtl="0" algn="l">
              <a:spcBef>
                <a:spcPts val="0"/>
              </a:spcBef>
              <a:spcAft>
                <a:spcPts val="0"/>
              </a:spcAft>
              <a:buSzPts val="1800"/>
              <a:buAutoNum type="arabicPeriod"/>
            </a:pPr>
            <a:r>
              <a:rPr lang="en"/>
              <a:t>Repeat step 2 until you’ve colored</a:t>
            </a:r>
            <a:br>
              <a:rPr lang="en"/>
            </a:br>
            <a:r>
              <a:rPr lang="en"/>
              <a:t>t</a:t>
            </a:r>
            <a:r>
              <a:rPr lang="en"/>
              <a:t>he destination city.</a:t>
            </a:r>
            <a:endParaRPr/>
          </a:p>
        </p:txBody>
      </p:sp>
      <p:sp>
        <p:nvSpPr>
          <p:cNvPr id="463" name="Google Shape;463;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64" name="Google Shape;464;p64"/>
          <p:cNvGrpSpPr/>
          <p:nvPr/>
        </p:nvGrpSpPr>
        <p:grpSpPr>
          <a:xfrm>
            <a:off x="4910575" y="161174"/>
            <a:ext cx="4233425" cy="3768338"/>
            <a:chOff x="2819750" y="881249"/>
            <a:chExt cx="4233425" cy="3768338"/>
          </a:xfrm>
        </p:grpSpPr>
        <p:sp>
          <p:nvSpPr>
            <p:cNvPr id="465" name="Google Shape;465;p64"/>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466" name="Google Shape;466;p64"/>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467" name="Google Shape;467;p64"/>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468" name="Google Shape;468;p64"/>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469" name="Google Shape;469;p64"/>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470" name="Google Shape;470;p64"/>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471" name="Google Shape;471;p64"/>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472" name="Google Shape;472;p64"/>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473" name="Google Shape;473;p64"/>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474" name="Google Shape;474;p64"/>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475" name="Google Shape;475;p64"/>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476" name="Google Shape;476;p64"/>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477" name="Google Shape;477;p64"/>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478" name="Google Shape;478;p64"/>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479" name="Google Shape;479;p64"/>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480" name="Google Shape;480;p64"/>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481" name="Google Shape;481;p64"/>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482" name="Google Shape;482;p64"/>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483" name="Google Shape;483;p64"/>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484" name="Google Shape;484;p64"/>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485" name="Google Shape;485;p64"/>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486" name="Google Shape;486;p64"/>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487" name="Google Shape;487;p64"/>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488" name="Google Shape;488;p64"/>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489" name="Google Shape;489;p64"/>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490" name="Google Shape;490;p64"/>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491" name="Google Shape;491;p64"/>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492" name="Google Shape;492;p64"/>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493" name="Google Shape;493;p64"/>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4"/>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4"/>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4"/>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4"/>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4"/>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4"/>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4"/>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4"/>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4"/>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4"/>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4"/>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4"/>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4"/>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4"/>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4"/>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4"/>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4"/>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4"/>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4"/>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4"/>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4"/>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515" name="Google Shape;515;p64"/>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516" name="Google Shape;516;p64"/>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517" name="Google Shape;517;p64"/>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518" name="Google Shape;518;p64"/>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519" name="Google Shape;519;p64"/>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520" name="Google Shape;520;p64"/>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521" name="Google Shape;521;p64"/>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522" name="Google Shape;522;p64"/>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523" name="Google Shape;523;p64"/>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524" name="Google Shape;524;p64"/>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525" name="Google Shape;525;p64"/>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526" name="Google Shape;526;p64"/>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527" name="Google Shape;527;p64"/>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528" name="Google Shape;528;p64"/>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529" name="Google Shape;529;p64"/>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530" name="Google Shape;530;p64"/>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531" name="Google Shape;531;p64"/>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532" name="Google Shape;532;p64"/>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533" name="Google Shape;533;p64"/>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534" name="Google Shape;534;p64"/>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535" name="Google Shape;535;p64"/>
          <p:cNvSpPr txBox="1"/>
          <p:nvPr/>
        </p:nvSpPr>
        <p:spPr>
          <a:xfrm>
            <a:off x="683725" y="33588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536" name="Google Shape;536;p64"/>
          <p:cNvSpPr txBox="1"/>
          <p:nvPr/>
        </p:nvSpPr>
        <p:spPr>
          <a:xfrm>
            <a:off x="1495250" y="3358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537" name="Google Shape;537;p64"/>
          <p:cNvSpPr txBox="1"/>
          <p:nvPr/>
        </p:nvSpPr>
        <p:spPr>
          <a:xfrm>
            <a:off x="2306775" y="33588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538" name="Google Shape;538;p64"/>
          <p:cNvSpPr txBox="1"/>
          <p:nvPr/>
        </p:nvSpPr>
        <p:spPr>
          <a:xfrm>
            <a:off x="3118300" y="33588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539" name="Google Shape;539;p64"/>
          <p:cNvSpPr txBox="1"/>
          <p:nvPr/>
        </p:nvSpPr>
        <p:spPr>
          <a:xfrm>
            <a:off x="3929825" y="33588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our start city:</a:t>
            </a:r>
            <a:br>
              <a:rPr lang="en"/>
            </a:br>
            <a:r>
              <a:rPr lang="en"/>
              <a:t>Savannah is level 0.</a:t>
            </a:r>
            <a:endParaRPr/>
          </a:p>
        </p:txBody>
      </p:sp>
      <p:sp>
        <p:nvSpPr>
          <p:cNvPr id="545" name="Google Shape;54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0</a:t>
            </a:r>
            <a:endParaRPr/>
          </a:p>
        </p:txBody>
      </p:sp>
      <p:sp>
        <p:nvSpPr>
          <p:cNvPr id="546" name="Google Shape;546;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47" name="Google Shape;547;p65"/>
          <p:cNvGrpSpPr/>
          <p:nvPr/>
        </p:nvGrpSpPr>
        <p:grpSpPr>
          <a:xfrm>
            <a:off x="2819750" y="881249"/>
            <a:ext cx="4233425" cy="3768338"/>
            <a:chOff x="2819750" y="881249"/>
            <a:chExt cx="4233425" cy="3768338"/>
          </a:xfrm>
        </p:grpSpPr>
        <p:sp>
          <p:nvSpPr>
            <p:cNvPr id="548" name="Google Shape;548;p65"/>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549" name="Google Shape;549;p65"/>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550" name="Google Shape;550;p65"/>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551" name="Google Shape;551;p65"/>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552" name="Google Shape;552;p65"/>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553" name="Google Shape;553;p65"/>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554" name="Google Shape;554;p65"/>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555" name="Google Shape;555;p65"/>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556" name="Google Shape;556;p65"/>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557" name="Google Shape;557;p65"/>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558" name="Google Shape;558;p65"/>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559" name="Google Shape;559;p65"/>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560" name="Google Shape;560;p65"/>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561" name="Google Shape;561;p65"/>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562" name="Google Shape;562;p65"/>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563" name="Google Shape;563;p65"/>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564" name="Google Shape;564;p65"/>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565" name="Google Shape;565;p65"/>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566" name="Google Shape;566;p65"/>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567" name="Google Shape;567;p65"/>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568" name="Google Shape;568;p65"/>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569" name="Google Shape;569;p65"/>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570" name="Google Shape;570;p65"/>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571" name="Google Shape;571;p65"/>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572" name="Google Shape;572;p65"/>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573" name="Google Shape;573;p65"/>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574" name="Google Shape;574;p65"/>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575" name="Google Shape;575;p65"/>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576" name="Google Shape;576;p65"/>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5"/>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5"/>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5"/>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5"/>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5"/>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5"/>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5"/>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5"/>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5"/>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5"/>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5"/>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5"/>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5"/>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5"/>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5"/>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5"/>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5"/>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5"/>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5"/>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5"/>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5"/>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598" name="Google Shape;598;p65"/>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599" name="Google Shape;599;p65"/>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600" name="Google Shape;600;p65"/>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601" name="Google Shape;601;p65"/>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602" name="Google Shape;602;p65"/>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603" name="Google Shape;603;p65"/>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604" name="Google Shape;604;p65"/>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605" name="Google Shape;605;p65"/>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606" name="Google Shape;606;p65"/>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607" name="Google Shape;607;p65"/>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608" name="Google Shape;608;p65"/>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609" name="Google Shape;609;p65"/>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610" name="Google Shape;610;p65"/>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611" name="Google Shape;611;p65"/>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612" name="Google Shape;612;p65"/>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613" name="Google Shape;613;p65"/>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614" name="Google Shape;614;p65"/>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615" name="Google Shape;615;p65"/>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616" name="Google Shape;616;p65"/>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617" name="Google Shape;617;p65"/>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618" name="Google Shape;618;p65"/>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619" name="Google Shape;619;p65"/>
          <p:cNvSpPr txBox="1"/>
          <p:nvPr/>
        </p:nvSpPr>
        <p:spPr>
          <a:xfrm>
            <a:off x="7292450" y="4703625"/>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620" name="Google Shape;620;p65"/>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6"/>
          <p:cNvSpPr txBox="1"/>
          <p:nvPr>
            <p:ph idx="1" type="body"/>
          </p:nvPr>
        </p:nvSpPr>
        <p:spPr>
          <a:xfrm>
            <a:off x="311700" y="1152475"/>
            <a:ext cx="268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cities reachable from Savannah as level 1.</a:t>
            </a:r>
            <a:endParaRPr/>
          </a:p>
        </p:txBody>
      </p:sp>
      <p:sp>
        <p:nvSpPr>
          <p:cNvPr id="626" name="Google Shape;62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1</a:t>
            </a:r>
            <a:endParaRPr/>
          </a:p>
        </p:txBody>
      </p:sp>
      <p:sp>
        <p:nvSpPr>
          <p:cNvPr id="627" name="Google Shape;62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28" name="Google Shape;628;p66"/>
          <p:cNvGrpSpPr/>
          <p:nvPr/>
        </p:nvGrpSpPr>
        <p:grpSpPr>
          <a:xfrm>
            <a:off x="2819750" y="881249"/>
            <a:ext cx="4233425" cy="3768338"/>
            <a:chOff x="2819750" y="881249"/>
            <a:chExt cx="4233425" cy="3768338"/>
          </a:xfrm>
        </p:grpSpPr>
        <p:sp>
          <p:nvSpPr>
            <p:cNvPr id="629" name="Google Shape;629;p66"/>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630" name="Google Shape;630;p66"/>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631" name="Google Shape;631;p66"/>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632" name="Google Shape;632;p66"/>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633" name="Google Shape;633;p66"/>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634" name="Google Shape;634;p66"/>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635" name="Google Shape;635;p66"/>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636" name="Google Shape;636;p66"/>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637" name="Google Shape;637;p66"/>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638" name="Google Shape;638;p66"/>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639" name="Google Shape;639;p66"/>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640" name="Google Shape;640;p66"/>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641" name="Google Shape;641;p66"/>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642" name="Google Shape;642;p66"/>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643" name="Google Shape;643;p66"/>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644" name="Google Shape;644;p66"/>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645" name="Google Shape;645;p66"/>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646" name="Google Shape;646;p66"/>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647" name="Google Shape;647;p66"/>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648" name="Google Shape;648;p66"/>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649" name="Google Shape;649;p66"/>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650" name="Google Shape;650;p66"/>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651" name="Google Shape;651;p66"/>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652" name="Google Shape;652;p66"/>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653" name="Google Shape;653;p66"/>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654" name="Google Shape;654;p66"/>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655" name="Google Shape;655;p66"/>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656" name="Google Shape;656;p66"/>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657" name="Google Shape;657;p66"/>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6"/>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6"/>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6"/>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6"/>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6"/>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6"/>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6"/>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6"/>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6"/>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6"/>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6"/>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6"/>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6"/>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6"/>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6"/>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6"/>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6"/>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6"/>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6"/>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6"/>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6"/>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679" name="Google Shape;679;p66"/>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680" name="Google Shape;680;p66"/>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681" name="Google Shape;681;p66"/>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682" name="Google Shape;682;p66"/>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683" name="Google Shape;683;p66"/>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684" name="Google Shape;684;p66"/>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685" name="Google Shape;685;p66"/>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686" name="Google Shape;686;p66"/>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687" name="Google Shape;687;p66"/>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688" name="Google Shape;688;p66"/>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689" name="Google Shape;689;p66"/>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690" name="Google Shape;690;p66"/>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691" name="Google Shape;691;p66"/>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692" name="Google Shape;692;p66"/>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693" name="Google Shape;693;p66"/>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694" name="Google Shape;694;p66"/>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695" name="Google Shape;695;p66"/>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696" name="Google Shape;696;p66"/>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697" name="Google Shape;697;p66"/>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sp>
          <p:nvSpPr>
            <p:cNvPr id="698" name="Google Shape;698;p66"/>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grpSp>
      <p:sp>
        <p:nvSpPr>
          <p:cNvPr id="699" name="Google Shape;699;p66"/>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00" name="Google Shape;700;p66"/>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01" name="Google Shape;701;p66"/>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702" name="Google Shape;702;p66"/>
          <p:cNvSpPr txBox="1"/>
          <p:nvPr/>
        </p:nvSpPr>
        <p:spPr>
          <a:xfrm>
            <a:off x="7292425" y="4690675"/>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7"/>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1 cities as level 2.</a:t>
            </a:r>
            <a:endParaRPr/>
          </a:p>
        </p:txBody>
      </p:sp>
      <p:sp>
        <p:nvSpPr>
          <p:cNvPr id="708" name="Google Shape;70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2</a:t>
            </a:r>
            <a:endParaRPr/>
          </a:p>
        </p:txBody>
      </p:sp>
      <p:sp>
        <p:nvSpPr>
          <p:cNvPr id="709" name="Google Shape;70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10" name="Google Shape;710;p67"/>
          <p:cNvGrpSpPr/>
          <p:nvPr/>
        </p:nvGrpSpPr>
        <p:grpSpPr>
          <a:xfrm>
            <a:off x="2819750" y="881249"/>
            <a:ext cx="4233425" cy="3768338"/>
            <a:chOff x="2819750" y="881249"/>
            <a:chExt cx="4233425" cy="3768338"/>
          </a:xfrm>
        </p:grpSpPr>
        <p:sp>
          <p:nvSpPr>
            <p:cNvPr id="711" name="Google Shape;711;p67"/>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712" name="Google Shape;712;p67"/>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713" name="Google Shape;713;p67"/>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714" name="Google Shape;714;p67"/>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715" name="Google Shape;715;p67"/>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716" name="Google Shape;716;p67"/>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717" name="Google Shape;717;p67"/>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718" name="Google Shape;718;p67"/>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719" name="Google Shape;719;p67"/>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720" name="Google Shape;720;p67"/>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721" name="Google Shape;721;p67"/>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722" name="Google Shape;722;p67"/>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723" name="Google Shape;723;p67"/>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724" name="Google Shape;724;p67"/>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725" name="Google Shape;725;p67"/>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726" name="Google Shape;726;p67"/>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727" name="Google Shape;727;p67"/>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728" name="Google Shape;728;p67"/>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729" name="Google Shape;729;p67"/>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730" name="Google Shape;730;p67"/>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731" name="Google Shape;731;p67"/>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732" name="Google Shape;732;p67"/>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733" name="Google Shape;733;p67"/>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734" name="Google Shape;734;p67"/>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735" name="Google Shape;735;p67"/>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736" name="Google Shape;736;p67"/>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737" name="Google Shape;737;p67"/>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738" name="Google Shape;738;p67"/>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739" name="Google Shape;739;p67"/>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7"/>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7"/>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7"/>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7"/>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7"/>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7"/>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7"/>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7"/>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7"/>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7"/>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7"/>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7"/>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7"/>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7"/>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7"/>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7"/>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7"/>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7"/>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7"/>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7"/>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7"/>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761" name="Google Shape;761;p67"/>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762" name="Google Shape;762;p67"/>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763" name="Google Shape;763;p67"/>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764" name="Google Shape;764;p67"/>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765" name="Google Shape;765;p67"/>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766" name="Google Shape;766;p67"/>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767" name="Google Shape;767;p67"/>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768" name="Google Shape;768;p67"/>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769" name="Google Shape;769;p67"/>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770" name="Google Shape;770;p67"/>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771" name="Google Shape;771;p67"/>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772" name="Google Shape;772;p67"/>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773" name="Google Shape;773;p67"/>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774" name="Google Shape;774;p67"/>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775" name="Google Shape;775;p67"/>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776" name="Google Shape;776;p67"/>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777" name="Google Shape;777;p67"/>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778" name="Google Shape;778;p67"/>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779" name="Google Shape;779;p67"/>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780" name="Google Shape;780;p67"/>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781" name="Google Shape;781;p67"/>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82" name="Google Shape;782;p67"/>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83" name="Google Shape;783;p67"/>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784" name="Google Shape;784;p67"/>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785" name="Google Shape;785;p67"/>
          <p:cNvSpPr txBox="1"/>
          <p:nvPr/>
        </p:nvSpPr>
        <p:spPr>
          <a:xfrm>
            <a:off x="7281750" y="4690675"/>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8"/>
          <p:cNvSpPr txBox="1"/>
          <p:nvPr>
            <p:ph idx="1" type="body"/>
          </p:nvPr>
        </p:nvSpPr>
        <p:spPr>
          <a:xfrm>
            <a:off x="311700" y="1152475"/>
            <a:ext cx="2965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2 cities as level 3.</a:t>
            </a:r>
            <a:endParaRPr/>
          </a:p>
        </p:txBody>
      </p:sp>
      <p:sp>
        <p:nvSpPr>
          <p:cNvPr id="791" name="Google Shape;791;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3</a:t>
            </a:r>
            <a:endParaRPr/>
          </a:p>
        </p:txBody>
      </p:sp>
      <p:sp>
        <p:nvSpPr>
          <p:cNvPr id="792" name="Google Shape;79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93" name="Google Shape;793;p68"/>
          <p:cNvGrpSpPr/>
          <p:nvPr/>
        </p:nvGrpSpPr>
        <p:grpSpPr>
          <a:xfrm>
            <a:off x="2819750" y="881249"/>
            <a:ext cx="4233425" cy="3768338"/>
            <a:chOff x="2819750" y="881249"/>
            <a:chExt cx="4233425" cy="3768338"/>
          </a:xfrm>
        </p:grpSpPr>
        <p:sp>
          <p:nvSpPr>
            <p:cNvPr id="794" name="Google Shape;794;p68"/>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795" name="Google Shape;795;p68"/>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796" name="Google Shape;796;p68"/>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797" name="Google Shape;797;p68"/>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798" name="Google Shape;798;p68"/>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799" name="Google Shape;799;p68"/>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800" name="Google Shape;800;p68"/>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801" name="Google Shape;801;p68"/>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802" name="Google Shape;802;p68"/>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803" name="Google Shape;803;p68"/>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804" name="Google Shape;804;p68"/>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805" name="Google Shape;805;p68"/>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06" name="Google Shape;806;p68"/>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07" name="Google Shape;807;p68"/>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08" name="Google Shape;808;p68"/>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09" name="Google Shape;809;p68"/>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10" name="Google Shape;810;p68"/>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11" name="Google Shape;811;p68"/>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12" name="Google Shape;812;p68"/>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13" name="Google Shape;813;p68"/>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14" name="Google Shape;814;p68"/>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15" name="Google Shape;815;p68"/>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816" name="Google Shape;816;p68"/>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817" name="Google Shape;817;p68"/>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818" name="Google Shape;818;p68"/>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819" name="Google Shape;819;p68"/>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820" name="Google Shape;820;p68"/>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821" name="Google Shape;821;p68"/>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822" name="Google Shape;822;p68"/>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8"/>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8"/>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8"/>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8"/>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8"/>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8"/>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8"/>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8"/>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8"/>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8"/>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8"/>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8"/>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8"/>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8"/>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8"/>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8"/>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8"/>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8"/>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8"/>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8"/>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8"/>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844" name="Google Shape;844;p68"/>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845" name="Google Shape;845;p68"/>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846" name="Google Shape;846;p68"/>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847" name="Google Shape;847;p68"/>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848" name="Google Shape;848;p68"/>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849" name="Google Shape;849;p68"/>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850" name="Google Shape;850;p68"/>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851" name="Google Shape;851;p68"/>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852" name="Google Shape;852;p68"/>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853" name="Google Shape;853;p68"/>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854" name="Google Shape;854;p68"/>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855" name="Google Shape;855;p68"/>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856" name="Google Shape;856;p68"/>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857" name="Google Shape;857;p68"/>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858" name="Google Shape;858;p68"/>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859" name="Google Shape;859;p68"/>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860" name="Google Shape;860;p68"/>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861" name="Google Shape;861;p68"/>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862" name="Google Shape;862;p68"/>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863" name="Google Shape;863;p68"/>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864" name="Google Shape;864;p68"/>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865" name="Google Shape;865;p68"/>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866" name="Google Shape;866;p68"/>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867" name="Google Shape;867;p68"/>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868" name="Google Shape;868;p68"/>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869" name="Google Shape;869;p68"/>
          <p:cNvSpPr txBox="1"/>
          <p:nvPr/>
        </p:nvSpPr>
        <p:spPr>
          <a:xfrm>
            <a:off x="7271075" y="4675375"/>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9"/>
          <p:cNvSpPr txBox="1"/>
          <p:nvPr>
            <p:ph idx="1" type="body"/>
          </p:nvPr>
        </p:nvSpPr>
        <p:spPr>
          <a:xfrm>
            <a:off x="311700" y="1152475"/>
            <a:ext cx="26889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Color the uncolored neighbors of level 3 cities as level 4.</a:t>
            </a:r>
            <a:br>
              <a:rPr lang="en"/>
            </a:br>
            <a:br>
              <a:rPr lang="en"/>
            </a:br>
            <a:r>
              <a:rPr b="1" lang="en" sz="2100">
                <a:solidFill>
                  <a:srgbClr val="00D9AD"/>
                </a:solidFill>
              </a:rPr>
              <a:t>This includes our destination city, </a:t>
            </a:r>
            <a:r>
              <a:rPr b="1" lang="en" sz="2100">
                <a:solidFill>
                  <a:srgbClr val="FF0000"/>
                </a:solidFill>
              </a:rPr>
              <a:t>Valdosta</a:t>
            </a:r>
            <a:r>
              <a:rPr b="1" lang="en" sz="2100">
                <a:solidFill>
                  <a:srgbClr val="00D9AD"/>
                </a:solidFill>
              </a:rPr>
              <a:t>.</a:t>
            </a:r>
            <a:endParaRPr b="1" sz="2100">
              <a:solidFill>
                <a:srgbClr val="00D9AD"/>
              </a:solidFill>
            </a:endParaRPr>
          </a:p>
          <a:p>
            <a:pPr indent="0" lvl="0" marL="0" rtl="0" algn="ctr">
              <a:spcBef>
                <a:spcPts val="1200"/>
              </a:spcBef>
              <a:spcAft>
                <a:spcPts val="1200"/>
              </a:spcAft>
              <a:buNone/>
            </a:pPr>
            <a:r>
              <a:rPr lang="en">
                <a:solidFill>
                  <a:schemeClr val="dk1"/>
                </a:solidFill>
              </a:rPr>
              <a:t>Yay!</a:t>
            </a:r>
            <a:endParaRPr>
              <a:solidFill>
                <a:schemeClr val="dk1"/>
              </a:solidFill>
            </a:endParaRPr>
          </a:p>
        </p:txBody>
      </p:sp>
      <p:sp>
        <p:nvSpPr>
          <p:cNvPr id="875" name="Google Shape;87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4</a:t>
            </a:r>
            <a:endParaRPr/>
          </a:p>
        </p:txBody>
      </p:sp>
      <p:sp>
        <p:nvSpPr>
          <p:cNvPr id="876" name="Google Shape;87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77" name="Google Shape;877;p69"/>
          <p:cNvGrpSpPr/>
          <p:nvPr/>
        </p:nvGrpSpPr>
        <p:grpSpPr>
          <a:xfrm>
            <a:off x="2819750" y="881249"/>
            <a:ext cx="4233425" cy="3845426"/>
            <a:chOff x="2819750" y="881249"/>
            <a:chExt cx="4233425" cy="3845426"/>
          </a:xfrm>
        </p:grpSpPr>
        <p:sp>
          <p:nvSpPr>
            <p:cNvPr id="878" name="Google Shape;878;p69"/>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879" name="Google Shape;879;p69"/>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880" name="Google Shape;880;p69"/>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881" name="Google Shape;881;p69"/>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882" name="Google Shape;882;p69"/>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883" name="Google Shape;883;p69"/>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884" name="Google Shape;884;p69"/>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885" name="Google Shape;885;p69"/>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886" name="Google Shape;886;p69"/>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887" name="Google Shape;887;p69"/>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888" name="Google Shape;888;p69"/>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889" name="Google Shape;889;p69"/>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90" name="Google Shape;890;p69"/>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91" name="Google Shape;891;p69"/>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92" name="Google Shape;892;p69"/>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93" name="Google Shape;893;p69"/>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94" name="Google Shape;894;p69"/>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95" name="Google Shape;895;p69"/>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96" name="Google Shape;896;p69"/>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97" name="Google Shape;897;p69"/>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98" name="Google Shape;898;p69"/>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99" name="Google Shape;899;p69"/>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900" name="Google Shape;900;p69"/>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901" name="Google Shape;901;p69"/>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902" name="Google Shape;902;p69"/>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903" name="Google Shape;903;p69"/>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904" name="Google Shape;904;p69"/>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905" name="Google Shape;905;p69"/>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906" name="Google Shape;906;p69"/>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9"/>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9"/>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9"/>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9"/>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9"/>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9"/>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9"/>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9"/>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9"/>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9"/>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9"/>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9"/>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9"/>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9"/>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9"/>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9"/>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9"/>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69"/>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9"/>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9"/>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9"/>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928" name="Google Shape;928;p69"/>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929" name="Google Shape;929;p69"/>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930" name="Google Shape;930;p69"/>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931" name="Google Shape;931;p69"/>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932" name="Google Shape;932;p69"/>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933" name="Google Shape;933;p69"/>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934" name="Google Shape;934;p69"/>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935" name="Google Shape;935;p69"/>
            <p:cNvSpPr txBox="1"/>
            <p:nvPr/>
          </p:nvSpPr>
          <p:spPr>
            <a:xfrm>
              <a:off x="4301400" y="4341775"/>
              <a:ext cx="92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FF0000"/>
                  </a:solidFill>
                </a:rPr>
                <a:t>Valdosta</a:t>
              </a:r>
              <a:endParaRPr b="1" sz="1300">
                <a:solidFill>
                  <a:srgbClr val="FF0000"/>
                </a:solidFill>
              </a:endParaRPr>
            </a:p>
          </p:txBody>
        </p:sp>
        <p:sp>
          <p:nvSpPr>
            <p:cNvPr id="936" name="Google Shape;936;p69"/>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937" name="Google Shape;937;p69"/>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938" name="Google Shape;938;p69"/>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939" name="Google Shape;939;p69"/>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940" name="Google Shape;940;p69"/>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941" name="Google Shape;941;p69"/>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942" name="Google Shape;942;p69"/>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943" name="Google Shape;943;p69"/>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944" name="Google Shape;944;p69"/>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945" name="Google Shape;945;p69"/>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946" name="Google Shape;946;p69"/>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947" name="Google Shape;947;p69"/>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948" name="Google Shape;948;p69"/>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949" name="Google Shape;949;p69"/>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950" name="Google Shape;950;p69"/>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951" name="Google Shape;951;p69"/>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952" name="Google Shape;952;p69"/>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953" name="Google Shape;953;p69"/>
          <p:cNvSpPr txBox="1"/>
          <p:nvPr/>
        </p:nvSpPr>
        <p:spPr>
          <a:xfrm>
            <a:off x="5208150" y="4552225"/>
            <a:ext cx="357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There are still some cities left uncolored. Do we need to go to level 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you recover the solution path?</a:t>
            </a:r>
            <a:endParaRPr/>
          </a:p>
        </p:txBody>
      </p:sp>
      <p:sp>
        <p:nvSpPr>
          <p:cNvPr id="959" name="Google Shape;959;p70"/>
          <p:cNvSpPr txBox="1"/>
          <p:nvPr>
            <p:ph idx="1" type="body"/>
          </p:nvPr>
        </p:nvSpPr>
        <p:spPr>
          <a:xfrm>
            <a:off x="311700" y="1152475"/>
            <a:ext cx="3197400" cy="34164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AutoNum type="arabicPeriod"/>
            </a:pPr>
            <a:r>
              <a:rPr lang="en"/>
              <a:t>Start at the goal: Valdosta. It is at level 4. Write down the label of that node.</a:t>
            </a:r>
            <a:br>
              <a:rPr lang="en"/>
            </a:br>
            <a:endParaRPr/>
          </a:p>
          <a:p>
            <a:pPr indent="-334327" lvl="0" marL="457200" rtl="0" algn="l">
              <a:spcBef>
                <a:spcPts val="0"/>
              </a:spcBef>
              <a:spcAft>
                <a:spcPts val="0"/>
              </a:spcAft>
              <a:buSzPct val="100000"/>
              <a:buAutoNum type="arabicPeriod"/>
            </a:pPr>
            <a:r>
              <a:rPr lang="en"/>
              <a:t>Find a neighbor one level below. Write down its label and move to that node.</a:t>
            </a:r>
            <a:br>
              <a:rPr lang="en"/>
            </a:br>
            <a:endParaRPr/>
          </a:p>
          <a:p>
            <a:pPr indent="-334327" lvl="0" marL="457200" rtl="0" algn="l">
              <a:spcBef>
                <a:spcPts val="0"/>
              </a:spcBef>
              <a:spcAft>
                <a:spcPts val="0"/>
              </a:spcAft>
              <a:buSzPct val="100000"/>
              <a:buAutoNum type="arabicPeriod"/>
            </a:pPr>
            <a:r>
              <a:rPr lang="en"/>
              <a:t>Repeat step 2 until you reach the starting point (Savannah), at level 0.</a:t>
            </a:r>
            <a:endParaRPr/>
          </a:p>
        </p:txBody>
      </p:sp>
      <p:sp>
        <p:nvSpPr>
          <p:cNvPr id="960" name="Google Shape;960;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961" name="Google Shape;961;p70"/>
          <p:cNvGrpSpPr/>
          <p:nvPr/>
        </p:nvGrpSpPr>
        <p:grpSpPr>
          <a:xfrm>
            <a:off x="3734150" y="881249"/>
            <a:ext cx="4233425" cy="3799226"/>
            <a:chOff x="2819750" y="881249"/>
            <a:chExt cx="4233425" cy="3799226"/>
          </a:xfrm>
        </p:grpSpPr>
        <p:sp>
          <p:nvSpPr>
            <p:cNvPr id="962" name="Google Shape;962;p70"/>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963" name="Google Shape;963;p70"/>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964" name="Google Shape;964;p70"/>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965" name="Google Shape;965;p70"/>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966" name="Google Shape;966;p70"/>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967" name="Google Shape;967;p70"/>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968" name="Google Shape;968;p70"/>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969" name="Google Shape;969;p70"/>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970" name="Google Shape;970;p70"/>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971" name="Google Shape;971;p70"/>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972" name="Google Shape;972;p70"/>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973" name="Google Shape;973;p70"/>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974" name="Google Shape;974;p70"/>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975" name="Google Shape;975;p70"/>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976" name="Google Shape;976;p70"/>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977" name="Google Shape;977;p70"/>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978" name="Google Shape;978;p70"/>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979" name="Google Shape;979;p70"/>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980" name="Google Shape;980;p70"/>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981" name="Google Shape;981;p70"/>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982" name="Google Shape;982;p70"/>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983" name="Google Shape;983;p70"/>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984" name="Google Shape;984;p70"/>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985" name="Google Shape;985;p70"/>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986" name="Google Shape;986;p70"/>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987" name="Google Shape;987;p70"/>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988" name="Google Shape;988;p70"/>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989" name="Google Shape;989;p70"/>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990" name="Google Shape;990;p70"/>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0"/>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0"/>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0"/>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0"/>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0"/>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0"/>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0"/>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0"/>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0"/>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0"/>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0"/>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0"/>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0"/>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0"/>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0"/>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0"/>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0"/>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0"/>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12" name="Google Shape;1012;p70"/>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013" name="Google Shape;1013;p70"/>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014" name="Google Shape;1014;p70"/>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015" name="Google Shape;1015;p70"/>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016" name="Google Shape;1016;p70"/>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017" name="Google Shape;1017;p70"/>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018" name="Google Shape;1018;p70"/>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019" name="Google Shape;1019;p70"/>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1020" name="Google Shape;1020;p70"/>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021" name="Google Shape;1021;p70"/>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022" name="Google Shape;1022;p70"/>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023" name="Google Shape;1023;p70"/>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024" name="Google Shape;1024;p70"/>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025" name="Google Shape;1025;p70"/>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026" name="Google Shape;1026;p70"/>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027" name="Google Shape;1027;p70"/>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028" name="Google Shape;1028;p70"/>
          <p:cNvSpPr txBox="1"/>
          <p:nvPr/>
        </p:nvSpPr>
        <p:spPr>
          <a:xfrm>
            <a:off x="48557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029" name="Google Shape;1029;p70"/>
          <p:cNvSpPr txBox="1"/>
          <p:nvPr/>
        </p:nvSpPr>
        <p:spPr>
          <a:xfrm>
            <a:off x="43384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030" name="Google Shape;1030;p70"/>
          <p:cNvSpPr/>
          <p:nvPr/>
        </p:nvSpPr>
        <p:spPr>
          <a:xfrm>
            <a:off x="5628550" y="3250825"/>
            <a:ext cx="1603500" cy="1095300"/>
          </a:xfrm>
          <a:custGeom>
            <a:rect b="b" l="l" r="r" t="t"/>
            <a:pathLst>
              <a:path extrusionOk="0" h="43812" w="64140">
                <a:moveTo>
                  <a:pt x="0" y="43812"/>
                </a:moveTo>
                <a:lnTo>
                  <a:pt x="29091" y="32596"/>
                </a:lnTo>
                <a:lnTo>
                  <a:pt x="55378" y="32947"/>
                </a:lnTo>
                <a:lnTo>
                  <a:pt x="49770" y="10866"/>
                </a:lnTo>
                <a:lnTo>
                  <a:pt x="64140" y="0"/>
                </a:lnTo>
              </a:path>
            </a:pathLst>
          </a:custGeom>
          <a:noFill/>
          <a:ln cap="flat" cmpd="sng" w="38100">
            <a:solidFill>
              <a:srgbClr val="FF0000"/>
            </a:solidFill>
            <a:prstDash val="solid"/>
            <a:round/>
            <a:headEnd len="med" w="med" type="triangle"/>
            <a:tailEnd len="med" w="med" type="none"/>
          </a:ln>
        </p:spPr>
      </p:sp>
      <p:sp>
        <p:nvSpPr>
          <p:cNvPr id="1031" name="Google Shape;1031;p70"/>
          <p:cNvSpPr txBox="1"/>
          <p:nvPr/>
        </p:nvSpPr>
        <p:spPr>
          <a:xfrm>
            <a:off x="82923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032" name="Google Shape;1032;p70"/>
          <p:cNvSpPr txBox="1"/>
          <p:nvPr/>
        </p:nvSpPr>
        <p:spPr>
          <a:xfrm>
            <a:off x="82923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033" name="Google Shape;1033;p70"/>
          <p:cNvSpPr txBox="1"/>
          <p:nvPr/>
        </p:nvSpPr>
        <p:spPr>
          <a:xfrm>
            <a:off x="82923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034" name="Google Shape;1034;p70"/>
          <p:cNvSpPr txBox="1"/>
          <p:nvPr/>
        </p:nvSpPr>
        <p:spPr>
          <a:xfrm>
            <a:off x="82923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035" name="Google Shape;1035;p70"/>
          <p:cNvSpPr txBox="1"/>
          <p:nvPr/>
        </p:nvSpPr>
        <p:spPr>
          <a:xfrm>
            <a:off x="82923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036" name="Google Shape;1036;p70"/>
          <p:cNvSpPr txBox="1"/>
          <p:nvPr/>
        </p:nvSpPr>
        <p:spPr>
          <a:xfrm>
            <a:off x="82923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037" name="Google Shape;1037;p70"/>
          <p:cNvSpPr txBox="1"/>
          <p:nvPr/>
        </p:nvSpPr>
        <p:spPr>
          <a:xfrm>
            <a:off x="82923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038" name="Google Shape;1038;p70"/>
          <p:cNvSpPr txBox="1"/>
          <p:nvPr/>
        </p:nvSpPr>
        <p:spPr>
          <a:xfrm>
            <a:off x="82923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039" name="Google Shape;1039;p70"/>
          <p:cNvSpPr txBox="1"/>
          <p:nvPr/>
        </p:nvSpPr>
        <p:spPr>
          <a:xfrm>
            <a:off x="82923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040" name="Google Shape;1040;p70"/>
          <p:cNvSpPr txBox="1"/>
          <p:nvPr/>
        </p:nvSpPr>
        <p:spPr>
          <a:xfrm>
            <a:off x="82923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71"/>
          <p:cNvSpPr txBox="1"/>
          <p:nvPr>
            <p:ph idx="1" type="body"/>
          </p:nvPr>
        </p:nvSpPr>
        <p:spPr>
          <a:xfrm>
            <a:off x="311700" y="1152475"/>
            <a:ext cx="263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Draw a red line that follows the recovery path from your destination to the start node.</a:t>
            </a:r>
            <a:br>
              <a:rPr lang="en"/>
            </a:br>
            <a:endParaRPr/>
          </a:p>
          <a:p>
            <a:pPr indent="0" lvl="0" marL="0" rtl="0" algn="l">
              <a:spcBef>
                <a:spcPts val="1200"/>
              </a:spcBef>
              <a:spcAft>
                <a:spcPts val="1200"/>
              </a:spcAft>
              <a:buNone/>
            </a:pPr>
            <a:r>
              <a:rPr lang="en"/>
              <a:t>When you reverse the result, you will have the </a:t>
            </a:r>
            <a:r>
              <a:rPr b="1" lang="en"/>
              <a:t>solution path</a:t>
            </a:r>
            <a:r>
              <a:rPr lang="en"/>
              <a:t>.</a:t>
            </a:r>
            <a:endParaRPr/>
          </a:p>
        </p:txBody>
      </p:sp>
      <p:sp>
        <p:nvSpPr>
          <p:cNvPr id="1046" name="Google Shape;1046;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Recovering the Solution Path</a:t>
            </a:r>
            <a:endParaRPr/>
          </a:p>
        </p:txBody>
      </p:sp>
      <p:sp>
        <p:nvSpPr>
          <p:cNvPr id="1047" name="Google Shape;1047;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048" name="Google Shape;1048;p71"/>
          <p:cNvGrpSpPr/>
          <p:nvPr/>
        </p:nvGrpSpPr>
        <p:grpSpPr>
          <a:xfrm>
            <a:off x="2819750" y="881249"/>
            <a:ext cx="4233425" cy="3799226"/>
            <a:chOff x="2819750" y="881249"/>
            <a:chExt cx="4233425" cy="3799226"/>
          </a:xfrm>
        </p:grpSpPr>
        <p:sp>
          <p:nvSpPr>
            <p:cNvPr id="1049" name="Google Shape;1049;p71"/>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050" name="Google Shape;1050;p71"/>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051" name="Google Shape;1051;p71"/>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052" name="Google Shape;1052;p71"/>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053" name="Google Shape;1053;p71"/>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054" name="Google Shape;1054;p71"/>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055" name="Google Shape;1055;p71"/>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056" name="Google Shape;1056;p71"/>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057" name="Google Shape;1057;p71"/>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058" name="Google Shape;1058;p71"/>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059" name="Google Shape;1059;p71"/>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060" name="Google Shape;1060;p71"/>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061" name="Google Shape;1061;p71"/>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062" name="Google Shape;1062;p71"/>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063" name="Google Shape;1063;p71"/>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064" name="Google Shape;1064;p71"/>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065" name="Google Shape;1065;p71"/>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066" name="Google Shape;1066;p71"/>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067" name="Google Shape;1067;p71"/>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068" name="Google Shape;1068;p71"/>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069" name="Google Shape;1069;p71"/>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070" name="Google Shape;1070;p71"/>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071" name="Google Shape;1071;p71"/>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072" name="Google Shape;1072;p71"/>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073" name="Google Shape;1073;p71"/>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074" name="Google Shape;1074;p71"/>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075" name="Google Shape;1075;p71"/>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076" name="Google Shape;1076;p71"/>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077" name="Google Shape;1077;p71"/>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1"/>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1"/>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1"/>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71"/>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1"/>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1"/>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1"/>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1"/>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1"/>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1"/>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1"/>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1"/>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1"/>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1"/>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1"/>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1"/>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1"/>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71"/>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1"/>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1"/>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1"/>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99" name="Google Shape;1099;p71"/>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100" name="Google Shape;1100;p71"/>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101" name="Google Shape;1101;p71"/>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102" name="Google Shape;1102;p71"/>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103" name="Google Shape;1103;p71"/>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104" name="Google Shape;1104;p71"/>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105" name="Google Shape;1105;p71"/>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106" name="Google Shape;1106;p71"/>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1107" name="Google Shape;1107;p71"/>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108" name="Google Shape;1108;p71"/>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109" name="Google Shape;1109;p71"/>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110" name="Google Shape;1110;p71"/>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111" name="Google Shape;1111;p71"/>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112" name="Google Shape;1112;p71"/>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113" name="Google Shape;1113;p71"/>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114" name="Google Shape;1114;p71"/>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115" name="Google Shape;1115;p71"/>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116" name="Google Shape;1116;p71"/>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117" name="Google Shape;1117;p71"/>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118" name="Google Shape;1118;p71"/>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119" name="Google Shape;1119;p71"/>
          <p:cNvSpPr/>
          <p:nvPr/>
        </p:nvSpPr>
        <p:spPr>
          <a:xfrm>
            <a:off x="4714150" y="3250825"/>
            <a:ext cx="1603500" cy="1095300"/>
          </a:xfrm>
          <a:custGeom>
            <a:rect b="b" l="l" r="r" t="t"/>
            <a:pathLst>
              <a:path extrusionOk="0" h="43812" w="64140">
                <a:moveTo>
                  <a:pt x="0" y="43812"/>
                </a:moveTo>
                <a:lnTo>
                  <a:pt x="29091" y="32596"/>
                </a:lnTo>
                <a:lnTo>
                  <a:pt x="55378" y="32947"/>
                </a:lnTo>
                <a:lnTo>
                  <a:pt x="49770" y="10866"/>
                </a:lnTo>
                <a:lnTo>
                  <a:pt x="64140" y="0"/>
                </a:lnTo>
              </a:path>
            </a:pathLst>
          </a:custGeom>
          <a:noFill/>
          <a:ln cap="flat" cmpd="sng" w="38100">
            <a:solidFill>
              <a:srgbClr val="FF0000"/>
            </a:solidFill>
            <a:prstDash val="solid"/>
            <a:round/>
            <a:headEnd len="med" w="med" type="triangle"/>
            <a:tailEnd len="med" w="med" type="none"/>
          </a:ln>
        </p:spPr>
      </p:sp>
      <p:sp>
        <p:nvSpPr>
          <p:cNvPr id="1120" name="Google Shape;1120;p71"/>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21" name="Google Shape;1121;p71"/>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22" name="Google Shape;1122;p71"/>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23" name="Google Shape;1123;p71"/>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24" name="Google Shape;1124;p71"/>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125" name="Google Shape;1125;p71"/>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26" name="Google Shape;1126;p71"/>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27" name="Google Shape;1127;p71"/>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28" name="Google Shape;1128;p71"/>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29" name="Google Shape;1129;p71"/>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3" name="Shape 1133"/>
        <p:cNvGrpSpPr/>
        <p:nvPr/>
      </p:nvGrpSpPr>
      <p:grpSpPr>
        <a:xfrm>
          <a:off x="0" y="0"/>
          <a:ext cx="0" cy="0"/>
          <a:chOff x="0" y="0"/>
          <a:chExt cx="0" cy="0"/>
        </a:xfrm>
      </p:grpSpPr>
      <p:sp>
        <p:nvSpPr>
          <p:cNvPr id="1134" name="Google Shape;1134;p72"/>
          <p:cNvSpPr txBox="1"/>
          <p:nvPr>
            <p:ph type="title"/>
          </p:nvPr>
        </p:nvSpPr>
        <p:spPr>
          <a:xfrm>
            <a:off x="311700" y="1335900"/>
            <a:ext cx="8520600" cy="247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200"/>
              <a:t>ACTIVITY</a:t>
            </a:r>
            <a:r>
              <a:rPr lang="en" sz="7200"/>
              <a:t> TIME</a:t>
            </a:r>
            <a:endParaRPr sz="7200"/>
          </a:p>
        </p:txBody>
      </p:sp>
      <p:sp>
        <p:nvSpPr>
          <p:cNvPr id="1135" name="Google Shape;1135;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73"/>
          <p:cNvSpPr txBox="1"/>
          <p:nvPr>
            <p:ph idx="1" type="body"/>
          </p:nvPr>
        </p:nvSpPr>
        <p:spPr>
          <a:xfrm>
            <a:off x="125325" y="1138350"/>
            <a:ext cx="3744900" cy="3918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1100"/>
              <a:buFont typeface="Arial"/>
              <a:buNone/>
            </a:pPr>
            <a:r>
              <a:rPr lang="en" sz="1700"/>
              <a:t>Work with your partner.</a:t>
            </a:r>
            <a:endParaRPr sz="1700"/>
          </a:p>
          <a:p>
            <a:pPr indent="-222250" lvl="0" marL="342900" rtl="0" algn="l">
              <a:lnSpc>
                <a:spcPct val="95000"/>
              </a:lnSpc>
              <a:spcBef>
                <a:spcPts val="1200"/>
              </a:spcBef>
              <a:spcAft>
                <a:spcPts val="0"/>
              </a:spcAft>
              <a:buClr>
                <a:schemeClr val="dk1"/>
              </a:buClr>
              <a:buSzPts val="1700"/>
              <a:buAutoNum type="arabicPeriod"/>
            </a:pPr>
            <a:r>
              <a:rPr lang="en" sz="1700">
                <a:solidFill>
                  <a:schemeClr val="dk1"/>
                </a:solidFill>
              </a:rPr>
              <a:t>Color the starting city as level 0.</a:t>
            </a:r>
            <a:endParaRPr sz="1700">
              <a:solidFill>
                <a:schemeClr val="dk1"/>
              </a:solidFill>
            </a:endParaRPr>
          </a:p>
          <a:p>
            <a:pPr indent="-222250" lvl="0" marL="342900" rtl="0" algn="l">
              <a:lnSpc>
                <a:spcPct val="95000"/>
              </a:lnSpc>
              <a:spcBef>
                <a:spcPts val="0"/>
              </a:spcBef>
              <a:spcAft>
                <a:spcPts val="0"/>
              </a:spcAft>
              <a:buClr>
                <a:schemeClr val="dk1"/>
              </a:buClr>
              <a:buSzPts val="1700"/>
              <a:buAutoNum type="arabicPeriod"/>
            </a:pPr>
            <a:r>
              <a:rPr lang="en" sz="1700">
                <a:solidFill>
                  <a:schemeClr val="dk1"/>
                </a:solidFill>
              </a:rPr>
              <a:t>Find all the uncolored neighbors, and color them using the next level’s color.</a:t>
            </a:r>
            <a:endParaRPr sz="1700">
              <a:solidFill>
                <a:schemeClr val="dk1"/>
              </a:solidFill>
            </a:endParaRPr>
          </a:p>
          <a:p>
            <a:pPr indent="-222250" lvl="0" marL="342900" rtl="0" algn="l">
              <a:lnSpc>
                <a:spcPct val="95000"/>
              </a:lnSpc>
              <a:spcBef>
                <a:spcPts val="0"/>
              </a:spcBef>
              <a:spcAft>
                <a:spcPts val="0"/>
              </a:spcAft>
              <a:buClr>
                <a:schemeClr val="dk1"/>
              </a:buClr>
              <a:buSzPts val="1700"/>
              <a:buAutoNum type="arabicPeriod"/>
            </a:pPr>
            <a:r>
              <a:rPr lang="en" sz="1700">
                <a:solidFill>
                  <a:schemeClr val="dk1"/>
                </a:solidFill>
              </a:rPr>
              <a:t>Repeat step 2 until you’ve colored the destination city.</a:t>
            </a:r>
            <a:r>
              <a:rPr lang="en" sz="1700"/>
              <a:t> </a:t>
            </a:r>
            <a:endParaRPr sz="1700"/>
          </a:p>
          <a:p>
            <a:pPr indent="0" lvl="0" marL="0" rtl="0" algn="l">
              <a:lnSpc>
                <a:spcPct val="95000"/>
              </a:lnSpc>
              <a:spcBef>
                <a:spcPts val="1200"/>
              </a:spcBef>
              <a:spcAft>
                <a:spcPts val="0"/>
              </a:spcAft>
              <a:buNone/>
            </a:pPr>
            <a:r>
              <a:t/>
            </a:r>
            <a:endParaRPr sz="1700"/>
          </a:p>
          <a:p>
            <a:pPr indent="0" lvl="0" marL="0" rtl="0" algn="l">
              <a:lnSpc>
                <a:spcPct val="95000"/>
              </a:lnSpc>
              <a:spcBef>
                <a:spcPts val="1200"/>
              </a:spcBef>
              <a:spcAft>
                <a:spcPts val="0"/>
              </a:spcAft>
              <a:buNone/>
            </a:pPr>
            <a:r>
              <a:t/>
            </a:r>
            <a:endParaRPr sz="1700"/>
          </a:p>
          <a:p>
            <a:pPr indent="0" lvl="0" marL="0" rtl="0" algn="l">
              <a:lnSpc>
                <a:spcPct val="95000"/>
              </a:lnSpc>
              <a:spcBef>
                <a:spcPts val="1200"/>
              </a:spcBef>
              <a:spcAft>
                <a:spcPts val="1200"/>
              </a:spcAft>
              <a:buClr>
                <a:srgbClr val="000000"/>
              </a:buClr>
              <a:buSzPts val="1100"/>
              <a:buFont typeface="Arial"/>
              <a:buNone/>
            </a:pPr>
            <a:r>
              <a:rPr b="1" lang="en" sz="1700">
                <a:solidFill>
                  <a:srgbClr val="9900FF"/>
                </a:solidFill>
              </a:rPr>
              <a:t>Pro-tip: </a:t>
            </a:r>
            <a:r>
              <a:rPr lang="en" sz="1700"/>
              <a:t>Place your finger on first city. Trace the lines that leave the city. Those are the neighbors. </a:t>
            </a:r>
            <a:r>
              <a:rPr b="1" lang="en" sz="1700"/>
              <a:t>This helps you not to miss any cities.</a:t>
            </a:r>
            <a:endParaRPr b="1" sz="1700"/>
          </a:p>
        </p:txBody>
      </p:sp>
      <p:sp>
        <p:nvSpPr>
          <p:cNvPr id="1141" name="Google Shape;1141;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Worksheet Page 1: Columbus to Brunswick</a:t>
            </a:r>
            <a:endParaRPr b="1"/>
          </a:p>
        </p:txBody>
      </p:sp>
      <p:sp>
        <p:nvSpPr>
          <p:cNvPr id="1142" name="Google Shape;1142;p73"/>
          <p:cNvSpPr txBox="1"/>
          <p:nvPr>
            <p:ph idx="12" type="sldNum"/>
          </p:nvPr>
        </p:nvSpPr>
        <p:spPr>
          <a:xfrm>
            <a:off x="85486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3" name="Google Shape;1143;p73"/>
          <p:cNvSpPr txBox="1"/>
          <p:nvPr/>
        </p:nvSpPr>
        <p:spPr>
          <a:xfrm>
            <a:off x="79875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44" name="Google Shape;1144;p73"/>
          <p:cNvSpPr txBox="1"/>
          <p:nvPr/>
        </p:nvSpPr>
        <p:spPr>
          <a:xfrm>
            <a:off x="79875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45" name="Google Shape;1145;p73"/>
          <p:cNvSpPr txBox="1"/>
          <p:nvPr/>
        </p:nvSpPr>
        <p:spPr>
          <a:xfrm>
            <a:off x="79875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46" name="Google Shape;1146;p73"/>
          <p:cNvSpPr txBox="1"/>
          <p:nvPr/>
        </p:nvSpPr>
        <p:spPr>
          <a:xfrm>
            <a:off x="79875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47" name="Google Shape;1147;p73"/>
          <p:cNvSpPr txBox="1"/>
          <p:nvPr/>
        </p:nvSpPr>
        <p:spPr>
          <a:xfrm>
            <a:off x="79875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grpSp>
        <p:nvGrpSpPr>
          <p:cNvPr id="1148" name="Google Shape;1148;p73"/>
          <p:cNvGrpSpPr/>
          <p:nvPr/>
        </p:nvGrpSpPr>
        <p:grpSpPr>
          <a:xfrm>
            <a:off x="3734150" y="881249"/>
            <a:ext cx="4233425" cy="3768338"/>
            <a:chOff x="2819750" y="881249"/>
            <a:chExt cx="4233425" cy="3768338"/>
          </a:xfrm>
        </p:grpSpPr>
        <p:sp>
          <p:nvSpPr>
            <p:cNvPr id="1149" name="Google Shape;1149;p73"/>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150" name="Google Shape;1150;p73"/>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151" name="Google Shape;1151;p73"/>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152" name="Google Shape;1152;p73"/>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153" name="Google Shape;1153;p73"/>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154" name="Google Shape;1154;p73"/>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155" name="Google Shape;1155;p73"/>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156" name="Google Shape;1156;p73"/>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157" name="Google Shape;1157;p73"/>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158" name="Google Shape;1158;p73"/>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159" name="Google Shape;1159;p73"/>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160" name="Google Shape;1160;p73"/>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161" name="Google Shape;1161;p73"/>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162" name="Google Shape;1162;p73"/>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163" name="Google Shape;1163;p73"/>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164" name="Google Shape;1164;p73"/>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165" name="Google Shape;1165;p73"/>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166" name="Google Shape;1166;p73"/>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167" name="Google Shape;1167;p73"/>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168" name="Google Shape;1168;p73"/>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169" name="Google Shape;1169;p73"/>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170" name="Google Shape;1170;p73"/>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171" name="Google Shape;1171;p73"/>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172" name="Google Shape;1172;p73"/>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173" name="Google Shape;1173;p73"/>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174" name="Google Shape;1174;p73"/>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175" name="Google Shape;1175;p73"/>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176" name="Google Shape;1176;p73"/>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177" name="Google Shape;1177;p73"/>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3"/>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3"/>
            <p:cNvSpPr/>
            <p:nvPr/>
          </p:nvSpPr>
          <p:spPr>
            <a:xfrm>
              <a:off x="3392100" y="2751748"/>
              <a:ext cx="188700" cy="1887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3"/>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3"/>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3"/>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3"/>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3"/>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3"/>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3"/>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3"/>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3"/>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3"/>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3"/>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3"/>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3"/>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3"/>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3"/>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3"/>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3"/>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3"/>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3"/>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199" name="Google Shape;1199;p73"/>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200" name="Google Shape;1200;p73"/>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201" name="Google Shape;1201;p73"/>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202" name="Google Shape;1202;p73"/>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203" name="Google Shape;1203;p73"/>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204" name="Google Shape;1204;p73"/>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205" name="Google Shape;1205;p73"/>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206" name="Google Shape;1206;p73"/>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207" name="Google Shape;1207;p73"/>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208" name="Google Shape;1208;p73"/>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209" name="Google Shape;1209;p73"/>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210" name="Google Shape;1210;p73"/>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211" name="Google Shape;1211;p73"/>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212" name="Google Shape;1212;p73"/>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213" name="Google Shape;1213;p73"/>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214" name="Google Shape;1214;p73"/>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215" name="Google Shape;1215;p73"/>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216" name="Google Shape;1216;p73"/>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217" name="Google Shape;1217;p73"/>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218" name="Google Shape;1218;p73"/>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74"/>
          <p:cNvSpPr txBox="1"/>
          <p:nvPr>
            <p:ph idx="1" type="body"/>
          </p:nvPr>
        </p:nvSpPr>
        <p:spPr>
          <a:xfrm>
            <a:off x="311700" y="1132275"/>
            <a:ext cx="27162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Clr>
                <a:srgbClr val="000000"/>
              </a:buClr>
              <a:buSzPct val="61111"/>
              <a:buFont typeface="Arial"/>
              <a:buNone/>
            </a:pPr>
            <a:r>
              <a:rPr lang="en"/>
              <a:t>Once you have finished coloring the nodes, you can</a:t>
            </a:r>
            <a:r>
              <a:rPr lang="en"/>
              <a:t> trace backwards from the destination. Recover the solution!</a:t>
            </a:r>
            <a:br>
              <a:rPr lang="en"/>
            </a:br>
            <a:endParaRPr/>
          </a:p>
          <a:p>
            <a:pPr indent="0" lvl="0" marL="0" rtl="0" algn="l">
              <a:spcBef>
                <a:spcPts val="1200"/>
              </a:spcBef>
              <a:spcAft>
                <a:spcPts val="0"/>
              </a:spcAft>
              <a:buClr>
                <a:srgbClr val="000000"/>
              </a:buClr>
              <a:buSzPct val="61111"/>
              <a:buFont typeface="Arial"/>
              <a:buNone/>
            </a:pPr>
            <a:r>
              <a:t/>
            </a:r>
            <a:endParaRPr/>
          </a:p>
          <a:p>
            <a:pPr indent="0" lvl="0" marL="0" rtl="0" algn="l">
              <a:spcBef>
                <a:spcPts val="1200"/>
              </a:spcBef>
              <a:spcAft>
                <a:spcPts val="1200"/>
              </a:spcAft>
              <a:buClr>
                <a:srgbClr val="000000"/>
              </a:buClr>
              <a:buSzPct val="61111"/>
              <a:buFont typeface="Arial"/>
              <a:buNone/>
            </a:pPr>
            <a:br>
              <a:rPr lang="en"/>
            </a:br>
            <a:r>
              <a:rPr b="1" lang="en">
                <a:solidFill>
                  <a:srgbClr val="9900FF"/>
                </a:solidFill>
              </a:rPr>
              <a:t>Pro-tip</a:t>
            </a:r>
            <a:r>
              <a:rPr b="1" lang="en">
                <a:solidFill>
                  <a:srgbClr val="9900FF"/>
                </a:solidFill>
              </a:rPr>
              <a:t>:</a:t>
            </a:r>
            <a:r>
              <a:rPr lang="en">
                <a:solidFill>
                  <a:srgbClr val="9900FF"/>
                </a:solidFill>
              </a:rPr>
              <a:t> </a:t>
            </a:r>
            <a:r>
              <a:rPr lang="en"/>
              <a:t>Be sure you do </a:t>
            </a:r>
            <a:r>
              <a:rPr b="1" lang="en"/>
              <a:t>NOT</a:t>
            </a:r>
            <a:r>
              <a:rPr lang="en"/>
              <a:t> repeat any colors when you trace for a solution.</a:t>
            </a:r>
            <a:endParaRPr/>
          </a:p>
        </p:txBody>
      </p:sp>
      <p:sp>
        <p:nvSpPr>
          <p:cNvPr id="1224" name="Google Shape;1224;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Columbus to Brunswick</a:t>
            </a:r>
            <a:endParaRPr/>
          </a:p>
        </p:txBody>
      </p:sp>
      <p:sp>
        <p:nvSpPr>
          <p:cNvPr id="1225" name="Google Shape;1225;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26" name="Google Shape;1226;p74"/>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227" name="Google Shape;1227;p74"/>
          <p:cNvSpPr txBox="1"/>
          <p:nvPr/>
        </p:nvSpPr>
        <p:spPr>
          <a:xfrm>
            <a:off x="3566025" y="3512575"/>
            <a:ext cx="548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228" name="Google Shape;1228;p74"/>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229" name="Google Shape;1229;p74"/>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230" name="Google Shape;1230;p74"/>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231" name="Google Shape;1231;p74"/>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grpSp>
        <p:nvGrpSpPr>
          <p:cNvPr id="1232" name="Google Shape;1232;p74"/>
          <p:cNvGrpSpPr/>
          <p:nvPr/>
        </p:nvGrpSpPr>
        <p:grpSpPr>
          <a:xfrm>
            <a:off x="2819750" y="881249"/>
            <a:ext cx="4233425" cy="3768338"/>
            <a:chOff x="2819750" y="881249"/>
            <a:chExt cx="4233425" cy="3768338"/>
          </a:xfrm>
        </p:grpSpPr>
        <p:sp>
          <p:nvSpPr>
            <p:cNvPr id="1233" name="Google Shape;1233;p74"/>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234" name="Google Shape;1234;p74"/>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235" name="Google Shape;1235;p74"/>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236" name="Google Shape;1236;p74"/>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237" name="Google Shape;1237;p74"/>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238" name="Google Shape;1238;p74"/>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239" name="Google Shape;1239;p74"/>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240" name="Google Shape;1240;p74"/>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241" name="Google Shape;1241;p74"/>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242" name="Google Shape;1242;p74"/>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243" name="Google Shape;1243;p74"/>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244" name="Google Shape;1244;p74"/>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245" name="Google Shape;1245;p74"/>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246" name="Google Shape;1246;p74"/>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247" name="Google Shape;1247;p74"/>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248" name="Google Shape;1248;p74"/>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249" name="Google Shape;1249;p74"/>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250" name="Google Shape;1250;p74"/>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251" name="Google Shape;1251;p74"/>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252" name="Google Shape;1252;p74"/>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253" name="Google Shape;1253;p74"/>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254" name="Google Shape;1254;p74"/>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255" name="Google Shape;1255;p74"/>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256" name="Google Shape;1256;p74"/>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257" name="Google Shape;1257;p74"/>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258" name="Google Shape;1258;p74"/>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259" name="Google Shape;1259;p74"/>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260" name="Google Shape;1260;p74"/>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261" name="Google Shape;1261;p74"/>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4"/>
            <p:cNvSpPr/>
            <p:nvPr/>
          </p:nvSpPr>
          <p:spPr>
            <a:xfrm>
              <a:off x="3392100" y="22945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4"/>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74"/>
            <p:cNvSpPr/>
            <p:nvPr/>
          </p:nvSpPr>
          <p:spPr>
            <a:xfrm>
              <a:off x="5667425" y="28292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4"/>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4"/>
            <p:cNvSpPr/>
            <p:nvPr/>
          </p:nvSpPr>
          <p:spPr>
            <a:xfrm>
              <a:off x="6233475" y="31340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4"/>
            <p:cNvSpPr/>
            <p:nvPr/>
          </p:nvSpPr>
          <p:spPr>
            <a:xfrm>
              <a:off x="5988800" y="396469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4"/>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4"/>
            <p:cNvSpPr/>
            <p:nvPr/>
          </p:nvSpPr>
          <p:spPr>
            <a:xfrm>
              <a:off x="4612025" y="42402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4"/>
            <p:cNvSpPr/>
            <p:nvPr/>
          </p:nvSpPr>
          <p:spPr>
            <a:xfrm>
              <a:off x="3580800" y="4240257"/>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4"/>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4"/>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4"/>
            <p:cNvSpPr/>
            <p:nvPr/>
          </p:nvSpPr>
          <p:spPr>
            <a:xfrm>
              <a:off x="5589325" y="19148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4"/>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4"/>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4"/>
            <p:cNvSpPr/>
            <p:nvPr/>
          </p:nvSpPr>
          <p:spPr>
            <a:xfrm>
              <a:off x="4378300" y="27929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4"/>
            <p:cNvSpPr/>
            <p:nvPr/>
          </p:nvSpPr>
          <p:spPr>
            <a:xfrm>
              <a:off x="5856125" y="342494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4"/>
            <p:cNvSpPr/>
            <p:nvPr/>
          </p:nvSpPr>
          <p:spPr>
            <a:xfrm>
              <a:off x="3988300" y="35766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4"/>
            <p:cNvSpPr/>
            <p:nvPr/>
          </p:nvSpPr>
          <p:spPr>
            <a:xfrm>
              <a:off x="4477650" y="36876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4"/>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4"/>
            <p:cNvSpPr/>
            <p:nvPr/>
          </p:nvSpPr>
          <p:spPr>
            <a:xfrm>
              <a:off x="3576395" y="19897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4"/>
            <p:cNvSpPr txBox="1"/>
            <p:nvPr/>
          </p:nvSpPr>
          <p:spPr>
            <a:xfrm>
              <a:off x="3424000" y="1583350"/>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283" name="Google Shape;1283;p74"/>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284" name="Google Shape;1284;p74"/>
            <p:cNvSpPr txBox="1"/>
            <p:nvPr/>
          </p:nvSpPr>
          <p:spPr>
            <a:xfrm>
              <a:off x="2846773" y="1156750"/>
              <a:ext cx="504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285" name="Google Shape;1285;p74"/>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286" name="Google Shape;1286;p74"/>
            <p:cNvSpPr txBox="1"/>
            <p:nvPr/>
          </p:nvSpPr>
          <p:spPr>
            <a:xfrm>
              <a:off x="3062700" y="1902925"/>
              <a:ext cx="612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287" name="Google Shape;1287;p74"/>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288" name="Google Shape;1288;p74"/>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289" name="Google Shape;1289;p74"/>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290" name="Google Shape;1290;p74"/>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291" name="Google Shape;1291;p74"/>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292" name="Google Shape;1292;p74"/>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293" name="Google Shape;1293;p74"/>
            <p:cNvSpPr txBox="1"/>
            <p:nvPr/>
          </p:nvSpPr>
          <p:spPr>
            <a:xfrm>
              <a:off x="3941323" y="2407275"/>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294" name="Google Shape;1294;p74"/>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295" name="Google Shape;1295;p74"/>
            <p:cNvSpPr txBox="1"/>
            <p:nvPr/>
          </p:nvSpPr>
          <p:spPr>
            <a:xfrm>
              <a:off x="6133425" y="3964700"/>
              <a:ext cx="846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Brunswick</a:t>
              </a:r>
              <a:endParaRPr b="1" sz="1000">
                <a:solidFill>
                  <a:srgbClr val="FF0000"/>
                </a:solidFill>
              </a:endParaRPr>
            </a:p>
          </p:txBody>
        </p:sp>
        <p:sp>
          <p:nvSpPr>
            <p:cNvPr id="1296" name="Google Shape;1296;p74"/>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297" name="Google Shape;1297;p74"/>
            <p:cNvSpPr txBox="1"/>
            <p:nvPr/>
          </p:nvSpPr>
          <p:spPr>
            <a:xfrm>
              <a:off x="4017525" y="2859125"/>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298" name="Google Shape;1298;p74"/>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299" name="Google Shape;1299;p74"/>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300" name="Google Shape;1300;p74"/>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301" name="Google Shape;1301;p74"/>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75"/>
          <p:cNvSpPr txBox="1"/>
          <p:nvPr>
            <p:ph idx="1" type="body"/>
          </p:nvPr>
        </p:nvSpPr>
        <p:spPr>
          <a:xfrm>
            <a:off x="311700" y="1132275"/>
            <a:ext cx="2676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1100"/>
              <a:buFont typeface="Arial"/>
              <a:buNone/>
            </a:pPr>
            <a:r>
              <a:rPr lang="en" sz="1900"/>
              <a:t>T</a:t>
            </a:r>
            <a:r>
              <a:rPr lang="en" sz="1900"/>
              <a:t>here are two solutions. </a:t>
            </a:r>
            <a:endParaRPr sz="1900"/>
          </a:p>
          <a:p>
            <a:pPr indent="0" lvl="0" marL="0" rtl="0" algn="l">
              <a:spcBef>
                <a:spcPts val="1200"/>
              </a:spcBef>
              <a:spcAft>
                <a:spcPts val="0"/>
              </a:spcAft>
              <a:buClr>
                <a:srgbClr val="000000"/>
              </a:buClr>
              <a:buSzPts val="1100"/>
              <a:buFont typeface="Arial"/>
              <a:buNone/>
            </a:pPr>
            <a:r>
              <a:t/>
            </a:r>
            <a:endParaRPr sz="1900"/>
          </a:p>
          <a:p>
            <a:pPr indent="0" lvl="0" marL="0" rtl="0" algn="l">
              <a:spcBef>
                <a:spcPts val="1200"/>
              </a:spcBef>
              <a:spcAft>
                <a:spcPts val="1200"/>
              </a:spcAft>
              <a:buClr>
                <a:srgbClr val="000000"/>
              </a:buClr>
              <a:buSzPts val="1100"/>
              <a:buFont typeface="Arial"/>
              <a:buNone/>
            </a:pPr>
            <a:r>
              <a:rPr lang="en" sz="1900"/>
              <a:t>The choice is </a:t>
            </a:r>
            <a:r>
              <a:rPr lang="en" sz="1900" u="sng"/>
              <a:t>arbitrary</a:t>
            </a:r>
            <a:r>
              <a:rPr lang="en" sz="1900"/>
              <a:t>.</a:t>
            </a:r>
            <a:endParaRPr sz="1900"/>
          </a:p>
        </p:txBody>
      </p:sp>
      <p:sp>
        <p:nvSpPr>
          <p:cNvPr id="1307" name="Google Shape;130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Solutions</a:t>
            </a:r>
            <a:r>
              <a:rPr lang="en"/>
              <a:t>: Columbus to Brunswick</a:t>
            </a:r>
            <a:endParaRPr/>
          </a:p>
        </p:txBody>
      </p:sp>
      <p:sp>
        <p:nvSpPr>
          <p:cNvPr id="1308" name="Google Shape;1308;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09" name="Google Shape;1309;p75"/>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grpSp>
        <p:nvGrpSpPr>
          <p:cNvPr id="1310" name="Google Shape;1310;p75"/>
          <p:cNvGrpSpPr/>
          <p:nvPr/>
        </p:nvGrpSpPr>
        <p:grpSpPr>
          <a:xfrm>
            <a:off x="2819750" y="881249"/>
            <a:ext cx="4233425" cy="3768338"/>
            <a:chOff x="2819750" y="881249"/>
            <a:chExt cx="4233425" cy="3768338"/>
          </a:xfrm>
        </p:grpSpPr>
        <p:sp>
          <p:nvSpPr>
            <p:cNvPr id="1311" name="Google Shape;1311;p75"/>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312" name="Google Shape;1312;p75"/>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313" name="Google Shape;1313;p75"/>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314" name="Google Shape;1314;p75"/>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315" name="Google Shape;1315;p75"/>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316" name="Google Shape;1316;p75"/>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317" name="Google Shape;1317;p75"/>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318" name="Google Shape;1318;p75"/>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319" name="Google Shape;1319;p75"/>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320" name="Google Shape;1320;p75"/>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321" name="Google Shape;1321;p75"/>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322" name="Google Shape;1322;p75"/>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323" name="Google Shape;1323;p75"/>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324" name="Google Shape;1324;p75"/>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325" name="Google Shape;1325;p75"/>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326" name="Google Shape;1326;p75"/>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327" name="Google Shape;1327;p75"/>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328" name="Google Shape;1328;p75"/>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329" name="Google Shape;1329;p75"/>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330" name="Google Shape;1330;p75"/>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331" name="Google Shape;1331;p75"/>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332" name="Google Shape;1332;p75"/>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333" name="Google Shape;1333;p75"/>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334" name="Google Shape;1334;p75"/>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335" name="Google Shape;1335;p75"/>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336" name="Google Shape;1336;p75"/>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337" name="Google Shape;1337;p75"/>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338" name="Google Shape;1338;p75"/>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339" name="Google Shape;1339;p75"/>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5"/>
            <p:cNvSpPr/>
            <p:nvPr/>
          </p:nvSpPr>
          <p:spPr>
            <a:xfrm>
              <a:off x="3392100" y="22945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5"/>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5"/>
            <p:cNvSpPr/>
            <p:nvPr/>
          </p:nvSpPr>
          <p:spPr>
            <a:xfrm>
              <a:off x="5667425" y="28292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5"/>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5"/>
            <p:cNvSpPr/>
            <p:nvPr/>
          </p:nvSpPr>
          <p:spPr>
            <a:xfrm>
              <a:off x="6233475" y="31340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5"/>
            <p:cNvSpPr/>
            <p:nvPr/>
          </p:nvSpPr>
          <p:spPr>
            <a:xfrm>
              <a:off x="5988800" y="396469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5"/>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5"/>
            <p:cNvSpPr/>
            <p:nvPr/>
          </p:nvSpPr>
          <p:spPr>
            <a:xfrm>
              <a:off x="4612025" y="42402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5"/>
            <p:cNvSpPr/>
            <p:nvPr/>
          </p:nvSpPr>
          <p:spPr>
            <a:xfrm>
              <a:off x="3580800" y="4240257"/>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5"/>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5"/>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5"/>
            <p:cNvSpPr/>
            <p:nvPr/>
          </p:nvSpPr>
          <p:spPr>
            <a:xfrm>
              <a:off x="5589325" y="19148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5"/>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5"/>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5"/>
            <p:cNvSpPr/>
            <p:nvPr/>
          </p:nvSpPr>
          <p:spPr>
            <a:xfrm>
              <a:off x="4378300" y="27929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5"/>
            <p:cNvSpPr/>
            <p:nvPr/>
          </p:nvSpPr>
          <p:spPr>
            <a:xfrm>
              <a:off x="5856125" y="342494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5"/>
            <p:cNvSpPr/>
            <p:nvPr/>
          </p:nvSpPr>
          <p:spPr>
            <a:xfrm>
              <a:off x="3988300" y="35766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5"/>
            <p:cNvSpPr/>
            <p:nvPr/>
          </p:nvSpPr>
          <p:spPr>
            <a:xfrm>
              <a:off x="4477650" y="36876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5"/>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5"/>
            <p:cNvSpPr/>
            <p:nvPr/>
          </p:nvSpPr>
          <p:spPr>
            <a:xfrm>
              <a:off x="3576395" y="19897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5"/>
            <p:cNvSpPr txBox="1"/>
            <p:nvPr/>
          </p:nvSpPr>
          <p:spPr>
            <a:xfrm>
              <a:off x="3424000" y="1583350"/>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361" name="Google Shape;1361;p75"/>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362" name="Google Shape;1362;p75"/>
            <p:cNvSpPr txBox="1"/>
            <p:nvPr/>
          </p:nvSpPr>
          <p:spPr>
            <a:xfrm>
              <a:off x="2846773" y="1156750"/>
              <a:ext cx="504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363" name="Google Shape;1363;p75"/>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364" name="Google Shape;1364;p75"/>
            <p:cNvSpPr txBox="1"/>
            <p:nvPr/>
          </p:nvSpPr>
          <p:spPr>
            <a:xfrm>
              <a:off x="3062700" y="1902925"/>
              <a:ext cx="612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365" name="Google Shape;1365;p75"/>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366" name="Google Shape;1366;p75"/>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367" name="Google Shape;1367;p75"/>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368" name="Google Shape;1368;p75"/>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369" name="Google Shape;1369;p75"/>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370" name="Google Shape;1370;p75"/>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371" name="Google Shape;1371;p75"/>
            <p:cNvSpPr txBox="1"/>
            <p:nvPr/>
          </p:nvSpPr>
          <p:spPr>
            <a:xfrm>
              <a:off x="3941323" y="2407275"/>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372" name="Google Shape;1372;p75"/>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373" name="Google Shape;1373;p75"/>
            <p:cNvSpPr txBox="1"/>
            <p:nvPr/>
          </p:nvSpPr>
          <p:spPr>
            <a:xfrm>
              <a:off x="6133425" y="3964700"/>
              <a:ext cx="846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Brunswick</a:t>
              </a:r>
              <a:endParaRPr b="1" sz="1000">
                <a:solidFill>
                  <a:srgbClr val="FF0000"/>
                </a:solidFill>
              </a:endParaRPr>
            </a:p>
          </p:txBody>
        </p:sp>
        <p:sp>
          <p:nvSpPr>
            <p:cNvPr id="1374" name="Google Shape;1374;p75"/>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375" name="Google Shape;1375;p75"/>
            <p:cNvSpPr txBox="1"/>
            <p:nvPr/>
          </p:nvSpPr>
          <p:spPr>
            <a:xfrm>
              <a:off x="4017525" y="2859125"/>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376" name="Google Shape;1376;p75"/>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377" name="Google Shape;1377;p75"/>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378" name="Google Shape;1378;p75"/>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379" name="Google Shape;1379;p75"/>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380" name="Google Shape;1380;p75"/>
          <p:cNvSpPr txBox="1"/>
          <p:nvPr/>
        </p:nvSpPr>
        <p:spPr>
          <a:xfrm>
            <a:off x="3566025" y="3512575"/>
            <a:ext cx="548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381" name="Google Shape;1381;p75"/>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382" name="Google Shape;1382;p75"/>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383" name="Google Shape;1383;p75"/>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384" name="Google Shape;1384;p75"/>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385" name="Google Shape;1385;p75"/>
          <p:cNvSpPr/>
          <p:nvPr/>
        </p:nvSpPr>
        <p:spPr>
          <a:xfrm>
            <a:off x="3515900" y="2859650"/>
            <a:ext cx="2571750" cy="1106825"/>
          </a:xfrm>
          <a:custGeom>
            <a:rect b="b" l="l" r="r" t="t"/>
            <a:pathLst>
              <a:path extrusionOk="0" h="44273" w="102870">
                <a:moveTo>
                  <a:pt x="0" y="0"/>
                </a:moveTo>
                <a:lnTo>
                  <a:pt x="37979" y="1519"/>
                </a:lnTo>
                <a:lnTo>
                  <a:pt x="58163" y="17145"/>
                </a:lnTo>
                <a:lnTo>
                  <a:pt x="96793" y="27128"/>
                </a:lnTo>
                <a:lnTo>
                  <a:pt x="102870" y="44273"/>
                </a:lnTo>
              </a:path>
            </a:pathLst>
          </a:custGeom>
          <a:noFill/>
          <a:ln cap="flat" cmpd="sng" w="28575">
            <a:solidFill>
              <a:srgbClr val="FF0000"/>
            </a:solidFill>
            <a:prstDash val="solid"/>
            <a:round/>
            <a:headEnd len="med" w="med" type="none"/>
            <a:tailEnd len="med" w="med" type="triangle"/>
          </a:ln>
        </p:spPr>
      </p:sp>
      <p:sp>
        <p:nvSpPr>
          <p:cNvPr id="1386" name="Google Shape;1386;p75"/>
          <p:cNvSpPr/>
          <p:nvPr/>
        </p:nvSpPr>
        <p:spPr>
          <a:xfrm>
            <a:off x="3494200" y="2875925"/>
            <a:ext cx="2490350" cy="1464925"/>
          </a:xfrm>
          <a:custGeom>
            <a:rect b="b" l="l" r="r" t="t"/>
            <a:pathLst>
              <a:path extrusionOk="0" h="58597" w="99614">
                <a:moveTo>
                  <a:pt x="0" y="0"/>
                </a:moveTo>
                <a:lnTo>
                  <a:pt x="6945" y="58597"/>
                </a:lnTo>
                <a:lnTo>
                  <a:pt x="47311" y="57946"/>
                </a:lnTo>
                <a:lnTo>
                  <a:pt x="75959" y="47963"/>
                </a:lnTo>
                <a:lnTo>
                  <a:pt x="99614" y="47094"/>
                </a:lnTo>
              </a:path>
            </a:pathLst>
          </a:custGeom>
          <a:noFill/>
          <a:ln cap="flat" cmpd="sng" w="28575">
            <a:solidFill>
              <a:srgbClr val="00FFFF"/>
            </a:solidFill>
            <a:prstDash val="solid"/>
            <a:round/>
            <a:headEnd len="med" w="med" type="none"/>
            <a:tailEnd len="med" w="med" type="triangle"/>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 let’s break down the </a:t>
            </a:r>
            <a:r>
              <a:rPr lang="en"/>
              <a:t>Breadth-First Search Algorithm into steps</a:t>
            </a:r>
            <a:endParaRPr/>
          </a:p>
        </p:txBody>
      </p:sp>
      <p:sp>
        <p:nvSpPr>
          <p:cNvPr id="1392" name="Google Shape;1392;p76"/>
          <p:cNvSpPr txBox="1"/>
          <p:nvPr>
            <p:ph idx="1" type="body"/>
          </p:nvPr>
        </p:nvSpPr>
        <p:spPr>
          <a:xfrm>
            <a:off x="311700" y="1563900"/>
            <a:ext cx="8520600" cy="300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Make the starting city the root of the search tree (level 0).</a:t>
            </a:r>
            <a:endParaRPr/>
          </a:p>
          <a:p>
            <a:pPr indent="-342900" lvl="0" marL="457200" rtl="0" algn="l">
              <a:spcBef>
                <a:spcPts val="1000"/>
              </a:spcBef>
              <a:spcAft>
                <a:spcPts val="0"/>
              </a:spcAft>
              <a:buSzPts val="1800"/>
              <a:buAutoNum type="arabicPeriod"/>
            </a:pPr>
            <a:r>
              <a:rPr lang="en"/>
              <a:t>For every node at the current level:</a:t>
            </a:r>
            <a:endParaRPr/>
          </a:p>
          <a:p>
            <a:pPr indent="-317500" lvl="1" marL="914400" rtl="0" algn="l">
              <a:spcBef>
                <a:spcPts val="0"/>
              </a:spcBef>
              <a:spcAft>
                <a:spcPts val="0"/>
              </a:spcAft>
              <a:buSzPts val="1400"/>
              <a:buAutoNum type="alphaLcPeriod"/>
            </a:pPr>
            <a:r>
              <a:rPr lang="en"/>
              <a:t>Find its neighbors that are not already in the tree.</a:t>
            </a:r>
            <a:endParaRPr/>
          </a:p>
          <a:p>
            <a:pPr indent="-317500" lvl="1" marL="914400" rtl="0" algn="l">
              <a:spcBef>
                <a:spcPts val="0"/>
              </a:spcBef>
              <a:spcAft>
                <a:spcPts val="0"/>
              </a:spcAft>
              <a:buSzPts val="1400"/>
              <a:buAutoNum type="alphaLcPeriod"/>
            </a:pPr>
            <a:r>
              <a:rPr lang="en"/>
              <a:t>Add those neighbors to the next level of the tree.</a:t>
            </a:r>
            <a:endParaRPr/>
          </a:p>
          <a:p>
            <a:pPr indent="-317500" lvl="1" marL="914400" rtl="0" algn="l">
              <a:spcBef>
                <a:spcPts val="0"/>
              </a:spcBef>
              <a:spcAft>
                <a:spcPts val="0"/>
              </a:spcAft>
              <a:buSzPts val="1400"/>
              <a:buAutoNum type="alphaLcPeriod"/>
            </a:pPr>
            <a:r>
              <a:rPr lang="en"/>
              <a:t>If one of the neighbors is the destination, exit.</a:t>
            </a:r>
            <a:endParaRPr/>
          </a:p>
          <a:p>
            <a:pPr indent="-342900" lvl="0" marL="457200" rtl="0" algn="l">
              <a:spcBef>
                <a:spcPts val="1000"/>
              </a:spcBef>
              <a:spcAft>
                <a:spcPts val="1200"/>
              </a:spcAft>
              <a:buSzPts val="1800"/>
              <a:buAutoNum type="arabicPeriod"/>
            </a:pPr>
            <a:r>
              <a:rPr lang="en"/>
              <a:t>Repeat step 2 for the next level of the tree.</a:t>
            </a:r>
            <a:endParaRPr/>
          </a:p>
        </p:txBody>
      </p:sp>
      <p:sp>
        <p:nvSpPr>
          <p:cNvPr id="1393" name="Google Shape;1393;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94" name="Google Shape;1394;p76"/>
          <p:cNvSpPr txBox="1"/>
          <p:nvPr/>
        </p:nvSpPr>
        <p:spPr>
          <a:xfrm>
            <a:off x="6702400" y="258425"/>
            <a:ext cx="220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980000"/>
                </a:solidFill>
              </a:rPr>
              <a:t>AI4K12 Guideline 2-B-ii</a:t>
            </a:r>
            <a:endParaRPr sz="1200">
              <a:solidFill>
                <a:srgbClr val="98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1398" name="Shape 1398"/>
        <p:cNvGrpSpPr/>
        <p:nvPr/>
      </p:nvGrpSpPr>
      <p:grpSpPr>
        <a:xfrm>
          <a:off x="0" y="0"/>
          <a:ext cx="0" cy="0"/>
          <a:chOff x="0" y="0"/>
          <a:chExt cx="0" cy="0"/>
        </a:xfrm>
      </p:grpSpPr>
      <p:sp>
        <p:nvSpPr>
          <p:cNvPr id="1399" name="Google Shape;1399;p7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u="sng">
                <a:solidFill>
                  <a:schemeClr val="hlink"/>
                </a:solidFill>
                <a:hlinkClick r:id="rId3"/>
              </a:rPr>
              <a:t>Reflection:</a:t>
            </a:r>
            <a:endParaRPr/>
          </a:p>
          <a:p>
            <a:pPr indent="0" lvl="0" marL="0" rtl="0" algn="ctr">
              <a:spcBef>
                <a:spcPts val="0"/>
              </a:spcBef>
              <a:spcAft>
                <a:spcPts val="0"/>
              </a:spcAft>
              <a:buNone/>
            </a:pPr>
            <a:r>
              <a:rPr lang="en" u="sng">
                <a:solidFill>
                  <a:schemeClr val="hlink"/>
                </a:solidFill>
                <a:hlinkClick r:id="rId4"/>
              </a:rPr>
              <a:t>Describe how to conduct a</a:t>
            </a:r>
            <a:br>
              <a:rPr lang="en" u="sng">
                <a:solidFill>
                  <a:schemeClr val="hlink"/>
                </a:solidFill>
                <a:hlinkClick r:id="rId5"/>
              </a:rPr>
            </a:br>
            <a:r>
              <a:rPr lang="en" u="sng">
                <a:solidFill>
                  <a:schemeClr val="hlink"/>
                </a:solidFill>
                <a:hlinkClick r:id="rId6"/>
              </a:rPr>
              <a:t>breadth-first search</a:t>
            </a:r>
            <a:endParaRPr/>
          </a:p>
        </p:txBody>
      </p:sp>
      <p:sp>
        <p:nvSpPr>
          <p:cNvPr id="1400" name="Google Shape;1400;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Search Tree</a:t>
            </a:r>
            <a:endParaRPr/>
          </a:p>
        </p:txBody>
      </p:sp>
      <p:sp>
        <p:nvSpPr>
          <p:cNvPr id="1406" name="Google Shape;1406;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07" name="Google Shape;1407;p78"/>
          <p:cNvPicPr preferRelativeResize="0"/>
          <p:nvPr/>
        </p:nvPicPr>
        <p:blipFill>
          <a:blip r:embed="rId3">
            <a:alphaModFix/>
          </a:blip>
          <a:stretch>
            <a:fillRect/>
          </a:stretch>
        </p:blipFill>
        <p:spPr>
          <a:xfrm>
            <a:off x="1320877" y="2139750"/>
            <a:ext cx="6573226" cy="2868249"/>
          </a:xfrm>
          <a:prstGeom prst="rect">
            <a:avLst/>
          </a:prstGeom>
          <a:noFill/>
          <a:ln>
            <a:noFill/>
          </a:ln>
        </p:spPr>
      </p:pic>
      <p:sp>
        <p:nvSpPr>
          <p:cNvPr id="1408" name="Google Shape;1408;p78"/>
          <p:cNvSpPr txBox="1"/>
          <p:nvPr>
            <p:ph idx="2"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Fun Fact:</a:t>
            </a:r>
            <a:r>
              <a:rPr lang="en" sz="1700"/>
              <a:t> Breadth-first search can be used even when we don’t have a graph to color.</a:t>
            </a:r>
            <a:endParaRPr sz="1700"/>
          </a:p>
          <a:p>
            <a:pPr indent="0" lvl="0" marL="0" rtl="0" algn="l">
              <a:spcBef>
                <a:spcPts val="1200"/>
              </a:spcBef>
              <a:spcAft>
                <a:spcPts val="1200"/>
              </a:spcAft>
              <a:buClr>
                <a:schemeClr val="dk1"/>
              </a:buClr>
              <a:buSzPts val="1100"/>
              <a:buFont typeface="Arial"/>
              <a:buNone/>
            </a:pPr>
            <a:r>
              <a:rPr lang="en" sz="1700"/>
              <a:t>The algorithms works by constructing a </a:t>
            </a:r>
            <a:r>
              <a:rPr lang="en" sz="1700" u="sng">
                <a:solidFill>
                  <a:srgbClr val="0000FF"/>
                </a:solidFill>
              </a:rPr>
              <a:t>search tree</a:t>
            </a:r>
            <a:r>
              <a:rPr lang="en" sz="1700"/>
              <a:t>.</a:t>
            </a:r>
            <a:endParaRPr sz="17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79"/>
          <p:cNvSpPr txBox="1"/>
          <p:nvPr>
            <p:ph type="title"/>
          </p:nvPr>
        </p:nvSpPr>
        <p:spPr>
          <a:xfrm>
            <a:off x="155125" y="107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66"/>
              <a:t>Let’s </a:t>
            </a:r>
            <a:r>
              <a:rPr lang="en" sz="2466"/>
              <a:t>draw a search tree to find a route from Savannah to Valdosta</a:t>
            </a:r>
            <a:endParaRPr sz="2466"/>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rPr lang="en"/>
              <a:t> </a:t>
            </a:r>
            <a:endParaRPr/>
          </a:p>
        </p:txBody>
      </p:sp>
      <p:sp>
        <p:nvSpPr>
          <p:cNvPr id="1414" name="Google Shape;1414;p79"/>
          <p:cNvSpPr txBox="1"/>
          <p:nvPr>
            <p:ph idx="1" type="body"/>
          </p:nvPr>
        </p:nvSpPr>
        <p:spPr>
          <a:xfrm>
            <a:off x="167975" y="1057225"/>
            <a:ext cx="2036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rgbClr val="FF9900"/>
                </a:solidFill>
              </a:rPr>
              <a:t>Let’s locate on the map </a:t>
            </a:r>
            <a:endParaRPr b="1">
              <a:solidFill>
                <a:srgbClr val="FF9900"/>
              </a:solidFill>
            </a:endParaRPr>
          </a:p>
          <a:p>
            <a:pPr indent="-342900" lvl="0" marL="457200" rtl="0" algn="l">
              <a:spcBef>
                <a:spcPts val="1200"/>
              </a:spcBef>
              <a:spcAft>
                <a:spcPts val="0"/>
              </a:spcAft>
              <a:buClr>
                <a:schemeClr val="dk1"/>
              </a:buClr>
              <a:buSzPts val="1800"/>
              <a:buChar char="●"/>
            </a:pPr>
            <a:r>
              <a:rPr lang="en">
                <a:solidFill>
                  <a:schemeClr val="dk1"/>
                </a:solidFill>
              </a:rPr>
              <a:t>Savannah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Valdosta</a:t>
            </a:r>
            <a:endParaRPr>
              <a:solidFill>
                <a:schemeClr val="dk1"/>
              </a:solidFill>
            </a:endParaRPr>
          </a:p>
        </p:txBody>
      </p:sp>
      <p:sp>
        <p:nvSpPr>
          <p:cNvPr id="1415" name="Google Shape;1415;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16" name="Google Shape;1416;p79"/>
          <p:cNvSpPr/>
          <p:nvPr/>
        </p:nvSpPr>
        <p:spPr>
          <a:xfrm>
            <a:off x="40956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417" name="Google Shape;1417;p79"/>
          <p:cNvSpPr/>
          <p:nvPr/>
        </p:nvSpPr>
        <p:spPr>
          <a:xfrm>
            <a:off x="45910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418" name="Google Shape;1418;p79"/>
          <p:cNvSpPr/>
          <p:nvPr/>
        </p:nvSpPr>
        <p:spPr>
          <a:xfrm>
            <a:off x="39425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419" name="Google Shape;1419;p79"/>
          <p:cNvSpPr/>
          <p:nvPr/>
        </p:nvSpPr>
        <p:spPr>
          <a:xfrm>
            <a:off x="52847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420" name="Google Shape;1420;p79"/>
          <p:cNvSpPr/>
          <p:nvPr/>
        </p:nvSpPr>
        <p:spPr>
          <a:xfrm>
            <a:off x="46091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421" name="Google Shape;1421;p79"/>
          <p:cNvSpPr/>
          <p:nvPr/>
        </p:nvSpPr>
        <p:spPr>
          <a:xfrm>
            <a:off x="43028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422" name="Google Shape;1422;p79"/>
          <p:cNvSpPr/>
          <p:nvPr/>
        </p:nvSpPr>
        <p:spPr>
          <a:xfrm>
            <a:off x="40956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423" name="Google Shape;1423;p79"/>
          <p:cNvSpPr/>
          <p:nvPr/>
        </p:nvSpPr>
        <p:spPr>
          <a:xfrm>
            <a:off x="40956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424" name="Google Shape;1424;p79"/>
          <p:cNvSpPr/>
          <p:nvPr/>
        </p:nvSpPr>
        <p:spPr>
          <a:xfrm>
            <a:off x="46361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425" name="Google Shape;1425;p79"/>
          <p:cNvSpPr/>
          <p:nvPr/>
        </p:nvSpPr>
        <p:spPr>
          <a:xfrm>
            <a:off x="50955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426" name="Google Shape;1426;p79"/>
          <p:cNvSpPr/>
          <p:nvPr/>
        </p:nvSpPr>
        <p:spPr>
          <a:xfrm>
            <a:off x="50865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427" name="Google Shape;1427;p79"/>
          <p:cNvSpPr/>
          <p:nvPr/>
        </p:nvSpPr>
        <p:spPr>
          <a:xfrm>
            <a:off x="41046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428" name="Google Shape;1428;p79"/>
          <p:cNvSpPr/>
          <p:nvPr/>
        </p:nvSpPr>
        <p:spPr>
          <a:xfrm>
            <a:off x="46001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429" name="Google Shape;1429;p79"/>
          <p:cNvSpPr/>
          <p:nvPr/>
        </p:nvSpPr>
        <p:spPr>
          <a:xfrm>
            <a:off x="53477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430" name="Google Shape;1430;p79"/>
          <p:cNvSpPr/>
          <p:nvPr/>
        </p:nvSpPr>
        <p:spPr>
          <a:xfrm>
            <a:off x="42848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431" name="Google Shape;1431;p79"/>
          <p:cNvSpPr/>
          <p:nvPr/>
        </p:nvSpPr>
        <p:spPr>
          <a:xfrm>
            <a:off x="53297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432" name="Google Shape;1432;p79"/>
          <p:cNvSpPr/>
          <p:nvPr/>
        </p:nvSpPr>
        <p:spPr>
          <a:xfrm>
            <a:off x="60503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433" name="Google Shape;1433;p79"/>
          <p:cNvSpPr/>
          <p:nvPr/>
        </p:nvSpPr>
        <p:spPr>
          <a:xfrm>
            <a:off x="65818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434" name="Google Shape;1434;p79"/>
          <p:cNvSpPr/>
          <p:nvPr/>
        </p:nvSpPr>
        <p:spPr>
          <a:xfrm>
            <a:off x="65998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435" name="Google Shape;1435;p79"/>
          <p:cNvSpPr/>
          <p:nvPr/>
        </p:nvSpPr>
        <p:spPr>
          <a:xfrm>
            <a:off x="64016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436" name="Google Shape;1436;p79"/>
          <p:cNvSpPr/>
          <p:nvPr/>
        </p:nvSpPr>
        <p:spPr>
          <a:xfrm>
            <a:off x="51045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437" name="Google Shape;1437;p79"/>
          <p:cNvSpPr/>
          <p:nvPr/>
        </p:nvSpPr>
        <p:spPr>
          <a:xfrm>
            <a:off x="50775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438" name="Google Shape;1438;p79"/>
          <p:cNvSpPr/>
          <p:nvPr/>
        </p:nvSpPr>
        <p:spPr>
          <a:xfrm>
            <a:off x="51856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439" name="Google Shape;1439;p79"/>
          <p:cNvSpPr/>
          <p:nvPr/>
        </p:nvSpPr>
        <p:spPr>
          <a:xfrm>
            <a:off x="46991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440" name="Google Shape;1440;p79"/>
          <p:cNvSpPr/>
          <p:nvPr/>
        </p:nvSpPr>
        <p:spPr>
          <a:xfrm>
            <a:off x="51135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441" name="Google Shape;1441;p79"/>
          <p:cNvSpPr/>
          <p:nvPr/>
        </p:nvSpPr>
        <p:spPr>
          <a:xfrm>
            <a:off x="56540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442" name="Google Shape;1442;p79"/>
          <p:cNvSpPr/>
          <p:nvPr/>
        </p:nvSpPr>
        <p:spPr>
          <a:xfrm>
            <a:off x="40956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443" name="Google Shape;1443;p79"/>
          <p:cNvSpPr/>
          <p:nvPr/>
        </p:nvSpPr>
        <p:spPr>
          <a:xfrm>
            <a:off x="63206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444" name="Google Shape;1444;p79"/>
          <p:cNvSpPr/>
          <p:nvPr/>
        </p:nvSpPr>
        <p:spPr>
          <a:xfrm>
            <a:off x="38500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79"/>
          <p:cNvSpPr/>
          <p:nvPr/>
        </p:nvSpPr>
        <p:spPr>
          <a:xfrm>
            <a:off x="40017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9"/>
          <p:cNvSpPr/>
          <p:nvPr/>
        </p:nvSpPr>
        <p:spPr>
          <a:xfrm>
            <a:off x="40017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9"/>
          <p:cNvSpPr/>
          <p:nvPr/>
        </p:nvSpPr>
        <p:spPr>
          <a:xfrm>
            <a:off x="62770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9"/>
          <p:cNvSpPr/>
          <p:nvPr/>
        </p:nvSpPr>
        <p:spPr>
          <a:xfrm>
            <a:off x="54836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9"/>
          <p:cNvSpPr/>
          <p:nvPr/>
        </p:nvSpPr>
        <p:spPr>
          <a:xfrm>
            <a:off x="68430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79"/>
          <p:cNvSpPr/>
          <p:nvPr/>
        </p:nvSpPr>
        <p:spPr>
          <a:xfrm>
            <a:off x="65984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79"/>
          <p:cNvSpPr/>
          <p:nvPr/>
        </p:nvSpPr>
        <p:spPr>
          <a:xfrm>
            <a:off x="59296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9"/>
          <p:cNvSpPr/>
          <p:nvPr/>
        </p:nvSpPr>
        <p:spPr>
          <a:xfrm>
            <a:off x="52216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9"/>
          <p:cNvSpPr/>
          <p:nvPr/>
        </p:nvSpPr>
        <p:spPr>
          <a:xfrm>
            <a:off x="41904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9"/>
          <p:cNvSpPr/>
          <p:nvPr/>
        </p:nvSpPr>
        <p:spPr>
          <a:xfrm>
            <a:off x="52216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9"/>
          <p:cNvSpPr/>
          <p:nvPr/>
        </p:nvSpPr>
        <p:spPr>
          <a:xfrm>
            <a:off x="51765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9"/>
          <p:cNvSpPr/>
          <p:nvPr/>
        </p:nvSpPr>
        <p:spPr>
          <a:xfrm>
            <a:off x="61989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9"/>
          <p:cNvSpPr/>
          <p:nvPr/>
        </p:nvSpPr>
        <p:spPr>
          <a:xfrm>
            <a:off x="52216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9"/>
          <p:cNvSpPr/>
          <p:nvPr/>
        </p:nvSpPr>
        <p:spPr>
          <a:xfrm>
            <a:off x="49879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79"/>
          <p:cNvSpPr/>
          <p:nvPr/>
        </p:nvSpPr>
        <p:spPr>
          <a:xfrm>
            <a:off x="49879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9"/>
          <p:cNvSpPr/>
          <p:nvPr/>
        </p:nvSpPr>
        <p:spPr>
          <a:xfrm>
            <a:off x="64657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9"/>
          <p:cNvSpPr/>
          <p:nvPr/>
        </p:nvSpPr>
        <p:spPr>
          <a:xfrm>
            <a:off x="45979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9"/>
          <p:cNvSpPr/>
          <p:nvPr/>
        </p:nvSpPr>
        <p:spPr>
          <a:xfrm>
            <a:off x="50872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9"/>
          <p:cNvSpPr/>
          <p:nvPr/>
        </p:nvSpPr>
        <p:spPr>
          <a:xfrm>
            <a:off x="44907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9"/>
          <p:cNvSpPr/>
          <p:nvPr/>
        </p:nvSpPr>
        <p:spPr>
          <a:xfrm>
            <a:off x="41859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79"/>
          <p:cNvSpPr txBox="1"/>
          <p:nvPr/>
        </p:nvSpPr>
        <p:spPr>
          <a:xfrm>
            <a:off x="40336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466" name="Google Shape;1466;p79"/>
          <p:cNvSpPr txBox="1"/>
          <p:nvPr/>
        </p:nvSpPr>
        <p:spPr>
          <a:xfrm>
            <a:off x="53521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467" name="Google Shape;1467;p79"/>
          <p:cNvSpPr txBox="1"/>
          <p:nvPr/>
        </p:nvSpPr>
        <p:spPr>
          <a:xfrm>
            <a:off x="34563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468" name="Google Shape;1468;p79"/>
          <p:cNvSpPr txBox="1"/>
          <p:nvPr/>
        </p:nvSpPr>
        <p:spPr>
          <a:xfrm>
            <a:off x="52985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469" name="Google Shape;1469;p79"/>
          <p:cNvSpPr txBox="1"/>
          <p:nvPr/>
        </p:nvSpPr>
        <p:spPr>
          <a:xfrm>
            <a:off x="36722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470" name="Google Shape;1470;p79"/>
          <p:cNvSpPr txBox="1"/>
          <p:nvPr/>
        </p:nvSpPr>
        <p:spPr>
          <a:xfrm>
            <a:off x="63352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471" name="Google Shape;1471;p79"/>
          <p:cNvSpPr txBox="1"/>
          <p:nvPr/>
        </p:nvSpPr>
        <p:spPr>
          <a:xfrm>
            <a:off x="34293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472" name="Google Shape;1472;p79"/>
          <p:cNvSpPr txBox="1"/>
          <p:nvPr/>
        </p:nvSpPr>
        <p:spPr>
          <a:xfrm>
            <a:off x="34293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473" name="Google Shape;1473;p79"/>
          <p:cNvSpPr txBox="1"/>
          <p:nvPr/>
        </p:nvSpPr>
        <p:spPr>
          <a:xfrm>
            <a:off x="41756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474" name="Google Shape;1474;p79"/>
          <p:cNvSpPr txBox="1"/>
          <p:nvPr/>
        </p:nvSpPr>
        <p:spPr>
          <a:xfrm>
            <a:off x="35912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475" name="Google Shape;1475;p79"/>
          <p:cNvSpPr txBox="1"/>
          <p:nvPr/>
        </p:nvSpPr>
        <p:spPr>
          <a:xfrm>
            <a:off x="52028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476" name="Google Shape;1476;p79"/>
          <p:cNvSpPr txBox="1"/>
          <p:nvPr/>
        </p:nvSpPr>
        <p:spPr>
          <a:xfrm>
            <a:off x="49110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Valdosta</a:t>
            </a:r>
            <a:endParaRPr sz="800">
              <a:solidFill>
                <a:schemeClr val="dk1"/>
              </a:solidFill>
            </a:endParaRPr>
          </a:p>
        </p:txBody>
      </p:sp>
      <p:sp>
        <p:nvSpPr>
          <p:cNvPr id="1477" name="Google Shape;1477;p79"/>
          <p:cNvSpPr txBox="1"/>
          <p:nvPr/>
        </p:nvSpPr>
        <p:spPr>
          <a:xfrm>
            <a:off x="45509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478" name="Google Shape;1478;p79"/>
          <p:cNvSpPr txBox="1"/>
          <p:nvPr/>
        </p:nvSpPr>
        <p:spPr>
          <a:xfrm>
            <a:off x="51094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479" name="Google Shape;1479;p79"/>
          <p:cNvSpPr txBox="1"/>
          <p:nvPr/>
        </p:nvSpPr>
        <p:spPr>
          <a:xfrm>
            <a:off x="67430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480" name="Google Shape;1480;p79"/>
          <p:cNvSpPr txBox="1"/>
          <p:nvPr/>
        </p:nvSpPr>
        <p:spPr>
          <a:xfrm>
            <a:off x="57711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481" name="Google Shape;1481;p79"/>
          <p:cNvSpPr txBox="1"/>
          <p:nvPr/>
        </p:nvSpPr>
        <p:spPr>
          <a:xfrm>
            <a:off x="46271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482" name="Google Shape;1482;p79"/>
          <p:cNvSpPr txBox="1"/>
          <p:nvPr/>
        </p:nvSpPr>
        <p:spPr>
          <a:xfrm>
            <a:off x="55824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483" name="Google Shape;1483;p79"/>
          <p:cNvSpPr txBox="1"/>
          <p:nvPr/>
        </p:nvSpPr>
        <p:spPr>
          <a:xfrm>
            <a:off x="65598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484" name="Google Shape;1484;p79"/>
          <p:cNvSpPr txBox="1"/>
          <p:nvPr/>
        </p:nvSpPr>
        <p:spPr>
          <a:xfrm>
            <a:off x="63639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485" name="Google Shape;1485;p79"/>
          <p:cNvSpPr txBox="1"/>
          <p:nvPr/>
        </p:nvSpPr>
        <p:spPr>
          <a:xfrm>
            <a:off x="69691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Savannah</a:t>
            </a:r>
            <a:endParaRPr sz="8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80"/>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491" name="Google Shape;1491;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92" name="Google Shape;1492;p80"/>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493" name="Google Shape;1493;p80"/>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494" name="Google Shape;1494;p80"/>
          <p:cNvSpPr txBox="1"/>
          <p:nvPr/>
        </p:nvSpPr>
        <p:spPr>
          <a:xfrm>
            <a:off x="72700" y="945100"/>
            <a:ext cx="3000000" cy="2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rPr>
              <a:t>Step 1: </a:t>
            </a:r>
            <a:br>
              <a:rPr lang="en" sz="1800">
                <a:solidFill>
                  <a:schemeClr val="dk1"/>
                </a:solidFill>
              </a:rPr>
            </a:br>
            <a:r>
              <a:rPr lang="en" sz="1800">
                <a:solidFill>
                  <a:schemeClr val="dk1"/>
                </a:solidFill>
              </a:rPr>
              <a:t>Make the starting city the root of the search tree (level 0).</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t/>
            </a:r>
            <a:endParaRPr b="1" sz="1800">
              <a:solidFill>
                <a:schemeClr val="dk1"/>
              </a:solidFill>
            </a:endParaRPr>
          </a:p>
        </p:txBody>
      </p:sp>
      <p:sp>
        <p:nvSpPr>
          <p:cNvPr id="1495" name="Google Shape;1495;p80"/>
          <p:cNvSpPr txBox="1"/>
          <p:nvPr/>
        </p:nvSpPr>
        <p:spPr>
          <a:xfrm>
            <a:off x="5489075" y="880925"/>
            <a:ext cx="121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Tree Root</a:t>
            </a:r>
            <a:endParaRPr b="1"/>
          </a:p>
        </p:txBody>
      </p:sp>
      <p:cxnSp>
        <p:nvCxnSpPr>
          <p:cNvPr id="1496" name="Google Shape;1496;p80"/>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81"/>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502" name="Google Shape;1502;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03" name="Google Shape;1503;p81"/>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504" name="Google Shape;1504;p81"/>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05" name="Google Shape;1505;p81"/>
          <p:cNvSpPr txBox="1"/>
          <p:nvPr/>
        </p:nvSpPr>
        <p:spPr>
          <a:xfrm>
            <a:off x="72700" y="981450"/>
            <a:ext cx="3399000" cy="311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a:t>
            </a:r>
            <a:r>
              <a:rPr lang="en" sz="1800">
                <a:solidFill>
                  <a:schemeClr val="dk1"/>
                </a:solidFill>
              </a:rPr>
              <a:t>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rPr b="1" lang="en" sz="1600">
                <a:solidFill>
                  <a:srgbClr val="FF9900"/>
                </a:solidFill>
              </a:rPr>
              <a:t>What</a:t>
            </a:r>
            <a:r>
              <a:rPr b="1" lang="en" sz="1600">
                <a:solidFill>
                  <a:srgbClr val="FF9900"/>
                </a:solidFill>
              </a:rPr>
              <a:t> cities neighbor Savannah?</a:t>
            </a:r>
            <a:endParaRPr b="1" sz="1600">
              <a:solidFill>
                <a:srgbClr val="FF9900"/>
              </a:solidFill>
            </a:endParaRPr>
          </a:p>
        </p:txBody>
      </p:sp>
      <p:sp>
        <p:nvSpPr>
          <p:cNvPr id="1506" name="Google Shape;1506;p81"/>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507" name="Google Shape;1507;p81"/>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pic>
        <p:nvPicPr>
          <p:cNvPr id="1512" name="Google Shape;1512;p82"/>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13" name="Google Shape;1513;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4" name="Google Shape;1514;p82"/>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515" name="Google Shape;1515;p82"/>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516" name="Google Shape;1516;p82"/>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517" name="Google Shape;1517;p82"/>
          <p:cNvCxnSpPr>
            <a:stCxn id="1514" idx="2"/>
            <a:endCxn id="1515"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518" name="Google Shape;1518;p82"/>
          <p:cNvCxnSpPr>
            <a:stCxn id="1514" idx="2"/>
            <a:endCxn id="1516"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519" name="Google Shape;1519;p82"/>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520" name="Google Shape;1520;p82"/>
          <p:cNvSpPr txBox="1"/>
          <p:nvPr/>
        </p:nvSpPr>
        <p:spPr>
          <a:xfrm>
            <a:off x="72700" y="2276850"/>
            <a:ext cx="3399000" cy="27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Find its neighbors that are not already in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Add those neighbors to the next level of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If one of the neighbors is the destination, exit.</a:t>
            </a:r>
            <a:endParaRPr b="1">
              <a:solidFill>
                <a:schemeClr val="dk1"/>
              </a:solidFill>
            </a:endParaRPr>
          </a:p>
          <a:p>
            <a:pPr indent="0" lvl="0" marL="0" rtl="0" algn="ctr">
              <a:lnSpc>
                <a:spcPct val="115000"/>
              </a:lnSpc>
              <a:spcBef>
                <a:spcPts val="1200"/>
              </a:spcBef>
              <a:spcAft>
                <a:spcPts val="1200"/>
              </a:spcAft>
              <a:buNone/>
            </a:pPr>
            <a:r>
              <a:rPr b="1" lang="en" sz="1600">
                <a:solidFill>
                  <a:srgbClr val="FF9900"/>
                </a:solidFill>
              </a:rPr>
              <a:t>Are we at our destination?</a:t>
            </a:r>
            <a:endParaRPr b="1" sz="1600">
              <a:solidFill>
                <a:srgbClr val="FF9900"/>
              </a:solidFill>
            </a:endParaRPr>
          </a:p>
        </p:txBody>
      </p:sp>
      <p:sp>
        <p:nvSpPr>
          <p:cNvPr id="1521" name="Google Shape;1521;p82"/>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522" name="Google Shape;1522;p82"/>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pic>
        <p:nvPicPr>
          <p:cNvPr id="1527" name="Google Shape;1527;p83"/>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28" name="Google Shape;1528;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9" name="Google Shape;1529;p83"/>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530" name="Google Shape;1530;p83"/>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531" name="Google Shape;1531;p83"/>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532" name="Google Shape;1532;p83"/>
          <p:cNvCxnSpPr>
            <a:stCxn id="1529" idx="2"/>
            <a:endCxn id="1530"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533" name="Google Shape;1533;p83"/>
          <p:cNvCxnSpPr>
            <a:stCxn id="1529" idx="2"/>
            <a:endCxn id="1531"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534" name="Google Shape;1534;p83"/>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535" name="Google Shape;1535;p83"/>
          <p:cNvSpPr txBox="1"/>
          <p:nvPr/>
        </p:nvSpPr>
        <p:spPr>
          <a:xfrm>
            <a:off x="72700" y="2200650"/>
            <a:ext cx="33990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800">
                <a:solidFill>
                  <a:schemeClr val="dk1"/>
                </a:solidFill>
              </a:rPr>
              <a:t>Step 3: </a:t>
            </a:r>
            <a:r>
              <a:rPr lang="en" sz="1800">
                <a:solidFill>
                  <a:schemeClr val="dk1"/>
                </a:solidFill>
              </a:rPr>
              <a:t>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pic>
        <p:nvPicPr>
          <p:cNvPr id="1540" name="Google Shape;1540;p84"/>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41" name="Google Shape;1541;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42" name="Google Shape;1542;p84"/>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543" name="Google Shape;1543;p84"/>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544" name="Google Shape;1544;p84"/>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545" name="Google Shape;1545;p84"/>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546" name="Google Shape;1546;p84"/>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547" name="Google Shape;1547;p84"/>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548" name="Google Shape;1548;p84"/>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cxnSp>
        <p:nvCxnSpPr>
          <p:cNvPr id="1549" name="Google Shape;1549;p84"/>
          <p:cNvCxnSpPr>
            <a:stCxn id="1542" idx="2"/>
            <a:endCxn id="1543"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550" name="Google Shape;1550;p84"/>
          <p:cNvCxnSpPr>
            <a:stCxn id="1542" idx="2"/>
            <a:endCxn id="1544"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551" name="Google Shape;1551;p84"/>
          <p:cNvCxnSpPr>
            <a:stCxn id="1543" idx="2"/>
            <a:endCxn id="1545"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552" name="Google Shape;1552;p84"/>
          <p:cNvCxnSpPr>
            <a:stCxn id="1543" idx="2"/>
            <a:endCxn id="1546"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553" name="Google Shape;1553;p84"/>
          <p:cNvCxnSpPr>
            <a:stCxn id="1544" idx="2"/>
            <a:endCxn id="1548"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554" name="Google Shape;1554;p84"/>
          <p:cNvCxnSpPr>
            <a:stCxn id="1544" idx="2"/>
            <a:endCxn id="1547"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sp>
        <p:nvSpPr>
          <p:cNvPr id="1555" name="Google Shape;1555;p84"/>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556" name="Google Shape;1556;p84"/>
          <p:cNvSpPr txBox="1"/>
          <p:nvPr/>
        </p:nvSpPr>
        <p:spPr>
          <a:xfrm>
            <a:off x="121700" y="3011525"/>
            <a:ext cx="3158700" cy="140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What should we do next?</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rPr lang="en" sz="1800">
                <a:solidFill>
                  <a:schemeClr val="dk1"/>
                </a:solidFill>
              </a:rPr>
              <a:t>(Repeat the process again.)</a:t>
            </a:r>
            <a:endParaRPr sz="1800">
              <a:solidFill>
                <a:schemeClr val="dk1"/>
              </a:solidFill>
            </a:endParaRPr>
          </a:p>
        </p:txBody>
      </p:sp>
      <p:sp>
        <p:nvSpPr>
          <p:cNvPr id="1557" name="Google Shape;1557;p84"/>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pic>
        <p:nvPicPr>
          <p:cNvPr id="1562" name="Google Shape;1562;p85"/>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63" name="Google Shape;1563;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64" name="Google Shape;1564;p85"/>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565" name="Google Shape;1565;p85"/>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566" name="Google Shape;1566;p85"/>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567" name="Google Shape;1567;p85"/>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568" name="Google Shape;1568;p85"/>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569" name="Google Shape;1569;p85"/>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570" name="Google Shape;1570;p85"/>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571" name="Google Shape;1571;p85"/>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572" name="Google Shape;1572;p85"/>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573" name="Google Shape;1573;p85"/>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574" name="Google Shape;1574;p85"/>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cxnSp>
        <p:nvCxnSpPr>
          <p:cNvPr id="1575" name="Google Shape;1575;p85"/>
          <p:cNvCxnSpPr>
            <a:stCxn id="1564" idx="2"/>
            <a:endCxn id="1565"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576" name="Google Shape;1576;p85"/>
          <p:cNvCxnSpPr>
            <a:stCxn id="1564" idx="2"/>
            <a:endCxn id="1566"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577" name="Google Shape;1577;p85"/>
          <p:cNvCxnSpPr>
            <a:stCxn id="1565" idx="2"/>
            <a:endCxn id="1567"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578" name="Google Shape;1578;p85"/>
          <p:cNvCxnSpPr>
            <a:stCxn id="1565" idx="2"/>
            <a:endCxn id="1568"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579" name="Google Shape;1579;p85"/>
          <p:cNvCxnSpPr>
            <a:stCxn id="1566" idx="2"/>
            <a:endCxn id="1570"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580" name="Google Shape;1580;p85"/>
          <p:cNvCxnSpPr>
            <a:stCxn id="1566" idx="2"/>
            <a:endCxn id="1569"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581" name="Google Shape;1581;p85"/>
          <p:cNvCxnSpPr>
            <a:endCxn id="1573"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582" name="Google Shape;1582;p85"/>
          <p:cNvCxnSpPr>
            <a:stCxn id="1567" idx="2"/>
            <a:endCxn id="1571"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583" name="Google Shape;1583;p85"/>
          <p:cNvCxnSpPr>
            <a:endCxn id="1572"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584" name="Google Shape;1584;p85"/>
          <p:cNvCxnSpPr>
            <a:stCxn id="1570" idx="2"/>
            <a:endCxn id="1574"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sp>
        <p:nvSpPr>
          <p:cNvPr id="1585" name="Google Shape;1585;p85"/>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586" name="Google Shape;1586;p85"/>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pic>
        <p:nvPicPr>
          <p:cNvPr id="1591" name="Google Shape;1591;p86"/>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592" name="Google Shape;1592;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93" name="Google Shape;1593;p86"/>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594" name="Google Shape;1594;p86"/>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595" name="Google Shape;1595;p86"/>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596" name="Google Shape;1596;p86"/>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597" name="Google Shape;1597;p86"/>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598" name="Google Shape;1598;p86"/>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599" name="Google Shape;1599;p86"/>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600" name="Google Shape;1600;p86"/>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601" name="Google Shape;1601;p86"/>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602" name="Google Shape;1602;p86"/>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603" name="Google Shape;1603;p86"/>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604" name="Google Shape;1604;p86"/>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605" name="Google Shape;1605;p86"/>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606" name="Google Shape;1606;p86"/>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607" name="Google Shape;1607;p86"/>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608" name="Google Shape;1608;p86"/>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609" name="Google Shape;1609;p86"/>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610" name="Google Shape;1610;p86"/>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611" name="Google Shape;1611;p86"/>
          <p:cNvCxnSpPr>
            <a:stCxn id="1593" idx="2"/>
            <a:endCxn id="1594"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12" name="Google Shape;1612;p86"/>
          <p:cNvCxnSpPr>
            <a:stCxn id="1593" idx="2"/>
            <a:endCxn id="1595"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613" name="Google Shape;1613;p86"/>
          <p:cNvCxnSpPr>
            <a:stCxn id="1594" idx="2"/>
            <a:endCxn id="1596"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614" name="Google Shape;1614;p86"/>
          <p:cNvCxnSpPr>
            <a:stCxn id="1594" idx="2"/>
            <a:endCxn id="1597"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615" name="Google Shape;1615;p86"/>
          <p:cNvCxnSpPr>
            <a:stCxn id="1595" idx="2"/>
            <a:endCxn id="1599"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616" name="Google Shape;1616;p86"/>
          <p:cNvCxnSpPr>
            <a:stCxn id="1595" idx="2"/>
            <a:endCxn id="1598"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617" name="Google Shape;1617;p86"/>
          <p:cNvCxnSpPr>
            <a:endCxn id="1602"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618" name="Google Shape;1618;p86"/>
          <p:cNvCxnSpPr>
            <a:stCxn id="1596" idx="2"/>
            <a:endCxn id="1600"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619" name="Google Shape;1619;p86"/>
          <p:cNvCxnSpPr>
            <a:endCxn id="1601"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620" name="Google Shape;1620;p86"/>
          <p:cNvCxnSpPr>
            <a:endCxn id="1607"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621" name="Google Shape;1621;p86"/>
          <p:cNvCxnSpPr>
            <a:stCxn id="1602" idx="2"/>
            <a:endCxn id="1608"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622" name="Google Shape;1622;p86"/>
          <p:cNvCxnSpPr>
            <a:stCxn id="1602" idx="2"/>
            <a:endCxn id="1610"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623" name="Google Shape;1623;p86"/>
          <p:cNvCxnSpPr>
            <a:stCxn id="1602" idx="2"/>
            <a:endCxn id="1609"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624" name="Google Shape;1624;p86"/>
          <p:cNvCxnSpPr>
            <a:stCxn id="1601" idx="2"/>
            <a:endCxn id="1606"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625" name="Google Shape;1625;p86"/>
          <p:cNvCxnSpPr>
            <a:endCxn id="1605"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626" name="Google Shape;1626;p86"/>
          <p:cNvCxnSpPr>
            <a:stCxn id="1599" idx="2"/>
            <a:endCxn id="1603"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cxnSp>
        <p:nvCxnSpPr>
          <p:cNvPr id="1627" name="Google Shape;1627;p86"/>
          <p:cNvCxnSpPr>
            <a:stCxn id="1603" idx="2"/>
            <a:endCxn id="1604" idx="0"/>
          </p:cNvCxnSpPr>
          <p:nvPr/>
        </p:nvCxnSpPr>
        <p:spPr>
          <a:xfrm>
            <a:off x="6686875" y="3843200"/>
            <a:ext cx="0" cy="575700"/>
          </a:xfrm>
          <a:prstGeom prst="straightConnector1">
            <a:avLst/>
          </a:prstGeom>
          <a:noFill/>
          <a:ln cap="flat" cmpd="sng" w="9525">
            <a:solidFill>
              <a:schemeClr val="dk2"/>
            </a:solidFill>
            <a:prstDash val="solid"/>
            <a:round/>
            <a:headEnd len="med" w="med" type="none"/>
            <a:tailEnd len="med" w="med" type="triangle"/>
          </a:ln>
        </p:spPr>
      </p:cxnSp>
      <p:sp>
        <p:nvSpPr>
          <p:cNvPr id="1628" name="Google Shape;1628;p86"/>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29" name="Google Shape;1629;p86"/>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35" name="Google Shape;1635;p87"/>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636" name="Google Shape;1636;p87"/>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37" name="Google Shape;1637;p87"/>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638" name="Google Shape;1638;p87"/>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639" name="Google Shape;1639;p87"/>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640" name="Google Shape;1640;p87"/>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641" name="Google Shape;1641;p87"/>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642" name="Google Shape;1642;p87"/>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643" name="Google Shape;1643;p87"/>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644" name="Google Shape;1644;p87"/>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645" name="Google Shape;1645;p87"/>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646" name="Google Shape;1646;p87"/>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647" name="Google Shape;1647;p87"/>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648" name="Google Shape;1648;p87"/>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649" name="Google Shape;1649;p87"/>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650" name="Google Shape;1650;p87"/>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651" name="Google Shape;1651;p87"/>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652" name="Google Shape;1652;p87"/>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653" name="Google Shape;1653;p87"/>
          <p:cNvCxnSpPr>
            <a:stCxn id="1635" idx="2"/>
            <a:endCxn id="1636"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54" name="Google Shape;1654;p87"/>
          <p:cNvCxnSpPr>
            <a:stCxn id="1635" idx="2"/>
            <a:endCxn id="1637" idx="0"/>
          </p:cNvCxnSpPr>
          <p:nvPr/>
        </p:nvCxnSpPr>
        <p:spPr>
          <a:xfrm>
            <a:off x="4499450" y="1432625"/>
            <a:ext cx="3048000" cy="423300"/>
          </a:xfrm>
          <a:prstGeom prst="straightConnector1">
            <a:avLst/>
          </a:prstGeom>
          <a:noFill/>
          <a:ln cap="flat" cmpd="sng" w="28575">
            <a:solidFill>
              <a:srgbClr val="FF0000"/>
            </a:solidFill>
            <a:prstDash val="solid"/>
            <a:round/>
            <a:headEnd len="med" w="med" type="triangle"/>
            <a:tailEnd len="med" w="med" type="none"/>
          </a:ln>
        </p:spPr>
      </p:cxnSp>
      <p:cxnSp>
        <p:nvCxnSpPr>
          <p:cNvPr id="1655" name="Google Shape;1655;p87"/>
          <p:cNvCxnSpPr>
            <a:stCxn id="1636" idx="2"/>
            <a:endCxn id="1638"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656" name="Google Shape;1656;p87"/>
          <p:cNvCxnSpPr>
            <a:stCxn id="1636" idx="2"/>
            <a:endCxn id="1639"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657" name="Google Shape;1657;p87"/>
          <p:cNvCxnSpPr>
            <a:stCxn id="1637" idx="2"/>
            <a:endCxn id="1641" idx="0"/>
          </p:cNvCxnSpPr>
          <p:nvPr/>
        </p:nvCxnSpPr>
        <p:spPr>
          <a:xfrm flipH="1">
            <a:off x="6686750" y="2194625"/>
            <a:ext cx="860700" cy="471600"/>
          </a:xfrm>
          <a:prstGeom prst="straightConnector1">
            <a:avLst/>
          </a:prstGeom>
          <a:noFill/>
          <a:ln cap="flat" cmpd="sng" w="28575">
            <a:solidFill>
              <a:srgbClr val="FF0000"/>
            </a:solidFill>
            <a:prstDash val="solid"/>
            <a:round/>
            <a:headEnd len="med" w="med" type="triangle"/>
            <a:tailEnd len="med" w="med" type="none"/>
          </a:ln>
        </p:spPr>
      </p:cxnSp>
      <p:cxnSp>
        <p:nvCxnSpPr>
          <p:cNvPr id="1658" name="Google Shape;1658;p87"/>
          <p:cNvCxnSpPr>
            <a:stCxn id="1637" idx="2"/>
            <a:endCxn id="1640"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659" name="Google Shape;1659;p87"/>
          <p:cNvCxnSpPr>
            <a:endCxn id="1644"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660" name="Google Shape;1660;p87"/>
          <p:cNvCxnSpPr>
            <a:stCxn id="1638" idx="2"/>
            <a:endCxn id="1642"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661" name="Google Shape;1661;p87"/>
          <p:cNvCxnSpPr>
            <a:endCxn id="1643"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662" name="Google Shape;1662;p87"/>
          <p:cNvCxnSpPr>
            <a:endCxn id="1649"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663" name="Google Shape;1663;p87"/>
          <p:cNvCxnSpPr>
            <a:stCxn id="1644" idx="2"/>
            <a:endCxn id="1650"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664" name="Google Shape;1664;p87"/>
          <p:cNvCxnSpPr>
            <a:stCxn id="1644" idx="2"/>
            <a:endCxn id="1652"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665" name="Google Shape;1665;p87"/>
          <p:cNvCxnSpPr>
            <a:stCxn id="1644" idx="2"/>
            <a:endCxn id="1651"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666" name="Google Shape;1666;p87"/>
          <p:cNvCxnSpPr>
            <a:stCxn id="1643" idx="2"/>
            <a:endCxn id="1648"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667" name="Google Shape;1667;p87"/>
          <p:cNvCxnSpPr>
            <a:endCxn id="1647"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668" name="Google Shape;1668;p87"/>
          <p:cNvCxnSpPr>
            <a:stCxn id="1641" idx="2"/>
            <a:endCxn id="1645" idx="0"/>
          </p:cNvCxnSpPr>
          <p:nvPr/>
        </p:nvCxnSpPr>
        <p:spPr>
          <a:xfrm>
            <a:off x="6686875" y="3005000"/>
            <a:ext cx="0" cy="499500"/>
          </a:xfrm>
          <a:prstGeom prst="straightConnector1">
            <a:avLst/>
          </a:prstGeom>
          <a:noFill/>
          <a:ln cap="flat" cmpd="sng" w="28575">
            <a:solidFill>
              <a:srgbClr val="FF0000"/>
            </a:solidFill>
            <a:prstDash val="solid"/>
            <a:round/>
            <a:headEnd len="med" w="med" type="triangle"/>
            <a:tailEnd len="med" w="med" type="none"/>
          </a:ln>
        </p:spPr>
      </p:cxnSp>
      <p:cxnSp>
        <p:nvCxnSpPr>
          <p:cNvPr id="1669" name="Google Shape;1669;p87"/>
          <p:cNvCxnSpPr>
            <a:stCxn id="1645" idx="2"/>
            <a:endCxn id="1646" idx="0"/>
          </p:cNvCxnSpPr>
          <p:nvPr/>
        </p:nvCxnSpPr>
        <p:spPr>
          <a:xfrm>
            <a:off x="6686875" y="3843200"/>
            <a:ext cx="0" cy="575700"/>
          </a:xfrm>
          <a:prstGeom prst="straightConnector1">
            <a:avLst/>
          </a:prstGeom>
          <a:noFill/>
          <a:ln cap="flat" cmpd="sng" w="28575">
            <a:solidFill>
              <a:srgbClr val="FF0000"/>
            </a:solidFill>
            <a:prstDash val="solid"/>
            <a:round/>
            <a:headEnd len="med" w="med" type="triangle"/>
            <a:tailEnd len="med" w="med" type="none"/>
          </a:ln>
        </p:spPr>
      </p:cxnSp>
      <p:sp>
        <p:nvSpPr>
          <p:cNvPr id="1670" name="Google Shape;1670;p87"/>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rPr>
              <a:t>Recovering the Solution Path</a:t>
            </a:r>
            <a:endParaRPr>
              <a:solidFill>
                <a:srgbClr val="FF0000"/>
              </a:solidFill>
            </a:endParaRPr>
          </a:p>
        </p:txBody>
      </p:sp>
      <p:sp>
        <p:nvSpPr>
          <p:cNvPr id="1671" name="Google Shape;1671;p87"/>
          <p:cNvSpPr txBox="1"/>
          <p:nvPr/>
        </p:nvSpPr>
        <p:spPr>
          <a:xfrm>
            <a:off x="4917325" y="228600"/>
            <a:ext cx="4226700" cy="71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600">
                <a:solidFill>
                  <a:schemeClr val="dk1"/>
                </a:solidFill>
              </a:rPr>
              <a:t>Draw a red line that follows the recovery path from your destination to the start node.</a:t>
            </a:r>
            <a:endParaRPr sz="1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88"/>
          <p:cNvSpPr txBox="1"/>
          <p:nvPr>
            <p:ph type="title"/>
          </p:nvPr>
        </p:nvSpPr>
        <p:spPr>
          <a:xfrm>
            <a:off x="311700" y="445025"/>
            <a:ext cx="8520600" cy="107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Before you try this on your own, let’s analyze some student work from last school year!</a:t>
            </a:r>
            <a:endParaRPr/>
          </a:p>
        </p:txBody>
      </p:sp>
      <p:sp>
        <p:nvSpPr>
          <p:cNvPr id="1677" name="Google Shape;1677;p88"/>
          <p:cNvSpPr txBox="1"/>
          <p:nvPr>
            <p:ph idx="1" type="body"/>
          </p:nvPr>
        </p:nvSpPr>
        <p:spPr>
          <a:xfrm>
            <a:off x="311700" y="1682000"/>
            <a:ext cx="8520600" cy="3120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For each of the following slides (with a partner):</a:t>
            </a:r>
            <a:endParaRPr/>
          </a:p>
          <a:p>
            <a:pPr indent="-342900" lvl="0" marL="457200" rtl="0" algn="l">
              <a:spcBef>
                <a:spcPts val="1200"/>
              </a:spcBef>
              <a:spcAft>
                <a:spcPts val="0"/>
              </a:spcAft>
              <a:buSzPts val="1800"/>
              <a:buAutoNum type="arabicPeriod"/>
            </a:pPr>
            <a:r>
              <a:rPr lang="en"/>
              <a:t>Identify any mistakes you can find on each student work sample map and tree.</a:t>
            </a:r>
            <a:endParaRPr/>
          </a:p>
          <a:p>
            <a:pPr indent="-342900" lvl="0" marL="457200" rtl="0" algn="l">
              <a:spcBef>
                <a:spcPts val="0"/>
              </a:spcBef>
              <a:spcAft>
                <a:spcPts val="0"/>
              </a:spcAft>
              <a:buSzPts val="1800"/>
              <a:buAutoNum type="arabicPeriod"/>
            </a:pPr>
            <a:r>
              <a:rPr lang="en"/>
              <a:t>What misconception do you believe caused the student to make that mistake? (What do you think that the student does not understand that caused them to make the mistake you found?)</a:t>
            </a:r>
            <a:endParaRPr/>
          </a:p>
          <a:p>
            <a:pPr indent="-342900" lvl="0" marL="457200" rtl="0" algn="l">
              <a:spcBef>
                <a:spcPts val="0"/>
              </a:spcBef>
              <a:spcAft>
                <a:spcPts val="0"/>
              </a:spcAft>
              <a:buSzPts val="1800"/>
              <a:buAutoNum type="arabicPeriod"/>
            </a:pPr>
            <a:r>
              <a:rPr lang="en"/>
              <a:t>Be prepared to discuss your findings.</a:t>
            </a:r>
            <a:endParaRPr/>
          </a:p>
          <a:p>
            <a:pPr indent="0" lvl="0" marL="0" rtl="0" algn="r">
              <a:spcBef>
                <a:spcPts val="1200"/>
              </a:spcBef>
              <a:spcAft>
                <a:spcPts val="0"/>
              </a:spcAft>
              <a:buNone/>
            </a:pPr>
            <a:r>
              <a:rPr lang="en">
                <a:solidFill>
                  <a:srgbClr val="FF9900"/>
                </a:solidFill>
              </a:rPr>
              <a:t>Stephen and Nichole</a:t>
            </a:r>
            <a:endParaRPr>
              <a:solidFill>
                <a:srgbClr val="FF9900"/>
              </a:solidFill>
            </a:endParaRPr>
          </a:p>
          <a:p>
            <a:pPr indent="0" lvl="0" marL="0" rtl="0" algn="r">
              <a:spcBef>
                <a:spcPts val="1200"/>
              </a:spcBef>
              <a:spcAft>
                <a:spcPts val="1200"/>
              </a:spcAft>
              <a:buNone/>
            </a:pPr>
            <a:r>
              <a:rPr lang="en">
                <a:solidFill>
                  <a:srgbClr val="FF9900"/>
                </a:solidFill>
              </a:rPr>
              <a:t>6/24/24</a:t>
            </a:r>
            <a:endParaRPr>
              <a:solidFill>
                <a:srgbClr val="FF9900"/>
              </a:solidFill>
            </a:endParaRPr>
          </a:p>
        </p:txBody>
      </p:sp>
      <p:sp>
        <p:nvSpPr>
          <p:cNvPr id="1678" name="Google Shape;1678;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pic>
        <p:nvPicPr>
          <p:cNvPr id="1683" name="Google Shape;1683;p89"/>
          <p:cNvPicPr preferRelativeResize="0"/>
          <p:nvPr/>
        </p:nvPicPr>
        <p:blipFill>
          <a:blip r:embed="rId3">
            <a:alphaModFix/>
          </a:blip>
          <a:stretch>
            <a:fillRect/>
          </a:stretch>
        </p:blipFill>
        <p:spPr>
          <a:xfrm>
            <a:off x="218675" y="802275"/>
            <a:ext cx="8706651" cy="4341225"/>
          </a:xfrm>
          <a:prstGeom prst="rect">
            <a:avLst/>
          </a:prstGeom>
          <a:noFill/>
          <a:ln>
            <a:noFill/>
          </a:ln>
        </p:spPr>
      </p:pic>
      <p:sp>
        <p:nvSpPr>
          <p:cNvPr id="1684" name="Google Shape;1684;p89"/>
          <p:cNvSpPr txBox="1"/>
          <p:nvPr/>
        </p:nvSpPr>
        <p:spPr>
          <a:xfrm>
            <a:off x="103150" y="146100"/>
            <a:ext cx="7046700" cy="432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2400">
                <a:solidFill>
                  <a:srgbClr val="FFAB40"/>
                </a:solidFill>
              </a:rPr>
              <a:t>Find a route from Atlanta to Warner Robins</a:t>
            </a:r>
            <a:endParaRPr b="1" sz="2400">
              <a:solidFill>
                <a:srgbClr val="FFAB40"/>
              </a:solidFill>
            </a:endParaRPr>
          </a:p>
          <a:p>
            <a:pPr indent="0" lvl="0" marL="0" rtl="0" algn="l">
              <a:lnSpc>
                <a:spcPct val="115000"/>
              </a:lnSpc>
              <a:spcBef>
                <a:spcPts val="0"/>
              </a:spcBef>
              <a:spcAft>
                <a:spcPts val="0"/>
              </a:spcAft>
              <a:buClr>
                <a:schemeClr val="dk1"/>
              </a:buClr>
              <a:buSzPts val="1100"/>
              <a:buFont typeface="Arial"/>
              <a:buNone/>
            </a:pPr>
            <a:r>
              <a:t/>
            </a:r>
            <a:endParaRPr b="1" sz="2400">
              <a:solidFill>
                <a:srgbClr val="FFAB40"/>
              </a:solidFill>
            </a:endParaRPr>
          </a:p>
          <a:p>
            <a:pPr indent="0" lvl="0" marL="0" rtl="0" algn="l">
              <a:spcBef>
                <a:spcPts val="0"/>
              </a:spcBef>
              <a:spcAft>
                <a:spcPts val="0"/>
              </a:spcAft>
              <a:buNone/>
            </a:pPr>
            <a:r>
              <a:t/>
            </a:r>
            <a:endParaRPr b="1" sz="1800">
              <a:solidFill>
                <a:schemeClr val="dk2"/>
              </a:solidFill>
            </a:endParaRPr>
          </a:p>
        </p:txBody>
      </p:sp>
      <p:sp>
        <p:nvSpPr>
          <p:cNvPr id="1685" name="Google Shape;1685;p89"/>
          <p:cNvSpPr txBox="1"/>
          <p:nvPr/>
        </p:nvSpPr>
        <p:spPr>
          <a:xfrm>
            <a:off x="7913425" y="146100"/>
            <a:ext cx="2123700" cy="1441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800">
                <a:solidFill>
                  <a:schemeClr val="dk2"/>
                </a:solidFill>
              </a:rPr>
              <a:t>AW-0014</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90"/>
          <p:cNvSpPr txBox="1"/>
          <p:nvPr/>
        </p:nvSpPr>
        <p:spPr>
          <a:xfrm>
            <a:off x="7962275" y="124600"/>
            <a:ext cx="1782600" cy="467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800">
                <a:solidFill>
                  <a:schemeClr val="dk2"/>
                </a:solidFill>
              </a:rPr>
              <a:t>AW-0003</a:t>
            </a:r>
            <a:endParaRPr sz="1800">
              <a:solidFill>
                <a:schemeClr val="dk2"/>
              </a:solidFill>
            </a:endParaRPr>
          </a:p>
        </p:txBody>
      </p:sp>
      <p:pic>
        <p:nvPicPr>
          <p:cNvPr id="1691" name="Google Shape;1691;p90"/>
          <p:cNvPicPr preferRelativeResize="0"/>
          <p:nvPr/>
        </p:nvPicPr>
        <p:blipFill>
          <a:blip r:embed="rId3">
            <a:alphaModFix/>
          </a:blip>
          <a:stretch>
            <a:fillRect/>
          </a:stretch>
        </p:blipFill>
        <p:spPr>
          <a:xfrm>
            <a:off x="193525" y="705325"/>
            <a:ext cx="8512124" cy="4330525"/>
          </a:xfrm>
          <a:prstGeom prst="rect">
            <a:avLst/>
          </a:prstGeom>
          <a:noFill/>
          <a:ln>
            <a:noFill/>
          </a:ln>
        </p:spPr>
      </p:pic>
      <p:sp>
        <p:nvSpPr>
          <p:cNvPr id="1692" name="Google Shape;1692;p90"/>
          <p:cNvSpPr txBox="1"/>
          <p:nvPr/>
        </p:nvSpPr>
        <p:spPr>
          <a:xfrm>
            <a:off x="103150" y="146100"/>
            <a:ext cx="7046700" cy="432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2400">
                <a:solidFill>
                  <a:srgbClr val="FFAB40"/>
                </a:solidFill>
              </a:rPr>
              <a:t>Find a route from Atlanta to Warner Robins</a:t>
            </a:r>
            <a:endParaRPr b="1" sz="2400">
              <a:solidFill>
                <a:srgbClr val="FFAB40"/>
              </a:solidFill>
            </a:endParaRPr>
          </a:p>
          <a:p>
            <a:pPr indent="0" lvl="0" marL="0" rtl="0" algn="l">
              <a:lnSpc>
                <a:spcPct val="115000"/>
              </a:lnSpc>
              <a:spcBef>
                <a:spcPts val="0"/>
              </a:spcBef>
              <a:spcAft>
                <a:spcPts val="0"/>
              </a:spcAft>
              <a:buClr>
                <a:schemeClr val="dk1"/>
              </a:buClr>
              <a:buSzPts val="1100"/>
              <a:buFont typeface="Arial"/>
              <a:buNone/>
            </a:pPr>
            <a:r>
              <a:t/>
            </a:r>
            <a:endParaRPr b="1" sz="2400">
              <a:solidFill>
                <a:srgbClr val="FFAB40"/>
              </a:solidFill>
            </a:endParaRPr>
          </a:p>
          <a:p>
            <a:pPr indent="0" lvl="0" marL="0" rtl="0" algn="l">
              <a:spcBef>
                <a:spcPts val="0"/>
              </a:spcBef>
              <a:spcAft>
                <a:spcPts val="0"/>
              </a:spcAft>
              <a:buNone/>
            </a:pPr>
            <a:r>
              <a:t/>
            </a:r>
            <a:endParaRPr b="1" sz="18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pic>
        <p:nvPicPr>
          <p:cNvPr id="1697" name="Google Shape;1697;p91"/>
          <p:cNvPicPr preferRelativeResize="0"/>
          <p:nvPr/>
        </p:nvPicPr>
        <p:blipFill>
          <a:blip r:embed="rId3">
            <a:alphaModFix/>
          </a:blip>
          <a:stretch>
            <a:fillRect/>
          </a:stretch>
        </p:blipFill>
        <p:spPr>
          <a:xfrm>
            <a:off x="436775" y="839350"/>
            <a:ext cx="7879038" cy="3820975"/>
          </a:xfrm>
          <a:prstGeom prst="rect">
            <a:avLst/>
          </a:prstGeom>
          <a:noFill/>
          <a:ln>
            <a:noFill/>
          </a:ln>
        </p:spPr>
      </p:pic>
      <p:sp>
        <p:nvSpPr>
          <p:cNvPr id="1698" name="Google Shape;1698;p91"/>
          <p:cNvSpPr txBox="1"/>
          <p:nvPr/>
        </p:nvSpPr>
        <p:spPr>
          <a:xfrm>
            <a:off x="7691800" y="194750"/>
            <a:ext cx="1361100" cy="286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800">
                <a:solidFill>
                  <a:schemeClr val="dk2"/>
                </a:solidFill>
              </a:rPr>
              <a:t>AW-0009</a:t>
            </a:r>
            <a:endParaRPr sz="1800">
              <a:solidFill>
                <a:schemeClr val="dk2"/>
              </a:solidFill>
            </a:endParaRPr>
          </a:p>
        </p:txBody>
      </p:sp>
      <p:sp>
        <p:nvSpPr>
          <p:cNvPr id="1699" name="Google Shape;1699;p91"/>
          <p:cNvSpPr txBox="1"/>
          <p:nvPr/>
        </p:nvSpPr>
        <p:spPr>
          <a:xfrm>
            <a:off x="103150" y="146100"/>
            <a:ext cx="7046700" cy="432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2400">
                <a:solidFill>
                  <a:srgbClr val="FFAB40"/>
                </a:solidFill>
              </a:rPr>
              <a:t>Find a route from Atlanta to Warner Robins</a:t>
            </a:r>
            <a:endParaRPr b="1" sz="2400">
              <a:solidFill>
                <a:srgbClr val="FFAB40"/>
              </a:solidFill>
            </a:endParaRPr>
          </a:p>
          <a:p>
            <a:pPr indent="0" lvl="0" marL="0" rtl="0" algn="l">
              <a:lnSpc>
                <a:spcPct val="115000"/>
              </a:lnSpc>
              <a:spcBef>
                <a:spcPts val="0"/>
              </a:spcBef>
              <a:spcAft>
                <a:spcPts val="0"/>
              </a:spcAft>
              <a:buClr>
                <a:schemeClr val="dk1"/>
              </a:buClr>
              <a:buSzPts val="1100"/>
              <a:buFont typeface="Arial"/>
              <a:buNone/>
            </a:pPr>
            <a:r>
              <a:t/>
            </a:r>
            <a:endParaRPr b="1" sz="2400">
              <a:solidFill>
                <a:srgbClr val="FFAB40"/>
              </a:solidFill>
            </a:endParaRPr>
          </a:p>
          <a:p>
            <a:pPr indent="0" lvl="0" marL="0" rtl="0" algn="l">
              <a:spcBef>
                <a:spcPts val="0"/>
              </a:spcBef>
              <a:spcAft>
                <a:spcPts val="0"/>
              </a:spcAft>
              <a:buNone/>
            </a:pPr>
            <a:r>
              <a:t/>
            </a:r>
            <a:endParaRPr b="1" sz="1800">
              <a:solidFill>
                <a:schemeClr val="dk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pic>
        <p:nvPicPr>
          <p:cNvPr id="1704" name="Google Shape;1704;p92"/>
          <p:cNvPicPr preferRelativeResize="0"/>
          <p:nvPr/>
        </p:nvPicPr>
        <p:blipFill>
          <a:blip r:embed="rId3">
            <a:alphaModFix/>
          </a:blip>
          <a:stretch>
            <a:fillRect/>
          </a:stretch>
        </p:blipFill>
        <p:spPr>
          <a:xfrm>
            <a:off x="996275" y="1225500"/>
            <a:ext cx="7084750" cy="3381250"/>
          </a:xfrm>
          <a:prstGeom prst="rect">
            <a:avLst/>
          </a:prstGeom>
          <a:noFill/>
          <a:ln>
            <a:noFill/>
          </a:ln>
        </p:spPr>
      </p:pic>
      <p:sp>
        <p:nvSpPr>
          <p:cNvPr id="1705" name="Google Shape;1705;p92"/>
          <p:cNvSpPr txBox="1"/>
          <p:nvPr/>
        </p:nvSpPr>
        <p:spPr>
          <a:xfrm>
            <a:off x="7913425" y="146100"/>
            <a:ext cx="2123700" cy="1441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800">
                <a:solidFill>
                  <a:schemeClr val="dk2"/>
                </a:solidFill>
              </a:rPr>
              <a:t>AW-0012</a:t>
            </a:r>
            <a:endParaRPr sz="1800">
              <a:solidFill>
                <a:schemeClr val="dk2"/>
              </a:solidFill>
            </a:endParaRPr>
          </a:p>
        </p:txBody>
      </p:sp>
      <p:sp>
        <p:nvSpPr>
          <p:cNvPr id="1706" name="Google Shape;1706;p92"/>
          <p:cNvSpPr txBox="1"/>
          <p:nvPr/>
        </p:nvSpPr>
        <p:spPr>
          <a:xfrm>
            <a:off x="103150" y="146100"/>
            <a:ext cx="7046700" cy="432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2400">
                <a:solidFill>
                  <a:srgbClr val="FFAB40"/>
                </a:solidFill>
              </a:rPr>
              <a:t>Find a route from Atlanta to Warner Robins</a:t>
            </a:r>
            <a:endParaRPr b="1" sz="2400">
              <a:solidFill>
                <a:srgbClr val="FFAB40"/>
              </a:solidFill>
            </a:endParaRPr>
          </a:p>
          <a:p>
            <a:pPr indent="0" lvl="0" marL="0" rtl="0" algn="l">
              <a:lnSpc>
                <a:spcPct val="115000"/>
              </a:lnSpc>
              <a:spcBef>
                <a:spcPts val="0"/>
              </a:spcBef>
              <a:spcAft>
                <a:spcPts val="0"/>
              </a:spcAft>
              <a:buClr>
                <a:schemeClr val="dk1"/>
              </a:buClr>
              <a:buSzPts val="1100"/>
              <a:buFont typeface="Arial"/>
              <a:buNone/>
            </a:pPr>
            <a:r>
              <a:t/>
            </a:r>
            <a:endParaRPr b="1" sz="2400">
              <a:solidFill>
                <a:srgbClr val="FFAB40"/>
              </a:solidFill>
            </a:endParaRPr>
          </a:p>
          <a:p>
            <a:pPr indent="0" lvl="0" marL="0" rtl="0" algn="l">
              <a:spcBef>
                <a:spcPts val="0"/>
              </a:spcBef>
              <a:spcAft>
                <a:spcPts val="0"/>
              </a:spcAft>
              <a:buNone/>
            </a:pPr>
            <a:r>
              <a:t/>
            </a:r>
            <a:endParaRPr b="1" sz="1800">
              <a:solidFill>
                <a:schemeClr val="dk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93"/>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You try it: </a:t>
            </a:r>
            <a:br>
              <a:rPr b="1" lang="en"/>
            </a:br>
            <a:r>
              <a:rPr lang="en"/>
              <a:t>Draw the search tree</a:t>
            </a:r>
            <a:endParaRPr/>
          </a:p>
        </p:txBody>
      </p:sp>
      <p:sp>
        <p:nvSpPr>
          <p:cNvPr id="1712" name="Google Shape;1712;p93"/>
          <p:cNvSpPr txBox="1"/>
          <p:nvPr>
            <p:ph idx="1" type="body"/>
          </p:nvPr>
        </p:nvSpPr>
        <p:spPr>
          <a:xfrm>
            <a:off x="311700" y="1037375"/>
            <a:ext cx="8520600" cy="322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Find a route from</a:t>
            </a:r>
            <a:br>
              <a:rPr lang="en"/>
            </a:br>
            <a:r>
              <a:rPr lang="en"/>
              <a:t>Atlanta to</a:t>
            </a:r>
            <a:br>
              <a:rPr lang="en"/>
            </a:br>
            <a:r>
              <a:rPr lang="en"/>
              <a:t>Warner Robins</a:t>
            </a:r>
            <a:endParaRPr/>
          </a:p>
        </p:txBody>
      </p:sp>
      <p:sp>
        <p:nvSpPr>
          <p:cNvPr id="1713" name="Google Shape;1713;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14" name="Google Shape;1714;p93"/>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715" name="Google Shape;1715;p93"/>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716" name="Google Shape;1716;p93"/>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717" name="Google Shape;1717;p93"/>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718" name="Google Shape;1718;p93"/>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719" name="Google Shape;1719;p93"/>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720" name="Google Shape;1720;p93"/>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721" name="Google Shape;1721;p93"/>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722" name="Google Shape;1722;p93"/>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723" name="Google Shape;1723;p93"/>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724" name="Google Shape;1724;p93"/>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725" name="Google Shape;1725;p93"/>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726" name="Google Shape;1726;p93"/>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727" name="Google Shape;1727;p93"/>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728" name="Google Shape;1728;p93"/>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729" name="Google Shape;1729;p93"/>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730" name="Google Shape;1730;p93"/>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731" name="Google Shape;1731;p93"/>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732" name="Google Shape;1732;p93"/>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733" name="Google Shape;1733;p93"/>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734" name="Google Shape;1734;p93"/>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735" name="Google Shape;1735;p93"/>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736" name="Google Shape;1736;p93"/>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737" name="Google Shape;1737;p93"/>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738" name="Google Shape;1738;p93"/>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739" name="Google Shape;1739;p93"/>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740" name="Google Shape;1740;p93"/>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741" name="Google Shape;1741;p93"/>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742" name="Google Shape;1742;p93"/>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93"/>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93"/>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93"/>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93"/>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93"/>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93"/>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93"/>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93"/>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93"/>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93"/>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93"/>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93"/>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93"/>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93"/>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93"/>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93"/>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93"/>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93"/>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93"/>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93"/>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93"/>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FF0000"/>
                </a:solidFill>
              </a:rPr>
              <a:t>Atlanta</a:t>
            </a:r>
            <a:endParaRPr b="1" sz="800">
              <a:solidFill>
                <a:srgbClr val="FF0000"/>
              </a:solidFill>
            </a:endParaRPr>
          </a:p>
        </p:txBody>
      </p:sp>
      <p:sp>
        <p:nvSpPr>
          <p:cNvPr id="1764" name="Google Shape;1764;p93"/>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765" name="Google Shape;1765;p93"/>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766" name="Google Shape;1766;p93"/>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767" name="Google Shape;1767;p93"/>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768" name="Google Shape;1768;p93"/>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769" name="Google Shape;1769;p93"/>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770" name="Google Shape;1770;p93"/>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771" name="Google Shape;1771;p93"/>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772" name="Google Shape;1772;p93"/>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773" name="Google Shape;1773;p93"/>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774" name="Google Shape;1774;p93"/>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Valdosta</a:t>
            </a:r>
            <a:endParaRPr sz="800">
              <a:solidFill>
                <a:schemeClr val="dk1"/>
              </a:solidFill>
            </a:endParaRPr>
          </a:p>
        </p:txBody>
      </p:sp>
      <p:sp>
        <p:nvSpPr>
          <p:cNvPr id="1775" name="Google Shape;1775;p93"/>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776" name="Google Shape;1776;p93"/>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777" name="Google Shape;1777;p93"/>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778" name="Google Shape;1778;p93"/>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779" name="Google Shape;1779;p93"/>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FF0000"/>
                </a:solidFill>
              </a:rPr>
              <a:t>Warner Robins</a:t>
            </a:r>
            <a:endParaRPr sz="800">
              <a:solidFill>
                <a:srgbClr val="FF0000"/>
              </a:solidFill>
            </a:endParaRPr>
          </a:p>
        </p:txBody>
      </p:sp>
      <p:sp>
        <p:nvSpPr>
          <p:cNvPr id="1780" name="Google Shape;1780;p93"/>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781" name="Google Shape;1781;p93"/>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782" name="Google Shape;1782;p93"/>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783" name="Google Shape;1783;p93"/>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Savannah</a:t>
            </a:r>
            <a:endParaRPr sz="800">
              <a:solidFill>
                <a:schemeClr val="dk1"/>
              </a:solidFill>
            </a:endParaRPr>
          </a:p>
        </p:txBody>
      </p:sp>
      <p:sp>
        <p:nvSpPr>
          <p:cNvPr id="1784" name="Google Shape;1784;p93"/>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785" name="Google Shape;1785;p93"/>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786" name="Google Shape;1786;p93"/>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787" name="Google Shape;1787;p93"/>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788" name="Google Shape;1788;p93"/>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4" name="Google Shape;1794;p94"/>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795" name="Google Shape;1795;p94"/>
          <p:cNvSpPr txBox="1"/>
          <p:nvPr/>
        </p:nvSpPr>
        <p:spPr>
          <a:xfrm>
            <a:off x="3376488" y="191910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Agusta</a:t>
            </a:r>
            <a:endParaRPr sz="1000"/>
          </a:p>
        </p:txBody>
      </p:sp>
      <p:sp>
        <p:nvSpPr>
          <p:cNvPr id="1796" name="Google Shape;1796;p94"/>
          <p:cNvSpPr txBox="1"/>
          <p:nvPr/>
        </p:nvSpPr>
        <p:spPr>
          <a:xfrm>
            <a:off x="6179413" y="1919088"/>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797" name="Google Shape;1797;p94"/>
          <p:cNvSpPr txBox="1"/>
          <p:nvPr/>
        </p:nvSpPr>
        <p:spPr>
          <a:xfrm>
            <a:off x="2706600" y="2782647"/>
            <a:ext cx="10968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Milledegeville</a:t>
            </a:r>
            <a:endParaRPr sz="1000"/>
          </a:p>
        </p:txBody>
      </p:sp>
      <p:sp>
        <p:nvSpPr>
          <p:cNvPr id="1798" name="Google Shape;1798;p94"/>
          <p:cNvSpPr txBox="1"/>
          <p:nvPr/>
        </p:nvSpPr>
        <p:spPr>
          <a:xfrm>
            <a:off x="6151086" y="2750297"/>
            <a:ext cx="12174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Warner Robins</a:t>
            </a:r>
            <a:endParaRPr b="1" sz="1000">
              <a:solidFill>
                <a:srgbClr val="FF0000"/>
              </a:solidFill>
            </a:endParaRPr>
          </a:p>
        </p:txBody>
      </p:sp>
      <p:cxnSp>
        <p:nvCxnSpPr>
          <p:cNvPr id="1799" name="Google Shape;1799;p94"/>
          <p:cNvCxnSpPr>
            <a:stCxn id="1794" idx="2"/>
            <a:endCxn id="1795" idx="0"/>
          </p:cNvCxnSpPr>
          <p:nvPr/>
        </p:nvCxnSpPr>
        <p:spPr>
          <a:xfrm flipH="1">
            <a:off x="3845150" y="1432625"/>
            <a:ext cx="654300" cy="486600"/>
          </a:xfrm>
          <a:prstGeom prst="straightConnector1">
            <a:avLst/>
          </a:prstGeom>
          <a:noFill/>
          <a:ln cap="flat" cmpd="sng" w="9525">
            <a:solidFill>
              <a:schemeClr val="dk2"/>
            </a:solidFill>
            <a:prstDash val="solid"/>
            <a:round/>
            <a:headEnd len="med" w="med" type="none"/>
            <a:tailEnd len="med" w="med" type="triangle"/>
          </a:ln>
        </p:spPr>
      </p:cxnSp>
      <p:cxnSp>
        <p:nvCxnSpPr>
          <p:cNvPr id="1800" name="Google Shape;1800;p94"/>
          <p:cNvCxnSpPr>
            <a:stCxn id="1794" idx="2"/>
            <a:endCxn id="1796" idx="0"/>
          </p:cNvCxnSpPr>
          <p:nvPr/>
        </p:nvCxnSpPr>
        <p:spPr>
          <a:xfrm>
            <a:off x="4499450" y="1432625"/>
            <a:ext cx="2148600" cy="486600"/>
          </a:xfrm>
          <a:prstGeom prst="straightConnector1">
            <a:avLst/>
          </a:prstGeom>
          <a:noFill/>
          <a:ln cap="flat" cmpd="sng" w="28575">
            <a:solidFill>
              <a:srgbClr val="FF0000"/>
            </a:solidFill>
            <a:prstDash val="solid"/>
            <a:round/>
            <a:headEnd len="med" w="med" type="triangle"/>
            <a:tailEnd len="med" w="med" type="none"/>
          </a:ln>
        </p:spPr>
      </p:cxnSp>
      <p:cxnSp>
        <p:nvCxnSpPr>
          <p:cNvPr id="1801" name="Google Shape;1801;p94"/>
          <p:cNvCxnSpPr>
            <a:stCxn id="1795" idx="2"/>
            <a:endCxn id="1797" idx="0"/>
          </p:cNvCxnSpPr>
          <p:nvPr/>
        </p:nvCxnSpPr>
        <p:spPr>
          <a:xfrm flipH="1">
            <a:off x="3255138" y="2257800"/>
            <a:ext cx="590100" cy="524700"/>
          </a:xfrm>
          <a:prstGeom prst="straightConnector1">
            <a:avLst/>
          </a:prstGeom>
          <a:noFill/>
          <a:ln cap="flat" cmpd="sng" w="9525">
            <a:solidFill>
              <a:schemeClr val="dk2"/>
            </a:solidFill>
            <a:prstDash val="solid"/>
            <a:round/>
            <a:headEnd len="med" w="med" type="none"/>
            <a:tailEnd len="med" w="med" type="triangle"/>
          </a:ln>
        </p:spPr>
      </p:cxnSp>
      <p:cxnSp>
        <p:nvCxnSpPr>
          <p:cNvPr id="1802" name="Google Shape;1802;p94"/>
          <p:cNvCxnSpPr>
            <a:stCxn id="1796" idx="2"/>
            <a:endCxn id="1798" idx="0"/>
          </p:cNvCxnSpPr>
          <p:nvPr/>
        </p:nvCxnSpPr>
        <p:spPr>
          <a:xfrm>
            <a:off x="6648163" y="2257788"/>
            <a:ext cx="111600" cy="492600"/>
          </a:xfrm>
          <a:prstGeom prst="straightConnector1">
            <a:avLst/>
          </a:prstGeom>
          <a:noFill/>
          <a:ln cap="flat" cmpd="sng" w="28575">
            <a:solidFill>
              <a:srgbClr val="FF0000"/>
            </a:solidFill>
            <a:prstDash val="solid"/>
            <a:round/>
            <a:headEnd len="med" w="med" type="triangle"/>
            <a:tailEnd len="med" w="med" type="none"/>
          </a:ln>
        </p:spPr>
      </p:cxnSp>
      <p:sp>
        <p:nvSpPr>
          <p:cNvPr id="1803" name="Google Shape;1803;p94"/>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Atlanta to Warner Robins</a:t>
            </a:r>
            <a:br>
              <a:rPr lang="en"/>
            </a:br>
            <a:r>
              <a:rPr lang="en">
                <a:solidFill>
                  <a:srgbClr val="FF0000"/>
                </a:solidFill>
              </a:rPr>
              <a:t>Recovering the Solution Path</a:t>
            </a:r>
            <a:endParaRPr>
              <a:solidFill>
                <a:srgbClr val="FF0000"/>
              </a:solidFill>
            </a:endParaRPr>
          </a:p>
        </p:txBody>
      </p:sp>
      <p:pic>
        <p:nvPicPr>
          <p:cNvPr id="1804" name="Google Shape;1804;p94"/>
          <p:cNvPicPr preferRelativeResize="0"/>
          <p:nvPr/>
        </p:nvPicPr>
        <p:blipFill>
          <a:blip r:embed="rId3">
            <a:alphaModFix/>
          </a:blip>
          <a:stretch>
            <a:fillRect/>
          </a:stretch>
        </p:blipFill>
        <p:spPr>
          <a:xfrm>
            <a:off x="7287000" y="99700"/>
            <a:ext cx="1857000" cy="1619158"/>
          </a:xfrm>
          <a:prstGeom prst="rect">
            <a:avLst/>
          </a:prstGeom>
          <a:noFill/>
          <a:ln>
            <a:noFill/>
          </a:ln>
        </p:spPr>
      </p:pic>
      <p:sp>
        <p:nvSpPr>
          <p:cNvPr id="1805" name="Google Shape;1805;p94"/>
          <p:cNvSpPr txBox="1"/>
          <p:nvPr/>
        </p:nvSpPr>
        <p:spPr>
          <a:xfrm>
            <a:off x="2292206" y="190285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806" name="Google Shape;1806;p94"/>
          <p:cNvSpPr txBox="1"/>
          <p:nvPr/>
        </p:nvSpPr>
        <p:spPr>
          <a:xfrm>
            <a:off x="4885175" y="199740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sp>
        <p:nvSpPr>
          <p:cNvPr id="1807" name="Google Shape;1807;p94"/>
          <p:cNvSpPr txBox="1"/>
          <p:nvPr/>
        </p:nvSpPr>
        <p:spPr>
          <a:xfrm>
            <a:off x="1277725" y="1919088"/>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808" name="Google Shape;1808;p94"/>
          <p:cNvSpPr txBox="1"/>
          <p:nvPr/>
        </p:nvSpPr>
        <p:spPr>
          <a:xfrm>
            <a:off x="263248" y="1919103"/>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809" name="Google Shape;1809;p94"/>
          <p:cNvSpPr txBox="1"/>
          <p:nvPr/>
        </p:nvSpPr>
        <p:spPr>
          <a:xfrm>
            <a:off x="4968194" y="275775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Legrange</a:t>
            </a:r>
            <a:endParaRPr sz="1000"/>
          </a:p>
        </p:txBody>
      </p:sp>
      <p:cxnSp>
        <p:nvCxnSpPr>
          <p:cNvPr id="1810" name="Google Shape;1810;p94"/>
          <p:cNvCxnSpPr>
            <a:stCxn id="1806" idx="2"/>
            <a:endCxn id="1809" idx="0"/>
          </p:cNvCxnSpPr>
          <p:nvPr/>
        </p:nvCxnSpPr>
        <p:spPr>
          <a:xfrm>
            <a:off x="5353925" y="2336100"/>
            <a:ext cx="83100" cy="421800"/>
          </a:xfrm>
          <a:prstGeom prst="straightConnector1">
            <a:avLst/>
          </a:prstGeom>
          <a:noFill/>
          <a:ln cap="flat" cmpd="sng" w="9525">
            <a:solidFill>
              <a:schemeClr val="dk2"/>
            </a:solidFill>
            <a:prstDash val="solid"/>
            <a:round/>
            <a:headEnd len="med" w="med" type="none"/>
            <a:tailEnd len="med" w="med" type="triangle"/>
          </a:ln>
        </p:spPr>
      </p:cxnSp>
      <p:cxnSp>
        <p:nvCxnSpPr>
          <p:cNvPr id="1811" name="Google Shape;1811;p94"/>
          <p:cNvCxnSpPr>
            <a:stCxn id="1794" idx="2"/>
            <a:endCxn id="1807" idx="0"/>
          </p:cNvCxnSpPr>
          <p:nvPr/>
        </p:nvCxnSpPr>
        <p:spPr>
          <a:xfrm flipH="1">
            <a:off x="1746350" y="1432625"/>
            <a:ext cx="2753100" cy="486600"/>
          </a:xfrm>
          <a:prstGeom prst="straightConnector1">
            <a:avLst/>
          </a:prstGeom>
          <a:noFill/>
          <a:ln cap="flat" cmpd="sng" w="9525">
            <a:solidFill>
              <a:schemeClr val="dk2"/>
            </a:solidFill>
            <a:prstDash val="solid"/>
            <a:round/>
            <a:headEnd len="med" w="med" type="none"/>
            <a:tailEnd len="med" w="med" type="triangle"/>
          </a:ln>
        </p:spPr>
      </p:cxnSp>
      <p:cxnSp>
        <p:nvCxnSpPr>
          <p:cNvPr id="1812" name="Google Shape;1812;p94"/>
          <p:cNvCxnSpPr>
            <a:stCxn id="1794" idx="2"/>
            <a:endCxn id="1806" idx="0"/>
          </p:cNvCxnSpPr>
          <p:nvPr/>
        </p:nvCxnSpPr>
        <p:spPr>
          <a:xfrm>
            <a:off x="4499450" y="1432625"/>
            <a:ext cx="854400" cy="564900"/>
          </a:xfrm>
          <a:prstGeom prst="straightConnector1">
            <a:avLst/>
          </a:prstGeom>
          <a:noFill/>
          <a:ln cap="flat" cmpd="sng" w="9525">
            <a:solidFill>
              <a:schemeClr val="dk2"/>
            </a:solidFill>
            <a:prstDash val="solid"/>
            <a:round/>
            <a:headEnd len="med" w="med" type="none"/>
            <a:tailEnd len="med" w="med" type="triangle"/>
          </a:ln>
        </p:spPr>
      </p:cxnSp>
      <p:cxnSp>
        <p:nvCxnSpPr>
          <p:cNvPr id="1813" name="Google Shape;1813;p94"/>
          <p:cNvCxnSpPr>
            <a:stCxn id="1794" idx="2"/>
            <a:endCxn id="1805" idx="0"/>
          </p:cNvCxnSpPr>
          <p:nvPr/>
        </p:nvCxnSpPr>
        <p:spPr>
          <a:xfrm flipH="1">
            <a:off x="2760950" y="1432625"/>
            <a:ext cx="1738500" cy="470100"/>
          </a:xfrm>
          <a:prstGeom prst="straightConnector1">
            <a:avLst/>
          </a:prstGeom>
          <a:noFill/>
          <a:ln cap="flat" cmpd="sng" w="9525">
            <a:solidFill>
              <a:schemeClr val="dk2"/>
            </a:solidFill>
            <a:prstDash val="solid"/>
            <a:round/>
            <a:headEnd len="med" w="med" type="none"/>
            <a:tailEnd len="med" w="med" type="triangle"/>
          </a:ln>
        </p:spPr>
      </p:cxnSp>
      <p:cxnSp>
        <p:nvCxnSpPr>
          <p:cNvPr id="1814" name="Google Shape;1814;p94"/>
          <p:cNvCxnSpPr>
            <a:stCxn id="1795" idx="2"/>
            <a:endCxn id="1815" idx="0"/>
          </p:cNvCxnSpPr>
          <p:nvPr/>
        </p:nvCxnSpPr>
        <p:spPr>
          <a:xfrm>
            <a:off x="3845238" y="2257800"/>
            <a:ext cx="525900" cy="507600"/>
          </a:xfrm>
          <a:prstGeom prst="straightConnector1">
            <a:avLst/>
          </a:prstGeom>
          <a:noFill/>
          <a:ln cap="flat" cmpd="sng" w="9525">
            <a:solidFill>
              <a:schemeClr val="dk2"/>
            </a:solidFill>
            <a:prstDash val="solid"/>
            <a:round/>
            <a:headEnd len="med" w="med" type="none"/>
            <a:tailEnd len="med" w="med" type="triangle"/>
          </a:ln>
        </p:spPr>
      </p:cxnSp>
      <p:sp>
        <p:nvSpPr>
          <p:cNvPr id="1815" name="Google Shape;1815;p94"/>
          <p:cNvSpPr txBox="1"/>
          <p:nvPr/>
        </p:nvSpPr>
        <p:spPr>
          <a:xfrm>
            <a:off x="3902289" y="2765486"/>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cxnSp>
        <p:nvCxnSpPr>
          <p:cNvPr id="1816" name="Google Shape;1816;p94"/>
          <p:cNvCxnSpPr>
            <a:stCxn id="1794" idx="2"/>
            <a:endCxn id="1808" idx="0"/>
          </p:cNvCxnSpPr>
          <p:nvPr/>
        </p:nvCxnSpPr>
        <p:spPr>
          <a:xfrm flipH="1">
            <a:off x="732050" y="1432625"/>
            <a:ext cx="3767400" cy="486600"/>
          </a:xfrm>
          <a:prstGeom prst="straightConnector1">
            <a:avLst/>
          </a:prstGeom>
          <a:noFill/>
          <a:ln cap="flat" cmpd="sng" w="9525">
            <a:solidFill>
              <a:schemeClr val="dk2"/>
            </a:solidFill>
            <a:prstDash val="solid"/>
            <a:round/>
            <a:headEnd len="med" w="med" type="none"/>
            <a:tailEnd len="med" w="med" type="triangle"/>
          </a:ln>
        </p:spPr>
      </p:cxnSp>
      <p:sp>
        <p:nvSpPr>
          <p:cNvPr id="1817" name="Google Shape;1817;p94"/>
          <p:cNvSpPr txBox="1"/>
          <p:nvPr/>
        </p:nvSpPr>
        <p:spPr>
          <a:xfrm>
            <a:off x="2695075" y="3780475"/>
            <a:ext cx="42933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Route/Path</a:t>
            </a:r>
            <a:endParaRPr b="1" sz="2000">
              <a:solidFill>
                <a:srgbClr val="FF0000"/>
              </a:solidFill>
            </a:endParaRPr>
          </a:p>
          <a:p>
            <a:pPr indent="-317500" lvl="0" marL="457200" rtl="0" algn="l">
              <a:spcBef>
                <a:spcPts val="0"/>
              </a:spcBef>
              <a:spcAft>
                <a:spcPts val="0"/>
              </a:spcAft>
              <a:buSzPts val="1400"/>
              <a:buChar char="●"/>
            </a:pPr>
            <a:r>
              <a:rPr lang="en"/>
              <a:t>Atlanta</a:t>
            </a:r>
            <a:endParaRPr/>
          </a:p>
          <a:p>
            <a:pPr indent="-317500" lvl="0" marL="457200" rtl="0" algn="l">
              <a:spcBef>
                <a:spcPts val="0"/>
              </a:spcBef>
              <a:spcAft>
                <a:spcPts val="0"/>
              </a:spcAft>
              <a:buSzPts val="1400"/>
              <a:buChar char="●"/>
            </a:pPr>
            <a:r>
              <a:rPr lang="en"/>
              <a:t>Macon</a:t>
            </a:r>
            <a:endParaRPr/>
          </a:p>
          <a:p>
            <a:pPr indent="-317500" lvl="0" marL="457200" rtl="0" algn="l">
              <a:spcBef>
                <a:spcPts val="0"/>
              </a:spcBef>
              <a:spcAft>
                <a:spcPts val="0"/>
              </a:spcAft>
              <a:buSzPts val="1400"/>
              <a:buChar char="●"/>
            </a:pPr>
            <a:r>
              <a:rPr lang="en"/>
              <a:t>Warner Robins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95"/>
          <p:cNvSpPr txBox="1"/>
          <p:nvPr>
            <p:ph type="title"/>
          </p:nvPr>
        </p:nvSpPr>
        <p:spPr>
          <a:xfrm>
            <a:off x="311700" y="1073775"/>
            <a:ext cx="8520600" cy="292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t>TPS - summarize what you learned today</a:t>
            </a:r>
            <a:endParaRPr sz="2640"/>
          </a:p>
        </p:txBody>
      </p:sp>
      <p:sp>
        <p:nvSpPr>
          <p:cNvPr id="1823" name="Google Shape;1823;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24" name="Google Shape;1824;p95"/>
          <p:cNvSpPr txBox="1"/>
          <p:nvPr>
            <p:ph type="title"/>
          </p:nvPr>
        </p:nvSpPr>
        <p:spPr>
          <a:xfrm>
            <a:off x="148125" y="2521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rgbClr val="FF0000"/>
                </a:solidFill>
              </a:rPr>
              <a:t>Recap</a:t>
            </a:r>
            <a:endParaRPr>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96"/>
          <p:cNvSpPr txBox="1"/>
          <p:nvPr>
            <p:ph type="title"/>
          </p:nvPr>
        </p:nvSpPr>
        <p:spPr>
          <a:xfrm>
            <a:off x="311700" y="1073775"/>
            <a:ext cx="8520600" cy="292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t>So far we’ve talked about </a:t>
            </a:r>
            <a:r>
              <a:rPr lang="en" sz="2640">
                <a:solidFill>
                  <a:srgbClr val="0000FF"/>
                </a:solidFill>
              </a:rPr>
              <a:t>maps</a:t>
            </a:r>
            <a:r>
              <a:rPr lang="en" sz="2640"/>
              <a:t> and their </a:t>
            </a:r>
            <a:r>
              <a:rPr lang="en" sz="2640">
                <a:solidFill>
                  <a:srgbClr val="0000FF"/>
                </a:solidFill>
              </a:rPr>
              <a:t>representations</a:t>
            </a:r>
            <a:r>
              <a:rPr lang="en" sz="2640"/>
              <a:t>, and</a:t>
            </a:r>
            <a:r>
              <a:rPr lang="en" sz="2640">
                <a:solidFill>
                  <a:schemeClr val="dk1"/>
                </a:solidFill>
              </a:rPr>
              <a:t> </a:t>
            </a:r>
            <a:r>
              <a:rPr lang="en" sz="2640">
                <a:solidFill>
                  <a:srgbClr val="0000FF"/>
                </a:solidFill>
              </a:rPr>
              <a:t>an algorithm </a:t>
            </a:r>
            <a:endParaRPr sz="2640">
              <a:solidFill>
                <a:srgbClr val="0000FF"/>
              </a:solidFill>
            </a:endParaRPr>
          </a:p>
          <a:p>
            <a:pPr indent="0" lvl="0" marL="0" rtl="0" algn="ctr">
              <a:spcBef>
                <a:spcPts val="0"/>
              </a:spcBef>
              <a:spcAft>
                <a:spcPts val="0"/>
              </a:spcAft>
              <a:buSzPts val="990"/>
              <a:buNone/>
            </a:pPr>
            <a:r>
              <a:rPr lang="en" sz="2640"/>
              <a:t>that a self-driving car might use to navigate from one location to another.</a:t>
            </a:r>
            <a:endParaRPr sz="2640"/>
          </a:p>
          <a:p>
            <a:pPr indent="0" lvl="0" marL="0" rtl="0" algn="ctr">
              <a:spcBef>
                <a:spcPts val="0"/>
              </a:spcBef>
              <a:spcAft>
                <a:spcPts val="0"/>
              </a:spcAft>
              <a:buSzPts val="990"/>
              <a:buNone/>
            </a:pPr>
            <a:r>
              <a:t/>
            </a:r>
            <a:endParaRPr sz="2640"/>
          </a:p>
          <a:p>
            <a:pPr indent="0" lvl="0" marL="0" rtl="0" algn="ctr">
              <a:spcBef>
                <a:spcPts val="0"/>
              </a:spcBef>
              <a:spcAft>
                <a:spcPts val="0"/>
              </a:spcAft>
              <a:buSzPts val="990"/>
              <a:buNone/>
            </a:pPr>
            <a:r>
              <a:rPr lang="en" sz="2640"/>
              <a:t>We used labels, nodes, and links to create a graph of the state. Then used the breadth first search method to find a route from a starting location to a destination.</a:t>
            </a:r>
            <a:endParaRPr sz="2640"/>
          </a:p>
        </p:txBody>
      </p:sp>
      <p:sp>
        <p:nvSpPr>
          <p:cNvPr id="1830" name="Google Shape;1830;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31" name="Google Shape;1831;p96"/>
          <p:cNvSpPr txBox="1"/>
          <p:nvPr>
            <p:ph type="title"/>
          </p:nvPr>
        </p:nvSpPr>
        <p:spPr>
          <a:xfrm>
            <a:off x="148125" y="2521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rgbClr val="FF0000"/>
                </a:solidFill>
              </a:rPr>
              <a:t>Recap</a:t>
            </a:r>
            <a:endParaRPr>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97"/>
          <p:cNvSpPr txBox="1"/>
          <p:nvPr>
            <p:ph type="title"/>
          </p:nvPr>
        </p:nvSpPr>
        <p:spPr>
          <a:xfrm>
            <a:off x="311700" y="1484725"/>
            <a:ext cx="8520600" cy="22272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Other than a map for driving around a state, can you think of </a:t>
            </a:r>
            <a:r>
              <a:rPr b="1" lang="en"/>
              <a:t> other kinds of maps</a:t>
            </a:r>
            <a:r>
              <a:rPr lang="en"/>
              <a:t> a self-driving car or autonomous robot might </a:t>
            </a:r>
            <a:r>
              <a:rPr b="1" lang="en"/>
              <a:t>create for themselves?</a:t>
            </a:r>
            <a:endParaRPr b="1"/>
          </a:p>
        </p:txBody>
      </p:sp>
      <p:sp>
        <p:nvSpPr>
          <p:cNvPr id="1837" name="Google Shape;1837;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Applications for Route Finding</a:t>
            </a:r>
            <a:endParaRPr/>
          </a:p>
        </p:txBody>
      </p:sp>
      <p:sp>
        <p:nvSpPr>
          <p:cNvPr id="1843" name="Google Shape;1843;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44" name="Google Shape;1844;p98"/>
          <p:cNvSpPr txBox="1"/>
          <p:nvPr>
            <p:ph idx="1" type="body"/>
          </p:nvPr>
        </p:nvSpPr>
        <p:spPr>
          <a:xfrm>
            <a:off x="311700" y="1152475"/>
            <a:ext cx="3822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Autonomous robots might be given a map of a hotel, hospital, or warehouse.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Robot vacuum </a:t>
            </a:r>
            <a:r>
              <a:rPr lang="en"/>
              <a:t>cleaners</a:t>
            </a:r>
            <a:r>
              <a:rPr lang="en"/>
              <a:t> create a map of the home and you can use an app to see the map and adjust it.  </a:t>
            </a:r>
            <a:endParaRPr/>
          </a:p>
        </p:txBody>
      </p:sp>
      <p:pic>
        <p:nvPicPr>
          <p:cNvPr id="1845" name="Google Shape;1845;p98"/>
          <p:cNvPicPr preferRelativeResize="0"/>
          <p:nvPr/>
        </p:nvPicPr>
        <p:blipFill>
          <a:blip r:embed="rId3">
            <a:alphaModFix/>
          </a:blip>
          <a:stretch>
            <a:fillRect/>
          </a:stretch>
        </p:blipFill>
        <p:spPr>
          <a:xfrm>
            <a:off x="4492450" y="2901450"/>
            <a:ext cx="3038426" cy="2025625"/>
          </a:xfrm>
          <a:prstGeom prst="rect">
            <a:avLst/>
          </a:prstGeom>
          <a:noFill/>
          <a:ln>
            <a:noFill/>
          </a:ln>
        </p:spPr>
      </p:pic>
      <p:pic>
        <p:nvPicPr>
          <p:cNvPr id="1846" name="Google Shape;1846;p98"/>
          <p:cNvPicPr preferRelativeResize="0"/>
          <p:nvPr/>
        </p:nvPicPr>
        <p:blipFill>
          <a:blip r:embed="rId4">
            <a:alphaModFix/>
          </a:blip>
          <a:stretch>
            <a:fillRect/>
          </a:stretch>
        </p:blipFill>
        <p:spPr>
          <a:xfrm>
            <a:off x="4686425" y="1051837"/>
            <a:ext cx="2568581" cy="171238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0" name="Shape 1850"/>
        <p:cNvGrpSpPr/>
        <p:nvPr/>
      </p:nvGrpSpPr>
      <p:grpSpPr>
        <a:xfrm>
          <a:off x="0" y="0"/>
          <a:ext cx="0" cy="0"/>
          <a:chOff x="0" y="0"/>
          <a:chExt cx="0" cy="0"/>
        </a:xfrm>
      </p:grpSpPr>
      <p:sp>
        <p:nvSpPr>
          <p:cNvPr id="1851" name="Google Shape;1851;p99"/>
          <p:cNvSpPr txBox="1"/>
          <p:nvPr>
            <p:ph type="title"/>
          </p:nvPr>
        </p:nvSpPr>
        <p:spPr>
          <a:xfrm>
            <a:off x="155125" y="107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2466"/>
              <a:t>Assessment: </a:t>
            </a:r>
            <a:endParaRPr b="1" sz="2466"/>
          </a:p>
          <a:p>
            <a:pPr indent="0" lvl="0" marL="0" rtl="0" algn="ctr">
              <a:spcBef>
                <a:spcPts val="0"/>
              </a:spcBef>
              <a:spcAft>
                <a:spcPts val="0"/>
              </a:spcAft>
              <a:buNone/>
            </a:pPr>
            <a:r>
              <a:rPr lang="en" sz="2466"/>
              <a:t>Help Bloopaloop Junior Travel from Hinesville to Atlanta</a:t>
            </a:r>
            <a:endParaRPr sz="2466"/>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rPr lang="en"/>
              <a:t> </a:t>
            </a:r>
            <a:endParaRPr/>
          </a:p>
        </p:txBody>
      </p:sp>
      <p:sp>
        <p:nvSpPr>
          <p:cNvPr id="1852" name="Google Shape;1852;p99"/>
          <p:cNvSpPr txBox="1"/>
          <p:nvPr>
            <p:ph idx="1" type="body"/>
          </p:nvPr>
        </p:nvSpPr>
        <p:spPr>
          <a:xfrm>
            <a:off x="167975" y="1057225"/>
            <a:ext cx="2036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rgbClr val="FF9900"/>
                </a:solidFill>
                <a:highlight>
                  <a:srgbClr val="A1FDDD"/>
                </a:highlight>
              </a:rPr>
              <a:t>Let’s locate on the map </a:t>
            </a:r>
            <a:endParaRPr b="1">
              <a:solidFill>
                <a:srgbClr val="FF9900"/>
              </a:solidFill>
              <a:highlight>
                <a:srgbClr val="A1FDDD"/>
              </a:highlight>
            </a:endParaRPr>
          </a:p>
          <a:p>
            <a:pPr indent="-342900" lvl="0" marL="457200" rtl="0" algn="l">
              <a:spcBef>
                <a:spcPts val="1200"/>
              </a:spcBef>
              <a:spcAft>
                <a:spcPts val="0"/>
              </a:spcAft>
              <a:buClr>
                <a:schemeClr val="dk1"/>
              </a:buClr>
              <a:buSzPts val="1800"/>
              <a:buChar char="●"/>
            </a:pPr>
            <a:r>
              <a:rPr lang="en">
                <a:solidFill>
                  <a:schemeClr val="dk1"/>
                </a:solidFill>
              </a:rPr>
              <a:t>Hinesville to Atlanta</a:t>
            </a:r>
            <a:endParaRPr>
              <a:solidFill>
                <a:schemeClr val="dk1"/>
              </a:solidFill>
            </a:endParaRPr>
          </a:p>
        </p:txBody>
      </p:sp>
      <p:sp>
        <p:nvSpPr>
          <p:cNvPr id="1853" name="Google Shape;1853;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54" name="Google Shape;1854;p99"/>
          <p:cNvSpPr/>
          <p:nvPr/>
        </p:nvSpPr>
        <p:spPr>
          <a:xfrm>
            <a:off x="3425347" y="3065690"/>
            <a:ext cx="223264" cy="1682061"/>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855" name="Google Shape;1855;p99"/>
          <p:cNvSpPr/>
          <p:nvPr/>
        </p:nvSpPr>
        <p:spPr>
          <a:xfrm>
            <a:off x="4010053" y="1633898"/>
            <a:ext cx="818616" cy="220244"/>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856" name="Google Shape;1856;p99"/>
          <p:cNvSpPr/>
          <p:nvPr/>
        </p:nvSpPr>
        <p:spPr>
          <a:xfrm>
            <a:off x="3244627" y="1393584"/>
            <a:ext cx="765419" cy="4605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857" name="Google Shape;1857;p99"/>
          <p:cNvSpPr/>
          <p:nvPr/>
        </p:nvSpPr>
        <p:spPr>
          <a:xfrm>
            <a:off x="4828678" y="1063182"/>
            <a:ext cx="53139" cy="590707"/>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858" name="Google Shape;1858;p99"/>
          <p:cNvSpPr/>
          <p:nvPr/>
        </p:nvSpPr>
        <p:spPr>
          <a:xfrm>
            <a:off x="4031327" y="1073185"/>
            <a:ext cx="861103" cy="790971"/>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859" name="Google Shape;1859;p99"/>
          <p:cNvSpPr/>
          <p:nvPr/>
        </p:nvSpPr>
        <p:spPr>
          <a:xfrm>
            <a:off x="3669857" y="1854148"/>
            <a:ext cx="372088" cy="380466"/>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860" name="Google Shape;1860;p99"/>
          <p:cNvSpPr/>
          <p:nvPr/>
        </p:nvSpPr>
        <p:spPr>
          <a:xfrm>
            <a:off x="3425347" y="2234625"/>
            <a:ext cx="244508" cy="34042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861" name="Google Shape;1861;p99"/>
          <p:cNvSpPr/>
          <p:nvPr/>
        </p:nvSpPr>
        <p:spPr>
          <a:xfrm>
            <a:off x="3425347" y="2595095"/>
            <a:ext cx="10622" cy="48058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862" name="Google Shape;1862;p99"/>
          <p:cNvSpPr/>
          <p:nvPr/>
        </p:nvSpPr>
        <p:spPr>
          <a:xfrm>
            <a:off x="4063222" y="1844144"/>
            <a:ext cx="1988017" cy="310386"/>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863" name="Google Shape;1863;p99"/>
          <p:cNvSpPr/>
          <p:nvPr/>
        </p:nvSpPr>
        <p:spPr>
          <a:xfrm>
            <a:off x="4605411" y="2514981"/>
            <a:ext cx="276403" cy="260313"/>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864" name="Google Shape;1864;p99"/>
          <p:cNvSpPr/>
          <p:nvPr/>
        </p:nvSpPr>
        <p:spPr>
          <a:xfrm>
            <a:off x="4594790" y="2765298"/>
            <a:ext cx="21244" cy="370463"/>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865" name="Google Shape;1865;p99"/>
          <p:cNvSpPr/>
          <p:nvPr/>
        </p:nvSpPr>
        <p:spPr>
          <a:xfrm>
            <a:off x="3435968" y="3075694"/>
            <a:ext cx="1211947" cy="60077"/>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866" name="Google Shape;1866;p99"/>
          <p:cNvSpPr/>
          <p:nvPr/>
        </p:nvSpPr>
        <p:spPr>
          <a:xfrm>
            <a:off x="4020705" y="1864179"/>
            <a:ext cx="574079" cy="921128"/>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867" name="Google Shape;1867;p99"/>
          <p:cNvSpPr/>
          <p:nvPr/>
        </p:nvSpPr>
        <p:spPr>
          <a:xfrm>
            <a:off x="4903090" y="2164543"/>
            <a:ext cx="1137536" cy="34042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868" name="Google Shape;1868;p99"/>
          <p:cNvSpPr/>
          <p:nvPr/>
        </p:nvSpPr>
        <p:spPr>
          <a:xfrm>
            <a:off x="3648613" y="4717760"/>
            <a:ext cx="1233191" cy="20007"/>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869" name="Google Shape;1869;p99"/>
          <p:cNvSpPr/>
          <p:nvPr/>
        </p:nvSpPr>
        <p:spPr>
          <a:xfrm>
            <a:off x="4881817" y="4417368"/>
            <a:ext cx="829238" cy="300383"/>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870" name="Google Shape;1870;p99"/>
          <p:cNvSpPr/>
          <p:nvPr/>
        </p:nvSpPr>
        <p:spPr>
          <a:xfrm>
            <a:off x="5732308" y="4397361"/>
            <a:ext cx="765448" cy="20007"/>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871" name="Google Shape;1871;p99"/>
          <p:cNvSpPr/>
          <p:nvPr/>
        </p:nvSpPr>
        <p:spPr>
          <a:xfrm>
            <a:off x="6359561" y="3826645"/>
            <a:ext cx="148823" cy="580703"/>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872" name="Google Shape;1872;p99"/>
          <p:cNvSpPr/>
          <p:nvPr/>
        </p:nvSpPr>
        <p:spPr>
          <a:xfrm>
            <a:off x="6380834" y="3506218"/>
            <a:ext cx="414604" cy="310386"/>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873" name="Google Shape;1873;p99"/>
          <p:cNvSpPr/>
          <p:nvPr/>
        </p:nvSpPr>
        <p:spPr>
          <a:xfrm>
            <a:off x="6146946" y="3155779"/>
            <a:ext cx="659112" cy="360459"/>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874" name="Google Shape;1874;p99"/>
          <p:cNvSpPr/>
          <p:nvPr/>
        </p:nvSpPr>
        <p:spPr>
          <a:xfrm>
            <a:off x="4616033" y="2775302"/>
            <a:ext cx="1530896" cy="400501"/>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875" name="Google Shape;1875;p99"/>
          <p:cNvSpPr/>
          <p:nvPr/>
        </p:nvSpPr>
        <p:spPr>
          <a:xfrm>
            <a:off x="4584138" y="3125768"/>
            <a:ext cx="138201" cy="103125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876" name="Google Shape;1876;p99"/>
          <p:cNvSpPr/>
          <p:nvPr/>
        </p:nvSpPr>
        <p:spPr>
          <a:xfrm>
            <a:off x="4711719" y="4117005"/>
            <a:ext cx="159475" cy="62074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877" name="Google Shape;1877;p99"/>
          <p:cNvSpPr/>
          <p:nvPr/>
        </p:nvSpPr>
        <p:spPr>
          <a:xfrm>
            <a:off x="4137634" y="3986844"/>
            <a:ext cx="595352" cy="12012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878" name="Google Shape;1878;p99"/>
          <p:cNvSpPr/>
          <p:nvPr/>
        </p:nvSpPr>
        <p:spPr>
          <a:xfrm>
            <a:off x="4626685" y="3125768"/>
            <a:ext cx="605974" cy="450547"/>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879" name="Google Shape;1879;p99"/>
          <p:cNvSpPr/>
          <p:nvPr/>
        </p:nvSpPr>
        <p:spPr>
          <a:xfrm>
            <a:off x="5264560" y="3576328"/>
            <a:ext cx="1094990" cy="290352"/>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880" name="Google Shape;1880;p99"/>
          <p:cNvSpPr/>
          <p:nvPr/>
        </p:nvSpPr>
        <p:spPr>
          <a:xfrm>
            <a:off x="3425347" y="3055658"/>
            <a:ext cx="754797" cy="981204"/>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881" name="Google Shape;1881;p99"/>
          <p:cNvSpPr/>
          <p:nvPr/>
        </p:nvSpPr>
        <p:spPr>
          <a:xfrm>
            <a:off x="6051260" y="2164543"/>
            <a:ext cx="63790" cy="991208"/>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882" name="Google Shape;1882;p99"/>
          <p:cNvSpPr/>
          <p:nvPr/>
        </p:nvSpPr>
        <p:spPr>
          <a:xfrm>
            <a:off x="3135468" y="1271809"/>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99"/>
          <p:cNvSpPr/>
          <p:nvPr/>
        </p:nvSpPr>
        <p:spPr>
          <a:xfrm>
            <a:off x="3314466" y="2452177"/>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99"/>
          <p:cNvSpPr/>
          <p:nvPr/>
        </p:nvSpPr>
        <p:spPr>
          <a:xfrm>
            <a:off x="3314466" y="2960369"/>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99"/>
          <p:cNvSpPr/>
          <p:nvPr/>
        </p:nvSpPr>
        <p:spPr>
          <a:xfrm>
            <a:off x="5999833" y="304648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99"/>
          <p:cNvSpPr/>
          <p:nvPr/>
        </p:nvSpPr>
        <p:spPr>
          <a:xfrm>
            <a:off x="5063423" y="344997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99"/>
          <p:cNvSpPr/>
          <p:nvPr/>
        </p:nvSpPr>
        <p:spPr>
          <a:xfrm>
            <a:off x="6667892" y="3385280"/>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99"/>
          <p:cNvSpPr/>
          <p:nvPr/>
        </p:nvSpPr>
        <p:spPr>
          <a:xfrm>
            <a:off x="6379123" y="430860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99"/>
          <p:cNvSpPr/>
          <p:nvPr/>
        </p:nvSpPr>
        <p:spPr>
          <a:xfrm>
            <a:off x="5589797" y="430860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99"/>
          <p:cNvSpPr/>
          <p:nvPr/>
        </p:nvSpPr>
        <p:spPr>
          <a:xfrm>
            <a:off x="4754237" y="461488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99"/>
          <p:cNvSpPr/>
          <p:nvPr/>
        </p:nvSpPr>
        <p:spPr>
          <a:xfrm>
            <a:off x="3537172" y="461489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99"/>
          <p:cNvSpPr/>
          <p:nvPr/>
        </p:nvSpPr>
        <p:spPr>
          <a:xfrm>
            <a:off x="4754247" y="943026"/>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99"/>
          <p:cNvSpPr/>
          <p:nvPr/>
        </p:nvSpPr>
        <p:spPr>
          <a:xfrm>
            <a:off x="4701091" y="1535918"/>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99"/>
          <p:cNvSpPr/>
          <p:nvPr/>
        </p:nvSpPr>
        <p:spPr>
          <a:xfrm>
            <a:off x="5907658" y="2030100"/>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99"/>
          <p:cNvSpPr/>
          <p:nvPr/>
        </p:nvSpPr>
        <p:spPr>
          <a:xfrm>
            <a:off x="4754237" y="241191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99"/>
          <p:cNvSpPr/>
          <p:nvPr/>
        </p:nvSpPr>
        <p:spPr>
          <a:xfrm>
            <a:off x="4478391" y="265542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99"/>
          <p:cNvSpPr/>
          <p:nvPr/>
        </p:nvSpPr>
        <p:spPr>
          <a:xfrm>
            <a:off x="4478391" y="3006137"/>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99"/>
          <p:cNvSpPr/>
          <p:nvPr/>
        </p:nvSpPr>
        <p:spPr>
          <a:xfrm>
            <a:off x="6222539" y="3708653"/>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99"/>
          <p:cNvSpPr/>
          <p:nvPr/>
        </p:nvSpPr>
        <p:spPr>
          <a:xfrm>
            <a:off x="4018109" y="3877244"/>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99"/>
          <p:cNvSpPr/>
          <p:nvPr/>
        </p:nvSpPr>
        <p:spPr>
          <a:xfrm>
            <a:off x="4595645" y="4000624"/>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99"/>
          <p:cNvSpPr/>
          <p:nvPr/>
        </p:nvSpPr>
        <p:spPr>
          <a:xfrm>
            <a:off x="3891701" y="173995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99"/>
          <p:cNvSpPr/>
          <p:nvPr/>
        </p:nvSpPr>
        <p:spPr>
          <a:xfrm>
            <a:off x="3531973" y="211338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99"/>
          <p:cNvSpPr txBox="1"/>
          <p:nvPr/>
        </p:nvSpPr>
        <p:spPr>
          <a:xfrm>
            <a:off x="3720198" y="1477274"/>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Atlanta</a:t>
            </a:r>
            <a:endParaRPr b="1" sz="900"/>
          </a:p>
        </p:txBody>
      </p:sp>
      <p:sp>
        <p:nvSpPr>
          <p:cNvPr id="1904" name="Google Shape;1904;p99"/>
          <p:cNvSpPr txBox="1"/>
          <p:nvPr/>
        </p:nvSpPr>
        <p:spPr>
          <a:xfrm>
            <a:off x="4908283" y="881250"/>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Toccoa</a:t>
            </a:r>
            <a:endParaRPr sz="900"/>
          </a:p>
        </p:txBody>
      </p:sp>
      <p:sp>
        <p:nvSpPr>
          <p:cNvPr id="1905" name="Google Shape;1905;p99"/>
          <p:cNvSpPr txBox="1"/>
          <p:nvPr/>
        </p:nvSpPr>
        <p:spPr>
          <a:xfrm>
            <a:off x="2708656" y="1186747"/>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Rome</a:t>
            </a:r>
            <a:endParaRPr sz="900"/>
          </a:p>
        </p:txBody>
      </p:sp>
      <p:sp>
        <p:nvSpPr>
          <p:cNvPr id="1906" name="Google Shape;1906;p99"/>
          <p:cNvSpPr txBox="1"/>
          <p:nvPr/>
        </p:nvSpPr>
        <p:spPr>
          <a:xfrm>
            <a:off x="4845043" y="1447395"/>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Athens</a:t>
            </a:r>
            <a:endParaRPr sz="900"/>
          </a:p>
        </p:txBody>
      </p:sp>
      <p:sp>
        <p:nvSpPr>
          <p:cNvPr id="1907" name="Google Shape;1907;p99"/>
          <p:cNvSpPr txBox="1"/>
          <p:nvPr/>
        </p:nvSpPr>
        <p:spPr>
          <a:xfrm>
            <a:off x="2966685" y="2016867"/>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Newnan</a:t>
            </a:r>
            <a:endParaRPr sz="900"/>
          </a:p>
        </p:txBody>
      </p:sp>
      <p:sp>
        <p:nvSpPr>
          <p:cNvPr id="1908" name="Google Shape;1908;p99"/>
          <p:cNvSpPr txBox="1"/>
          <p:nvPr/>
        </p:nvSpPr>
        <p:spPr>
          <a:xfrm>
            <a:off x="6068502" y="192331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Augusta</a:t>
            </a:r>
            <a:endParaRPr sz="900"/>
          </a:p>
        </p:txBody>
      </p:sp>
      <p:sp>
        <p:nvSpPr>
          <p:cNvPr id="1909" name="Google Shape;1909;p99"/>
          <p:cNvSpPr txBox="1"/>
          <p:nvPr/>
        </p:nvSpPr>
        <p:spPr>
          <a:xfrm>
            <a:off x="2698000" y="241816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LaGrange</a:t>
            </a:r>
            <a:endParaRPr sz="900"/>
          </a:p>
        </p:txBody>
      </p:sp>
      <p:sp>
        <p:nvSpPr>
          <p:cNvPr id="1910" name="Google Shape;1910;p99"/>
          <p:cNvSpPr txBox="1"/>
          <p:nvPr/>
        </p:nvSpPr>
        <p:spPr>
          <a:xfrm>
            <a:off x="2676858" y="2883565"/>
            <a:ext cx="861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Columbus</a:t>
            </a:r>
            <a:endParaRPr sz="900"/>
          </a:p>
        </p:txBody>
      </p:sp>
      <p:sp>
        <p:nvSpPr>
          <p:cNvPr id="1911" name="Google Shape;1911;p99"/>
          <p:cNvSpPr txBox="1"/>
          <p:nvPr/>
        </p:nvSpPr>
        <p:spPr>
          <a:xfrm>
            <a:off x="3509083" y="3806053"/>
            <a:ext cx="829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Albany</a:t>
            </a:r>
            <a:endParaRPr sz="900"/>
          </a:p>
        </p:txBody>
      </p:sp>
      <p:sp>
        <p:nvSpPr>
          <p:cNvPr id="1912" name="Google Shape;1912;p99"/>
          <p:cNvSpPr txBox="1"/>
          <p:nvPr/>
        </p:nvSpPr>
        <p:spPr>
          <a:xfrm>
            <a:off x="2650154" y="4601160"/>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Bainbridge</a:t>
            </a:r>
            <a:endParaRPr sz="900"/>
          </a:p>
        </p:txBody>
      </p:sp>
      <p:sp>
        <p:nvSpPr>
          <p:cNvPr id="1913" name="Google Shape;1913;p99"/>
          <p:cNvSpPr txBox="1"/>
          <p:nvPr/>
        </p:nvSpPr>
        <p:spPr>
          <a:xfrm>
            <a:off x="4732129" y="3916314"/>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Tifton</a:t>
            </a:r>
            <a:endParaRPr sz="900"/>
          </a:p>
        </p:txBody>
      </p:sp>
      <p:sp>
        <p:nvSpPr>
          <p:cNvPr id="1914" name="Google Shape;1914;p99"/>
          <p:cNvSpPr txBox="1"/>
          <p:nvPr/>
        </p:nvSpPr>
        <p:spPr>
          <a:xfrm>
            <a:off x="4387633" y="4727748"/>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Valdosta</a:t>
            </a:r>
            <a:endParaRPr sz="900">
              <a:solidFill>
                <a:schemeClr val="dk1"/>
              </a:solidFill>
            </a:endParaRPr>
          </a:p>
        </p:txBody>
      </p:sp>
      <p:sp>
        <p:nvSpPr>
          <p:cNvPr id="1915" name="Google Shape;1915;p99"/>
          <p:cNvSpPr txBox="1"/>
          <p:nvPr/>
        </p:nvSpPr>
        <p:spPr>
          <a:xfrm>
            <a:off x="4010015" y="2597908"/>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Macon</a:t>
            </a:r>
            <a:endParaRPr sz="900"/>
          </a:p>
        </p:txBody>
      </p:sp>
      <p:sp>
        <p:nvSpPr>
          <p:cNvPr id="1916" name="Google Shape;1916;p99"/>
          <p:cNvSpPr txBox="1"/>
          <p:nvPr/>
        </p:nvSpPr>
        <p:spPr>
          <a:xfrm>
            <a:off x="4547363" y="2140170"/>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Milledgeville</a:t>
            </a:r>
            <a:endParaRPr sz="900"/>
          </a:p>
        </p:txBody>
      </p:sp>
      <p:sp>
        <p:nvSpPr>
          <p:cNvPr id="1917" name="Google Shape;1917;p99"/>
          <p:cNvSpPr txBox="1"/>
          <p:nvPr/>
        </p:nvSpPr>
        <p:spPr>
          <a:xfrm>
            <a:off x="6549811" y="4308605"/>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Brunswick</a:t>
            </a:r>
            <a:endParaRPr sz="900"/>
          </a:p>
        </p:txBody>
      </p:sp>
      <p:sp>
        <p:nvSpPr>
          <p:cNvPr id="1918" name="Google Shape;1918;p99"/>
          <p:cNvSpPr txBox="1"/>
          <p:nvPr/>
        </p:nvSpPr>
        <p:spPr>
          <a:xfrm>
            <a:off x="5402763" y="440547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Waycross</a:t>
            </a:r>
            <a:endParaRPr sz="900"/>
          </a:p>
        </p:txBody>
      </p:sp>
      <p:sp>
        <p:nvSpPr>
          <p:cNvPr id="1919" name="Google Shape;1919;p99"/>
          <p:cNvSpPr txBox="1"/>
          <p:nvPr/>
        </p:nvSpPr>
        <p:spPr>
          <a:xfrm>
            <a:off x="4005052" y="3158849"/>
            <a:ext cx="81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Warner Robins</a:t>
            </a:r>
            <a:endParaRPr sz="900"/>
          </a:p>
        </p:txBody>
      </p:sp>
      <p:sp>
        <p:nvSpPr>
          <p:cNvPr id="1920" name="Google Shape;1920;p99"/>
          <p:cNvSpPr txBox="1"/>
          <p:nvPr/>
        </p:nvSpPr>
        <p:spPr>
          <a:xfrm>
            <a:off x="5180085" y="332495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McRae</a:t>
            </a:r>
            <a:endParaRPr sz="900"/>
          </a:p>
        </p:txBody>
      </p:sp>
      <p:sp>
        <p:nvSpPr>
          <p:cNvPr id="1921" name="Google Shape;1921;p99"/>
          <p:cNvSpPr txBox="1"/>
          <p:nvPr/>
        </p:nvSpPr>
        <p:spPr>
          <a:xfrm>
            <a:off x="6333663" y="3731362"/>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Hinesville</a:t>
            </a:r>
            <a:endParaRPr sz="900"/>
          </a:p>
        </p:txBody>
      </p:sp>
      <p:sp>
        <p:nvSpPr>
          <p:cNvPr id="1922" name="Google Shape;1922;p99"/>
          <p:cNvSpPr txBox="1"/>
          <p:nvPr/>
        </p:nvSpPr>
        <p:spPr>
          <a:xfrm>
            <a:off x="6102454" y="2874979"/>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Statesboro</a:t>
            </a:r>
            <a:endParaRPr sz="900"/>
          </a:p>
        </p:txBody>
      </p:sp>
      <p:sp>
        <p:nvSpPr>
          <p:cNvPr id="1923" name="Google Shape;1923;p99"/>
          <p:cNvSpPr txBox="1"/>
          <p:nvPr/>
        </p:nvSpPr>
        <p:spPr>
          <a:xfrm>
            <a:off x="6816716" y="3319091"/>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Savannah</a:t>
            </a:r>
            <a:endParaRPr sz="9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sp>
        <p:nvSpPr>
          <p:cNvPr id="1928" name="Google Shape;1928;p100"/>
          <p:cNvSpPr txBox="1"/>
          <p:nvPr>
            <p:ph type="title"/>
          </p:nvPr>
        </p:nvSpPr>
        <p:spPr>
          <a:xfrm>
            <a:off x="311700" y="165675"/>
            <a:ext cx="8520600" cy="74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420">
                <a:latin typeface="Comic Sans MS"/>
                <a:ea typeface="Comic Sans MS"/>
                <a:cs typeface="Comic Sans MS"/>
                <a:sym typeface="Comic Sans MS"/>
              </a:rPr>
              <a:t>iDoggo and Route Finding</a:t>
            </a:r>
            <a:endParaRPr sz="3420">
              <a:latin typeface="Comic Sans MS"/>
              <a:ea typeface="Comic Sans MS"/>
              <a:cs typeface="Comic Sans MS"/>
              <a:sym typeface="Comic Sans MS"/>
            </a:endParaRPr>
          </a:p>
        </p:txBody>
      </p:sp>
      <p:sp>
        <p:nvSpPr>
          <p:cNvPr id="1929" name="Google Shape;1929;p100"/>
          <p:cNvSpPr txBox="1"/>
          <p:nvPr>
            <p:ph idx="1" type="body"/>
          </p:nvPr>
        </p:nvSpPr>
        <p:spPr>
          <a:xfrm>
            <a:off x="4366450" y="1215200"/>
            <a:ext cx="4313100" cy="39282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sz="2400">
                <a:solidFill>
                  <a:srgbClr val="000000"/>
                </a:solidFill>
                <a:latin typeface="Comic Sans MS"/>
                <a:ea typeface="Comic Sans MS"/>
                <a:cs typeface="Comic Sans MS"/>
                <a:sym typeface="Comic Sans MS"/>
              </a:rPr>
              <a:t>Apple has come back to you for more of your expertise!</a:t>
            </a:r>
            <a:endParaRPr sz="24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2400">
                <a:solidFill>
                  <a:srgbClr val="000000"/>
                </a:solidFill>
                <a:latin typeface="Comic Sans MS"/>
                <a:ea typeface="Comic Sans MS"/>
                <a:cs typeface="Comic Sans MS"/>
                <a:sym typeface="Comic Sans MS"/>
              </a:rPr>
              <a:t> They need you to add route finding to </a:t>
            </a:r>
            <a:r>
              <a:rPr b="1" lang="en" sz="2400">
                <a:solidFill>
                  <a:srgbClr val="000000"/>
                </a:solidFill>
                <a:latin typeface="Comic Sans MS"/>
                <a:ea typeface="Comic Sans MS"/>
                <a:cs typeface="Comic Sans MS"/>
                <a:sym typeface="Comic Sans MS"/>
              </a:rPr>
              <a:t>iDoggo</a:t>
            </a:r>
            <a:r>
              <a:rPr lang="en" sz="2400">
                <a:solidFill>
                  <a:srgbClr val="000000"/>
                </a:solidFill>
                <a:latin typeface="Comic Sans MS"/>
                <a:ea typeface="Comic Sans MS"/>
                <a:cs typeface="Comic Sans MS"/>
                <a:sym typeface="Comic Sans MS"/>
              </a:rPr>
              <a:t> so that he can navigate the house. </a:t>
            </a:r>
            <a:endParaRPr sz="24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2400">
                <a:solidFill>
                  <a:srgbClr val="000000"/>
                </a:solidFill>
                <a:latin typeface="Comic Sans MS"/>
                <a:ea typeface="Comic Sans MS"/>
                <a:cs typeface="Comic Sans MS"/>
                <a:sym typeface="Comic Sans MS"/>
              </a:rPr>
              <a:t>Apple has sent an example of a home to travel. Can you use a tree or breadth-first search to route from the “front door” to “my bedroom”?</a:t>
            </a:r>
            <a:endParaRPr sz="1600">
              <a:solidFill>
                <a:srgbClr val="000000"/>
              </a:solidFill>
              <a:latin typeface="Comic Sans MS"/>
              <a:ea typeface="Comic Sans MS"/>
              <a:cs typeface="Comic Sans MS"/>
              <a:sym typeface="Comic Sans MS"/>
            </a:endParaRPr>
          </a:p>
        </p:txBody>
      </p:sp>
      <p:pic>
        <p:nvPicPr>
          <p:cNvPr id="1930" name="Google Shape;1930;p100"/>
          <p:cNvPicPr preferRelativeResize="0"/>
          <p:nvPr/>
        </p:nvPicPr>
        <p:blipFill>
          <a:blip r:embed="rId3">
            <a:alphaModFix/>
          </a:blip>
          <a:stretch>
            <a:fillRect/>
          </a:stretch>
        </p:blipFill>
        <p:spPr>
          <a:xfrm>
            <a:off x="716175" y="1561112"/>
            <a:ext cx="2833425" cy="2833425"/>
          </a:xfrm>
          <a:prstGeom prst="rect">
            <a:avLst/>
          </a:prstGeom>
          <a:noFill/>
          <a:ln>
            <a:noFill/>
          </a:ln>
        </p:spPr>
      </p:pic>
      <p:sp>
        <p:nvSpPr>
          <p:cNvPr id="1931" name="Google Shape;1931;p100"/>
          <p:cNvSpPr txBox="1"/>
          <p:nvPr/>
        </p:nvSpPr>
        <p:spPr>
          <a:xfrm>
            <a:off x="426125" y="4461700"/>
            <a:ext cx="35193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rPr>
              <a:t>Created by Midjourney prompt “Ddoggo a robot dog home companion made by Apple Computer”</a:t>
            </a:r>
            <a:endParaRPr sz="1200">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5" name="Shape 1935"/>
        <p:cNvGrpSpPr/>
        <p:nvPr/>
      </p:nvGrpSpPr>
      <p:grpSpPr>
        <a:xfrm>
          <a:off x="0" y="0"/>
          <a:ext cx="0" cy="0"/>
          <a:chOff x="0" y="0"/>
          <a:chExt cx="0" cy="0"/>
        </a:xfrm>
      </p:grpSpPr>
      <p:sp>
        <p:nvSpPr>
          <p:cNvPr id="1936" name="Google Shape;1936;p101"/>
          <p:cNvSpPr txBox="1"/>
          <p:nvPr>
            <p:ph type="title"/>
          </p:nvPr>
        </p:nvSpPr>
        <p:spPr>
          <a:xfrm>
            <a:off x="0" y="0"/>
            <a:ext cx="91440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2778">
                <a:latin typeface="Comic Sans MS"/>
                <a:ea typeface="Comic Sans MS"/>
                <a:cs typeface="Comic Sans MS"/>
                <a:sym typeface="Comic Sans MS"/>
              </a:rPr>
              <a:t>Route Finding from Front Door to My Bedroom</a:t>
            </a:r>
            <a:endParaRPr sz="2520"/>
          </a:p>
        </p:txBody>
      </p:sp>
      <p:sp>
        <p:nvSpPr>
          <p:cNvPr id="1937" name="Google Shape;1937;p101"/>
          <p:cNvSpPr txBox="1"/>
          <p:nvPr>
            <p:ph idx="1" type="body"/>
          </p:nvPr>
        </p:nvSpPr>
        <p:spPr>
          <a:xfrm>
            <a:off x="0" y="1343997"/>
            <a:ext cx="2917800" cy="24555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8677">
                <a:solidFill>
                  <a:srgbClr val="000000"/>
                </a:solidFill>
                <a:latin typeface="Comic Sans MS"/>
                <a:ea typeface="Comic Sans MS"/>
                <a:cs typeface="Comic Sans MS"/>
                <a:sym typeface="Comic Sans MS"/>
              </a:rPr>
              <a:t>iDoggo needs route finding capabilities to walk around the house and find the best routes between rooms.</a:t>
            </a:r>
            <a:endParaRPr sz="8677">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938" name="Google Shape;1938;p101"/>
          <p:cNvPicPr preferRelativeResize="0"/>
          <p:nvPr/>
        </p:nvPicPr>
        <p:blipFill>
          <a:blip r:embed="rId3">
            <a:alphaModFix/>
          </a:blip>
          <a:stretch>
            <a:fillRect/>
          </a:stretch>
        </p:blipFill>
        <p:spPr>
          <a:xfrm>
            <a:off x="8436888" y="1490150"/>
            <a:ext cx="581025" cy="1952625"/>
          </a:xfrm>
          <a:prstGeom prst="rect">
            <a:avLst/>
          </a:prstGeom>
          <a:noFill/>
          <a:ln>
            <a:noFill/>
          </a:ln>
        </p:spPr>
      </p:pic>
      <p:pic>
        <p:nvPicPr>
          <p:cNvPr id="1939" name="Google Shape;1939;p101"/>
          <p:cNvPicPr preferRelativeResize="0"/>
          <p:nvPr/>
        </p:nvPicPr>
        <p:blipFill>
          <a:blip r:embed="rId4">
            <a:alphaModFix/>
          </a:blip>
          <a:stretch>
            <a:fillRect/>
          </a:stretch>
        </p:blipFill>
        <p:spPr>
          <a:xfrm>
            <a:off x="3070200" y="818675"/>
            <a:ext cx="5214288" cy="350615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3" name="Shape 1943"/>
        <p:cNvGrpSpPr/>
        <p:nvPr/>
      </p:nvGrpSpPr>
      <p:grpSpPr>
        <a:xfrm>
          <a:off x="0" y="0"/>
          <a:ext cx="0" cy="0"/>
          <a:chOff x="0" y="0"/>
          <a:chExt cx="0" cy="0"/>
        </a:xfrm>
      </p:grpSpPr>
      <p:sp>
        <p:nvSpPr>
          <p:cNvPr id="1944" name="Google Shape;1944;p102"/>
          <p:cNvSpPr txBox="1"/>
          <p:nvPr>
            <p:ph type="title"/>
          </p:nvPr>
        </p:nvSpPr>
        <p:spPr>
          <a:xfrm>
            <a:off x="418175"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Route Finding</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945" name="Google Shape;1945;p102"/>
          <p:cNvSpPr txBox="1"/>
          <p:nvPr>
            <p:ph idx="1" type="body"/>
          </p:nvPr>
        </p:nvSpPr>
        <p:spPr>
          <a:xfrm>
            <a:off x="311700" y="11779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946" name="Google Shape;1946;p102"/>
          <p:cNvPicPr preferRelativeResize="0"/>
          <p:nvPr/>
        </p:nvPicPr>
        <p:blipFill rotWithShape="1">
          <a:blip r:embed="rId3">
            <a:alphaModFix/>
          </a:blip>
          <a:srcRect b="0" l="0" r="0" t="8675"/>
          <a:stretch/>
        </p:blipFill>
        <p:spPr>
          <a:xfrm>
            <a:off x="1750538" y="707400"/>
            <a:ext cx="6617875" cy="43411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103"/>
          <p:cNvSpPr txBox="1"/>
          <p:nvPr>
            <p:ph type="title"/>
          </p:nvPr>
        </p:nvSpPr>
        <p:spPr>
          <a:xfrm>
            <a:off x="418175"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Route Finding</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952" name="Google Shape;1952;p103"/>
          <p:cNvSpPr txBox="1"/>
          <p:nvPr>
            <p:ph idx="1" type="body"/>
          </p:nvPr>
        </p:nvSpPr>
        <p:spPr>
          <a:xfrm>
            <a:off x="311700" y="11779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953" name="Google Shape;1953;p103"/>
          <p:cNvPicPr preferRelativeResize="0"/>
          <p:nvPr/>
        </p:nvPicPr>
        <p:blipFill rotWithShape="1">
          <a:blip r:embed="rId3">
            <a:alphaModFix/>
          </a:blip>
          <a:srcRect b="0" l="0" r="0" t="8105"/>
          <a:stretch/>
        </p:blipFill>
        <p:spPr>
          <a:xfrm>
            <a:off x="1906869" y="707400"/>
            <a:ext cx="6503707" cy="4293225"/>
          </a:xfrm>
          <a:prstGeom prst="rect">
            <a:avLst/>
          </a:prstGeom>
          <a:noFill/>
          <a:ln>
            <a:noFill/>
          </a:ln>
        </p:spPr>
      </p:pic>
      <p:sp>
        <p:nvSpPr>
          <p:cNvPr id="1954" name="Google Shape;1954;p103"/>
          <p:cNvSpPr txBox="1"/>
          <p:nvPr/>
        </p:nvSpPr>
        <p:spPr>
          <a:xfrm>
            <a:off x="-70200" y="1544050"/>
            <a:ext cx="2361300" cy="2770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Open Sans"/>
                <a:ea typeface="Open Sans"/>
                <a:cs typeface="Open Sans"/>
                <a:sym typeface="Open Sans"/>
              </a:rPr>
              <a:t>There are 2 possible routes.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Front Door, Kitchen, Sister’s Room, Bathroom, then My Bedroom.</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OR</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Front Door, Kitchen, Dining Area, Living Room, then My Bedroom.</a:t>
            </a:r>
            <a:endParaRPr>
              <a:solidFill>
                <a:schemeClr val="dk2"/>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