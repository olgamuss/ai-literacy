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9922fd7f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9922fd7f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59922fd7f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59922fd7f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59922fd7f8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59922fd7f8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59922fd7f8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59922fd7f8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59922fd7f8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59922fd7f8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59922fd7f8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59922fd7f8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59922fd7f8_0_1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59922fd7f8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59922fd7f8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59922fd7f8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59922fd7f8_0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59922fd7f8_0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59922fd7f8_0_1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59922fd7f8_0_1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259922fd7f8_0_2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259922fd7f8_0_2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59922fd7f8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59922fd7f8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59922fd7f8_0_1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59922fd7f8_0_1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259922fd7f8_0_1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259922fd7f8_0_1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259922fd7f8_0_1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259922fd7f8_0_1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259922fd7f8_0_19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259922fd7f8_0_19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259922fd7f8_0_2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259922fd7f8_0_2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259922fd7f8_0_2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259922fd7f8_0_2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259922fd7f8_0_2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259922fd7f8_0_2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interesting things to note about the “Atlanta to Warner Robins” problem. Atlanta has roads going off in all directions, so it emphasizes the fact that the algorithm has no idea which way to proceed; it has to try all possible paths. Also note that both Athens and Toccoa are directly reachable from Atlanta, so they will end up with the same color; the fact that there is a road from Athens to Toccoa doesn’t matter because Toccoa has already been colored by the time we start looking at Athens’ neighbors.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259922fd7f8_0_2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259922fd7f8_0_2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259922fd7f8_0_2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259922fd7f8_0_2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259922fd7f8_0_2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259922fd7f8_0_2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259922fd7f8_0_2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259922fd7f8_0_2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259922fd7f8_0_2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8" name="Google Shape;1368;g259922fd7f8_0_2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259922fd7f8_0_2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259922fd7f8_0_2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259922fd7f8_0_2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9" name="Google Shape;1419;g259922fd7f8_0_2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259922fd7f8_0_2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259922fd7f8_0_2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259922fd7f8_0_2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259922fd7f8_0_2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g259922fd7f8_0_2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2" name="Google Shape;1582;g259922fd7f8_0_2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259922fd7f8_0_2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259922fd7f8_0_2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g259922fd7f8_0_2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4" name="Google Shape;1604;g259922fd7f8_0_2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259922fd7f8_0_2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5" name="Google Shape;1625;g259922fd7f8_0_2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259922fd7f8_0_2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4" name="Google Shape;1654;g259922fd7f8_0_2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800"/>
              <a:buNone/>
              <a:defRPr sz="28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rgbClr val="000000"/>
              </a:buClr>
              <a:buSzPts val="3600"/>
              <a:buNone/>
              <a:defRPr sz="3600">
                <a:solidFill>
                  <a:srgbClr val="000000"/>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12779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Route Finding</a:t>
            </a:r>
            <a:endParaRPr/>
          </a:p>
        </p:txBody>
      </p:sp>
      <p:sp>
        <p:nvSpPr>
          <p:cNvPr id="100" name="Google Shape;100;p25"/>
          <p:cNvSpPr txBox="1"/>
          <p:nvPr>
            <p:ph idx="1" type="subTitle"/>
          </p:nvPr>
        </p:nvSpPr>
        <p:spPr>
          <a:xfrm>
            <a:off x="311700" y="33675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Amber Jones &amp; </a:t>
            </a:r>
            <a:r>
              <a:rPr lang="en"/>
              <a:t>Dave Touretzky</a:t>
            </a:r>
            <a:endParaRPr/>
          </a:p>
        </p:txBody>
      </p:sp>
      <p:sp>
        <p:nvSpPr>
          <p:cNvPr id="101" name="Google Shape;10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2" name="Google Shape;102;p25"/>
          <p:cNvPicPr preferRelativeResize="0"/>
          <p:nvPr/>
        </p:nvPicPr>
        <p:blipFill>
          <a:blip r:embed="rId3">
            <a:alphaModFix/>
          </a:blip>
          <a:stretch>
            <a:fillRect/>
          </a:stretch>
        </p:blipFill>
        <p:spPr>
          <a:xfrm>
            <a:off x="3683788" y="173275"/>
            <a:ext cx="1776425" cy="2094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Two Ways to Solve Route-Finding Problems</a:t>
            </a:r>
            <a:endParaRPr/>
          </a:p>
        </p:txBody>
      </p:sp>
      <p:sp>
        <p:nvSpPr>
          <p:cNvPr id="108" name="Google Shape;108;p26"/>
          <p:cNvSpPr txBox="1"/>
          <p:nvPr>
            <p:ph idx="1" type="body"/>
          </p:nvPr>
        </p:nvSpPr>
        <p:spPr>
          <a:xfrm>
            <a:off x="311700" y="1152475"/>
            <a:ext cx="36681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Graph coloring</a:t>
            </a:r>
            <a:endParaRPr/>
          </a:p>
          <a:p>
            <a:pPr indent="-342900" lvl="0" marL="457200" rtl="0" algn="l">
              <a:spcBef>
                <a:spcPts val="0"/>
              </a:spcBef>
              <a:spcAft>
                <a:spcPts val="0"/>
              </a:spcAft>
              <a:buSzPts val="1800"/>
              <a:buAutoNum type="arabicPeriod"/>
            </a:pPr>
            <a:r>
              <a:rPr lang="en"/>
              <a:t>Search tree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Both approaches use the same</a:t>
            </a:r>
            <a:br>
              <a:rPr lang="en"/>
            </a:br>
            <a:r>
              <a:rPr lang="en"/>
              <a:t>algorithm: </a:t>
            </a:r>
            <a:r>
              <a:rPr b="1" lang="en"/>
              <a:t>b</a:t>
            </a:r>
            <a:r>
              <a:rPr b="1" lang="en"/>
              <a:t>readth-first search</a:t>
            </a:r>
            <a:r>
              <a:rPr lang="en"/>
              <a:t>.</a:t>
            </a:r>
            <a:endParaRPr/>
          </a:p>
          <a:p>
            <a:pPr indent="0" lvl="0" marL="0" rtl="0" algn="l">
              <a:spcBef>
                <a:spcPts val="1200"/>
              </a:spcBef>
              <a:spcAft>
                <a:spcPts val="1200"/>
              </a:spcAft>
              <a:buNone/>
            </a:pPr>
            <a:r>
              <a:rPr lang="en"/>
              <a:t>But they use different </a:t>
            </a:r>
            <a:r>
              <a:rPr b="1" lang="en"/>
              <a:t>representations</a:t>
            </a:r>
            <a:r>
              <a:rPr lang="en"/>
              <a:t> (Big Idea 2): pre-constructed graph</a:t>
            </a:r>
            <a:br>
              <a:rPr lang="en"/>
            </a:br>
            <a:r>
              <a:rPr lang="en"/>
              <a:t>vs. dynamically grown tree.</a:t>
            </a:r>
            <a:endParaRPr/>
          </a:p>
        </p:txBody>
      </p:sp>
      <p:grpSp>
        <p:nvGrpSpPr>
          <p:cNvPr id="109" name="Google Shape;109;p26"/>
          <p:cNvGrpSpPr/>
          <p:nvPr/>
        </p:nvGrpSpPr>
        <p:grpSpPr>
          <a:xfrm>
            <a:off x="4267550" y="1109849"/>
            <a:ext cx="4233425" cy="3768338"/>
            <a:chOff x="2819750" y="881249"/>
            <a:chExt cx="4233425" cy="3768338"/>
          </a:xfrm>
        </p:grpSpPr>
        <p:sp>
          <p:nvSpPr>
            <p:cNvPr id="110" name="Google Shape;110;p26"/>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rgbClr val="595959"/>
              </a:solidFill>
              <a:prstDash val="solid"/>
              <a:round/>
              <a:headEnd len="med" w="med" type="none"/>
              <a:tailEnd len="med" w="med" type="none"/>
            </a:ln>
          </p:spPr>
        </p:sp>
        <p:sp>
          <p:nvSpPr>
            <p:cNvPr id="111" name="Google Shape;111;p26"/>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rgbClr val="595959"/>
              </a:solidFill>
              <a:prstDash val="solid"/>
              <a:round/>
              <a:headEnd len="med" w="med" type="none"/>
              <a:tailEnd len="med" w="med" type="none"/>
            </a:ln>
          </p:spPr>
        </p:sp>
        <p:sp>
          <p:nvSpPr>
            <p:cNvPr id="112" name="Google Shape;112;p26"/>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rgbClr val="595959"/>
              </a:solidFill>
              <a:prstDash val="solid"/>
              <a:round/>
              <a:headEnd len="med" w="med" type="none"/>
              <a:tailEnd len="med" w="med" type="none"/>
            </a:ln>
          </p:spPr>
        </p:sp>
        <p:sp>
          <p:nvSpPr>
            <p:cNvPr id="113" name="Google Shape;113;p26"/>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rgbClr val="595959"/>
              </a:solidFill>
              <a:prstDash val="solid"/>
              <a:round/>
              <a:headEnd len="med" w="med" type="none"/>
              <a:tailEnd len="med" w="med" type="none"/>
            </a:ln>
          </p:spPr>
        </p:sp>
        <p:sp>
          <p:nvSpPr>
            <p:cNvPr id="114" name="Google Shape;114;p26"/>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rgbClr val="595959"/>
              </a:solidFill>
              <a:prstDash val="solid"/>
              <a:round/>
              <a:headEnd len="med" w="med" type="none"/>
              <a:tailEnd len="med" w="med" type="none"/>
            </a:ln>
          </p:spPr>
        </p:sp>
        <p:sp>
          <p:nvSpPr>
            <p:cNvPr id="115" name="Google Shape;115;p26"/>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rgbClr val="595959"/>
              </a:solidFill>
              <a:prstDash val="solid"/>
              <a:round/>
              <a:headEnd len="med" w="med" type="none"/>
              <a:tailEnd len="med" w="med" type="none"/>
            </a:ln>
          </p:spPr>
        </p:sp>
        <p:sp>
          <p:nvSpPr>
            <p:cNvPr id="116" name="Google Shape;116;p26"/>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rgbClr val="595959"/>
              </a:solidFill>
              <a:prstDash val="solid"/>
              <a:round/>
              <a:headEnd len="med" w="med" type="none"/>
              <a:tailEnd len="med" w="med" type="none"/>
            </a:ln>
          </p:spPr>
        </p:sp>
        <p:sp>
          <p:nvSpPr>
            <p:cNvPr id="117" name="Google Shape;117;p26"/>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rgbClr val="595959"/>
              </a:solidFill>
              <a:prstDash val="solid"/>
              <a:round/>
              <a:headEnd len="med" w="med" type="none"/>
              <a:tailEnd len="med" w="med" type="none"/>
            </a:ln>
          </p:spPr>
        </p:sp>
        <p:sp>
          <p:nvSpPr>
            <p:cNvPr id="118" name="Google Shape;118;p26"/>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rgbClr val="595959"/>
              </a:solidFill>
              <a:prstDash val="solid"/>
              <a:round/>
              <a:headEnd len="med" w="med" type="none"/>
              <a:tailEnd len="med" w="med" type="none"/>
            </a:ln>
          </p:spPr>
        </p:sp>
        <p:sp>
          <p:nvSpPr>
            <p:cNvPr id="119" name="Google Shape;119;p26"/>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rgbClr val="595959"/>
              </a:solidFill>
              <a:prstDash val="solid"/>
              <a:round/>
              <a:headEnd len="med" w="med" type="none"/>
              <a:tailEnd len="med" w="med" type="none"/>
            </a:ln>
          </p:spPr>
        </p:sp>
        <p:sp>
          <p:nvSpPr>
            <p:cNvPr id="120" name="Google Shape;120;p26"/>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rgbClr val="595959"/>
              </a:solidFill>
              <a:prstDash val="solid"/>
              <a:round/>
              <a:headEnd len="med" w="med" type="none"/>
              <a:tailEnd len="med" w="med" type="none"/>
            </a:ln>
          </p:spPr>
        </p:sp>
        <p:sp>
          <p:nvSpPr>
            <p:cNvPr id="121" name="Google Shape;121;p26"/>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rgbClr val="595959"/>
              </a:solidFill>
              <a:prstDash val="solid"/>
              <a:round/>
              <a:headEnd len="med" w="med" type="none"/>
              <a:tailEnd len="med" w="med" type="none"/>
            </a:ln>
          </p:spPr>
        </p:sp>
        <p:sp>
          <p:nvSpPr>
            <p:cNvPr id="122" name="Google Shape;122;p26"/>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rgbClr val="595959"/>
              </a:solidFill>
              <a:prstDash val="solid"/>
              <a:round/>
              <a:headEnd len="med" w="med" type="none"/>
              <a:tailEnd len="med" w="med" type="none"/>
            </a:ln>
          </p:spPr>
        </p:sp>
        <p:sp>
          <p:nvSpPr>
            <p:cNvPr id="123" name="Google Shape;123;p26"/>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rgbClr val="595959"/>
              </a:solidFill>
              <a:prstDash val="solid"/>
              <a:round/>
              <a:headEnd len="med" w="med" type="none"/>
              <a:tailEnd len="med" w="med" type="none"/>
            </a:ln>
          </p:spPr>
        </p:sp>
        <p:sp>
          <p:nvSpPr>
            <p:cNvPr id="124" name="Google Shape;124;p26"/>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rgbClr val="595959"/>
              </a:solidFill>
              <a:prstDash val="solid"/>
              <a:round/>
              <a:headEnd len="med" w="med" type="none"/>
              <a:tailEnd len="med" w="med" type="none"/>
            </a:ln>
          </p:spPr>
        </p:sp>
        <p:sp>
          <p:nvSpPr>
            <p:cNvPr id="125" name="Google Shape;125;p26"/>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rgbClr val="595959"/>
              </a:solidFill>
              <a:prstDash val="solid"/>
              <a:round/>
              <a:headEnd len="med" w="med" type="none"/>
              <a:tailEnd len="med" w="med" type="none"/>
            </a:ln>
          </p:spPr>
        </p:sp>
        <p:sp>
          <p:nvSpPr>
            <p:cNvPr id="126" name="Google Shape;126;p26"/>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rgbClr val="595959"/>
              </a:solidFill>
              <a:prstDash val="solid"/>
              <a:round/>
              <a:headEnd len="med" w="med" type="none"/>
              <a:tailEnd len="med" w="med" type="none"/>
            </a:ln>
          </p:spPr>
        </p:sp>
        <p:sp>
          <p:nvSpPr>
            <p:cNvPr id="127" name="Google Shape;127;p26"/>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rgbClr val="595959"/>
              </a:solidFill>
              <a:prstDash val="solid"/>
              <a:round/>
              <a:headEnd len="med" w="med" type="none"/>
              <a:tailEnd len="med" w="med" type="none"/>
            </a:ln>
          </p:spPr>
        </p:sp>
        <p:sp>
          <p:nvSpPr>
            <p:cNvPr id="128" name="Google Shape;128;p26"/>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rgbClr val="595959"/>
              </a:solidFill>
              <a:prstDash val="solid"/>
              <a:round/>
              <a:headEnd len="med" w="med" type="none"/>
              <a:tailEnd len="med" w="med" type="none"/>
            </a:ln>
          </p:spPr>
        </p:sp>
        <p:sp>
          <p:nvSpPr>
            <p:cNvPr id="129" name="Google Shape;129;p26"/>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rgbClr val="595959"/>
              </a:solidFill>
              <a:prstDash val="solid"/>
              <a:round/>
              <a:headEnd len="med" w="med" type="none"/>
              <a:tailEnd len="med" w="med" type="none"/>
            </a:ln>
          </p:spPr>
        </p:sp>
        <p:sp>
          <p:nvSpPr>
            <p:cNvPr id="130" name="Google Shape;130;p26"/>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rgbClr val="595959"/>
              </a:solidFill>
              <a:prstDash val="solid"/>
              <a:round/>
              <a:headEnd len="med" w="med" type="none"/>
              <a:tailEnd len="med" w="med" type="none"/>
            </a:ln>
          </p:spPr>
        </p:sp>
        <p:sp>
          <p:nvSpPr>
            <p:cNvPr id="131" name="Google Shape;131;p26"/>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rgbClr val="595959"/>
              </a:solidFill>
              <a:prstDash val="solid"/>
              <a:round/>
              <a:headEnd len="med" w="med" type="none"/>
              <a:tailEnd len="med" w="med" type="none"/>
            </a:ln>
          </p:spPr>
        </p:sp>
        <p:sp>
          <p:nvSpPr>
            <p:cNvPr id="132" name="Google Shape;132;p26"/>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rgbClr val="595959"/>
              </a:solidFill>
              <a:prstDash val="solid"/>
              <a:round/>
              <a:headEnd len="med" w="med" type="none"/>
              <a:tailEnd len="med" w="med" type="none"/>
            </a:ln>
          </p:spPr>
        </p:sp>
        <p:sp>
          <p:nvSpPr>
            <p:cNvPr id="133" name="Google Shape;133;p26"/>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rgbClr val="595959"/>
              </a:solidFill>
              <a:prstDash val="solid"/>
              <a:round/>
              <a:headEnd len="med" w="med" type="none"/>
              <a:tailEnd len="med" w="med" type="none"/>
            </a:ln>
          </p:spPr>
        </p:sp>
        <p:sp>
          <p:nvSpPr>
            <p:cNvPr id="134" name="Google Shape;134;p26"/>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rgbClr val="595959"/>
              </a:solidFill>
              <a:prstDash val="solid"/>
              <a:round/>
              <a:headEnd len="med" w="med" type="none"/>
              <a:tailEnd len="med" w="med" type="none"/>
            </a:ln>
          </p:spPr>
        </p:sp>
        <p:sp>
          <p:nvSpPr>
            <p:cNvPr id="135" name="Google Shape;135;p26"/>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rgbClr val="595959"/>
              </a:solidFill>
              <a:prstDash val="solid"/>
              <a:round/>
              <a:headEnd len="med" w="med" type="none"/>
              <a:tailEnd len="med" w="med" type="none"/>
            </a:ln>
          </p:spPr>
        </p:sp>
        <p:sp>
          <p:nvSpPr>
            <p:cNvPr id="136" name="Google Shape;136;p26"/>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rgbClr val="595959"/>
              </a:solidFill>
              <a:prstDash val="solid"/>
              <a:round/>
              <a:headEnd len="med" w="med" type="none"/>
              <a:tailEnd len="med" w="med" type="none"/>
            </a:ln>
          </p:spPr>
        </p:sp>
        <p:sp>
          <p:nvSpPr>
            <p:cNvPr id="137" name="Google Shape;137;p26"/>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rgbClr val="595959"/>
              </a:solidFill>
              <a:prstDash val="solid"/>
              <a:round/>
              <a:headEnd len="med" w="med" type="none"/>
              <a:tailEnd len="med" w="med" type="none"/>
            </a:ln>
          </p:spPr>
        </p:sp>
        <p:sp>
          <p:nvSpPr>
            <p:cNvPr id="138" name="Google Shape;138;p26"/>
            <p:cNvSpPr/>
            <p:nvPr/>
          </p:nvSpPr>
          <p:spPr>
            <a:xfrm>
              <a:off x="3240434" y="123261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6"/>
            <p:cNvSpPr/>
            <p:nvPr/>
          </p:nvSpPr>
          <p:spPr>
            <a:xfrm>
              <a:off x="3392100" y="22945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6"/>
            <p:cNvSpPr/>
            <p:nvPr/>
          </p:nvSpPr>
          <p:spPr>
            <a:xfrm>
              <a:off x="3392100" y="27517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6"/>
            <p:cNvSpPr/>
            <p:nvPr/>
          </p:nvSpPr>
          <p:spPr>
            <a:xfrm>
              <a:off x="5667425" y="28292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6"/>
            <p:cNvSpPr/>
            <p:nvPr/>
          </p:nvSpPr>
          <p:spPr>
            <a:xfrm>
              <a:off x="4874000" y="31922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6"/>
            <p:cNvSpPr/>
            <p:nvPr/>
          </p:nvSpPr>
          <p:spPr>
            <a:xfrm>
              <a:off x="6233475" y="31340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6"/>
            <p:cNvSpPr/>
            <p:nvPr/>
          </p:nvSpPr>
          <p:spPr>
            <a:xfrm>
              <a:off x="5988800" y="396469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6"/>
            <p:cNvSpPr/>
            <p:nvPr/>
          </p:nvSpPr>
          <p:spPr>
            <a:xfrm>
              <a:off x="5320000" y="396469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6"/>
            <p:cNvSpPr/>
            <p:nvPr/>
          </p:nvSpPr>
          <p:spPr>
            <a:xfrm>
              <a:off x="4612025" y="42402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6"/>
            <p:cNvSpPr/>
            <p:nvPr/>
          </p:nvSpPr>
          <p:spPr>
            <a:xfrm>
              <a:off x="3580800" y="4240257"/>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6"/>
            <p:cNvSpPr/>
            <p:nvPr/>
          </p:nvSpPr>
          <p:spPr>
            <a:xfrm>
              <a:off x="4612034" y="936826"/>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6"/>
            <p:cNvSpPr/>
            <p:nvPr/>
          </p:nvSpPr>
          <p:spPr>
            <a:xfrm>
              <a:off x="4566995" y="1470226"/>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6"/>
            <p:cNvSpPr/>
            <p:nvPr/>
          </p:nvSpPr>
          <p:spPr>
            <a:xfrm>
              <a:off x="5589325" y="19148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6"/>
            <p:cNvSpPr/>
            <p:nvPr/>
          </p:nvSpPr>
          <p:spPr>
            <a:xfrm>
              <a:off x="4612025" y="22583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6"/>
            <p:cNvSpPr/>
            <p:nvPr/>
          </p:nvSpPr>
          <p:spPr>
            <a:xfrm>
              <a:off x="4378300" y="247739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6"/>
            <p:cNvSpPr/>
            <p:nvPr/>
          </p:nvSpPr>
          <p:spPr>
            <a:xfrm>
              <a:off x="4378300" y="27929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6"/>
            <p:cNvSpPr/>
            <p:nvPr/>
          </p:nvSpPr>
          <p:spPr>
            <a:xfrm>
              <a:off x="5856125" y="34249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6"/>
            <p:cNvSpPr/>
            <p:nvPr/>
          </p:nvSpPr>
          <p:spPr>
            <a:xfrm>
              <a:off x="3988300" y="35766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6"/>
            <p:cNvSpPr/>
            <p:nvPr/>
          </p:nvSpPr>
          <p:spPr>
            <a:xfrm>
              <a:off x="4477650" y="36876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6"/>
            <p:cNvSpPr/>
            <p:nvPr/>
          </p:nvSpPr>
          <p:spPr>
            <a:xfrm>
              <a:off x="3881195" y="1653787"/>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6"/>
            <p:cNvSpPr/>
            <p:nvPr/>
          </p:nvSpPr>
          <p:spPr>
            <a:xfrm>
              <a:off x="3576395" y="19897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6"/>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60" name="Google Shape;160;p26"/>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61" name="Google Shape;161;p26"/>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62" name="Google Shape;162;p26"/>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63" name="Google Shape;163;p26"/>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64" name="Google Shape;164;p26"/>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65" name="Google Shape;165;p26"/>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66" name="Google Shape;166;p26"/>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67" name="Google Shape;167;p26"/>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68" name="Google Shape;168;p26"/>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69" name="Google Shape;169;p26"/>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70" name="Google Shape;170;p26"/>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71" name="Google Shape;171;p26"/>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72" name="Google Shape;172;p26"/>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73" name="Google Shape;173;p26"/>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74" name="Google Shape;174;p26"/>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75" name="Google Shape;175;p26"/>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76" name="Google Shape;176;p26"/>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77" name="Google Shape;177;p26"/>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78" name="Google Shape;178;p26"/>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79" name="Google Shape;179;p26"/>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80" name="Google Shape;18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814150" y="286350"/>
            <a:ext cx="3879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Breadth-First Search (Using Colors)</a:t>
            </a:r>
            <a:endParaRPr/>
          </a:p>
        </p:txBody>
      </p:sp>
      <p:sp>
        <p:nvSpPr>
          <p:cNvPr id="186" name="Google Shape;18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Color the starting city as level 0.</a:t>
            </a:r>
            <a:endParaRPr/>
          </a:p>
          <a:p>
            <a:pPr indent="-342900" lvl="0" marL="457200" rtl="0" algn="l">
              <a:spcBef>
                <a:spcPts val="0"/>
              </a:spcBef>
              <a:spcAft>
                <a:spcPts val="0"/>
              </a:spcAft>
              <a:buSzPts val="1800"/>
              <a:buAutoNum type="arabicPeriod"/>
            </a:pPr>
            <a:r>
              <a:rPr lang="en"/>
              <a:t>Find all the uncolored neighbors, and</a:t>
            </a:r>
            <a:br>
              <a:rPr lang="en"/>
            </a:br>
            <a:r>
              <a:rPr lang="en"/>
              <a:t>color them using the next level’s color.</a:t>
            </a:r>
            <a:endParaRPr/>
          </a:p>
          <a:p>
            <a:pPr indent="-342900" lvl="0" marL="457200" rtl="0" algn="l">
              <a:spcBef>
                <a:spcPts val="0"/>
              </a:spcBef>
              <a:spcAft>
                <a:spcPts val="0"/>
              </a:spcAft>
              <a:buSzPts val="1800"/>
              <a:buAutoNum type="arabicPeriod"/>
            </a:pPr>
            <a:r>
              <a:rPr lang="en"/>
              <a:t>Repeat step 2 until you’ve colored</a:t>
            </a:r>
            <a:br>
              <a:rPr lang="en"/>
            </a:br>
            <a:r>
              <a:rPr lang="en"/>
              <a:t>the destination city.</a:t>
            </a:r>
            <a:endParaRPr/>
          </a:p>
        </p:txBody>
      </p:sp>
      <p:sp>
        <p:nvSpPr>
          <p:cNvPr id="187" name="Google Shape;18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88" name="Google Shape;188;p27"/>
          <p:cNvGrpSpPr/>
          <p:nvPr/>
        </p:nvGrpSpPr>
        <p:grpSpPr>
          <a:xfrm>
            <a:off x="4910575" y="161174"/>
            <a:ext cx="4233425" cy="3768338"/>
            <a:chOff x="2819750" y="881249"/>
            <a:chExt cx="4233425" cy="3768338"/>
          </a:xfrm>
        </p:grpSpPr>
        <p:sp>
          <p:nvSpPr>
            <p:cNvPr id="189" name="Google Shape;189;p27"/>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90" name="Google Shape;190;p27"/>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91" name="Google Shape;191;p27"/>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92" name="Google Shape;192;p27"/>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93" name="Google Shape;193;p27"/>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94" name="Google Shape;194;p27"/>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95" name="Google Shape;195;p27"/>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96" name="Google Shape;196;p27"/>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97" name="Google Shape;197;p27"/>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98" name="Google Shape;198;p27"/>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99" name="Google Shape;199;p27"/>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200" name="Google Shape;200;p27"/>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201" name="Google Shape;201;p27"/>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202" name="Google Shape;202;p27"/>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203" name="Google Shape;203;p27"/>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204" name="Google Shape;204;p27"/>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205" name="Google Shape;205;p27"/>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206" name="Google Shape;206;p27"/>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207" name="Google Shape;207;p27"/>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208" name="Google Shape;208;p27"/>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209" name="Google Shape;209;p27"/>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210" name="Google Shape;210;p27"/>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211" name="Google Shape;211;p27"/>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212" name="Google Shape;212;p27"/>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213" name="Google Shape;213;p27"/>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214" name="Google Shape;214;p27"/>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215" name="Google Shape;215;p27"/>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216" name="Google Shape;216;p27"/>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217" name="Google Shape;217;p27"/>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7"/>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7"/>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7"/>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7"/>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7"/>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7"/>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7"/>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7"/>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7"/>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7"/>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7"/>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7"/>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7"/>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7"/>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7"/>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7"/>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7"/>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7"/>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239" name="Google Shape;239;p27"/>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240" name="Google Shape;240;p27"/>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241" name="Google Shape;241;p27"/>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242" name="Google Shape;242;p27"/>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243" name="Google Shape;243;p27"/>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244" name="Google Shape;244;p27"/>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245" name="Google Shape;245;p27"/>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246" name="Google Shape;246;p27"/>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247" name="Google Shape;247;p27"/>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248" name="Google Shape;248;p27"/>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249" name="Google Shape;249;p27"/>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250" name="Google Shape;250;p27"/>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251" name="Google Shape;251;p27"/>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252" name="Google Shape;252;p27"/>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253" name="Google Shape;253;p27"/>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254" name="Google Shape;254;p27"/>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255" name="Google Shape;255;p27"/>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256" name="Google Shape;256;p27"/>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257" name="Google Shape;257;p27"/>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258" name="Google Shape;258;p27"/>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259" name="Google Shape;259;p27"/>
          <p:cNvSpPr txBox="1"/>
          <p:nvPr/>
        </p:nvSpPr>
        <p:spPr>
          <a:xfrm>
            <a:off x="683725" y="33588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260" name="Google Shape;260;p27"/>
          <p:cNvSpPr txBox="1"/>
          <p:nvPr/>
        </p:nvSpPr>
        <p:spPr>
          <a:xfrm>
            <a:off x="1495250" y="3358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261" name="Google Shape;261;p27"/>
          <p:cNvSpPr txBox="1"/>
          <p:nvPr/>
        </p:nvSpPr>
        <p:spPr>
          <a:xfrm>
            <a:off x="2306775" y="33588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262" name="Google Shape;262;p27"/>
          <p:cNvSpPr txBox="1"/>
          <p:nvPr/>
        </p:nvSpPr>
        <p:spPr>
          <a:xfrm>
            <a:off x="3118300" y="33588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263" name="Google Shape;263;p27"/>
          <p:cNvSpPr txBox="1"/>
          <p:nvPr/>
        </p:nvSpPr>
        <p:spPr>
          <a:xfrm>
            <a:off x="3929825" y="33588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our start city:</a:t>
            </a:r>
            <a:br>
              <a:rPr lang="en"/>
            </a:br>
            <a:r>
              <a:rPr lang="en"/>
              <a:t>Savannah is level 0.</a:t>
            </a:r>
            <a:endParaRPr/>
          </a:p>
        </p:txBody>
      </p:sp>
      <p:sp>
        <p:nvSpPr>
          <p:cNvPr id="269" name="Google Shape;26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0</a:t>
            </a:r>
            <a:endParaRPr/>
          </a:p>
        </p:txBody>
      </p:sp>
      <p:sp>
        <p:nvSpPr>
          <p:cNvPr id="270" name="Google Shape;27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71" name="Google Shape;271;p28"/>
          <p:cNvGrpSpPr/>
          <p:nvPr/>
        </p:nvGrpSpPr>
        <p:grpSpPr>
          <a:xfrm>
            <a:off x="2819750" y="881249"/>
            <a:ext cx="4233425" cy="3768338"/>
            <a:chOff x="2819750" y="881249"/>
            <a:chExt cx="4233425" cy="3768338"/>
          </a:xfrm>
        </p:grpSpPr>
        <p:sp>
          <p:nvSpPr>
            <p:cNvPr id="272" name="Google Shape;272;p28"/>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273" name="Google Shape;273;p28"/>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274" name="Google Shape;274;p28"/>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275" name="Google Shape;275;p28"/>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276" name="Google Shape;276;p28"/>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277" name="Google Shape;277;p28"/>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278" name="Google Shape;278;p28"/>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279" name="Google Shape;279;p28"/>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280" name="Google Shape;280;p28"/>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281" name="Google Shape;281;p28"/>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282" name="Google Shape;282;p28"/>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283" name="Google Shape;283;p28"/>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284" name="Google Shape;284;p28"/>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285" name="Google Shape;285;p28"/>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286" name="Google Shape;286;p28"/>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287" name="Google Shape;287;p28"/>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288" name="Google Shape;288;p28"/>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289" name="Google Shape;289;p28"/>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290" name="Google Shape;290;p28"/>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291" name="Google Shape;291;p28"/>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292" name="Google Shape;292;p28"/>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293" name="Google Shape;293;p28"/>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294" name="Google Shape;294;p28"/>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295" name="Google Shape;295;p28"/>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296" name="Google Shape;296;p28"/>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297" name="Google Shape;297;p28"/>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298" name="Google Shape;298;p28"/>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299" name="Google Shape;299;p28"/>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300" name="Google Shape;300;p28"/>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8"/>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8"/>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8"/>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8"/>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8"/>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8"/>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8"/>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8"/>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8"/>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8"/>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8"/>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8"/>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8"/>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8"/>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8"/>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8"/>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8"/>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8"/>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8"/>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8"/>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8"/>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322" name="Google Shape;322;p28"/>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323" name="Google Shape;323;p28"/>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324" name="Google Shape;324;p28"/>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325" name="Google Shape;325;p28"/>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326" name="Google Shape;326;p28"/>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327" name="Google Shape;327;p28"/>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328" name="Google Shape;328;p28"/>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329" name="Google Shape;329;p28"/>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330" name="Google Shape;330;p28"/>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331" name="Google Shape;331;p28"/>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332" name="Google Shape;332;p28"/>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333" name="Google Shape;333;p28"/>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334" name="Google Shape;334;p28"/>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335" name="Google Shape;335;p28"/>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336" name="Google Shape;336;p28"/>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337" name="Google Shape;337;p28"/>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338" name="Google Shape;338;p28"/>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339" name="Google Shape;339;p28"/>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340" name="Google Shape;340;p28"/>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341" name="Google Shape;341;p28"/>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342" name="Google Shape;342;p28"/>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343" name="Google Shape;343;p28"/>
          <p:cNvSpPr txBox="1"/>
          <p:nvPr/>
        </p:nvSpPr>
        <p:spPr>
          <a:xfrm>
            <a:off x="7292450" y="4703625"/>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344" name="Google Shape;344;p28"/>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9"/>
          <p:cNvSpPr txBox="1"/>
          <p:nvPr>
            <p:ph idx="1" type="body"/>
          </p:nvPr>
        </p:nvSpPr>
        <p:spPr>
          <a:xfrm>
            <a:off x="311700" y="1152475"/>
            <a:ext cx="2683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cities reachable from Savannah as level 1.</a:t>
            </a:r>
            <a:endParaRPr/>
          </a:p>
        </p:txBody>
      </p:sp>
      <p:sp>
        <p:nvSpPr>
          <p:cNvPr id="350" name="Google Shape;3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1</a:t>
            </a:r>
            <a:endParaRPr/>
          </a:p>
        </p:txBody>
      </p:sp>
      <p:sp>
        <p:nvSpPr>
          <p:cNvPr id="351" name="Google Shape;35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352" name="Google Shape;352;p29"/>
          <p:cNvGrpSpPr/>
          <p:nvPr/>
        </p:nvGrpSpPr>
        <p:grpSpPr>
          <a:xfrm>
            <a:off x="2819750" y="881249"/>
            <a:ext cx="4233425" cy="3768338"/>
            <a:chOff x="2819750" y="881249"/>
            <a:chExt cx="4233425" cy="3768338"/>
          </a:xfrm>
        </p:grpSpPr>
        <p:sp>
          <p:nvSpPr>
            <p:cNvPr id="353" name="Google Shape;353;p29"/>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354" name="Google Shape;354;p29"/>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355" name="Google Shape;355;p29"/>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356" name="Google Shape;356;p29"/>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357" name="Google Shape;357;p29"/>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358" name="Google Shape;358;p29"/>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359" name="Google Shape;359;p29"/>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360" name="Google Shape;360;p29"/>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361" name="Google Shape;361;p29"/>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362" name="Google Shape;362;p29"/>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363" name="Google Shape;363;p29"/>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364" name="Google Shape;364;p29"/>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365" name="Google Shape;365;p29"/>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366" name="Google Shape;366;p29"/>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367" name="Google Shape;367;p29"/>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368" name="Google Shape;368;p29"/>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369" name="Google Shape;369;p29"/>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370" name="Google Shape;370;p29"/>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371" name="Google Shape;371;p29"/>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372" name="Google Shape;372;p29"/>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373" name="Google Shape;373;p29"/>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374" name="Google Shape;374;p29"/>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375" name="Google Shape;375;p29"/>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376" name="Google Shape;376;p29"/>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377" name="Google Shape;377;p29"/>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378" name="Google Shape;378;p29"/>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379" name="Google Shape;379;p29"/>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380" name="Google Shape;380;p29"/>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381" name="Google Shape;381;p29"/>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9"/>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9"/>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9"/>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9"/>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9"/>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9"/>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9"/>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9"/>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9"/>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9"/>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9"/>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9"/>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9"/>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9"/>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9"/>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9"/>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9"/>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9"/>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9"/>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9"/>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9"/>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403" name="Google Shape;403;p29"/>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404" name="Google Shape;404;p29"/>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405" name="Google Shape;405;p29"/>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406" name="Google Shape;406;p29"/>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407" name="Google Shape;407;p29"/>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408" name="Google Shape;408;p29"/>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409" name="Google Shape;409;p29"/>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410" name="Google Shape;410;p29"/>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411" name="Google Shape;411;p29"/>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412" name="Google Shape;412;p29"/>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413" name="Google Shape;413;p29"/>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414" name="Google Shape;414;p29"/>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415" name="Google Shape;415;p29"/>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416" name="Google Shape;416;p29"/>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417" name="Google Shape;417;p29"/>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418" name="Google Shape;418;p29"/>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419" name="Google Shape;419;p29"/>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420" name="Google Shape;420;p29"/>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421" name="Google Shape;421;p29"/>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sp>
          <p:nvSpPr>
            <p:cNvPr id="422" name="Google Shape;422;p29"/>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grpSp>
      <p:sp>
        <p:nvSpPr>
          <p:cNvPr id="423" name="Google Shape;423;p29"/>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424" name="Google Shape;424;p29"/>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425" name="Google Shape;425;p29"/>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426" name="Google Shape;426;p29"/>
          <p:cNvSpPr txBox="1"/>
          <p:nvPr/>
        </p:nvSpPr>
        <p:spPr>
          <a:xfrm>
            <a:off x="7292425" y="4690675"/>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0"/>
          <p:cNvSpPr txBox="1"/>
          <p:nvPr>
            <p:ph idx="1" type="body"/>
          </p:nvPr>
        </p:nvSpPr>
        <p:spPr>
          <a:xfrm>
            <a:off x="311700" y="1152475"/>
            <a:ext cx="247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uncolored neighbors of level 1 cities as level 2.</a:t>
            </a:r>
            <a:endParaRPr/>
          </a:p>
        </p:txBody>
      </p:sp>
      <p:sp>
        <p:nvSpPr>
          <p:cNvPr id="432" name="Google Shape;43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2</a:t>
            </a:r>
            <a:endParaRPr/>
          </a:p>
        </p:txBody>
      </p:sp>
      <p:sp>
        <p:nvSpPr>
          <p:cNvPr id="433" name="Google Shape;43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434" name="Google Shape;434;p30"/>
          <p:cNvGrpSpPr/>
          <p:nvPr/>
        </p:nvGrpSpPr>
        <p:grpSpPr>
          <a:xfrm>
            <a:off x="2819750" y="881249"/>
            <a:ext cx="4233425" cy="3768338"/>
            <a:chOff x="2819750" y="881249"/>
            <a:chExt cx="4233425" cy="3768338"/>
          </a:xfrm>
        </p:grpSpPr>
        <p:sp>
          <p:nvSpPr>
            <p:cNvPr id="435" name="Google Shape;435;p30"/>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436" name="Google Shape;436;p30"/>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437" name="Google Shape;437;p30"/>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438" name="Google Shape;438;p30"/>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439" name="Google Shape;439;p30"/>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440" name="Google Shape;440;p30"/>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441" name="Google Shape;441;p30"/>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442" name="Google Shape;442;p30"/>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443" name="Google Shape;443;p30"/>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444" name="Google Shape;444;p30"/>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445" name="Google Shape;445;p30"/>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446" name="Google Shape;446;p30"/>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447" name="Google Shape;447;p30"/>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448" name="Google Shape;448;p30"/>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449" name="Google Shape;449;p30"/>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450" name="Google Shape;450;p30"/>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451" name="Google Shape;451;p30"/>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452" name="Google Shape;452;p30"/>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453" name="Google Shape;453;p30"/>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454" name="Google Shape;454;p30"/>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455" name="Google Shape;455;p30"/>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456" name="Google Shape;456;p30"/>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457" name="Google Shape;457;p30"/>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458" name="Google Shape;458;p30"/>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459" name="Google Shape;459;p30"/>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460" name="Google Shape;460;p30"/>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461" name="Google Shape;461;p30"/>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462" name="Google Shape;462;p30"/>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463" name="Google Shape;463;p30"/>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0"/>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0"/>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0"/>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0"/>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0"/>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0"/>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0"/>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0"/>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0"/>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0"/>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0"/>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0"/>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0"/>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0"/>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0"/>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0"/>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0"/>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0"/>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0"/>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485" name="Google Shape;485;p30"/>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486" name="Google Shape;486;p30"/>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487" name="Google Shape;487;p30"/>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488" name="Google Shape;488;p30"/>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489" name="Google Shape;489;p30"/>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490" name="Google Shape;490;p30"/>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491" name="Google Shape;491;p30"/>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492" name="Google Shape;492;p30"/>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493" name="Google Shape;493;p30"/>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494" name="Google Shape;494;p30"/>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495" name="Google Shape;495;p30"/>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496" name="Google Shape;496;p30"/>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497" name="Google Shape;497;p30"/>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498" name="Google Shape;498;p30"/>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499" name="Google Shape;499;p30"/>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500" name="Google Shape;500;p30"/>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501" name="Google Shape;501;p30"/>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502" name="Google Shape;502;p30"/>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503" name="Google Shape;503;p30"/>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504" name="Google Shape;504;p30"/>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505" name="Google Shape;505;p30"/>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506" name="Google Shape;506;p30"/>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507" name="Google Shape;507;p30"/>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508" name="Google Shape;508;p30"/>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509" name="Google Shape;509;p30"/>
          <p:cNvSpPr txBox="1"/>
          <p:nvPr/>
        </p:nvSpPr>
        <p:spPr>
          <a:xfrm>
            <a:off x="7281750" y="4690675"/>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1"/>
          <p:cNvSpPr txBox="1"/>
          <p:nvPr>
            <p:ph idx="1" type="body"/>
          </p:nvPr>
        </p:nvSpPr>
        <p:spPr>
          <a:xfrm>
            <a:off x="311700" y="1152475"/>
            <a:ext cx="2965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uncolored neighbors of level 2 cities as level 3.</a:t>
            </a:r>
            <a:endParaRPr/>
          </a:p>
        </p:txBody>
      </p:sp>
      <p:sp>
        <p:nvSpPr>
          <p:cNvPr id="515" name="Google Shape;51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3</a:t>
            </a:r>
            <a:endParaRPr/>
          </a:p>
        </p:txBody>
      </p:sp>
      <p:sp>
        <p:nvSpPr>
          <p:cNvPr id="516" name="Google Shape;516;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517" name="Google Shape;517;p31"/>
          <p:cNvGrpSpPr/>
          <p:nvPr/>
        </p:nvGrpSpPr>
        <p:grpSpPr>
          <a:xfrm>
            <a:off x="2819750" y="881249"/>
            <a:ext cx="4233425" cy="3768338"/>
            <a:chOff x="2819750" y="881249"/>
            <a:chExt cx="4233425" cy="3768338"/>
          </a:xfrm>
        </p:grpSpPr>
        <p:sp>
          <p:nvSpPr>
            <p:cNvPr id="518" name="Google Shape;518;p31"/>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519" name="Google Shape;519;p31"/>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520" name="Google Shape;520;p31"/>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521" name="Google Shape;521;p31"/>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522" name="Google Shape;522;p31"/>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523" name="Google Shape;523;p31"/>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524" name="Google Shape;524;p31"/>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525" name="Google Shape;525;p31"/>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526" name="Google Shape;526;p31"/>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527" name="Google Shape;527;p31"/>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528" name="Google Shape;528;p31"/>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529" name="Google Shape;529;p31"/>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530" name="Google Shape;530;p31"/>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531" name="Google Shape;531;p31"/>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532" name="Google Shape;532;p31"/>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533" name="Google Shape;533;p31"/>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534" name="Google Shape;534;p31"/>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535" name="Google Shape;535;p31"/>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536" name="Google Shape;536;p31"/>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537" name="Google Shape;537;p31"/>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538" name="Google Shape;538;p31"/>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539" name="Google Shape;539;p31"/>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540" name="Google Shape;540;p31"/>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541" name="Google Shape;541;p31"/>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542" name="Google Shape;542;p31"/>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543" name="Google Shape;543;p31"/>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544" name="Google Shape;544;p31"/>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545" name="Google Shape;545;p31"/>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546" name="Google Shape;546;p31"/>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1"/>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1"/>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1"/>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1"/>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1"/>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1"/>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1"/>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1"/>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1"/>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1"/>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1"/>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1"/>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1"/>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1"/>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1"/>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1"/>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1"/>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1"/>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1"/>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1"/>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1"/>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568" name="Google Shape;568;p31"/>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569" name="Google Shape;569;p31"/>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570" name="Google Shape;570;p31"/>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571" name="Google Shape;571;p31"/>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572" name="Google Shape;572;p31"/>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573" name="Google Shape;573;p31"/>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574" name="Google Shape;574;p31"/>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575" name="Google Shape;575;p31"/>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576" name="Google Shape;576;p31"/>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577" name="Google Shape;577;p31"/>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578" name="Google Shape;578;p31"/>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579" name="Google Shape;579;p31"/>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580" name="Google Shape;580;p31"/>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581" name="Google Shape;581;p31"/>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582" name="Google Shape;582;p31"/>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583" name="Google Shape;583;p31"/>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584" name="Google Shape;584;p31"/>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585" name="Google Shape;585;p31"/>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586" name="Google Shape;586;p31"/>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587" name="Google Shape;587;p31"/>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588" name="Google Shape;588;p31"/>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589" name="Google Shape;589;p31"/>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590" name="Google Shape;590;p31"/>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591" name="Google Shape;591;p31"/>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592" name="Google Shape;592;p31"/>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593" name="Google Shape;593;p31"/>
          <p:cNvSpPr txBox="1"/>
          <p:nvPr/>
        </p:nvSpPr>
        <p:spPr>
          <a:xfrm>
            <a:off x="7271075" y="4675375"/>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2"/>
          <p:cNvSpPr txBox="1"/>
          <p:nvPr>
            <p:ph idx="1" type="body"/>
          </p:nvPr>
        </p:nvSpPr>
        <p:spPr>
          <a:xfrm>
            <a:off x="311700" y="1152475"/>
            <a:ext cx="26889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Color the uncolored neighbors of level 3 cities as level 4.</a:t>
            </a:r>
            <a:br>
              <a:rPr lang="en"/>
            </a:br>
            <a:br>
              <a:rPr lang="en"/>
            </a:br>
            <a:r>
              <a:rPr b="1" lang="en" sz="2100">
                <a:solidFill>
                  <a:srgbClr val="00D9AD"/>
                </a:solidFill>
              </a:rPr>
              <a:t>This includes our destination city, </a:t>
            </a:r>
            <a:r>
              <a:rPr b="1" lang="en" sz="2100">
                <a:solidFill>
                  <a:srgbClr val="FF0000"/>
                </a:solidFill>
              </a:rPr>
              <a:t>Valdosta</a:t>
            </a:r>
            <a:r>
              <a:rPr b="1" lang="en" sz="2100">
                <a:solidFill>
                  <a:srgbClr val="00D9AD"/>
                </a:solidFill>
              </a:rPr>
              <a:t>.</a:t>
            </a:r>
            <a:endParaRPr b="1" sz="2100">
              <a:solidFill>
                <a:srgbClr val="00D9AD"/>
              </a:solidFill>
            </a:endParaRPr>
          </a:p>
          <a:p>
            <a:pPr indent="0" lvl="0" marL="0" rtl="0" algn="ctr">
              <a:spcBef>
                <a:spcPts val="1200"/>
              </a:spcBef>
              <a:spcAft>
                <a:spcPts val="1200"/>
              </a:spcAft>
              <a:buNone/>
            </a:pPr>
            <a:r>
              <a:rPr lang="en">
                <a:solidFill>
                  <a:schemeClr val="dk1"/>
                </a:solidFill>
              </a:rPr>
              <a:t>Yay!</a:t>
            </a:r>
            <a:endParaRPr>
              <a:solidFill>
                <a:schemeClr val="dk1"/>
              </a:solidFill>
            </a:endParaRPr>
          </a:p>
        </p:txBody>
      </p:sp>
      <p:sp>
        <p:nvSpPr>
          <p:cNvPr id="599" name="Google Shape;59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4</a:t>
            </a:r>
            <a:endParaRPr/>
          </a:p>
        </p:txBody>
      </p:sp>
      <p:sp>
        <p:nvSpPr>
          <p:cNvPr id="600" name="Google Shape;60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01" name="Google Shape;601;p32"/>
          <p:cNvGrpSpPr/>
          <p:nvPr/>
        </p:nvGrpSpPr>
        <p:grpSpPr>
          <a:xfrm>
            <a:off x="2819750" y="881249"/>
            <a:ext cx="4233425" cy="3845426"/>
            <a:chOff x="2819750" y="881249"/>
            <a:chExt cx="4233425" cy="3845426"/>
          </a:xfrm>
        </p:grpSpPr>
        <p:sp>
          <p:nvSpPr>
            <p:cNvPr id="602" name="Google Shape;602;p32"/>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603" name="Google Shape;603;p32"/>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604" name="Google Shape;604;p32"/>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605" name="Google Shape;605;p32"/>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606" name="Google Shape;606;p32"/>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607" name="Google Shape;607;p32"/>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608" name="Google Shape;608;p32"/>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609" name="Google Shape;609;p32"/>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610" name="Google Shape;610;p32"/>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611" name="Google Shape;611;p32"/>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612" name="Google Shape;612;p32"/>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613" name="Google Shape;613;p32"/>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614" name="Google Shape;614;p32"/>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615" name="Google Shape;615;p32"/>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616" name="Google Shape;616;p32"/>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617" name="Google Shape;617;p32"/>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618" name="Google Shape;618;p32"/>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619" name="Google Shape;619;p32"/>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620" name="Google Shape;620;p32"/>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621" name="Google Shape;621;p32"/>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622" name="Google Shape;622;p32"/>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623" name="Google Shape;623;p32"/>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624" name="Google Shape;624;p32"/>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625" name="Google Shape;625;p32"/>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626" name="Google Shape;626;p32"/>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627" name="Google Shape;627;p32"/>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628" name="Google Shape;628;p32"/>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629" name="Google Shape;629;p32"/>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630" name="Google Shape;630;p32"/>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2"/>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2"/>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2"/>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2"/>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2"/>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2"/>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2"/>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2"/>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2"/>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2"/>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2"/>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2"/>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2"/>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2"/>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2"/>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2"/>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2"/>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2"/>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2"/>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2"/>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2"/>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652" name="Google Shape;652;p32"/>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653" name="Google Shape;653;p32"/>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654" name="Google Shape;654;p32"/>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655" name="Google Shape;655;p32"/>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656" name="Google Shape;656;p32"/>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657" name="Google Shape;657;p32"/>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658" name="Google Shape;658;p32"/>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659" name="Google Shape;659;p32"/>
            <p:cNvSpPr txBox="1"/>
            <p:nvPr/>
          </p:nvSpPr>
          <p:spPr>
            <a:xfrm>
              <a:off x="4301400" y="4341775"/>
              <a:ext cx="927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FF0000"/>
                  </a:solidFill>
                </a:rPr>
                <a:t>Valdosta</a:t>
              </a:r>
              <a:endParaRPr b="1" sz="1300">
                <a:solidFill>
                  <a:srgbClr val="FF0000"/>
                </a:solidFill>
              </a:endParaRPr>
            </a:p>
          </p:txBody>
        </p:sp>
        <p:sp>
          <p:nvSpPr>
            <p:cNvPr id="660" name="Google Shape;660;p32"/>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661" name="Google Shape;661;p32"/>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662" name="Google Shape;662;p32"/>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663" name="Google Shape;663;p32"/>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664" name="Google Shape;664;p32"/>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665" name="Google Shape;665;p32"/>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666" name="Google Shape;666;p32"/>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667" name="Google Shape;667;p32"/>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668" name="Google Shape;668;p32"/>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669" name="Google Shape;669;p32"/>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670" name="Google Shape;670;p32"/>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671" name="Google Shape;671;p32"/>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672" name="Google Shape;672;p32"/>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673" name="Google Shape;673;p32"/>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674" name="Google Shape;674;p32"/>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675" name="Google Shape;675;p32"/>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676" name="Google Shape;676;p32"/>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677" name="Google Shape;677;p32"/>
          <p:cNvSpPr txBox="1"/>
          <p:nvPr/>
        </p:nvSpPr>
        <p:spPr>
          <a:xfrm>
            <a:off x="5208150" y="4552225"/>
            <a:ext cx="3574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There are still some cities left uncolored. Do we need to go to level 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33"/>
          <p:cNvSpPr txBox="1"/>
          <p:nvPr>
            <p:ph idx="1" type="body"/>
          </p:nvPr>
        </p:nvSpPr>
        <p:spPr>
          <a:xfrm>
            <a:off x="311700" y="1152475"/>
            <a:ext cx="2634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Begin at the</a:t>
            </a:r>
            <a:br>
              <a:rPr lang="en"/>
            </a:br>
            <a:r>
              <a:rPr lang="en"/>
              <a:t>destination (Valdosta) and work backwards</a:t>
            </a:r>
            <a:br>
              <a:rPr lang="en"/>
            </a:br>
            <a:r>
              <a:rPr lang="en"/>
              <a:t>toward the start (Savannah).</a:t>
            </a:r>
            <a:br>
              <a:rPr lang="en"/>
            </a:br>
            <a:endParaRPr/>
          </a:p>
          <a:p>
            <a:pPr indent="0" lvl="0" marL="0" rtl="0" algn="l">
              <a:spcBef>
                <a:spcPts val="1200"/>
              </a:spcBef>
              <a:spcAft>
                <a:spcPts val="1200"/>
              </a:spcAft>
              <a:buNone/>
            </a:pPr>
            <a:r>
              <a:rPr lang="en"/>
              <a:t>Then reverse the result.</a:t>
            </a:r>
            <a:endParaRPr/>
          </a:p>
        </p:txBody>
      </p:sp>
      <p:sp>
        <p:nvSpPr>
          <p:cNvPr id="683" name="Google Shape;68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Recovering the solution path</a:t>
            </a:r>
            <a:endParaRPr/>
          </a:p>
        </p:txBody>
      </p:sp>
      <p:sp>
        <p:nvSpPr>
          <p:cNvPr id="684" name="Google Shape;68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85" name="Google Shape;685;p33"/>
          <p:cNvGrpSpPr/>
          <p:nvPr/>
        </p:nvGrpSpPr>
        <p:grpSpPr>
          <a:xfrm>
            <a:off x="2819750" y="881249"/>
            <a:ext cx="4233425" cy="3799226"/>
            <a:chOff x="2819750" y="881249"/>
            <a:chExt cx="4233425" cy="3799226"/>
          </a:xfrm>
        </p:grpSpPr>
        <p:sp>
          <p:nvSpPr>
            <p:cNvPr id="686" name="Google Shape;686;p33"/>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687" name="Google Shape;687;p33"/>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688" name="Google Shape;688;p33"/>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689" name="Google Shape;689;p33"/>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690" name="Google Shape;690;p33"/>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691" name="Google Shape;691;p33"/>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692" name="Google Shape;692;p33"/>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693" name="Google Shape;693;p33"/>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694" name="Google Shape;694;p33"/>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695" name="Google Shape;695;p33"/>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696" name="Google Shape;696;p33"/>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697" name="Google Shape;697;p33"/>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698" name="Google Shape;698;p33"/>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699" name="Google Shape;699;p33"/>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700" name="Google Shape;700;p33"/>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701" name="Google Shape;701;p33"/>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702" name="Google Shape;702;p33"/>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703" name="Google Shape;703;p33"/>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704" name="Google Shape;704;p33"/>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705" name="Google Shape;705;p33"/>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706" name="Google Shape;706;p33"/>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707" name="Google Shape;707;p33"/>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708" name="Google Shape;708;p33"/>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709" name="Google Shape;709;p33"/>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710" name="Google Shape;710;p33"/>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711" name="Google Shape;711;p33"/>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712" name="Google Shape;712;p33"/>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713" name="Google Shape;713;p33"/>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714" name="Google Shape;714;p33"/>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3"/>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3"/>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3"/>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3"/>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3"/>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3"/>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3"/>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3"/>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3"/>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3"/>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3"/>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3"/>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3"/>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3"/>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3"/>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3"/>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3"/>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3"/>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3"/>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3"/>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3"/>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736" name="Google Shape;736;p33"/>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737" name="Google Shape;737;p33"/>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738" name="Google Shape;738;p33"/>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739" name="Google Shape;739;p33"/>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740" name="Google Shape;740;p33"/>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741" name="Google Shape;741;p33"/>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742" name="Google Shape;742;p33"/>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743" name="Google Shape;743;p33"/>
            <p:cNvSpPr txBox="1"/>
            <p:nvPr/>
          </p:nvSpPr>
          <p:spPr>
            <a:xfrm>
              <a:off x="4301400" y="4341775"/>
              <a:ext cx="72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Valdosta</a:t>
              </a:r>
              <a:endParaRPr b="1" sz="1000">
                <a:solidFill>
                  <a:srgbClr val="FF0000"/>
                </a:solidFill>
              </a:endParaRPr>
            </a:p>
          </p:txBody>
        </p:sp>
        <p:sp>
          <p:nvSpPr>
            <p:cNvPr id="744" name="Google Shape;744;p33"/>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745" name="Google Shape;745;p33"/>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746" name="Google Shape;746;p33"/>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747" name="Google Shape;747;p33"/>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748" name="Google Shape;748;p33"/>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749" name="Google Shape;749;p33"/>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750" name="Google Shape;750;p33"/>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751" name="Google Shape;751;p33"/>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752" name="Google Shape;752;p33"/>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753" name="Google Shape;753;p33"/>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754" name="Google Shape;754;p33"/>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755" name="Google Shape;755;p33"/>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756" name="Google Shape;756;p33"/>
          <p:cNvSpPr/>
          <p:nvPr/>
        </p:nvSpPr>
        <p:spPr>
          <a:xfrm>
            <a:off x="4714150" y="3250825"/>
            <a:ext cx="1603500" cy="1095300"/>
          </a:xfrm>
          <a:custGeom>
            <a:rect b="b" l="l" r="r" t="t"/>
            <a:pathLst>
              <a:path extrusionOk="0" h="43812" w="64140">
                <a:moveTo>
                  <a:pt x="0" y="43812"/>
                </a:moveTo>
                <a:lnTo>
                  <a:pt x="29091" y="32596"/>
                </a:lnTo>
                <a:lnTo>
                  <a:pt x="55378" y="32947"/>
                </a:lnTo>
                <a:lnTo>
                  <a:pt x="49770" y="10866"/>
                </a:lnTo>
                <a:lnTo>
                  <a:pt x="64140" y="0"/>
                </a:lnTo>
              </a:path>
            </a:pathLst>
          </a:custGeom>
          <a:noFill/>
          <a:ln cap="flat" cmpd="sng" w="38100">
            <a:solidFill>
              <a:srgbClr val="FF0000"/>
            </a:solidFill>
            <a:prstDash val="solid"/>
            <a:round/>
            <a:headEnd len="med" w="med" type="triangle"/>
            <a:tailEnd len="med" w="med" type="none"/>
          </a:ln>
        </p:spPr>
      </p:sp>
      <p:sp>
        <p:nvSpPr>
          <p:cNvPr id="757" name="Google Shape;757;p33"/>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758" name="Google Shape;758;p33"/>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759" name="Google Shape;759;p33"/>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760" name="Google Shape;760;p33"/>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761" name="Google Shape;761;p33"/>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762" name="Google Shape;762;p33"/>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763" name="Google Shape;763;p33"/>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764" name="Google Shape;764;p33"/>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765" name="Google Shape;765;p33"/>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766" name="Google Shape;766;p33"/>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Errors Do Students Make?</a:t>
            </a:r>
            <a:endParaRPr/>
          </a:p>
        </p:txBody>
      </p:sp>
      <p:sp>
        <p:nvSpPr>
          <p:cNvPr id="772" name="Google Shape;77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Missing some of the uncolored neighbors of a node.</a:t>
            </a:r>
            <a:br>
              <a:rPr lang="en"/>
            </a:br>
            <a:endParaRPr/>
          </a:p>
          <a:p>
            <a:pPr indent="-342900" lvl="0" marL="457200" rtl="0" algn="l">
              <a:spcBef>
                <a:spcPts val="0"/>
              </a:spcBef>
              <a:spcAft>
                <a:spcPts val="0"/>
              </a:spcAft>
              <a:buSzPts val="1800"/>
              <a:buAutoNum type="arabicPeriod"/>
            </a:pPr>
            <a:r>
              <a:rPr lang="en"/>
              <a:t>Coloring a node that has already been colored.</a:t>
            </a:r>
            <a:br>
              <a:rPr lang="en"/>
            </a:br>
            <a:endParaRPr/>
          </a:p>
          <a:p>
            <a:pPr indent="-342900" lvl="0" marL="457200" rtl="0" algn="l">
              <a:spcBef>
                <a:spcPts val="0"/>
              </a:spcBef>
              <a:spcAft>
                <a:spcPts val="0"/>
              </a:spcAft>
              <a:buSzPts val="1800"/>
              <a:buAutoNum type="arabicPeriod"/>
            </a:pPr>
            <a:r>
              <a:rPr lang="en"/>
              <a:t>Continuing to color nodes after the target node has been reached.</a:t>
            </a:r>
            <a:endParaRPr/>
          </a:p>
        </p:txBody>
      </p:sp>
      <p:sp>
        <p:nvSpPr>
          <p:cNvPr id="773" name="Google Shape;77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35"/>
          <p:cNvSpPr txBox="1"/>
          <p:nvPr>
            <p:ph type="title"/>
          </p:nvPr>
        </p:nvSpPr>
        <p:spPr>
          <a:xfrm>
            <a:off x="490250" y="450150"/>
            <a:ext cx="6613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Now we will use our worksheets</a:t>
            </a:r>
            <a:br>
              <a:rPr lang="en"/>
            </a:br>
            <a:r>
              <a:rPr lang="en"/>
              <a:t>to find the route from</a:t>
            </a:r>
            <a:br>
              <a:rPr lang="en"/>
            </a:br>
            <a:r>
              <a:rPr lang="en"/>
              <a:t>Columbus to Hinesville</a:t>
            </a:r>
            <a:endParaRPr/>
          </a:p>
        </p:txBody>
      </p:sp>
      <p:sp>
        <p:nvSpPr>
          <p:cNvPr id="779" name="Google Shape;77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our start city:</a:t>
            </a:r>
            <a:br>
              <a:rPr lang="en"/>
            </a:br>
            <a:r>
              <a:rPr lang="en"/>
              <a:t>Columbus is level 0.</a:t>
            </a:r>
            <a:endParaRPr/>
          </a:p>
        </p:txBody>
      </p:sp>
      <p:sp>
        <p:nvSpPr>
          <p:cNvPr id="785" name="Google Shape;78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 Try It: Columbus to Hinesville</a:t>
            </a:r>
            <a:endParaRPr/>
          </a:p>
        </p:txBody>
      </p:sp>
      <p:sp>
        <p:nvSpPr>
          <p:cNvPr id="786" name="Google Shape;786;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87" name="Google Shape;787;p36"/>
          <p:cNvGrpSpPr/>
          <p:nvPr/>
        </p:nvGrpSpPr>
        <p:grpSpPr>
          <a:xfrm>
            <a:off x="2819750" y="881249"/>
            <a:ext cx="4233425" cy="3768338"/>
            <a:chOff x="2819750" y="881249"/>
            <a:chExt cx="4233425" cy="3768338"/>
          </a:xfrm>
        </p:grpSpPr>
        <p:sp>
          <p:nvSpPr>
            <p:cNvPr id="788" name="Google Shape;788;p36"/>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789" name="Google Shape;789;p36"/>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790" name="Google Shape;790;p36"/>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791" name="Google Shape;791;p36"/>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792" name="Google Shape;792;p36"/>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793" name="Google Shape;793;p36"/>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794" name="Google Shape;794;p36"/>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795" name="Google Shape;795;p36"/>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796" name="Google Shape;796;p36"/>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797" name="Google Shape;797;p36"/>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798" name="Google Shape;798;p36"/>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799" name="Google Shape;799;p36"/>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800" name="Google Shape;800;p36"/>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801" name="Google Shape;801;p36"/>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802" name="Google Shape;802;p36"/>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803" name="Google Shape;803;p36"/>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804" name="Google Shape;804;p36"/>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805" name="Google Shape;805;p36"/>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806" name="Google Shape;806;p36"/>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807" name="Google Shape;807;p36"/>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808" name="Google Shape;808;p36"/>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809" name="Google Shape;809;p36"/>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810" name="Google Shape;810;p36"/>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811" name="Google Shape;811;p36"/>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812" name="Google Shape;812;p36"/>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813" name="Google Shape;813;p36"/>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814" name="Google Shape;814;p36"/>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815" name="Google Shape;815;p36"/>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816" name="Google Shape;816;p36"/>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6"/>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6"/>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6"/>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6"/>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6"/>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6"/>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6"/>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6"/>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6"/>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6"/>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6"/>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6"/>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6"/>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6"/>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6"/>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6"/>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6"/>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6"/>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6"/>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6"/>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6"/>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838" name="Google Shape;838;p36"/>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839" name="Google Shape;839;p36"/>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840" name="Google Shape;840;p36"/>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841" name="Google Shape;841;p36"/>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842" name="Google Shape;842;p36"/>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843" name="Google Shape;843;p36"/>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844" name="Google Shape;844;p36"/>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845" name="Google Shape;845;p36"/>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846" name="Google Shape;846;p36"/>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847" name="Google Shape;847;p36"/>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848" name="Google Shape;848;p36"/>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849" name="Google Shape;849;p36"/>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850" name="Google Shape;850;p36"/>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851" name="Google Shape;851;p36"/>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852" name="Google Shape;852;p36"/>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853" name="Google Shape;853;p36"/>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980000"/>
                  </a:solidFill>
                </a:rPr>
                <a:t>Hinesville</a:t>
              </a:r>
              <a:endParaRPr sz="800">
                <a:solidFill>
                  <a:srgbClr val="980000"/>
                </a:solidFill>
              </a:endParaRPr>
            </a:p>
          </p:txBody>
        </p:sp>
        <p:sp>
          <p:nvSpPr>
            <p:cNvPr id="854" name="Google Shape;854;p36"/>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855" name="Google Shape;855;p36"/>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856" name="Google Shape;856;p36"/>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857" name="Google Shape;857;p36"/>
          <p:cNvSpPr txBox="1"/>
          <p:nvPr/>
        </p:nvSpPr>
        <p:spPr>
          <a:xfrm>
            <a:off x="7292450" y="4703625"/>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858" name="Google Shape;858;p36"/>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859" name="Google Shape;859;p36"/>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860" name="Google Shape;860;p36"/>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 Try It: Columbus to Hinesville</a:t>
            </a:r>
            <a:endParaRPr/>
          </a:p>
        </p:txBody>
      </p:sp>
      <p:sp>
        <p:nvSpPr>
          <p:cNvPr id="866" name="Google Shape;86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867" name="Google Shape;867;p37"/>
          <p:cNvGrpSpPr/>
          <p:nvPr/>
        </p:nvGrpSpPr>
        <p:grpSpPr>
          <a:xfrm>
            <a:off x="2819750" y="881249"/>
            <a:ext cx="4233425" cy="3768338"/>
            <a:chOff x="2819750" y="881249"/>
            <a:chExt cx="4233425" cy="3768338"/>
          </a:xfrm>
        </p:grpSpPr>
        <p:sp>
          <p:nvSpPr>
            <p:cNvPr id="868" name="Google Shape;868;p37"/>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869" name="Google Shape;869;p37"/>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870" name="Google Shape;870;p37"/>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871" name="Google Shape;871;p37"/>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872" name="Google Shape;872;p37"/>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873" name="Google Shape;873;p37"/>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874" name="Google Shape;874;p37"/>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875" name="Google Shape;875;p37"/>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876" name="Google Shape;876;p37"/>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877" name="Google Shape;877;p37"/>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878" name="Google Shape;878;p37"/>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879" name="Google Shape;879;p37"/>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880" name="Google Shape;880;p37"/>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881" name="Google Shape;881;p37"/>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882" name="Google Shape;882;p37"/>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883" name="Google Shape;883;p37"/>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884" name="Google Shape;884;p37"/>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885" name="Google Shape;885;p37"/>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886" name="Google Shape;886;p37"/>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887" name="Google Shape;887;p37"/>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888" name="Google Shape;888;p37"/>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889" name="Google Shape;889;p37"/>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890" name="Google Shape;890;p37"/>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891" name="Google Shape;891;p37"/>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892" name="Google Shape;892;p37"/>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893" name="Google Shape;893;p37"/>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894" name="Google Shape;894;p37"/>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895" name="Google Shape;895;p37"/>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896" name="Google Shape;896;p37"/>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7"/>
            <p:cNvSpPr/>
            <p:nvPr/>
          </p:nvSpPr>
          <p:spPr>
            <a:xfrm>
              <a:off x="3392100" y="2294548"/>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7"/>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7"/>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7"/>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7"/>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7"/>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7"/>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7"/>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7"/>
            <p:cNvSpPr/>
            <p:nvPr/>
          </p:nvSpPr>
          <p:spPr>
            <a:xfrm>
              <a:off x="3580800" y="4240257"/>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7"/>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7"/>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7"/>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7"/>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7"/>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7"/>
            <p:cNvSpPr/>
            <p:nvPr/>
          </p:nvSpPr>
          <p:spPr>
            <a:xfrm>
              <a:off x="4378300" y="2792923"/>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7"/>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7"/>
            <p:cNvSpPr/>
            <p:nvPr/>
          </p:nvSpPr>
          <p:spPr>
            <a:xfrm>
              <a:off x="3988300" y="3576623"/>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7"/>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7"/>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7"/>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7"/>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918" name="Google Shape;918;p37"/>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919" name="Google Shape;919;p37"/>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920" name="Google Shape;920;p37"/>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921" name="Google Shape;921;p37"/>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922" name="Google Shape;922;p37"/>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923" name="Google Shape;923;p37"/>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924" name="Google Shape;924;p37"/>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925" name="Google Shape;925;p37"/>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926" name="Google Shape;926;p37"/>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927" name="Google Shape;927;p37"/>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928" name="Google Shape;928;p37"/>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929" name="Google Shape;929;p37"/>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930" name="Google Shape;930;p37"/>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931" name="Google Shape;931;p37"/>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932" name="Google Shape;932;p37"/>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933" name="Google Shape;933;p37"/>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980000"/>
                  </a:solidFill>
                </a:rPr>
                <a:t>Hinesville</a:t>
              </a:r>
              <a:endParaRPr sz="800">
                <a:solidFill>
                  <a:srgbClr val="980000"/>
                </a:solidFill>
              </a:endParaRPr>
            </a:p>
          </p:txBody>
        </p:sp>
        <p:sp>
          <p:nvSpPr>
            <p:cNvPr id="934" name="Google Shape;934;p37"/>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935" name="Google Shape;935;p37"/>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936" name="Google Shape;936;p37"/>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937" name="Google Shape;937;p37"/>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938" name="Google Shape;938;p37"/>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939" name="Google Shape;939;p37"/>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940" name="Google Shape;940;p37"/>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941" name="Google Shape;941;p37"/>
          <p:cNvSpPr txBox="1"/>
          <p:nvPr/>
        </p:nvSpPr>
        <p:spPr>
          <a:xfrm>
            <a:off x="7292425" y="4690675"/>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942" name="Google Shape;942;p37"/>
          <p:cNvSpPr txBox="1"/>
          <p:nvPr>
            <p:ph idx="1" type="body"/>
          </p:nvPr>
        </p:nvSpPr>
        <p:spPr>
          <a:xfrm>
            <a:off x="311700" y="1152475"/>
            <a:ext cx="2683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cities reachable from Columbus as level 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 Try It: Columbus to Hinesville</a:t>
            </a:r>
            <a:endParaRPr/>
          </a:p>
        </p:txBody>
      </p:sp>
      <p:sp>
        <p:nvSpPr>
          <p:cNvPr id="948" name="Google Shape;948;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949" name="Google Shape;949;p38"/>
          <p:cNvGrpSpPr/>
          <p:nvPr/>
        </p:nvGrpSpPr>
        <p:grpSpPr>
          <a:xfrm>
            <a:off x="2819750" y="881249"/>
            <a:ext cx="4233425" cy="3768338"/>
            <a:chOff x="2819750" y="881249"/>
            <a:chExt cx="4233425" cy="3768338"/>
          </a:xfrm>
        </p:grpSpPr>
        <p:sp>
          <p:nvSpPr>
            <p:cNvPr id="950" name="Google Shape;950;p38"/>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951" name="Google Shape;951;p38"/>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952" name="Google Shape;952;p38"/>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953" name="Google Shape;953;p38"/>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954" name="Google Shape;954;p38"/>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955" name="Google Shape;955;p38"/>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956" name="Google Shape;956;p38"/>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957" name="Google Shape;957;p38"/>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958" name="Google Shape;958;p38"/>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959" name="Google Shape;959;p38"/>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960" name="Google Shape;960;p38"/>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961" name="Google Shape;961;p38"/>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962" name="Google Shape;962;p38"/>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963" name="Google Shape;963;p38"/>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964" name="Google Shape;964;p38"/>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965" name="Google Shape;965;p38"/>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966" name="Google Shape;966;p38"/>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967" name="Google Shape;967;p38"/>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968" name="Google Shape;968;p38"/>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969" name="Google Shape;969;p38"/>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970" name="Google Shape;970;p38"/>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971" name="Google Shape;971;p38"/>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972" name="Google Shape;972;p38"/>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973" name="Google Shape;973;p38"/>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974" name="Google Shape;974;p38"/>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975" name="Google Shape;975;p38"/>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976" name="Google Shape;976;p38"/>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977" name="Google Shape;977;p38"/>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978" name="Google Shape;978;p38"/>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8"/>
            <p:cNvSpPr/>
            <p:nvPr/>
          </p:nvSpPr>
          <p:spPr>
            <a:xfrm>
              <a:off x="3392100" y="2294548"/>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8"/>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8"/>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8"/>
            <p:cNvSpPr/>
            <p:nvPr/>
          </p:nvSpPr>
          <p:spPr>
            <a:xfrm>
              <a:off x="4874000" y="3192223"/>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8"/>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8"/>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8"/>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8"/>
            <p:cNvSpPr/>
            <p:nvPr/>
          </p:nvSpPr>
          <p:spPr>
            <a:xfrm>
              <a:off x="4612025" y="424024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8"/>
            <p:cNvSpPr/>
            <p:nvPr/>
          </p:nvSpPr>
          <p:spPr>
            <a:xfrm>
              <a:off x="3580800" y="4240257"/>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8"/>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8"/>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8"/>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8"/>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8"/>
            <p:cNvSpPr/>
            <p:nvPr/>
          </p:nvSpPr>
          <p:spPr>
            <a:xfrm>
              <a:off x="4378300" y="247739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8"/>
            <p:cNvSpPr/>
            <p:nvPr/>
          </p:nvSpPr>
          <p:spPr>
            <a:xfrm>
              <a:off x="4378300" y="2792923"/>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8"/>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8"/>
            <p:cNvSpPr/>
            <p:nvPr/>
          </p:nvSpPr>
          <p:spPr>
            <a:xfrm>
              <a:off x="3988300" y="3576623"/>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8"/>
            <p:cNvSpPr/>
            <p:nvPr/>
          </p:nvSpPr>
          <p:spPr>
            <a:xfrm>
              <a:off x="4477650" y="3687623"/>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8"/>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8"/>
            <p:cNvSpPr/>
            <p:nvPr/>
          </p:nvSpPr>
          <p:spPr>
            <a:xfrm>
              <a:off x="3576395" y="198974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8"/>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000" name="Google Shape;1000;p38"/>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001" name="Google Shape;1001;p38"/>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002" name="Google Shape;1002;p38"/>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003" name="Google Shape;1003;p38"/>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004" name="Google Shape;1004;p38"/>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005" name="Google Shape;1005;p38"/>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006" name="Google Shape;1006;p38"/>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007" name="Google Shape;1007;p38"/>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008" name="Google Shape;1008;p38"/>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009" name="Google Shape;1009;p38"/>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010" name="Google Shape;1010;p38"/>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011" name="Google Shape;1011;p38"/>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012" name="Google Shape;1012;p38"/>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013" name="Google Shape;1013;p38"/>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980000"/>
                  </a:solidFill>
                </a:rPr>
                <a:t>Hinesville</a:t>
              </a:r>
              <a:endParaRPr sz="800">
                <a:solidFill>
                  <a:srgbClr val="980000"/>
                </a:solidFill>
              </a:endParaRPr>
            </a:p>
          </p:txBody>
        </p:sp>
        <p:sp>
          <p:nvSpPr>
            <p:cNvPr id="1014" name="Google Shape;1014;p38"/>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015" name="Google Shape;1015;p38"/>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016" name="Google Shape;1016;p38"/>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017" name="Google Shape;1017;p38"/>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018" name="Google Shape;1018;p38"/>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019" name="Google Shape;1019;p38"/>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020" name="Google Shape;1020;p38"/>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1021" name="Google Shape;1021;p38"/>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022" name="Google Shape;1022;p38"/>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023" name="Google Shape;1023;p38"/>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024" name="Google Shape;1024;p38"/>
          <p:cNvSpPr txBox="1"/>
          <p:nvPr/>
        </p:nvSpPr>
        <p:spPr>
          <a:xfrm>
            <a:off x="7281750" y="4690675"/>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025" name="Google Shape;1025;p38"/>
          <p:cNvSpPr txBox="1"/>
          <p:nvPr>
            <p:ph idx="1" type="body"/>
          </p:nvPr>
        </p:nvSpPr>
        <p:spPr>
          <a:xfrm>
            <a:off x="311700" y="1152475"/>
            <a:ext cx="247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uncolored neighbors of level 1 cities as level 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 Try It: Columbus to Hinesville</a:t>
            </a:r>
            <a:endParaRPr/>
          </a:p>
        </p:txBody>
      </p:sp>
      <p:grpSp>
        <p:nvGrpSpPr>
          <p:cNvPr id="1031" name="Google Shape;1031;p39"/>
          <p:cNvGrpSpPr/>
          <p:nvPr/>
        </p:nvGrpSpPr>
        <p:grpSpPr>
          <a:xfrm>
            <a:off x="2819750" y="881249"/>
            <a:ext cx="4233425" cy="3768338"/>
            <a:chOff x="2819750" y="881249"/>
            <a:chExt cx="4233425" cy="3768338"/>
          </a:xfrm>
        </p:grpSpPr>
        <p:sp>
          <p:nvSpPr>
            <p:cNvPr id="1032" name="Google Shape;1032;p39"/>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033" name="Google Shape;1033;p39"/>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034" name="Google Shape;1034;p39"/>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035" name="Google Shape;1035;p39"/>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036" name="Google Shape;1036;p39"/>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037" name="Google Shape;1037;p39"/>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038" name="Google Shape;1038;p39"/>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039" name="Google Shape;1039;p39"/>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040" name="Google Shape;1040;p39"/>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041" name="Google Shape;1041;p39"/>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042" name="Google Shape;1042;p39"/>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043" name="Google Shape;1043;p39"/>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044" name="Google Shape;1044;p39"/>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045" name="Google Shape;1045;p39"/>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046" name="Google Shape;1046;p39"/>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047" name="Google Shape;1047;p39"/>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048" name="Google Shape;1048;p39"/>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049" name="Google Shape;1049;p39"/>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050" name="Google Shape;1050;p39"/>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051" name="Google Shape;1051;p39"/>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052" name="Google Shape;1052;p39"/>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053" name="Google Shape;1053;p39"/>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054" name="Google Shape;1054;p39"/>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055" name="Google Shape;1055;p39"/>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056" name="Google Shape;1056;p39"/>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057" name="Google Shape;1057;p39"/>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058" name="Google Shape;1058;p39"/>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059" name="Google Shape;1059;p39"/>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060" name="Google Shape;1060;p39"/>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9"/>
            <p:cNvSpPr/>
            <p:nvPr/>
          </p:nvSpPr>
          <p:spPr>
            <a:xfrm>
              <a:off x="3392100" y="2294548"/>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9"/>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9"/>
            <p:cNvSpPr/>
            <p:nvPr/>
          </p:nvSpPr>
          <p:spPr>
            <a:xfrm>
              <a:off x="5667425" y="2829223"/>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9"/>
            <p:cNvSpPr/>
            <p:nvPr/>
          </p:nvSpPr>
          <p:spPr>
            <a:xfrm>
              <a:off x="4874000" y="3192223"/>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9"/>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9"/>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9"/>
            <p:cNvSpPr/>
            <p:nvPr/>
          </p:nvSpPr>
          <p:spPr>
            <a:xfrm>
              <a:off x="5320000" y="3964698"/>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9"/>
            <p:cNvSpPr/>
            <p:nvPr/>
          </p:nvSpPr>
          <p:spPr>
            <a:xfrm>
              <a:off x="4612025" y="424024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9"/>
            <p:cNvSpPr/>
            <p:nvPr/>
          </p:nvSpPr>
          <p:spPr>
            <a:xfrm>
              <a:off x="3580800" y="4240257"/>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9"/>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9"/>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9"/>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9"/>
            <p:cNvSpPr/>
            <p:nvPr/>
          </p:nvSpPr>
          <p:spPr>
            <a:xfrm>
              <a:off x="4612025" y="2258323"/>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9"/>
            <p:cNvSpPr/>
            <p:nvPr/>
          </p:nvSpPr>
          <p:spPr>
            <a:xfrm>
              <a:off x="4378300" y="247739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9"/>
            <p:cNvSpPr/>
            <p:nvPr/>
          </p:nvSpPr>
          <p:spPr>
            <a:xfrm>
              <a:off x="4378300" y="2792923"/>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9"/>
            <p:cNvSpPr/>
            <p:nvPr/>
          </p:nvSpPr>
          <p:spPr>
            <a:xfrm>
              <a:off x="5856125" y="3424948"/>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9"/>
            <p:cNvSpPr/>
            <p:nvPr/>
          </p:nvSpPr>
          <p:spPr>
            <a:xfrm>
              <a:off x="3988300" y="3576623"/>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9"/>
            <p:cNvSpPr/>
            <p:nvPr/>
          </p:nvSpPr>
          <p:spPr>
            <a:xfrm>
              <a:off x="4477650" y="3687623"/>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9"/>
            <p:cNvSpPr/>
            <p:nvPr/>
          </p:nvSpPr>
          <p:spPr>
            <a:xfrm>
              <a:off x="3881195" y="1653787"/>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9"/>
            <p:cNvSpPr/>
            <p:nvPr/>
          </p:nvSpPr>
          <p:spPr>
            <a:xfrm>
              <a:off x="3576395" y="198974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9"/>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082" name="Google Shape;1082;p39"/>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083" name="Google Shape;1083;p39"/>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084" name="Google Shape;1084;p39"/>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085" name="Google Shape;1085;p39"/>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086" name="Google Shape;1086;p39"/>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087" name="Google Shape;1087;p39"/>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088" name="Google Shape;1088;p39"/>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089" name="Google Shape;1089;p39"/>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090" name="Google Shape;1090;p39"/>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091" name="Google Shape;1091;p39"/>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092" name="Google Shape;1092;p39"/>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093" name="Google Shape;1093;p39"/>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094" name="Google Shape;1094;p39"/>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980000"/>
                  </a:solidFill>
                </a:rPr>
                <a:t>Hinesville</a:t>
              </a:r>
              <a:endParaRPr sz="800">
                <a:solidFill>
                  <a:srgbClr val="980000"/>
                </a:solidFill>
              </a:endParaRPr>
            </a:p>
          </p:txBody>
        </p:sp>
        <p:sp>
          <p:nvSpPr>
            <p:cNvPr id="1095" name="Google Shape;1095;p39"/>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096" name="Google Shape;1096;p39"/>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097" name="Google Shape;1097;p39"/>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098" name="Google Shape;1098;p39"/>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099" name="Google Shape;1099;p39"/>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100" name="Google Shape;1100;p39"/>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101" name="Google Shape;1101;p39"/>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102" name="Google Shape;1102;p39"/>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103" name="Google Shape;1103;p39"/>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104" name="Google Shape;1104;p39"/>
          <p:cNvSpPr txBox="1"/>
          <p:nvPr>
            <p:ph idx="1" type="body"/>
          </p:nvPr>
        </p:nvSpPr>
        <p:spPr>
          <a:xfrm>
            <a:off x="311700" y="1152475"/>
            <a:ext cx="247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uncolored neighbors of level 2 cities as level 3.</a:t>
            </a:r>
            <a:endParaRPr/>
          </a:p>
        </p:txBody>
      </p:sp>
      <p:sp>
        <p:nvSpPr>
          <p:cNvPr id="1105" name="Google Shape;1105;p39"/>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106" name="Google Shape;1106;p39"/>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107" name="Google Shape;110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a:t>
            </a:r>
            <a:r>
              <a:rPr lang="en"/>
              <a:t>: Columbus to Hinesville</a:t>
            </a:r>
            <a:endParaRPr/>
          </a:p>
        </p:txBody>
      </p:sp>
      <p:grpSp>
        <p:nvGrpSpPr>
          <p:cNvPr id="1113" name="Google Shape;1113;p40"/>
          <p:cNvGrpSpPr/>
          <p:nvPr/>
        </p:nvGrpSpPr>
        <p:grpSpPr>
          <a:xfrm>
            <a:off x="2819750" y="881249"/>
            <a:ext cx="4233425" cy="3768338"/>
            <a:chOff x="2819750" y="881249"/>
            <a:chExt cx="4233425" cy="3768338"/>
          </a:xfrm>
        </p:grpSpPr>
        <p:sp>
          <p:nvSpPr>
            <p:cNvPr id="1114" name="Google Shape;1114;p40"/>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115" name="Google Shape;1115;p40"/>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116" name="Google Shape;1116;p40"/>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117" name="Google Shape;1117;p40"/>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118" name="Google Shape;1118;p40"/>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119" name="Google Shape;1119;p40"/>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120" name="Google Shape;1120;p40"/>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121" name="Google Shape;1121;p40"/>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122" name="Google Shape;1122;p40"/>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123" name="Google Shape;1123;p40"/>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124" name="Google Shape;1124;p40"/>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125" name="Google Shape;1125;p40"/>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126" name="Google Shape;1126;p40"/>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127" name="Google Shape;1127;p40"/>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128" name="Google Shape;1128;p40"/>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129" name="Google Shape;1129;p40"/>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130" name="Google Shape;1130;p40"/>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131" name="Google Shape;1131;p40"/>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132" name="Google Shape;1132;p40"/>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133" name="Google Shape;1133;p40"/>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134" name="Google Shape;1134;p40"/>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135" name="Google Shape;1135;p40"/>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136" name="Google Shape;1136;p40"/>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137" name="Google Shape;1137;p40"/>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138" name="Google Shape;1138;p40"/>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139" name="Google Shape;1139;p40"/>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140" name="Google Shape;1140;p40"/>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141" name="Google Shape;1141;p40"/>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142" name="Google Shape;1142;p40"/>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0"/>
            <p:cNvSpPr/>
            <p:nvPr/>
          </p:nvSpPr>
          <p:spPr>
            <a:xfrm>
              <a:off x="3392100" y="2294548"/>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0"/>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0"/>
            <p:cNvSpPr/>
            <p:nvPr/>
          </p:nvSpPr>
          <p:spPr>
            <a:xfrm>
              <a:off x="5667425" y="2829223"/>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0"/>
            <p:cNvSpPr/>
            <p:nvPr/>
          </p:nvSpPr>
          <p:spPr>
            <a:xfrm>
              <a:off x="4874000" y="3192223"/>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0"/>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0"/>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0"/>
            <p:cNvSpPr/>
            <p:nvPr/>
          </p:nvSpPr>
          <p:spPr>
            <a:xfrm>
              <a:off x="5320000" y="3964698"/>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40"/>
            <p:cNvSpPr/>
            <p:nvPr/>
          </p:nvSpPr>
          <p:spPr>
            <a:xfrm>
              <a:off x="4612025" y="424024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0"/>
            <p:cNvSpPr/>
            <p:nvPr/>
          </p:nvSpPr>
          <p:spPr>
            <a:xfrm>
              <a:off x="3580800" y="4240257"/>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0"/>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0"/>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0"/>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0"/>
            <p:cNvSpPr/>
            <p:nvPr/>
          </p:nvSpPr>
          <p:spPr>
            <a:xfrm>
              <a:off x="4612025" y="2258323"/>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0"/>
            <p:cNvSpPr/>
            <p:nvPr/>
          </p:nvSpPr>
          <p:spPr>
            <a:xfrm>
              <a:off x="4378300" y="247739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0"/>
            <p:cNvSpPr/>
            <p:nvPr/>
          </p:nvSpPr>
          <p:spPr>
            <a:xfrm>
              <a:off x="4378300" y="2792923"/>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0"/>
            <p:cNvSpPr/>
            <p:nvPr/>
          </p:nvSpPr>
          <p:spPr>
            <a:xfrm>
              <a:off x="5856125" y="3424948"/>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0"/>
            <p:cNvSpPr/>
            <p:nvPr/>
          </p:nvSpPr>
          <p:spPr>
            <a:xfrm>
              <a:off x="3988300" y="3576623"/>
              <a:ext cx="188700" cy="1887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40"/>
            <p:cNvSpPr/>
            <p:nvPr/>
          </p:nvSpPr>
          <p:spPr>
            <a:xfrm>
              <a:off x="4477650" y="3687623"/>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0"/>
            <p:cNvSpPr/>
            <p:nvPr/>
          </p:nvSpPr>
          <p:spPr>
            <a:xfrm>
              <a:off x="3881195" y="1653787"/>
              <a:ext cx="188700" cy="188700"/>
            </a:xfrm>
            <a:prstGeom prst="ellipse">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0"/>
            <p:cNvSpPr/>
            <p:nvPr/>
          </p:nvSpPr>
          <p:spPr>
            <a:xfrm>
              <a:off x="3576395" y="1989748"/>
              <a:ext cx="188700" cy="1887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0"/>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164" name="Google Shape;1164;p40"/>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165" name="Google Shape;1165;p40"/>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166" name="Google Shape;1166;p40"/>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167" name="Google Shape;1167;p40"/>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168" name="Google Shape;1168;p40"/>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169" name="Google Shape;1169;p40"/>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170" name="Google Shape;1170;p40"/>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171" name="Google Shape;1171;p40"/>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172" name="Google Shape;1172;p40"/>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173" name="Google Shape;1173;p40"/>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174" name="Google Shape;1174;p40"/>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175" name="Google Shape;1175;p40"/>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176" name="Google Shape;1176;p40"/>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980000"/>
                  </a:solidFill>
                </a:rPr>
                <a:t>Hinesville</a:t>
              </a:r>
              <a:endParaRPr sz="800">
                <a:solidFill>
                  <a:srgbClr val="980000"/>
                </a:solidFill>
              </a:endParaRPr>
            </a:p>
          </p:txBody>
        </p:sp>
        <p:sp>
          <p:nvSpPr>
            <p:cNvPr id="1177" name="Google Shape;1177;p40"/>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178" name="Google Shape;1178;p40"/>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179" name="Google Shape;1179;p40"/>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180" name="Google Shape;1180;p40"/>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181" name="Google Shape;1181;p40"/>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182" name="Google Shape;1182;p40"/>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183" name="Google Shape;1183;p40"/>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184" name="Google Shape;1184;p40"/>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185" name="Google Shape;1185;p40"/>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186" name="Google Shape;1186;p40"/>
          <p:cNvSpPr txBox="1"/>
          <p:nvPr>
            <p:ph idx="1" type="body"/>
          </p:nvPr>
        </p:nvSpPr>
        <p:spPr>
          <a:xfrm>
            <a:off x="311700" y="1152475"/>
            <a:ext cx="247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Now recover the solution path by tracing backward from Hinesville.</a:t>
            </a:r>
            <a:endParaRPr/>
          </a:p>
        </p:txBody>
      </p:sp>
      <p:sp>
        <p:nvSpPr>
          <p:cNvPr id="1187" name="Google Shape;1187;p40"/>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188" name="Google Shape;1188;p40"/>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cxnSp>
        <p:nvCxnSpPr>
          <p:cNvPr id="1189" name="Google Shape;1189;p40"/>
          <p:cNvCxnSpPr>
            <a:stCxn id="1144" idx="6"/>
          </p:cNvCxnSpPr>
          <p:nvPr/>
        </p:nvCxnSpPr>
        <p:spPr>
          <a:xfrm>
            <a:off x="3580800" y="2846098"/>
            <a:ext cx="789300" cy="54600"/>
          </a:xfrm>
          <a:prstGeom prst="straightConnector1">
            <a:avLst/>
          </a:prstGeom>
          <a:noFill/>
          <a:ln cap="flat" cmpd="sng" w="28575">
            <a:solidFill>
              <a:srgbClr val="FF0000"/>
            </a:solidFill>
            <a:prstDash val="solid"/>
            <a:round/>
            <a:headEnd len="med" w="med" type="none"/>
            <a:tailEnd len="med" w="med" type="triangle"/>
          </a:ln>
        </p:spPr>
      </p:cxnSp>
      <p:cxnSp>
        <p:nvCxnSpPr>
          <p:cNvPr id="1190" name="Google Shape;1190;p40"/>
          <p:cNvCxnSpPr/>
          <p:nvPr/>
        </p:nvCxnSpPr>
        <p:spPr>
          <a:xfrm>
            <a:off x="4546050" y="2924700"/>
            <a:ext cx="390000" cy="333300"/>
          </a:xfrm>
          <a:prstGeom prst="straightConnector1">
            <a:avLst/>
          </a:prstGeom>
          <a:noFill/>
          <a:ln cap="flat" cmpd="sng" w="28575">
            <a:solidFill>
              <a:srgbClr val="FF0000"/>
            </a:solidFill>
            <a:prstDash val="solid"/>
            <a:round/>
            <a:headEnd len="med" w="med" type="none"/>
            <a:tailEnd len="med" w="med" type="triangle"/>
          </a:ln>
        </p:spPr>
      </p:cxnSp>
      <p:cxnSp>
        <p:nvCxnSpPr>
          <p:cNvPr id="1191" name="Google Shape;1191;p40"/>
          <p:cNvCxnSpPr/>
          <p:nvPr/>
        </p:nvCxnSpPr>
        <p:spPr>
          <a:xfrm>
            <a:off x="5084200" y="3310450"/>
            <a:ext cx="766800" cy="228600"/>
          </a:xfrm>
          <a:prstGeom prst="straightConnector1">
            <a:avLst/>
          </a:prstGeom>
          <a:noFill/>
          <a:ln cap="flat" cmpd="sng" w="28575">
            <a:solidFill>
              <a:srgbClr val="FF0000"/>
            </a:solidFill>
            <a:prstDash val="solid"/>
            <a:round/>
            <a:headEnd len="med" w="med" type="none"/>
            <a:tailEnd len="med" w="med" type="triangle"/>
          </a:ln>
        </p:spPr>
      </p:cxnSp>
      <p:sp>
        <p:nvSpPr>
          <p:cNvPr id="1192" name="Google Shape;119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Search Tree</a:t>
            </a:r>
            <a:endParaRPr/>
          </a:p>
        </p:txBody>
      </p:sp>
      <p:sp>
        <p:nvSpPr>
          <p:cNvPr id="1198" name="Google Shape;119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99" name="Google Shape;1199;p41"/>
          <p:cNvPicPr preferRelativeResize="0"/>
          <p:nvPr/>
        </p:nvPicPr>
        <p:blipFill>
          <a:blip r:embed="rId3">
            <a:alphaModFix/>
          </a:blip>
          <a:stretch>
            <a:fillRect/>
          </a:stretch>
        </p:blipFill>
        <p:spPr>
          <a:xfrm>
            <a:off x="1320877" y="2139750"/>
            <a:ext cx="6573226" cy="2868249"/>
          </a:xfrm>
          <a:prstGeom prst="rect">
            <a:avLst/>
          </a:prstGeom>
          <a:noFill/>
          <a:ln>
            <a:noFill/>
          </a:ln>
        </p:spPr>
      </p:pic>
      <p:sp>
        <p:nvSpPr>
          <p:cNvPr id="1200" name="Google Shape;1200;p41"/>
          <p:cNvSpPr txBox="1"/>
          <p:nvPr>
            <p:ph idx="2"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700"/>
              <a:t>Fun Fact:</a:t>
            </a:r>
            <a:r>
              <a:rPr lang="en" sz="1700"/>
              <a:t> Breadth-first search can be used even when we don’t have a graph to color.</a:t>
            </a:r>
            <a:endParaRPr sz="1700"/>
          </a:p>
          <a:p>
            <a:pPr indent="0" lvl="0" marL="0" rtl="0" algn="l">
              <a:spcBef>
                <a:spcPts val="1200"/>
              </a:spcBef>
              <a:spcAft>
                <a:spcPts val="1200"/>
              </a:spcAft>
              <a:buClr>
                <a:schemeClr val="dk1"/>
              </a:buClr>
              <a:buSzPts val="1100"/>
              <a:buFont typeface="Arial"/>
              <a:buNone/>
            </a:pPr>
            <a:r>
              <a:rPr lang="en" sz="1700"/>
              <a:t>The algorithms works by constructing a </a:t>
            </a:r>
            <a:r>
              <a:rPr lang="en" sz="1700" u="sng">
                <a:solidFill>
                  <a:srgbClr val="0000FF"/>
                </a:solidFill>
              </a:rPr>
              <a:t>search tree</a:t>
            </a:r>
            <a:r>
              <a:rPr lang="en" sz="1700"/>
              <a:t>. This tree finds a route from Savannah to Valdosta.</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42"/>
          <p:cNvSpPr txBox="1"/>
          <p:nvPr>
            <p:ph type="title"/>
          </p:nvPr>
        </p:nvSpPr>
        <p:spPr>
          <a:xfrm>
            <a:off x="311700" y="443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Tree Terminology</a:t>
            </a:r>
            <a:endParaRPr/>
          </a:p>
        </p:txBody>
      </p:sp>
      <p:sp>
        <p:nvSpPr>
          <p:cNvPr id="1206" name="Google Shape;1206;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07" name="Google Shape;1207;p42"/>
          <p:cNvSpPr txBox="1"/>
          <p:nvPr/>
        </p:nvSpPr>
        <p:spPr>
          <a:xfrm>
            <a:off x="4411700" y="12463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p>
        </p:txBody>
      </p:sp>
      <p:sp>
        <p:nvSpPr>
          <p:cNvPr id="1208" name="Google Shape;1208;p42"/>
          <p:cNvSpPr txBox="1"/>
          <p:nvPr/>
        </p:nvSpPr>
        <p:spPr>
          <a:xfrm>
            <a:off x="2941525" y="20567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p>
        </p:txBody>
      </p:sp>
      <p:sp>
        <p:nvSpPr>
          <p:cNvPr id="1209" name="Google Shape;1209;p42"/>
          <p:cNvSpPr txBox="1"/>
          <p:nvPr/>
        </p:nvSpPr>
        <p:spPr>
          <a:xfrm>
            <a:off x="6370525" y="20567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p>
        </p:txBody>
      </p:sp>
      <p:sp>
        <p:nvSpPr>
          <p:cNvPr id="1210" name="Google Shape;1210;p42"/>
          <p:cNvSpPr txBox="1"/>
          <p:nvPr/>
        </p:nvSpPr>
        <p:spPr>
          <a:xfrm>
            <a:off x="4465525" y="28949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p>
        </p:txBody>
      </p:sp>
      <p:sp>
        <p:nvSpPr>
          <p:cNvPr id="1211" name="Google Shape;1211;p42"/>
          <p:cNvSpPr txBox="1"/>
          <p:nvPr/>
        </p:nvSpPr>
        <p:spPr>
          <a:xfrm>
            <a:off x="6353401" y="2894900"/>
            <a:ext cx="10146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p>
        </p:txBody>
      </p:sp>
      <p:sp>
        <p:nvSpPr>
          <p:cNvPr id="1212" name="Google Shape;1212;p42"/>
          <p:cNvSpPr txBox="1"/>
          <p:nvPr/>
        </p:nvSpPr>
        <p:spPr>
          <a:xfrm>
            <a:off x="1722325" y="28949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p>
        </p:txBody>
      </p:sp>
      <p:sp>
        <p:nvSpPr>
          <p:cNvPr id="1213" name="Google Shape;1213;p42"/>
          <p:cNvSpPr txBox="1"/>
          <p:nvPr/>
        </p:nvSpPr>
        <p:spPr>
          <a:xfrm>
            <a:off x="988825" y="38093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p>
        </p:txBody>
      </p:sp>
      <p:sp>
        <p:nvSpPr>
          <p:cNvPr id="1214" name="Google Shape;1214;p42"/>
          <p:cNvSpPr txBox="1"/>
          <p:nvPr/>
        </p:nvSpPr>
        <p:spPr>
          <a:xfrm>
            <a:off x="1772176" y="38093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p>
        </p:txBody>
      </p:sp>
      <p:sp>
        <p:nvSpPr>
          <p:cNvPr id="1215" name="Google Shape;1215;p42"/>
          <p:cNvSpPr txBox="1"/>
          <p:nvPr/>
        </p:nvSpPr>
        <p:spPr>
          <a:xfrm>
            <a:off x="2695400" y="38093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p>
        </p:txBody>
      </p:sp>
      <p:sp>
        <p:nvSpPr>
          <p:cNvPr id="1216" name="Google Shape;1216;p42"/>
          <p:cNvSpPr txBox="1"/>
          <p:nvPr/>
        </p:nvSpPr>
        <p:spPr>
          <a:xfrm>
            <a:off x="3378925" y="3809300"/>
            <a:ext cx="7287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p>
        </p:txBody>
      </p:sp>
      <p:cxnSp>
        <p:nvCxnSpPr>
          <p:cNvPr id="1217" name="Google Shape;1217;p42"/>
          <p:cNvCxnSpPr>
            <a:stCxn id="1207" idx="2"/>
            <a:endCxn id="1208" idx="0"/>
          </p:cNvCxnSpPr>
          <p:nvPr/>
        </p:nvCxnSpPr>
        <p:spPr>
          <a:xfrm flipH="1">
            <a:off x="3410150" y="1585025"/>
            <a:ext cx="1470300" cy="471600"/>
          </a:xfrm>
          <a:prstGeom prst="straightConnector1">
            <a:avLst/>
          </a:prstGeom>
          <a:noFill/>
          <a:ln cap="flat" cmpd="sng" w="9525">
            <a:solidFill>
              <a:schemeClr val="dk2"/>
            </a:solidFill>
            <a:prstDash val="solid"/>
            <a:round/>
            <a:headEnd len="med" w="med" type="none"/>
            <a:tailEnd len="med" w="med" type="triangle"/>
          </a:ln>
        </p:spPr>
      </p:cxnSp>
      <p:cxnSp>
        <p:nvCxnSpPr>
          <p:cNvPr id="1218" name="Google Shape;1218;p42"/>
          <p:cNvCxnSpPr>
            <a:stCxn id="1207" idx="2"/>
            <a:endCxn id="1209" idx="0"/>
          </p:cNvCxnSpPr>
          <p:nvPr/>
        </p:nvCxnSpPr>
        <p:spPr>
          <a:xfrm>
            <a:off x="4880450" y="1585025"/>
            <a:ext cx="1958700" cy="471600"/>
          </a:xfrm>
          <a:prstGeom prst="straightConnector1">
            <a:avLst/>
          </a:prstGeom>
          <a:noFill/>
          <a:ln cap="flat" cmpd="sng" w="9525">
            <a:solidFill>
              <a:schemeClr val="dk2"/>
            </a:solidFill>
            <a:prstDash val="solid"/>
            <a:round/>
            <a:headEnd len="med" w="med" type="none"/>
            <a:tailEnd len="med" w="med" type="triangle"/>
          </a:ln>
        </p:spPr>
      </p:cxnSp>
      <p:cxnSp>
        <p:nvCxnSpPr>
          <p:cNvPr id="1219" name="Google Shape;1219;p42"/>
          <p:cNvCxnSpPr>
            <a:stCxn id="1208" idx="2"/>
            <a:endCxn id="1212" idx="0"/>
          </p:cNvCxnSpPr>
          <p:nvPr/>
        </p:nvCxnSpPr>
        <p:spPr>
          <a:xfrm flipH="1">
            <a:off x="2191075" y="2395400"/>
            <a:ext cx="1219200" cy="499500"/>
          </a:xfrm>
          <a:prstGeom prst="straightConnector1">
            <a:avLst/>
          </a:prstGeom>
          <a:noFill/>
          <a:ln cap="flat" cmpd="sng" w="9525">
            <a:solidFill>
              <a:schemeClr val="dk2"/>
            </a:solidFill>
            <a:prstDash val="solid"/>
            <a:round/>
            <a:headEnd len="med" w="med" type="none"/>
            <a:tailEnd len="med" w="med" type="triangle"/>
          </a:ln>
        </p:spPr>
      </p:cxnSp>
      <p:cxnSp>
        <p:nvCxnSpPr>
          <p:cNvPr id="1220" name="Google Shape;1220;p42"/>
          <p:cNvCxnSpPr>
            <a:stCxn id="1208" idx="2"/>
            <a:endCxn id="1210" idx="0"/>
          </p:cNvCxnSpPr>
          <p:nvPr/>
        </p:nvCxnSpPr>
        <p:spPr>
          <a:xfrm>
            <a:off x="3410275" y="2395400"/>
            <a:ext cx="1524000" cy="499500"/>
          </a:xfrm>
          <a:prstGeom prst="straightConnector1">
            <a:avLst/>
          </a:prstGeom>
          <a:noFill/>
          <a:ln cap="flat" cmpd="sng" w="9525">
            <a:solidFill>
              <a:schemeClr val="dk2"/>
            </a:solidFill>
            <a:prstDash val="solid"/>
            <a:round/>
            <a:headEnd len="med" w="med" type="none"/>
            <a:tailEnd len="med" w="med" type="triangle"/>
          </a:ln>
        </p:spPr>
      </p:cxnSp>
      <p:cxnSp>
        <p:nvCxnSpPr>
          <p:cNvPr id="1221" name="Google Shape;1221;p42"/>
          <p:cNvCxnSpPr>
            <a:stCxn id="1209" idx="2"/>
            <a:endCxn id="1211" idx="0"/>
          </p:cNvCxnSpPr>
          <p:nvPr/>
        </p:nvCxnSpPr>
        <p:spPr>
          <a:xfrm>
            <a:off x="6839275" y="2395400"/>
            <a:ext cx="21300" cy="499500"/>
          </a:xfrm>
          <a:prstGeom prst="straightConnector1">
            <a:avLst/>
          </a:prstGeom>
          <a:noFill/>
          <a:ln cap="flat" cmpd="sng" w="9525">
            <a:solidFill>
              <a:schemeClr val="dk2"/>
            </a:solidFill>
            <a:prstDash val="solid"/>
            <a:round/>
            <a:headEnd len="med" w="med" type="none"/>
            <a:tailEnd len="med" w="med" type="triangle"/>
          </a:ln>
        </p:spPr>
      </p:cxnSp>
      <p:cxnSp>
        <p:nvCxnSpPr>
          <p:cNvPr id="1222" name="Google Shape;1222;p42"/>
          <p:cNvCxnSpPr>
            <a:stCxn id="1212" idx="2"/>
            <a:endCxn id="1213" idx="0"/>
          </p:cNvCxnSpPr>
          <p:nvPr/>
        </p:nvCxnSpPr>
        <p:spPr>
          <a:xfrm flipH="1">
            <a:off x="1300975" y="3233600"/>
            <a:ext cx="890100" cy="575700"/>
          </a:xfrm>
          <a:prstGeom prst="straightConnector1">
            <a:avLst/>
          </a:prstGeom>
          <a:noFill/>
          <a:ln cap="flat" cmpd="sng" w="9525">
            <a:solidFill>
              <a:schemeClr val="dk2"/>
            </a:solidFill>
            <a:prstDash val="solid"/>
            <a:round/>
            <a:headEnd len="med" w="med" type="none"/>
            <a:tailEnd len="med" w="med" type="triangle"/>
          </a:ln>
        </p:spPr>
      </p:cxnSp>
      <p:cxnSp>
        <p:nvCxnSpPr>
          <p:cNvPr id="1223" name="Google Shape;1223;p42"/>
          <p:cNvCxnSpPr>
            <a:stCxn id="1212" idx="2"/>
            <a:endCxn id="1214" idx="0"/>
          </p:cNvCxnSpPr>
          <p:nvPr/>
        </p:nvCxnSpPr>
        <p:spPr>
          <a:xfrm flipH="1">
            <a:off x="2084275" y="3233600"/>
            <a:ext cx="106800" cy="575700"/>
          </a:xfrm>
          <a:prstGeom prst="straightConnector1">
            <a:avLst/>
          </a:prstGeom>
          <a:noFill/>
          <a:ln cap="flat" cmpd="sng" w="9525">
            <a:solidFill>
              <a:schemeClr val="dk2"/>
            </a:solidFill>
            <a:prstDash val="solid"/>
            <a:round/>
            <a:headEnd len="med" w="med" type="none"/>
            <a:tailEnd len="med" w="med" type="triangle"/>
          </a:ln>
        </p:spPr>
      </p:cxnSp>
      <p:cxnSp>
        <p:nvCxnSpPr>
          <p:cNvPr id="1224" name="Google Shape;1224;p42"/>
          <p:cNvCxnSpPr>
            <a:stCxn id="1212" idx="2"/>
            <a:endCxn id="1216" idx="0"/>
          </p:cNvCxnSpPr>
          <p:nvPr/>
        </p:nvCxnSpPr>
        <p:spPr>
          <a:xfrm>
            <a:off x="2191075" y="3233600"/>
            <a:ext cx="1552200" cy="575700"/>
          </a:xfrm>
          <a:prstGeom prst="straightConnector1">
            <a:avLst/>
          </a:prstGeom>
          <a:noFill/>
          <a:ln cap="flat" cmpd="sng" w="9525">
            <a:solidFill>
              <a:schemeClr val="dk2"/>
            </a:solidFill>
            <a:prstDash val="solid"/>
            <a:round/>
            <a:headEnd len="med" w="med" type="none"/>
            <a:tailEnd len="med" w="med" type="triangle"/>
          </a:ln>
        </p:spPr>
      </p:cxnSp>
      <p:cxnSp>
        <p:nvCxnSpPr>
          <p:cNvPr id="1225" name="Google Shape;1225;p42"/>
          <p:cNvCxnSpPr>
            <a:stCxn id="1212" idx="2"/>
            <a:endCxn id="1215" idx="0"/>
          </p:cNvCxnSpPr>
          <p:nvPr/>
        </p:nvCxnSpPr>
        <p:spPr>
          <a:xfrm>
            <a:off x="2191075" y="3233600"/>
            <a:ext cx="816300" cy="575700"/>
          </a:xfrm>
          <a:prstGeom prst="straightConnector1">
            <a:avLst/>
          </a:prstGeom>
          <a:noFill/>
          <a:ln cap="flat" cmpd="sng" w="9525">
            <a:solidFill>
              <a:schemeClr val="dk2"/>
            </a:solidFill>
            <a:prstDash val="solid"/>
            <a:round/>
            <a:headEnd len="med" w="med" type="none"/>
            <a:tailEnd len="med" w="med" type="triangle"/>
          </a:ln>
        </p:spPr>
      </p:cxnSp>
      <p:sp>
        <p:nvSpPr>
          <p:cNvPr id="1226" name="Google Shape;1226;p42"/>
          <p:cNvSpPr txBox="1"/>
          <p:nvPr/>
        </p:nvSpPr>
        <p:spPr>
          <a:xfrm>
            <a:off x="6136350" y="677025"/>
            <a:ext cx="7029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C78D8"/>
                </a:solidFill>
              </a:rPr>
              <a:t>root</a:t>
            </a:r>
            <a:endParaRPr>
              <a:solidFill>
                <a:srgbClr val="3C78D8"/>
              </a:solidFill>
            </a:endParaRPr>
          </a:p>
        </p:txBody>
      </p:sp>
      <p:cxnSp>
        <p:nvCxnSpPr>
          <p:cNvPr id="1227" name="Google Shape;1227;p42"/>
          <p:cNvCxnSpPr>
            <a:stCxn id="1226" idx="1"/>
            <a:endCxn id="1207" idx="3"/>
          </p:cNvCxnSpPr>
          <p:nvPr/>
        </p:nvCxnSpPr>
        <p:spPr>
          <a:xfrm flipH="1">
            <a:off x="5349150" y="846375"/>
            <a:ext cx="787200" cy="569400"/>
          </a:xfrm>
          <a:prstGeom prst="curvedConnector3">
            <a:avLst>
              <a:gd fmla="val 49997" name="adj1"/>
            </a:avLst>
          </a:prstGeom>
          <a:noFill/>
          <a:ln cap="flat" cmpd="sng" w="9525">
            <a:solidFill>
              <a:srgbClr val="3C78D8"/>
            </a:solidFill>
            <a:prstDash val="solid"/>
            <a:round/>
            <a:headEnd len="med" w="med" type="none"/>
            <a:tailEnd len="med" w="med" type="stealth"/>
          </a:ln>
        </p:spPr>
      </p:cxnSp>
      <p:sp>
        <p:nvSpPr>
          <p:cNvPr id="1228" name="Google Shape;1228;p42"/>
          <p:cNvSpPr txBox="1"/>
          <p:nvPr/>
        </p:nvSpPr>
        <p:spPr>
          <a:xfrm>
            <a:off x="7769550" y="1651475"/>
            <a:ext cx="7029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C78D8"/>
                </a:solidFill>
              </a:rPr>
              <a:t>parent</a:t>
            </a:r>
            <a:endParaRPr>
              <a:solidFill>
                <a:srgbClr val="3C78D8"/>
              </a:solidFill>
            </a:endParaRPr>
          </a:p>
        </p:txBody>
      </p:sp>
      <p:sp>
        <p:nvSpPr>
          <p:cNvPr id="1229" name="Google Shape;1229;p42"/>
          <p:cNvSpPr txBox="1"/>
          <p:nvPr/>
        </p:nvSpPr>
        <p:spPr>
          <a:xfrm>
            <a:off x="7810475" y="2475800"/>
            <a:ext cx="7029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C78D8"/>
                </a:solidFill>
              </a:rPr>
              <a:t>child</a:t>
            </a:r>
            <a:endParaRPr>
              <a:solidFill>
                <a:srgbClr val="3C78D8"/>
              </a:solidFill>
            </a:endParaRPr>
          </a:p>
        </p:txBody>
      </p:sp>
      <p:cxnSp>
        <p:nvCxnSpPr>
          <p:cNvPr id="1230" name="Google Shape;1230;p42"/>
          <p:cNvCxnSpPr>
            <a:stCxn id="1228" idx="1"/>
            <a:endCxn id="1209" idx="3"/>
          </p:cNvCxnSpPr>
          <p:nvPr/>
        </p:nvCxnSpPr>
        <p:spPr>
          <a:xfrm flipH="1">
            <a:off x="7308150" y="1820825"/>
            <a:ext cx="461400" cy="405300"/>
          </a:xfrm>
          <a:prstGeom prst="curvedConnector3">
            <a:avLst>
              <a:gd fmla="val 50014" name="adj1"/>
            </a:avLst>
          </a:prstGeom>
          <a:noFill/>
          <a:ln cap="flat" cmpd="sng" w="9525">
            <a:solidFill>
              <a:srgbClr val="3C78D8"/>
            </a:solidFill>
            <a:prstDash val="solid"/>
            <a:round/>
            <a:headEnd len="med" w="med" type="none"/>
            <a:tailEnd len="med" w="med" type="stealth"/>
          </a:ln>
        </p:spPr>
      </p:cxnSp>
      <p:cxnSp>
        <p:nvCxnSpPr>
          <p:cNvPr id="1231" name="Google Shape;1231;p42"/>
          <p:cNvCxnSpPr>
            <a:stCxn id="1229" idx="1"/>
            <a:endCxn id="1211" idx="3"/>
          </p:cNvCxnSpPr>
          <p:nvPr/>
        </p:nvCxnSpPr>
        <p:spPr>
          <a:xfrm flipH="1">
            <a:off x="7367975" y="2645150"/>
            <a:ext cx="442500" cy="419100"/>
          </a:xfrm>
          <a:prstGeom prst="curvedConnector3">
            <a:avLst>
              <a:gd fmla="val 49997" name="adj1"/>
            </a:avLst>
          </a:prstGeom>
          <a:noFill/>
          <a:ln cap="flat" cmpd="sng" w="9525">
            <a:solidFill>
              <a:srgbClr val="3C78D8"/>
            </a:solidFill>
            <a:prstDash val="solid"/>
            <a:round/>
            <a:headEnd len="med" w="med" type="none"/>
            <a:tailEnd len="med" w="med" type="stealth"/>
          </a:ln>
        </p:spPr>
      </p:cxnSp>
      <p:sp>
        <p:nvSpPr>
          <p:cNvPr id="1232" name="Google Shape;1232;p42"/>
          <p:cNvSpPr/>
          <p:nvPr/>
        </p:nvSpPr>
        <p:spPr>
          <a:xfrm>
            <a:off x="443957" y="2593629"/>
            <a:ext cx="7457075" cy="1904775"/>
          </a:xfrm>
          <a:custGeom>
            <a:rect b="b" l="l" r="r" t="t"/>
            <a:pathLst>
              <a:path extrusionOk="0" h="76191" w="298283">
                <a:moveTo>
                  <a:pt x="22298" y="40755"/>
                </a:moveTo>
                <a:cubicBezTo>
                  <a:pt x="3755" y="43950"/>
                  <a:pt x="8320" y="47830"/>
                  <a:pt x="6894" y="52737"/>
                </a:cubicBezTo>
                <a:cubicBezTo>
                  <a:pt x="5468" y="57644"/>
                  <a:pt x="-11250" y="66715"/>
                  <a:pt x="13740" y="70195"/>
                </a:cubicBezTo>
                <a:cubicBezTo>
                  <a:pt x="38730" y="73675"/>
                  <a:pt x="131331" y="79553"/>
                  <a:pt x="156834" y="73619"/>
                </a:cubicBezTo>
                <a:cubicBezTo>
                  <a:pt x="182338" y="67685"/>
                  <a:pt x="145080" y="41212"/>
                  <a:pt x="166761" y="34593"/>
                </a:cubicBezTo>
                <a:cubicBezTo>
                  <a:pt x="188442" y="27975"/>
                  <a:pt x="268490" y="39328"/>
                  <a:pt x="286919" y="33908"/>
                </a:cubicBezTo>
                <a:cubicBezTo>
                  <a:pt x="305348" y="28488"/>
                  <a:pt x="300441" y="6636"/>
                  <a:pt x="277334" y="2072"/>
                </a:cubicBezTo>
                <a:cubicBezTo>
                  <a:pt x="254227" y="-2492"/>
                  <a:pt x="174807" y="1273"/>
                  <a:pt x="148276" y="6522"/>
                </a:cubicBezTo>
                <a:cubicBezTo>
                  <a:pt x="121746" y="11771"/>
                  <a:pt x="139147" y="27861"/>
                  <a:pt x="118151" y="33566"/>
                </a:cubicBezTo>
                <a:cubicBezTo>
                  <a:pt x="97155" y="39272"/>
                  <a:pt x="40841" y="37560"/>
                  <a:pt x="22298" y="40755"/>
                </a:cubicBezTo>
                <a:close/>
              </a:path>
            </a:pathLst>
          </a:custGeom>
          <a:noFill/>
          <a:ln cap="flat" cmpd="sng" w="9525">
            <a:solidFill>
              <a:srgbClr val="FF0000"/>
            </a:solidFill>
            <a:prstDash val="solid"/>
            <a:round/>
            <a:headEnd len="med" w="med" type="none"/>
            <a:tailEnd len="med" w="med" type="none"/>
          </a:ln>
        </p:spPr>
      </p:sp>
      <p:sp>
        <p:nvSpPr>
          <p:cNvPr id="1233" name="Google Shape;1233;p42"/>
          <p:cNvSpPr txBox="1"/>
          <p:nvPr/>
        </p:nvSpPr>
        <p:spPr>
          <a:xfrm>
            <a:off x="5311700" y="4029025"/>
            <a:ext cx="7029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C78D8"/>
                </a:solidFill>
              </a:rPr>
              <a:t>leaves</a:t>
            </a:r>
            <a:endParaRPr>
              <a:solidFill>
                <a:srgbClr val="3C78D8"/>
              </a:solidFill>
            </a:endParaRPr>
          </a:p>
        </p:txBody>
      </p:sp>
      <p:cxnSp>
        <p:nvCxnSpPr>
          <p:cNvPr id="1234" name="Google Shape;1234;p42"/>
          <p:cNvCxnSpPr>
            <a:stCxn id="1233" idx="1"/>
          </p:cNvCxnSpPr>
          <p:nvPr/>
        </p:nvCxnSpPr>
        <p:spPr>
          <a:xfrm rot="10800000">
            <a:off x="4544600" y="3954775"/>
            <a:ext cx="767100" cy="243600"/>
          </a:xfrm>
          <a:prstGeom prst="curvedConnector3">
            <a:avLst>
              <a:gd fmla="val 50000" name="adj1"/>
            </a:avLst>
          </a:prstGeom>
          <a:noFill/>
          <a:ln cap="flat" cmpd="sng" w="9525">
            <a:solidFill>
              <a:srgbClr val="3C78D8"/>
            </a:solidFill>
            <a:prstDash val="solid"/>
            <a:round/>
            <a:headEnd len="med" w="med" type="none"/>
            <a:tailEnd len="med" w="med" type="stealth"/>
          </a:ln>
        </p:spPr>
      </p:cxnSp>
      <p:sp>
        <p:nvSpPr>
          <p:cNvPr id="1235" name="Google Shape;1235;p42"/>
          <p:cNvSpPr txBox="1"/>
          <p:nvPr/>
        </p:nvSpPr>
        <p:spPr>
          <a:xfrm>
            <a:off x="1825675" y="1635325"/>
            <a:ext cx="624000" cy="338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rgbClr val="3C78D8"/>
                </a:solidFill>
              </a:rPr>
              <a:t>node</a:t>
            </a:r>
            <a:endParaRPr>
              <a:solidFill>
                <a:srgbClr val="3C78D8"/>
              </a:solidFill>
            </a:endParaRPr>
          </a:p>
        </p:txBody>
      </p:sp>
      <p:sp>
        <p:nvSpPr>
          <p:cNvPr id="1236" name="Google Shape;1236;p42"/>
          <p:cNvSpPr txBox="1"/>
          <p:nvPr/>
        </p:nvSpPr>
        <p:spPr>
          <a:xfrm>
            <a:off x="1600725" y="2042225"/>
            <a:ext cx="702900" cy="338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rgbClr val="3C78D8"/>
                </a:solidFill>
              </a:rPr>
              <a:t>link</a:t>
            </a:r>
            <a:endParaRPr>
              <a:solidFill>
                <a:srgbClr val="3C78D8"/>
              </a:solidFill>
            </a:endParaRPr>
          </a:p>
        </p:txBody>
      </p:sp>
      <p:cxnSp>
        <p:nvCxnSpPr>
          <p:cNvPr id="1237" name="Google Shape;1237;p42"/>
          <p:cNvCxnSpPr>
            <a:stCxn id="1235" idx="3"/>
            <a:endCxn id="1208" idx="1"/>
          </p:cNvCxnSpPr>
          <p:nvPr/>
        </p:nvCxnSpPr>
        <p:spPr>
          <a:xfrm>
            <a:off x="2449675" y="1804675"/>
            <a:ext cx="492000" cy="421500"/>
          </a:xfrm>
          <a:prstGeom prst="curvedConnector3">
            <a:avLst>
              <a:gd fmla="val 49985" name="adj1"/>
            </a:avLst>
          </a:prstGeom>
          <a:noFill/>
          <a:ln cap="flat" cmpd="sng" w="9525">
            <a:solidFill>
              <a:srgbClr val="3C78D8"/>
            </a:solidFill>
            <a:prstDash val="solid"/>
            <a:round/>
            <a:headEnd len="med" w="med" type="none"/>
            <a:tailEnd len="med" w="med" type="stealth"/>
          </a:ln>
        </p:spPr>
      </p:cxnSp>
      <p:cxnSp>
        <p:nvCxnSpPr>
          <p:cNvPr id="1238" name="Google Shape;1238;p42"/>
          <p:cNvCxnSpPr>
            <a:stCxn id="1236" idx="3"/>
          </p:cNvCxnSpPr>
          <p:nvPr/>
        </p:nvCxnSpPr>
        <p:spPr>
          <a:xfrm>
            <a:off x="2303625" y="2211575"/>
            <a:ext cx="366600" cy="425400"/>
          </a:xfrm>
          <a:prstGeom prst="curvedConnector2">
            <a:avLst/>
          </a:prstGeom>
          <a:noFill/>
          <a:ln cap="flat" cmpd="sng" w="9525">
            <a:solidFill>
              <a:srgbClr val="3C78D8"/>
            </a:solidFill>
            <a:prstDash val="solid"/>
            <a:round/>
            <a:headEnd len="med" w="med" type="none"/>
            <a:tailEnd len="med" w="med" type="stealth"/>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43"/>
          <p:cNvSpPr txBox="1"/>
          <p:nvPr>
            <p:ph type="title"/>
          </p:nvPr>
        </p:nvSpPr>
        <p:spPr>
          <a:xfrm>
            <a:off x="155125" y="107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66"/>
              <a:t>Let’s draw a search tree to find a route from Savannah to Valdosta</a:t>
            </a:r>
            <a:endParaRPr sz="2466"/>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rPr lang="en"/>
              <a:t> </a:t>
            </a:r>
            <a:endParaRPr/>
          </a:p>
        </p:txBody>
      </p:sp>
      <p:sp>
        <p:nvSpPr>
          <p:cNvPr id="1244" name="Google Shape;1244;p43"/>
          <p:cNvSpPr txBox="1"/>
          <p:nvPr>
            <p:ph idx="1" type="body"/>
          </p:nvPr>
        </p:nvSpPr>
        <p:spPr>
          <a:xfrm>
            <a:off x="167975" y="1057225"/>
            <a:ext cx="2036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b="1" lang="en">
                <a:solidFill>
                  <a:srgbClr val="FF9900"/>
                </a:solidFill>
              </a:rPr>
              <a:t>Let’s locate on the map </a:t>
            </a:r>
            <a:endParaRPr b="1">
              <a:solidFill>
                <a:srgbClr val="FF9900"/>
              </a:solidFill>
            </a:endParaRPr>
          </a:p>
          <a:p>
            <a:pPr indent="-342900" lvl="0" marL="457200" rtl="0" algn="l">
              <a:spcBef>
                <a:spcPts val="1200"/>
              </a:spcBef>
              <a:spcAft>
                <a:spcPts val="0"/>
              </a:spcAft>
              <a:buClr>
                <a:schemeClr val="dk1"/>
              </a:buClr>
              <a:buSzPts val="1800"/>
              <a:buChar char="●"/>
            </a:pPr>
            <a:r>
              <a:rPr lang="en">
                <a:solidFill>
                  <a:schemeClr val="dk1"/>
                </a:solidFill>
              </a:rPr>
              <a:t>Savannah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Valdosta</a:t>
            </a:r>
            <a:endParaRPr>
              <a:solidFill>
                <a:schemeClr val="dk1"/>
              </a:solidFill>
            </a:endParaRPr>
          </a:p>
        </p:txBody>
      </p:sp>
      <p:sp>
        <p:nvSpPr>
          <p:cNvPr id="1245" name="Google Shape;124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46" name="Google Shape;1246;p43"/>
          <p:cNvSpPr/>
          <p:nvPr/>
        </p:nvSpPr>
        <p:spPr>
          <a:xfrm>
            <a:off x="40956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247" name="Google Shape;1247;p43"/>
          <p:cNvSpPr/>
          <p:nvPr/>
        </p:nvSpPr>
        <p:spPr>
          <a:xfrm>
            <a:off x="45910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248" name="Google Shape;1248;p43"/>
          <p:cNvSpPr/>
          <p:nvPr/>
        </p:nvSpPr>
        <p:spPr>
          <a:xfrm>
            <a:off x="39425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249" name="Google Shape;1249;p43"/>
          <p:cNvSpPr/>
          <p:nvPr/>
        </p:nvSpPr>
        <p:spPr>
          <a:xfrm>
            <a:off x="52847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250" name="Google Shape;1250;p43"/>
          <p:cNvSpPr/>
          <p:nvPr/>
        </p:nvSpPr>
        <p:spPr>
          <a:xfrm>
            <a:off x="46091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251" name="Google Shape;1251;p43"/>
          <p:cNvSpPr/>
          <p:nvPr/>
        </p:nvSpPr>
        <p:spPr>
          <a:xfrm>
            <a:off x="43028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252" name="Google Shape;1252;p43"/>
          <p:cNvSpPr/>
          <p:nvPr/>
        </p:nvSpPr>
        <p:spPr>
          <a:xfrm>
            <a:off x="40956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253" name="Google Shape;1253;p43"/>
          <p:cNvSpPr/>
          <p:nvPr/>
        </p:nvSpPr>
        <p:spPr>
          <a:xfrm>
            <a:off x="40956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254" name="Google Shape;1254;p43"/>
          <p:cNvSpPr/>
          <p:nvPr/>
        </p:nvSpPr>
        <p:spPr>
          <a:xfrm>
            <a:off x="46361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255" name="Google Shape;1255;p43"/>
          <p:cNvSpPr/>
          <p:nvPr/>
        </p:nvSpPr>
        <p:spPr>
          <a:xfrm>
            <a:off x="50955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256" name="Google Shape;1256;p43"/>
          <p:cNvSpPr/>
          <p:nvPr/>
        </p:nvSpPr>
        <p:spPr>
          <a:xfrm>
            <a:off x="50865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257" name="Google Shape;1257;p43"/>
          <p:cNvSpPr/>
          <p:nvPr/>
        </p:nvSpPr>
        <p:spPr>
          <a:xfrm>
            <a:off x="41046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258" name="Google Shape;1258;p43"/>
          <p:cNvSpPr/>
          <p:nvPr/>
        </p:nvSpPr>
        <p:spPr>
          <a:xfrm>
            <a:off x="46001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259" name="Google Shape;1259;p43"/>
          <p:cNvSpPr/>
          <p:nvPr/>
        </p:nvSpPr>
        <p:spPr>
          <a:xfrm>
            <a:off x="53477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260" name="Google Shape;1260;p43"/>
          <p:cNvSpPr/>
          <p:nvPr/>
        </p:nvSpPr>
        <p:spPr>
          <a:xfrm>
            <a:off x="42848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261" name="Google Shape;1261;p43"/>
          <p:cNvSpPr/>
          <p:nvPr/>
        </p:nvSpPr>
        <p:spPr>
          <a:xfrm>
            <a:off x="53297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262" name="Google Shape;1262;p43"/>
          <p:cNvSpPr/>
          <p:nvPr/>
        </p:nvSpPr>
        <p:spPr>
          <a:xfrm>
            <a:off x="60503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263" name="Google Shape;1263;p43"/>
          <p:cNvSpPr/>
          <p:nvPr/>
        </p:nvSpPr>
        <p:spPr>
          <a:xfrm>
            <a:off x="65818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264" name="Google Shape;1264;p43"/>
          <p:cNvSpPr/>
          <p:nvPr/>
        </p:nvSpPr>
        <p:spPr>
          <a:xfrm>
            <a:off x="65998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265" name="Google Shape;1265;p43"/>
          <p:cNvSpPr/>
          <p:nvPr/>
        </p:nvSpPr>
        <p:spPr>
          <a:xfrm>
            <a:off x="64016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266" name="Google Shape;1266;p43"/>
          <p:cNvSpPr/>
          <p:nvPr/>
        </p:nvSpPr>
        <p:spPr>
          <a:xfrm>
            <a:off x="51045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267" name="Google Shape;1267;p43"/>
          <p:cNvSpPr/>
          <p:nvPr/>
        </p:nvSpPr>
        <p:spPr>
          <a:xfrm>
            <a:off x="50775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268" name="Google Shape;1268;p43"/>
          <p:cNvSpPr/>
          <p:nvPr/>
        </p:nvSpPr>
        <p:spPr>
          <a:xfrm>
            <a:off x="51856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269" name="Google Shape;1269;p43"/>
          <p:cNvSpPr/>
          <p:nvPr/>
        </p:nvSpPr>
        <p:spPr>
          <a:xfrm>
            <a:off x="46991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270" name="Google Shape;1270;p43"/>
          <p:cNvSpPr/>
          <p:nvPr/>
        </p:nvSpPr>
        <p:spPr>
          <a:xfrm>
            <a:off x="51135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271" name="Google Shape;1271;p43"/>
          <p:cNvSpPr/>
          <p:nvPr/>
        </p:nvSpPr>
        <p:spPr>
          <a:xfrm>
            <a:off x="56540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272" name="Google Shape;1272;p43"/>
          <p:cNvSpPr/>
          <p:nvPr/>
        </p:nvSpPr>
        <p:spPr>
          <a:xfrm>
            <a:off x="40956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273" name="Google Shape;1273;p43"/>
          <p:cNvSpPr/>
          <p:nvPr/>
        </p:nvSpPr>
        <p:spPr>
          <a:xfrm>
            <a:off x="63206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274" name="Google Shape;1274;p43"/>
          <p:cNvSpPr/>
          <p:nvPr/>
        </p:nvSpPr>
        <p:spPr>
          <a:xfrm>
            <a:off x="38500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43"/>
          <p:cNvSpPr/>
          <p:nvPr/>
        </p:nvSpPr>
        <p:spPr>
          <a:xfrm>
            <a:off x="40017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3"/>
          <p:cNvSpPr/>
          <p:nvPr/>
        </p:nvSpPr>
        <p:spPr>
          <a:xfrm>
            <a:off x="40017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43"/>
          <p:cNvSpPr/>
          <p:nvPr/>
        </p:nvSpPr>
        <p:spPr>
          <a:xfrm>
            <a:off x="62770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3"/>
          <p:cNvSpPr/>
          <p:nvPr/>
        </p:nvSpPr>
        <p:spPr>
          <a:xfrm>
            <a:off x="54836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43"/>
          <p:cNvSpPr/>
          <p:nvPr/>
        </p:nvSpPr>
        <p:spPr>
          <a:xfrm>
            <a:off x="6843075" y="3134023"/>
            <a:ext cx="188700" cy="1887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43"/>
          <p:cNvSpPr/>
          <p:nvPr/>
        </p:nvSpPr>
        <p:spPr>
          <a:xfrm>
            <a:off x="65984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43"/>
          <p:cNvSpPr/>
          <p:nvPr/>
        </p:nvSpPr>
        <p:spPr>
          <a:xfrm>
            <a:off x="59296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43"/>
          <p:cNvSpPr/>
          <p:nvPr/>
        </p:nvSpPr>
        <p:spPr>
          <a:xfrm>
            <a:off x="5221625" y="4240248"/>
            <a:ext cx="188700" cy="188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43"/>
          <p:cNvSpPr/>
          <p:nvPr/>
        </p:nvSpPr>
        <p:spPr>
          <a:xfrm>
            <a:off x="41904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3"/>
          <p:cNvSpPr/>
          <p:nvPr/>
        </p:nvSpPr>
        <p:spPr>
          <a:xfrm>
            <a:off x="52216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43"/>
          <p:cNvSpPr/>
          <p:nvPr/>
        </p:nvSpPr>
        <p:spPr>
          <a:xfrm>
            <a:off x="51765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43"/>
          <p:cNvSpPr/>
          <p:nvPr/>
        </p:nvSpPr>
        <p:spPr>
          <a:xfrm>
            <a:off x="61989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43"/>
          <p:cNvSpPr/>
          <p:nvPr/>
        </p:nvSpPr>
        <p:spPr>
          <a:xfrm>
            <a:off x="52216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3"/>
          <p:cNvSpPr/>
          <p:nvPr/>
        </p:nvSpPr>
        <p:spPr>
          <a:xfrm>
            <a:off x="49879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43"/>
          <p:cNvSpPr/>
          <p:nvPr/>
        </p:nvSpPr>
        <p:spPr>
          <a:xfrm>
            <a:off x="49879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43"/>
          <p:cNvSpPr/>
          <p:nvPr/>
        </p:nvSpPr>
        <p:spPr>
          <a:xfrm>
            <a:off x="64657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43"/>
          <p:cNvSpPr/>
          <p:nvPr/>
        </p:nvSpPr>
        <p:spPr>
          <a:xfrm>
            <a:off x="45979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43"/>
          <p:cNvSpPr/>
          <p:nvPr/>
        </p:nvSpPr>
        <p:spPr>
          <a:xfrm>
            <a:off x="50872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43"/>
          <p:cNvSpPr/>
          <p:nvPr/>
        </p:nvSpPr>
        <p:spPr>
          <a:xfrm>
            <a:off x="44907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43"/>
          <p:cNvSpPr/>
          <p:nvPr/>
        </p:nvSpPr>
        <p:spPr>
          <a:xfrm>
            <a:off x="41859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43"/>
          <p:cNvSpPr txBox="1"/>
          <p:nvPr/>
        </p:nvSpPr>
        <p:spPr>
          <a:xfrm>
            <a:off x="40336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296" name="Google Shape;1296;p43"/>
          <p:cNvSpPr txBox="1"/>
          <p:nvPr/>
        </p:nvSpPr>
        <p:spPr>
          <a:xfrm>
            <a:off x="53521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297" name="Google Shape;1297;p43"/>
          <p:cNvSpPr txBox="1"/>
          <p:nvPr/>
        </p:nvSpPr>
        <p:spPr>
          <a:xfrm>
            <a:off x="34563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298" name="Google Shape;1298;p43"/>
          <p:cNvSpPr txBox="1"/>
          <p:nvPr/>
        </p:nvSpPr>
        <p:spPr>
          <a:xfrm>
            <a:off x="52985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299" name="Google Shape;1299;p43"/>
          <p:cNvSpPr txBox="1"/>
          <p:nvPr/>
        </p:nvSpPr>
        <p:spPr>
          <a:xfrm>
            <a:off x="36722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300" name="Google Shape;1300;p43"/>
          <p:cNvSpPr txBox="1"/>
          <p:nvPr/>
        </p:nvSpPr>
        <p:spPr>
          <a:xfrm>
            <a:off x="63352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301" name="Google Shape;1301;p43"/>
          <p:cNvSpPr txBox="1"/>
          <p:nvPr/>
        </p:nvSpPr>
        <p:spPr>
          <a:xfrm>
            <a:off x="34293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302" name="Google Shape;1302;p43"/>
          <p:cNvSpPr txBox="1"/>
          <p:nvPr/>
        </p:nvSpPr>
        <p:spPr>
          <a:xfrm>
            <a:off x="34293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303" name="Google Shape;1303;p43"/>
          <p:cNvSpPr txBox="1"/>
          <p:nvPr/>
        </p:nvSpPr>
        <p:spPr>
          <a:xfrm>
            <a:off x="41756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304" name="Google Shape;1304;p43"/>
          <p:cNvSpPr txBox="1"/>
          <p:nvPr/>
        </p:nvSpPr>
        <p:spPr>
          <a:xfrm>
            <a:off x="35912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305" name="Google Shape;1305;p43"/>
          <p:cNvSpPr txBox="1"/>
          <p:nvPr/>
        </p:nvSpPr>
        <p:spPr>
          <a:xfrm>
            <a:off x="52028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306" name="Google Shape;1306;p43"/>
          <p:cNvSpPr txBox="1"/>
          <p:nvPr/>
        </p:nvSpPr>
        <p:spPr>
          <a:xfrm>
            <a:off x="49110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Valdosta</a:t>
            </a:r>
            <a:endParaRPr sz="800">
              <a:solidFill>
                <a:schemeClr val="dk1"/>
              </a:solidFill>
            </a:endParaRPr>
          </a:p>
        </p:txBody>
      </p:sp>
      <p:sp>
        <p:nvSpPr>
          <p:cNvPr id="1307" name="Google Shape;1307;p43"/>
          <p:cNvSpPr txBox="1"/>
          <p:nvPr/>
        </p:nvSpPr>
        <p:spPr>
          <a:xfrm>
            <a:off x="45509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308" name="Google Shape;1308;p43"/>
          <p:cNvSpPr txBox="1"/>
          <p:nvPr/>
        </p:nvSpPr>
        <p:spPr>
          <a:xfrm>
            <a:off x="51094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309" name="Google Shape;1309;p43"/>
          <p:cNvSpPr txBox="1"/>
          <p:nvPr/>
        </p:nvSpPr>
        <p:spPr>
          <a:xfrm>
            <a:off x="67430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310" name="Google Shape;1310;p43"/>
          <p:cNvSpPr txBox="1"/>
          <p:nvPr/>
        </p:nvSpPr>
        <p:spPr>
          <a:xfrm>
            <a:off x="57711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311" name="Google Shape;1311;p43"/>
          <p:cNvSpPr txBox="1"/>
          <p:nvPr/>
        </p:nvSpPr>
        <p:spPr>
          <a:xfrm>
            <a:off x="46271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312" name="Google Shape;1312;p43"/>
          <p:cNvSpPr txBox="1"/>
          <p:nvPr/>
        </p:nvSpPr>
        <p:spPr>
          <a:xfrm>
            <a:off x="55824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313" name="Google Shape;1313;p43"/>
          <p:cNvSpPr txBox="1"/>
          <p:nvPr/>
        </p:nvSpPr>
        <p:spPr>
          <a:xfrm>
            <a:off x="65598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314" name="Google Shape;1314;p43"/>
          <p:cNvSpPr txBox="1"/>
          <p:nvPr/>
        </p:nvSpPr>
        <p:spPr>
          <a:xfrm>
            <a:off x="63639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315" name="Google Shape;1315;p43"/>
          <p:cNvSpPr txBox="1"/>
          <p:nvPr/>
        </p:nvSpPr>
        <p:spPr>
          <a:xfrm>
            <a:off x="69691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Savannah</a:t>
            </a:r>
            <a:endParaRPr sz="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44"/>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321" name="Google Shape;132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22" name="Google Shape;1322;p44"/>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pic>
        <p:nvPicPr>
          <p:cNvPr id="1323" name="Google Shape;1323;p44"/>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324" name="Google Shape;1324;p44"/>
          <p:cNvSpPr txBox="1"/>
          <p:nvPr/>
        </p:nvSpPr>
        <p:spPr>
          <a:xfrm>
            <a:off x="72700" y="945100"/>
            <a:ext cx="3000000" cy="236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rPr>
              <a:t>Step 1: </a:t>
            </a:r>
            <a:br>
              <a:rPr lang="en" sz="1800">
                <a:solidFill>
                  <a:schemeClr val="dk1"/>
                </a:solidFill>
              </a:rPr>
            </a:br>
            <a:r>
              <a:rPr lang="en" sz="1800">
                <a:solidFill>
                  <a:schemeClr val="dk1"/>
                </a:solidFill>
              </a:rPr>
              <a:t>Make the starting city the root of the search tree (level 0).</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t/>
            </a:r>
            <a:endParaRPr b="1" sz="1800">
              <a:solidFill>
                <a:schemeClr val="dk1"/>
              </a:solidFill>
            </a:endParaRPr>
          </a:p>
        </p:txBody>
      </p:sp>
      <p:sp>
        <p:nvSpPr>
          <p:cNvPr id="1325" name="Google Shape;1325;p44"/>
          <p:cNvSpPr txBox="1"/>
          <p:nvPr/>
        </p:nvSpPr>
        <p:spPr>
          <a:xfrm>
            <a:off x="5489075" y="880925"/>
            <a:ext cx="121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Tree Root</a:t>
            </a:r>
            <a:endParaRPr b="1"/>
          </a:p>
        </p:txBody>
      </p:sp>
      <p:cxnSp>
        <p:nvCxnSpPr>
          <p:cNvPr id="1326" name="Google Shape;1326;p44"/>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45"/>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332" name="Google Shape;1332;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33" name="Google Shape;1333;p45"/>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pic>
        <p:nvPicPr>
          <p:cNvPr id="1334" name="Google Shape;1334;p45"/>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335" name="Google Shape;1335;p45"/>
          <p:cNvSpPr txBox="1"/>
          <p:nvPr/>
        </p:nvSpPr>
        <p:spPr>
          <a:xfrm>
            <a:off x="72700" y="981450"/>
            <a:ext cx="3399000" cy="311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800">
                <a:solidFill>
                  <a:schemeClr val="dk1"/>
                </a:solidFill>
              </a:rPr>
              <a:t>Step 2: 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Find its neighbors that are not already in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Add those neighbors to the next level of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If one of the neighbors is the destination, exit.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rPr b="1" lang="en" sz="1600">
                <a:solidFill>
                  <a:srgbClr val="FF9900"/>
                </a:solidFill>
              </a:rPr>
              <a:t>What cities neighbor Savannah?</a:t>
            </a:r>
            <a:endParaRPr b="1" sz="1600">
              <a:solidFill>
                <a:srgbClr val="FF9900"/>
              </a:solidFill>
            </a:endParaRPr>
          </a:p>
        </p:txBody>
      </p:sp>
      <p:sp>
        <p:nvSpPr>
          <p:cNvPr id="1336" name="Google Shape;1336;p45"/>
          <p:cNvSpPr txBox="1"/>
          <p:nvPr/>
        </p:nvSpPr>
        <p:spPr>
          <a:xfrm>
            <a:off x="5565275" y="804725"/>
            <a:ext cx="121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Current level</a:t>
            </a:r>
            <a:endParaRPr b="1"/>
          </a:p>
        </p:txBody>
      </p:sp>
      <p:cxnSp>
        <p:nvCxnSpPr>
          <p:cNvPr id="1337" name="Google Shape;1337;p45"/>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pic>
        <p:nvPicPr>
          <p:cNvPr id="1342" name="Google Shape;1342;p46"/>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343" name="Google Shape;1343;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44" name="Google Shape;1344;p46"/>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345" name="Google Shape;1345;p46"/>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346" name="Google Shape;1346;p46"/>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cxnSp>
        <p:nvCxnSpPr>
          <p:cNvPr id="1347" name="Google Shape;1347;p46"/>
          <p:cNvCxnSpPr>
            <a:stCxn id="1344" idx="2"/>
            <a:endCxn id="1345"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348" name="Google Shape;1348;p46"/>
          <p:cNvCxnSpPr>
            <a:stCxn id="1344" idx="2"/>
            <a:endCxn id="1346"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sp>
        <p:nvSpPr>
          <p:cNvPr id="1349" name="Google Shape;1349;p46"/>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350" name="Google Shape;1350;p46"/>
          <p:cNvSpPr txBox="1"/>
          <p:nvPr/>
        </p:nvSpPr>
        <p:spPr>
          <a:xfrm>
            <a:off x="72700" y="2276850"/>
            <a:ext cx="3399000" cy="270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800">
                <a:solidFill>
                  <a:schemeClr val="dk1"/>
                </a:solidFill>
              </a:rPr>
              <a:t>Step 2: 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Find its neighbors that are not already in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Add those neighbors to the next level of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If one of the neighbors is the destination, exit.</a:t>
            </a:r>
            <a:endParaRPr b="1">
              <a:solidFill>
                <a:schemeClr val="dk1"/>
              </a:solidFill>
            </a:endParaRPr>
          </a:p>
          <a:p>
            <a:pPr indent="0" lvl="0" marL="0" rtl="0" algn="ctr">
              <a:lnSpc>
                <a:spcPct val="115000"/>
              </a:lnSpc>
              <a:spcBef>
                <a:spcPts val="1200"/>
              </a:spcBef>
              <a:spcAft>
                <a:spcPts val="1200"/>
              </a:spcAft>
              <a:buNone/>
            </a:pPr>
            <a:r>
              <a:rPr b="1" lang="en" sz="1600">
                <a:solidFill>
                  <a:srgbClr val="FF9900"/>
                </a:solidFill>
              </a:rPr>
              <a:t>Are we at our destination?</a:t>
            </a:r>
            <a:endParaRPr b="1" sz="1600">
              <a:solidFill>
                <a:srgbClr val="FF9900"/>
              </a:solidFill>
            </a:endParaRPr>
          </a:p>
        </p:txBody>
      </p:sp>
      <p:sp>
        <p:nvSpPr>
          <p:cNvPr id="1351" name="Google Shape;1351;p46"/>
          <p:cNvSpPr txBox="1"/>
          <p:nvPr/>
        </p:nvSpPr>
        <p:spPr>
          <a:xfrm>
            <a:off x="5565275" y="804725"/>
            <a:ext cx="121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Current level</a:t>
            </a:r>
            <a:endParaRPr b="1"/>
          </a:p>
        </p:txBody>
      </p:sp>
      <p:cxnSp>
        <p:nvCxnSpPr>
          <p:cNvPr id="1352" name="Google Shape;1352;p46"/>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pic>
        <p:nvPicPr>
          <p:cNvPr id="1357" name="Google Shape;1357;p47"/>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358" name="Google Shape;1358;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59" name="Google Shape;1359;p47"/>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360" name="Google Shape;1360;p47"/>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361" name="Google Shape;1361;p47"/>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cxnSp>
        <p:nvCxnSpPr>
          <p:cNvPr id="1362" name="Google Shape;1362;p47"/>
          <p:cNvCxnSpPr>
            <a:stCxn id="1359" idx="2"/>
            <a:endCxn id="1360"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363" name="Google Shape;1363;p47"/>
          <p:cNvCxnSpPr>
            <a:stCxn id="1359" idx="2"/>
            <a:endCxn id="1361"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sp>
        <p:nvSpPr>
          <p:cNvPr id="1364" name="Google Shape;1364;p47"/>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365" name="Google Shape;1365;p47"/>
          <p:cNvSpPr txBox="1"/>
          <p:nvPr/>
        </p:nvSpPr>
        <p:spPr>
          <a:xfrm>
            <a:off x="72700" y="2200650"/>
            <a:ext cx="3399000" cy="26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800">
                <a:solidFill>
                  <a:schemeClr val="dk1"/>
                </a:solidFill>
              </a:rPr>
              <a:t>Step 3: </a:t>
            </a:r>
            <a:r>
              <a:rPr lang="en" sz="1800">
                <a:solidFill>
                  <a:schemeClr val="dk1"/>
                </a:solidFill>
              </a:rPr>
              <a:t>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Find its neighbors that are not already in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Add those neighbors to the next level of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If one of the neighbors is the destination, exit.</a:t>
            </a:r>
            <a:endParaRPr>
              <a:solidFill>
                <a:schemeClr val="dk1"/>
              </a:solidFill>
            </a:endParaRPr>
          </a:p>
          <a:p>
            <a:pPr indent="0" lvl="0" marL="0" rtl="0" algn="l">
              <a:lnSpc>
                <a:spcPct val="115000"/>
              </a:lnSpc>
              <a:spcBef>
                <a:spcPts val="1200"/>
              </a:spcBef>
              <a:spcAft>
                <a:spcPts val="1200"/>
              </a:spcAft>
              <a:buNone/>
            </a:pPr>
            <a:r>
              <a:t/>
            </a:r>
            <a:endParaRPr b="1">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pic>
        <p:nvPicPr>
          <p:cNvPr id="1370" name="Google Shape;1370;p48"/>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371" name="Google Shape;137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72" name="Google Shape;1372;p48"/>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373" name="Google Shape;1373;p48"/>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374" name="Google Shape;1374;p48"/>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375" name="Google Shape;1375;p48"/>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376" name="Google Shape;1376;p48"/>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377" name="Google Shape;1377;p48"/>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378" name="Google Shape;1378;p48"/>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cxnSp>
        <p:nvCxnSpPr>
          <p:cNvPr id="1379" name="Google Shape;1379;p48"/>
          <p:cNvCxnSpPr>
            <a:stCxn id="1372" idx="2"/>
            <a:endCxn id="1373"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380" name="Google Shape;1380;p48"/>
          <p:cNvCxnSpPr>
            <a:stCxn id="1372" idx="2"/>
            <a:endCxn id="1374"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381" name="Google Shape;1381;p48"/>
          <p:cNvCxnSpPr>
            <a:stCxn id="1373" idx="2"/>
            <a:endCxn id="1375"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382" name="Google Shape;1382;p48"/>
          <p:cNvCxnSpPr>
            <a:stCxn id="1373" idx="2"/>
            <a:endCxn id="1376"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383" name="Google Shape;1383;p48"/>
          <p:cNvCxnSpPr>
            <a:stCxn id="1374" idx="2"/>
            <a:endCxn id="1378"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384" name="Google Shape;1384;p48"/>
          <p:cNvCxnSpPr>
            <a:stCxn id="1374" idx="2"/>
            <a:endCxn id="1377"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sp>
        <p:nvSpPr>
          <p:cNvPr id="1385" name="Google Shape;1385;p48"/>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386" name="Google Shape;1386;p48"/>
          <p:cNvSpPr txBox="1"/>
          <p:nvPr/>
        </p:nvSpPr>
        <p:spPr>
          <a:xfrm>
            <a:off x="121700" y="3011525"/>
            <a:ext cx="3158700" cy="140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What should we do next?</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rPr lang="en" sz="1800">
                <a:solidFill>
                  <a:schemeClr val="dk1"/>
                </a:solidFill>
              </a:rPr>
              <a:t>(Repeat the process again.)</a:t>
            </a:r>
            <a:endParaRPr sz="1800">
              <a:solidFill>
                <a:schemeClr val="dk1"/>
              </a:solidFill>
            </a:endParaRPr>
          </a:p>
        </p:txBody>
      </p:sp>
      <p:sp>
        <p:nvSpPr>
          <p:cNvPr id="1387" name="Google Shape;1387;p48"/>
          <p:cNvSpPr txBox="1"/>
          <p:nvPr/>
        </p:nvSpPr>
        <p:spPr>
          <a:xfrm>
            <a:off x="3344200" y="4362000"/>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pic>
        <p:nvPicPr>
          <p:cNvPr id="1392" name="Google Shape;1392;p49"/>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393" name="Google Shape;1393;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94" name="Google Shape;1394;p49"/>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395" name="Google Shape;1395;p49"/>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396" name="Google Shape;1396;p49"/>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397" name="Google Shape;1397;p49"/>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398" name="Google Shape;1398;p49"/>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399" name="Google Shape;1399;p49"/>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400" name="Google Shape;1400;p49"/>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401" name="Google Shape;1401;p49"/>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402" name="Google Shape;1402;p49"/>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403" name="Google Shape;1403;p49"/>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404" name="Google Shape;1404;p49"/>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cxnSp>
        <p:nvCxnSpPr>
          <p:cNvPr id="1405" name="Google Shape;1405;p49"/>
          <p:cNvCxnSpPr>
            <a:stCxn id="1394" idx="2"/>
            <a:endCxn id="1395"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406" name="Google Shape;1406;p49"/>
          <p:cNvCxnSpPr>
            <a:stCxn id="1394" idx="2"/>
            <a:endCxn id="1396"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407" name="Google Shape;1407;p49"/>
          <p:cNvCxnSpPr>
            <a:stCxn id="1395" idx="2"/>
            <a:endCxn id="1397"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408" name="Google Shape;1408;p49"/>
          <p:cNvCxnSpPr>
            <a:stCxn id="1395" idx="2"/>
            <a:endCxn id="1398"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409" name="Google Shape;1409;p49"/>
          <p:cNvCxnSpPr>
            <a:stCxn id="1396" idx="2"/>
            <a:endCxn id="1400"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410" name="Google Shape;1410;p49"/>
          <p:cNvCxnSpPr>
            <a:stCxn id="1396" idx="2"/>
            <a:endCxn id="1399"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411" name="Google Shape;1411;p49"/>
          <p:cNvCxnSpPr>
            <a:endCxn id="1403"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412" name="Google Shape;1412;p49"/>
          <p:cNvCxnSpPr>
            <a:stCxn id="1397" idx="2"/>
            <a:endCxn id="1401"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413" name="Google Shape;1413;p49"/>
          <p:cNvCxnSpPr>
            <a:endCxn id="1402"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414" name="Google Shape;1414;p49"/>
          <p:cNvCxnSpPr>
            <a:stCxn id="1400" idx="2"/>
            <a:endCxn id="1404" idx="0"/>
          </p:cNvCxnSpPr>
          <p:nvPr/>
        </p:nvCxnSpPr>
        <p:spPr>
          <a:xfrm>
            <a:off x="6686875" y="3005000"/>
            <a:ext cx="0" cy="499500"/>
          </a:xfrm>
          <a:prstGeom prst="straightConnector1">
            <a:avLst/>
          </a:prstGeom>
          <a:noFill/>
          <a:ln cap="flat" cmpd="sng" w="9525">
            <a:solidFill>
              <a:schemeClr val="dk2"/>
            </a:solidFill>
            <a:prstDash val="solid"/>
            <a:round/>
            <a:headEnd len="med" w="med" type="none"/>
            <a:tailEnd len="med" w="med" type="triangle"/>
          </a:ln>
        </p:spPr>
      </p:cxnSp>
      <p:sp>
        <p:nvSpPr>
          <p:cNvPr id="1415" name="Google Shape;1415;p49"/>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416" name="Google Shape;1416;p49"/>
          <p:cNvSpPr txBox="1"/>
          <p:nvPr/>
        </p:nvSpPr>
        <p:spPr>
          <a:xfrm>
            <a:off x="3344200" y="4362000"/>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pic>
        <p:nvPicPr>
          <p:cNvPr id="1421" name="Google Shape;1421;p50"/>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422" name="Google Shape;142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23" name="Google Shape;1423;p50"/>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424" name="Google Shape;1424;p50"/>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425" name="Google Shape;1425;p50"/>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426" name="Google Shape;1426;p50"/>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427" name="Google Shape;1427;p50"/>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428" name="Google Shape;1428;p50"/>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429" name="Google Shape;1429;p50"/>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430" name="Google Shape;1430;p50"/>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431" name="Google Shape;1431;p50"/>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432" name="Google Shape;1432;p50"/>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433" name="Google Shape;1433;p50"/>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sp>
        <p:nvSpPr>
          <p:cNvPr id="1434" name="Google Shape;1434;p50"/>
          <p:cNvSpPr txBox="1"/>
          <p:nvPr/>
        </p:nvSpPr>
        <p:spPr>
          <a:xfrm>
            <a:off x="62181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Valdosta</a:t>
            </a:r>
            <a:endParaRPr b="1" sz="1000">
              <a:solidFill>
                <a:srgbClr val="FF0000"/>
              </a:solidFill>
            </a:endParaRPr>
          </a:p>
        </p:txBody>
      </p:sp>
      <p:sp>
        <p:nvSpPr>
          <p:cNvPr id="1435" name="Google Shape;1435;p50"/>
          <p:cNvSpPr txBox="1"/>
          <p:nvPr/>
        </p:nvSpPr>
        <p:spPr>
          <a:xfrm>
            <a:off x="44655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Tifton</a:t>
            </a:r>
            <a:endParaRPr sz="1000"/>
          </a:p>
        </p:txBody>
      </p:sp>
      <p:sp>
        <p:nvSpPr>
          <p:cNvPr id="1436" name="Google Shape;1436;p50"/>
          <p:cNvSpPr txBox="1"/>
          <p:nvPr/>
        </p:nvSpPr>
        <p:spPr>
          <a:xfrm>
            <a:off x="34749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Columbus</a:t>
            </a:r>
            <a:endParaRPr sz="1000"/>
          </a:p>
        </p:txBody>
      </p:sp>
      <p:sp>
        <p:nvSpPr>
          <p:cNvPr id="1437" name="Google Shape;1437;p50"/>
          <p:cNvSpPr txBox="1"/>
          <p:nvPr/>
        </p:nvSpPr>
        <p:spPr>
          <a:xfrm>
            <a:off x="74425"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438" name="Google Shape;1438;p50"/>
          <p:cNvSpPr txBox="1"/>
          <p:nvPr/>
        </p:nvSpPr>
        <p:spPr>
          <a:xfrm>
            <a:off x="781576"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439" name="Google Shape;1439;p50"/>
          <p:cNvSpPr txBox="1"/>
          <p:nvPr/>
        </p:nvSpPr>
        <p:spPr>
          <a:xfrm>
            <a:off x="1476200"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Toccoa</a:t>
            </a:r>
            <a:endParaRPr sz="1000"/>
          </a:p>
        </p:txBody>
      </p:sp>
      <p:sp>
        <p:nvSpPr>
          <p:cNvPr id="1440" name="Google Shape;1440;p50"/>
          <p:cNvSpPr txBox="1"/>
          <p:nvPr/>
        </p:nvSpPr>
        <p:spPr>
          <a:xfrm>
            <a:off x="2159725" y="4418900"/>
            <a:ext cx="7287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cxnSp>
        <p:nvCxnSpPr>
          <p:cNvPr id="1441" name="Google Shape;1441;p50"/>
          <p:cNvCxnSpPr>
            <a:stCxn id="1423" idx="2"/>
            <a:endCxn id="1424"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442" name="Google Shape;1442;p50"/>
          <p:cNvCxnSpPr>
            <a:stCxn id="1423" idx="2"/>
            <a:endCxn id="1425"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443" name="Google Shape;1443;p50"/>
          <p:cNvCxnSpPr>
            <a:stCxn id="1424" idx="2"/>
            <a:endCxn id="1426"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444" name="Google Shape;1444;p50"/>
          <p:cNvCxnSpPr>
            <a:stCxn id="1424" idx="2"/>
            <a:endCxn id="1427"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445" name="Google Shape;1445;p50"/>
          <p:cNvCxnSpPr>
            <a:stCxn id="1425" idx="2"/>
            <a:endCxn id="1429"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446" name="Google Shape;1446;p50"/>
          <p:cNvCxnSpPr>
            <a:stCxn id="1425" idx="2"/>
            <a:endCxn id="1428"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447" name="Google Shape;1447;p50"/>
          <p:cNvCxnSpPr>
            <a:endCxn id="1432"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448" name="Google Shape;1448;p50"/>
          <p:cNvCxnSpPr>
            <a:stCxn id="1426" idx="2"/>
            <a:endCxn id="1430"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449" name="Google Shape;1449;p50"/>
          <p:cNvCxnSpPr>
            <a:endCxn id="1431"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450" name="Google Shape;1450;p50"/>
          <p:cNvCxnSpPr>
            <a:endCxn id="1437" idx="0"/>
          </p:cNvCxnSpPr>
          <p:nvPr/>
        </p:nvCxnSpPr>
        <p:spPr>
          <a:xfrm flipH="1">
            <a:off x="386425" y="3843200"/>
            <a:ext cx="304800" cy="575700"/>
          </a:xfrm>
          <a:prstGeom prst="straightConnector1">
            <a:avLst/>
          </a:prstGeom>
          <a:noFill/>
          <a:ln cap="flat" cmpd="sng" w="9525">
            <a:solidFill>
              <a:schemeClr val="dk2"/>
            </a:solidFill>
            <a:prstDash val="solid"/>
            <a:round/>
            <a:headEnd len="med" w="med" type="none"/>
            <a:tailEnd len="med" w="med" type="triangle"/>
          </a:ln>
        </p:spPr>
      </p:cxnSp>
      <p:cxnSp>
        <p:nvCxnSpPr>
          <p:cNvPr id="1451" name="Google Shape;1451;p50"/>
          <p:cNvCxnSpPr>
            <a:stCxn id="1432" idx="2"/>
            <a:endCxn id="1438" idx="0"/>
          </p:cNvCxnSpPr>
          <p:nvPr/>
        </p:nvCxnSpPr>
        <p:spPr>
          <a:xfrm>
            <a:off x="667075" y="3843200"/>
            <a:ext cx="426600" cy="575700"/>
          </a:xfrm>
          <a:prstGeom prst="straightConnector1">
            <a:avLst/>
          </a:prstGeom>
          <a:noFill/>
          <a:ln cap="flat" cmpd="sng" w="9525">
            <a:solidFill>
              <a:schemeClr val="dk2"/>
            </a:solidFill>
            <a:prstDash val="solid"/>
            <a:round/>
            <a:headEnd len="med" w="med" type="none"/>
            <a:tailEnd len="med" w="med" type="triangle"/>
          </a:ln>
        </p:spPr>
      </p:cxnSp>
      <p:cxnSp>
        <p:nvCxnSpPr>
          <p:cNvPr id="1452" name="Google Shape;1452;p50"/>
          <p:cNvCxnSpPr>
            <a:stCxn id="1432" idx="2"/>
            <a:endCxn id="1440" idx="0"/>
          </p:cNvCxnSpPr>
          <p:nvPr/>
        </p:nvCxnSpPr>
        <p:spPr>
          <a:xfrm>
            <a:off x="667075" y="3843200"/>
            <a:ext cx="1857000" cy="575700"/>
          </a:xfrm>
          <a:prstGeom prst="straightConnector1">
            <a:avLst/>
          </a:prstGeom>
          <a:noFill/>
          <a:ln cap="flat" cmpd="sng" w="9525">
            <a:solidFill>
              <a:schemeClr val="dk2"/>
            </a:solidFill>
            <a:prstDash val="solid"/>
            <a:round/>
            <a:headEnd len="med" w="med" type="none"/>
            <a:tailEnd len="med" w="med" type="triangle"/>
          </a:ln>
        </p:spPr>
      </p:cxnSp>
      <p:cxnSp>
        <p:nvCxnSpPr>
          <p:cNvPr id="1453" name="Google Shape;1453;p50"/>
          <p:cNvCxnSpPr>
            <a:stCxn id="1432" idx="2"/>
            <a:endCxn id="1439" idx="0"/>
          </p:cNvCxnSpPr>
          <p:nvPr/>
        </p:nvCxnSpPr>
        <p:spPr>
          <a:xfrm>
            <a:off x="667075" y="3843200"/>
            <a:ext cx="1121100" cy="575700"/>
          </a:xfrm>
          <a:prstGeom prst="straightConnector1">
            <a:avLst/>
          </a:prstGeom>
          <a:noFill/>
          <a:ln cap="flat" cmpd="sng" w="9525">
            <a:solidFill>
              <a:schemeClr val="dk2"/>
            </a:solidFill>
            <a:prstDash val="solid"/>
            <a:round/>
            <a:headEnd len="med" w="med" type="none"/>
            <a:tailEnd len="med" w="med" type="triangle"/>
          </a:ln>
        </p:spPr>
      </p:cxnSp>
      <p:cxnSp>
        <p:nvCxnSpPr>
          <p:cNvPr id="1454" name="Google Shape;1454;p50"/>
          <p:cNvCxnSpPr>
            <a:stCxn id="1431" idx="2"/>
            <a:endCxn id="1436" idx="0"/>
          </p:cNvCxnSpPr>
          <p:nvPr/>
        </p:nvCxnSpPr>
        <p:spPr>
          <a:xfrm flipH="1">
            <a:off x="3943525" y="3843200"/>
            <a:ext cx="366900" cy="575700"/>
          </a:xfrm>
          <a:prstGeom prst="straightConnector1">
            <a:avLst/>
          </a:prstGeom>
          <a:noFill/>
          <a:ln cap="flat" cmpd="sng" w="9525">
            <a:solidFill>
              <a:schemeClr val="dk2"/>
            </a:solidFill>
            <a:prstDash val="solid"/>
            <a:round/>
            <a:headEnd len="med" w="med" type="none"/>
            <a:tailEnd len="med" w="med" type="triangle"/>
          </a:ln>
        </p:spPr>
      </p:cxnSp>
      <p:cxnSp>
        <p:nvCxnSpPr>
          <p:cNvPr id="1455" name="Google Shape;1455;p50"/>
          <p:cNvCxnSpPr>
            <a:endCxn id="1435" idx="0"/>
          </p:cNvCxnSpPr>
          <p:nvPr/>
        </p:nvCxnSpPr>
        <p:spPr>
          <a:xfrm>
            <a:off x="4310275" y="3843200"/>
            <a:ext cx="624000" cy="575700"/>
          </a:xfrm>
          <a:prstGeom prst="straightConnector1">
            <a:avLst/>
          </a:prstGeom>
          <a:noFill/>
          <a:ln cap="flat" cmpd="sng" w="9525">
            <a:solidFill>
              <a:schemeClr val="dk2"/>
            </a:solidFill>
            <a:prstDash val="solid"/>
            <a:round/>
            <a:headEnd len="med" w="med" type="none"/>
            <a:tailEnd len="med" w="med" type="triangle"/>
          </a:ln>
        </p:spPr>
      </p:cxnSp>
      <p:cxnSp>
        <p:nvCxnSpPr>
          <p:cNvPr id="1456" name="Google Shape;1456;p50"/>
          <p:cNvCxnSpPr>
            <a:stCxn id="1429" idx="2"/>
            <a:endCxn id="1433" idx="0"/>
          </p:cNvCxnSpPr>
          <p:nvPr/>
        </p:nvCxnSpPr>
        <p:spPr>
          <a:xfrm>
            <a:off x="6686875" y="3005000"/>
            <a:ext cx="0" cy="499500"/>
          </a:xfrm>
          <a:prstGeom prst="straightConnector1">
            <a:avLst/>
          </a:prstGeom>
          <a:noFill/>
          <a:ln cap="flat" cmpd="sng" w="9525">
            <a:solidFill>
              <a:schemeClr val="dk2"/>
            </a:solidFill>
            <a:prstDash val="solid"/>
            <a:round/>
            <a:headEnd len="med" w="med" type="none"/>
            <a:tailEnd len="med" w="med" type="triangle"/>
          </a:ln>
        </p:spPr>
      </p:cxnSp>
      <p:cxnSp>
        <p:nvCxnSpPr>
          <p:cNvPr id="1457" name="Google Shape;1457;p50"/>
          <p:cNvCxnSpPr>
            <a:stCxn id="1433" idx="2"/>
            <a:endCxn id="1434" idx="0"/>
          </p:cNvCxnSpPr>
          <p:nvPr/>
        </p:nvCxnSpPr>
        <p:spPr>
          <a:xfrm>
            <a:off x="6686875" y="3843200"/>
            <a:ext cx="0" cy="575700"/>
          </a:xfrm>
          <a:prstGeom prst="straightConnector1">
            <a:avLst/>
          </a:prstGeom>
          <a:noFill/>
          <a:ln cap="flat" cmpd="sng" w="9525">
            <a:solidFill>
              <a:schemeClr val="dk2"/>
            </a:solidFill>
            <a:prstDash val="solid"/>
            <a:round/>
            <a:headEnd len="med" w="med" type="none"/>
            <a:tailEnd len="med" w="med" type="triangle"/>
          </a:ln>
        </p:spPr>
      </p:cxnSp>
      <p:sp>
        <p:nvSpPr>
          <p:cNvPr id="1458" name="Google Shape;1458;p50"/>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459" name="Google Shape;1459;p50"/>
          <p:cNvSpPr txBox="1"/>
          <p:nvPr/>
        </p:nvSpPr>
        <p:spPr>
          <a:xfrm>
            <a:off x="3391325" y="46814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pic>
        <p:nvPicPr>
          <p:cNvPr id="1464" name="Google Shape;1464;p51"/>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465" name="Google Shape;1465;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66" name="Google Shape;1466;p51"/>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467" name="Google Shape;1467;p51"/>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468" name="Google Shape;1468;p51"/>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469" name="Google Shape;1469;p51"/>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470" name="Google Shape;1470;p51"/>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471" name="Google Shape;1471;p51"/>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472" name="Google Shape;1472;p51"/>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473" name="Google Shape;1473;p51"/>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474" name="Google Shape;1474;p51"/>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475" name="Google Shape;1475;p51"/>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476" name="Google Shape;1476;p51"/>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sp>
        <p:nvSpPr>
          <p:cNvPr id="1477" name="Google Shape;1477;p51"/>
          <p:cNvSpPr txBox="1"/>
          <p:nvPr/>
        </p:nvSpPr>
        <p:spPr>
          <a:xfrm>
            <a:off x="62181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Valdosta</a:t>
            </a:r>
            <a:endParaRPr b="1" sz="1000">
              <a:solidFill>
                <a:srgbClr val="FF0000"/>
              </a:solidFill>
            </a:endParaRPr>
          </a:p>
        </p:txBody>
      </p:sp>
      <p:sp>
        <p:nvSpPr>
          <p:cNvPr id="1478" name="Google Shape;1478;p51"/>
          <p:cNvSpPr txBox="1"/>
          <p:nvPr/>
        </p:nvSpPr>
        <p:spPr>
          <a:xfrm>
            <a:off x="44655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Tifton</a:t>
            </a:r>
            <a:endParaRPr sz="1000"/>
          </a:p>
        </p:txBody>
      </p:sp>
      <p:sp>
        <p:nvSpPr>
          <p:cNvPr id="1479" name="Google Shape;1479;p51"/>
          <p:cNvSpPr txBox="1"/>
          <p:nvPr/>
        </p:nvSpPr>
        <p:spPr>
          <a:xfrm>
            <a:off x="34749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Columbus</a:t>
            </a:r>
            <a:endParaRPr sz="1000"/>
          </a:p>
        </p:txBody>
      </p:sp>
      <p:sp>
        <p:nvSpPr>
          <p:cNvPr id="1480" name="Google Shape;1480;p51"/>
          <p:cNvSpPr txBox="1"/>
          <p:nvPr/>
        </p:nvSpPr>
        <p:spPr>
          <a:xfrm>
            <a:off x="74425"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481" name="Google Shape;1481;p51"/>
          <p:cNvSpPr txBox="1"/>
          <p:nvPr/>
        </p:nvSpPr>
        <p:spPr>
          <a:xfrm>
            <a:off x="781576"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482" name="Google Shape;1482;p51"/>
          <p:cNvSpPr txBox="1"/>
          <p:nvPr/>
        </p:nvSpPr>
        <p:spPr>
          <a:xfrm>
            <a:off x="1476200"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Toccoa</a:t>
            </a:r>
            <a:endParaRPr sz="1000"/>
          </a:p>
        </p:txBody>
      </p:sp>
      <p:sp>
        <p:nvSpPr>
          <p:cNvPr id="1483" name="Google Shape;1483;p51"/>
          <p:cNvSpPr txBox="1"/>
          <p:nvPr/>
        </p:nvSpPr>
        <p:spPr>
          <a:xfrm>
            <a:off x="2159725" y="4418900"/>
            <a:ext cx="7287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cxnSp>
        <p:nvCxnSpPr>
          <p:cNvPr id="1484" name="Google Shape;1484;p51"/>
          <p:cNvCxnSpPr>
            <a:stCxn id="1466" idx="2"/>
            <a:endCxn id="1467"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485" name="Google Shape;1485;p51"/>
          <p:cNvCxnSpPr>
            <a:stCxn id="1466" idx="2"/>
            <a:endCxn id="1468" idx="0"/>
          </p:cNvCxnSpPr>
          <p:nvPr/>
        </p:nvCxnSpPr>
        <p:spPr>
          <a:xfrm>
            <a:off x="4499450" y="1432625"/>
            <a:ext cx="3048000" cy="423300"/>
          </a:xfrm>
          <a:prstGeom prst="straightConnector1">
            <a:avLst/>
          </a:prstGeom>
          <a:noFill/>
          <a:ln cap="flat" cmpd="sng" w="28575">
            <a:solidFill>
              <a:srgbClr val="FF0000"/>
            </a:solidFill>
            <a:prstDash val="solid"/>
            <a:round/>
            <a:headEnd len="med" w="med" type="triangle"/>
            <a:tailEnd len="med" w="med" type="none"/>
          </a:ln>
        </p:spPr>
      </p:cxnSp>
      <p:cxnSp>
        <p:nvCxnSpPr>
          <p:cNvPr id="1486" name="Google Shape;1486;p51"/>
          <p:cNvCxnSpPr>
            <a:stCxn id="1467" idx="2"/>
            <a:endCxn id="1469"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487" name="Google Shape;1487;p51"/>
          <p:cNvCxnSpPr>
            <a:stCxn id="1467" idx="2"/>
            <a:endCxn id="1470"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488" name="Google Shape;1488;p51"/>
          <p:cNvCxnSpPr>
            <a:stCxn id="1468" idx="2"/>
            <a:endCxn id="1472" idx="0"/>
          </p:cNvCxnSpPr>
          <p:nvPr/>
        </p:nvCxnSpPr>
        <p:spPr>
          <a:xfrm flipH="1">
            <a:off x="6686750" y="2194625"/>
            <a:ext cx="860700" cy="471600"/>
          </a:xfrm>
          <a:prstGeom prst="straightConnector1">
            <a:avLst/>
          </a:prstGeom>
          <a:noFill/>
          <a:ln cap="flat" cmpd="sng" w="28575">
            <a:solidFill>
              <a:srgbClr val="FF0000"/>
            </a:solidFill>
            <a:prstDash val="solid"/>
            <a:round/>
            <a:headEnd len="med" w="med" type="triangle"/>
            <a:tailEnd len="med" w="med" type="none"/>
          </a:ln>
        </p:spPr>
      </p:cxnSp>
      <p:cxnSp>
        <p:nvCxnSpPr>
          <p:cNvPr id="1489" name="Google Shape;1489;p51"/>
          <p:cNvCxnSpPr>
            <a:stCxn id="1468" idx="2"/>
            <a:endCxn id="1471"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490" name="Google Shape;1490;p51"/>
          <p:cNvCxnSpPr>
            <a:endCxn id="1475"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491" name="Google Shape;1491;p51"/>
          <p:cNvCxnSpPr>
            <a:stCxn id="1469" idx="2"/>
            <a:endCxn id="1473"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492" name="Google Shape;1492;p51"/>
          <p:cNvCxnSpPr>
            <a:endCxn id="1474"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493" name="Google Shape;1493;p51"/>
          <p:cNvCxnSpPr>
            <a:endCxn id="1480" idx="0"/>
          </p:cNvCxnSpPr>
          <p:nvPr/>
        </p:nvCxnSpPr>
        <p:spPr>
          <a:xfrm flipH="1">
            <a:off x="386425" y="3843200"/>
            <a:ext cx="304800" cy="575700"/>
          </a:xfrm>
          <a:prstGeom prst="straightConnector1">
            <a:avLst/>
          </a:prstGeom>
          <a:noFill/>
          <a:ln cap="flat" cmpd="sng" w="9525">
            <a:solidFill>
              <a:schemeClr val="dk2"/>
            </a:solidFill>
            <a:prstDash val="solid"/>
            <a:round/>
            <a:headEnd len="med" w="med" type="none"/>
            <a:tailEnd len="med" w="med" type="triangle"/>
          </a:ln>
        </p:spPr>
      </p:cxnSp>
      <p:cxnSp>
        <p:nvCxnSpPr>
          <p:cNvPr id="1494" name="Google Shape;1494;p51"/>
          <p:cNvCxnSpPr>
            <a:stCxn id="1475" idx="2"/>
            <a:endCxn id="1481" idx="0"/>
          </p:cNvCxnSpPr>
          <p:nvPr/>
        </p:nvCxnSpPr>
        <p:spPr>
          <a:xfrm>
            <a:off x="667075" y="3843200"/>
            <a:ext cx="426600" cy="575700"/>
          </a:xfrm>
          <a:prstGeom prst="straightConnector1">
            <a:avLst/>
          </a:prstGeom>
          <a:noFill/>
          <a:ln cap="flat" cmpd="sng" w="9525">
            <a:solidFill>
              <a:schemeClr val="dk2"/>
            </a:solidFill>
            <a:prstDash val="solid"/>
            <a:round/>
            <a:headEnd len="med" w="med" type="none"/>
            <a:tailEnd len="med" w="med" type="triangle"/>
          </a:ln>
        </p:spPr>
      </p:cxnSp>
      <p:cxnSp>
        <p:nvCxnSpPr>
          <p:cNvPr id="1495" name="Google Shape;1495;p51"/>
          <p:cNvCxnSpPr>
            <a:stCxn id="1475" idx="2"/>
            <a:endCxn id="1483" idx="0"/>
          </p:cNvCxnSpPr>
          <p:nvPr/>
        </p:nvCxnSpPr>
        <p:spPr>
          <a:xfrm>
            <a:off x="667075" y="3843200"/>
            <a:ext cx="1857000" cy="575700"/>
          </a:xfrm>
          <a:prstGeom prst="straightConnector1">
            <a:avLst/>
          </a:prstGeom>
          <a:noFill/>
          <a:ln cap="flat" cmpd="sng" w="9525">
            <a:solidFill>
              <a:schemeClr val="dk2"/>
            </a:solidFill>
            <a:prstDash val="solid"/>
            <a:round/>
            <a:headEnd len="med" w="med" type="none"/>
            <a:tailEnd len="med" w="med" type="triangle"/>
          </a:ln>
        </p:spPr>
      </p:cxnSp>
      <p:cxnSp>
        <p:nvCxnSpPr>
          <p:cNvPr id="1496" name="Google Shape;1496;p51"/>
          <p:cNvCxnSpPr>
            <a:stCxn id="1475" idx="2"/>
            <a:endCxn id="1482" idx="0"/>
          </p:cNvCxnSpPr>
          <p:nvPr/>
        </p:nvCxnSpPr>
        <p:spPr>
          <a:xfrm>
            <a:off x="667075" y="3843200"/>
            <a:ext cx="1121100" cy="575700"/>
          </a:xfrm>
          <a:prstGeom prst="straightConnector1">
            <a:avLst/>
          </a:prstGeom>
          <a:noFill/>
          <a:ln cap="flat" cmpd="sng" w="9525">
            <a:solidFill>
              <a:schemeClr val="dk2"/>
            </a:solidFill>
            <a:prstDash val="solid"/>
            <a:round/>
            <a:headEnd len="med" w="med" type="none"/>
            <a:tailEnd len="med" w="med" type="triangle"/>
          </a:ln>
        </p:spPr>
      </p:cxnSp>
      <p:cxnSp>
        <p:nvCxnSpPr>
          <p:cNvPr id="1497" name="Google Shape;1497;p51"/>
          <p:cNvCxnSpPr>
            <a:stCxn id="1474" idx="2"/>
            <a:endCxn id="1479" idx="0"/>
          </p:cNvCxnSpPr>
          <p:nvPr/>
        </p:nvCxnSpPr>
        <p:spPr>
          <a:xfrm flipH="1">
            <a:off x="3943525" y="3843200"/>
            <a:ext cx="366900" cy="575700"/>
          </a:xfrm>
          <a:prstGeom prst="straightConnector1">
            <a:avLst/>
          </a:prstGeom>
          <a:noFill/>
          <a:ln cap="flat" cmpd="sng" w="9525">
            <a:solidFill>
              <a:schemeClr val="dk2"/>
            </a:solidFill>
            <a:prstDash val="solid"/>
            <a:round/>
            <a:headEnd len="med" w="med" type="none"/>
            <a:tailEnd len="med" w="med" type="triangle"/>
          </a:ln>
        </p:spPr>
      </p:cxnSp>
      <p:cxnSp>
        <p:nvCxnSpPr>
          <p:cNvPr id="1498" name="Google Shape;1498;p51"/>
          <p:cNvCxnSpPr>
            <a:endCxn id="1478" idx="0"/>
          </p:cNvCxnSpPr>
          <p:nvPr/>
        </p:nvCxnSpPr>
        <p:spPr>
          <a:xfrm>
            <a:off x="4310275" y="3843200"/>
            <a:ext cx="624000" cy="575700"/>
          </a:xfrm>
          <a:prstGeom prst="straightConnector1">
            <a:avLst/>
          </a:prstGeom>
          <a:noFill/>
          <a:ln cap="flat" cmpd="sng" w="9525">
            <a:solidFill>
              <a:schemeClr val="dk2"/>
            </a:solidFill>
            <a:prstDash val="solid"/>
            <a:round/>
            <a:headEnd len="med" w="med" type="none"/>
            <a:tailEnd len="med" w="med" type="triangle"/>
          </a:ln>
        </p:spPr>
      </p:cxnSp>
      <p:cxnSp>
        <p:nvCxnSpPr>
          <p:cNvPr id="1499" name="Google Shape;1499;p51"/>
          <p:cNvCxnSpPr>
            <a:stCxn id="1472" idx="2"/>
            <a:endCxn id="1476" idx="0"/>
          </p:cNvCxnSpPr>
          <p:nvPr/>
        </p:nvCxnSpPr>
        <p:spPr>
          <a:xfrm>
            <a:off x="6686875" y="3005000"/>
            <a:ext cx="0" cy="499500"/>
          </a:xfrm>
          <a:prstGeom prst="straightConnector1">
            <a:avLst/>
          </a:prstGeom>
          <a:noFill/>
          <a:ln cap="flat" cmpd="sng" w="28575">
            <a:solidFill>
              <a:srgbClr val="FF0000"/>
            </a:solidFill>
            <a:prstDash val="solid"/>
            <a:round/>
            <a:headEnd len="med" w="med" type="triangle"/>
            <a:tailEnd len="med" w="med" type="none"/>
          </a:ln>
        </p:spPr>
      </p:cxnSp>
      <p:cxnSp>
        <p:nvCxnSpPr>
          <p:cNvPr id="1500" name="Google Shape;1500;p51"/>
          <p:cNvCxnSpPr>
            <a:stCxn id="1476" idx="2"/>
            <a:endCxn id="1477" idx="0"/>
          </p:cNvCxnSpPr>
          <p:nvPr/>
        </p:nvCxnSpPr>
        <p:spPr>
          <a:xfrm>
            <a:off x="6686875" y="3843200"/>
            <a:ext cx="0" cy="575700"/>
          </a:xfrm>
          <a:prstGeom prst="straightConnector1">
            <a:avLst/>
          </a:prstGeom>
          <a:noFill/>
          <a:ln cap="flat" cmpd="sng" w="28575">
            <a:solidFill>
              <a:srgbClr val="FF0000"/>
            </a:solidFill>
            <a:prstDash val="solid"/>
            <a:round/>
            <a:headEnd len="med" w="med" type="triangle"/>
            <a:tailEnd len="med" w="med" type="none"/>
          </a:ln>
        </p:spPr>
      </p:cxnSp>
      <p:sp>
        <p:nvSpPr>
          <p:cNvPr id="1501" name="Google Shape;1501;p51"/>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br>
              <a:rPr lang="en"/>
            </a:br>
            <a:r>
              <a:rPr lang="en">
                <a:solidFill>
                  <a:srgbClr val="FF0000"/>
                </a:solidFill>
              </a:rPr>
              <a:t>Recovering the Solution Path</a:t>
            </a:r>
            <a:endParaRPr>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 Try It: Find A Route from Athens to Milledgeville</a:t>
            </a:r>
            <a:endParaRPr/>
          </a:p>
        </p:txBody>
      </p:sp>
      <p:sp>
        <p:nvSpPr>
          <p:cNvPr id="1507" name="Google Shape;1507;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rPr lang="en" sz="3600"/>
              <a:t>Use a blank sheet</a:t>
            </a:r>
            <a:br>
              <a:rPr lang="en" sz="3600"/>
            </a:br>
            <a:r>
              <a:rPr lang="en" sz="3600"/>
              <a:t>of paper to</a:t>
            </a:r>
            <a:br>
              <a:rPr lang="en" sz="3600"/>
            </a:br>
            <a:r>
              <a:rPr lang="en" sz="3600"/>
              <a:t>draw your tree.</a:t>
            </a:r>
            <a:endParaRPr sz="3600"/>
          </a:p>
        </p:txBody>
      </p:sp>
      <p:sp>
        <p:nvSpPr>
          <p:cNvPr id="1508" name="Google Shape;150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509" name="Google Shape;1509;p52"/>
          <p:cNvGrpSpPr/>
          <p:nvPr/>
        </p:nvGrpSpPr>
        <p:grpSpPr>
          <a:xfrm>
            <a:off x="4267550" y="1109849"/>
            <a:ext cx="4233425" cy="3768338"/>
            <a:chOff x="2819750" y="881249"/>
            <a:chExt cx="4233425" cy="3768338"/>
          </a:xfrm>
        </p:grpSpPr>
        <p:sp>
          <p:nvSpPr>
            <p:cNvPr id="1510" name="Google Shape;1510;p52"/>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rgbClr val="595959"/>
              </a:solidFill>
              <a:prstDash val="solid"/>
              <a:round/>
              <a:headEnd len="med" w="med" type="none"/>
              <a:tailEnd len="med" w="med" type="none"/>
            </a:ln>
          </p:spPr>
        </p:sp>
        <p:sp>
          <p:nvSpPr>
            <p:cNvPr id="1511" name="Google Shape;1511;p52"/>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rgbClr val="595959"/>
              </a:solidFill>
              <a:prstDash val="solid"/>
              <a:round/>
              <a:headEnd len="med" w="med" type="none"/>
              <a:tailEnd len="med" w="med" type="none"/>
            </a:ln>
          </p:spPr>
        </p:sp>
        <p:sp>
          <p:nvSpPr>
            <p:cNvPr id="1512" name="Google Shape;1512;p52"/>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rgbClr val="595959"/>
              </a:solidFill>
              <a:prstDash val="solid"/>
              <a:round/>
              <a:headEnd len="med" w="med" type="none"/>
              <a:tailEnd len="med" w="med" type="none"/>
            </a:ln>
          </p:spPr>
        </p:sp>
        <p:sp>
          <p:nvSpPr>
            <p:cNvPr id="1513" name="Google Shape;1513;p52"/>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rgbClr val="595959"/>
              </a:solidFill>
              <a:prstDash val="solid"/>
              <a:round/>
              <a:headEnd len="med" w="med" type="none"/>
              <a:tailEnd len="med" w="med" type="none"/>
            </a:ln>
          </p:spPr>
        </p:sp>
        <p:sp>
          <p:nvSpPr>
            <p:cNvPr id="1514" name="Google Shape;1514;p52"/>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rgbClr val="595959"/>
              </a:solidFill>
              <a:prstDash val="solid"/>
              <a:round/>
              <a:headEnd len="med" w="med" type="none"/>
              <a:tailEnd len="med" w="med" type="none"/>
            </a:ln>
          </p:spPr>
        </p:sp>
        <p:sp>
          <p:nvSpPr>
            <p:cNvPr id="1515" name="Google Shape;1515;p52"/>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rgbClr val="595959"/>
              </a:solidFill>
              <a:prstDash val="solid"/>
              <a:round/>
              <a:headEnd len="med" w="med" type="none"/>
              <a:tailEnd len="med" w="med" type="none"/>
            </a:ln>
          </p:spPr>
        </p:sp>
        <p:sp>
          <p:nvSpPr>
            <p:cNvPr id="1516" name="Google Shape;1516;p52"/>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rgbClr val="595959"/>
              </a:solidFill>
              <a:prstDash val="solid"/>
              <a:round/>
              <a:headEnd len="med" w="med" type="none"/>
              <a:tailEnd len="med" w="med" type="none"/>
            </a:ln>
          </p:spPr>
        </p:sp>
        <p:sp>
          <p:nvSpPr>
            <p:cNvPr id="1517" name="Google Shape;1517;p52"/>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rgbClr val="595959"/>
              </a:solidFill>
              <a:prstDash val="solid"/>
              <a:round/>
              <a:headEnd len="med" w="med" type="none"/>
              <a:tailEnd len="med" w="med" type="none"/>
            </a:ln>
          </p:spPr>
        </p:sp>
        <p:sp>
          <p:nvSpPr>
            <p:cNvPr id="1518" name="Google Shape;1518;p52"/>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rgbClr val="595959"/>
              </a:solidFill>
              <a:prstDash val="solid"/>
              <a:round/>
              <a:headEnd len="med" w="med" type="none"/>
              <a:tailEnd len="med" w="med" type="none"/>
            </a:ln>
          </p:spPr>
        </p:sp>
        <p:sp>
          <p:nvSpPr>
            <p:cNvPr id="1519" name="Google Shape;1519;p52"/>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rgbClr val="595959"/>
              </a:solidFill>
              <a:prstDash val="solid"/>
              <a:round/>
              <a:headEnd len="med" w="med" type="none"/>
              <a:tailEnd len="med" w="med" type="none"/>
            </a:ln>
          </p:spPr>
        </p:sp>
        <p:sp>
          <p:nvSpPr>
            <p:cNvPr id="1520" name="Google Shape;1520;p52"/>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rgbClr val="595959"/>
              </a:solidFill>
              <a:prstDash val="solid"/>
              <a:round/>
              <a:headEnd len="med" w="med" type="none"/>
              <a:tailEnd len="med" w="med" type="none"/>
            </a:ln>
          </p:spPr>
        </p:sp>
        <p:sp>
          <p:nvSpPr>
            <p:cNvPr id="1521" name="Google Shape;1521;p52"/>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rgbClr val="595959"/>
              </a:solidFill>
              <a:prstDash val="solid"/>
              <a:round/>
              <a:headEnd len="med" w="med" type="none"/>
              <a:tailEnd len="med" w="med" type="none"/>
            </a:ln>
          </p:spPr>
        </p:sp>
        <p:sp>
          <p:nvSpPr>
            <p:cNvPr id="1522" name="Google Shape;1522;p52"/>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rgbClr val="595959"/>
              </a:solidFill>
              <a:prstDash val="solid"/>
              <a:round/>
              <a:headEnd len="med" w="med" type="none"/>
              <a:tailEnd len="med" w="med" type="none"/>
            </a:ln>
          </p:spPr>
        </p:sp>
        <p:sp>
          <p:nvSpPr>
            <p:cNvPr id="1523" name="Google Shape;1523;p52"/>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rgbClr val="595959"/>
              </a:solidFill>
              <a:prstDash val="solid"/>
              <a:round/>
              <a:headEnd len="med" w="med" type="none"/>
              <a:tailEnd len="med" w="med" type="none"/>
            </a:ln>
          </p:spPr>
        </p:sp>
        <p:sp>
          <p:nvSpPr>
            <p:cNvPr id="1524" name="Google Shape;1524;p52"/>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rgbClr val="595959"/>
              </a:solidFill>
              <a:prstDash val="solid"/>
              <a:round/>
              <a:headEnd len="med" w="med" type="none"/>
              <a:tailEnd len="med" w="med" type="none"/>
            </a:ln>
          </p:spPr>
        </p:sp>
        <p:sp>
          <p:nvSpPr>
            <p:cNvPr id="1525" name="Google Shape;1525;p52"/>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rgbClr val="595959"/>
              </a:solidFill>
              <a:prstDash val="solid"/>
              <a:round/>
              <a:headEnd len="med" w="med" type="none"/>
              <a:tailEnd len="med" w="med" type="none"/>
            </a:ln>
          </p:spPr>
        </p:sp>
        <p:sp>
          <p:nvSpPr>
            <p:cNvPr id="1526" name="Google Shape;1526;p52"/>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rgbClr val="595959"/>
              </a:solidFill>
              <a:prstDash val="solid"/>
              <a:round/>
              <a:headEnd len="med" w="med" type="none"/>
              <a:tailEnd len="med" w="med" type="none"/>
            </a:ln>
          </p:spPr>
        </p:sp>
        <p:sp>
          <p:nvSpPr>
            <p:cNvPr id="1527" name="Google Shape;1527;p52"/>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rgbClr val="595959"/>
              </a:solidFill>
              <a:prstDash val="solid"/>
              <a:round/>
              <a:headEnd len="med" w="med" type="none"/>
              <a:tailEnd len="med" w="med" type="none"/>
            </a:ln>
          </p:spPr>
        </p:sp>
        <p:sp>
          <p:nvSpPr>
            <p:cNvPr id="1528" name="Google Shape;1528;p52"/>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rgbClr val="595959"/>
              </a:solidFill>
              <a:prstDash val="solid"/>
              <a:round/>
              <a:headEnd len="med" w="med" type="none"/>
              <a:tailEnd len="med" w="med" type="none"/>
            </a:ln>
          </p:spPr>
        </p:sp>
        <p:sp>
          <p:nvSpPr>
            <p:cNvPr id="1529" name="Google Shape;1529;p52"/>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rgbClr val="595959"/>
              </a:solidFill>
              <a:prstDash val="solid"/>
              <a:round/>
              <a:headEnd len="med" w="med" type="none"/>
              <a:tailEnd len="med" w="med" type="none"/>
            </a:ln>
          </p:spPr>
        </p:sp>
        <p:sp>
          <p:nvSpPr>
            <p:cNvPr id="1530" name="Google Shape;1530;p52"/>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rgbClr val="595959"/>
              </a:solidFill>
              <a:prstDash val="solid"/>
              <a:round/>
              <a:headEnd len="med" w="med" type="none"/>
              <a:tailEnd len="med" w="med" type="none"/>
            </a:ln>
          </p:spPr>
        </p:sp>
        <p:sp>
          <p:nvSpPr>
            <p:cNvPr id="1531" name="Google Shape;1531;p52"/>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rgbClr val="595959"/>
              </a:solidFill>
              <a:prstDash val="solid"/>
              <a:round/>
              <a:headEnd len="med" w="med" type="none"/>
              <a:tailEnd len="med" w="med" type="none"/>
            </a:ln>
          </p:spPr>
        </p:sp>
        <p:sp>
          <p:nvSpPr>
            <p:cNvPr id="1532" name="Google Shape;1532;p52"/>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rgbClr val="595959"/>
              </a:solidFill>
              <a:prstDash val="solid"/>
              <a:round/>
              <a:headEnd len="med" w="med" type="none"/>
              <a:tailEnd len="med" w="med" type="none"/>
            </a:ln>
          </p:spPr>
        </p:sp>
        <p:sp>
          <p:nvSpPr>
            <p:cNvPr id="1533" name="Google Shape;1533;p52"/>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rgbClr val="595959"/>
              </a:solidFill>
              <a:prstDash val="solid"/>
              <a:round/>
              <a:headEnd len="med" w="med" type="none"/>
              <a:tailEnd len="med" w="med" type="none"/>
            </a:ln>
          </p:spPr>
        </p:sp>
        <p:sp>
          <p:nvSpPr>
            <p:cNvPr id="1534" name="Google Shape;1534;p52"/>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rgbClr val="595959"/>
              </a:solidFill>
              <a:prstDash val="solid"/>
              <a:round/>
              <a:headEnd len="med" w="med" type="none"/>
              <a:tailEnd len="med" w="med" type="none"/>
            </a:ln>
          </p:spPr>
        </p:sp>
        <p:sp>
          <p:nvSpPr>
            <p:cNvPr id="1535" name="Google Shape;1535;p52"/>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rgbClr val="595959"/>
              </a:solidFill>
              <a:prstDash val="solid"/>
              <a:round/>
              <a:headEnd len="med" w="med" type="none"/>
              <a:tailEnd len="med" w="med" type="none"/>
            </a:ln>
          </p:spPr>
        </p:sp>
        <p:sp>
          <p:nvSpPr>
            <p:cNvPr id="1536" name="Google Shape;1536;p52"/>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rgbClr val="595959"/>
              </a:solidFill>
              <a:prstDash val="solid"/>
              <a:round/>
              <a:headEnd len="med" w="med" type="none"/>
              <a:tailEnd len="med" w="med" type="none"/>
            </a:ln>
          </p:spPr>
        </p:sp>
        <p:sp>
          <p:nvSpPr>
            <p:cNvPr id="1537" name="Google Shape;1537;p52"/>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rgbClr val="595959"/>
              </a:solidFill>
              <a:prstDash val="solid"/>
              <a:round/>
              <a:headEnd len="med" w="med" type="none"/>
              <a:tailEnd len="med" w="med" type="none"/>
            </a:ln>
          </p:spPr>
        </p:sp>
        <p:sp>
          <p:nvSpPr>
            <p:cNvPr id="1538" name="Google Shape;1538;p52"/>
            <p:cNvSpPr/>
            <p:nvPr/>
          </p:nvSpPr>
          <p:spPr>
            <a:xfrm>
              <a:off x="3240434" y="123261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52"/>
            <p:cNvSpPr/>
            <p:nvPr/>
          </p:nvSpPr>
          <p:spPr>
            <a:xfrm>
              <a:off x="3392100" y="22945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52"/>
            <p:cNvSpPr/>
            <p:nvPr/>
          </p:nvSpPr>
          <p:spPr>
            <a:xfrm>
              <a:off x="3392100" y="27517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52"/>
            <p:cNvSpPr/>
            <p:nvPr/>
          </p:nvSpPr>
          <p:spPr>
            <a:xfrm>
              <a:off x="5667425" y="28292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52"/>
            <p:cNvSpPr/>
            <p:nvPr/>
          </p:nvSpPr>
          <p:spPr>
            <a:xfrm>
              <a:off x="4874000" y="31922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52"/>
            <p:cNvSpPr/>
            <p:nvPr/>
          </p:nvSpPr>
          <p:spPr>
            <a:xfrm>
              <a:off x="6233475" y="31340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52"/>
            <p:cNvSpPr/>
            <p:nvPr/>
          </p:nvSpPr>
          <p:spPr>
            <a:xfrm>
              <a:off x="5988800" y="396469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52"/>
            <p:cNvSpPr/>
            <p:nvPr/>
          </p:nvSpPr>
          <p:spPr>
            <a:xfrm>
              <a:off x="5320000" y="396469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52"/>
            <p:cNvSpPr/>
            <p:nvPr/>
          </p:nvSpPr>
          <p:spPr>
            <a:xfrm>
              <a:off x="4612025" y="42402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52"/>
            <p:cNvSpPr/>
            <p:nvPr/>
          </p:nvSpPr>
          <p:spPr>
            <a:xfrm>
              <a:off x="3580800" y="4240257"/>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52"/>
            <p:cNvSpPr/>
            <p:nvPr/>
          </p:nvSpPr>
          <p:spPr>
            <a:xfrm>
              <a:off x="4612034" y="936826"/>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52"/>
            <p:cNvSpPr/>
            <p:nvPr/>
          </p:nvSpPr>
          <p:spPr>
            <a:xfrm>
              <a:off x="4566995" y="1470226"/>
              <a:ext cx="188700" cy="188700"/>
            </a:xfrm>
            <a:prstGeom prst="ellipse">
              <a:avLst/>
            </a:prstGeom>
            <a:solidFill>
              <a:srgbClr val="6AA84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52"/>
            <p:cNvSpPr/>
            <p:nvPr/>
          </p:nvSpPr>
          <p:spPr>
            <a:xfrm>
              <a:off x="5589325" y="19148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52"/>
            <p:cNvSpPr/>
            <p:nvPr/>
          </p:nvSpPr>
          <p:spPr>
            <a:xfrm>
              <a:off x="4612025" y="2258323"/>
              <a:ext cx="188700" cy="188700"/>
            </a:xfrm>
            <a:prstGeom prst="ellipse">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52"/>
            <p:cNvSpPr/>
            <p:nvPr/>
          </p:nvSpPr>
          <p:spPr>
            <a:xfrm>
              <a:off x="4378300" y="247739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52"/>
            <p:cNvSpPr/>
            <p:nvPr/>
          </p:nvSpPr>
          <p:spPr>
            <a:xfrm>
              <a:off x="4378300" y="27929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52"/>
            <p:cNvSpPr/>
            <p:nvPr/>
          </p:nvSpPr>
          <p:spPr>
            <a:xfrm>
              <a:off x="5856125" y="34249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52"/>
            <p:cNvSpPr/>
            <p:nvPr/>
          </p:nvSpPr>
          <p:spPr>
            <a:xfrm>
              <a:off x="3988300" y="35766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52"/>
            <p:cNvSpPr/>
            <p:nvPr/>
          </p:nvSpPr>
          <p:spPr>
            <a:xfrm>
              <a:off x="4477650" y="3687623"/>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52"/>
            <p:cNvSpPr/>
            <p:nvPr/>
          </p:nvSpPr>
          <p:spPr>
            <a:xfrm>
              <a:off x="3881195" y="1653787"/>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52"/>
            <p:cNvSpPr/>
            <p:nvPr/>
          </p:nvSpPr>
          <p:spPr>
            <a:xfrm>
              <a:off x="3576395" y="1989748"/>
              <a:ext cx="188700" cy="18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52"/>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560" name="Google Shape;1560;p52"/>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561" name="Google Shape;1561;p52"/>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562" name="Google Shape;1562;p52"/>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563" name="Google Shape;1563;p52"/>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564" name="Google Shape;1564;p52"/>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565" name="Google Shape;1565;p52"/>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566" name="Google Shape;1566;p52"/>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567" name="Google Shape;1567;p52"/>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568" name="Google Shape;1568;p52"/>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569" name="Google Shape;1569;p52"/>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570" name="Google Shape;1570;p52"/>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571" name="Google Shape;1571;p52"/>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572" name="Google Shape;1572;p52"/>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573" name="Google Shape;1573;p52"/>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574" name="Google Shape;1574;p52"/>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575" name="Google Shape;1575;p52"/>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576" name="Google Shape;1576;p52"/>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577" name="Google Shape;1577;p52"/>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578" name="Google Shape;1578;p52"/>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579" name="Google Shape;1579;p52"/>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3" name="Shape 1583"/>
        <p:cNvGrpSpPr/>
        <p:nvPr/>
      </p:nvGrpSpPr>
      <p:grpSpPr>
        <a:xfrm>
          <a:off x="0" y="0"/>
          <a:ext cx="0" cy="0"/>
          <a:chOff x="0" y="0"/>
          <a:chExt cx="0" cy="0"/>
        </a:xfrm>
      </p:grpSpPr>
      <p:pic>
        <p:nvPicPr>
          <p:cNvPr id="1584" name="Google Shape;1584;p53"/>
          <p:cNvPicPr preferRelativeResize="0"/>
          <p:nvPr/>
        </p:nvPicPr>
        <p:blipFill>
          <a:blip r:embed="rId3">
            <a:alphaModFix/>
          </a:blip>
          <a:stretch>
            <a:fillRect/>
          </a:stretch>
        </p:blipFill>
        <p:spPr>
          <a:xfrm>
            <a:off x="7084125" y="55850"/>
            <a:ext cx="1988375" cy="1800082"/>
          </a:xfrm>
          <a:prstGeom prst="rect">
            <a:avLst/>
          </a:prstGeom>
          <a:noFill/>
          <a:ln>
            <a:noFill/>
          </a:ln>
        </p:spPr>
      </p:pic>
      <p:sp>
        <p:nvSpPr>
          <p:cNvPr id="1585" name="Google Shape;1585;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86" name="Google Shape;1586;p53"/>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587" name="Google Shape;1587;p53"/>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Athens to Milledgeville</a:t>
            </a:r>
            <a:endParaRPr/>
          </a:p>
        </p:txBody>
      </p:sp>
      <p:sp>
        <p:nvSpPr>
          <p:cNvPr id="1588" name="Google Shape;1588;p53"/>
          <p:cNvSpPr txBox="1"/>
          <p:nvPr/>
        </p:nvSpPr>
        <p:spPr>
          <a:xfrm>
            <a:off x="3391325" y="46814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pic>
        <p:nvPicPr>
          <p:cNvPr id="1593" name="Google Shape;1593;p54"/>
          <p:cNvPicPr preferRelativeResize="0"/>
          <p:nvPr/>
        </p:nvPicPr>
        <p:blipFill>
          <a:blip r:embed="rId3">
            <a:alphaModFix/>
          </a:blip>
          <a:stretch>
            <a:fillRect/>
          </a:stretch>
        </p:blipFill>
        <p:spPr>
          <a:xfrm>
            <a:off x="7084125" y="55850"/>
            <a:ext cx="1988375" cy="1800082"/>
          </a:xfrm>
          <a:prstGeom prst="rect">
            <a:avLst/>
          </a:prstGeom>
          <a:noFill/>
          <a:ln>
            <a:noFill/>
          </a:ln>
        </p:spPr>
      </p:pic>
      <p:sp>
        <p:nvSpPr>
          <p:cNvPr id="1594" name="Google Shape;1594;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95" name="Google Shape;1595;p54"/>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596" name="Google Shape;1596;p54"/>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597" name="Google Shape;1597;p54"/>
          <p:cNvSpPr txBox="1"/>
          <p:nvPr/>
        </p:nvSpPr>
        <p:spPr>
          <a:xfrm>
            <a:off x="6697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Tocoa</a:t>
            </a:r>
            <a:endParaRPr sz="1000"/>
          </a:p>
        </p:txBody>
      </p:sp>
      <p:cxnSp>
        <p:nvCxnSpPr>
          <p:cNvPr id="1598" name="Google Shape;1598;p54"/>
          <p:cNvCxnSpPr>
            <a:stCxn id="1595" idx="2"/>
            <a:endCxn id="1596"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599" name="Google Shape;1599;p54"/>
          <p:cNvCxnSpPr>
            <a:stCxn id="1595" idx="2"/>
            <a:endCxn id="1597" idx="0"/>
          </p:cNvCxnSpPr>
          <p:nvPr/>
        </p:nvCxnSpPr>
        <p:spPr>
          <a:xfrm>
            <a:off x="4499450" y="1432625"/>
            <a:ext cx="2667000" cy="423300"/>
          </a:xfrm>
          <a:prstGeom prst="straightConnector1">
            <a:avLst/>
          </a:prstGeom>
          <a:noFill/>
          <a:ln cap="flat" cmpd="sng" w="9525">
            <a:solidFill>
              <a:schemeClr val="dk2"/>
            </a:solidFill>
            <a:prstDash val="solid"/>
            <a:round/>
            <a:headEnd len="med" w="med" type="none"/>
            <a:tailEnd len="med" w="med" type="triangle"/>
          </a:ln>
        </p:spPr>
      </p:cxnSp>
      <p:sp>
        <p:nvSpPr>
          <p:cNvPr id="1600" name="Google Shape;1600;p54"/>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Athens to Milledgeville</a:t>
            </a:r>
            <a:endParaRPr/>
          </a:p>
        </p:txBody>
      </p:sp>
      <p:sp>
        <p:nvSpPr>
          <p:cNvPr id="1601" name="Google Shape;1601;p54"/>
          <p:cNvSpPr txBox="1"/>
          <p:nvPr/>
        </p:nvSpPr>
        <p:spPr>
          <a:xfrm>
            <a:off x="3391325" y="46814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5" name="Shape 1605"/>
        <p:cNvGrpSpPr/>
        <p:nvPr/>
      </p:nvGrpSpPr>
      <p:grpSpPr>
        <a:xfrm>
          <a:off x="0" y="0"/>
          <a:ext cx="0" cy="0"/>
          <a:chOff x="0" y="0"/>
          <a:chExt cx="0" cy="0"/>
        </a:xfrm>
      </p:grpSpPr>
      <p:pic>
        <p:nvPicPr>
          <p:cNvPr id="1606" name="Google Shape;1606;p55"/>
          <p:cNvPicPr preferRelativeResize="0"/>
          <p:nvPr/>
        </p:nvPicPr>
        <p:blipFill>
          <a:blip r:embed="rId3">
            <a:alphaModFix/>
          </a:blip>
          <a:stretch>
            <a:fillRect/>
          </a:stretch>
        </p:blipFill>
        <p:spPr>
          <a:xfrm>
            <a:off x="7084125" y="55850"/>
            <a:ext cx="1988375" cy="1800082"/>
          </a:xfrm>
          <a:prstGeom prst="rect">
            <a:avLst/>
          </a:prstGeom>
          <a:noFill/>
          <a:ln>
            <a:noFill/>
          </a:ln>
        </p:spPr>
      </p:pic>
      <p:sp>
        <p:nvSpPr>
          <p:cNvPr id="1607" name="Google Shape;1607;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08" name="Google Shape;1608;p55"/>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609" name="Google Shape;1609;p55"/>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610" name="Google Shape;1610;p55"/>
          <p:cNvSpPr txBox="1"/>
          <p:nvPr/>
        </p:nvSpPr>
        <p:spPr>
          <a:xfrm>
            <a:off x="6697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Tocoa</a:t>
            </a:r>
            <a:endParaRPr sz="1000"/>
          </a:p>
        </p:txBody>
      </p:sp>
      <p:sp>
        <p:nvSpPr>
          <p:cNvPr id="1611" name="Google Shape;1611;p55"/>
          <p:cNvSpPr txBox="1"/>
          <p:nvPr/>
        </p:nvSpPr>
        <p:spPr>
          <a:xfrm>
            <a:off x="198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612" name="Google Shape;1612;p55"/>
          <p:cNvSpPr txBox="1"/>
          <p:nvPr/>
        </p:nvSpPr>
        <p:spPr>
          <a:xfrm>
            <a:off x="1417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sp>
        <p:nvSpPr>
          <p:cNvPr id="1613" name="Google Shape;1613;p55"/>
          <p:cNvSpPr txBox="1"/>
          <p:nvPr/>
        </p:nvSpPr>
        <p:spPr>
          <a:xfrm>
            <a:off x="5913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614" name="Google Shape;1614;p55"/>
          <p:cNvSpPr txBox="1"/>
          <p:nvPr/>
        </p:nvSpPr>
        <p:spPr>
          <a:xfrm>
            <a:off x="30939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cxnSp>
        <p:nvCxnSpPr>
          <p:cNvPr id="1615" name="Google Shape;1615;p55"/>
          <p:cNvCxnSpPr>
            <a:stCxn id="1608" idx="2"/>
            <a:endCxn id="1609"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616" name="Google Shape;1616;p55"/>
          <p:cNvCxnSpPr>
            <a:stCxn id="1608" idx="2"/>
            <a:endCxn id="1610" idx="0"/>
          </p:cNvCxnSpPr>
          <p:nvPr/>
        </p:nvCxnSpPr>
        <p:spPr>
          <a:xfrm>
            <a:off x="4499450" y="1432625"/>
            <a:ext cx="2667000" cy="423300"/>
          </a:xfrm>
          <a:prstGeom prst="straightConnector1">
            <a:avLst/>
          </a:prstGeom>
          <a:noFill/>
          <a:ln cap="flat" cmpd="sng" w="9525">
            <a:solidFill>
              <a:schemeClr val="dk2"/>
            </a:solidFill>
            <a:prstDash val="solid"/>
            <a:round/>
            <a:headEnd len="med" w="med" type="none"/>
            <a:tailEnd len="med" w="med" type="triangle"/>
          </a:ln>
        </p:spPr>
      </p:cxnSp>
      <p:cxnSp>
        <p:nvCxnSpPr>
          <p:cNvPr id="1617" name="Google Shape;1617;p55"/>
          <p:cNvCxnSpPr>
            <a:stCxn id="1609" idx="2"/>
            <a:endCxn id="1611" idx="0"/>
          </p:cNvCxnSpPr>
          <p:nvPr/>
        </p:nvCxnSpPr>
        <p:spPr>
          <a:xfrm flipH="1">
            <a:off x="666950" y="2194625"/>
            <a:ext cx="1775100" cy="471600"/>
          </a:xfrm>
          <a:prstGeom prst="straightConnector1">
            <a:avLst/>
          </a:prstGeom>
          <a:noFill/>
          <a:ln cap="flat" cmpd="sng" w="9525">
            <a:solidFill>
              <a:schemeClr val="dk2"/>
            </a:solidFill>
            <a:prstDash val="solid"/>
            <a:round/>
            <a:headEnd len="med" w="med" type="none"/>
            <a:tailEnd len="med" w="med" type="triangle"/>
          </a:ln>
        </p:spPr>
      </p:cxnSp>
      <p:cxnSp>
        <p:nvCxnSpPr>
          <p:cNvPr id="1618" name="Google Shape;1618;p55"/>
          <p:cNvCxnSpPr>
            <a:stCxn id="1609" idx="2"/>
            <a:endCxn id="1612" idx="0"/>
          </p:cNvCxnSpPr>
          <p:nvPr/>
        </p:nvCxnSpPr>
        <p:spPr>
          <a:xfrm flipH="1">
            <a:off x="1886150" y="2194625"/>
            <a:ext cx="555900" cy="471600"/>
          </a:xfrm>
          <a:prstGeom prst="straightConnector1">
            <a:avLst/>
          </a:prstGeom>
          <a:noFill/>
          <a:ln cap="flat" cmpd="sng" w="9525">
            <a:solidFill>
              <a:schemeClr val="dk2"/>
            </a:solidFill>
            <a:prstDash val="solid"/>
            <a:round/>
            <a:headEnd len="med" w="med" type="none"/>
            <a:tailEnd len="med" w="med" type="triangle"/>
          </a:ln>
        </p:spPr>
      </p:cxnSp>
      <p:cxnSp>
        <p:nvCxnSpPr>
          <p:cNvPr id="1619" name="Google Shape;1619;p55"/>
          <p:cNvCxnSpPr>
            <a:stCxn id="1609" idx="2"/>
            <a:endCxn id="1614" idx="0"/>
          </p:cNvCxnSpPr>
          <p:nvPr/>
        </p:nvCxnSpPr>
        <p:spPr>
          <a:xfrm>
            <a:off x="2442050" y="2194625"/>
            <a:ext cx="1120500" cy="471600"/>
          </a:xfrm>
          <a:prstGeom prst="straightConnector1">
            <a:avLst/>
          </a:prstGeom>
          <a:noFill/>
          <a:ln cap="flat" cmpd="sng" w="9525">
            <a:solidFill>
              <a:schemeClr val="dk2"/>
            </a:solidFill>
            <a:prstDash val="solid"/>
            <a:round/>
            <a:headEnd len="med" w="med" type="none"/>
            <a:tailEnd len="med" w="med" type="triangle"/>
          </a:ln>
        </p:spPr>
      </p:cxnSp>
      <p:cxnSp>
        <p:nvCxnSpPr>
          <p:cNvPr id="1620" name="Google Shape;1620;p55"/>
          <p:cNvCxnSpPr>
            <a:stCxn id="1609" idx="2"/>
            <a:endCxn id="1613" idx="0"/>
          </p:cNvCxnSpPr>
          <p:nvPr/>
        </p:nvCxnSpPr>
        <p:spPr>
          <a:xfrm>
            <a:off x="2442050" y="2194625"/>
            <a:ext cx="3939900" cy="471600"/>
          </a:xfrm>
          <a:prstGeom prst="straightConnector1">
            <a:avLst/>
          </a:prstGeom>
          <a:noFill/>
          <a:ln cap="flat" cmpd="sng" w="9525">
            <a:solidFill>
              <a:schemeClr val="dk2"/>
            </a:solidFill>
            <a:prstDash val="solid"/>
            <a:round/>
            <a:headEnd len="med" w="med" type="none"/>
            <a:tailEnd len="med" w="med" type="triangle"/>
          </a:ln>
        </p:spPr>
      </p:cxnSp>
      <p:sp>
        <p:nvSpPr>
          <p:cNvPr id="1621" name="Google Shape;1621;p55"/>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Athens to Milledgeville</a:t>
            </a:r>
            <a:endParaRPr/>
          </a:p>
        </p:txBody>
      </p:sp>
      <p:sp>
        <p:nvSpPr>
          <p:cNvPr id="1622" name="Google Shape;1622;p55"/>
          <p:cNvSpPr txBox="1"/>
          <p:nvPr/>
        </p:nvSpPr>
        <p:spPr>
          <a:xfrm>
            <a:off x="3391325" y="46814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pic>
        <p:nvPicPr>
          <p:cNvPr id="1627" name="Google Shape;1627;p56"/>
          <p:cNvPicPr preferRelativeResize="0"/>
          <p:nvPr/>
        </p:nvPicPr>
        <p:blipFill>
          <a:blip r:embed="rId3">
            <a:alphaModFix/>
          </a:blip>
          <a:stretch>
            <a:fillRect/>
          </a:stretch>
        </p:blipFill>
        <p:spPr>
          <a:xfrm>
            <a:off x="7084125" y="55850"/>
            <a:ext cx="1988375" cy="1800082"/>
          </a:xfrm>
          <a:prstGeom prst="rect">
            <a:avLst/>
          </a:prstGeom>
          <a:noFill/>
          <a:ln>
            <a:noFill/>
          </a:ln>
        </p:spPr>
      </p:pic>
      <p:sp>
        <p:nvSpPr>
          <p:cNvPr id="1628" name="Google Shape;1628;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29" name="Google Shape;1629;p56"/>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630" name="Google Shape;1630;p56"/>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631" name="Google Shape;1631;p56"/>
          <p:cNvSpPr txBox="1"/>
          <p:nvPr/>
        </p:nvSpPr>
        <p:spPr>
          <a:xfrm>
            <a:off x="6697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Tocoa</a:t>
            </a:r>
            <a:endParaRPr sz="1000"/>
          </a:p>
        </p:txBody>
      </p:sp>
      <p:sp>
        <p:nvSpPr>
          <p:cNvPr id="1632" name="Google Shape;1632;p56"/>
          <p:cNvSpPr txBox="1"/>
          <p:nvPr/>
        </p:nvSpPr>
        <p:spPr>
          <a:xfrm>
            <a:off x="198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633" name="Google Shape;1633;p56"/>
          <p:cNvSpPr txBox="1"/>
          <p:nvPr/>
        </p:nvSpPr>
        <p:spPr>
          <a:xfrm>
            <a:off x="1417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sp>
        <p:nvSpPr>
          <p:cNvPr id="1634" name="Google Shape;1634;p56"/>
          <p:cNvSpPr txBox="1"/>
          <p:nvPr/>
        </p:nvSpPr>
        <p:spPr>
          <a:xfrm>
            <a:off x="5913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635" name="Google Shape;1635;p56"/>
          <p:cNvSpPr txBox="1"/>
          <p:nvPr/>
        </p:nvSpPr>
        <p:spPr>
          <a:xfrm>
            <a:off x="30939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636" name="Google Shape;1636;p56"/>
          <p:cNvSpPr txBox="1"/>
          <p:nvPr/>
        </p:nvSpPr>
        <p:spPr>
          <a:xfrm>
            <a:off x="1281417"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LaGrange</a:t>
            </a:r>
            <a:endParaRPr sz="1000"/>
          </a:p>
        </p:txBody>
      </p:sp>
      <p:sp>
        <p:nvSpPr>
          <p:cNvPr id="1637" name="Google Shape;1637;p56"/>
          <p:cNvSpPr txBox="1"/>
          <p:nvPr/>
        </p:nvSpPr>
        <p:spPr>
          <a:xfrm>
            <a:off x="2712925" y="3504500"/>
            <a:ext cx="11022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cxnSp>
        <p:nvCxnSpPr>
          <p:cNvPr id="1638" name="Google Shape;1638;p56"/>
          <p:cNvCxnSpPr>
            <a:stCxn id="1629" idx="2"/>
            <a:endCxn id="1630"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639" name="Google Shape;1639;p56"/>
          <p:cNvCxnSpPr>
            <a:stCxn id="1629" idx="2"/>
            <a:endCxn id="1631" idx="0"/>
          </p:cNvCxnSpPr>
          <p:nvPr/>
        </p:nvCxnSpPr>
        <p:spPr>
          <a:xfrm>
            <a:off x="4499450" y="1432625"/>
            <a:ext cx="2667000" cy="423300"/>
          </a:xfrm>
          <a:prstGeom prst="straightConnector1">
            <a:avLst/>
          </a:prstGeom>
          <a:noFill/>
          <a:ln cap="flat" cmpd="sng" w="9525">
            <a:solidFill>
              <a:schemeClr val="dk2"/>
            </a:solidFill>
            <a:prstDash val="solid"/>
            <a:round/>
            <a:headEnd len="med" w="med" type="none"/>
            <a:tailEnd len="med" w="med" type="triangle"/>
          </a:ln>
        </p:spPr>
      </p:cxnSp>
      <p:cxnSp>
        <p:nvCxnSpPr>
          <p:cNvPr id="1640" name="Google Shape;1640;p56"/>
          <p:cNvCxnSpPr>
            <a:stCxn id="1630" idx="2"/>
            <a:endCxn id="1632" idx="0"/>
          </p:cNvCxnSpPr>
          <p:nvPr/>
        </p:nvCxnSpPr>
        <p:spPr>
          <a:xfrm flipH="1">
            <a:off x="666950" y="2194625"/>
            <a:ext cx="1775100" cy="471600"/>
          </a:xfrm>
          <a:prstGeom prst="straightConnector1">
            <a:avLst/>
          </a:prstGeom>
          <a:noFill/>
          <a:ln cap="flat" cmpd="sng" w="9525">
            <a:solidFill>
              <a:schemeClr val="dk2"/>
            </a:solidFill>
            <a:prstDash val="solid"/>
            <a:round/>
            <a:headEnd len="med" w="med" type="none"/>
            <a:tailEnd len="med" w="med" type="triangle"/>
          </a:ln>
        </p:spPr>
      </p:cxnSp>
      <p:cxnSp>
        <p:nvCxnSpPr>
          <p:cNvPr id="1641" name="Google Shape;1641;p56"/>
          <p:cNvCxnSpPr>
            <a:stCxn id="1630" idx="2"/>
            <a:endCxn id="1633" idx="0"/>
          </p:cNvCxnSpPr>
          <p:nvPr/>
        </p:nvCxnSpPr>
        <p:spPr>
          <a:xfrm flipH="1">
            <a:off x="1886150" y="2194625"/>
            <a:ext cx="555900" cy="471600"/>
          </a:xfrm>
          <a:prstGeom prst="straightConnector1">
            <a:avLst/>
          </a:prstGeom>
          <a:noFill/>
          <a:ln cap="flat" cmpd="sng" w="9525">
            <a:solidFill>
              <a:schemeClr val="dk2"/>
            </a:solidFill>
            <a:prstDash val="solid"/>
            <a:round/>
            <a:headEnd len="med" w="med" type="none"/>
            <a:tailEnd len="med" w="med" type="triangle"/>
          </a:ln>
        </p:spPr>
      </p:cxnSp>
      <p:cxnSp>
        <p:nvCxnSpPr>
          <p:cNvPr id="1642" name="Google Shape;1642;p56"/>
          <p:cNvCxnSpPr>
            <a:stCxn id="1630" idx="2"/>
            <a:endCxn id="1635" idx="0"/>
          </p:cNvCxnSpPr>
          <p:nvPr/>
        </p:nvCxnSpPr>
        <p:spPr>
          <a:xfrm>
            <a:off x="2442050" y="2194625"/>
            <a:ext cx="1120500" cy="471600"/>
          </a:xfrm>
          <a:prstGeom prst="straightConnector1">
            <a:avLst/>
          </a:prstGeom>
          <a:noFill/>
          <a:ln cap="flat" cmpd="sng" w="9525">
            <a:solidFill>
              <a:schemeClr val="dk2"/>
            </a:solidFill>
            <a:prstDash val="solid"/>
            <a:round/>
            <a:headEnd len="med" w="med" type="none"/>
            <a:tailEnd len="med" w="med" type="triangle"/>
          </a:ln>
        </p:spPr>
      </p:cxnSp>
      <p:cxnSp>
        <p:nvCxnSpPr>
          <p:cNvPr id="1643" name="Google Shape;1643;p56"/>
          <p:cNvCxnSpPr>
            <a:stCxn id="1630" idx="2"/>
            <a:endCxn id="1634" idx="0"/>
          </p:cNvCxnSpPr>
          <p:nvPr/>
        </p:nvCxnSpPr>
        <p:spPr>
          <a:xfrm>
            <a:off x="2442050" y="2194625"/>
            <a:ext cx="3939900" cy="471600"/>
          </a:xfrm>
          <a:prstGeom prst="straightConnector1">
            <a:avLst/>
          </a:prstGeom>
          <a:noFill/>
          <a:ln cap="flat" cmpd="sng" w="9525">
            <a:solidFill>
              <a:schemeClr val="dk2"/>
            </a:solidFill>
            <a:prstDash val="solid"/>
            <a:round/>
            <a:headEnd len="med" w="med" type="none"/>
            <a:tailEnd len="med" w="med" type="triangle"/>
          </a:ln>
        </p:spPr>
      </p:cxnSp>
      <p:cxnSp>
        <p:nvCxnSpPr>
          <p:cNvPr id="1644" name="Google Shape;1644;p56"/>
          <p:cNvCxnSpPr>
            <a:stCxn id="1633" idx="2"/>
            <a:endCxn id="1636" idx="0"/>
          </p:cNvCxnSpPr>
          <p:nvPr/>
        </p:nvCxnSpPr>
        <p:spPr>
          <a:xfrm>
            <a:off x="1886275" y="3005000"/>
            <a:ext cx="2100" cy="499500"/>
          </a:xfrm>
          <a:prstGeom prst="straightConnector1">
            <a:avLst/>
          </a:prstGeom>
          <a:noFill/>
          <a:ln cap="flat" cmpd="sng" w="9525">
            <a:solidFill>
              <a:schemeClr val="dk2"/>
            </a:solidFill>
            <a:prstDash val="solid"/>
            <a:round/>
            <a:headEnd len="med" w="med" type="none"/>
            <a:tailEnd len="med" w="med" type="triangle"/>
          </a:ln>
        </p:spPr>
      </p:cxnSp>
      <p:cxnSp>
        <p:nvCxnSpPr>
          <p:cNvPr id="1645" name="Google Shape;1645;p56"/>
          <p:cNvCxnSpPr>
            <a:stCxn id="1635" idx="2"/>
            <a:endCxn id="1637" idx="0"/>
          </p:cNvCxnSpPr>
          <p:nvPr/>
        </p:nvCxnSpPr>
        <p:spPr>
          <a:xfrm flipH="1">
            <a:off x="3264175" y="3005000"/>
            <a:ext cx="298500" cy="499500"/>
          </a:xfrm>
          <a:prstGeom prst="straightConnector1">
            <a:avLst/>
          </a:prstGeom>
          <a:noFill/>
          <a:ln cap="flat" cmpd="sng" w="9525">
            <a:solidFill>
              <a:schemeClr val="dk2"/>
            </a:solidFill>
            <a:prstDash val="solid"/>
            <a:round/>
            <a:headEnd len="med" w="med" type="none"/>
            <a:tailEnd len="med" w="med" type="triangle"/>
          </a:ln>
        </p:spPr>
      </p:cxnSp>
      <p:sp>
        <p:nvSpPr>
          <p:cNvPr id="1646" name="Google Shape;1646;p56"/>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Athens to Milledgeville</a:t>
            </a:r>
            <a:endParaRPr/>
          </a:p>
        </p:txBody>
      </p:sp>
      <p:sp>
        <p:nvSpPr>
          <p:cNvPr id="1647" name="Google Shape;1647;p56"/>
          <p:cNvSpPr txBox="1"/>
          <p:nvPr/>
        </p:nvSpPr>
        <p:spPr>
          <a:xfrm>
            <a:off x="3391325" y="46814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
        <p:nvSpPr>
          <p:cNvPr id="1648" name="Google Shape;1648;p56"/>
          <p:cNvSpPr txBox="1"/>
          <p:nvPr/>
        </p:nvSpPr>
        <p:spPr>
          <a:xfrm>
            <a:off x="4008325" y="3504500"/>
            <a:ext cx="11022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649" name="Google Shape;1649;p56"/>
          <p:cNvSpPr txBox="1"/>
          <p:nvPr/>
        </p:nvSpPr>
        <p:spPr>
          <a:xfrm>
            <a:off x="5303725" y="3504500"/>
            <a:ext cx="11022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Milledgeville</a:t>
            </a:r>
            <a:endParaRPr b="1" sz="1000">
              <a:solidFill>
                <a:srgbClr val="FF0000"/>
              </a:solidFill>
            </a:endParaRPr>
          </a:p>
        </p:txBody>
      </p:sp>
      <p:cxnSp>
        <p:nvCxnSpPr>
          <p:cNvPr id="1650" name="Google Shape;1650;p56"/>
          <p:cNvCxnSpPr>
            <a:stCxn id="1635" idx="2"/>
            <a:endCxn id="1648" idx="0"/>
          </p:cNvCxnSpPr>
          <p:nvPr/>
        </p:nvCxnSpPr>
        <p:spPr>
          <a:xfrm>
            <a:off x="3562675" y="3005000"/>
            <a:ext cx="996900" cy="499500"/>
          </a:xfrm>
          <a:prstGeom prst="straightConnector1">
            <a:avLst/>
          </a:prstGeom>
          <a:noFill/>
          <a:ln cap="flat" cmpd="sng" w="9525">
            <a:solidFill>
              <a:schemeClr val="dk2"/>
            </a:solidFill>
            <a:prstDash val="solid"/>
            <a:round/>
            <a:headEnd len="med" w="med" type="none"/>
            <a:tailEnd len="med" w="med" type="triangle"/>
          </a:ln>
        </p:spPr>
      </p:cxnSp>
      <p:cxnSp>
        <p:nvCxnSpPr>
          <p:cNvPr id="1651" name="Google Shape;1651;p56"/>
          <p:cNvCxnSpPr>
            <a:stCxn id="1635" idx="2"/>
            <a:endCxn id="1649" idx="0"/>
          </p:cNvCxnSpPr>
          <p:nvPr/>
        </p:nvCxnSpPr>
        <p:spPr>
          <a:xfrm>
            <a:off x="3562675" y="3005000"/>
            <a:ext cx="2292300" cy="499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sp>
        <p:nvSpPr>
          <p:cNvPr id="1656" name="Google Shape;1656;p57"/>
          <p:cNvSpPr txBox="1"/>
          <p:nvPr>
            <p:ph type="title"/>
          </p:nvPr>
        </p:nvSpPr>
        <p:spPr>
          <a:xfrm>
            <a:off x="371625" y="414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Questions</a:t>
            </a:r>
            <a:endParaRPr/>
          </a:p>
        </p:txBody>
      </p:sp>
      <p:sp>
        <p:nvSpPr>
          <p:cNvPr id="1657" name="Google Shape;1657;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Why is it important to teach the tree search method?</a:t>
            </a:r>
            <a:endParaRPr/>
          </a:p>
          <a:p>
            <a:pPr indent="-317500" lvl="1" marL="914400" rtl="0" algn="l">
              <a:spcBef>
                <a:spcPts val="0"/>
              </a:spcBef>
              <a:spcAft>
                <a:spcPts val="0"/>
              </a:spcAft>
              <a:buSzPts val="1400"/>
              <a:buChar char="➢"/>
            </a:pPr>
            <a:r>
              <a:rPr lang="en"/>
              <a:t>We may not have a graph available. For example, searching for moves when playing a game such as chess or tic-tac-toe, there is no pre-built graph, but we can still draw a tree.</a:t>
            </a:r>
            <a:br>
              <a:rPr lang="en"/>
            </a:br>
            <a:endParaRPr/>
          </a:p>
          <a:p>
            <a:pPr indent="-342900" lvl="0" marL="457200" rtl="0" algn="l">
              <a:spcBef>
                <a:spcPts val="0"/>
              </a:spcBef>
              <a:spcAft>
                <a:spcPts val="0"/>
              </a:spcAft>
              <a:buSzPts val="1800"/>
              <a:buChar char="❖"/>
            </a:pPr>
            <a:r>
              <a:rPr lang="en"/>
              <a:t>Why is the algorithm called “breadth-first” search?</a:t>
            </a:r>
            <a:endParaRPr/>
          </a:p>
          <a:p>
            <a:pPr indent="-317500" lvl="1" marL="914400" rtl="0" algn="l">
              <a:spcBef>
                <a:spcPts val="0"/>
              </a:spcBef>
              <a:spcAft>
                <a:spcPts val="0"/>
              </a:spcAft>
              <a:buSzPts val="1400"/>
              <a:buChar char="➢"/>
            </a:pPr>
            <a:r>
              <a:rPr lang="en"/>
              <a:t>Because at each step we add </a:t>
            </a:r>
            <a:r>
              <a:rPr lang="en"/>
              <a:t>all the neighbors of all the nodes at the current level, making the tree as broad as possible before we make it deeper.</a:t>
            </a:r>
            <a:br>
              <a:rPr lang="en"/>
            </a:br>
            <a:endParaRPr/>
          </a:p>
          <a:p>
            <a:pPr indent="-342900" lvl="0" marL="457200" rtl="0" algn="l">
              <a:spcBef>
                <a:spcPts val="0"/>
              </a:spcBef>
              <a:spcAft>
                <a:spcPts val="0"/>
              </a:spcAft>
              <a:buSzPts val="1800"/>
              <a:buChar char="❖"/>
            </a:pPr>
            <a:r>
              <a:rPr lang="en"/>
              <a:t>Are there other search algorithms we could use instead?</a:t>
            </a:r>
            <a:endParaRPr/>
          </a:p>
          <a:p>
            <a:pPr indent="-317500" lvl="1" marL="914400" rtl="0" algn="l">
              <a:spcBef>
                <a:spcPts val="0"/>
              </a:spcBef>
              <a:spcAft>
                <a:spcPts val="0"/>
              </a:spcAft>
              <a:buSzPts val="1400"/>
              <a:buChar char="➢"/>
            </a:pPr>
            <a:r>
              <a:rPr lang="en"/>
              <a:t>Yes! There is depth-first search, best-first search, and several others. But breadth-first search is the simplest to explain.</a:t>
            </a:r>
            <a:endParaRPr/>
          </a:p>
        </p:txBody>
      </p:sp>
      <p:sp>
        <p:nvSpPr>
          <p:cNvPr id="1658" name="Google Shape;165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