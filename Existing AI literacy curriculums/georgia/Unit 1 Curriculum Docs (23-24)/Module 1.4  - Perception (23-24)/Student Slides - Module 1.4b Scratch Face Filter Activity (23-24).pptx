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Helvetica Neue"/>
      <p:regular r:id="rId34"/>
      <p:bold r:id="rId35"/>
      <p:italic r:id="rId36"/>
      <p:boldItalic r:id="rId37"/>
    </p:embeddedFont>
    <p:embeddedFont>
      <p:font typeface="Merriweather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italic.fntdata"/><Relationship Id="rId20" Type="http://schemas.openxmlformats.org/officeDocument/2006/relationships/slide" Target="slides/slide14.xml"/><Relationship Id="rId41" Type="http://schemas.openxmlformats.org/officeDocument/2006/relationships/font" Target="fonts/Merriweather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6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9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8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1.xml"/><Relationship Id="rId39" Type="http://schemas.openxmlformats.org/officeDocument/2006/relationships/font" Target="fonts/Merriweather-bold.fntdata"/><Relationship Id="rId16" Type="http://schemas.openxmlformats.org/officeDocument/2006/relationships/slide" Target="slides/slide10.xml"/><Relationship Id="rId38" Type="http://schemas.openxmlformats.org/officeDocument/2006/relationships/font" Target="fonts/Merriweather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e52f8b1c89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e52f8b1c89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febef120ef_6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febef120ef_6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Bell Ringer ro review</a:t>
            </a:r>
            <a:endParaRPr b="1" sz="16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f46151598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f46151598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f46151598f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f46151598f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46151598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f46151598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f46151598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f46151598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f46151598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f46151598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f46151598f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f46151598f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f46151598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f46151598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46151598f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f46151598f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f46151598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f46151598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f46151598f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f46151598f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f46151598f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f46151598f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f46151598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f46151598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f46151598f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f46151598f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f46151598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f46151598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f46151598f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f46151598f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f46151598f_0_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f46151598f_0_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Delete the green block to find the answer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f46151598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f46151598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f46151598f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f46151598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f46151598f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f46151598f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f46151598f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f46151598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f46151598f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f46151598f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f46151598f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f46151598f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f46151598f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f46151598f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f46151598f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f46151598f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f46151598f_0_5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f46151598f_0_5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28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hyperlink" Target="https://lab.scratch.mit.edu/face/" TargetMode="External"/><Relationship Id="rId6" Type="http://schemas.openxmlformats.org/officeDocument/2006/relationships/hyperlink" Target="https://creativecommons.org/licenses/by-nc-sa/4.0/" TargetMode="External"/><Relationship Id="rId7" Type="http://schemas.openxmlformats.org/officeDocument/2006/relationships/image" Target="../media/image9.png"/><Relationship Id="rId8" Type="http://schemas.openxmlformats.org/officeDocument/2006/relationships/image" Target="../media/image3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3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gif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hyperlink" Target="https://lab.scratch.mit.edu/face/" TargetMode="External"/><Relationship Id="rId5" Type="http://schemas.openxmlformats.org/officeDocument/2006/relationships/image" Target="../media/image27.png"/><Relationship Id="rId6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lab.scratch.mit.edu/face/" TargetMode="External"/><Relationship Id="rId4" Type="http://schemas.openxmlformats.org/officeDocument/2006/relationships/image" Target="../media/image16.png"/><Relationship Id="rId5" Type="http://schemas.openxmlformats.org/officeDocument/2006/relationships/hyperlink" Target="https://lab.scratch.mit.edu/face/" TargetMode="External"/><Relationship Id="rId6" Type="http://schemas.openxmlformats.org/officeDocument/2006/relationships/image" Target="../media/image25.gif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ab.scratch.mit.edu/face/" TargetMode="External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ab.scratch.mit.edu/face/" TargetMode="External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19.png"/><Relationship Id="rId5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35.png"/><Relationship Id="rId6" Type="http://schemas.openxmlformats.org/officeDocument/2006/relationships/image" Target="../media/image3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Relationship Id="rId7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2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9.png"/><Relationship Id="rId4" Type="http://schemas.openxmlformats.org/officeDocument/2006/relationships/image" Target="../media/image17.png"/><Relationship Id="rId5" Type="http://schemas.openxmlformats.org/officeDocument/2006/relationships/image" Target="../media/image2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2156750" y="733763"/>
            <a:ext cx="6115500" cy="118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Module 1.4b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  <a:latin typeface="Merriweather"/>
                <a:ea typeface="Merriweather"/>
                <a:cs typeface="Merriweather"/>
                <a:sym typeface="Merriweather"/>
              </a:rPr>
              <a:t>Scratch Face Filter Activity</a:t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278150" y="3272225"/>
            <a:ext cx="28677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25" y="4552275"/>
            <a:ext cx="1375825" cy="4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25" y="237362"/>
            <a:ext cx="1979932" cy="233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5"/>
          <p:cNvSpPr txBox="1"/>
          <p:nvPr/>
        </p:nvSpPr>
        <p:spPr>
          <a:xfrm>
            <a:off x="1558900" y="237350"/>
            <a:ext cx="7447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89D7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Living and Working with Artificial Intelligence</a:t>
            </a:r>
            <a:endParaRPr b="1" sz="2600">
              <a:solidFill>
                <a:srgbClr val="F89D7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1377450" y="4488725"/>
            <a:ext cx="7766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Face Filter Activity adapted from the starter project available  from the Scratch Face Sensing Lab </a:t>
            </a:r>
            <a:r>
              <a:rPr lang="en" sz="900" u="sng">
                <a:solidFill>
                  <a:schemeClr val="hlink"/>
                </a:solidFill>
                <a:hlinkClick r:id="rId5"/>
              </a:rPr>
              <a:t>https://lab.scratch.mit.edu/face/</a:t>
            </a:r>
            <a:r>
              <a:rPr lang="en" sz="900">
                <a:solidFill>
                  <a:schemeClr val="dk1"/>
                </a:solidFill>
              </a:rPr>
              <a:t>. Activity d</a:t>
            </a:r>
            <a:r>
              <a:rPr lang="en" sz="900">
                <a:solidFill>
                  <a:schemeClr val="dk1"/>
                </a:solidFill>
              </a:rPr>
              <a:t>eveloped for the AI4GA (Artificial Intelligence for Georgia) project funded by National Science Foundation awards DRL-2049029 and DRL-2048502.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  <a:highlight>
                  <a:srgbClr val="FFFFFF"/>
                </a:highlight>
              </a:rPr>
              <a:t>This work is licensed under the Creative Commons. Attribution-NonComercial-ShareAlike 4.0 International License. </a:t>
            </a:r>
            <a:r>
              <a:rPr b="1" lang="en" sz="900" u="sng">
                <a:solidFill>
                  <a:schemeClr val="accent5"/>
                </a:solidFill>
                <a:highlight>
                  <a:srgbClr val="FFFFFF"/>
                </a:highlight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https://creativecommons.org/licenses/by-nc-sa/4.0/</a:t>
            </a:r>
            <a:endParaRPr b="1" sz="9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90502" y="1886250"/>
            <a:ext cx="1476324" cy="233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59138" y="2060090"/>
            <a:ext cx="3107713" cy="198671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5"/>
          <p:cNvSpPr txBox="1"/>
          <p:nvPr/>
        </p:nvSpPr>
        <p:spPr>
          <a:xfrm>
            <a:off x="2919425" y="4125900"/>
            <a:ext cx="4665900" cy="2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Scratch Face Sensing Lab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6"/>
          <p:cNvSpPr txBox="1"/>
          <p:nvPr>
            <p:ph type="ctrTitle"/>
          </p:nvPr>
        </p:nvSpPr>
        <p:spPr>
          <a:xfrm>
            <a:off x="2115975" y="254400"/>
            <a:ext cx="6716100" cy="155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4180"/>
              <a:t>How do face filters work?</a:t>
            </a:r>
            <a:endParaRPr b="1" sz="41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80"/>
              <a:t>Explain these 3 steps.</a:t>
            </a:r>
            <a:endParaRPr sz="4180"/>
          </a:p>
        </p:txBody>
      </p:sp>
      <p:sp>
        <p:nvSpPr>
          <p:cNvPr id="113" name="Google Shape;113;p26"/>
          <p:cNvSpPr txBox="1"/>
          <p:nvPr>
            <p:ph idx="1" type="subTitle"/>
          </p:nvPr>
        </p:nvSpPr>
        <p:spPr>
          <a:xfrm>
            <a:off x="260750" y="17549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/>
              <a:t>1							2							3</a:t>
            </a:r>
            <a:endParaRPr b="1" sz="3700"/>
          </a:p>
        </p:txBody>
      </p:sp>
      <p:sp>
        <p:nvSpPr>
          <p:cNvPr id="114" name="Google Shape;11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5" name="Google Shape;1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350" y="2547525"/>
            <a:ext cx="2642900" cy="2422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2277" y="2547525"/>
            <a:ext cx="2626214" cy="242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85525" y="2390600"/>
            <a:ext cx="2346675" cy="257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1225459">
            <a:off x="239087" y="193709"/>
            <a:ext cx="1698623" cy="1676283"/>
          </a:xfrm>
          <a:prstGeom prst="rect">
            <a:avLst/>
          </a:prstGeom>
          <a:noFill/>
          <a:ln>
            <a:noFill/>
          </a:ln>
          <a:effectLst>
            <a:outerShdw blurRad="585788" rotWithShape="0" algn="bl">
              <a:schemeClr val="lt1"/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7"/>
          <p:cNvPicPr preferRelativeResize="0"/>
          <p:nvPr/>
        </p:nvPicPr>
        <p:blipFill rotWithShape="1">
          <a:blip r:embed="rId3">
            <a:alphaModFix/>
          </a:blip>
          <a:srcRect b="12175" l="6348" r="7153" t="13491"/>
          <a:stretch/>
        </p:blipFill>
        <p:spPr>
          <a:xfrm>
            <a:off x="162325" y="666150"/>
            <a:ext cx="8669700" cy="372507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8"/>
          <p:cNvSpPr txBox="1"/>
          <p:nvPr>
            <p:ph type="title"/>
          </p:nvPr>
        </p:nvSpPr>
        <p:spPr>
          <a:xfrm>
            <a:off x="888175" y="185000"/>
            <a:ext cx="8248500" cy="9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Now that we know how </a:t>
            </a:r>
            <a:r>
              <a:rPr b="1" lang="en" sz="2320"/>
              <a:t>face and feature detection</a:t>
            </a:r>
            <a:r>
              <a:rPr lang="en" sz="2320"/>
              <a:t> works, let’s use it to create our own filters!</a:t>
            </a:r>
            <a:endParaRPr sz="2320"/>
          </a:p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1" name="Google Shape;131;p28"/>
          <p:cNvPicPr preferRelativeResize="0"/>
          <p:nvPr/>
        </p:nvPicPr>
        <p:blipFill rotWithShape="1">
          <a:blip r:embed="rId3">
            <a:alphaModFix/>
          </a:blip>
          <a:srcRect b="0" l="0" r="47633" t="0"/>
          <a:stretch/>
        </p:blipFill>
        <p:spPr>
          <a:xfrm>
            <a:off x="5213300" y="1314700"/>
            <a:ext cx="3552725" cy="360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425" y="1160225"/>
            <a:ext cx="3753150" cy="360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9"/>
          <p:cNvSpPr txBox="1"/>
          <p:nvPr>
            <p:ph type="ctrTitle"/>
          </p:nvPr>
        </p:nvSpPr>
        <p:spPr>
          <a:xfrm>
            <a:off x="311700" y="58775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Scratch Activity</a:t>
            </a:r>
            <a:endParaRPr/>
          </a:p>
        </p:txBody>
      </p:sp>
      <p:pic>
        <p:nvPicPr>
          <p:cNvPr id="138" name="Google Shape;1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784" y="668050"/>
            <a:ext cx="1788925" cy="318032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0" name="Google Shape;14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3325" y="913127"/>
            <a:ext cx="3765750" cy="270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9"/>
          <p:cNvSpPr txBox="1"/>
          <p:nvPr>
            <p:ph idx="1" type="subTitle"/>
          </p:nvPr>
        </p:nvSpPr>
        <p:spPr>
          <a:xfrm>
            <a:off x="311700" y="38247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dk1"/>
                </a:solidFill>
              </a:rPr>
              <a:t>Creating our own face filters</a:t>
            </a:r>
            <a:endParaRPr/>
          </a:p>
        </p:txBody>
      </p:sp>
      <p:sp>
        <p:nvSpPr>
          <p:cNvPr id="142" name="Google Shape;142;p29"/>
          <p:cNvSpPr txBox="1"/>
          <p:nvPr/>
        </p:nvSpPr>
        <p:spPr>
          <a:xfrm>
            <a:off x="2588250" y="4669600"/>
            <a:ext cx="369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Gallery Walk at the End of Class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2826300" y="368825"/>
            <a:ext cx="36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Sensing</a:t>
            </a:r>
            <a:endParaRPr/>
          </a:p>
        </p:txBody>
      </p:sp>
      <p:sp>
        <p:nvSpPr>
          <p:cNvPr id="148" name="Google Shape;14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9" name="Google Shape;149;p30"/>
          <p:cNvPicPr preferRelativeResize="0"/>
          <p:nvPr/>
        </p:nvPicPr>
        <p:blipFill rotWithShape="1">
          <a:blip r:embed="rId3">
            <a:alphaModFix/>
          </a:blip>
          <a:srcRect b="0" l="0" r="0" t="24488"/>
          <a:stretch/>
        </p:blipFill>
        <p:spPr>
          <a:xfrm>
            <a:off x="302000" y="247725"/>
            <a:ext cx="1987250" cy="94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0"/>
          <p:cNvSpPr txBox="1"/>
          <p:nvPr/>
        </p:nvSpPr>
        <p:spPr>
          <a:xfrm>
            <a:off x="5594700" y="445025"/>
            <a:ext cx="349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4"/>
              </a:rPr>
              <a:t>Face Sensing - Scratch Lab</a:t>
            </a:r>
            <a:endParaRPr sz="1800"/>
          </a:p>
        </p:txBody>
      </p:sp>
      <p:pic>
        <p:nvPicPr>
          <p:cNvPr id="151" name="Google Shape;1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8175" y="1373800"/>
            <a:ext cx="6974874" cy="25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0160" y="1145198"/>
            <a:ext cx="1853739" cy="394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1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2025" y="789125"/>
            <a:ext cx="5727588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1"/>
          <p:cNvSpPr txBox="1"/>
          <p:nvPr>
            <p:ph type="title"/>
          </p:nvPr>
        </p:nvSpPr>
        <p:spPr>
          <a:xfrm>
            <a:off x="311700" y="184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Video</a:t>
            </a:r>
            <a:endParaRPr/>
          </a:p>
        </p:txBody>
      </p:sp>
      <p:sp>
        <p:nvSpPr>
          <p:cNvPr id="159" name="Google Shape;15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0" name="Google Shape;16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327" y="685838"/>
            <a:ext cx="3637100" cy="24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Vocabulary</a:t>
            </a:r>
            <a:endParaRPr/>
          </a:p>
        </p:txBody>
      </p:sp>
      <p:sp>
        <p:nvSpPr>
          <p:cNvPr id="166" name="Google Shape;16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Sprite </a:t>
            </a:r>
            <a:r>
              <a:rPr lang="en" sz="2400"/>
              <a:t>-&gt; characters and objects we can control with code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/>
              <a:t>Events</a:t>
            </a:r>
            <a:r>
              <a:rPr lang="en" sz="2400"/>
              <a:t> -&gt; action that cause something to happen (usually starts with the </a:t>
            </a:r>
            <a:r>
              <a:rPr lang="en" sz="2400"/>
              <a:t>word </a:t>
            </a:r>
            <a:r>
              <a:rPr lang="en" sz="2400"/>
              <a:t>“when”)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400"/>
              <a:t>Responses</a:t>
            </a:r>
            <a:r>
              <a:rPr lang="en" sz="2400"/>
              <a:t> -&gt; how the sprites react to events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311700" y="140225"/>
            <a:ext cx="7613400" cy="6213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it out: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https://lab.scratch.mit.edu/face/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" name="Google Shape;17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38475" y="816775"/>
            <a:ext cx="5302849" cy="424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DIY - Face Filter</a:t>
            </a:r>
            <a:endParaRPr/>
          </a:p>
        </p:txBody>
      </p:sp>
      <p:sp>
        <p:nvSpPr>
          <p:cNvPr id="180" name="Google Shape;18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1" name="Google Shape;18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288" y="1170125"/>
            <a:ext cx="3723414" cy="349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7" name="Google Shape;187;p35"/>
          <p:cNvSpPr txBox="1"/>
          <p:nvPr>
            <p:ph type="title"/>
          </p:nvPr>
        </p:nvSpPr>
        <p:spPr>
          <a:xfrm>
            <a:off x="232050" y="304900"/>
            <a:ext cx="8789100" cy="20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When you open </a:t>
            </a:r>
            <a:r>
              <a:rPr lang="en" sz="2020" u="sng">
                <a:solidFill>
                  <a:srgbClr val="274E13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Scratch</a:t>
            </a:r>
            <a:r>
              <a:rPr lang="en" sz="2020"/>
              <a:t>, </a:t>
            </a:r>
            <a:r>
              <a:rPr b="1" lang="en" sz="2020"/>
              <a:t>you must allow your camera</a:t>
            </a:r>
            <a:r>
              <a:rPr lang="en" sz="2020"/>
              <a:t>.</a:t>
            </a:r>
            <a:endParaRPr sz="2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If you do it correctly, </a:t>
            </a:r>
            <a:r>
              <a:rPr b="1" lang="en" sz="2020"/>
              <a:t>you will see yourself on the stage</a:t>
            </a:r>
            <a:r>
              <a:rPr lang="en" sz="2020"/>
              <a:t> (the right side of the screen.)</a:t>
            </a:r>
            <a:endParaRPr sz="2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There will be an orange cat in the middle of the screen, as well.</a:t>
            </a:r>
            <a:endParaRPr sz="2020"/>
          </a:p>
        </p:txBody>
      </p:sp>
      <p:pic>
        <p:nvPicPr>
          <p:cNvPr id="188" name="Google Shape;188;p35"/>
          <p:cNvPicPr preferRelativeResize="0"/>
          <p:nvPr/>
        </p:nvPicPr>
        <p:blipFill rotWithShape="1">
          <a:blip r:embed="rId4">
            <a:alphaModFix/>
          </a:blip>
          <a:srcRect b="0" l="0" r="0" t="14653"/>
          <a:stretch/>
        </p:blipFill>
        <p:spPr>
          <a:xfrm>
            <a:off x="2230975" y="2356750"/>
            <a:ext cx="5547600" cy="27000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35"/>
          <p:cNvCxnSpPr/>
          <p:nvPr/>
        </p:nvCxnSpPr>
        <p:spPr>
          <a:xfrm flipH="1">
            <a:off x="7436925" y="1471450"/>
            <a:ext cx="437400" cy="13920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36"/>
          <p:cNvSpPr txBox="1"/>
          <p:nvPr>
            <p:ph type="title"/>
          </p:nvPr>
        </p:nvSpPr>
        <p:spPr>
          <a:xfrm>
            <a:off x="232050" y="304900"/>
            <a:ext cx="8789100" cy="20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The orange cat is a </a:t>
            </a:r>
            <a:r>
              <a:rPr b="1" lang="en" sz="2020"/>
              <a:t>sprite</a:t>
            </a:r>
            <a:r>
              <a:rPr lang="en" sz="2020"/>
              <a:t>. We can control sprites with code blocks and use them for our filters.</a:t>
            </a:r>
            <a:endParaRPr sz="2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Let’s choose our own</a:t>
            </a:r>
            <a:r>
              <a:rPr b="1" lang="en" sz="2020"/>
              <a:t> sprites</a:t>
            </a:r>
            <a:r>
              <a:rPr lang="en" sz="2020"/>
              <a:t>. Delete the cat by clicking the little trashcan next to his icon.</a:t>
            </a:r>
            <a:endParaRPr sz="2020"/>
          </a:p>
        </p:txBody>
      </p:sp>
      <p:pic>
        <p:nvPicPr>
          <p:cNvPr id="196" name="Google Shape;196;p36"/>
          <p:cNvPicPr preferRelativeResize="0"/>
          <p:nvPr/>
        </p:nvPicPr>
        <p:blipFill rotWithShape="1">
          <a:blip r:embed="rId3">
            <a:alphaModFix/>
          </a:blip>
          <a:srcRect b="0" l="0" r="0" t="14653"/>
          <a:stretch/>
        </p:blipFill>
        <p:spPr>
          <a:xfrm>
            <a:off x="2230975" y="2356750"/>
            <a:ext cx="5547600" cy="27000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7" name="Google Shape;197;p36"/>
          <p:cNvCxnSpPr/>
          <p:nvPr/>
        </p:nvCxnSpPr>
        <p:spPr>
          <a:xfrm flipH="1">
            <a:off x="5972275" y="1763100"/>
            <a:ext cx="1676700" cy="30717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7"/>
          <p:cNvSpPr txBox="1"/>
          <p:nvPr>
            <p:ph type="title"/>
          </p:nvPr>
        </p:nvSpPr>
        <p:spPr>
          <a:xfrm>
            <a:off x="232050" y="304900"/>
            <a:ext cx="8789100" cy="20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Now click the</a:t>
            </a:r>
            <a:r>
              <a:rPr b="1" lang="en" sz="2020"/>
              <a:t> little blue cat head </a:t>
            </a:r>
            <a:r>
              <a:rPr lang="en" sz="2020"/>
              <a:t>to get some new sprites that you want to use.</a:t>
            </a:r>
            <a:endParaRPr sz="2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There are hats, glasses, and plenty of other sprites to choose from.</a:t>
            </a:r>
            <a:endParaRPr sz="2020"/>
          </a:p>
        </p:txBody>
      </p:sp>
      <p:pic>
        <p:nvPicPr>
          <p:cNvPr id="204" name="Google Shape;204;p37"/>
          <p:cNvPicPr preferRelativeResize="0"/>
          <p:nvPr/>
        </p:nvPicPr>
        <p:blipFill rotWithShape="1">
          <a:blip r:embed="rId3">
            <a:alphaModFix/>
          </a:blip>
          <a:srcRect b="0" l="0" r="0" t="14653"/>
          <a:stretch/>
        </p:blipFill>
        <p:spPr>
          <a:xfrm>
            <a:off x="1478175" y="1677475"/>
            <a:ext cx="6767323" cy="3293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37"/>
          <p:cNvCxnSpPr/>
          <p:nvPr/>
        </p:nvCxnSpPr>
        <p:spPr>
          <a:xfrm>
            <a:off x="3486450" y="782125"/>
            <a:ext cx="4003500" cy="39108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</a:t>
            </a:r>
            <a:r>
              <a:rPr lang="en"/>
              <a:t>ead, eyes, and neck sprites are in the </a:t>
            </a:r>
            <a:r>
              <a:rPr b="1" lang="en"/>
              <a:t>“fashion”</a:t>
            </a:r>
            <a:r>
              <a:rPr lang="en"/>
              <a:t> category</a:t>
            </a:r>
            <a:endParaRPr/>
          </a:p>
        </p:txBody>
      </p:sp>
      <p:pic>
        <p:nvPicPr>
          <p:cNvPr id="211" name="Google Shape;21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288" y="1106000"/>
            <a:ext cx="7815436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3" name="Google Shape;213;p38"/>
          <p:cNvCxnSpPr/>
          <p:nvPr/>
        </p:nvCxnSpPr>
        <p:spPr>
          <a:xfrm flipH="1">
            <a:off x="4918175" y="662825"/>
            <a:ext cx="1418400" cy="7161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/>
          <p:nvPr>
            <p:ph type="title"/>
          </p:nvPr>
        </p:nvSpPr>
        <p:spPr>
          <a:xfrm>
            <a:off x="222050" y="252050"/>
            <a:ext cx="2585100" cy="3668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38761D"/>
                </a:solidFill>
              </a:rPr>
              <a:t>You can </a:t>
            </a:r>
            <a:r>
              <a:rPr b="1" lang="en" sz="2200">
                <a:solidFill>
                  <a:srgbClr val="38761D"/>
                </a:solidFill>
              </a:rPr>
              <a:t>edit sprites by clicking the costumes tab </a:t>
            </a:r>
            <a:r>
              <a:rPr lang="en" sz="2200">
                <a:solidFill>
                  <a:srgbClr val="38761D"/>
                </a:solidFill>
              </a:rPr>
              <a:t>and drawing on the sprites.</a:t>
            </a:r>
            <a:endParaRPr sz="22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A</a:t>
            </a:r>
            <a:r>
              <a:rPr b="1" lang="en" sz="2200">
                <a:solidFill>
                  <a:srgbClr val="0000FF"/>
                </a:solidFill>
              </a:rPr>
              <a:t>dd more costumes</a:t>
            </a:r>
            <a:r>
              <a:rPr lang="en" sz="2200">
                <a:solidFill>
                  <a:srgbClr val="0000FF"/>
                </a:solidFill>
              </a:rPr>
              <a:t> with the little blue cat head.</a:t>
            </a:r>
            <a:endParaRPr sz="22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F0000"/>
                </a:solidFill>
              </a:rPr>
              <a:t>Don’t forget to </a:t>
            </a:r>
            <a:r>
              <a:rPr b="1" lang="en" sz="2200">
                <a:solidFill>
                  <a:srgbClr val="FF0000"/>
                </a:solidFill>
              </a:rPr>
              <a:t>click the “Code” tab when you are done</a:t>
            </a:r>
            <a:r>
              <a:rPr lang="en" sz="2200">
                <a:solidFill>
                  <a:srgbClr val="FF0000"/>
                </a:solidFill>
              </a:rPr>
              <a:t> editing.</a:t>
            </a:r>
            <a:endParaRPr sz="2200">
              <a:solidFill>
                <a:srgbClr val="FF0000"/>
              </a:solidFill>
            </a:endParaRPr>
          </a:p>
        </p:txBody>
      </p:sp>
      <p:pic>
        <p:nvPicPr>
          <p:cNvPr id="219" name="Google Shape;219;p39"/>
          <p:cNvPicPr preferRelativeResize="0"/>
          <p:nvPr/>
        </p:nvPicPr>
        <p:blipFill rotWithShape="1">
          <a:blip r:embed="rId3">
            <a:alphaModFix/>
          </a:blip>
          <a:srcRect b="0" l="0" r="14617" t="0"/>
          <a:stretch/>
        </p:blipFill>
        <p:spPr>
          <a:xfrm>
            <a:off x="2928925" y="445025"/>
            <a:ext cx="6022226" cy="427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" name="Google Shape;221;p39"/>
          <p:cNvCxnSpPr/>
          <p:nvPr/>
        </p:nvCxnSpPr>
        <p:spPr>
          <a:xfrm flipH="1">
            <a:off x="3606000" y="79550"/>
            <a:ext cx="12900" cy="6897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39"/>
          <p:cNvCxnSpPr/>
          <p:nvPr/>
        </p:nvCxnSpPr>
        <p:spPr>
          <a:xfrm>
            <a:off x="2452450" y="2744075"/>
            <a:ext cx="795300" cy="1683600"/>
          </a:xfrm>
          <a:prstGeom prst="straightConnector1">
            <a:avLst/>
          </a:prstGeom>
          <a:noFill/>
          <a:ln cap="flat" cmpd="sng" w="7620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3" name="Google Shape;223;p39"/>
          <p:cNvCxnSpPr/>
          <p:nvPr/>
        </p:nvCxnSpPr>
        <p:spPr>
          <a:xfrm>
            <a:off x="2611525" y="26525"/>
            <a:ext cx="424200" cy="689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Now you try: Design a </a:t>
            </a:r>
            <a:r>
              <a:rPr b="1" lang="en"/>
              <a:t>Basic Filter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the size and placement of sprites manually</a:t>
            </a:r>
            <a:endParaRPr/>
          </a:p>
        </p:txBody>
      </p:sp>
      <p:sp>
        <p:nvSpPr>
          <p:cNvPr id="229" name="Google Shape;22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0" name="Google Shape;23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975" y="1084025"/>
            <a:ext cx="310751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9200" y="3520200"/>
            <a:ext cx="4789125" cy="1384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40"/>
          <p:cNvSpPr txBox="1"/>
          <p:nvPr/>
        </p:nvSpPr>
        <p:spPr>
          <a:xfrm>
            <a:off x="3804600" y="1178313"/>
            <a:ext cx="48915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You can </a:t>
            </a:r>
            <a:r>
              <a:rPr b="1" lang="en" sz="1900"/>
              <a:t>drag and drop sprites</a:t>
            </a:r>
            <a:r>
              <a:rPr lang="en" sz="1900"/>
              <a:t> to wherever you want. 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When you finish, </a:t>
            </a:r>
            <a:r>
              <a:rPr b="1" lang="en" sz="1900"/>
              <a:t>put your face</a:t>
            </a:r>
            <a:r>
              <a:rPr lang="en" sz="1900"/>
              <a:t> in the camera to wear your filter.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*</a:t>
            </a:r>
            <a:r>
              <a:rPr lang="en" sz="1700">
                <a:solidFill>
                  <a:schemeClr val="dk1"/>
                </a:solidFill>
              </a:rPr>
              <a:t>You can </a:t>
            </a:r>
            <a:r>
              <a:rPr b="1" lang="en" sz="1700">
                <a:solidFill>
                  <a:schemeClr val="dk1"/>
                </a:solidFill>
              </a:rPr>
              <a:t>change the size</a:t>
            </a:r>
            <a:r>
              <a:rPr lang="en" sz="1700">
                <a:solidFill>
                  <a:schemeClr val="dk1"/>
                </a:solidFill>
              </a:rPr>
              <a:t> as well. </a:t>
            </a:r>
            <a:endParaRPr sz="1700"/>
          </a:p>
        </p:txBody>
      </p:sp>
      <p:cxnSp>
        <p:nvCxnSpPr>
          <p:cNvPr id="233" name="Google Shape;233;p40"/>
          <p:cNvCxnSpPr>
            <a:stCxn id="231" idx="1"/>
          </p:cNvCxnSpPr>
          <p:nvPr/>
        </p:nvCxnSpPr>
        <p:spPr>
          <a:xfrm rot="10800000">
            <a:off x="2747300" y="3875700"/>
            <a:ext cx="1371900" cy="336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40"/>
          <p:cNvSpPr/>
          <p:nvPr/>
        </p:nvSpPr>
        <p:spPr>
          <a:xfrm>
            <a:off x="490500" y="3764825"/>
            <a:ext cx="2505600" cy="572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type="title"/>
          </p:nvPr>
        </p:nvSpPr>
        <p:spPr>
          <a:xfrm>
            <a:off x="311700" y="441500"/>
            <a:ext cx="8520600" cy="36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What do you think:</a:t>
            </a:r>
            <a:br>
              <a:rPr lang="en" sz="4200"/>
            </a:br>
            <a:r>
              <a:rPr lang="en" sz="4200"/>
              <a:t> </a:t>
            </a:r>
            <a:endParaRPr sz="4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Does the Basic Filter we made use face detection?</a:t>
            </a:r>
            <a:br>
              <a:rPr lang="en" sz="4200"/>
            </a:br>
            <a:endParaRPr sz="4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How do you know?</a:t>
            </a:r>
            <a:endParaRPr sz="4200"/>
          </a:p>
        </p:txBody>
      </p:sp>
      <p:sp>
        <p:nvSpPr>
          <p:cNvPr id="240" name="Google Shape;240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Answer:</a:t>
            </a:r>
            <a:endParaRPr/>
          </a:p>
        </p:txBody>
      </p:sp>
      <p:sp>
        <p:nvSpPr>
          <p:cNvPr id="246" name="Google Shape;246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The basic filter does NOT. We can tell, because the objects do not follow the face.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700"/>
              <a:t>However, we can use the face sensing blocks to add face detection to our scratch project.</a:t>
            </a:r>
            <a:endParaRPr sz="2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700"/>
              <a:t>Let’s level up!</a:t>
            </a:r>
            <a:endParaRPr sz="2700"/>
          </a:p>
        </p:txBody>
      </p:sp>
      <p:sp>
        <p:nvSpPr>
          <p:cNvPr id="248" name="Google Shape;248;p42"/>
          <p:cNvSpPr/>
          <p:nvPr/>
        </p:nvSpPr>
        <p:spPr>
          <a:xfrm>
            <a:off x="311700" y="1228450"/>
            <a:ext cx="8729400" cy="2973900"/>
          </a:xfrm>
          <a:prstGeom prst="rect">
            <a:avLst/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>
            <p:ph type="title"/>
          </p:nvPr>
        </p:nvSpPr>
        <p:spPr>
          <a:xfrm>
            <a:off x="311700" y="405100"/>
            <a:ext cx="8520600" cy="29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 our Filter using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Face Sensing Blocks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Filter to attach to face</a:t>
            </a:r>
            <a:endParaRPr/>
          </a:p>
        </p:txBody>
      </p:sp>
      <p:pic>
        <p:nvPicPr>
          <p:cNvPr id="254" name="Google Shape;25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7475" y="405100"/>
            <a:ext cx="2361650" cy="47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050" y="1888800"/>
            <a:ext cx="2302875" cy="32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3713" y="61313"/>
            <a:ext cx="1209675" cy="10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62100" y="983438"/>
            <a:ext cx="1466850" cy="1152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44"/>
          <p:cNvSpPr txBox="1"/>
          <p:nvPr/>
        </p:nvSpPr>
        <p:spPr>
          <a:xfrm>
            <a:off x="297713" y="137525"/>
            <a:ext cx="73389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Find the yellow </a:t>
            </a:r>
            <a:r>
              <a:rPr b="1" lang="en" sz="1600"/>
              <a:t>event</a:t>
            </a:r>
            <a:r>
              <a:rPr lang="en" sz="1600"/>
              <a:t> block:                                          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                                               Find the dark orange </a:t>
            </a:r>
            <a:r>
              <a:rPr b="1" lang="en" sz="1600"/>
              <a:t>control</a:t>
            </a:r>
            <a:r>
              <a:rPr lang="en" sz="1600"/>
              <a:t> block: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And the green</a:t>
            </a:r>
            <a:r>
              <a:rPr b="1" lang="en" sz="1600"/>
              <a:t> face sensing </a:t>
            </a:r>
            <a:r>
              <a:rPr lang="en" sz="1600"/>
              <a:t>block: </a:t>
            </a:r>
            <a:endParaRPr sz="1600"/>
          </a:p>
        </p:txBody>
      </p:sp>
      <p:sp>
        <p:nvSpPr>
          <p:cNvPr id="265" name="Google Shape;265;p44"/>
          <p:cNvSpPr txBox="1"/>
          <p:nvPr/>
        </p:nvSpPr>
        <p:spPr>
          <a:xfrm>
            <a:off x="3526225" y="2952025"/>
            <a:ext cx="5262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You need the </a:t>
            </a:r>
            <a:r>
              <a:rPr b="1" lang="en" sz="2000"/>
              <a:t>green flag and forever</a:t>
            </a:r>
            <a:r>
              <a:rPr lang="en" sz="2000"/>
              <a:t> blocks.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The </a:t>
            </a:r>
            <a:r>
              <a:rPr b="1" lang="en" sz="2000"/>
              <a:t>face sensing</a:t>
            </a:r>
            <a:r>
              <a:rPr lang="en" sz="2000"/>
              <a:t> block has an arrow to drop down. Choose any option you want.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7197" y="1742750"/>
            <a:ext cx="1235075" cy="1335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5"/>
          <p:cNvPicPr preferRelativeResize="0"/>
          <p:nvPr/>
        </p:nvPicPr>
        <p:blipFill rotWithShape="1">
          <a:blip r:embed="rId4">
            <a:alphaModFix/>
          </a:blip>
          <a:srcRect b="0" l="31935" r="36263" t="0"/>
          <a:stretch/>
        </p:blipFill>
        <p:spPr>
          <a:xfrm>
            <a:off x="6118899" y="1655125"/>
            <a:ext cx="1235075" cy="154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50" y="3356644"/>
            <a:ext cx="2046500" cy="175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262" y="3299000"/>
            <a:ext cx="2295525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45"/>
          <p:cNvSpPr txBox="1"/>
          <p:nvPr/>
        </p:nvSpPr>
        <p:spPr>
          <a:xfrm>
            <a:off x="1193075" y="0"/>
            <a:ext cx="75114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/>
              <a:t>The code blocks snap together! :) </a:t>
            </a:r>
            <a:endParaRPr b="1" sz="2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Just click a sprite, then drag and drop blocks into the white space in the center.</a:t>
            </a:r>
            <a:endParaRPr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Example code pieces to try:</a:t>
            </a:r>
            <a:endParaRPr sz="2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1 - Intermediate - Change Costume</a:t>
            </a:r>
            <a:endParaRPr/>
          </a:p>
        </p:txBody>
      </p:sp>
      <p:sp>
        <p:nvSpPr>
          <p:cNvPr id="281" name="Google Shape;281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2" name="Google Shape;282;p46"/>
          <p:cNvPicPr preferRelativeResize="0"/>
          <p:nvPr/>
        </p:nvPicPr>
        <p:blipFill rotWithShape="1">
          <a:blip r:embed="rId3">
            <a:alphaModFix/>
          </a:blip>
          <a:srcRect b="45688" l="79134" r="0" t="3883"/>
          <a:stretch/>
        </p:blipFill>
        <p:spPr>
          <a:xfrm>
            <a:off x="4572000" y="1757337"/>
            <a:ext cx="3357874" cy="2970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100" y="1821475"/>
            <a:ext cx="3029125" cy="284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6625" y="2130125"/>
            <a:ext cx="1610800" cy="174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7"/>
          <p:cNvPicPr preferRelativeResize="0"/>
          <p:nvPr/>
        </p:nvPicPr>
        <p:blipFill rotWithShape="1">
          <a:blip r:embed="rId4">
            <a:alphaModFix/>
          </a:blip>
          <a:srcRect b="0" l="31935" r="36263" t="0"/>
          <a:stretch/>
        </p:blipFill>
        <p:spPr>
          <a:xfrm>
            <a:off x="6998100" y="1958375"/>
            <a:ext cx="1712525" cy="190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7"/>
          <p:cNvSpPr txBox="1"/>
          <p:nvPr/>
        </p:nvSpPr>
        <p:spPr>
          <a:xfrm>
            <a:off x="435575" y="891725"/>
            <a:ext cx="731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these 2 new blocks </a:t>
            </a:r>
            <a:r>
              <a:rPr b="1" lang="en"/>
              <a:t>INSIDE</a:t>
            </a:r>
            <a:r>
              <a:rPr lang="en"/>
              <a:t> of the </a:t>
            </a:r>
            <a:r>
              <a:rPr b="1" lang="en"/>
              <a:t>forever block </a:t>
            </a:r>
            <a:r>
              <a:rPr lang="en"/>
              <a:t>loop</a:t>
            </a:r>
            <a:endParaRPr/>
          </a:p>
        </p:txBody>
      </p:sp>
      <p:sp>
        <p:nvSpPr>
          <p:cNvPr id="291" name="Google Shape;291;p47"/>
          <p:cNvSpPr txBox="1"/>
          <p:nvPr/>
        </p:nvSpPr>
        <p:spPr>
          <a:xfrm>
            <a:off x="4196625" y="4187175"/>
            <a:ext cx="490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What happens when you run this program?</a:t>
            </a:r>
            <a:endParaRPr sz="1800"/>
          </a:p>
        </p:txBody>
      </p:sp>
      <p:pic>
        <p:nvPicPr>
          <p:cNvPr id="292" name="Google Shape;292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0625" y="1274200"/>
            <a:ext cx="1557159" cy="85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- level 1 - Change Costumes</a:t>
            </a:r>
            <a:endParaRPr/>
          </a:p>
        </p:txBody>
      </p:sp>
      <p:sp>
        <p:nvSpPr>
          <p:cNvPr id="294" name="Google Shape;29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5" name="Google Shape;295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222" y="1356822"/>
            <a:ext cx="1252800" cy="776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6" name="Google Shape;296;p47"/>
          <p:cNvCxnSpPr>
            <a:stCxn id="297" idx="1"/>
            <a:endCxn id="292" idx="3"/>
          </p:cNvCxnSpPr>
          <p:nvPr/>
        </p:nvCxnSpPr>
        <p:spPr>
          <a:xfrm flipH="1">
            <a:off x="3997650" y="1595750"/>
            <a:ext cx="1179000" cy="106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7" name="Google Shape;297;p47"/>
          <p:cNvSpPr txBox="1"/>
          <p:nvPr/>
        </p:nvSpPr>
        <p:spPr>
          <a:xfrm>
            <a:off x="5176650" y="1287950"/>
            <a:ext cx="384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second is </a:t>
            </a:r>
            <a:r>
              <a:rPr lang="en"/>
              <a:t>actually</a:t>
            </a:r>
            <a:r>
              <a:rPr lang="en"/>
              <a:t> a long time…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using 0.5 or 0.2 seconds</a:t>
            </a:r>
            <a:endParaRPr/>
          </a:p>
        </p:txBody>
      </p:sp>
      <p:pic>
        <p:nvPicPr>
          <p:cNvPr id="298" name="Google Shape;298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285297"/>
            <a:ext cx="3891824" cy="2130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8"/>
          <p:cNvSpPr txBox="1"/>
          <p:nvPr>
            <p:ph type="title"/>
          </p:nvPr>
        </p:nvSpPr>
        <p:spPr>
          <a:xfrm>
            <a:off x="159300" y="445025"/>
            <a:ext cx="892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2320"/>
              <a:t>Try this code to make the filter change size or “tilt” with your head.</a:t>
            </a:r>
            <a:endParaRPr sz="2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320"/>
          </a:p>
        </p:txBody>
      </p:sp>
      <p:sp>
        <p:nvSpPr>
          <p:cNvPr id="304" name="Google Shape;30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5" name="Google Shape;30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325" y="1235850"/>
            <a:ext cx="2104305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3026" y="1170125"/>
            <a:ext cx="3086500" cy="241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1927" y="1184138"/>
            <a:ext cx="2899673" cy="23832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3" name="Google Shape;31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925" y="1563725"/>
            <a:ext cx="3960848" cy="349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025" y="1424575"/>
            <a:ext cx="3723414" cy="3493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49"/>
          <p:cNvSpPr txBox="1"/>
          <p:nvPr/>
        </p:nvSpPr>
        <p:spPr>
          <a:xfrm>
            <a:off x="167075" y="377875"/>
            <a:ext cx="8706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Advanced Customization</a:t>
            </a:r>
            <a:br>
              <a:rPr lang="en" sz="2800">
                <a:solidFill>
                  <a:schemeClr val="dk1"/>
                </a:solidFill>
              </a:rPr>
            </a:br>
            <a:r>
              <a:rPr lang="en" sz="2800">
                <a:solidFill>
                  <a:schemeClr val="dk1"/>
                </a:solidFill>
              </a:rPr>
              <a:t>Only show filter when face is present</a:t>
            </a:r>
            <a:endParaRPr/>
          </a:p>
        </p:txBody>
      </p:sp>
      <p:pic>
        <p:nvPicPr>
          <p:cNvPr id="316" name="Google Shape;316;p49"/>
          <p:cNvPicPr preferRelativeResize="0"/>
          <p:nvPr/>
        </p:nvPicPr>
        <p:blipFill rotWithShape="1">
          <a:blip r:embed="rId5">
            <a:alphaModFix/>
          </a:blip>
          <a:srcRect b="0" l="-1528" r="35083" t="0"/>
          <a:stretch/>
        </p:blipFill>
        <p:spPr>
          <a:xfrm>
            <a:off x="6461400" y="0"/>
            <a:ext cx="2682588" cy="14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0"/>
          <p:cNvSpPr txBox="1"/>
          <p:nvPr>
            <p:ph type="title"/>
          </p:nvPr>
        </p:nvSpPr>
        <p:spPr>
          <a:xfrm>
            <a:off x="248725" y="415250"/>
            <a:ext cx="586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Only shows filter when face is present.</a:t>
            </a:r>
            <a:endParaRPr/>
          </a:p>
        </p:txBody>
      </p:sp>
      <p:pic>
        <p:nvPicPr>
          <p:cNvPr id="322" name="Google Shape;322;p50"/>
          <p:cNvPicPr preferRelativeResize="0"/>
          <p:nvPr/>
        </p:nvPicPr>
        <p:blipFill rotWithShape="1">
          <a:blip r:embed="rId3">
            <a:alphaModFix/>
          </a:blip>
          <a:srcRect b="18749" l="3558" r="73933" t="36113"/>
          <a:stretch/>
        </p:blipFill>
        <p:spPr>
          <a:xfrm>
            <a:off x="1047250" y="1187400"/>
            <a:ext cx="3524750" cy="3475818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1"/>
          <p:cNvSpPr txBox="1"/>
          <p:nvPr>
            <p:ph type="ctrTitle"/>
          </p:nvPr>
        </p:nvSpPr>
        <p:spPr>
          <a:xfrm>
            <a:off x="311700" y="52950"/>
            <a:ext cx="8520600" cy="160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80"/>
              <a:t>Once you finish playing in scratch, turn in your project file or link:</a:t>
            </a:r>
            <a:endParaRPr sz="3680"/>
          </a:p>
        </p:txBody>
      </p:sp>
      <p:sp>
        <p:nvSpPr>
          <p:cNvPr id="329" name="Google Shape;329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" name="Google Shape;330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51"/>
          <p:cNvPicPr preferRelativeResize="0"/>
          <p:nvPr/>
        </p:nvPicPr>
        <p:blipFill rotWithShape="1">
          <a:blip r:embed="rId3">
            <a:alphaModFix/>
          </a:blip>
          <a:srcRect b="0" l="0" r="0" t="14653"/>
          <a:stretch/>
        </p:blipFill>
        <p:spPr>
          <a:xfrm>
            <a:off x="994200" y="1598775"/>
            <a:ext cx="7104936" cy="34580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2" name="Google Shape;332;p51"/>
          <p:cNvCxnSpPr/>
          <p:nvPr/>
        </p:nvCxnSpPr>
        <p:spPr>
          <a:xfrm rot="10800000">
            <a:off x="3221325" y="1802750"/>
            <a:ext cx="1551000" cy="20814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