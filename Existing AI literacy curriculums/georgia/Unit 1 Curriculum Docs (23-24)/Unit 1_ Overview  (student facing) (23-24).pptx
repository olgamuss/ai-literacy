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Arial Black"/>
      <p:regular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48ABC9-76DC-43A9-8670-E138947438A2}">
  <a:tblStyle styleId="{FB48ABC9-76DC-43A9-8670-E138947438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F0F0"/>
          </a:solidFill>
        </a:fill>
      </a:tcStyle>
    </a:wholeTbl>
    <a:band1H>
      <a:tcTxStyle b="off" i="off"/>
      <a:tcStyle>
        <a:fill>
          <a:solidFill>
            <a:srgbClr val="E0E0E0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0E0E0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ArialBlack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785" y="434338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00" lIns="89600" spcFirstLastPara="1" rIns="89600" wrap="square" tIns="89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caf6b0252_0_0:notes"/>
          <p:cNvSpPr txBox="1"/>
          <p:nvPr>
            <p:ph idx="1" type="body"/>
          </p:nvPr>
        </p:nvSpPr>
        <p:spPr>
          <a:xfrm>
            <a:off x="685785" y="434338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00" lIns="89600" spcFirstLastPara="1" rIns="89600" wrap="square" tIns="89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caf6b025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29841" y="1878806"/>
            <a:ext cx="38685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https://docs.google.com/forms/d/e/1FAIpQLSfSAsSrzip5eXDhGZcT4YmBdQ0-j4ktrI05iF3kMPTSFeGB2A/viewform?usp=sf_link" TargetMode="External"/><Relationship Id="rId10" Type="http://schemas.openxmlformats.org/officeDocument/2006/relationships/hyperlink" Target="https://dashboard.blooket.com/set/635af14c2344521748bfa57f" TargetMode="External"/><Relationship Id="rId13" Type="http://schemas.openxmlformats.org/officeDocument/2006/relationships/image" Target="../media/image4.jp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presentation/d/1e7jvSE5g-e7hGBYTQqV-MqNW9Nw_RPDyK0p162Z3eZE/edit?usp=sharing" TargetMode="External"/><Relationship Id="rId4" Type="http://schemas.openxmlformats.org/officeDocument/2006/relationships/hyperlink" Target="https://docs.google.com/document/d/1oU8unPNj_HhxFmpKnLwEnYp1j5tGGal1pR5Tp3M0zDY/edit?usp=sharing" TargetMode="External"/><Relationship Id="rId9" Type="http://schemas.openxmlformats.org/officeDocument/2006/relationships/hyperlink" Target="https://docs.google.com/presentation/d/1f94L03slnTa4rDLgtgeZeCk9ChSuj7UdfHzlCXMsFnw/edit?usp=sharing" TargetMode="External"/><Relationship Id="rId15" Type="http://schemas.openxmlformats.org/officeDocument/2006/relationships/image" Target="../media/image2.gif"/><Relationship Id="rId14" Type="http://schemas.openxmlformats.org/officeDocument/2006/relationships/image" Target="../media/image1.png"/><Relationship Id="rId17" Type="http://schemas.openxmlformats.org/officeDocument/2006/relationships/hyperlink" Target="https://creativecommons.org/licenses/by-nc-sa/4.0/" TargetMode="External"/><Relationship Id="rId16" Type="http://schemas.openxmlformats.org/officeDocument/2006/relationships/image" Target="../media/image9.png"/><Relationship Id="rId5" Type="http://schemas.openxmlformats.org/officeDocument/2006/relationships/hyperlink" Target="https://docs.google.com/presentation/d/1muunO_q8SYma6-hIzUmmyOSEJjr1nZFHKnSXP0ggxWk/edit?usp=sharing" TargetMode="External"/><Relationship Id="rId6" Type="http://schemas.openxmlformats.org/officeDocument/2006/relationships/hyperlink" Target="https://docs.google.com/document/d/1lX4y7ftchHPeOh9ZBRzLFYHpIDc25mE29ndH5yAP-BA/edit?usp=sharing" TargetMode="External"/><Relationship Id="rId18" Type="http://schemas.openxmlformats.org/officeDocument/2006/relationships/image" Target="../media/image3.png"/><Relationship Id="rId7" Type="http://schemas.openxmlformats.org/officeDocument/2006/relationships/hyperlink" Target="https://docs.google.com/presentation/d/1f94L03slnTa4rDLgtgeZeCk9ChSuj7UdfHzlCXMsFnw/edit?usp=sharing" TargetMode="External"/><Relationship Id="rId8" Type="http://schemas.openxmlformats.org/officeDocument/2006/relationships/hyperlink" Target="https://docs.google.com/document/d/1n7Bz-zOXscB9kYeAhLX4ASnqZobTAGErQ0ykBi1cdJU/edit?usp=sharing" TargetMode="External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4.jpg"/><Relationship Id="rId11" Type="http://schemas.openxmlformats.org/officeDocument/2006/relationships/hyperlink" Target="https://docs.google.com/presentation/d/1YBBSfbxInWKhlaxW5jF4kf459VApzPTUt6dxE--EDBs/edit?usp=sharing" TargetMode="External"/><Relationship Id="rId22" Type="http://schemas.openxmlformats.org/officeDocument/2006/relationships/image" Target="../media/image10.gif"/><Relationship Id="rId10" Type="http://schemas.openxmlformats.org/officeDocument/2006/relationships/hyperlink" Target="https://docs.google.com/presentation/d/1YBBSfbxInWKhlaxW5jF4kf459VApzPTUt6dxE--EDBs/edit?usp=sharing" TargetMode="External"/><Relationship Id="rId21" Type="http://schemas.openxmlformats.org/officeDocument/2006/relationships/image" Target="../media/image8.gif"/><Relationship Id="rId13" Type="http://schemas.openxmlformats.org/officeDocument/2006/relationships/hyperlink" Target="https://docs.google.com/presentation/d/1Ol_6PCtOBnqCqJp57PtKCgxcI6CUlRng/edit#" TargetMode="External"/><Relationship Id="rId12" Type="http://schemas.openxmlformats.org/officeDocument/2006/relationships/hyperlink" Target="https://docs.google.com/forms/d/1aF4QneHGZBzf9sCx8xPFfyucTFTsa8wmtHnTTBWphrE/edit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riX1NQwUvClvLzwjZH-TMdSsMimU5CABmQga31URSo4/edit?usp=sharing" TargetMode="External"/><Relationship Id="rId4" Type="http://schemas.openxmlformats.org/officeDocument/2006/relationships/hyperlink" Target="https://docs.google.com/presentation/u/0/d/1SfWbAPUAC4wckm7deaZyXn5wMdel5y9Os10IctyW8o0/edit" TargetMode="External"/><Relationship Id="rId9" Type="http://schemas.openxmlformats.org/officeDocument/2006/relationships/hyperlink" Target="https://docs.google.com/presentation/d/1YBBSfbxInWKhlaxW5jF4kf459VApzPTUt6dxE--EDBs/edit?usp=sharing" TargetMode="External"/><Relationship Id="rId15" Type="http://schemas.openxmlformats.org/officeDocument/2006/relationships/hyperlink" Target="https://www.scroobly.com/" TargetMode="External"/><Relationship Id="rId14" Type="http://schemas.openxmlformats.org/officeDocument/2006/relationships/hyperlink" Target="https://docs.google.com/presentation/d/1eKci2_pEu1-gpi9u2vQJXV0GVHUX5EMLRZaTi0BsuYk/edit" TargetMode="External"/><Relationship Id="rId17" Type="http://schemas.openxmlformats.org/officeDocument/2006/relationships/hyperlink" Target="https://docs.google.com/document/d/1Bp43rb9cIjxJ0v87v7yLQky-pEt0CEreImVKb5X7L6A/edit" TargetMode="External"/><Relationship Id="rId16" Type="http://schemas.openxmlformats.org/officeDocument/2006/relationships/hyperlink" Target="https://docs.google.com/document/d/1iEN7RftT_K1c1ek1fbxhwxWQuGV51lQwVQYqsHn3uYA/edit" TargetMode="External"/><Relationship Id="rId5" Type="http://schemas.openxmlformats.org/officeDocument/2006/relationships/hyperlink" Target="https://docs.google.com/presentation/d/1riX1NQwUvClvLzwjZH-TMdSsMimU5CABmQga31URSo4/edit?usp=sharing" TargetMode="External"/><Relationship Id="rId19" Type="http://schemas.openxmlformats.org/officeDocument/2006/relationships/image" Target="../media/image6.png"/><Relationship Id="rId6" Type="http://schemas.openxmlformats.org/officeDocument/2006/relationships/hyperlink" Target="https://docs.google.com/presentation/d/1S474tRZIzDDkjk4Z6tip52v5A28OKAEzr3Ri-vCzrdc/edit?usp=sharing" TargetMode="External"/><Relationship Id="rId18" Type="http://schemas.openxmlformats.org/officeDocument/2006/relationships/hyperlink" Target="https://docs.google.com/forms/d/e/1FAIpQLSfSAsSrzip5eXDhGZcT4YmBdQ0-j4ktrI05iF3kMPTSFeGB2A/viewform?usp=sf_link" TargetMode="External"/><Relationship Id="rId7" Type="http://schemas.openxmlformats.org/officeDocument/2006/relationships/hyperlink" Target="https://docs.google.com/presentation/d/1S474tRZIzDDkjk4Z6tip52v5A28OKAEzr3Ri-vCzrdc/edit?usp=sharing" TargetMode="External"/><Relationship Id="rId8" Type="http://schemas.openxmlformats.org/officeDocument/2006/relationships/hyperlink" Target="https://docs.google.com/document/d/1XyLlztqRiaciMR-Ml_a4ApxV018Va9SRG-EoHPJZgAw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628650" y="155602"/>
            <a:ext cx="78867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 Black"/>
              <a:buNone/>
            </a:pPr>
            <a:r>
              <a:rPr b="1" lang="en" sz="2200">
                <a:solidFill>
                  <a:srgbClr val="1C4587"/>
                </a:solidFill>
                <a:latin typeface="Arial Black"/>
                <a:ea typeface="Arial Black"/>
                <a:cs typeface="Arial Black"/>
                <a:sym typeface="Arial Black"/>
              </a:rPr>
              <a:t>Artificial Intelligence for GA</a:t>
            </a:r>
            <a:br>
              <a:rPr b="0" i="0" lang="en" sz="2200" u="none" cap="none" strike="noStrike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800">
                <a:solidFill>
                  <a:srgbClr val="1C4587"/>
                </a:solidFill>
              </a:rPr>
              <a:t>Week 1</a:t>
            </a:r>
            <a:endParaRPr b="1" i="1" sz="1800" u="none" cap="none" strike="noStrik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" name="Google Shape;85;p13"/>
          <p:cNvGraphicFramePr/>
          <p:nvPr/>
        </p:nvGraphicFramePr>
        <p:xfrm>
          <a:off x="749401" y="10506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{FB48ABC9-76DC-43A9-8670-E138947438A2}</a:tableStyleId>
              </a:tblPr>
              <a:tblGrid>
                <a:gridCol w="2628900"/>
                <a:gridCol w="2628900"/>
                <a:gridCol w="2621225"/>
              </a:tblGrid>
              <a:tr h="375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400" u="none" cap="none" strike="noStrike">
                          <a:solidFill>
                            <a:srgbClr val="1C4587"/>
                          </a:solidFill>
                        </a:rPr>
                        <a:t>Daily Assignments:</a:t>
                      </a:r>
                      <a:endParaRPr sz="14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1C4587"/>
                          </a:solidFill>
                        </a:rPr>
                        <a:t>Complete ALL the following assignments in order AND submit as instructed. </a:t>
                      </a:r>
                      <a:endParaRPr sz="10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-200660" lvl="0" marL="27432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000"/>
                        <a:buFont typeface="Arial"/>
                        <a:buAutoNum type="arabicPeriod"/>
                      </a:pPr>
                      <a:r>
                        <a:rPr lang="en" sz="1000" u="none" cap="none" strike="noStrike">
                          <a:solidFill>
                            <a:srgbClr val="1C4587"/>
                          </a:solidFill>
                        </a:rPr>
                        <a:t>Module 1.2 (A): </a:t>
                      </a:r>
                      <a:r>
                        <a:rPr lang="en" sz="1000" cap="none" strike="noStrike">
                          <a:solidFill>
                            <a:srgbClr val="1C4587"/>
                          </a:solidFill>
                        </a:rPr>
                        <a:t>R</a:t>
                      </a: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3"/>
                        </a:rPr>
                        <a:t>obot or Not Slides</a:t>
                      </a:r>
                      <a:r>
                        <a:rPr lang="en" sz="1400" u="none" cap="none" strike="noStrike">
                          <a:solidFill>
                            <a:srgbClr val="1155CC"/>
                          </a:solidFill>
                        </a:rPr>
                        <a:t>, </a:t>
                      </a: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4"/>
                        </a:rPr>
                        <a:t>Robot or Not Worksheet</a:t>
                      </a:r>
                      <a:endParaRPr sz="10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-200660" lvl="0" marL="27432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000"/>
                        <a:buFont typeface="Arial"/>
                        <a:buAutoNum type="arabicPeriod"/>
                      </a:pPr>
                      <a:r>
                        <a:rPr lang="en" sz="1000" u="none" cap="none" strike="noStrike">
                          <a:solidFill>
                            <a:srgbClr val="1C4587"/>
                          </a:solidFill>
                        </a:rPr>
                        <a:t>Module 1.2 (B): </a:t>
                      </a: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5"/>
                        </a:rPr>
                        <a:t>Autonomous Robots </a:t>
                      </a:r>
                      <a:r>
                        <a:rPr lang="en" sz="1000" cap="none" strike="noStrike">
                          <a:solidFill>
                            <a:srgbClr val="1C4587"/>
                          </a:solidFill>
                        </a:rPr>
                        <a:t>Slides</a:t>
                      </a:r>
                      <a:r>
                        <a:rPr lang="en" sz="1000" u="none" cap="none" strike="noStrike">
                          <a:solidFill>
                            <a:srgbClr val="1C4587"/>
                          </a:solidFill>
                        </a:rPr>
                        <a:t> , </a:t>
                      </a: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6"/>
                        </a:rPr>
                        <a:t>Autonomous Robots Worksheet</a:t>
                      </a:r>
                      <a:endParaRPr sz="10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9B7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1C4587"/>
                          </a:solidFill>
                        </a:rPr>
                        <a:t>3.  Module 1.3:</a:t>
                      </a:r>
                      <a:r>
                        <a:rPr lang="en" sz="1000" cap="none" strike="noStrike">
                          <a:solidFill>
                            <a:srgbClr val="1C4587"/>
                          </a:solidFill>
                        </a:rPr>
                        <a:t> </a:t>
                      </a: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7"/>
                        </a:rPr>
                        <a:t>Anatomy of a Self-Driving Car</a:t>
                      </a:r>
                      <a:r>
                        <a:rPr lang="en" sz="1000" u="none" cap="none" strike="noStrike">
                          <a:solidFill>
                            <a:srgbClr val="1C4587"/>
                          </a:solidFill>
                        </a:rPr>
                        <a:t> ,</a:t>
                      </a:r>
                      <a:br>
                        <a:rPr lang="en" sz="1000" u="none" cap="none" strike="noStrike">
                          <a:solidFill>
                            <a:srgbClr val="1C4587"/>
                          </a:solidFill>
                        </a:rPr>
                      </a:br>
                      <a:r>
                        <a:rPr lang="en" sz="1000" u="none" cap="none" strike="noStrike">
                          <a:solidFill>
                            <a:srgbClr val="1C4587"/>
                          </a:solidFill>
                        </a:rPr>
                        <a:t>    </a:t>
                      </a: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8"/>
                        </a:rPr>
                        <a:t> Self Driving Car Worksheet</a:t>
                      </a:r>
                      <a:endParaRPr sz="10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1C4587"/>
                          </a:solidFill>
                        </a:rPr>
                        <a:t>4. Module 1.3: </a:t>
                      </a: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9"/>
                        </a:rPr>
                        <a:t>Anatomy of a Self-Driving Car Continued (part 2)</a:t>
                      </a:r>
                      <a:endParaRPr sz="10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highlight>
                          <a:schemeClr val="accent4"/>
                        </a:highlight>
                      </a:endParaRPr>
                    </a:p>
                  </a:txBody>
                  <a:tcPr marT="34300" marB="34300" marR="68600" marL="686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9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C4587"/>
                          </a:solidFill>
                        </a:rPr>
                        <a:t>Accelerated Assignment:</a:t>
                      </a:r>
                      <a:endParaRPr sz="11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C4587"/>
                          </a:solidFill>
                        </a:rPr>
                        <a:t>Kahoot</a:t>
                      </a:r>
                      <a:r>
                        <a:rPr lang="en" sz="1200">
                          <a:solidFill>
                            <a:srgbClr val="1C4587"/>
                          </a:solidFill>
                        </a:rPr>
                        <a:t> </a:t>
                      </a:r>
                      <a:r>
                        <a:rPr lang="en" sz="1200">
                          <a:solidFill>
                            <a:srgbClr val="1C4587"/>
                          </a:solidFill>
                        </a:rPr>
                        <a:t> (coming soon)</a:t>
                      </a:r>
                      <a:endParaRPr sz="12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sng" cap="none" strike="noStrike">
                          <a:solidFill>
                            <a:schemeClr val="hlink"/>
                          </a:solidFill>
                          <a:hlinkClick r:id="rId10"/>
                        </a:rPr>
                        <a:t>Blooket</a:t>
                      </a:r>
                      <a:endParaRPr sz="12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1C4587"/>
                          </a:solidFill>
                        </a:rPr>
                        <a:t>Additional Resources:</a:t>
                      </a:r>
                      <a:endParaRPr sz="8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9B7"/>
                    </a:solidFill>
                  </a:tcPr>
                </a:tc>
              </a:tr>
            </a:tbl>
          </a:graphicData>
        </a:graphic>
      </p:graphicFrame>
      <p:sp>
        <p:nvSpPr>
          <p:cNvPr id="86" name="Google Shape;86;p13"/>
          <p:cNvSpPr txBox="1"/>
          <p:nvPr/>
        </p:nvSpPr>
        <p:spPr>
          <a:xfrm>
            <a:off x="985350" y="626925"/>
            <a:ext cx="7530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Standard</a:t>
            </a:r>
            <a:r>
              <a:rPr b="0" i="0" lang="en" sz="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:   </a:t>
            </a:r>
            <a:endParaRPr b="0" i="0" sz="6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 EQ/LG</a:t>
            </a:r>
            <a:r>
              <a:rPr b="0" i="0" lang="en" sz="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:  </a:t>
            </a:r>
            <a:endParaRPr b="0" i="0" sz="6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3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6700" y="53425"/>
            <a:ext cx="692738" cy="81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27273" y="50625"/>
            <a:ext cx="820518" cy="816875"/>
          </a:xfrm>
          <a:prstGeom prst="ellipse">
            <a:avLst/>
          </a:prstGeom>
          <a:noFill/>
          <a:ln cap="rnd" cmpd="sng" w="63500">
            <a:solidFill>
              <a:srgbClr val="F89D7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488175" y="1527200"/>
            <a:ext cx="2401501" cy="120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87425" y="3184500"/>
            <a:ext cx="1480775" cy="161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128901" y="2727950"/>
            <a:ext cx="2307933" cy="16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1986925" y="4804100"/>
            <a:ext cx="590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000000"/>
                </a:solidFill>
              </a:rPr>
              <a:t>Developed for the AI4GA (Artificial Intelligence for Georgia) project funded by National Science Foundation awards DRL-2049029 and DRL-2048502.</a:t>
            </a:r>
            <a:r>
              <a:rPr lang="en" sz="600"/>
              <a:t> </a:t>
            </a:r>
            <a:r>
              <a:rPr b="1" lang="en" sz="600">
                <a:solidFill>
                  <a:srgbClr val="000000"/>
                </a:solidFill>
              </a:rPr>
              <a:t>This work is licensed under the Creative Commons. Attribution-NonComercial-ShareAlike 4.0 International License. </a:t>
            </a:r>
            <a:r>
              <a:rPr b="1" lang="en" sz="600" u="sng">
                <a:solidFill>
                  <a:srgbClr val="0097A7"/>
                </a:solidFill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sz="1100"/>
          </a:p>
        </p:txBody>
      </p:sp>
      <p:pic>
        <p:nvPicPr>
          <p:cNvPr id="93" name="Google Shape;93;p1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358275" y="4873250"/>
            <a:ext cx="660170" cy="2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628650" y="155602"/>
            <a:ext cx="78867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 Black"/>
              <a:buNone/>
            </a:pPr>
            <a:r>
              <a:rPr b="1" lang="en" sz="2200">
                <a:solidFill>
                  <a:srgbClr val="1C4587"/>
                </a:solidFill>
                <a:latin typeface="Arial Black"/>
                <a:ea typeface="Arial Black"/>
                <a:cs typeface="Arial Black"/>
                <a:sym typeface="Arial Black"/>
              </a:rPr>
              <a:t>Artificial Intelligence for GA</a:t>
            </a:r>
            <a:br>
              <a:rPr b="0" i="0" lang="en" sz="2200" u="none" cap="none" strike="noStrike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800">
                <a:solidFill>
                  <a:srgbClr val="1C4587"/>
                </a:solidFill>
              </a:rPr>
              <a:t>Week 2</a:t>
            </a:r>
            <a:endParaRPr b="1" i="1" sz="1800" u="none" cap="none" strike="noStrik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9" name="Google Shape;99;p14"/>
          <p:cNvGraphicFramePr/>
          <p:nvPr/>
        </p:nvGraphicFramePr>
        <p:xfrm>
          <a:off x="749438" y="12641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{FB48ABC9-76DC-43A9-8670-E138947438A2}</a:tableStyleId>
              </a:tblPr>
              <a:tblGrid>
                <a:gridCol w="2628900"/>
                <a:gridCol w="2628900"/>
                <a:gridCol w="2621225"/>
              </a:tblGrid>
              <a:tr h="379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400" u="none" cap="none" strike="noStrike">
                          <a:solidFill>
                            <a:srgbClr val="1C4587"/>
                          </a:solidFill>
                        </a:rPr>
                        <a:t>Daily Assignments:</a:t>
                      </a:r>
                      <a:br>
                        <a:rPr lang="en" sz="1400" u="none" cap="none" strike="noStrike">
                          <a:solidFill>
                            <a:srgbClr val="1C4587"/>
                          </a:solidFill>
                        </a:rPr>
                      </a:br>
                      <a:endParaRPr sz="14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-200660" lvl="0" marL="27432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000"/>
                        <a:buFont typeface="Arial"/>
                        <a:buAutoNum type="arabicPeriod"/>
                      </a:pPr>
                      <a:r>
                        <a:rPr lang="en" sz="1000" u="none" cap="none" strike="noStrike">
                          <a:solidFill>
                            <a:srgbClr val="1C4587"/>
                          </a:solidFill>
                        </a:rPr>
                        <a:t>Module 1.4: </a:t>
                      </a: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3"/>
                        </a:rPr>
                        <a:t>Module 1.4: Perception (Scratch)</a:t>
                      </a:r>
                      <a:endParaRPr sz="10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-200660" lvl="0" marL="27432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000"/>
                        <a:buFont typeface="Arial"/>
                        <a:buAutoNum type="arabicPeriod"/>
                      </a:pPr>
                      <a:r>
                        <a:rPr lang="en" sz="1000" u="none" cap="none" strike="noStrike">
                          <a:solidFill>
                            <a:srgbClr val="1C4587"/>
                          </a:solidFill>
                        </a:rPr>
                        <a:t>Module 1.4:</a:t>
                      </a: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4"/>
                        </a:rPr>
                        <a:t> </a:t>
                      </a:r>
                      <a:r>
                        <a:rPr lang="en" sz="1000" u="sng">
                          <a:solidFill>
                            <a:schemeClr val="hlink"/>
                          </a:solidFill>
                          <a:hlinkClick r:id="rId5"/>
                        </a:rPr>
                        <a:t>Module 1.4: Perception (Scratch)</a:t>
                      </a:r>
                      <a:r>
                        <a:rPr lang="en" sz="1000">
                          <a:solidFill>
                            <a:srgbClr val="1C4587"/>
                          </a:solidFill>
                        </a:rPr>
                        <a:t> </a:t>
                      </a:r>
                      <a:r>
                        <a:rPr lang="en" sz="1000" u="none" cap="none" strike="noStrike">
                          <a:solidFill>
                            <a:srgbClr val="1C4587"/>
                          </a:solidFill>
                        </a:rPr>
                        <a:t>Scratch continued with Gallery Walk)</a:t>
                      </a:r>
                      <a:endParaRPr sz="10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-200660" lvl="0" marL="27432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000"/>
                        <a:buFont typeface="Arial"/>
                        <a:buAutoNum type="arabicPeriod"/>
                      </a:pPr>
                      <a:r>
                        <a:rPr lang="en" sz="1000" u="none" cap="none" strike="noStrike">
                          <a:solidFill>
                            <a:srgbClr val="1C4587"/>
                          </a:solidFill>
                        </a:rPr>
                        <a:t>Module 1.5: </a:t>
                      </a: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6"/>
                        </a:rPr>
                        <a:t>Module 1.5: Route Finding</a:t>
                      </a:r>
                      <a:r>
                        <a:rPr lang="en" sz="1000" u="sng">
                          <a:solidFill>
                            <a:schemeClr val="hlink"/>
                          </a:solidFill>
                          <a:hlinkClick r:id="rId7"/>
                        </a:rPr>
                        <a:t>,</a:t>
                      </a:r>
                      <a:r>
                        <a:rPr lang="en" sz="1000">
                          <a:solidFill>
                            <a:srgbClr val="1C4587"/>
                          </a:solidFill>
                        </a:rPr>
                        <a:t> </a:t>
                      </a:r>
                      <a:r>
                        <a:rPr lang="en" sz="1000" cap="none" strike="noStrike">
                          <a:solidFill>
                            <a:srgbClr val="1C4587"/>
                          </a:solidFill>
                        </a:rPr>
                        <a:t>(AJ) , </a:t>
                      </a: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8"/>
                        </a:rPr>
                        <a:t>Module 1.5 Route Finding: Try it yourself</a:t>
                      </a:r>
                      <a:endParaRPr sz="900" u="none" cap="none" strike="noStrike"/>
                    </a:p>
                  </a:txBody>
                  <a:tcPr marT="34300" marB="34300" marR="68600" marL="686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9B7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1C4587"/>
                          </a:solidFill>
                        </a:rPr>
                        <a:t>4. Module 1.6</a:t>
                      </a: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9"/>
                        </a:rPr>
                        <a:t>: M</a:t>
                      </a: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10"/>
                        </a:rPr>
                        <a:t>odule 1.6: Case Study on </a:t>
                      </a: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11"/>
                        </a:rPr>
                        <a:t>Self-Driving Cars </a:t>
                      </a:r>
                      <a:r>
                        <a:rPr lang="en" sz="1000" u="none" cap="none" strike="noStrike">
                          <a:solidFill>
                            <a:srgbClr val="1C4587"/>
                          </a:solidFill>
                        </a:rPr>
                        <a:t>, Activities and Questions Embedded in Slides</a:t>
                      </a:r>
                      <a:endParaRPr sz="10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1C4587"/>
                          </a:solidFill>
                        </a:rPr>
                        <a:t>5. Review/ Game/Test or Mini-Project</a:t>
                      </a:r>
                      <a:br>
                        <a:rPr lang="en" sz="1400" u="none" cap="none" strike="noStrike"/>
                      </a:b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12"/>
                        </a:rPr>
                        <a:t>Review/Test</a:t>
                      </a:r>
                      <a:br>
                        <a:rPr lang="en" sz="1400" u="none" cap="none" strike="noStrike"/>
                      </a:b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13"/>
                        </a:rPr>
                        <a:t>Mini-Project Choice Board</a:t>
                      </a:r>
                      <a:br>
                        <a:rPr lang="en" sz="1400" u="none" cap="none" strike="noStrike"/>
                      </a:br>
                      <a:r>
                        <a:rPr lang="en" sz="1000" u="sng" cap="none" strike="noStrike">
                          <a:solidFill>
                            <a:schemeClr val="hlink"/>
                          </a:solidFill>
                          <a:hlinkClick r:id="rId14"/>
                        </a:rPr>
                        <a:t>List of Possible Mini-Projects</a:t>
                      </a:r>
                      <a:endParaRPr sz="1000" u="none" cap="none" strike="noStrike">
                        <a:solidFill>
                          <a:srgbClr val="1C4587"/>
                        </a:solidFill>
                      </a:endParaRPr>
                    </a:p>
                  </a:txBody>
                  <a:tcPr marT="34300" marB="34300" marR="68600" marL="686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9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C4587"/>
                          </a:solidFill>
                        </a:rPr>
                        <a:t>Accelerated Assignment:</a:t>
                      </a:r>
                      <a:endParaRPr sz="11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FF0000"/>
                          </a:solidFill>
                        </a:rPr>
                        <a:t>Module 1.4: Edge Detection Face Demo Activity Guide (coming soon)</a:t>
                      </a:r>
                      <a:endParaRPr sz="90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1C4587"/>
                          </a:solidFill>
                        </a:rPr>
                        <a:t>Module 1.4: </a:t>
                      </a:r>
                      <a:r>
                        <a:rPr lang="en" sz="900" u="sng" cap="none" strike="noStrike">
                          <a:solidFill>
                            <a:schemeClr val="hlink"/>
                          </a:solidFill>
                          <a:hlinkClick r:id="rId15"/>
                        </a:rPr>
                        <a:t>Face Mesh using Scroobly</a:t>
                      </a:r>
                      <a:endParaRPr sz="9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1C4587"/>
                          </a:solidFill>
                        </a:rPr>
                        <a:t>If you have longer class periods, consider doing more than one of the mini-projects, or both the Review/Test and a Mini-Project.</a:t>
                      </a:r>
                      <a:endParaRPr sz="12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1C4587"/>
                          </a:solidFill>
                        </a:rPr>
                        <a:t>Additional Resources:</a:t>
                      </a:r>
                      <a:endParaRPr sz="1100" u="none" cap="none" strike="noStrike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sng" cap="none" strike="noStrike">
                          <a:solidFill>
                            <a:schemeClr val="hlink"/>
                          </a:solidFill>
                          <a:hlinkClick r:id="rId16"/>
                        </a:rPr>
                        <a:t>Module 1.6 - Shared Deep Dive: Cars and AI Driver Assistance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br>
                        <a:rPr lang="en" sz="1200" u="none" cap="none" strike="noStrike"/>
                      </a:br>
                      <a:r>
                        <a:rPr lang="en" sz="1200" u="sng" cap="none" strike="noStrike">
                          <a:solidFill>
                            <a:schemeClr val="hlink"/>
                          </a:solidFill>
                          <a:hlinkClick r:id="rId17"/>
                        </a:rPr>
                        <a:t>Module 1.6 - Shared Deep Dive: Businesses, robots, and autonomous vehicles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9B7"/>
                    </a:solidFill>
                  </a:tcPr>
                </a:tc>
              </a:tr>
            </a:tbl>
          </a:graphicData>
        </a:graphic>
      </p:graphicFrame>
      <p:sp>
        <p:nvSpPr>
          <p:cNvPr id="100" name="Google Shape;100;p14"/>
          <p:cNvSpPr txBox="1"/>
          <p:nvPr/>
        </p:nvSpPr>
        <p:spPr>
          <a:xfrm>
            <a:off x="812042" y="765523"/>
            <a:ext cx="78867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7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Standard</a:t>
            </a:r>
            <a:r>
              <a:rPr b="0" i="0" lang="en" sz="7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:  </a:t>
            </a:r>
            <a:endParaRPr b="0" i="0" sz="7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7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 EQ/LG</a:t>
            </a:r>
            <a:r>
              <a:rPr b="0" i="0" lang="en" sz="7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:  </a:t>
            </a:r>
            <a:endParaRPr b="0" i="0" sz="7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4">
            <a:hlinkClick r:id="rId18"/>
          </p:cNvPr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6700" y="53425"/>
            <a:ext cx="692738" cy="81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227273" y="50625"/>
            <a:ext cx="820500" cy="816900"/>
          </a:xfrm>
          <a:prstGeom prst="ellipse">
            <a:avLst/>
          </a:prstGeom>
          <a:noFill/>
          <a:ln cap="rnd" cmpd="sng" w="63500">
            <a:solidFill>
              <a:srgbClr val="F89D7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78250" y="1545600"/>
            <a:ext cx="1820850" cy="164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496650" y="3297350"/>
            <a:ext cx="2381775" cy="13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