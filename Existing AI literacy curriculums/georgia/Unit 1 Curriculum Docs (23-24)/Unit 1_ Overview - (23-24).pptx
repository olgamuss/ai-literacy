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Lst>
  <p:sldSz cy="5143500" cx="9144000"/>
  <p:notesSz cx="6858000" cy="9144000"/>
  <p:embeddedFontLst>
    <p:embeddedFont>
      <p:font typeface="Arial Black"/>
      <p:regular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7E3EB5-C6E0-4346-8C17-3B202921B435}">
  <a:tblStyle styleId="{B67E3EB5-C6E0-4346-8C17-3B202921B43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F0F0"/>
          </a:solidFill>
        </a:fill>
      </a:tcStyle>
    </a:wholeTbl>
    <a:band1H>
      <a:tcTxStyle b="off" i="off"/>
      <a:tcStyle>
        <a:fill>
          <a:solidFill>
            <a:srgbClr val="E0E0E0"/>
          </a:solidFill>
        </a:fill>
      </a:tcStyle>
    </a:band1H>
    <a:band2H>
      <a:tcTxStyle b="off" i="off"/>
    </a:band2H>
    <a:band1V>
      <a:tcTxStyle b="off" i="off"/>
      <a:tcStyle>
        <a:fill>
          <a:solidFill>
            <a:srgbClr val="E0E0E0"/>
          </a:solidFill>
        </a:fill>
      </a:tcStyle>
    </a:band1V>
    <a:band2V>
      <a:tcTxStyle b="off" i="off"/>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aa3e729d20_0_2:notes"/>
          <p:cNvSpPr txBox="1"/>
          <p:nvPr>
            <p:ph idx="1" type="body"/>
          </p:nvPr>
        </p:nvSpPr>
        <p:spPr>
          <a:xfrm>
            <a:off x="685785" y="4343385"/>
            <a:ext cx="5486400" cy="4114800"/>
          </a:xfrm>
          <a:prstGeom prst="rect">
            <a:avLst/>
          </a:prstGeom>
          <a:noFill/>
          <a:ln>
            <a:noFill/>
          </a:ln>
        </p:spPr>
        <p:txBody>
          <a:bodyPr anchorCtr="0" anchor="t" bIns="89600" lIns="89600" spcFirstLastPara="1" rIns="89600" wrap="square" tIns="896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 name="Google Shape;94;g1aa3e729d20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4" name="Google Shape;14;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5" name="Google Shape;15;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6" name="Google Shape;16;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marR="0" algn="ctr">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3"/>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8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algn="ctr">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algn="ctr">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20" name="Google Shape;20;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21" name="Google Shape;21;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22" name="Google Shape;22;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marR="0" algn="l">
              <a:lnSpc>
                <a:spcPct val="90000"/>
              </a:lnSpc>
              <a:spcBef>
                <a:spcPts val="0"/>
              </a:spcBef>
              <a:spcAft>
                <a:spcPts val="0"/>
              </a:spcAft>
              <a:buClr>
                <a:schemeClr val="dk1"/>
              </a:buClr>
              <a:buSzPts val="4500"/>
              <a:buFont typeface="Calibri"/>
              <a:buNone/>
              <a:defRPr b="0" i="0" sz="45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4"/>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1pPr>
            <a:lvl2pPr indent="-228600" lvl="1" marL="914400" marR="0" algn="l">
              <a:lnSpc>
                <a:spcPct val="90000"/>
              </a:lnSpc>
              <a:spcBef>
                <a:spcPts val="400"/>
              </a:spcBef>
              <a:spcAft>
                <a:spcPts val="0"/>
              </a:spcAft>
              <a:buClr>
                <a:srgbClr val="888888"/>
              </a:buClr>
              <a:buSzPts val="1500"/>
              <a:buFont typeface="Arial"/>
              <a:buNone/>
              <a:defRPr b="0" i="0" sz="1500" u="none" cap="none" strike="noStrike">
                <a:solidFill>
                  <a:srgbClr val="888888"/>
                </a:solidFill>
                <a:latin typeface="Calibri"/>
                <a:ea typeface="Calibri"/>
                <a:cs typeface="Calibri"/>
                <a:sym typeface="Calibri"/>
              </a:defRPr>
            </a:lvl2pPr>
            <a:lvl3pPr indent="-228600" lvl="2" marL="1371600" marR="0" algn="l">
              <a:lnSpc>
                <a:spcPct val="90000"/>
              </a:lnSpc>
              <a:spcBef>
                <a:spcPts val="40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3pPr>
            <a:lvl4pPr indent="-228600" lvl="3" marL="18288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4pPr>
            <a:lvl5pPr indent="-228600" lvl="4" marL="22860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5pPr>
            <a:lvl6pPr indent="-228600" lvl="5" marL="27432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6pPr>
            <a:lvl7pPr indent="-228600" lvl="6" marL="32004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7pPr>
            <a:lvl8pPr indent="-228600" lvl="7" marL="36576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8pPr>
            <a:lvl9pPr indent="-228600" lvl="8" marL="4114800" marR="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Calibri"/>
                <a:ea typeface="Calibri"/>
                <a:cs typeface="Calibri"/>
                <a:sym typeface="Calibri"/>
              </a:defRPr>
            </a:lvl9pPr>
          </a:lstStyle>
          <a:p/>
        </p:txBody>
      </p:sp>
      <p:sp>
        <p:nvSpPr>
          <p:cNvPr id="26" name="Google Shape;26;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27" name="Google Shape;27;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28" name="Google Shape;28;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2" name="Google Shape;32;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3" name="Google Shape;33;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34" name="Google Shape;34;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35" name="Google Shape;35;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p6"/>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algn="l">
              <a:lnSpc>
                <a:spcPct val="90000"/>
              </a:lnSpc>
              <a:spcBef>
                <a:spcPts val="400"/>
              </a:spcBef>
              <a:spcAft>
                <a:spcPts val="0"/>
              </a:spcAft>
              <a:buClr>
                <a:schemeClr val="dk1"/>
              </a:buClr>
              <a:buSzPts val="1400"/>
              <a:buFont typeface="Arial"/>
              <a:buNone/>
              <a:defRPr b="1" i="0" sz="1400" u="none" cap="none" strike="noStrike">
                <a:solidFill>
                  <a:schemeClr val="dk1"/>
                </a:solidFill>
                <a:latin typeface="Calibri"/>
                <a:ea typeface="Calibri"/>
                <a:cs typeface="Calibri"/>
                <a:sym typeface="Calibri"/>
              </a:defRPr>
            </a:lvl3pPr>
            <a:lvl4pPr indent="-228600" lvl="3" marL="18288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39" name="Google Shape;39;p6"/>
          <p:cNvSpPr txBox="1"/>
          <p:nvPr>
            <p:ph idx="2" type="body"/>
          </p:nvPr>
        </p:nvSpPr>
        <p:spPr>
          <a:xfrm>
            <a:off x="629841" y="1878806"/>
            <a:ext cx="3868500" cy="27633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0" name="Google Shape;40;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1pPr>
            <a:lvl2pPr indent="-228600" lvl="1" marL="914400" marR="0" algn="l">
              <a:lnSpc>
                <a:spcPct val="90000"/>
              </a:lnSpc>
              <a:spcBef>
                <a:spcPts val="400"/>
              </a:spcBef>
              <a:spcAft>
                <a:spcPts val="0"/>
              </a:spcAft>
              <a:buClr>
                <a:schemeClr val="dk1"/>
              </a:buClr>
              <a:buSzPts val="1500"/>
              <a:buFont typeface="Arial"/>
              <a:buNone/>
              <a:defRPr b="1" i="0" sz="1500" u="none" cap="none" strike="noStrike">
                <a:solidFill>
                  <a:schemeClr val="dk1"/>
                </a:solidFill>
                <a:latin typeface="Calibri"/>
                <a:ea typeface="Calibri"/>
                <a:cs typeface="Calibri"/>
                <a:sym typeface="Calibri"/>
              </a:defRPr>
            </a:lvl2pPr>
            <a:lvl3pPr indent="-228600" lvl="2" marL="1371600" marR="0" algn="l">
              <a:lnSpc>
                <a:spcPct val="90000"/>
              </a:lnSpc>
              <a:spcBef>
                <a:spcPts val="400"/>
              </a:spcBef>
              <a:spcAft>
                <a:spcPts val="0"/>
              </a:spcAft>
              <a:buClr>
                <a:schemeClr val="dk1"/>
              </a:buClr>
              <a:buSzPts val="1400"/>
              <a:buFont typeface="Arial"/>
              <a:buNone/>
              <a:defRPr b="1" i="0" sz="1400" u="none" cap="none" strike="noStrike">
                <a:solidFill>
                  <a:schemeClr val="dk1"/>
                </a:solidFill>
                <a:latin typeface="Calibri"/>
                <a:ea typeface="Calibri"/>
                <a:cs typeface="Calibri"/>
                <a:sym typeface="Calibri"/>
              </a:defRPr>
            </a:lvl3pPr>
            <a:lvl4pPr indent="-228600" lvl="3" marL="18288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4pPr>
            <a:lvl5pPr indent="-228600" lvl="4" marL="22860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5pPr>
            <a:lvl6pPr indent="-228600" lvl="5" marL="27432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6pPr>
            <a:lvl7pPr indent="-228600" lvl="6" marL="32004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7pPr>
            <a:lvl8pPr indent="-228600" lvl="7" marL="36576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8pPr>
            <a:lvl9pPr indent="-228600" lvl="8" marL="4114800" marR="0" algn="l">
              <a:lnSpc>
                <a:spcPct val="90000"/>
              </a:lnSpc>
              <a:spcBef>
                <a:spcPts val="400"/>
              </a:spcBef>
              <a:spcAft>
                <a:spcPts val="0"/>
              </a:spcAft>
              <a:buClr>
                <a:schemeClr val="dk1"/>
              </a:buClr>
              <a:buSzPts val="1200"/>
              <a:buFont typeface="Arial"/>
              <a:buNone/>
              <a:defRPr b="1" i="0" sz="1200" u="none" cap="none" strike="noStrike">
                <a:solidFill>
                  <a:schemeClr val="dk1"/>
                </a:solidFill>
                <a:latin typeface="Calibri"/>
                <a:ea typeface="Calibri"/>
                <a:cs typeface="Calibri"/>
                <a:sym typeface="Calibri"/>
              </a:defRPr>
            </a:lvl9pPr>
          </a:lstStyle>
          <a:p/>
        </p:txBody>
      </p:sp>
      <p:sp>
        <p:nvSpPr>
          <p:cNvPr id="41" name="Google Shape;41;p6"/>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2" name="Google Shape;42;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43" name="Google Shape;43;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44" name="Google Shape;44;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7" name="Google Shape;47;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48" name="Google Shape;48;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49" name="Google Shape;49;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Autofit/>
          </a:bodyPr>
          <a:lstStyle>
            <a:lvl1pPr lvl="0" marR="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Autofit/>
          </a:bodyPr>
          <a:lstStyle>
            <a:lvl1pPr indent="-381000" lvl="0" marL="457200" marR="0" algn="l">
              <a:lnSpc>
                <a:spcPct val="90000"/>
              </a:lnSpc>
              <a:spcBef>
                <a:spcPts val="8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algn="l">
              <a:lnSpc>
                <a:spcPct val="9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7" name="Google Shape;57;p9"/>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58" name="Google Shape;58;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9" name="Google Shape;59;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0" name="Google Shape;6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Autofit/>
          </a:bodyPr>
          <a:lstStyle>
            <a:lvl1pPr lvl="0" marR="0" algn="l">
              <a:lnSpc>
                <a:spcPct val="9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3" name="Google Shape;63;p10"/>
          <p:cNvSpPr/>
          <p:nvPr>
            <p:ph idx="2" type="pic"/>
          </p:nvPr>
        </p:nvSpPr>
        <p:spPr>
          <a:xfrm>
            <a:off x="3887391" y="740569"/>
            <a:ext cx="4629300" cy="3655200"/>
          </a:xfrm>
          <a:prstGeom prst="rect">
            <a:avLst/>
          </a:prstGeom>
          <a:noFill/>
          <a:ln>
            <a:noFill/>
          </a:ln>
        </p:spPr>
      </p:sp>
      <p:sp>
        <p:nvSpPr>
          <p:cNvPr id="64" name="Google Shape;64;p1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1pPr>
            <a:lvl2pPr indent="-228600" lvl="1" marL="914400" marR="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65" name="Google Shape;65;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6" name="Google Shape;66;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7" name="Google Shape;67;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0" name="Google Shape;70;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71" name="Google Shape;71;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72" name="Google Shape;72;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73" name="Google Shape;73;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6" name="Google Shape;76;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77" name="Google Shape;77;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hyperlink" Target="https://docs.google.com/presentation/d/1WzUovUIrc71I9rL96qaqxZcgQzjhOwFmUuKDug1W-Fw/edit?usp=sharing" TargetMode="External"/><Relationship Id="rId22" Type="http://schemas.openxmlformats.org/officeDocument/2006/relationships/hyperlink" Target="https://docs.google.com/presentation/d/1cKXajKvEMCip6WXlFlM9awp0-tn4gOuhlx2x68OJpsw/edit?usp=sharing" TargetMode="External"/><Relationship Id="rId21" Type="http://schemas.openxmlformats.org/officeDocument/2006/relationships/hyperlink" Target="https://docs.google.com/presentation/d/1cKXajKvEMCip6WXlFlM9awp0-tn4gOuhlx2x68OJpsw/edit?usp=sharing" TargetMode="External"/><Relationship Id="rId24" Type="http://schemas.openxmlformats.org/officeDocument/2006/relationships/hyperlink" Target="https://cmu.ca1.qualtrics.com/jfe/form/SV_2b4lFo6rbmqaDjw" TargetMode="External"/><Relationship Id="rId23" Type="http://schemas.openxmlformats.org/officeDocument/2006/relationships/hyperlink" Target="https://docs.google.com/presentation/d/1cKXajKvEMCip6WXlFlM9awp0-tn4gOuhlx2x68OJpsw/edit?usp=sharing"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52sP4G5iYfxsB4p0_lWPxh8aUAqWcgzOfX4LCgsHH0s/edit?usp=sharing" TargetMode="External"/><Relationship Id="rId4" Type="http://schemas.openxmlformats.org/officeDocument/2006/relationships/hyperlink" Target="https://docs.google.com/presentation/d/1e7jvSE5g-e7hGBYTQqV-MqNW9Nw_RPDyK0p162Z3eZE/edit?usp=sharing" TargetMode="External"/><Relationship Id="rId9" Type="http://schemas.openxmlformats.org/officeDocument/2006/relationships/hyperlink" Target="https://docs.google.com/presentation/u/0/d/1WzUovUIrc71I9rL96qaqxZcgQzjhOwFmUuKDug1W-Fw/edit" TargetMode="External"/><Relationship Id="rId26" Type="http://schemas.openxmlformats.org/officeDocument/2006/relationships/hyperlink" Target="https://docs.google.com/forms/d/e/1FAIpQLSfSAsSrzip5eXDhGZcT4YmBdQ0-j4ktrI05iF3kMPTSFeGB2A/viewform?usp=sf_link" TargetMode="External"/><Relationship Id="rId25" Type="http://schemas.openxmlformats.org/officeDocument/2006/relationships/hyperlink" Target="https://cmu.ca1.qualtrics.com/jfe/form/SV_6JTrwwSw2RR3iMC" TargetMode="External"/><Relationship Id="rId28" Type="http://schemas.openxmlformats.org/officeDocument/2006/relationships/image" Target="../media/image2.jpg"/><Relationship Id="rId27" Type="http://schemas.openxmlformats.org/officeDocument/2006/relationships/image" Target="../media/image3.png"/><Relationship Id="rId5" Type="http://schemas.openxmlformats.org/officeDocument/2006/relationships/hyperlink" Target="https://docs.google.com/document/d/1oU8unPNj_HhxFmpKnLwEnYp1j5tGGal1pR5Tp3M0zDY/edit?usp=sharing" TargetMode="External"/><Relationship Id="rId6" Type="http://schemas.openxmlformats.org/officeDocument/2006/relationships/hyperlink" Target="https://docs.google.com/presentation/u/0/d/1WzUovUIrc71I9rL96qaqxZcgQzjhOwFmUuKDug1W-Fw/edit" TargetMode="External"/><Relationship Id="rId29" Type="http://schemas.openxmlformats.org/officeDocument/2006/relationships/image" Target="../media/image5.png"/><Relationship Id="rId7" Type="http://schemas.openxmlformats.org/officeDocument/2006/relationships/hyperlink" Target="https://docs.google.com/presentation/d/1muunO_q8SYma6-hIzUmmyOSEJjr1nZFHKnSXP0ggxWk/edit?usp=sharing" TargetMode="External"/><Relationship Id="rId8" Type="http://schemas.openxmlformats.org/officeDocument/2006/relationships/hyperlink" Target="https://docs.google.com/document/d/1lX4y7ftchHPeOh9ZBRzLFYHpIDc25mE29ndH5yAP-BA/edit?usp=sharing" TargetMode="External"/><Relationship Id="rId31" Type="http://schemas.openxmlformats.org/officeDocument/2006/relationships/hyperlink" Target="https://creativecommons.org/licenses/by-nc-sa/4.0/" TargetMode="External"/><Relationship Id="rId30" Type="http://schemas.openxmlformats.org/officeDocument/2006/relationships/image" Target="../media/image4.gif"/><Relationship Id="rId11" Type="http://schemas.openxmlformats.org/officeDocument/2006/relationships/hyperlink" Target="https://np1.nearpod.com/sharePresentation.php?code=bd9ab517809deb159d7c97ad7ea90ab8-1" TargetMode="External"/><Relationship Id="rId10" Type="http://schemas.openxmlformats.org/officeDocument/2006/relationships/hyperlink" Target="https://docs.google.com/presentation/d/167Mys6dnZOJu7JezBJhmRszchtcJB_UbpA3RuXfQ4Xw/edit?usp=sharing" TargetMode="External"/><Relationship Id="rId32" Type="http://schemas.openxmlformats.org/officeDocument/2006/relationships/image" Target="../media/image1.png"/><Relationship Id="rId13" Type="http://schemas.openxmlformats.org/officeDocument/2006/relationships/hyperlink" Target="https://docs.google.com/presentation/u/0/d/1WzUovUIrc71I9rL96qaqxZcgQzjhOwFmUuKDug1W-Fw/edit" TargetMode="External"/><Relationship Id="rId12" Type="http://schemas.openxmlformats.org/officeDocument/2006/relationships/hyperlink" Target="https://docs.google.com/document/d/1rNe9P45kJsDHgzb0cqA2NEZ53pSv-hl19onRyTkaErg/edit?usp=sharing" TargetMode="External"/><Relationship Id="rId15" Type="http://schemas.openxmlformats.org/officeDocument/2006/relationships/hyperlink" Target="https://docs.google.com/document/d/1rNe9P45kJsDHgzb0cqA2NEZ53pSv-hl19onRyTkaErg/edit?usp=sharing" TargetMode="External"/><Relationship Id="rId14" Type="http://schemas.openxmlformats.org/officeDocument/2006/relationships/hyperlink" Target="https://docs.google.com/presentation/d/167Mys6dnZOJu7JezBJhmRszchtcJB_UbpA3RuXfQ4Xw/edit?usp=sharing" TargetMode="External"/><Relationship Id="rId17" Type="http://schemas.openxmlformats.org/officeDocument/2006/relationships/hyperlink" Target="https://dashboard.blooket.com/set/635af14c2344521748bfa57f" TargetMode="External"/><Relationship Id="rId16" Type="http://schemas.openxmlformats.org/officeDocument/2006/relationships/hyperlink" Target="https://dashboard.blooket.com/set/635af14c2344521748bfa57f" TargetMode="External"/><Relationship Id="rId19" Type="http://schemas.openxmlformats.org/officeDocument/2006/relationships/hyperlink" Target="https://docs.google.com/presentation/d/1WzUovUIrc71I9rL96qaqxZcgQzjhOwFmUuKDug1W-Fw/edit?usp=sharing" TargetMode="External"/><Relationship Id="rId18" Type="http://schemas.openxmlformats.org/officeDocument/2006/relationships/hyperlink" Target="https://docs.google.com/presentation/d/1WzUovUIrc71I9rL96qaqxZcgQzjhOwFmUuKDug1W-Fw/edit?usp=sharing" TargetMode="External"/></Relationships>
</file>

<file path=ppt/slides/_rels/slide2.xml.rels><?xml version="1.0" encoding="UTF-8" standalone="yes"?><Relationships xmlns="http://schemas.openxmlformats.org/package/2006/relationships"><Relationship Id="rId20" Type="http://schemas.openxmlformats.org/officeDocument/2006/relationships/hyperlink" Target="https://docs.google.com/presentation/d/1WzUovUIrc71I9rL96qaqxZcgQzjhOwFmUuKDug1W-Fw/edit?usp=sharing" TargetMode="External"/><Relationship Id="rId22" Type="http://schemas.openxmlformats.org/officeDocument/2006/relationships/hyperlink" Target="https://docs.google.com/presentation/d/1WzUovUIrc71I9rL96qaqxZcgQzjhOwFmUuKDug1W-Fw/edit?usp=sharing" TargetMode="External"/><Relationship Id="rId21" Type="http://schemas.openxmlformats.org/officeDocument/2006/relationships/hyperlink" Target="https://docs.google.com/presentation/d/1WzUovUIrc71I9rL96qaqxZcgQzjhOwFmUuKDug1W-Fw/edit?usp=sharing" TargetMode="External"/><Relationship Id="rId24" Type="http://schemas.openxmlformats.org/officeDocument/2006/relationships/hyperlink" Target="https://docs.google.com/presentation/d/1XHS1I9VI_uuYMLFm36NmVIJ94UPWJ4aYcTV5HGigp78/edit?usp=sharing" TargetMode="External"/><Relationship Id="rId23" Type="http://schemas.openxmlformats.org/officeDocument/2006/relationships/hyperlink" Target="https://docs.google.com/presentation/d/1cKXajKvEMCip6WXlFlM9awp0-tn4gOuhlx2x68OJpsw/edit?usp=sharing" TargetMode="External"/><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presentation/d/1riX1NQwUvClvLzwjZH-TMdSsMimU5CABmQga31URSo4/edit?usp=sharing" TargetMode="External"/><Relationship Id="rId4" Type="http://schemas.openxmlformats.org/officeDocument/2006/relationships/hyperlink" Target="https://docs.google.com/presentation/d/1WzUovUIrc71I9rL96qaqxZcgQzjhOwFmUuKDug1W-Fw/edit?usp=sharing" TargetMode="External"/><Relationship Id="rId9" Type="http://schemas.openxmlformats.org/officeDocument/2006/relationships/hyperlink" Target="https://www.cs.cmu.edu/~dst/FaceDemo/resources/experiments.html" TargetMode="External"/><Relationship Id="rId26" Type="http://schemas.openxmlformats.org/officeDocument/2006/relationships/hyperlink" Target="https://docs.google.com/presentation/d/1WzUovUIrc71I9rL96qaqxZcgQzjhOwFmUuKDug1W-Fw/edit?usp=sharing" TargetMode="External"/><Relationship Id="rId25" Type="http://schemas.openxmlformats.org/officeDocument/2006/relationships/hyperlink" Target="https://docs.google.com/presentation/d/1WzUovUIrc71I9rL96qaqxZcgQzjhOwFmUuKDug1W-Fw/edit?usp=sharing" TargetMode="External"/><Relationship Id="rId28" Type="http://schemas.openxmlformats.org/officeDocument/2006/relationships/hyperlink" Target="https://docs.google.com/forms/d/e/1FAIpQLSfSAsSrzip5eXDhGZcT4YmBdQ0-j4ktrI05iF3kMPTSFeGB2A/viewform?usp=sf_link" TargetMode="External"/><Relationship Id="rId27" Type="http://schemas.openxmlformats.org/officeDocument/2006/relationships/hyperlink" Target="https://docs.google.com/forms/d/e/1FAIpQLSef1sshgDoui5r3zYqm40ZrxRpbd2UHNSwl4bd9f-sF0521pQ/viewform" TargetMode="External"/><Relationship Id="rId5" Type="http://schemas.openxmlformats.org/officeDocument/2006/relationships/hyperlink" Target="https://www.cs.cmu.edu/~dst/FaceDemo/index.html" TargetMode="External"/><Relationship Id="rId6" Type="http://schemas.openxmlformats.org/officeDocument/2006/relationships/hyperlink" Target="https://www.cs.cmu.edu/~dst/FaceDemo/index.html" TargetMode="External"/><Relationship Id="rId29" Type="http://schemas.openxmlformats.org/officeDocument/2006/relationships/image" Target="../media/image3.png"/><Relationship Id="rId7" Type="http://schemas.openxmlformats.org/officeDocument/2006/relationships/hyperlink" Target="https://www.cs.cmu.edu/~dst/FaceDemo/resources/test-patterns.pdf" TargetMode="External"/><Relationship Id="rId8" Type="http://schemas.openxmlformats.org/officeDocument/2006/relationships/hyperlink" Target="https://www.cs.cmu.edu/~dst/FaceDemo/resources/test-patterns.pdf" TargetMode="External"/><Relationship Id="rId30" Type="http://schemas.openxmlformats.org/officeDocument/2006/relationships/image" Target="../media/image2.jpg"/><Relationship Id="rId11" Type="http://schemas.openxmlformats.org/officeDocument/2006/relationships/hyperlink" Target="https://docs.google.com/presentation/d/1riX1NQwUvClvLzwjZH-TMdSsMimU5CABmQga31URSo4/edit?usp=sharing" TargetMode="External"/><Relationship Id="rId10" Type="http://schemas.openxmlformats.org/officeDocument/2006/relationships/hyperlink" Target="https://docs.google.com/presentation/d/1riX1NQwUvClvLzwjZH-TMdSsMimU5CABmQga31URSo4/edit?usp=sharing" TargetMode="External"/><Relationship Id="rId13" Type="http://schemas.openxmlformats.org/officeDocument/2006/relationships/hyperlink" Target="https://docs.google.com/presentation/d/1S474tRZIzDDkjk4Z6tip52v5A28OKAEzr3Ri-vCzrdc/edit?usp=sharing" TargetMode="External"/><Relationship Id="rId12" Type="http://schemas.openxmlformats.org/officeDocument/2006/relationships/hyperlink" Target="https://lab.scratch.mit.edu/face/" TargetMode="External"/><Relationship Id="rId15" Type="http://schemas.openxmlformats.org/officeDocument/2006/relationships/hyperlink" Target="https://docs.google.com/presentation/d/1WzUovUIrc71I9rL96qaqxZcgQzjhOwFmUuKDug1W-Fw/edit?usp=sharing" TargetMode="External"/><Relationship Id="rId14" Type="http://schemas.openxmlformats.org/officeDocument/2006/relationships/hyperlink" Target="https://docs.google.com/document/d/1XyLlztqRiaciMR-Ml_a4ApxV018Va9SRG-EoHPJZgAw/edit?usp=sharing" TargetMode="External"/><Relationship Id="rId17" Type="http://schemas.openxmlformats.org/officeDocument/2006/relationships/hyperlink" Target="https://docs.google.com/presentation/d/1XHS1I9VI_uuYMLFm36NmVIJ94UPWJ4aYcTV5HGigp78/edit?usp=sharing" TargetMode="External"/><Relationship Id="rId16" Type="http://schemas.openxmlformats.org/officeDocument/2006/relationships/hyperlink" Target="https://docs.google.com/presentation/d/1WzUovUIrc71I9rL96qaqxZcgQzjhOwFmUuKDug1W-Fw/edit?usp=sharing" TargetMode="External"/><Relationship Id="rId19" Type="http://schemas.openxmlformats.org/officeDocument/2006/relationships/hyperlink" Target="https://docs.google.com/presentation/d/1SAPqF6jGMS81hHJLd-qJOXKqYr_71XlMENndIaSz5CA/edit?usp=sharing" TargetMode="External"/><Relationship Id="rId18" Type="http://schemas.openxmlformats.org/officeDocument/2006/relationships/hyperlink" Target="https://np1.nearpod.com/sharePresentation.php?code=85f47d4f5d32a8cdf52b5ea5840b6563-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FFE"/>
        </a:solidFill>
      </p:bgPr>
    </p:bg>
    <p:spTree>
      <p:nvGrpSpPr>
        <p:cNvPr id="83" name="Shape 83"/>
        <p:cNvGrpSpPr/>
        <p:nvPr/>
      </p:nvGrpSpPr>
      <p:grpSpPr>
        <a:xfrm>
          <a:off x="0" y="0"/>
          <a:ext cx="0" cy="0"/>
          <a:chOff x="0" y="0"/>
          <a:chExt cx="0" cy="0"/>
        </a:xfrm>
      </p:grpSpPr>
      <p:sp>
        <p:nvSpPr>
          <p:cNvPr id="84" name="Google Shape;84;p13"/>
          <p:cNvSpPr txBox="1"/>
          <p:nvPr>
            <p:ph type="title"/>
          </p:nvPr>
        </p:nvSpPr>
        <p:spPr>
          <a:xfrm>
            <a:off x="628650" y="50627"/>
            <a:ext cx="7886700" cy="6069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2200"/>
              <a:buFont typeface="Arial Black"/>
              <a:buNone/>
            </a:pPr>
            <a:r>
              <a:rPr b="1" lang="en" sz="2100">
                <a:solidFill>
                  <a:srgbClr val="186D7F"/>
                </a:solidFill>
                <a:latin typeface="Arial Black"/>
                <a:ea typeface="Arial Black"/>
                <a:cs typeface="Arial Black"/>
                <a:sym typeface="Arial Black"/>
              </a:rPr>
              <a:t>Artificial Intelligence for GA</a:t>
            </a:r>
            <a:endParaRPr b="1" sz="2100">
              <a:solidFill>
                <a:srgbClr val="186D7F"/>
              </a:solidFill>
              <a:latin typeface="Arial Black"/>
              <a:ea typeface="Arial Black"/>
              <a:cs typeface="Arial Black"/>
              <a:sym typeface="Arial Black"/>
            </a:endParaRPr>
          </a:p>
          <a:p>
            <a:pPr indent="0" lvl="0" marL="0" marR="0" rtl="0" algn="ctr">
              <a:lnSpc>
                <a:spcPct val="90000"/>
              </a:lnSpc>
              <a:spcBef>
                <a:spcPts val="0"/>
              </a:spcBef>
              <a:spcAft>
                <a:spcPts val="0"/>
              </a:spcAft>
              <a:buClr>
                <a:schemeClr val="dk1"/>
              </a:buClr>
              <a:buSzPts val="2200"/>
              <a:buFont typeface="Arial Black"/>
              <a:buNone/>
            </a:pPr>
            <a:r>
              <a:rPr b="1" lang="en" sz="1500">
                <a:solidFill>
                  <a:srgbClr val="186D7F"/>
                </a:solidFill>
              </a:rPr>
              <a:t>Unit 1 - Autonomous Robots &amp; Self-Driving Vehicles</a:t>
            </a:r>
            <a:br>
              <a:rPr b="0" i="0" lang="en" sz="2100" u="none" cap="none" strike="noStrike">
                <a:solidFill>
                  <a:srgbClr val="186D7F"/>
                </a:solidFill>
                <a:latin typeface="Calibri"/>
                <a:ea typeface="Calibri"/>
                <a:cs typeface="Calibri"/>
                <a:sym typeface="Calibri"/>
              </a:rPr>
            </a:br>
            <a:endParaRPr b="1" i="1" sz="1700" u="none" cap="none" strike="noStrike">
              <a:solidFill>
                <a:srgbClr val="186D7F"/>
              </a:solidFill>
              <a:latin typeface="Calibri"/>
              <a:ea typeface="Calibri"/>
              <a:cs typeface="Calibri"/>
              <a:sym typeface="Calibri"/>
            </a:endParaRPr>
          </a:p>
        </p:txBody>
      </p:sp>
      <p:graphicFrame>
        <p:nvGraphicFramePr>
          <p:cNvPr id="85" name="Google Shape;85;p13"/>
          <p:cNvGraphicFramePr/>
          <p:nvPr/>
        </p:nvGraphicFramePr>
        <p:xfrm>
          <a:off x="281763" y="509417"/>
          <a:ext cx="3000000" cy="3000000"/>
        </p:xfrm>
        <a:graphic>
          <a:graphicData uri="http://schemas.openxmlformats.org/drawingml/2006/table">
            <a:tbl>
              <a:tblPr bandRow="1" firstRow="1">
                <a:noFill/>
                <a:tableStyleId>{B67E3EB5-C6E0-4346-8C17-3B202921B435}</a:tableStyleId>
              </a:tblPr>
              <a:tblGrid>
                <a:gridCol w="2867400"/>
                <a:gridCol w="2736375"/>
                <a:gridCol w="2804750"/>
              </a:tblGrid>
              <a:tr h="4124650">
                <a:tc>
                  <a:txBody>
                    <a:bodyPr/>
                    <a:lstStyle/>
                    <a:p>
                      <a:pPr indent="0" lvl="0" marL="0" marR="0" rtl="0" algn="l">
                        <a:lnSpc>
                          <a:spcPct val="100000"/>
                        </a:lnSpc>
                        <a:spcBef>
                          <a:spcPts val="0"/>
                        </a:spcBef>
                        <a:spcAft>
                          <a:spcPts val="0"/>
                        </a:spcAft>
                        <a:buClr>
                          <a:schemeClr val="dk1"/>
                        </a:buClr>
                        <a:buSzPts val="1200"/>
                        <a:buFont typeface="Calibri"/>
                        <a:buNone/>
                      </a:pPr>
                      <a:r>
                        <a:rPr lang="en" sz="900" u="none" cap="none" strike="noStrike">
                          <a:solidFill>
                            <a:srgbClr val="186D7F"/>
                          </a:solidFill>
                        </a:rPr>
                        <a:t>Dai</a:t>
                      </a:r>
                      <a:r>
                        <a:rPr lang="en" sz="900" u="none" cap="none" strike="noStrike">
                          <a:solidFill>
                            <a:srgbClr val="186D7F"/>
                          </a:solidFill>
                          <a:latin typeface="Arial"/>
                          <a:ea typeface="Arial"/>
                          <a:cs typeface="Arial"/>
                          <a:sym typeface="Arial"/>
                        </a:rPr>
                        <a:t>ly Assignments:</a:t>
                      </a:r>
                      <a:endParaRPr sz="900" u="none" cap="none" strike="noStrike">
                        <a:solidFill>
                          <a:srgbClr val="186D7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sz="900" u="none" cap="none" strike="noStrike">
                        <a:solidFill>
                          <a:srgbClr val="186D7F"/>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t/>
                      </a:r>
                      <a:endParaRPr sz="900" u="none" cap="none" strike="noStrike">
                        <a:solidFill>
                          <a:srgbClr val="186D7F"/>
                        </a:solidFill>
                        <a:latin typeface="Arial"/>
                        <a:ea typeface="Arial"/>
                        <a:cs typeface="Arial"/>
                        <a:sym typeface="Arial"/>
                      </a:endParaRPr>
                    </a:p>
                    <a:p>
                      <a:pPr indent="0" lvl="0" marL="0" rtl="0" algn="l">
                        <a:lnSpc>
                          <a:spcPct val="115000"/>
                        </a:lnSpc>
                        <a:spcBef>
                          <a:spcPts val="0"/>
                        </a:spcBef>
                        <a:spcAft>
                          <a:spcPts val="0"/>
                        </a:spcAft>
                        <a:buClr>
                          <a:schemeClr val="dk1"/>
                        </a:buClr>
                        <a:buSzPts val="1000"/>
                        <a:buFont typeface="Arial"/>
                        <a:buNone/>
                      </a:pPr>
                      <a:r>
                        <a:t/>
                      </a:r>
                      <a:endParaRPr sz="900">
                        <a:solidFill>
                          <a:srgbClr val="186D7F"/>
                        </a:solidFill>
                        <a:latin typeface="Arial"/>
                        <a:ea typeface="Arial"/>
                        <a:cs typeface="Arial"/>
                        <a:sym typeface="Arial"/>
                      </a:endParaRPr>
                    </a:p>
                    <a:p>
                      <a:pPr indent="-285750" lvl="0" marL="4572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Module 1.1 - Living and Working with AI</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3">
                            <a:extLst>
                              <a:ext uri="{A12FA001-AC4F-418D-AE19-62706E023703}">
                                <ahyp:hlinkClr val="tx"/>
                              </a:ext>
                            </a:extLst>
                          </a:hlinkClick>
                        </a:rPr>
                        <a:t>Slides </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Nearpod Link</a:t>
                      </a:r>
                      <a:endParaRPr b="0" sz="900">
                        <a:solidFill>
                          <a:srgbClr val="186D7F"/>
                        </a:solidFill>
                        <a:latin typeface="Arial"/>
                        <a:ea typeface="Arial"/>
                        <a:cs typeface="Arial"/>
                        <a:sym typeface="Arial"/>
                      </a:endParaRPr>
                    </a:p>
                    <a:p>
                      <a:pPr indent="-285750" lvl="0" marL="4572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Module 1.2 (A) - Robot or not </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4">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Pear Deck</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Module activity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5">
                            <a:extLst>
                              <a:ext uri="{A12FA001-AC4F-418D-AE19-62706E023703}">
                                <ahyp:hlinkClr val="tx"/>
                              </a:ext>
                            </a:extLst>
                          </a:hlinkClick>
                        </a:rPr>
                        <a:t>Autonomous Robots Activity 1 </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6">
                            <a:extLst>
                              <a:ext uri="{A12FA001-AC4F-418D-AE19-62706E023703}">
                                <ahyp:hlinkClr val="tx"/>
                              </a:ext>
                            </a:extLst>
                          </a:hlinkClick>
                        </a:rPr>
                        <a:t>Dream Bot - Ticket Out the Door (Slide 2)</a:t>
                      </a:r>
                      <a:endParaRPr sz="900">
                        <a:solidFill>
                          <a:srgbClr val="279AB2"/>
                        </a:solidFill>
                        <a:latin typeface="Arial"/>
                        <a:ea typeface="Arial"/>
                        <a:cs typeface="Arial"/>
                        <a:sym typeface="Arial"/>
                      </a:endParaRPr>
                    </a:p>
                    <a:p>
                      <a:pPr indent="-285750" lvl="0" marL="4572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Module 1.2(B) Autonomous Robots</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7">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Module activity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8">
                            <a:extLst>
                              <a:ext uri="{A12FA001-AC4F-418D-AE19-62706E023703}">
                                <ahyp:hlinkClr val="tx"/>
                              </a:ext>
                            </a:extLst>
                          </a:hlinkClick>
                        </a:rPr>
                        <a:t>Autonomous Robots Activity 2 </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9">
                            <a:extLst>
                              <a:ext uri="{A12FA001-AC4F-418D-AE19-62706E023703}">
                                <ahyp:hlinkClr val="tx"/>
                              </a:ext>
                            </a:extLst>
                          </a:hlinkClick>
                        </a:rPr>
                        <a:t>Dream Bot - Ticket Out the Door (Slide 3)</a:t>
                      </a:r>
                      <a:endParaRPr sz="900">
                        <a:solidFill>
                          <a:srgbClr val="279AB2"/>
                        </a:solidFill>
                        <a:latin typeface="Arial"/>
                        <a:ea typeface="Arial"/>
                        <a:cs typeface="Arial"/>
                        <a:sym typeface="Arial"/>
                      </a:endParaRPr>
                    </a:p>
                    <a:p>
                      <a:pPr indent="0" lvl="0" marL="0" marR="0" rtl="0" algn="l">
                        <a:lnSpc>
                          <a:spcPct val="200000"/>
                        </a:lnSpc>
                        <a:spcBef>
                          <a:spcPts val="1000"/>
                        </a:spcBef>
                        <a:spcAft>
                          <a:spcPts val="0"/>
                        </a:spcAft>
                        <a:buClr>
                          <a:schemeClr val="dk1"/>
                        </a:buClr>
                        <a:buSzPts val="1100"/>
                        <a:buFont typeface="Arial"/>
                        <a:buNone/>
                      </a:pPr>
                      <a:r>
                        <a:t/>
                      </a:r>
                      <a:endParaRPr sz="900" u="none" cap="none" strike="noStrike">
                        <a:solidFill>
                          <a:srgbClr val="186D7F"/>
                        </a:solidFill>
                      </a:endParaRPr>
                    </a:p>
                  </a:txBody>
                  <a:tcPr marT="34300" marB="34300" marR="68600" marL="686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F4F3"/>
                    </a:solidFill>
                  </a:tcPr>
                </a:tc>
                <a:tc>
                  <a:txBody>
                    <a:bodyPr/>
                    <a:lstStyle/>
                    <a:p>
                      <a:pPr indent="-114300" lvl="0" marL="177800" marR="0" rtl="0" algn="l">
                        <a:lnSpc>
                          <a:spcPct val="100000"/>
                        </a:lnSpc>
                        <a:spcBef>
                          <a:spcPts val="0"/>
                        </a:spcBef>
                        <a:spcAft>
                          <a:spcPts val="0"/>
                        </a:spcAft>
                        <a:buClr>
                          <a:srgbClr val="000000"/>
                        </a:buClr>
                        <a:buSzPts val="900"/>
                        <a:buFont typeface="Arial"/>
                        <a:buNone/>
                      </a:pPr>
                      <a:r>
                        <a:t/>
                      </a:r>
                      <a:endParaRPr b="1" sz="900" u="none" cap="none" strike="noStrike">
                        <a:solidFill>
                          <a:srgbClr val="186D7F"/>
                        </a:solidFill>
                      </a:endParaRPr>
                    </a:p>
                    <a:p>
                      <a:pPr indent="0" lvl="0" marL="0" marR="0" rtl="0" algn="l">
                        <a:lnSpc>
                          <a:spcPct val="100000"/>
                        </a:lnSpc>
                        <a:spcBef>
                          <a:spcPts val="0"/>
                        </a:spcBef>
                        <a:spcAft>
                          <a:spcPts val="0"/>
                        </a:spcAft>
                        <a:buClr>
                          <a:schemeClr val="dk1"/>
                        </a:buClr>
                        <a:buSzPts val="1100"/>
                        <a:buFont typeface="Calibri"/>
                        <a:buNone/>
                      </a:pPr>
                      <a:r>
                        <a:t/>
                      </a:r>
                      <a:endParaRPr sz="900" u="none" cap="none" strike="noStrike">
                        <a:solidFill>
                          <a:srgbClr val="186D7F"/>
                        </a:solidFill>
                      </a:endParaRPr>
                    </a:p>
                    <a:p>
                      <a:pPr indent="0" lvl="0" marL="0" marR="0" rtl="0" algn="l">
                        <a:lnSpc>
                          <a:spcPct val="100000"/>
                        </a:lnSpc>
                        <a:spcBef>
                          <a:spcPts val="0"/>
                        </a:spcBef>
                        <a:spcAft>
                          <a:spcPts val="0"/>
                        </a:spcAft>
                        <a:buClr>
                          <a:schemeClr val="dk1"/>
                        </a:buClr>
                        <a:buSzPts val="1100"/>
                        <a:buFont typeface="Calibri"/>
                        <a:buNone/>
                      </a:pPr>
                      <a:r>
                        <a:t/>
                      </a:r>
                      <a:endParaRPr sz="900" u="none" cap="none" strike="noStrike">
                        <a:solidFill>
                          <a:srgbClr val="186D7F"/>
                        </a:solidFill>
                      </a:endParaRPr>
                    </a:p>
                    <a:p>
                      <a:pPr indent="0" lvl="0" marL="0" marR="0" rtl="0" algn="l">
                        <a:lnSpc>
                          <a:spcPct val="100000"/>
                        </a:lnSpc>
                        <a:spcBef>
                          <a:spcPts val="0"/>
                        </a:spcBef>
                        <a:spcAft>
                          <a:spcPts val="0"/>
                        </a:spcAft>
                        <a:buClr>
                          <a:schemeClr val="dk1"/>
                        </a:buClr>
                        <a:buSzPts val="1100"/>
                        <a:buFont typeface="Calibri"/>
                        <a:buNone/>
                      </a:pPr>
                      <a:r>
                        <a:t/>
                      </a:r>
                      <a:endParaRPr sz="900" u="none" cap="none" strike="noStrike">
                        <a:solidFill>
                          <a:srgbClr val="186D7F"/>
                        </a:solidFill>
                      </a:endParaRPr>
                    </a:p>
                    <a:p>
                      <a:pPr indent="0" lvl="0" marL="0" marR="0" rtl="0" algn="l">
                        <a:lnSpc>
                          <a:spcPct val="100000"/>
                        </a:lnSpc>
                        <a:spcBef>
                          <a:spcPts val="0"/>
                        </a:spcBef>
                        <a:spcAft>
                          <a:spcPts val="0"/>
                        </a:spcAft>
                        <a:buClr>
                          <a:schemeClr val="dk1"/>
                        </a:buClr>
                        <a:buSzPts val="1100"/>
                        <a:buFont typeface="Calibri"/>
                        <a:buNone/>
                      </a:pPr>
                      <a:r>
                        <a:t/>
                      </a:r>
                      <a:endParaRPr sz="900" u="none" cap="none" strike="noStrike">
                        <a:solidFill>
                          <a:srgbClr val="186D7F"/>
                        </a:solidFill>
                      </a:endParaRPr>
                    </a:p>
                    <a:p>
                      <a:pPr indent="0" lvl="0" marL="0" marR="0" rtl="0" algn="l">
                        <a:lnSpc>
                          <a:spcPct val="100000"/>
                        </a:lnSpc>
                        <a:spcBef>
                          <a:spcPts val="0"/>
                        </a:spcBef>
                        <a:spcAft>
                          <a:spcPts val="0"/>
                        </a:spcAft>
                        <a:buClr>
                          <a:schemeClr val="dk1"/>
                        </a:buClr>
                        <a:buSzPts val="1100"/>
                        <a:buFont typeface="Calibri"/>
                        <a:buNone/>
                      </a:pPr>
                      <a:r>
                        <a:t/>
                      </a:r>
                      <a:endParaRPr sz="900" u="none" cap="none" strike="noStrike">
                        <a:solidFill>
                          <a:srgbClr val="186D7F"/>
                        </a:solidFill>
                      </a:endParaRPr>
                    </a:p>
                    <a:p>
                      <a:pPr indent="0" lvl="0" marL="0" marR="0" rtl="0" algn="l">
                        <a:lnSpc>
                          <a:spcPct val="100000"/>
                        </a:lnSpc>
                        <a:spcBef>
                          <a:spcPts val="0"/>
                        </a:spcBef>
                        <a:spcAft>
                          <a:spcPts val="0"/>
                        </a:spcAft>
                        <a:buClr>
                          <a:schemeClr val="dk1"/>
                        </a:buClr>
                        <a:buSzPts val="1100"/>
                        <a:buFont typeface="Calibri"/>
                        <a:buNone/>
                      </a:pPr>
                      <a:r>
                        <a:t/>
                      </a:r>
                      <a:endParaRPr sz="900" u="none" cap="none" strike="noStrike">
                        <a:solidFill>
                          <a:srgbClr val="186D7F"/>
                        </a:solidFill>
                      </a:endParaRPr>
                    </a:p>
                    <a:p>
                      <a:pPr indent="0" lvl="0" marL="0" marR="0" rtl="0" algn="l">
                        <a:lnSpc>
                          <a:spcPct val="115000"/>
                        </a:lnSpc>
                        <a:spcBef>
                          <a:spcPts val="1000"/>
                        </a:spcBef>
                        <a:spcAft>
                          <a:spcPts val="0"/>
                        </a:spcAft>
                        <a:buNone/>
                      </a:pPr>
                      <a:r>
                        <a:rPr b="0" lang="en" sz="900">
                          <a:solidFill>
                            <a:srgbClr val="186D7F"/>
                          </a:solidFill>
                          <a:latin typeface="Arial"/>
                          <a:ea typeface="Arial"/>
                          <a:cs typeface="Arial"/>
                          <a:sym typeface="Arial"/>
                        </a:rPr>
                        <a:t>4. Module 1.3 (A) Anatomy of a Self-Driving Car</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0">
                            <a:extLst>
                              <a:ext uri="{A12FA001-AC4F-418D-AE19-62706E023703}">
                                <ahyp:hlinkClr val="tx"/>
                              </a:ext>
                            </a:extLst>
                          </a:hlinkClick>
                        </a:rPr>
                        <a:t>Slides</a:t>
                      </a:r>
                      <a:r>
                        <a:rPr lang="en" sz="900">
                          <a:solidFill>
                            <a:srgbClr val="279AB2"/>
                          </a:solidFill>
                          <a:latin typeface="Arial"/>
                          <a:ea typeface="Arial"/>
                          <a:cs typeface="Arial"/>
                          <a:sym typeface="Arial"/>
                        </a:rPr>
                        <a:t> </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1">
                            <a:extLst>
                              <a:ext uri="{A12FA001-AC4F-418D-AE19-62706E023703}">
                                <ahyp:hlinkClr val="tx"/>
                              </a:ext>
                            </a:extLst>
                          </a:hlinkClick>
                        </a:rPr>
                        <a:t>Nearpod link</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Font typeface="Arial"/>
                        <a:buChar char="○"/>
                      </a:pPr>
                      <a:r>
                        <a:rPr b="0" lang="en" sz="900">
                          <a:solidFill>
                            <a:srgbClr val="186D7F"/>
                          </a:solidFill>
                          <a:latin typeface="Arial"/>
                          <a:ea typeface="Arial"/>
                          <a:cs typeface="Arial"/>
                          <a:sym typeface="Arial"/>
                        </a:rPr>
                        <a:t>Module activity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2">
                            <a:extLst>
                              <a:ext uri="{A12FA001-AC4F-418D-AE19-62706E023703}">
                                <ahyp:hlinkClr val="tx"/>
                              </a:ext>
                            </a:extLst>
                          </a:hlinkClick>
                        </a:rPr>
                        <a:t>Self-Driving Cars</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3">
                            <a:extLst>
                              <a:ext uri="{A12FA001-AC4F-418D-AE19-62706E023703}">
                                <ahyp:hlinkClr val="tx"/>
                              </a:ext>
                            </a:extLst>
                          </a:hlinkClick>
                        </a:rPr>
                        <a:t>Dream Bot - Ticket Out the Door (Slide 4)</a:t>
                      </a:r>
                      <a:endParaRPr sz="900">
                        <a:solidFill>
                          <a:srgbClr val="279AB2"/>
                        </a:solidFill>
                        <a:latin typeface="Arial"/>
                        <a:ea typeface="Arial"/>
                        <a:cs typeface="Arial"/>
                        <a:sym typeface="Arial"/>
                      </a:endParaRPr>
                    </a:p>
                    <a:p>
                      <a:pPr indent="0" lvl="0" marL="0" rtl="0" algn="l">
                        <a:lnSpc>
                          <a:spcPct val="115000"/>
                        </a:lnSpc>
                        <a:spcBef>
                          <a:spcPts val="0"/>
                        </a:spcBef>
                        <a:spcAft>
                          <a:spcPts val="0"/>
                        </a:spcAft>
                        <a:buNone/>
                      </a:pPr>
                      <a:r>
                        <a:rPr b="0" lang="en" sz="900">
                          <a:solidFill>
                            <a:srgbClr val="186D7F"/>
                          </a:solidFill>
                          <a:latin typeface="Arial"/>
                          <a:ea typeface="Arial"/>
                          <a:cs typeface="Arial"/>
                          <a:sym typeface="Arial"/>
                        </a:rPr>
                        <a:t>5. Module 1.3 (B) Anatomy of a Self-Driving Car</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4">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Font typeface="Arial"/>
                        <a:buChar char="○"/>
                      </a:pPr>
                      <a:r>
                        <a:rPr b="0" lang="en" sz="900">
                          <a:solidFill>
                            <a:srgbClr val="186D7F"/>
                          </a:solidFill>
                          <a:latin typeface="Arial"/>
                          <a:ea typeface="Arial"/>
                          <a:cs typeface="Arial"/>
                          <a:sym typeface="Arial"/>
                        </a:rPr>
                        <a:t>Module Activity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5">
                            <a:extLst>
                              <a:ext uri="{A12FA001-AC4F-418D-AE19-62706E023703}">
                                <ahyp:hlinkClr val="tx"/>
                              </a:ext>
                            </a:extLst>
                          </a:hlinkClick>
                        </a:rPr>
                        <a:t>Self-driving Cars</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a:solidFill>
                            <a:srgbClr val="279AB2"/>
                          </a:solidFill>
                          <a:uFill>
                            <a:noFill/>
                          </a:uFill>
                          <a:latin typeface="Arial"/>
                          <a:ea typeface="Arial"/>
                          <a:cs typeface="Arial"/>
                          <a:sym typeface="Arial"/>
                          <a:hlinkClick r:id="rId16">
                            <a:extLst>
                              <a:ext uri="{A12FA001-AC4F-418D-AE19-62706E023703}">
                                <ahyp:hlinkClr val="tx"/>
                              </a:ext>
                            </a:extLst>
                          </a:hlinkClick>
                        </a:rPr>
                        <a:t> </a:t>
                      </a:r>
                      <a:r>
                        <a:rPr lang="en" sz="900" u="sng">
                          <a:solidFill>
                            <a:srgbClr val="279AB2"/>
                          </a:solidFill>
                          <a:latin typeface="Arial"/>
                          <a:ea typeface="Arial"/>
                          <a:cs typeface="Arial"/>
                          <a:sym typeface="Arial"/>
                          <a:hlinkClick r:id="rId17">
                            <a:extLst>
                              <a:ext uri="{A12FA001-AC4F-418D-AE19-62706E023703}">
                                <ahyp:hlinkClr val="tx"/>
                              </a:ext>
                            </a:extLst>
                          </a:hlinkClick>
                        </a:rPr>
                        <a:t>Blooket - Module 1.3 Review</a:t>
                      </a:r>
                      <a:r>
                        <a:rPr lang="en" sz="900">
                          <a:solidFill>
                            <a:srgbClr val="279AB2"/>
                          </a:solidFill>
                          <a:latin typeface="Arial"/>
                          <a:ea typeface="Arial"/>
                          <a:cs typeface="Arial"/>
                          <a:sym typeface="Arial"/>
                        </a:rPr>
                        <a:t> </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a:solidFill>
                            <a:srgbClr val="279AB2"/>
                          </a:solidFill>
                          <a:uFill>
                            <a:noFill/>
                          </a:uFill>
                          <a:latin typeface="Arial"/>
                          <a:ea typeface="Arial"/>
                          <a:cs typeface="Arial"/>
                          <a:sym typeface="Arial"/>
                          <a:hlinkClick r:id="rId18">
                            <a:extLst>
                              <a:ext uri="{A12FA001-AC4F-418D-AE19-62706E023703}">
                                <ahyp:hlinkClr val="tx"/>
                              </a:ext>
                            </a:extLst>
                          </a:hlinkClick>
                        </a:rPr>
                        <a:t> </a:t>
                      </a:r>
                      <a:r>
                        <a:rPr lang="en" sz="900" u="sng">
                          <a:solidFill>
                            <a:srgbClr val="279AB2"/>
                          </a:solidFill>
                          <a:latin typeface="Arial"/>
                          <a:ea typeface="Arial"/>
                          <a:cs typeface="Arial"/>
                          <a:sym typeface="Arial"/>
                          <a:hlinkClick r:id="rId19">
                            <a:extLst>
                              <a:ext uri="{A12FA001-AC4F-418D-AE19-62706E023703}">
                                <ahyp:hlinkClr val="tx"/>
                              </a:ext>
                            </a:extLst>
                          </a:hlinkClick>
                        </a:rPr>
                        <a:t>Dream Bot - Ticket Out the Door (Slide 5)</a:t>
                      </a:r>
                      <a:endParaRPr sz="900">
                        <a:solidFill>
                          <a:srgbClr val="279AB2"/>
                        </a:solidFill>
                        <a:latin typeface="Arial"/>
                        <a:ea typeface="Arial"/>
                        <a:cs typeface="Arial"/>
                        <a:sym typeface="Arial"/>
                      </a:endParaRPr>
                    </a:p>
                  </a:txBody>
                  <a:tcPr marT="34300" marB="34300" marR="68600" marL="686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C3ECEB"/>
                    </a:solidFill>
                  </a:tcPr>
                </a:tc>
                <a:tc>
                  <a:txBody>
                    <a:bodyPr/>
                    <a:lstStyle/>
                    <a:p>
                      <a:pPr indent="0" lvl="0" marL="0" rtl="0" algn="l">
                        <a:lnSpc>
                          <a:spcPct val="115000"/>
                        </a:lnSpc>
                        <a:spcBef>
                          <a:spcPts val="0"/>
                        </a:spcBef>
                        <a:spcAft>
                          <a:spcPts val="0"/>
                        </a:spcAft>
                        <a:buNone/>
                      </a:pPr>
                      <a:r>
                        <a:rPr b="0" lang="en" sz="900">
                          <a:solidFill>
                            <a:srgbClr val="186D7F"/>
                          </a:solidFill>
                          <a:latin typeface="Arial"/>
                          <a:ea typeface="Arial"/>
                          <a:cs typeface="Arial"/>
                          <a:sym typeface="Arial"/>
                        </a:rPr>
                        <a:t>6. My Dream Bot - Ticket out of doctor </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20">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21">
                            <a:extLst>
                              <a:ext uri="{A12FA001-AC4F-418D-AE19-62706E023703}">
                                <ahyp:hlinkClr val="tx"/>
                              </a:ext>
                            </a:extLst>
                          </a:hlinkClick>
                        </a:rPr>
                        <a:t>Imagine your robot</a:t>
                      </a:r>
                      <a:endParaRPr sz="900">
                        <a:solidFill>
                          <a:srgbClr val="279AB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lang="en" sz="900">
                          <a:solidFill>
                            <a:srgbClr val="186D7F"/>
                          </a:solidFill>
                          <a:latin typeface="Arial"/>
                          <a:ea typeface="Arial"/>
                          <a:cs typeface="Arial"/>
                          <a:sym typeface="Arial"/>
                        </a:rPr>
                        <a:t>This activity is designed to help students make connections across the modules in Unit 1.  We've added slide at the end of each one of the decks in this module and provided preview on this site to help you plan your activities for the day.</a:t>
                      </a:r>
                      <a:endParaRPr b="0" sz="900">
                        <a:solidFill>
                          <a:srgbClr val="186D7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lang="en" sz="900">
                          <a:solidFill>
                            <a:srgbClr val="186D7F"/>
                          </a:solidFill>
                          <a:latin typeface="Arial"/>
                          <a:ea typeface="Arial"/>
                          <a:cs typeface="Arial"/>
                          <a:sym typeface="Arial"/>
                        </a:rPr>
                        <a:t>In this activity, students will envision a robot that solves a societal problem they care about. After each module, they will add more details about their robot and how it works based on the main concepts presented in the module.</a:t>
                      </a:r>
                      <a:endParaRPr b="0" sz="900">
                        <a:solidFill>
                          <a:srgbClr val="186D7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lang="en" sz="900">
                          <a:solidFill>
                            <a:srgbClr val="186D7F"/>
                          </a:solidFill>
                          <a:latin typeface="Arial"/>
                          <a:ea typeface="Arial"/>
                          <a:cs typeface="Arial"/>
                          <a:sym typeface="Arial"/>
                        </a:rPr>
                        <a:t>Implementation:</a:t>
                      </a:r>
                      <a:r>
                        <a:rPr b="0" lang="en" sz="900">
                          <a:solidFill>
                            <a:srgbClr val="186D7F"/>
                          </a:solidFill>
                          <a:latin typeface="Arial"/>
                          <a:ea typeface="Arial"/>
                          <a:cs typeface="Arial"/>
                          <a:sym typeface="Arial"/>
                        </a:rPr>
                        <a:t> Each student should make a copy of the slide deck and use it to incrementally work through the slides building their bot. If students need some support with designing the physical structure of their robots, they can give students the</a:t>
                      </a:r>
                      <a:r>
                        <a:rPr b="0" lang="en" sz="900" u="sng">
                          <a:solidFill>
                            <a:srgbClr val="186D7F"/>
                          </a:solidFill>
                          <a:latin typeface="Arial"/>
                          <a:ea typeface="Arial"/>
                          <a:cs typeface="Arial"/>
                          <a:sym typeface="Arial"/>
                          <a:hlinkClick r:id="rId22">
                            <a:extLst>
                              <a:ext uri="{A12FA001-AC4F-418D-AE19-62706E023703}">
                                <ahyp:hlinkClr val="tx"/>
                              </a:ext>
                            </a:extLst>
                          </a:hlinkClick>
                        </a:rPr>
                        <a:t> </a:t>
                      </a:r>
                      <a:r>
                        <a:rPr lang="en" sz="900" u="sng">
                          <a:solidFill>
                            <a:srgbClr val="279AB2"/>
                          </a:solidFill>
                          <a:latin typeface="Arial"/>
                          <a:ea typeface="Arial"/>
                          <a:cs typeface="Arial"/>
                          <a:sym typeface="Arial"/>
                          <a:hlinkClick r:id="rId23">
                            <a:extLst>
                              <a:ext uri="{A12FA001-AC4F-418D-AE19-62706E023703}">
                                <ahyp:hlinkClr val="tx"/>
                              </a:ext>
                            </a:extLst>
                          </a:hlinkClick>
                        </a:rPr>
                        <a:t>Imagine Your Robot </a:t>
                      </a:r>
                      <a:r>
                        <a:rPr lang="en" sz="900">
                          <a:solidFill>
                            <a:srgbClr val="279AB2"/>
                          </a:solidFill>
                          <a:latin typeface="Arial"/>
                          <a:ea typeface="Arial"/>
                          <a:cs typeface="Arial"/>
                          <a:sym typeface="Arial"/>
                        </a:rPr>
                        <a:t>slides.</a:t>
                      </a:r>
                      <a:endParaRPr sz="900">
                        <a:solidFill>
                          <a:srgbClr val="279AB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lang="en" sz="900">
                          <a:solidFill>
                            <a:srgbClr val="186D7F"/>
                          </a:solidFill>
                          <a:latin typeface="Arial"/>
                          <a:ea typeface="Arial"/>
                          <a:cs typeface="Arial"/>
                          <a:sym typeface="Arial"/>
                        </a:rPr>
                        <a:t>Preparation: </a:t>
                      </a:r>
                      <a:r>
                        <a:rPr b="0" lang="en" sz="900">
                          <a:solidFill>
                            <a:srgbClr val="186D7F"/>
                          </a:solidFill>
                          <a:latin typeface="Arial"/>
                          <a:ea typeface="Arial"/>
                          <a:cs typeface="Arial"/>
                          <a:sym typeface="Arial"/>
                        </a:rPr>
                        <a:t>You can design your own robot as a model that you can show students to help them see how they might make connections between the module's content and their robot.</a:t>
                      </a:r>
                      <a:endParaRPr b="0" sz="900">
                        <a:solidFill>
                          <a:srgbClr val="186D7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sz="900">
                        <a:solidFill>
                          <a:srgbClr val="186D7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lang="en" sz="900">
                          <a:solidFill>
                            <a:srgbClr val="186D7F"/>
                          </a:solidFill>
                          <a:latin typeface="Arial"/>
                          <a:ea typeface="Arial"/>
                          <a:cs typeface="Arial"/>
                          <a:sym typeface="Arial"/>
                        </a:rPr>
                        <a:t>7. Weekly Feedback</a:t>
                      </a:r>
                      <a:endParaRPr b="0" sz="900">
                        <a:solidFill>
                          <a:srgbClr val="186D7F"/>
                        </a:solidFill>
                        <a:latin typeface="Arial"/>
                        <a:ea typeface="Arial"/>
                        <a:cs typeface="Arial"/>
                        <a:sym typeface="Arial"/>
                      </a:endParaRPr>
                    </a:p>
                    <a:p>
                      <a:pPr indent="-285750" lvl="0" marL="457200" marR="0" rtl="0" algn="l">
                        <a:lnSpc>
                          <a:spcPct val="100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24">
                            <a:extLst>
                              <a:ext uri="{A12FA001-AC4F-418D-AE19-62706E023703}">
                                <ahyp:hlinkClr val="tx"/>
                              </a:ext>
                            </a:extLst>
                          </a:hlinkClick>
                        </a:rPr>
                        <a:t>Student feedback</a:t>
                      </a:r>
                      <a:endParaRPr sz="900">
                        <a:solidFill>
                          <a:srgbClr val="279AB2"/>
                        </a:solidFill>
                        <a:latin typeface="Arial"/>
                        <a:ea typeface="Arial"/>
                        <a:cs typeface="Arial"/>
                        <a:sym typeface="Arial"/>
                      </a:endParaRPr>
                    </a:p>
                    <a:p>
                      <a:pPr indent="-285750" lvl="0" marL="457200" marR="0" rtl="0" algn="l">
                        <a:lnSpc>
                          <a:spcPct val="100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25">
                            <a:extLst>
                              <a:ext uri="{A12FA001-AC4F-418D-AE19-62706E023703}">
                                <ahyp:hlinkClr val="tx"/>
                              </a:ext>
                            </a:extLst>
                          </a:hlinkClick>
                        </a:rPr>
                        <a:t>Teacher feedback</a:t>
                      </a:r>
                      <a:endParaRPr sz="900">
                        <a:solidFill>
                          <a:srgbClr val="279AB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lang="en" sz="900">
                          <a:solidFill>
                            <a:srgbClr val="186D7F"/>
                          </a:solidFill>
                          <a:latin typeface="Arial"/>
                          <a:ea typeface="Arial"/>
                          <a:cs typeface="Arial"/>
                          <a:sym typeface="Arial"/>
                        </a:rPr>
                        <a:t>      </a:t>
                      </a:r>
                      <a:endParaRPr sz="1200" u="none" cap="none" strike="noStrike">
                        <a:solidFill>
                          <a:srgbClr val="186D7F"/>
                        </a:solidFill>
                      </a:endParaRPr>
                    </a:p>
                  </a:txBody>
                  <a:tcPr marT="34300" marB="34300" marR="68600" marL="686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9FDDDB"/>
                    </a:solidFill>
                  </a:tcPr>
                </a:tc>
              </a:tr>
            </a:tbl>
          </a:graphicData>
        </a:graphic>
      </p:graphicFrame>
      <p:pic>
        <p:nvPicPr>
          <p:cNvPr id="86" name="Google Shape;86;p13">
            <a:hlinkClick r:id="rId26"/>
          </p:cNvPr>
          <p:cNvPicPr preferRelativeResize="0"/>
          <p:nvPr/>
        </p:nvPicPr>
        <p:blipFill rotWithShape="1">
          <a:blip r:embed="rId27">
            <a:alphaModFix/>
          </a:blip>
          <a:srcRect b="0" l="0" r="0" t="0"/>
          <a:stretch/>
        </p:blipFill>
        <p:spPr>
          <a:xfrm>
            <a:off x="0" y="-4"/>
            <a:ext cx="469903" cy="554100"/>
          </a:xfrm>
          <a:prstGeom prst="rect">
            <a:avLst/>
          </a:prstGeom>
          <a:noFill/>
          <a:ln>
            <a:noFill/>
          </a:ln>
        </p:spPr>
      </p:pic>
      <p:pic>
        <p:nvPicPr>
          <p:cNvPr id="87" name="Google Shape;87;p13"/>
          <p:cNvPicPr preferRelativeResize="0"/>
          <p:nvPr/>
        </p:nvPicPr>
        <p:blipFill rotWithShape="1">
          <a:blip r:embed="rId28">
            <a:alphaModFix/>
          </a:blip>
          <a:srcRect b="0" l="0" r="0" t="0"/>
          <a:stretch/>
        </p:blipFill>
        <p:spPr>
          <a:xfrm>
            <a:off x="8173450" y="81975"/>
            <a:ext cx="874200" cy="870600"/>
          </a:xfrm>
          <a:prstGeom prst="ellipse">
            <a:avLst/>
          </a:prstGeom>
          <a:noFill/>
          <a:ln cap="rnd" cmpd="sng" w="63500">
            <a:solidFill>
              <a:srgbClr val="0097A7"/>
            </a:solidFill>
            <a:prstDash val="solid"/>
            <a:round/>
            <a:headEnd len="sm" w="sm" type="none"/>
            <a:tailEnd len="sm" w="sm" type="none"/>
          </a:ln>
        </p:spPr>
      </p:pic>
      <p:pic>
        <p:nvPicPr>
          <p:cNvPr id="88" name="Google Shape;88;p13"/>
          <p:cNvPicPr preferRelativeResize="0"/>
          <p:nvPr/>
        </p:nvPicPr>
        <p:blipFill rotWithShape="1">
          <a:blip r:embed="rId29">
            <a:alphaModFix/>
          </a:blip>
          <a:srcRect b="0" l="0" r="0" t="0"/>
          <a:stretch/>
        </p:blipFill>
        <p:spPr>
          <a:xfrm>
            <a:off x="3578925" y="657525"/>
            <a:ext cx="1814224" cy="907125"/>
          </a:xfrm>
          <a:prstGeom prst="rect">
            <a:avLst/>
          </a:prstGeom>
          <a:noFill/>
          <a:ln>
            <a:noFill/>
          </a:ln>
        </p:spPr>
      </p:pic>
      <p:pic>
        <p:nvPicPr>
          <p:cNvPr id="89" name="Google Shape;89;p13"/>
          <p:cNvPicPr preferRelativeResize="0"/>
          <p:nvPr/>
        </p:nvPicPr>
        <p:blipFill rotWithShape="1">
          <a:blip r:embed="rId30">
            <a:alphaModFix/>
          </a:blip>
          <a:srcRect b="0" l="0" r="0" t="0"/>
          <a:stretch/>
        </p:blipFill>
        <p:spPr>
          <a:xfrm>
            <a:off x="357575" y="3405925"/>
            <a:ext cx="1001300" cy="1095175"/>
          </a:xfrm>
          <a:prstGeom prst="rect">
            <a:avLst/>
          </a:prstGeom>
          <a:noFill/>
          <a:ln>
            <a:noFill/>
          </a:ln>
        </p:spPr>
      </p:pic>
      <p:sp>
        <p:nvSpPr>
          <p:cNvPr id="90" name="Google Shape;90;p13"/>
          <p:cNvSpPr txBox="1"/>
          <p:nvPr/>
        </p:nvSpPr>
        <p:spPr>
          <a:xfrm>
            <a:off x="1845200" y="4589400"/>
            <a:ext cx="6332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Developed for the AI4GA (Artificial Intelligence for Georgia) project funded by National Science Foundation awards DRL-2049029 and DRL-2048502.</a:t>
            </a:r>
            <a:r>
              <a:rPr b="1" lang="en" sz="800">
                <a:solidFill>
                  <a:schemeClr val="dk1"/>
                </a:solidFill>
              </a:rPr>
              <a:t>This work is licensed under the Creative Commons. Attribution-</a:t>
            </a:r>
            <a:r>
              <a:rPr b="1" lang="en" sz="800">
                <a:solidFill>
                  <a:schemeClr val="dk1"/>
                </a:solidFill>
              </a:rPr>
              <a:t>NonCommercial</a:t>
            </a:r>
            <a:r>
              <a:rPr b="1" lang="en" sz="800">
                <a:solidFill>
                  <a:schemeClr val="dk1"/>
                </a:solidFill>
              </a:rPr>
              <a:t>-ShareAlike 4.0 International License. </a:t>
            </a:r>
            <a:r>
              <a:rPr b="1" lang="en" sz="800" u="sng">
                <a:solidFill>
                  <a:srgbClr val="0097A7"/>
                </a:solidFill>
                <a:hlinkClick r:id="rId31">
                  <a:extLst>
                    <a:ext uri="{A12FA001-AC4F-418D-AE19-62706E023703}">
                      <ahyp:hlinkClr val="tx"/>
                    </a:ext>
                  </a:extLst>
                </a:hlinkClick>
              </a:rPr>
              <a:t>https://creativecommons.org/licenses/by-nc-sa/4.0/</a:t>
            </a:r>
            <a:endParaRPr sz="1300"/>
          </a:p>
        </p:txBody>
      </p:sp>
      <p:pic>
        <p:nvPicPr>
          <p:cNvPr id="91" name="Google Shape;91;p13"/>
          <p:cNvPicPr preferRelativeResize="0"/>
          <p:nvPr/>
        </p:nvPicPr>
        <p:blipFill>
          <a:blip r:embed="rId32">
            <a:alphaModFix/>
          </a:blip>
          <a:stretch>
            <a:fillRect/>
          </a:stretch>
        </p:blipFill>
        <p:spPr>
          <a:xfrm>
            <a:off x="966087" y="4713500"/>
            <a:ext cx="874325" cy="305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FFE"/>
        </a:solidFill>
      </p:bgPr>
    </p:bg>
    <p:spTree>
      <p:nvGrpSpPr>
        <p:cNvPr id="95" name="Shape 95"/>
        <p:cNvGrpSpPr/>
        <p:nvPr/>
      </p:nvGrpSpPr>
      <p:grpSpPr>
        <a:xfrm>
          <a:off x="0" y="0"/>
          <a:ext cx="0" cy="0"/>
          <a:chOff x="0" y="0"/>
          <a:chExt cx="0" cy="0"/>
        </a:xfrm>
      </p:grpSpPr>
      <p:sp>
        <p:nvSpPr>
          <p:cNvPr id="96" name="Google Shape;96;p14"/>
          <p:cNvSpPr txBox="1"/>
          <p:nvPr>
            <p:ph type="title"/>
          </p:nvPr>
        </p:nvSpPr>
        <p:spPr>
          <a:xfrm>
            <a:off x="628650" y="155602"/>
            <a:ext cx="7886700" cy="6069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2200"/>
              <a:buFont typeface="Arial Black"/>
              <a:buNone/>
            </a:pPr>
            <a:r>
              <a:rPr b="1" lang="en" sz="2200">
                <a:solidFill>
                  <a:srgbClr val="186D7F"/>
                </a:solidFill>
                <a:latin typeface="Arial Black"/>
                <a:ea typeface="Arial Black"/>
                <a:cs typeface="Arial Black"/>
                <a:sym typeface="Arial Black"/>
              </a:rPr>
              <a:t>Artificial Intelligence for GA</a:t>
            </a:r>
            <a:endParaRPr b="1" sz="2200">
              <a:solidFill>
                <a:srgbClr val="186D7F"/>
              </a:solidFill>
              <a:latin typeface="Arial Black"/>
              <a:ea typeface="Arial Black"/>
              <a:cs typeface="Arial Black"/>
              <a:sym typeface="Arial Black"/>
            </a:endParaRPr>
          </a:p>
          <a:p>
            <a:pPr indent="0" lvl="0" marL="0" marR="0" rtl="0" algn="ctr">
              <a:lnSpc>
                <a:spcPct val="90000"/>
              </a:lnSpc>
              <a:spcBef>
                <a:spcPts val="0"/>
              </a:spcBef>
              <a:spcAft>
                <a:spcPts val="0"/>
              </a:spcAft>
              <a:buClr>
                <a:schemeClr val="dk1"/>
              </a:buClr>
              <a:buSzPts val="2200"/>
              <a:buFont typeface="Arial Black"/>
              <a:buNone/>
            </a:pPr>
            <a:r>
              <a:rPr b="1" lang="en" sz="1500">
                <a:solidFill>
                  <a:srgbClr val="186D7F"/>
                </a:solidFill>
              </a:rPr>
              <a:t>Unit 1 - Autonomous Robots &amp; Self-Driving Vehicles</a:t>
            </a:r>
            <a:br>
              <a:rPr b="0" i="0" lang="en" sz="2200" u="none" cap="none" strike="noStrike">
                <a:solidFill>
                  <a:srgbClr val="186D7F"/>
                </a:solidFill>
                <a:latin typeface="Calibri"/>
                <a:ea typeface="Calibri"/>
                <a:cs typeface="Calibri"/>
                <a:sym typeface="Calibri"/>
              </a:rPr>
            </a:br>
            <a:endParaRPr b="1" i="1" sz="1800" u="none" cap="none" strike="noStrike">
              <a:solidFill>
                <a:srgbClr val="186D7F"/>
              </a:solidFill>
              <a:latin typeface="Calibri"/>
              <a:ea typeface="Calibri"/>
              <a:cs typeface="Calibri"/>
              <a:sym typeface="Calibri"/>
            </a:endParaRPr>
          </a:p>
        </p:txBody>
      </p:sp>
      <p:graphicFrame>
        <p:nvGraphicFramePr>
          <p:cNvPr id="97" name="Google Shape;97;p14"/>
          <p:cNvGraphicFramePr/>
          <p:nvPr/>
        </p:nvGraphicFramePr>
        <p:xfrm>
          <a:off x="281763" y="928692"/>
          <a:ext cx="3000000" cy="3000000"/>
        </p:xfrm>
        <a:graphic>
          <a:graphicData uri="http://schemas.openxmlformats.org/drawingml/2006/table">
            <a:tbl>
              <a:tblPr bandRow="1" firstRow="1">
                <a:noFill/>
                <a:tableStyleId>{B67E3EB5-C6E0-4346-8C17-3B202921B435}</a:tableStyleId>
              </a:tblPr>
              <a:tblGrid>
                <a:gridCol w="4453725"/>
                <a:gridCol w="3961550"/>
              </a:tblGrid>
              <a:tr h="3626750">
                <a:tc>
                  <a:txBody>
                    <a:bodyPr/>
                    <a:lstStyle/>
                    <a:p>
                      <a:pPr indent="0" lvl="0" marL="0" marR="0" rtl="0" algn="l">
                        <a:lnSpc>
                          <a:spcPct val="100000"/>
                        </a:lnSpc>
                        <a:spcBef>
                          <a:spcPts val="0"/>
                        </a:spcBef>
                        <a:spcAft>
                          <a:spcPts val="0"/>
                        </a:spcAft>
                        <a:buClr>
                          <a:schemeClr val="dk1"/>
                        </a:buClr>
                        <a:buSzPts val="1200"/>
                        <a:buFont typeface="Calibri"/>
                        <a:buNone/>
                      </a:pPr>
                      <a:r>
                        <a:rPr lang="en" sz="900" u="none" cap="none" strike="noStrike">
                          <a:solidFill>
                            <a:srgbClr val="186D7F"/>
                          </a:solidFill>
                        </a:rPr>
                        <a:t>Dai</a:t>
                      </a:r>
                      <a:r>
                        <a:rPr lang="en" sz="900" u="none" cap="none" strike="noStrike">
                          <a:solidFill>
                            <a:srgbClr val="186D7F"/>
                          </a:solidFill>
                          <a:latin typeface="Arial"/>
                          <a:ea typeface="Arial"/>
                          <a:cs typeface="Arial"/>
                          <a:sym typeface="Arial"/>
                        </a:rPr>
                        <a:t>ly Assignments:</a:t>
                      </a:r>
                      <a:endParaRPr sz="900" u="none" cap="none" strike="noStrike">
                        <a:solidFill>
                          <a:srgbClr val="186D7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sz="900" u="none" cap="none" strike="noStrike">
                        <a:solidFill>
                          <a:srgbClr val="186D7F"/>
                        </a:solidFill>
                        <a:latin typeface="Arial"/>
                        <a:ea typeface="Arial"/>
                        <a:cs typeface="Arial"/>
                        <a:sym typeface="Arial"/>
                      </a:endParaRPr>
                    </a:p>
                    <a:p>
                      <a:pPr indent="-285750" lvl="0" marL="4572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Module 1.4(a) Perception </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3">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 Module Activity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4">
                            <a:extLst>
                              <a:ext uri="{A12FA001-AC4F-418D-AE19-62706E023703}">
                                <ahyp:hlinkClr val="tx"/>
                              </a:ext>
                            </a:extLst>
                          </a:hlinkClick>
                        </a:rPr>
                        <a:t>Create your robot </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Face Mesh </a:t>
                      </a:r>
                      <a:endParaRPr b="0" sz="900">
                        <a:solidFill>
                          <a:srgbClr val="186D7F"/>
                        </a:solidFill>
                        <a:latin typeface="Arial"/>
                        <a:ea typeface="Arial"/>
                        <a:cs typeface="Arial"/>
                        <a:sym typeface="Arial"/>
                      </a:endParaRPr>
                    </a:p>
                    <a:p>
                      <a:pPr indent="-285750" lvl="3" marL="1828800" rtl="0" algn="l">
                        <a:lnSpc>
                          <a:spcPct val="115000"/>
                        </a:lnSpc>
                        <a:spcBef>
                          <a:spcPts val="0"/>
                        </a:spcBef>
                        <a:spcAft>
                          <a:spcPts val="0"/>
                        </a:spcAft>
                        <a:buClr>
                          <a:srgbClr val="186D7F"/>
                        </a:buClr>
                        <a:buSzPts val="900"/>
                        <a:buChar char="●"/>
                      </a:pPr>
                      <a:r>
                        <a:rPr lang="en" sz="900">
                          <a:solidFill>
                            <a:srgbClr val="186D7F"/>
                          </a:solidFill>
                          <a:latin typeface="Arial"/>
                          <a:ea typeface="Arial"/>
                          <a:cs typeface="Arial"/>
                          <a:sym typeface="Arial"/>
                        </a:rPr>
                        <a:t>Software:</a:t>
                      </a:r>
                      <a:r>
                        <a:rPr lang="en" sz="900">
                          <a:solidFill>
                            <a:srgbClr val="186D7F"/>
                          </a:solidFill>
                          <a:uFill>
                            <a:noFill/>
                          </a:uFill>
                          <a:latin typeface="Arial"/>
                          <a:ea typeface="Arial"/>
                          <a:cs typeface="Arial"/>
                          <a:sym typeface="Arial"/>
                          <a:hlinkClick r:id="rId5">
                            <a:extLst>
                              <a:ext uri="{A12FA001-AC4F-418D-AE19-62706E023703}">
                                <ahyp:hlinkClr val="tx"/>
                              </a:ext>
                            </a:extLst>
                          </a:hlinkClick>
                        </a:rPr>
                        <a:t> </a:t>
                      </a:r>
                      <a:r>
                        <a:rPr i="1" lang="en" sz="900" u="sng">
                          <a:solidFill>
                            <a:srgbClr val="279AB2"/>
                          </a:solidFill>
                          <a:latin typeface="Arial"/>
                          <a:ea typeface="Arial"/>
                          <a:cs typeface="Arial"/>
                          <a:sym typeface="Arial"/>
                          <a:hlinkClick r:id="rId6">
                            <a:extLst>
                              <a:ext uri="{A12FA001-AC4F-418D-AE19-62706E023703}">
                                <ahyp:hlinkClr val="tx"/>
                              </a:ext>
                            </a:extLst>
                          </a:hlinkClick>
                        </a:rPr>
                        <a:t>Face Demo</a:t>
                      </a:r>
                      <a:r>
                        <a:rPr i="1" lang="en" sz="900" u="sng">
                          <a:solidFill>
                            <a:srgbClr val="279AB2"/>
                          </a:solidFill>
                          <a:latin typeface="Arial"/>
                          <a:ea typeface="Arial"/>
                          <a:cs typeface="Arial"/>
                          <a:sym typeface="Arial"/>
                        </a:rPr>
                        <a:t> </a:t>
                      </a:r>
                      <a:r>
                        <a:rPr b="0" i="1" lang="en" sz="900">
                          <a:solidFill>
                            <a:srgbClr val="186D7F"/>
                          </a:solidFill>
                          <a:latin typeface="Arial"/>
                          <a:ea typeface="Arial"/>
                          <a:cs typeface="Arial"/>
                          <a:sym typeface="Arial"/>
                        </a:rPr>
                        <a:t> (Browser -based app)</a:t>
                      </a:r>
                      <a:endParaRPr b="0" i="1" sz="900">
                        <a:solidFill>
                          <a:srgbClr val="186D7F"/>
                        </a:solidFill>
                        <a:latin typeface="Arial"/>
                        <a:ea typeface="Arial"/>
                        <a:cs typeface="Arial"/>
                        <a:sym typeface="Arial"/>
                      </a:endParaRPr>
                    </a:p>
                    <a:p>
                      <a:pPr indent="-285750" lvl="3" marL="18288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Print Out:</a:t>
                      </a:r>
                      <a:r>
                        <a:rPr b="0" lang="en" sz="900">
                          <a:solidFill>
                            <a:srgbClr val="186D7F"/>
                          </a:solidFill>
                          <a:uFill>
                            <a:noFill/>
                          </a:uFill>
                          <a:latin typeface="Arial"/>
                          <a:ea typeface="Arial"/>
                          <a:cs typeface="Arial"/>
                          <a:sym typeface="Arial"/>
                          <a:hlinkClick r:id="rId7">
                            <a:extLst>
                              <a:ext uri="{A12FA001-AC4F-418D-AE19-62706E023703}">
                                <ahyp:hlinkClr val="tx"/>
                              </a:ext>
                            </a:extLst>
                          </a:hlinkClick>
                        </a:rPr>
                        <a:t> </a:t>
                      </a:r>
                      <a:r>
                        <a:rPr lang="en" sz="900" u="sng">
                          <a:solidFill>
                            <a:srgbClr val="279AB2"/>
                          </a:solidFill>
                          <a:latin typeface="Arial"/>
                          <a:ea typeface="Arial"/>
                          <a:cs typeface="Arial"/>
                          <a:sym typeface="Arial"/>
                          <a:hlinkClick r:id="rId8">
                            <a:extLst>
                              <a:ext uri="{A12FA001-AC4F-418D-AE19-62706E023703}">
                                <ahyp:hlinkClr val="tx"/>
                              </a:ext>
                            </a:extLst>
                          </a:hlinkClick>
                        </a:rPr>
                        <a:t>Test patterns</a:t>
                      </a:r>
                      <a:endParaRPr sz="900" u="sng">
                        <a:solidFill>
                          <a:srgbClr val="279AB2"/>
                        </a:solidFill>
                        <a:latin typeface="Arial"/>
                        <a:ea typeface="Arial"/>
                        <a:cs typeface="Arial"/>
                        <a:sym typeface="Arial"/>
                      </a:endParaRPr>
                    </a:p>
                    <a:p>
                      <a:pPr indent="-285750" lvl="3" marL="18288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9">
                            <a:extLst>
                              <a:ext uri="{A12FA001-AC4F-418D-AE19-62706E023703}">
                                <ahyp:hlinkClr val="tx"/>
                              </a:ext>
                            </a:extLst>
                          </a:hlinkClick>
                        </a:rPr>
                        <a:t>Experiments</a:t>
                      </a:r>
                      <a:endParaRPr sz="900">
                        <a:solidFill>
                          <a:srgbClr val="279AB2"/>
                        </a:solidFill>
                        <a:latin typeface="Arial"/>
                        <a:ea typeface="Arial"/>
                        <a:cs typeface="Arial"/>
                        <a:sym typeface="Arial"/>
                      </a:endParaRPr>
                    </a:p>
                    <a:p>
                      <a:pPr indent="-285750" lvl="0" marL="4572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Module 1.4 (b) Perception: Create Your Own Face Filter</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0">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 Module Activity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1">
                            <a:extLst>
                              <a:ext uri="{A12FA001-AC4F-418D-AE19-62706E023703}">
                                <ahyp:hlinkClr val="tx"/>
                              </a:ext>
                            </a:extLst>
                          </a:hlinkClick>
                        </a:rPr>
                        <a:t>Create your own face filter (Slide 20</a:t>
                      </a:r>
                      <a:r>
                        <a:rPr lang="en" sz="900">
                          <a:solidFill>
                            <a:srgbClr val="279AB2"/>
                          </a:solidFill>
                          <a:latin typeface="Arial"/>
                          <a:ea typeface="Arial"/>
                          <a:cs typeface="Arial"/>
                          <a:sym typeface="Arial"/>
                        </a:rPr>
                        <a:t>)</a:t>
                      </a:r>
                      <a:endParaRPr sz="900">
                        <a:solidFill>
                          <a:srgbClr val="279AB2"/>
                        </a:solidFill>
                        <a:latin typeface="Arial"/>
                        <a:ea typeface="Arial"/>
                        <a:cs typeface="Arial"/>
                        <a:sym typeface="Arial"/>
                      </a:endParaRPr>
                    </a:p>
                    <a:p>
                      <a:pPr indent="-285750" lvl="3" marL="1828800" rtl="0" algn="l">
                        <a:lnSpc>
                          <a:spcPct val="115000"/>
                        </a:lnSpc>
                        <a:spcBef>
                          <a:spcPts val="0"/>
                        </a:spcBef>
                        <a:spcAft>
                          <a:spcPts val="0"/>
                        </a:spcAft>
                        <a:buClr>
                          <a:srgbClr val="186D7F"/>
                        </a:buClr>
                        <a:buSzPts val="900"/>
                        <a:buChar char="●"/>
                      </a:pPr>
                      <a:r>
                        <a:rPr lang="en" sz="900">
                          <a:solidFill>
                            <a:srgbClr val="186D7F"/>
                          </a:solidFill>
                          <a:latin typeface="Arial"/>
                          <a:ea typeface="Arial"/>
                          <a:cs typeface="Arial"/>
                          <a:sym typeface="Arial"/>
                        </a:rPr>
                        <a:t>Software being used</a:t>
                      </a:r>
                      <a:endParaRPr sz="900">
                        <a:solidFill>
                          <a:srgbClr val="186D7F"/>
                        </a:solidFill>
                        <a:latin typeface="Arial"/>
                        <a:ea typeface="Arial"/>
                        <a:cs typeface="Arial"/>
                        <a:sym typeface="Arial"/>
                      </a:endParaRPr>
                    </a:p>
                    <a:p>
                      <a:pPr indent="-285750" lvl="4" marL="22860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2">
                            <a:extLst>
                              <a:ext uri="{A12FA001-AC4F-418D-AE19-62706E023703}">
                                <ahyp:hlinkClr val="tx"/>
                              </a:ext>
                            </a:extLst>
                          </a:hlinkClick>
                        </a:rPr>
                        <a:t>Scratch Face Lab</a:t>
                      </a:r>
                      <a:r>
                        <a:rPr lang="en" sz="900" u="sng">
                          <a:solidFill>
                            <a:srgbClr val="279AB2"/>
                          </a:solidFill>
                          <a:latin typeface="Arial"/>
                          <a:ea typeface="Arial"/>
                          <a:cs typeface="Arial"/>
                          <a:sym typeface="Arial"/>
                        </a:rPr>
                        <a:t> (web application)</a:t>
                      </a:r>
                      <a:endParaRPr sz="900" u="sng">
                        <a:solidFill>
                          <a:srgbClr val="279AB2"/>
                        </a:solidFill>
                        <a:latin typeface="Arial"/>
                        <a:ea typeface="Arial"/>
                        <a:cs typeface="Arial"/>
                        <a:sym typeface="Arial"/>
                      </a:endParaRPr>
                    </a:p>
                    <a:p>
                      <a:pPr indent="-285750" lvl="0" marL="4572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Module 1.5 Route Finding</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3">
                            <a:extLst>
                              <a:ext uri="{A12FA001-AC4F-418D-AE19-62706E023703}">
                                <ahyp:hlinkClr val="tx"/>
                              </a:ext>
                            </a:extLst>
                          </a:hlinkClick>
                        </a:rPr>
                        <a:t>Slides</a:t>
                      </a:r>
                      <a:r>
                        <a:rPr lang="en" sz="900">
                          <a:solidFill>
                            <a:srgbClr val="279AB2"/>
                          </a:solidFill>
                          <a:latin typeface="Arial"/>
                          <a:ea typeface="Arial"/>
                          <a:cs typeface="Arial"/>
                          <a:sym typeface="Arial"/>
                        </a:rPr>
                        <a:t> </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Char char="○"/>
                      </a:pPr>
                      <a:r>
                        <a:rPr b="0" lang="en" sz="900">
                          <a:solidFill>
                            <a:srgbClr val="186D7F"/>
                          </a:solidFill>
                          <a:latin typeface="Arial"/>
                          <a:ea typeface="Arial"/>
                          <a:cs typeface="Arial"/>
                          <a:sym typeface="Arial"/>
                        </a:rPr>
                        <a:t>Module Activities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u="sng">
                          <a:solidFill>
                            <a:srgbClr val="279AB2"/>
                          </a:solidFill>
                          <a:latin typeface="Arial"/>
                          <a:ea typeface="Arial"/>
                          <a:cs typeface="Arial"/>
                          <a:sym typeface="Arial"/>
                          <a:hlinkClick r:id="rId14">
                            <a:extLst>
                              <a:ext uri="{A12FA001-AC4F-418D-AE19-62706E023703}">
                                <ahyp:hlinkClr val="tx"/>
                              </a:ext>
                            </a:extLst>
                          </a:hlinkClick>
                        </a:rPr>
                        <a:t>Route Finding </a:t>
                      </a:r>
                      <a:endParaRPr sz="900">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Char char="■"/>
                      </a:pPr>
                      <a:r>
                        <a:rPr lang="en" sz="900">
                          <a:solidFill>
                            <a:srgbClr val="279AB2"/>
                          </a:solidFill>
                          <a:uFill>
                            <a:noFill/>
                          </a:uFill>
                          <a:latin typeface="Arial"/>
                          <a:ea typeface="Arial"/>
                          <a:cs typeface="Arial"/>
                          <a:sym typeface="Arial"/>
                          <a:hlinkClick r:id="rId15">
                            <a:extLst>
                              <a:ext uri="{A12FA001-AC4F-418D-AE19-62706E023703}">
                                <ahyp:hlinkClr val="tx"/>
                              </a:ext>
                            </a:extLst>
                          </a:hlinkClick>
                        </a:rPr>
                        <a:t> </a:t>
                      </a:r>
                      <a:r>
                        <a:rPr lang="en" sz="900" u="sng">
                          <a:solidFill>
                            <a:srgbClr val="279AB2"/>
                          </a:solidFill>
                          <a:latin typeface="Arial"/>
                          <a:ea typeface="Arial"/>
                          <a:cs typeface="Arial"/>
                          <a:sym typeface="Arial"/>
                          <a:hlinkClick r:id="rId16">
                            <a:extLst>
                              <a:ext uri="{A12FA001-AC4F-418D-AE19-62706E023703}">
                                <ahyp:hlinkClr val="tx"/>
                              </a:ext>
                            </a:extLst>
                          </a:hlinkClick>
                        </a:rPr>
                        <a:t>Dream Bot - Ticket Out the Door (Slide 8)</a:t>
                      </a:r>
                      <a:r>
                        <a:rPr lang="en" sz="900">
                          <a:solidFill>
                            <a:srgbClr val="279AB2"/>
                          </a:solidFill>
                          <a:latin typeface="Arial"/>
                          <a:ea typeface="Arial"/>
                          <a:cs typeface="Arial"/>
                          <a:sym typeface="Arial"/>
                        </a:rPr>
                        <a:t> </a:t>
                      </a:r>
                      <a:endParaRPr sz="900">
                        <a:solidFill>
                          <a:srgbClr val="279AB2"/>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000"/>
                        <a:buFont typeface="Arial"/>
                        <a:buNone/>
                      </a:pPr>
                      <a:r>
                        <a:t/>
                      </a:r>
                      <a:endParaRPr sz="900" u="none" cap="none" strike="noStrike">
                        <a:solidFill>
                          <a:srgbClr val="186D7F"/>
                        </a:solidFill>
                      </a:endParaRPr>
                    </a:p>
                    <a:p>
                      <a:pPr indent="0" lvl="0" marL="0" marR="0" rtl="0" algn="l">
                        <a:lnSpc>
                          <a:spcPct val="200000"/>
                        </a:lnSpc>
                        <a:spcBef>
                          <a:spcPts val="1000"/>
                        </a:spcBef>
                        <a:spcAft>
                          <a:spcPts val="0"/>
                        </a:spcAft>
                        <a:buClr>
                          <a:schemeClr val="dk1"/>
                        </a:buClr>
                        <a:buSzPts val="1100"/>
                        <a:buFont typeface="Arial"/>
                        <a:buNone/>
                      </a:pPr>
                      <a:r>
                        <a:t/>
                      </a:r>
                      <a:endParaRPr sz="900" u="none" cap="none" strike="noStrike">
                        <a:solidFill>
                          <a:srgbClr val="186D7F"/>
                        </a:solidFill>
                      </a:endParaRPr>
                    </a:p>
                  </a:txBody>
                  <a:tcPr marT="34300" marB="34300" marR="68600" marL="686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C3ECEB"/>
                    </a:solidFill>
                  </a:tcPr>
                </a:tc>
                <a:tc>
                  <a:txBody>
                    <a:bodyPr/>
                    <a:lstStyle/>
                    <a:p>
                      <a:pPr indent="0" lvl="0" marL="0" rtl="0" algn="l">
                        <a:lnSpc>
                          <a:spcPct val="115000"/>
                        </a:lnSpc>
                        <a:spcBef>
                          <a:spcPts val="0"/>
                        </a:spcBef>
                        <a:spcAft>
                          <a:spcPts val="0"/>
                        </a:spcAft>
                        <a:buClr>
                          <a:schemeClr val="dk1"/>
                        </a:buClr>
                        <a:buSzPts val="1100"/>
                        <a:buFont typeface="Arial"/>
                        <a:buNone/>
                      </a:pPr>
                      <a:r>
                        <a:rPr b="0" lang="en" sz="900">
                          <a:solidFill>
                            <a:srgbClr val="186D7F"/>
                          </a:solidFill>
                          <a:latin typeface="Arial"/>
                          <a:ea typeface="Arial"/>
                          <a:cs typeface="Arial"/>
                          <a:sym typeface="Arial"/>
                        </a:rPr>
                        <a:t>. Module 1.6 Mini Project </a:t>
                      </a:r>
                      <a:endParaRPr b="0" sz="900">
                        <a:solidFill>
                          <a:srgbClr val="186D7F"/>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AutoNum type="alphaLcPeriod"/>
                      </a:pPr>
                      <a:r>
                        <a:rPr lang="en" sz="900" u="sng">
                          <a:solidFill>
                            <a:srgbClr val="279AB2"/>
                          </a:solidFill>
                          <a:latin typeface="Arial"/>
                          <a:ea typeface="Arial"/>
                          <a:cs typeface="Arial"/>
                          <a:sym typeface="Arial"/>
                          <a:hlinkClick r:id="rId17">
                            <a:extLst>
                              <a:ext uri="{A12FA001-AC4F-418D-AE19-62706E023703}">
                                <ahyp:hlinkClr val="tx"/>
                              </a:ext>
                            </a:extLst>
                          </a:hlinkClick>
                        </a:rPr>
                        <a:t>Slides</a:t>
                      </a:r>
                      <a:r>
                        <a:rPr lang="en" sz="900">
                          <a:solidFill>
                            <a:srgbClr val="279AB2"/>
                          </a:solidFill>
                          <a:latin typeface="Arial"/>
                          <a:ea typeface="Arial"/>
                          <a:cs typeface="Arial"/>
                          <a:sym typeface="Arial"/>
                        </a:rPr>
                        <a:t> </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279AB2"/>
                        </a:buClr>
                        <a:buSzPts val="900"/>
                        <a:buAutoNum type="alphaLcPeriod"/>
                      </a:pPr>
                      <a:r>
                        <a:rPr lang="en" sz="900" u="sng">
                          <a:solidFill>
                            <a:srgbClr val="279AB2"/>
                          </a:solidFill>
                          <a:latin typeface="Arial"/>
                          <a:ea typeface="Arial"/>
                          <a:cs typeface="Arial"/>
                          <a:sym typeface="Arial"/>
                          <a:hlinkClick r:id="rId18">
                            <a:extLst>
                              <a:ext uri="{A12FA001-AC4F-418D-AE19-62706E023703}">
                                <ahyp:hlinkClr val="tx"/>
                              </a:ext>
                            </a:extLst>
                          </a:hlinkClick>
                        </a:rPr>
                        <a:t>Nearpod</a:t>
                      </a:r>
                      <a:endParaRPr sz="900">
                        <a:solidFill>
                          <a:srgbClr val="279AB2"/>
                        </a:solidFill>
                        <a:latin typeface="Arial"/>
                        <a:ea typeface="Arial"/>
                        <a:cs typeface="Arial"/>
                        <a:sym typeface="Arial"/>
                      </a:endParaRPr>
                    </a:p>
                    <a:p>
                      <a:pPr indent="-285750" lvl="1" marL="914400" rtl="0" algn="l">
                        <a:lnSpc>
                          <a:spcPct val="115000"/>
                        </a:lnSpc>
                        <a:spcBef>
                          <a:spcPts val="0"/>
                        </a:spcBef>
                        <a:spcAft>
                          <a:spcPts val="0"/>
                        </a:spcAft>
                        <a:buClr>
                          <a:srgbClr val="186D7F"/>
                        </a:buClr>
                        <a:buSzPts val="900"/>
                        <a:buAutoNum type="alphaLcPeriod"/>
                      </a:pPr>
                      <a:r>
                        <a:rPr b="0" lang="en" sz="900">
                          <a:solidFill>
                            <a:srgbClr val="186D7F"/>
                          </a:solidFill>
                          <a:latin typeface="Arial"/>
                          <a:ea typeface="Arial"/>
                          <a:cs typeface="Arial"/>
                          <a:sym typeface="Arial"/>
                        </a:rPr>
                        <a:t>Module Activities to Complete</a:t>
                      </a:r>
                      <a:endParaRPr b="0" sz="900">
                        <a:solidFill>
                          <a:srgbClr val="186D7F"/>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AutoNum type="romanLcPeriod"/>
                      </a:pPr>
                      <a:r>
                        <a:rPr lang="en" sz="900" u="sng">
                          <a:solidFill>
                            <a:srgbClr val="279AB2"/>
                          </a:solidFill>
                          <a:latin typeface="Arial"/>
                          <a:ea typeface="Arial"/>
                          <a:cs typeface="Arial"/>
                          <a:sym typeface="Arial"/>
                          <a:hlinkClick r:id="rId19">
                            <a:extLst>
                              <a:ext uri="{A12FA001-AC4F-418D-AE19-62706E023703}">
                                <ahyp:hlinkClr val="tx"/>
                              </a:ext>
                            </a:extLst>
                          </a:hlinkClick>
                        </a:rPr>
                        <a:t>Case Study: Sleeping Drivers in Self-Driving Cars</a:t>
                      </a:r>
                      <a:endParaRPr sz="900" u="sng">
                        <a:solidFill>
                          <a:srgbClr val="279AB2"/>
                        </a:solidFill>
                        <a:latin typeface="Arial"/>
                        <a:ea typeface="Arial"/>
                        <a:cs typeface="Arial"/>
                        <a:sym typeface="Arial"/>
                      </a:endParaRPr>
                    </a:p>
                    <a:p>
                      <a:pPr indent="-285750" lvl="2" marL="1371600" rtl="0" algn="l">
                        <a:lnSpc>
                          <a:spcPct val="115000"/>
                        </a:lnSpc>
                        <a:spcBef>
                          <a:spcPts val="0"/>
                        </a:spcBef>
                        <a:spcAft>
                          <a:spcPts val="0"/>
                        </a:spcAft>
                        <a:buClr>
                          <a:srgbClr val="279AB2"/>
                        </a:buClr>
                        <a:buSzPts val="900"/>
                        <a:buAutoNum type="romanLcPeriod"/>
                      </a:pPr>
                      <a:r>
                        <a:rPr lang="en" sz="900">
                          <a:solidFill>
                            <a:srgbClr val="279AB2"/>
                          </a:solidFill>
                          <a:uFill>
                            <a:noFill/>
                          </a:uFill>
                          <a:latin typeface="Arial"/>
                          <a:ea typeface="Arial"/>
                          <a:cs typeface="Arial"/>
                          <a:sym typeface="Arial"/>
                          <a:hlinkClick r:id="rId20">
                            <a:extLst>
                              <a:ext uri="{A12FA001-AC4F-418D-AE19-62706E023703}">
                                <ahyp:hlinkClr val="tx"/>
                              </a:ext>
                            </a:extLst>
                          </a:hlinkClick>
                        </a:rPr>
                        <a:t> </a:t>
                      </a:r>
                      <a:r>
                        <a:rPr lang="en" sz="900" u="sng">
                          <a:solidFill>
                            <a:srgbClr val="279AB2"/>
                          </a:solidFill>
                          <a:latin typeface="Arial"/>
                          <a:ea typeface="Arial"/>
                          <a:cs typeface="Arial"/>
                          <a:sym typeface="Arial"/>
                          <a:hlinkClick r:id="rId21">
                            <a:extLst>
                              <a:ext uri="{A12FA001-AC4F-418D-AE19-62706E023703}">
                                <ahyp:hlinkClr val="tx"/>
                              </a:ext>
                            </a:extLst>
                          </a:hlinkClick>
                        </a:rPr>
                        <a:t>Ticket Out the Door (Slides 9)</a:t>
                      </a:r>
                      <a:endParaRPr sz="900" u="sng">
                        <a:solidFill>
                          <a:srgbClr val="279AB2"/>
                        </a:solidFill>
                        <a:latin typeface="Arial"/>
                        <a:ea typeface="Arial"/>
                        <a:cs typeface="Arial"/>
                        <a:sym typeface="Arial"/>
                      </a:endParaRPr>
                    </a:p>
                    <a:p>
                      <a:pPr indent="-285750" lvl="0" marL="457200" rtl="0" algn="l">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End of Unit Project - My Dream Bot </a:t>
                      </a:r>
                      <a:endParaRPr b="0" sz="900">
                        <a:solidFill>
                          <a:srgbClr val="186D7F"/>
                        </a:solidFill>
                        <a:latin typeface="Arial"/>
                        <a:ea typeface="Arial"/>
                        <a:cs typeface="Arial"/>
                        <a:sym typeface="Arial"/>
                      </a:endParaRPr>
                    </a:p>
                    <a:p>
                      <a:pPr indent="-285750" lvl="1" marL="914400" rtl="0" algn="l">
                        <a:spcBef>
                          <a:spcPts val="0"/>
                        </a:spcBef>
                        <a:spcAft>
                          <a:spcPts val="0"/>
                        </a:spcAft>
                        <a:buClr>
                          <a:srgbClr val="279AB2"/>
                        </a:buClr>
                        <a:buSzPts val="900"/>
                        <a:buAutoNum type="alphaLcPeriod"/>
                      </a:pPr>
                      <a:r>
                        <a:rPr lang="en" sz="900" u="sng">
                          <a:solidFill>
                            <a:srgbClr val="279AB2"/>
                          </a:solidFill>
                          <a:latin typeface="Arial"/>
                          <a:ea typeface="Arial"/>
                          <a:cs typeface="Arial"/>
                          <a:sym typeface="Arial"/>
                          <a:hlinkClick r:id="rId22">
                            <a:extLst>
                              <a:ext uri="{A12FA001-AC4F-418D-AE19-62706E023703}">
                                <ahyp:hlinkClr val="tx"/>
                              </a:ext>
                            </a:extLst>
                          </a:hlinkClick>
                        </a:rPr>
                        <a:t>Slides</a:t>
                      </a:r>
                      <a:endParaRPr sz="900">
                        <a:solidFill>
                          <a:srgbClr val="279AB2"/>
                        </a:solidFill>
                        <a:latin typeface="Arial"/>
                        <a:ea typeface="Arial"/>
                        <a:cs typeface="Arial"/>
                        <a:sym typeface="Arial"/>
                      </a:endParaRPr>
                    </a:p>
                    <a:p>
                      <a:pPr indent="-285750" lvl="1" marL="914400" rtl="0" algn="l">
                        <a:spcBef>
                          <a:spcPts val="0"/>
                        </a:spcBef>
                        <a:spcAft>
                          <a:spcPts val="0"/>
                        </a:spcAft>
                        <a:buClr>
                          <a:srgbClr val="279AB2"/>
                        </a:buClr>
                        <a:buSzPts val="900"/>
                        <a:buAutoNum type="alphaLcPeriod"/>
                      </a:pPr>
                      <a:r>
                        <a:rPr lang="en" sz="900" u="sng">
                          <a:solidFill>
                            <a:srgbClr val="279AB2"/>
                          </a:solidFill>
                          <a:latin typeface="Arial"/>
                          <a:ea typeface="Arial"/>
                          <a:cs typeface="Arial"/>
                          <a:sym typeface="Arial"/>
                          <a:hlinkClick r:id="rId23">
                            <a:extLst>
                              <a:ext uri="{A12FA001-AC4F-418D-AE19-62706E023703}">
                                <ahyp:hlinkClr val="tx"/>
                              </a:ext>
                            </a:extLst>
                          </a:hlinkClick>
                        </a:rPr>
                        <a:t>Imagine your robot </a:t>
                      </a:r>
                      <a:endParaRPr sz="900">
                        <a:solidFill>
                          <a:srgbClr val="279AB2"/>
                        </a:solidFill>
                        <a:latin typeface="Arial"/>
                        <a:ea typeface="Arial"/>
                        <a:cs typeface="Arial"/>
                        <a:sym typeface="Arial"/>
                      </a:endParaRPr>
                    </a:p>
                    <a:p>
                      <a:pPr indent="-285750" lvl="0" marL="457200" rtl="0" algn="l">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Case-Study - Self-Driving cars</a:t>
                      </a:r>
                      <a:endParaRPr b="0" sz="900">
                        <a:solidFill>
                          <a:srgbClr val="186D7F"/>
                        </a:solidFill>
                        <a:latin typeface="Arial"/>
                        <a:ea typeface="Arial"/>
                        <a:cs typeface="Arial"/>
                        <a:sym typeface="Arial"/>
                      </a:endParaRPr>
                    </a:p>
                    <a:p>
                      <a:pPr indent="-285750" lvl="1" marL="914400" rtl="0" algn="l">
                        <a:spcBef>
                          <a:spcPts val="0"/>
                        </a:spcBef>
                        <a:spcAft>
                          <a:spcPts val="0"/>
                        </a:spcAft>
                        <a:buClr>
                          <a:srgbClr val="186D7F"/>
                        </a:buClr>
                        <a:buSzPts val="900"/>
                        <a:buAutoNum type="alphaLcPeriod"/>
                      </a:pPr>
                      <a:r>
                        <a:rPr b="0" lang="en" sz="900">
                          <a:solidFill>
                            <a:srgbClr val="186D7F"/>
                          </a:solidFill>
                          <a:latin typeface="Arial"/>
                          <a:ea typeface="Arial"/>
                          <a:cs typeface="Arial"/>
                          <a:sym typeface="Arial"/>
                        </a:rPr>
                        <a:t>  </a:t>
                      </a:r>
                      <a:r>
                        <a:rPr lang="en" sz="900" u="sng">
                          <a:solidFill>
                            <a:srgbClr val="279AB2"/>
                          </a:solidFill>
                          <a:latin typeface="Arial"/>
                          <a:ea typeface="Arial"/>
                          <a:cs typeface="Arial"/>
                          <a:sym typeface="Arial"/>
                          <a:hlinkClick r:id="rId24">
                            <a:extLst>
                              <a:ext uri="{A12FA001-AC4F-418D-AE19-62706E023703}">
                                <ahyp:hlinkClr val="tx"/>
                              </a:ext>
                            </a:extLst>
                          </a:hlinkClick>
                        </a:rPr>
                        <a:t>Slides</a:t>
                      </a:r>
                      <a:endParaRPr sz="900">
                        <a:solidFill>
                          <a:srgbClr val="279AB2"/>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0" sz="900">
                        <a:solidFill>
                          <a:srgbClr val="186D7F"/>
                        </a:solidFill>
                        <a:latin typeface="Arial"/>
                        <a:ea typeface="Arial"/>
                        <a:cs typeface="Arial"/>
                        <a:sym typeface="Arial"/>
                      </a:endParaRPr>
                    </a:p>
                    <a:p>
                      <a:pPr indent="0" lvl="0" marL="0" rtl="0" algn="ctr">
                        <a:lnSpc>
                          <a:spcPct val="115000"/>
                        </a:lnSpc>
                        <a:spcBef>
                          <a:spcPts val="0"/>
                        </a:spcBef>
                        <a:spcAft>
                          <a:spcPts val="0"/>
                        </a:spcAft>
                        <a:buClr>
                          <a:schemeClr val="dk1"/>
                        </a:buClr>
                        <a:buSzPts val="1100"/>
                        <a:buFont typeface="Arial"/>
                        <a:buNone/>
                      </a:pPr>
                      <a:r>
                        <a:rPr lang="en" sz="900">
                          <a:solidFill>
                            <a:srgbClr val="186D7F"/>
                          </a:solidFill>
                          <a:latin typeface="Arial"/>
                          <a:ea typeface="Arial"/>
                          <a:cs typeface="Arial"/>
                          <a:sym typeface="Arial"/>
                        </a:rPr>
                        <a:t>Build Your Own Robot</a:t>
                      </a:r>
                      <a:endParaRPr sz="900">
                        <a:solidFill>
                          <a:srgbClr val="186D7F"/>
                        </a:solidFill>
                        <a:latin typeface="Arial"/>
                        <a:ea typeface="Arial"/>
                        <a:cs typeface="Arial"/>
                        <a:sym typeface="Arial"/>
                      </a:endParaRPr>
                    </a:p>
                    <a:p>
                      <a:pPr indent="0" lvl="0" marL="0" rtl="0" algn="ctr">
                        <a:lnSpc>
                          <a:spcPct val="115000"/>
                        </a:lnSpc>
                        <a:spcBef>
                          <a:spcPts val="0"/>
                        </a:spcBef>
                        <a:spcAft>
                          <a:spcPts val="0"/>
                        </a:spcAft>
                        <a:buClr>
                          <a:schemeClr val="dk1"/>
                        </a:buClr>
                        <a:buSzPts val="1100"/>
                        <a:buFont typeface="Arial"/>
                        <a:buNone/>
                      </a:pPr>
                      <a:r>
                        <a:rPr b="0" lang="en" sz="900">
                          <a:solidFill>
                            <a:srgbClr val="186D7F"/>
                          </a:solidFill>
                          <a:latin typeface="Arial"/>
                          <a:ea typeface="Arial"/>
                          <a:cs typeface="Arial"/>
                          <a:sym typeface="Arial"/>
                        </a:rPr>
                        <a:t>This activity is designed for students to extend the</a:t>
                      </a:r>
                      <a:r>
                        <a:rPr b="0" lang="en" sz="900">
                          <a:solidFill>
                            <a:srgbClr val="186D7F"/>
                          </a:solidFill>
                          <a:uFill>
                            <a:noFill/>
                          </a:uFill>
                          <a:latin typeface="Arial"/>
                          <a:ea typeface="Arial"/>
                          <a:cs typeface="Arial"/>
                          <a:sym typeface="Arial"/>
                          <a:hlinkClick r:id="rId25">
                            <a:extLst>
                              <a:ext uri="{A12FA001-AC4F-418D-AE19-62706E023703}">
                                <ahyp:hlinkClr val="tx"/>
                              </a:ext>
                            </a:extLst>
                          </a:hlinkClick>
                        </a:rPr>
                        <a:t> </a:t>
                      </a:r>
                      <a:r>
                        <a:rPr lang="en" sz="900" u="sng">
                          <a:solidFill>
                            <a:srgbClr val="279AB2"/>
                          </a:solidFill>
                          <a:latin typeface="Arial"/>
                          <a:ea typeface="Arial"/>
                          <a:cs typeface="Arial"/>
                          <a:sym typeface="Arial"/>
                          <a:hlinkClick r:id="rId26">
                            <a:extLst>
                              <a:ext uri="{A12FA001-AC4F-418D-AE19-62706E023703}">
                                <ahyp:hlinkClr val="tx"/>
                              </a:ext>
                            </a:extLst>
                          </a:hlinkClick>
                        </a:rPr>
                        <a:t>My Dream Bot</a:t>
                      </a:r>
                      <a:r>
                        <a:rPr lang="en" sz="900">
                          <a:solidFill>
                            <a:srgbClr val="279AB2"/>
                          </a:solidFill>
                          <a:latin typeface="Arial"/>
                          <a:ea typeface="Arial"/>
                          <a:cs typeface="Arial"/>
                          <a:sym typeface="Arial"/>
                        </a:rPr>
                        <a:t> </a:t>
                      </a:r>
                      <a:r>
                        <a:rPr b="0" lang="en" sz="900">
                          <a:solidFill>
                            <a:srgbClr val="186D7F"/>
                          </a:solidFill>
                          <a:latin typeface="Arial"/>
                          <a:ea typeface="Arial"/>
                          <a:cs typeface="Arial"/>
                          <a:sym typeface="Arial"/>
                        </a:rPr>
                        <a:t>activity into a polished end of unit project   </a:t>
                      </a:r>
                      <a:endParaRPr b="0" sz="900">
                        <a:solidFill>
                          <a:srgbClr val="186D7F"/>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 sz="900">
                          <a:solidFill>
                            <a:srgbClr val="186D7F"/>
                          </a:solidFill>
                          <a:latin typeface="Arial"/>
                          <a:ea typeface="Arial"/>
                          <a:cs typeface="Arial"/>
                          <a:sym typeface="Arial"/>
                        </a:rPr>
                        <a:t>Suggestions:</a:t>
                      </a:r>
                      <a:endParaRPr i="1" sz="900">
                        <a:solidFill>
                          <a:srgbClr val="186D7F"/>
                        </a:solidFill>
                        <a:latin typeface="Arial"/>
                        <a:ea typeface="Arial"/>
                        <a:cs typeface="Arial"/>
                        <a:sym typeface="Arial"/>
                      </a:endParaRPr>
                    </a:p>
                    <a:p>
                      <a:pPr indent="-285750" lvl="0" marL="5588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If students have completed the My Dream Bot activity as they worked through the unit, you can have them review their My Dream bot slides to see how they might refine the functionality of their robot. This can be done in pairs. </a:t>
                      </a:r>
                      <a:endParaRPr b="0" sz="900">
                        <a:solidFill>
                          <a:srgbClr val="186D7F"/>
                        </a:solidFill>
                        <a:latin typeface="Arial"/>
                        <a:ea typeface="Arial"/>
                        <a:cs typeface="Arial"/>
                        <a:sym typeface="Arial"/>
                      </a:endParaRPr>
                    </a:p>
                    <a:p>
                      <a:pPr indent="-285750" lvl="0" marL="558800" rtl="0" algn="l">
                        <a:lnSpc>
                          <a:spcPct val="115000"/>
                        </a:lnSpc>
                        <a:spcBef>
                          <a:spcPts val="0"/>
                        </a:spcBef>
                        <a:spcAft>
                          <a:spcPts val="0"/>
                        </a:spcAft>
                        <a:buClr>
                          <a:srgbClr val="186D7F"/>
                        </a:buClr>
                        <a:buSzPts val="900"/>
                        <a:buAutoNum type="arabicPeriod"/>
                      </a:pPr>
                      <a:r>
                        <a:rPr b="0" lang="en" sz="900">
                          <a:solidFill>
                            <a:srgbClr val="186D7F"/>
                          </a:solidFill>
                          <a:latin typeface="Arial"/>
                          <a:ea typeface="Arial"/>
                          <a:cs typeface="Arial"/>
                          <a:sym typeface="Arial"/>
                        </a:rPr>
                        <a:t>If the student did not work on the My Dream Bot activity, they could do this first as a way to scaffold the their work in the mini-project.</a:t>
                      </a:r>
                      <a:endParaRPr b="0" sz="900">
                        <a:solidFill>
                          <a:srgbClr val="186D7F"/>
                        </a:solidFill>
                        <a:latin typeface="Arial"/>
                        <a:ea typeface="Arial"/>
                        <a:cs typeface="Arial"/>
                        <a:sym typeface="Arial"/>
                      </a:endParaRPr>
                    </a:p>
                    <a:p>
                      <a:pPr indent="0" lvl="0" marL="0" rtl="0" algn="ctr">
                        <a:lnSpc>
                          <a:spcPct val="156000"/>
                        </a:lnSpc>
                        <a:spcBef>
                          <a:spcPts val="0"/>
                        </a:spcBef>
                        <a:spcAft>
                          <a:spcPts val="0"/>
                        </a:spcAft>
                        <a:buClr>
                          <a:schemeClr val="dk1"/>
                        </a:buClr>
                        <a:buSzPts val="1100"/>
                        <a:buFont typeface="Arial"/>
                        <a:buNone/>
                      </a:pPr>
                      <a:r>
                        <a:rPr lang="en" sz="900" u="sng">
                          <a:solidFill>
                            <a:srgbClr val="279AB2"/>
                          </a:solidFill>
                          <a:latin typeface="Arial"/>
                          <a:ea typeface="Arial"/>
                          <a:cs typeface="Arial"/>
                          <a:sym typeface="Arial"/>
                          <a:hlinkClick r:id="rId27">
                            <a:extLst>
                              <a:ext uri="{A12FA001-AC4F-418D-AE19-62706E023703}">
                                <ahyp:hlinkClr val="tx"/>
                              </a:ext>
                            </a:extLst>
                          </a:hlinkClick>
                        </a:rPr>
                        <a:t>End of Unit Student Assessment </a:t>
                      </a:r>
                      <a:endParaRPr sz="900">
                        <a:solidFill>
                          <a:srgbClr val="279AB2"/>
                        </a:solidFill>
                        <a:latin typeface="Arial"/>
                        <a:ea typeface="Arial"/>
                        <a:cs typeface="Arial"/>
                        <a:sym typeface="Arial"/>
                      </a:endParaRPr>
                    </a:p>
                  </a:txBody>
                  <a:tcPr marT="34300" marB="34300" marR="68600" marL="68600">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9FDDDB"/>
                    </a:solidFill>
                  </a:tcPr>
                </a:tc>
              </a:tr>
            </a:tbl>
          </a:graphicData>
        </a:graphic>
      </p:graphicFrame>
      <p:pic>
        <p:nvPicPr>
          <p:cNvPr id="98" name="Google Shape;98;p14">
            <a:hlinkClick r:id="rId28"/>
          </p:cNvPr>
          <p:cNvPicPr preferRelativeResize="0"/>
          <p:nvPr/>
        </p:nvPicPr>
        <p:blipFill rotWithShape="1">
          <a:blip r:embed="rId29">
            <a:alphaModFix/>
          </a:blip>
          <a:srcRect b="0" l="0" r="0" t="0"/>
          <a:stretch/>
        </p:blipFill>
        <p:spPr>
          <a:xfrm>
            <a:off x="56700" y="50613"/>
            <a:ext cx="692738" cy="816875"/>
          </a:xfrm>
          <a:prstGeom prst="rect">
            <a:avLst/>
          </a:prstGeom>
          <a:noFill/>
          <a:ln>
            <a:noFill/>
          </a:ln>
        </p:spPr>
      </p:pic>
      <p:pic>
        <p:nvPicPr>
          <p:cNvPr id="99" name="Google Shape;99;p14"/>
          <p:cNvPicPr preferRelativeResize="0"/>
          <p:nvPr/>
        </p:nvPicPr>
        <p:blipFill rotWithShape="1">
          <a:blip r:embed="rId30">
            <a:alphaModFix/>
          </a:blip>
          <a:srcRect b="0" l="0" r="0" t="0"/>
          <a:stretch/>
        </p:blipFill>
        <p:spPr>
          <a:xfrm>
            <a:off x="8218673" y="214050"/>
            <a:ext cx="820500" cy="816900"/>
          </a:xfrm>
          <a:prstGeom prst="ellipse">
            <a:avLst/>
          </a:prstGeom>
          <a:noFill/>
          <a:ln cap="rnd" cmpd="sng" w="63500">
            <a:solidFill>
              <a:srgbClr val="0097A7"/>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