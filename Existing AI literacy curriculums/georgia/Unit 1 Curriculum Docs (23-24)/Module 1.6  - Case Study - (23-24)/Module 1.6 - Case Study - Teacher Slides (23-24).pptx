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
      <p:font typeface="Permanent Marker"/>
      <p:regular r:id="rId29"/>
    </p:embeddedFont>
    <p:embeddedFont>
      <p:font typeface="Helvetica Neue"/>
      <p:regular r:id="rId30"/>
      <p:bold r:id="rId31"/>
      <p:italic r:id="rId32"/>
      <p:boldItalic r:id="rId33"/>
    </p:embeddedFont>
    <p:embeddedFont>
      <p:font typeface="Merriweather"/>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ermanentMarke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35" Type="http://schemas.openxmlformats.org/officeDocument/2006/relationships/font" Target="fonts/Merriweather-bold.fntdata"/><Relationship Id="rId12" Type="http://schemas.openxmlformats.org/officeDocument/2006/relationships/slide" Target="slides/slide7.xml"/><Relationship Id="rId34" Type="http://schemas.openxmlformats.org/officeDocument/2006/relationships/font" Target="fonts/Merriweather-regular.fntdata"/><Relationship Id="rId15" Type="http://schemas.openxmlformats.org/officeDocument/2006/relationships/slide" Target="slides/slide10.xml"/><Relationship Id="rId37" Type="http://schemas.openxmlformats.org/officeDocument/2006/relationships/font" Target="fonts/Merriweather-boldItalic.fntdata"/><Relationship Id="rId14" Type="http://schemas.openxmlformats.org/officeDocument/2006/relationships/slide" Target="slides/slide9.xml"/><Relationship Id="rId36" Type="http://schemas.openxmlformats.org/officeDocument/2006/relationships/font" Target="fonts/Merriweather-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c304c237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c304c237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1bd6bdda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1bd6bdda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d8106e7d4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d8106e7d4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Notes: </a:t>
            </a:r>
            <a:endParaRPr/>
          </a:p>
          <a:p>
            <a:pPr indent="0" lvl="0" marL="0" rtl="0" algn="l">
              <a:spcBef>
                <a:spcPts val="0"/>
              </a:spcBef>
              <a:spcAft>
                <a:spcPts val="0"/>
              </a:spcAft>
              <a:buNone/>
            </a:pPr>
            <a:r>
              <a:rPr lang="en"/>
              <a:t>Possible </a:t>
            </a:r>
            <a:r>
              <a:rPr lang="en"/>
              <a:t>surprising</a:t>
            </a:r>
            <a:r>
              <a:rPr lang="en"/>
              <a:t>/interesting</a:t>
            </a:r>
            <a:endParaRPr/>
          </a:p>
          <a:p>
            <a:pPr indent="-298450" lvl="0" marL="457200" rtl="0" algn="l">
              <a:spcBef>
                <a:spcPts val="0"/>
              </a:spcBef>
              <a:spcAft>
                <a:spcPts val="0"/>
              </a:spcAft>
              <a:buSzPts val="1100"/>
              <a:buChar char="●"/>
            </a:pPr>
            <a:r>
              <a:rPr lang="en"/>
              <a:t>That the car is able to drive without causing an accident while the drivers are sleeping</a:t>
            </a:r>
            <a:endParaRPr/>
          </a:p>
          <a:p>
            <a:pPr indent="-298450" lvl="0" marL="457200" rtl="0" algn="l">
              <a:spcBef>
                <a:spcPts val="0"/>
              </a:spcBef>
              <a:spcAft>
                <a:spcPts val="0"/>
              </a:spcAft>
              <a:buSzPts val="1100"/>
              <a:buChar char="●"/>
            </a:pPr>
            <a:r>
              <a:rPr lang="en"/>
              <a:t>How long the drivers were able to sleep</a:t>
            </a:r>
            <a:endParaRPr/>
          </a:p>
          <a:p>
            <a:pPr indent="-298450" lvl="0" marL="457200" rtl="0" algn="l">
              <a:spcBef>
                <a:spcPts val="0"/>
              </a:spcBef>
              <a:spcAft>
                <a:spcPts val="0"/>
              </a:spcAft>
              <a:buSzPts val="1100"/>
              <a:buChar char="●"/>
            </a:pPr>
            <a:r>
              <a:rPr lang="en"/>
              <a:t>The driver’s seat seemed to be reclined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did you learn/producers want you to learn</a:t>
            </a:r>
            <a:endParaRPr/>
          </a:p>
          <a:p>
            <a:pPr indent="-298450" lvl="0" marL="457200" rtl="0" algn="l">
              <a:spcBef>
                <a:spcPts val="0"/>
              </a:spcBef>
              <a:spcAft>
                <a:spcPts val="0"/>
              </a:spcAft>
              <a:buSzPts val="1100"/>
              <a:buChar char="●"/>
            </a:pPr>
            <a:r>
              <a:rPr lang="en"/>
              <a:t>Tesla has sensors that warn you if your hands come off the steering wheel - light and alarm</a:t>
            </a:r>
            <a:endParaRPr/>
          </a:p>
          <a:p>
            <a:pPr indent="-298450" lvl="0" marL="457200" rtl="0" algn="l">
              <a:spcBef>
                <a:spcPts val="0"/>
              </a:spcBef>
              <a:spcAft>
                <a:spcPts val="0"/>
              </a:spcAft>
              <a:buSzPts val="1100"/>
              <a:buChar char="●"/>
            </a:pPr>
            <a:r>
              <a:rPr lang="en"/>
              <a:t>The car will continue to drive in self-driving mode even if your hands come of the wheel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0d8106e7d4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0d8106e7d4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d8106e7d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d8106e7d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d8106e7d4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d8106e7d4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Teacher Note: Data Collection: Student artifact </a:t>
            </a:r>
            <a:r>
              <a:rPr lang="en"/>
              <a:t>- Have students answer this question and explain their answer.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d8106e7d4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d8106e7d4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Teacher Note: Data Collection: Student artifact </a:t>
            </a:r>
            <a:r>
              <a:rPr lang="en"/>
              <a:t>- Have students answer this question and explain their answer.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0d8106e7d4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0d8106e7d4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0d8106e7d4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0d8106e7d4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d8106e7d4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d8106e7d4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d8106e7d4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d8106e7d4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Teacher note: Owners have to have to agree not to misuse the autopilot mode. The moral hazard is that Tesla can choose to rely on the owners’ promises </a:t>
            </a:r>
            <a:r>
              <a:rPr lang="en"/>
              <a:t>even though</a:t>
            </a:r>
            <a:r>
              <a:rPr lang="en"/>
              <a:t> they know that a certain percentage of them are lying. They are using this reliance to justify the release of autopilot mode in its unfinished and therefore dangerous state.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0d8106e7d4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0d8106e7d4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d8106e7d4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d8106e7d4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0d8106e7d4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0d8106e7d4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0d8106e7d4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0d8106e7d4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Both video provide some answers about the consequences. Student can do a little research to answer this question.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3c9e53985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3c9e53985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3c9e5398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3c9e5398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0d8106e7d4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0d8106e7d4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0db06bf04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0db06bf04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hyperlink" Target="http://www.youtube.com/watch?v=NHUZxeSUFUk" TargetMode="External"/><Relationship Id="rId7"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NHUZxeSUFUk" TargetMode="External"/><Relationship Id="rId4" Type="http://schemas.openxmlformats.org/officeDocument/2006/relationships/image" Target="../media/image3.jpg"/><Relationship Id="rId5" Type="http://schemas.openxmlformats.org/officeDocument/2006/relationships/hyperlink" Target="https://www.youtube.com/watch?v=NHUZxeSUFU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NHUZxeSUFUk" TargetMode="External"/><Relationship Id="rId4" Type="http://schemas.openxmlformats.org/officeDocument/2006/relationships/image" Target="../media/image3.jpg"/><Relationship Id="rId5" Type="http://schemas.openxmlformats.org/officeDocument/2006/relationships/hyperlink" Target="https://www.youtube.com/watch?v=NHUZxeSUFU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youtube.com/watch?v=WQyliOXgNnc" TargetMode="External"/><Relationship Id="rId4" Type="http://schemas.openxmlformats.org/officeDocument/2006/relationships/hyperlink" Target="http://www.youtube.com/watch?v=WQyliOXgNnc" TargetMode="External"/><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www.youtube.com/watch?v=YP8KwawXS5k" TargetMode="Externa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www.tesla.com/support/autopilo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youtube.com/watch?v=ZhObsMnipS8" TargetMode="External"/><Relationship Id="rId4" Type="http://schemas.openxmlformats.org/officeDocument/2006/relationships/hyperlink" Target="https://www.youtube.com/watch?v=YQKXl5x2Alc" TargetMode="External"/><Relationship Id="rId5" Type="http://schemas.openxmlformats.org/officeDocument/2006/relationships/hyperlink" Target="https://insideevs.com/news/517321/tesla-owner-sleeping-on-autopilo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1.6,  Case Study #1:</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Sleeping Drivers in Self-Driving Cars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55" name="Google Shape;55;p13"/>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57" name="Google Shape;57;p1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58" name="Google Shape;58;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59" name="Google Shape;59;p13"/>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a:t>
            </a:r>
            <a:r>
              <a:rPr b="1" lang="en" sz="900">
                <a:solidFill>
                  <a:schemeClr val="dk1"/>
                </a:solidFill>
                <a:highlight>
                  <a:srgbClr val="FFFFFF"/>
                </a:highlight>
              </a:rPr>
              <a:t>NonCommercial</a:t>
            </a:r>
            <a:r>
              <a:rPr b="1" lang="en" sz="900">
                <a:solidFill>
                  <a:schemeClr val="dk1"/>
                </a:solidFill>
                <a:highlight>
                  <a:srgbClr val="FFFFFF"/>
                </a:highlight>
              </a:rPr>
              <a:t>-ShareAlike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60" name="Google Shape;60;p13" title="Tesla Driver Caught On Camera Apparently Asleep At The Wheel | NBC Nightly News">
            <a:hlinkClick r:id="rId6"/>
          </p:cNvPr>
          <p:cNvPicPr preferRelativeResize="0"/>
          <p:nvPr/>
        </p:nvPicPr>
        <p:blipFill>
          <a:blip r:embed="rId7">
            <a:alphaModFix/>
          </a:blip>
          <a:stretch>
            <a:fillRect/>
          </a:stretch>
        </p:blipFill>
        <p:spPr>
          <a:xfrm>
            <a:off x="3726525" y="1922975"/>
            <a:ext cx="3112534" cy="233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6" name="Google Shape;66;p14"/>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67" name="Google Shape;67;p14"/>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42900" lvl="0" marL="457200" rtl="0" algn="l">
              <a:spcBef>
                <a:spcPts val="1200"/>
              </a:spcBef>
              <a:spcAft>
                <a:spcPts val="0"/>
              </a:spcAft>
              <a:buClr>
                <a:schemeClr val="dk1"/>
              </a:buClr>
              <a:buSzPts val="1800"/>
              <a:buChar char="●"/>
            </a:pPr>
            <a:r>
              <a:rPr lang="en" sz="1800">
                <a:solidFill>
                  <a:schemeClr val="dk1"/>
                </a:solidFill>
              </a:rPr>
              <a:t>Describe social and ethical issues of autonomous vehicles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Describe the benefits and harmful impacts of autonomous vehicles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Consider multiple perspectives when evaluating AI technology</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 Tesla Driver Caught On Camera Apparently Asleep At The Wheel | NBC Nightly News</a:t>
            </a:r>
            <a:endParaRPr/>
          </a:p>
        </p:txBody>
      </p:sp>
      <p:sp>
        <p:nvSpPr>
          <p:cNvPr id="73" name="Google Shape;73;p15"/>
          <p:cNvSpPr txBox="1"/>
          <p:nvPr>
            <p:ph idx="1" type="body"/>
          </p:nvPr>
        </p:nvSpPr>
        <p:spPr>
          <a:xfrm>
            <a:off x="5340600" y="1678050"/>
            <a:ext cx="3491700" cy="2655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solidFill>
                  <a:srgbClr val="0000FF"/>
                </a:solidFill>
              </a:rPr>
              <a:t>As you watch the video, </a:t>
            </a:r>
            <a:br>
              <a:rPr lang="en">
                <a:solidFill>
                  <a:srgbClr val="0000FF"/>
                </a:solidFill>
              </a:rPr>
            </a:br>
            <a:r>
              <a:rPr lang="en">
                <a:solidFill>
                  <a:srgbClr val="0000FF"/>
                </a:solidFill>
              </a:rPr>
              <a:t>think about </a:t>
            </a:r>
            <a:endParaRPr>
              <a:solidFill>
                <a:srgbClr val="0000FF"/>
              </a:solidFill>
            </a:endParaRPr>
          </a:p>
          <a:p>
            <a:pPr indent="-334327" lvl="0" marL="457200" rtl="0" algn="l">
              <a:spcBef>
                <a:spcPts val="1200"/>
              </a:spcBef>
              <a:spcAft>
                <a:spcPts val="0"/>
              </a:spcAft>
              <a:buClr>
                <a:schemeClr val="dk1"/>
              </a:buClr>
              <a:buSzPct val="100000"/>
              <a:buChar char="●"/>
            </a:pPr>
            <a:r>
              <a:rPr lang="en">
                <a:solidFill>
                  <a:schemeClr val="dk1"/>
                </a:solidFill>
              </a:rPr>
              <a:t>What do you find interesting or surprising?</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What do the producers of the video want you to learn?</a:t>
            </a:r>
            <a:endParaRPr>
              <a:solidFill>
                <a:schemeClr val="dk1"/>
              </a:solidFill>
            </a:endParaRPr>
          </a:p>
          <a:p>
            <a:pPr indent="0" lvl="0" marL="457200" rtl="0" algn="l">
              <a:spcBef>
                <a:spcPts val="1000"/>
              </a:spcBef>
              <a:spcAft>
                <a:spcPts val="1200"/>
              </a:spcAft>
              <a:buNone/>
            </a:pPr>
            <a:r>
              <a:t/>
            </a:r>
            <a:endParaRPr>
              <a:solidFill>
                <a:schemeClr val="dk1"/>
              </a:solidFill>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74" name="Google Shape;74;p15" title="Tesla Driver Caught On Camera Apparently Asleep At The Wheel | NBC Nightly News">
            <a:hlinkClick r:id="rId3"/>
          </p:cNvPr>
          <p:cNvPicPr preferRelativeResize="0"/>
          <p:nvPr/>
        </p:nvPicPr>
        <p:blipFill>
          <a:blip r:embed="rId4">
            <a:alphaModFix/>
          </a:blip>
          <a:stretch>
            <a:fillRect/>
          </a:stretch>
        </p:blipFill>
        <p:spPr>
          <a:xfrm>
            <a:off x="381000" y="1170125"/>
            <a:ext cx="4572000" cy="3429000"/>
          </a:xfrm>
          <a:prstGeom prst="rect">
            <a:avLst/>
          </a:prstGeom>
          <a:noFill/>
          <a:ln>
            <a:noFill/>
          </a:ln>
        </p:spPr>
      </p:pic>
      <p:sp>
        <p:nvSpPr>
          <p:cNvPr id="75" name="Google Shape;75;p15"/>
          <p:cNvSpPr txBox="1"/>
          <p:nvPr/>
        </p:nvSpPr>
        <p:spPr>
          <a:xfrm>
            <a:off x="306375" y="4727000"/>
            <a:ext cx="512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https://www.youtube.com/watch?v=NHUZxeSUFUk</a:t>
            </a:r>
            <a:r>
              <a:rPr lang="en"/>
              <a:t> (1:35)</a:t>
            </a:r>
            <a:endParaRPr/>
          </a:p>
        </p:txBody>
      </p:sp>
      <p:sp>
        <p:nvSpPr>
          <p:cNvPr id="76" name="Google Shape;76;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 Tesla Driver Caught On Camera Apparently Asleep At The Wheel | NBC Nightly News</a:t>
            </a:r>
            <a:endParaRPr/>
          </a:p>
        </p:txBody>
      </p:sp>
      <p:sp>
        <p:nvSpPr>
          <p:cNvPr id="82" name="Google Shape;82;p16"/>
          <p:cNvSpPr txBox="1"/>
          <p:nvPr>
            <p:ph idx="1" type="body"/>
          </p:nvPr>
        </p:nvSpPr>
        <p:spPr>
          <a:xfrm>
            <a:off x="5340600" y="1381075"/>
            <a:ext cx="34917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solidFill>
                  <a:srgbClr val="0000FF"/>
                </a:solidFill>
              </a:rPr>
              <a:t>Let’s watch it again</a:t>
            </a:r>
            <a:endParaRPr b="1">
              <a:solidFill>
                <a:srgbClr val="0000FF"/>
              </a:solidFill>
            </a:endParaRPr>
          </a:p>
          <a:p>
            <a:pPr indent="-334327" lvl="0" marL="457200" rtl="0" algn="l">
              <a:spcBef>
                <a:spcPts val="1200"/>
              </a:spcBef>
              <a:spcAft>
                <a:spcPts val="0"/>
              </a:spcAft>
              <a:buClr>
                <a:schemeClr val="dk1"/>
              </a:buClr>
              <a:buSzPct val="100000"/>
              <a:buChar char="●"/>
            </a:pPr>
            <a:r>
              <a:rPr lang="en">
                <a:solidFill>
                  <a:schemeClr val="dk1"/>
                </a:solidFill>
              </a:rPr>
              <a:t>Is the human using the self-driving car as it was intended?</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responsible behavior?</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behavior legal?</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it safe behavior?</a:t>
            </a:r>
            <a:endParaRPr>
              <a:solidFill>
                <a:schemeClr val="dk1"/>
              </a:solidFill>
            </a:endParaRPr>
          </a:p>
          <a:p>
            <a:pPr indent="-334327" lvl="0" marL="457200" rtl="0" algn="l">
              <a:spcBef>
                <a:spcPts val="1000"/>
              </a:spcBef>
              <a:spcAft>
                <a:spcPts val="1000"/>
              </a:spcAft>
              <a:buClr>
                <a:schemeClr val="dk1"/>
              </a:buClr>
              <a:buSzPct val="100000"/>
              <a:buChar char="●"/>
            </a:pPr>
            <a:r>
              <a:rPr lang="en">
                <a:solidFill>
                  <a:schemeClr val="dk1"/>
                </a:solidFill>
              </a:rPr>
              <a:t>Are the sensors operating properly?</a:t>
            </a:r>
            <a:endParaRPr>
              <a:solidFill>
                <a:schemeClr val="dk1"/>
              </a:solidFill>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83" name="Google Shape;83;p16" title="Tesla Driver Caught On Camera Apparently Asleep At The Wheel | NBC Nightly News">
            <a:hlinkClick r:id="rId3"/>
          </p:cNvPr>
          <p:cNvPicPr preferRelativeResize="0"/>
          <p:nvPr/>
        </p:nvPicPr>
        <p:blipFill>
          <a:blip r:embed="rId4">
            <a:alphaModFix/>
          </a:blip>
          <a:stretch>
            <a:fillRect/>
          </a:stretch>
        </p:blipFill>
        <p:spPr>
          <a:xfrm>
            <a:off x="381000" y="1170125"/>
            <a:ext cx="4572000" cy="3429000"/>
          </a:xfrm>
          <a:prstGeom prst="rect">
            <a:avLst/>
          </a:prstGeom>
          <a:noFill/>
          <a:ln>
            <a:noFill/>
          </a:ln>
        </p:spPr>
      </p:pic>
      <p:sp>
        <p:nvSpPr>
          <p:cNvPr id="84" name="Google Shape;84;p16"/>
          <p:cNvSpPr txBox="1"/>
          <p:nvPr/>
        </p:nvSpPr>
        <p:spPr>
          <a:xfrm>
            <a:off x="306375" y="4727000"/>
            <a:ext cx="512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https://www.youtube.com/watch?v=NHUZxeSUFUk</a:t>
            </a:r>
            <a:r>
              <a:rPr lang="en"/>
              <a:t> (1:35)</a:t>
            </a:r>
            <a:endParaRPr/>
          </a:p>
        </p:txBody>
      </p:sp>
      <p:sp>
        <p:nvSpPr>
          <p:cNvPr id="85" name="Google Shape;8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 </a:t>
            </a:r>
            <a:r>
              <a:rPr lang="en"/>
              <a:t>Video shows Tesla driver seemingly asleep at the wheel on a BC bridge during rush hour</a:t>
            </a:r>
            <a:endParaRPr/>
          </a:p>
        </p:txBody>
      </p:sp>
      <p:sp>
        <p:nvSpPr>
          <p:cNvPr id="91" name="Google Shape;91;p17"/>
          <p:cNvSpPr txBox="1"/>
          <p:nvPr>
            <p:ph idx="1" type="body"/>
          </p:nvPr>
        </p:nvSpPr>
        <p:spPr>
          <a:xfrm>
            <a:off x="5340600" y="1381075"/>
            <a:ext cx="34917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solidFill>
                  <a:srgbClr val="0000FF"/>
                </a:solidFill>
              </a:rPr>
              <a:t>Let’s watch a new video and keep these questions in mind</a:t>
            </a:r>
            <a:endParaRPr b="1">
              <a:solidFill>
                <a:srgbClr val="0000FF"/>
              </a:solidFill>
            </a:endParaRPr>
          </a:p>
          <a:p>
            <a:pPr indent="-334327" lvl="0" marL="457200" rtl="0" algn="l">
              <a:spcBef>
                <a:spcPts val="1200"/>
              </a:spcBef>
              <a:spcAft>
                <a:spcPts val="0"/>
              </a:spcAft>
              <a:buClr>
                <a:schemeClr val="dk1"/>
              </a:buClr>
              <a:buSzPct val="100000"/>
              <a:buChar char="●"/>
            </a:pPr>
            <a:r>
              <a:rPr lang="en">
                <a:solidFill>
                  <a:schemeClr val="dk1"/>
                </a:solidFill>
              </a:rPr>
              <a:t>Is the human using the self-driving car as it was intended?</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responsible behavior?</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behavior legal?</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it safe behavior?</a:t>
            </a:r>
            <a:endParaRPr>
              <a:solidFill>
                <a:schemeClr val="dk1"/>
              </a:solidFill>
            </a:endParaRPr>
          </a:p>
          <a:p>
            <a:pPr indent="-334327" lvl="0" marL="457200" rtl="0" algn="l">
              <a:spcBef>
                <a:spcPts val="1000"/>
              </a:spcBef>
              <a:spcAft>
                <a:spcPts val="1000"/>
              </a:spcAft>
              <a:buClr>
                <a:schemeClr val="dk1"/>
              </a:buClr>
              <a:buSzPct val="100000"/>
              <a:buChar char="●"/>
            </a:pPr>
            <a:r>
              <a:rPr lang="en">
                <a:solidFill>
                  <a:schemeClr val="dk1"/>
                </a:solidFill>
              </a:rPr>
              <a:t>Are the sensors operating properly?</a:t>
            </a:r>
            <a:endParaRPr>
              <a:solidFill>
                <a:schemeClr val="dk1"/>
              </a:solidFill>
            </a:endParaRPr>
          </a:p>
        </p:txBody>
      </p:sp>
      <p:sp>
        <p:nvSpPr>
          <p:cNvPr id="92" name="Google Shape;92;p17"/>
          <p:cNvSpPr txBox="1"/>
          <p:nvPr/>
        </p:nvSpPr>
        <p:spPr>
          <a:xfrm>
            <a:off x="153975" y="4498400"/>
            <a:ext cx="512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https://www.youtube.com/watch?v=WQyliOXgNnc</a:t>
            </a:r>
            <a:r>
              <a:rPr lang="en"/>
              <a:t> </a:t>
            </a:r>
            <a:r>
              <a:rPr lang="en"/>
              <a:t> (2:13)</a:t>
            </a:r>
            <a:endParaRPr/>
          </a:p>
        </p:txBody>
      </p:sp>
      <p:pic>
        <p:nvPicPr>
          <p:cNvPr descr="A B.C. Tesla driver has been ticketed for driving without due care and attention, following a video posted to social media appearing to show them asleep at the wheel with the car in autopilot mode.&#10;&#10;The video was shot northbound on the Ironworkers Memorial Second Narrows bridge during rush hour.&#10;&#10;“I looked out the passenger window and noticed what looked like somebody just completely asleep behind the wheel of the Tesla,” the man who shot the video and asked not to be identified told Global News.&#10;&#10;“From what I saw they were out like a light, but then there was a couple moments where it looked like they almost woke up, then went back to sleep.”&#10;&#10;In the video, the Tesla driver can be seen with their seat partially reclined, and appears to be dozing, then snap to attention before dozing off again.&#10;&#10;Tesla’s autopilot system is meant to assist drivers, but not to render the vehicles autonomous, according to the company’s website.&#10;&#10;For more info, please go to https://globalnews.ca/news/8270749/video-tesla-driver-asleep-at-the-wheel-bc-bridge-rush-hour/&#10;&#10;Subscribe to Global News Channel HERE: http://bit.ly/20fcXDc&#10;Like Global News on Facebook HERE: http://bit.ly/255GMJQ&#10;Follow Global News on Twitter HERE: http://bit.ly/1Toz8mt&#10;Follow Global News on Instagram HERE: https://bit.ly/2QZaZIB&#10;#GlobalNews #Tesla" id="93" name="Google Shape;93;p17" title="Video shows Tesla driver seemingly asleep at the wheel on a BC bridge during rush hour">
            <a:hlinkClick r:id="rId4"/>
          </p:cNvPr>
          <p:cNvPicPr preferRelativeResize="0"/>
          <p:nvPr/>
        </p:nvPicPr>
        <p:blipFill>
          <a:blip r:embed="rId5">
            <a:alphaModFix/>
          </a:blip>
          <a:stretch>
            <a:fillRect/>
          </a:stretch>
        </p:blipFill>
        <p:spPr>
          <a:xfrm>
            <a:off x="228600" y="1093925"/>
            <a:ext cx="4572000" cy="3429000"/>
          </a:xfrm>
          <a:prstGeom prst="rect">
            <a:avLst/>
          </a:prstGeom>
          <a:noFill/>
          <a:ln>
            <a:noFill/>
          </a:ln>
        </p:spPr>
      </p:pic>
      <p:sp>
        <p:nvSpPr>
          <p:cNvPr id="94" name="Google Shape;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140775" y="26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is Tesla’s Autopilot mode?</a:t>
            </a:r>
            <a:endParaRPr/>
          </a:p>
        </p:txBody>
      </p:sp>
      <p:pic>
        <p:nvPicPr>
          <p:cNvPr id="100" name="Google Shape;100;p18"/>
          <p:cNvPicPr preferRelativeResize="0"/>
          <p:nvPr/>
        </p:nvPicPr>
        <p:blipFill>
          <a:blip r:embed="rId3">
            <a:alphaModFix/>
          </a:blip>
          <a:stretch>
            <a:fillRect/>
          </a:stretch>
        </p:blipFill>
        <p:spPr>
          <a:xfrm>
            <a:off x="152400" y="941525"/>
            <a:ext cx="8339768" cy="3820975"/>
          </a:xfrm>
          <a:prstGeom prst="rect">
            <a:avLst/>
          </a:prstGeom>
          <a:noFill/>
          <a:ln>
            <a:noFill/>
          </a:ln>
        </p:spPr>
      </p:pic>
      <p:sp>
        <p:nvSpPr>
          <p:cNvPr id="101" name="Google Shape;10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9"/>
          <p:cNvPicPr preferRelativeResize="0"/>
          <p:nvPr/>
        </p:nvPicPr>
        <p:blipFill>
          <a:blip r:embed="rId3">
            <a:alphaModFix/>
          </a:blip>
          <a:stretch>
            <a:fillRect/>
          </a:stretch>
        </p:blipFill>
        <p:spPr>
          <a:xfrm>
            <a:off x="152400" y="1170125"/>
            <a:ext cx="8339768" cy="3820975"/>
          </a:xfrm>
          <a:prstGeom prst="rect">
            <a:avLst/>
          </a:prstGeom>
          <a:noFill/>
          <a:ln>
            <a:noFill/>
          </a:ln>
        </p:spPr>
      </p:pic>
      <p:sp>
        <p:nvSpPr>
          <p:cNvPr id="107" name="Google Shape;107;p19"/>
          <p:cNvSpPr txBox="1"/>
          <p:nvPr/>
        </p:nvSpPr>
        <p:spPr>
          <a:xfrm>
            <a:off x="159275" y="77367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9900"/>
                </a:solidFill>
              </a:rPr>
              <a:t>Instructions: </a:t>
            </a:r>
            <a:r>
              <a:rPr lang="en">
                <a:solidFill>
                  <a:srgbClr val="FF9900"/>
                </a:solidFill>
              </a:rPr>
              <a:t>Circle your answer below and explain why</a:t>
            </a:r>
            <a:endParaRPr>
              <a:solidFill>
                <a:srgbClr val="FF9900"/>
              </a:solidFill>
            </a:endParaRPr>
          </a:p>
        </p:txBody>
      </p:sp>
      <p:sp>
        <p:nvSpPr>
          <p:cNvPr id="108" name="Google Shape;108;p19"/>
          <p:cNvSpPr txBox="1"/>
          <p:nvPr/>
        </p:nvSpPr>
        <p:spPr>
          <a:xfrm>
            <a:off x="135575" y="14175"/>
            <a:ext cx="43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9900"/>
                </a:solidFill>
              </a:rPr>
              <a:t>Student ID#</a:t>
            </a:r>
            <a:r>
              <a:rPr lang="en"/>
              <a:t> ____________________</a:t>
            </a:r>
            <a:endParaRPr/>
          </a:p>
        </p:txBody>
      </p:sp>
      <p:sp>
        <p:nvSpPr>
          <p:cNvPr id="109" name="Google Shape;109;p19"/>
          <p:cNvSpPr txBox="1"/>
          <p:nvPr>
            <p:ph type="title"/>
          </p:nvPr>
        </p:nvSpPr>
        <p:spPr>
          <a:xfrm>
            <a:off x="140775" y="26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is Tesla’s Autopilot mode?</a:t>
            </a:r>
            <a:endParaRPr/>
          </a:p>
        </p:txBody>
      </p:sp>
      <p:sp>
        <p:nvSpPr>
          <p:cNvPr id="110" name="Google Shape;11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0"/>
          <p:cNvPicPr preferRelativeResize="0"/>
          <p:nvPr/>
        </p:nvPicPr>
        <p:blipFill>
          <a:blip r:embed="rId3">
            <a:alphaModFix/>
          </a:blip>
          <a:stretch>
            <a:fillRect/>
          </a:stretch>
        </p:blipFill>
        <p:spPr>
          <a:xfrm>
            <a:off x="152400" y="560525"/>
            <a:ext cx="8339768" cy="3820975"/>
          </a:xfrm>
          <a:prstGeom prst="rect">
            <a:avLst/>
          </a:prstGeom>
          <a:noFill/>
          <a:ln>
            <a:noFill/>
          </a:ln>
        </p:spPr>
      </p:pic>
      <p:sp>
        <p:nvSpPr>
          <p:cNvPr id="116" name="Google Shape;116;p20"/>
          <p:cNvSpPr txBox="1"/>
          <p:nvPr/>
        </p:nvSpPr>
        <p:spPr>
          <a:xfrm>
            <a:off x="2763775" y="4340725"/>
            <a:ext cx="1692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Tesla’s Operating Requirement for Drivers</a:t>
            </a:r>
            <a:endParaRPr sz="1200"/>
          </a:p>
        </p:txBody>
      </p:sp>
      <p:sp>
        <p:nvSpPr>
          <p:cNvPr id="117" name="Google Shape;117;p20"/>
          <p:cNvSpPr txBox="1"/>
          <p:nvPr/>
        </p:nvSpPr>
        <p:spPr>
          <a:xfrm>
            <a:off x="4385275" y="4458275"/>
            <a:ext cx="1270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Vehicles </a:t>
            </a:r>
            <a:endParaRPr sz="1200"/>
          </a:p>
          <a:p>
            <a:pPr indent="0" lvl="0" marL="0" rtl="0" algn="ctr">
              <a:spcBef>
                <a:spcPts val="0"/>
              </a:spcBef>
              <a:spcAft>
                <a:spcPts val="0"/>
              </a:spcAft>
              <a:buNone/>
            </a:pPr>
            <a:r>
              <a:rPr lang="en" sz="1200"/>
              <a:t>Capability</a:t>
            </a:r>
            <a:endParaRPr sz="1200"/>
          </a:p>
        </p:txBody>
      </p:sp>
      <p:sp>
        <p:nvSpPr>
          <p:cNvPr id="118" name="Google Shape;118;p20"/>
          <p:cNvSpPr/>
          <p:nvPr/>
        </p:nvSpPr>
        <p:spPr>
          <a:xfrm>
            <a:off x="2938350" y="1135225"/>
            <a:ext cx="1371600" cy="3958500"/>
          </a:xfrm>
          <a:prstGeom prst="rect">
            <a:avLst/>
          </a:prstGeom>
          <a:no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a:off x="4385275" y="1120975"/>
            <a:ext cx="1371600" cy="3958500"/>
          </a:xfrm>
          <a:prstGeom prst="rect">
            <a:avLst/>
          </a:prstGeom>
          <a:no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20"/>
          <p:cNvPicPr preferRelativeResize="0"/>
          <p:nvPr/>
        </p:nvPicPr>
        <p:blipFill rotWithShape="1">
          <a:blip r:embed="rId4">
            <a:alphaModFix/>
          </a:blip>
          <a:srcRect b="0" l="15614" r="21321" t="0"/>
          <a:stretch/>
        </p:blipFill>
        <p:spPr>
          <a:xfrm>
            <a:off x="4456375" y="391225"/>
            <a:ext cx="1071850" cy="932950"/>
          </a:xfrm>
          <a:prstGeom prst="rect">
            <a:avLst/>
          </a:prstGeom>
          <a:noFill/>
          <a:ln>
            <a:noFill/>
          </a:ln>
        </p:spPr>
      </p:pic>
      <p:sp>
        <p:nvSpPr>
          <p:cNvPr id="121" name="Google Shape;121;p20"/>
          <p:cNvSpPr txBox="1"/>
          <p:nvPr>
            <p:ph type="title"/>
          </p:nvPr>
        </p:nvSpPr>
        <p:spPr>
          <a:xfrm>
            <a:off x="140775" y="35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is Tesla’s Autopilot mode?</a:t>
            </a:r>
            <a:endParaRPr/>
          </a:p>
        </p:txBody>
      </p:sp>
      <p:sp>
        <p:nvSpPr>
          <p:cNvPr id="122" name="Google Shape;12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159300" y="216425"/>
            <a:ext cx="8520600" cy="9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do you think sleeping drivers associate with Tesla’s Autopilot mode?</a:t>
            </a:r>
            <a:endParaRPr/>
          </a:p>
        </p:txBody>
      </p:sp>
      <p:pic>
        <p:nvPicPr>
          <p:cNvPr id="128" name="Google Shape;128;p21"/>
          <p:cNvPicPr preferRelativeResize="0"/>
          <p:nvPr/>
        </p:nvPicPr>
        <p:blipFill>
          <a:blip r:embed="rId3">
            <a:alphaModFix/>
          </a:blip>
          <a:stretch>
            <a:fillRect/>
          </a:stretch>
        </p:blipFill>
        <p:spPr>
          <a:xfrm>
            <a:off x="152400" y="1322525"/>
            <a:ext cx="8339768" cy="3820975"/>
          </a:xfrm>
          <a:prstGeom prst="rect">
            <a:avLst/>
          </a:prstGeom>
          <a:noFill/>
          <a:ln>
            <a:noFill/>
          </a:ln>
        </p:spPr>
      </p:pic>
      <p:sp>
        <p:nvSpPr>
          <p:cNvPr id="129" name="Google Shape;129;p21"/>
          <p:cNvSpPr txBox="1"/>
          <p:nvPr/>
        </p:nvSpPr>
        <p:spPr>
          <a:xfrm>
            <a:off x="159275" y="100227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9900"/>
                </a:solidFill>
              </a:rPr>
              <a:t>Instructions: </a:t>
            </a:r>
            <a:r>
              <a:rPr lang="en">
                <a:solidFill>
                  <a:srgbClr val="FF9900"/>
                </a:solidFill>
              </a:rPr>
              <a:t>Circle your answer below and explain why</a:t>
            </a:r>
            <a:endParaRPr>
              <a:solidFill>
                <a:srgbClr val="FF9900"/>
              </a:solidFill>
            </a:endParaRPr>
          </a:p>
        </p:txBody>
      </p:sp>
      <p:sp>
        <p:nvSpPr>
          <p:cNvPr id="130" name="Google Shape;130;p21"/>
          <p:cNvSpPr txBox="1"/>
          <p:nvPr/>
        </p:nvSpPr>
        <p:spPr>
          <a:xfrm>
            <a:off x="135575" y="14175"/>
            <a:ext cx="43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9900"/>
                </a:solidFill>
              </a:rPr>
              <a:t>Student ID#</a:t>
            </a:r>
            <a:r>
              <a:rPr lang="en"/>
              <a:t> ____________________</a:t>
            </a:r>
            <a:endParaRPr/>
          </a:p>
        </p:txBody>
      </p:sp>
      <p:sp>
        <p:nvSpPr>
          <p:cNvPr id="131" name="Google Shape;131;p21"/>
          <p:cNvSpPr/>
          <p:nvPr/>
        </p:nvSpPr>
        <p:spPr>
          <a:xfrm>
            <a:off x="6600229" y="3989467"/>
            <a:ext cx="341100" cy="118200"/>
          </a:xfrm>
          <a:prstGeom prst="rect">
            <a:avLst/>
          </a:prstGeom>
          <a:solidFill>
            <a:srgbClr val="FFFF00">
              <a:alpha val="37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1"/>
          <p:cNvSpPr/>
          <p:nvPr/>
        </p:nvSpPr>
        <p:spPr>
          <a:xfrm>
            <a:off x="8048025" y="3989475"/>
            <a:ext cx="179100" cy="118200"/>
          </a:xfrm>
          <a:prstGeom prst="rect">
            <a:avLst/>
          </a:prstGeom>
          <a:solidFill>
            <a:srgbClr val="FFFF00">
              <a:alpha val="37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2"/>
          <p:cNvPicPr preferRelativeResize="0"/>
          <p:nvPr/>
        </p:nvPicPr>
        <p:blipFill rotWithShape="1">
          <a:blip r:embed="rId3">
            <a:alphaModFix/>
          </a:blip>
          <a:srcRect b="0" l="0" r="0" t="9974"/>
          <a:stretch/>
        </p:blipFill>
        <p:spPr>
          <a:xfrm>
            <a:off x="152400" y="941525"/>
            <a:ext cx="8339776" cy="3439975"/>
          </a:xfrm>
          <a:prstGeom prst="rect">
            <a:avLst/>
          </a:prstGeom>
          <a:noFill/>
          <a:ln>
            <a:noFill/>
          </a:ln>
        </p:spPr>
      </p:pic>
      <p:sp>
        <p:nvSpPr>
          <p:cNvPr id="139" name="Google Shape;139;p22"/>
          <p:cNvSpPr txBox="1"/>
          <p:nvPr/>
        </p:nvSpPr>
        <p:spPr>
          <a:xfrm>
            <a:off x="2763775" y="4340725"/>
            <a:ext cx="1692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Tesla’s Operating Requirement for Drivers</a:t>
            </a:r>
            <a:endParaRPr sz="1200"/>
          </a:p>
        </p:txBody>
      </p:sp>
      <p:sp>
        <p:nvSpPr>
          <p:cNvPr id="140" name="Google Shape;140;p22"/>
          <p:cNvSpPr txBox="1"/>
          <p:nvPr/>
        </p:nvSpPr>
        <p:spPr>
          <a:xfrm>
            <a:off x="4385275" y="4382075"/>
            <a:ext cx="1270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Vehicles </a:t>
            </a:r>
            <a:endParaRPr sz="1200"/>
          </a:p>
          <a:p>
            <a:pPr indent="0" lvl="0" marL="0" rtl="0" algn="ctr">
              <a:spcBef>
                <a:spcPts val="0"/>
              </a:spcBef>
              <a:spcAft>
                <a:spcPts val="0"/>
              </a:spcAft>
              <a:buNone/>
            </a:pPr>
            <a:r>
              <a:rPr lang="en" sz="1200"/>
              <a:t>Capability</a:t>
            </a:r>
            <a:endParaRPr sz="1200"/>
          </a:p>
        </p:txBody>
      </p:sp>
      <p:sp>
        <p:nvSpPr>
          <p:cNvPr id="141" name="Google Shape;141;p22"/>
          <p:cNvSpPr/>
          <p:nvPr/>
        </p:nvSpPr>
        <p:spPr>
          <a:xfrm>
            <a:off x="5707975" y="1108975"/>
            <a:ext cx="2717700" cy="39585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2" name="Google Shape;142;p22"/>
          <p:cNvPicPr preferRelativeResize="0"/>
          <p:nvPr/>
        </p:nvPicPr>
        <p:blipFill rotWithShape="1">
          <a:blip r:embed="rId4">
            <a:alphaModFix/>
          </a:blip>
          <a:srcRect b="19251" l="5442" r="5779" t="19103"/>
          <a:stretch/>
        </p:blipFill>
        <p:spPr>
          <a:xfrm>
            <a:off x="6356683" y="381491"/>
            <a:ext cx="1371600" cy="952410"/>
          </a:xfrm>
          <a:prstGeom prst="rect">
            <a:avLst/>
          </a:prstGeom>
          <a:noFill/>
          <a:ln>
            <a:noFill/>
          </a:ln>
        </p:spPr>
      </p:pic>
      <p:sp>
        <p:nvSpPr>
          <p:cNvPr id="143" name="Google Shape;143;p22"/>
          <p:cNvSpPr txBox="1"/>
          <p:nvPr/>
        </p:nvSpPr>
        <p:spPr>
          <a:xfrm>
            <a:off x="5831125" y="4243150"/>
            <a:ext cx="25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Sleeping Owner’s possible perception of vehicle’s capability &amp; safety</a:t>
            </a:r>
            <a:endParaRPr sz="1100"/>
          </a:p>
        </p:txBody>
      </p:sp>
      <p:sp>
        <p:nvSpPr>
          <p:cNvPr id="144" name="Google Shape;144;p22"/>
          <p:cNvSpPr txBox="1"/>
          <p:nvPr>
            <p:ph type="title"/>
          </p:nvPr>
        </p:nvSpPr>
        <p:spPr>
          <a:xfrm>
            <a:off x="311700" y="-12175"/>
            <a:ext cx="8520600" cy="9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do you think sleeping drivers associate with Tesla’s Autopilot mode?</a:t>
            </a:r>
            <a:endParaRPr/>
          </a:p>
        </p:txBody>
      </p:sp>
      <p:sp>
        <p:nvSpPr>
          <p:cNvPr id="145" name="Google Shape;14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there a moral hazard? For who?</a:t>
            </a:r>
            <a:endParaRPr/>
          </a:p>
        </p:txBody>
      </p:sp>
      <p:pic>
        <p:nvPicPr>
          <p:cNvPr id="151" name="Google Shape;151;p23"/>
          <p:cNvPicPr preferRelativeResize="0"/>
          <p:nvPr/>
        </p:nvPicPr>
        <p:blipFill rotWithShape="1">
          <a:blip r:embed="rId3">
            <a:alphaModFix/>
          </a:blip>
          <a:srcRect b="0" l="0" r="0" t="6147"/>
          <a:stretch/>
        </p:blipFill>
        <p:spPr>
          <a:xfrm>
            <a:off x="152400" y="947763"/>
            <a:ext cx="8339776" cy="3586137"/>
          </a:xfrm>
          <a:prstGeom prst="rect">
            <a:avLst/>
          </a:prstGeom>
          <a:noFill/>
          <a:ln>
            <a:noFill/>
          </a:ln>
        </p:spPr>
      </p:pic>
      <p:sp>
        <p:nvSpPr>
          <p:cNvPr id="152" name="Google Shape;152;p23"/>
          <p:cNvSpPr txBox="1"/>
          <p:nvPr/>
        </p:nvSpPr>
        <p:spPr>
          <a:xfrm>
            <a:off x="2763775" y="4340725"/>
            <a:ext cx="1692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Tesla’s Operating Requirement for Drivers</a:t>
            </a:r>
            <a:endParaRPr sz="1200"/>
          </a:p>
        </p:txBody>
      </p:sp>
      <p:sp>
        <p:nvSpPr>
          <p:cNvPr id="153" name="Google Shape;153;p23"/>
          <p:cNvSpPr txBox="1"/>
          <p:nvPr/>
        </p:nvSpPr>
        <p:spPr>
          <a:xfrm>
            <a:off x="4385275" y="4418911"/>
            <a:ext cx="1270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Vehicle’s </a:t>
            </a:r>
            <a:endParaRPr sz="1200"/>
          </a:p>
          <a:p>
            <a:pPr indent="0" lvl="0" marL="0" rtl="0" algn="ctr">
              <a:spcBef>
                <a:spcPts val="0"/>
              </a:spcBef>
              <a:spcAft>
                <a:spcPts val="0"/>
              </a:spcAft>
              <a:buNone/>
            </a:pPr>
            <a:r>
              <a:rPr lang="en" sz="1200"/>
              <a:t>Capability</a:t>
            </a:r>
            <a:endParaRPr sz="1200"/>
          </a:p>
        </p:txBody>
      </p:sp>
      <p:sp>
        <p:nvSpPr>
          <p:cNvPr id="154" name="Google Shape;154;p23"/>
          <p:cNvSpPr/>
          <p:nvPr/>
        </p:nvSpPr>
        <p:spPr>
          <a:xfrm>
            <a:off x="2938350" y="1135225"/>
            <a:ext cx="1371600" cy="3958500"/>
          </a:xfrm>
          <a:prstGeom prst="rect">
            <a:avLst/>
          </a:prstGeom>
          <a:no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3"/>
          <p:cNvSpPr/>
          <p:nvPr/>
        </p:nvSpPr>
        <p:spPr>
          <a:xfrm>
            <a:off x="4393736" y="1130075"/>
            <a:ext cx="1371600" cy="3958500"/>
          </a:xfrm>
          <a:prstGeom prst="rect">
            <a:avLst/>
          </a:prstGeom>
          <a:no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23"/>
          <p:cNvPicPr preferRelativeResize="0"/>
          <p:nvPr/>
        </p:nvPicPr>
        <p:blipFill rotWithShape="1">
          <a:blip r:embed="rId4">
            <a:alphaModFix/>
          </a:blip>
          <a:srcRect b="0" l="15614" r="21321" t="0"/>
          <a:stretch/>
        </p:blipFill>
        <p:spPr>
          <a:xfrm>
            <a:off x="4532575" y="1229425"/>
            <a:ext cx="1071850" cy="932950"/>
          </a:xfrm>
          <a:prstGeom prst="rect">
            <a:avLst/>
          </a:prstGeom>
          <a:noFill/>
          <a:ln>
            <a:noFill/>
          </a:ln>
        </p:spPr>
      </p:pic>
      <p:sp>
        <p:nvSpPr>
          <p:cNvPr id="157" name="Google Shape;157;p23"/>
          <p:cNvSpPr/>
          <p:nvPr/>
        </p:nvSpPr>
        <p:spPr>
          <a:xfrm>
            <a:off x="5851246" y="1108975"/>
            <a:ext cx="2587500" cy="39585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23"/>
          <p:cNvPicPr preferRelativeResize="0"/>
          <p:nvPr/>
        </p:nvPicPr>
        <p:blipFill rotWithShape="1">
          <a:blip r:embed="rId5">
            <a:alphaModFix/>
          </a:blip>
          <a:srcRect b="19251" l="5442" r="5779" t="19103"/>
          <a:stretch/>
        </p:blipFill>
        <p:spPr>
          <a:xfrm>
            <a:off x="6356683" y="1219691"/>
            <a:ext cx="1371600" cy="952410"/>
          </a:xfrm>
          <a:prstGeom prst="rect">
            <a:avLst/>
          </a:prstGeom>
          <a:noFill/>
          <a:ln>
            <a:noFill/>
          </a:ln>
        </p:spPr>
      </p:pic>
      <p:sp>
        <p:nvSpPr>
          <p:cNvPr id="159" name="Google Shape;159;p23"/>
          <p:cNvSpPr txBox="1"/>
          <p:nvPr/>
        </p:nvSpPr>
        <p:spPr>
          <a:xfrm>
            <a:off x="5831125" y="4461156"/>
            <a:ext cx="25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Sleeping Owner’s possible perception of vehicle’s capability &amp; safety</a:t>
            </a:r>
            <a:endParaRPr sz="1100"/>
          </a:p>
        </p:txBody>
      </p:sp>
      <p:sp>
        <p:nvSpPr>
          <p:cNvPr id="160" name="Google Shape;160;p23"/>
          <p:cNvSpPr txBox="1"/>
          <p:nvPr/>
        </p:nvSpPr>
        <p:spPr>
          <a:xfrm>
            <a:off x="333351" y="549675"/>
            <a:ext cx="810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 “moral hazard” is a lack of incentive to guard against risks where one is protected from its consequences, e.g., by insurance.</a:t>
            </a:r>
            <a:endParaRPr/>
          </a:p>
        </p:txBody>
      </p:sp>
      <p:sp>
        <p:nvSpPr>
          <p:cNvPr id="161" name="Google Shape;16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Ethical Reflection:</a:t>
            </a:r>
            <a:r>
              <a:rPr lang="en"/>
              <a:t> Is it enough to warn people not to do something even though you know they won’t listen?</a:t>
            </a:r>
            <a:endParaRPr/>
          </a:p>
        </p:txBody>
      </p:sp>
      <p:sp>
        <p:nvSpPr>
          <p:cNvPr id="167" name="Google Shape;167;p24"/>
          <p:cNvSpPr txBox="1"/>
          <p:nvPr>
            <p:ph idx="1" type="body"/>
          </p:nvPr>
        </p:nvSpPr>
        <p:spPr>
          <a:xfrm>
            <a:off x="311700" y="1385575"/>
            <a:ext cx="3999900" cy="3396000"/>
          </a:xfrm>
          <a:prstGeom prst="rect">
            <a:avLst/>
          </a:prstGeom>
          <a:ln cap="flat" cmpd="sng" w="9525">
            <a:solidFill>
              <a:srgbClr val="B7B7B7"/>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Yes, explain why</a:t>
            </a:r>
            <a:endParaRPr b="1"/>
          </a:p>
          <a:p>
            <a:pPr indent="0" lvl="0" marL="457200" rtl="0" algn="l">
              <a:spcBef>
                <a:spcPts val="1200"/>
              </a:spcBef>
              <a:spcAft>
                <a:spcPts val="1200"/>
              </a:spcAft>
              <a:buNone/>
            </a:pPr>
            <a:r>
              <a:t/>
            </a:r>
            <a:endParaRPr/>
          </a:p>
        </p:txBody>
      </p:sp>
      <p:sp>
        <p:nvSpPr>
          <p:cNvPr id="168" name="Google Shape;168;p24"/>
          <p:cNvSpPr txBox="1"/>
          <p:nvPr>
            <p:ph idx="2" type="body"/>
          </p:nvPr>
        </p:nvSpPr>
        <p:spPr>
          <a:xfrm>
            <a:off x="4832400" y="1385575"/>
            <a:ext cx="3999900" cy="3396000"/>
          </a:xfrm>
          <a:prstGeom prst="rect">
            <a:avLst/>
          </a:prstGeom>
          <a:ln cap="flat" cmpd="sng" w="9525">
            <a:solidFill>
              <a:srgbClr val="B7B7B7"/>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No, explain why</a:t>
            </a:r>
            <a:endParaRPr b="1"/>
          </a:p>
          <a:p>
            <a:pPr indent="0" lvl="0" marL="0" rtl="0" algn="l">
              <a:spcBef>
                <a:spcPts val="1200"/>
              </a:spcBef>
              <a:spcAft>
                <a:spcPts val="1200"/>
              </a:spcAft>
              <a:buNone/>
            </a:pPr>
            <a:r>
              <a:t/>
            </a:r>
            <a:endParaRPr/>
          </a:p>
        </p:txBody>
      </p:sp>
      <p:sp>
        <p:nvSpPr>
          <p:cNvPr id="169" name="Google Shape;16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Tesla’s Autopilot mode an attractive nuisance? </a:t>
            </a:r>
            <a:endParaRPr/>
          </a:p>
        </p:txBody>
      </p:sp>
      <p:sp>
        <p:nvSpPr>
          <p:cNvPr id="175" name="Google Shape;175;p2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600">
                <a:solidFill>
                  <a:srgbClr val="202124"/>
                </a:solidFill>
                <a:latin typeface="Roboto"/>
                <a:ea typeface="Roboto"/>
                <a:cs typeface="Roboto"/>
                <a:sym typeface="Roboto"/>
              </a:rPr>
              <a:t>Basic Elements of Attractive Nuisance</a:t>
            </a:r>
            <a:endParaRPr b="1" sz="1600">
              <a:solidFill>
                <a:srgbClr val="202124"/>
              </a:solidFill>
              <a:latin typeface="Roboto"/>
              <a:ea typeface="Roboto"/>
              <a:cs typeface="Roboto"/>
              <a:sym typeface="Roboto"/>
            </a:endParaRPr>
          </a:p>
          <a:p>
            <a:pPr indent="-304800" lvl="0" marL="457200" rtl="0" algn="l">
              <a:spcBef>
                <a:spcPts val="90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A potentially dangerous condition exists on the property.</a:t>
            </a:r>
            <a:endParaRPr sz="1200">
              <a:solidFill>
                <a:srgbClr val="202124"/>
              </a:solidFill>
              <a:latin typeface="Roboto"/>
              <a:ea typeface="Roboto"/>
              <a:cs typeface="Roboto"/>
              <a:sym typeface="Roboto"/>
            </a:endParaRPr>
          </a:p>
          <a:p>
            <a:pPr indent="-304800" lvl="0" marL="457200" rtl="0" algn="l">
              <a:spcBef>
                <a:spcPts val="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The landowner created or maintained the potential hazard.</a:t>
            </a:r>
            <a:endParaRPr sz="1200">
              <a:solidFill>
                <a:srgbClr val="202124"/>
              </a:solidFill>
              <a:latin typeface="Roboto"/>
              <a:ea typeface="Roboto"/>
              <a:cs typeface="Roboto"/>
              <a:sym typeface="Roboto"/>
            </a:endParaRPr>
          </a:p>
          <a:p>
            <a:pPr indent="-304800" lvl="0" marL="457200" rtl="0" algn="l">
              <a:spcBef>
                <a:spcPts val="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The landowner should have known the condition would attract children.</a:t>
            </a:r>
            <a:endParaRPr sz="1200">
              <a:solidFill>
                <a:srgbClr val="202124"/>
              </a:solidFill>
              <a:latin typeface="Roboto"/>
              <a:ea typeface="Roboto"/>
              <a:cs typeface="Roboto"/>
              <a:sym typeface="Roboto"/>
            </a:endParaRPr>
          </a:p>
          <a:p>
            <a:pPr indent="-304800" lvl="0" marL="457200" rtl="0" algn="l">
              <a:spcBef>
                <a:spcPts val="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The landowner should have known the condition could harm children.</a:t>
            </a:r>
            <a:endParaRPr/>
          </a:p>
        </p:txBody>
      </p:sp>
      <p:sp>
        <p:nvSpPr>
          <p:cNvPr id="176" name="Google Shape;176;p25"/>
          <p:cNvSpPr txBox="1"/>
          <p:nvPr>
            <p:ph idx="2" type="body"/>
          </p:nvPr>
        </p:nvSpPr>
        <p:spPr>
          <a:xfrm>
            <a:off x="4832400" y="1152475"/>
            <a:ext cx="3999900" cy="292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600">
                <a:solidFill>
                  <a:srgbClr val="202124"/>
                </a:solidFill>
                <a:latin typeface="Roboto"/>
                <a:ea typeface="Roboto"/>
                <a:cs typeface="Roboto"/>
                <a:sym typeface="Roboto"/>
              </a:rPr>
              <a:t>Examples:</a:t>
            </a:r>
            <a:endParaRPr b="1"/>
          </a:p>
          <a:p>
            <a:pPr indent="-317500" lvl="0" marL="457200" rtl="0" algn="l">
              <a:spcBef>
                <a:spcPts val="1200"/>
              </a:spcBef>
              <a:spcAft>
                <a:spcPts val="0"/>
              </a:spcAft>
              <a:buSzPts val="1400"/>
              <a:buChar char="●"/>
            </a:pPr>
            <a:r>
              <a:rPr lang="en"/>
              <a:t>Swimming pools</a:t>
            </a:r>
            <a:endParaRPr/>
          </a:p>
          <a:p>
            <a:pPr indent="-317500" lvl="0" marL="457200" rtl="0" algn="l">
              <a:spcBef>
                <a:spcPts val="0"/>
              </a:spcBef>
              <a:spcAft>
                <a:spcPts val="0"/>
              </a:spcAft>
              <a:buSzPts val="1400"/>
              <a:buChar char="●"/>
            </a:pPr>
            <a:r>
              <a:rPr lang="en"/>
              <a:t>Trampolines</a:t>
            </a:r>
            <a:endParaRPr/>
          </a:p>
          <a:p>
            <a:pPr indent="-317500" lvl="0" marL="457200" rtl="0" algn="l">
              <a:spcBef>
                <a:spcPts val="0"/>
              </a:spcBef>
              <a:spcAft>
                <a:spcPts val="0"/>
              </a:spcAft>
              <a:buSzPts val="1400"/>
              <a:buChar char="●"/>
            </a:pPr>
            <a:r>
              <a:rPr lang="en"/>
              <a:t>Tree houses</a:t>
            </a:r>
            <a:endParaRPr/>
          </a:p>
          <a:p>
            <a:pPr indent="-317500" lvl="0" marL="457200" rtl="0" algn="l">
              <a:spcBef>
                <a:spcPts val="0"/>
              </a:spcBef>
              <a:spcAft>
                <a:spcPts val="0"/>
              </a:spcAft>
              <a:buSzPts val="1400"/>
              <a:buChar char="●"/>
            </a:pPr>
            <a:r>
              <a:rPr lang="en"/>
              <a:t>Fountains</a:t>
            </a:r>
            <a:endParaRPr/>
          </a:p>
          <a:p>
            <a:pPr indent="-317500" lvl="0" marL="457200" rtl="0" algn="l">
              <a:spcBef>
                <a:spcPts val="0"/>
              </a:spcBef>
              <a:spcAft>
                <a:spcPts val="0"/>
              </a:spcAft>
              <a:buSzPts val="1400"/>
              <a:buChar char="●"/>
            </a:pPr>
            <a:r>
              <a:rPr lang="en"/>
              <a:t>Machinery (lawnmowers, gasoline pumps, etc.)</a:t>
            </a:r>
            <a:endParaRPr/>
          </a:p>
          <a:p>
            <a:pPr indent="-317500" lvl="0" marL="457200" rtl="0" algn="l">
              <a:spcBef>
                <a:spcPts val="0"/>
              </a:spcBef>
              <a:spcAft>
                <a:spcPts val="0"/>
              </a:spcAft>
              <a:buSzPts val="1400"/>
              <a:buChar char="●"/>
            </a:pPr>
            <a:r>
              <a:rPr lang="en"/>
              <a:t>Wells</a:t>
            </a:r>
            <a:endParaRPr/>
          </a:p>
          <a:p>
            <a:pPr indent="-317500" lvl="0" marL="457200" rtl="0" algn="l">
              <a:spcBef>
                <a:spcPts val="0"/>
              </a:spcBef>
              <a:spcAft>
                <a:spcPts val="0"/>
              </a:spcAft>
              <a:buSzPts val="1400"/>
              <a:buChar char="●"/>
            </a:pPr>
            <a:r>
              <a:rPr lang="en"/>
              <a:t>Tunnels</a:t>
            </a:r>
            <a:endParaRPr/>
          </a:p>
          <a:p>
            <a:pPr indent="-317500" lvl="0" marL="457200" rtl="0" algn="l">
              <a:spcBef>
                <a:spcPts val="0"/>
              </a:spcBef>
              <a:spcAft>
                <a:spcPts val="0"/>
              </a:spcAft>
              <a:buSzPts val="1400"/>
              <a:buChar char="●"/>
            </a:pPr>
            <a:r>
              <a:rPr lang="en"/>
              <a:t>Dangerous animals</a:t>
            </a:r>
            <a:endParaRPr/>
          </a:p>
          <a:p>
            <a:pPr indent="0" lvl="0" marL="0" rtl="0" algn="l">
              <a:spcBef>
                <a:spcPts val="1200"/>
              </a:spcBef>
              <a:spcAft>
                <a:spcPts val="1200"/>
              </a:spcAft>
              <a:buNone/>
            </a:pPr>
            <a:r>
              <a:t/>
            </a:r>
            <a:endParaRPr/>
          </a:p>
        </p:txBody>
      </p:sp>
      <p:sp>
        <p:nvSpPr>
          <p:cNvPr id="177" name="Google Shape;177;p25"/>
          <p:cNvSpPr txBox="1"/>
          <p:nvPr/>
        </p:nvSpPr>
        <p:spPr>
          <a:xfrm>
            <a:off x="330000" y="3700799"/>
            <a:ext cx="8502300" cy="1262100"/>
          </a:xfrm>
          <a:prstGeom prst="rect">
            <a:avLst/>
          </a:prstGeom>
          <a:noFill/>
          <a:ln cap="flat" cmpd="sng" w="9525">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Perspective:</a:t>
            </a:r>
            <a:r>
              <a:rPr lang="en"/>
              <a:t> Given this definition of “attractive nuisance”, do you consider Tesla’s Autopilot mode a type of attractive nuisance? Why?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
        <p:nvSpPr>
          <p:cNvPr id="178" name="Google Shape;17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Policy Reflection:</a:t>
            </a:r>
            <a:r>
              <a:rPr lang="en"/>
              <a:t> Should Autopilot Mode be banned?</a:t>
            </a:r>
            <a:endParaRPr/>
          </a:p>
        </p:txBody>
      </p:sp>
      <p:sp>
        <p:nvSpPr>
          <p:cNvPr id="184" name="Google Shape;184;p26"/>
          <p:cNvSpPr txBox="1"/>
          <p:nvPr>
            <p:ph idx="1" type="body"/>
          </p:nvPr>
        </p:nvSpPr>
        <p:spPr>
          <a:xfrm>
            <a:off x="311700" y="13093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Yes, explain why</a:t>
            </a:r>
            <a:endParaRPr b="1"/>
          </a:p>
          <a:p>
            <a:pPr indent="0" lvl="0" marL="457200" rtl="0" algn="l">
              <a:spcBef>
                <a:spcPts val="1200"/>
              </a:spcBef>
              <a:spcAft>
                <a:spcPts val="1200"/>
              </a:spcAft>
              <a:buNone/>
            </a:pPr>
            <a:r>
              <a:t/>
            </a:r>
            <a:endParaRPr/>
          </a:p>
        </p:txBody>
      </p:sp>
      <p:sp>
        <p:nvSpPr>
          <p:cNvPr id="185" name="Google Shape;185;p26"/>
          <p:cNvSpPr txBox="1"/>
          <p:nvPr>
            <p:ph idx="2" type="body"/>
          </p:nvPr>
        </p:nvSpPr>
        <p:spPr>
          <a:xfrm>
            <a:off x="4832400" y="13093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No, explain why</a:t>
            </a:r>
            <a:endParaRPr b="1"/>
          </a:p>
          <a:p>
            <a:pPr indent="0" lvl="0" marL="0" rtl="0" algn="l">
              <a:spcBef>
                <a:spcPts val="1200"/>
              </a:spcBef>
              <a:spcAft>
                <a:spcPts val="1200"/>
              </a:spcAft>
              <a:buNone/>
            </a:pPr>
            <a:r>
              <a:t/>
            </a:r>
            <a:endParaRPr/>
          </a:p>
        </p:txBody>
      </p:sp>
      <p:sp>
        <p:nvSpPr>
          <p:cNvPr id="186" name="Google Shape;186;p26"/>
          <p:cNvSpPr txBox="1"/>
          <p:nvPr/>
        </p:nvSpPr>
        <p:spPr>
          <a:xfrm>
            <a:off x="330000" y="886961"/>
            <a:ext cx="850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Permanent Marker"/>
                <a:ea typeface="Permanent Marker"/>
                <a:cs typeface="Permanent Marker"/>
                <a:sym typeface="Permanent Marker"/>
              </a:rPr>
              <a:t>Directions:</a:t>
            </a:r>
            <a:r>
              <a:rPr lang="en"/>
              <a:t> Write down several reasons for banning or not banning auto pilot mode</a:t>
            </a:r>
            <a:endParaRPr/>
          </a:p>
        </p:txBody>
      </p:sp>
      <p:sp>
        <p:nvSpPr>
          <p:cNvPr id="187" name="Google Shape;187;p26"/>
          <p:cNvSpPr txBox="1"/>
          <p:nvPr/>
        </p:nvSpPr>
        <p:spPr>
          <a:xfrm>
            <a:off x="330000" y="3858734"/>
            <a:ext cx="8502300" cy="1046700"/>
          </a:xfrm>
          <a:prstGeom prst="rect">
            <a:avLst/>
          </a:prstGeom>
          <a:noFill/>
          <a:ln cap="flat" cmpd="sng" w="9525">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Perspective:</a:t>
            </a:r>
            <a:r>
              <a:rPr lang="en"/>
              <a:t> Which view do you support and why?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
        <p:nvSpPr>
          <p:cNvPr id="188" name="Google Shape;18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idx="1" type="body"/>
          </p:nvPr>
        </p:nvSpPr>
        <p:spPr>
          <a:xfrm>
            <a:off x="311700" y="13855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Yes, explain why</a:t>
            </a:r>
            <a:endParaRPr b="1"/>
          </a:p>
          <a:p>
            <a:pPr indent="0" lvl="0" marL="457200" rtl="0" algn="l">
              <a:spcBef>
                <a:spcPts val="1200"/>
              </a:spcBef>
              <a:spcAft>
                <a:spcPts val="1200"/>
              </a:spcAft>
              <a:buNone/>
            </a:pPr>
            <a:r>
              <a:t/>
            </a:r>
            <a:endParaRPr/>
          </a:p>
        </p:txBody>
      </p:sp>
      <p:sp>
        <p:nvSpPr>
          <p:cNvPr id="194" name="Google Shape;194;p27"/>
          <p:cNvSpPr txBox="1"/>
          <p:nvPr>
            <p:ph idx="2" type="body"/>
          </p:nvPr>
        </p:nvSpPr>
        <p:spPr>
          <a:xfrm>
            <a:off x="4832400" y="13855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No, explain why</a:t>
            </a:r>
            <a:endParaRPr b="1"/>
          </a:p>
          <a:p>
            <a:pPr indent="0" lvl="0" marL="0" rtl="0" algn="l">
              <a:spcBef>
                <a:spcPts val="1200"/>
              </a:spcBef>
              <a:spcAft>
                <a:spcPts val="1200"/>
              </a:spcAft>
              <a:buNone/>
            </a:pPr>
            <a:r>
              <a:t/>
            </a:r>
            <a:endParaRPr/>
          </a:p>
        </p:txBody>
      </p:sp>
      <p:sp>
        <p:nvSpPr>
          <p:cNvPr id="195" name="Google Shape;195;p27"/>
          <p:cNvSpPr txBox="1"/>
          <p:nvPr>
            <p:ph type="title"/>
          </p:nvPr>
        </p:nvSpPr>
        <p:spPr>
          <a:xfrm>
            <a:off x="373925" y="207975"/>
            <a:ext cx="8520600" cy="83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Reflection:</a:t>
            </a:r>
            <a:r>
              <a:rPr lang="en"/>
              <a:t> </a:t>
            </a:r>
            <a:r>
              <a:rPr lang="en" sz="2022"/>
              <a:t>Do you think the penalty drivers received for sleeping while their car is driving in autopilot mode is appropriate given the possible safety risks?</a:t>
            </a:r>
            <a:endParaRPr sz="2022"/>
          </a:p>
        </p:txBody>
      </p:sp>
      <p:sp>
        <p:nvSpPr>
          <p:cNvPr id="196" name="Google Shape;196;p27"/>
          <p:cNvSpPr txBox="1"/>
          <p:nvPr/>
        </p:nvSpPr>
        <p:spPr>
          <a:xfrm>
            <a:off x="330000" y="1039361"/>
            <a:ext cx="850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Permanent Marker"/>
                <a:ea typeface="Permanent Marker"/>
                <a:cs typeface="Permanent Marker"/>
                <a:sym typeface="Permanent Marker"/>
              </a:rPr>
              <a:t>Directions:</a:t>
            </a:r>
            <a:r>
              <a:rPr lang="en"/>
              <a:t> What are the penalties? Are they appropriate?</a:t>
            </a:r>
            <a:endParaRPr/>
          </a:p>
        </p:txBody>
      </p:sp>
      <p:sp>
        <p:nvSpPr>
          <p:cNvPr id="197" name="Google Shape;197;p27"/>
          <p:cNvSpPr txBox="1"/>
          <p:nvPr/>
        </p:nvSpPr>
        <p:spPr>
          <a:xfrm>
            <a:off x="330000" y="3934934"/>
            <a:ext cx="8502300" cy="1046700"/>
          </a:xfrm>
          <a:prstGeom prst="rect">
            <a:avLst/>
          </a:prstGeom>
          <a:noFill/>
          <a:ln cap="flat" cmpd="sng" w="9525">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Perspective:</a:t>
            </a:r>
            <a:r>
              <a:rPr lang="en">
                <a:solidFill>
                  <a:schemeClr val="dk1"/>
                </a:solidFill>
              </a:rPr>
              <a:t> Which view do you support and why?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
        <p:nvSpPr>
          <p:cNvPr id="198" name="Google Shape;19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Knowing what you know, would you put your grandparents in a self-driving car?</a:t>
            </a:r>
            <a:endParaRPr/>
          </a:p>
        </p:txBody>
      </p:sp>
      <p:sp>
        <p:nvSpPr>
          <p:cNvPr id="204" name="Google Shape;20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Meet engineers who created a self-driving car</a:t>
            </a:r>
            <a:endParaRPr/>
          </a:p>
        </p:txBody>
      </p:sp>
      <p:sp>
        <p:nvSpPr>
          <p:cNvPr id="210" name="Google Shape;21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Parents rule. To show our gratitude for all they’ve done, we invited them to take their first driverless rides with their child. Let’s just say, you can feel the love. #LifeAtCruise" id="211" name="Google Shape;211;p29" title="Cruise employees take their parents for driverless rides!">
            <a:hlinkClick r:id="rId3"/>
          </p:cNvPr>
          <p:cNvPicPr preferRelativeResize="0"/>
          <p:nvPr/>
        </p:nvPicPr>
        <p:blipFill>
          <a:blip r:embed="rId4">
            <a:alphaModFix/>
          </a:blip>
          <a:stretch>
            <a:fillRect/>
          </a:stretch>
        </p:blipFill>
        <p:spPr>
          <a:xfrm>
            <a:off x="1619250" y="884375"/>
            <a:ext cx="5429250" cy="4071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Deeper Dive: What are the driver assistance features of Tesla’s Cars?</a:t>
            </a:r>
            <a:endParaRPr/>
          </a:p>
        </p:txBody>
      </p:sp>
      <p:sp>
        <p:nvSpPr>
          <p:cNvPr id="217" name="Google Shape;217;p30"/>
          <p:cNvSpPr txBox="1"/>
          <p:nvPr>
            <p:ph idx="1" type="body"/>
          </p:nvPr>
        </p:nvSpPr>
        <p:spPr>
          <a:xfrm>
            <a:off x="311700" y="1533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Auto-Pilot Mode Features</a:t>
            </a:r>
            <a:endParaRPr b="1"/>
          </a:p>
          <a:p>
            <a:pPr indent="-317500" lvl="0" marL="457200" rtl="0" algn="l">
              <a:spcBef>
                <a:spcPts val="1200"/>
              </a:spcBef>
              <a:spcAft>
                <a:spcPts val="0"/>
              </a:spcAft>
              <a:buSzPts val="1400"/>
              <a:buChar char="●"/>
            </a:pPr>
            <a:r>
              <a:t/>
            </a:r>
            <a:endParaRPr/>
          </a:p>
        </p:txBody>
      </p:sp>
      <p:sp>
        <p:nvSpPr>
          <p:cNvPr id="218" name="Google Shape;218;p30"/>
          <p:cNvSpPr txBox="1"/>
          <p:nvPr>
            <p:ph idx="2" type="body"/>
          </p:nvPr>
        </p:nvSpPr>
        <p:spPr>
          <a:xfrm>
            <a:off x="4832400" y="1533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Fully Autonomous Mode Features</a:t>
            </a:r>
            <a:endParaRPr b="1"/>
          </a:p>
          <a:p>
            <a:pPr indent="-317500" lvl="0" marL="457200" rtl="0" algn="l">
              <a:spcBef>
                <a:spcPts val="1200"/>
              </a:spcBef>
              <a:spcAft>
                <a:spcPts val="0"/>
              </a:spcAft>
              <a:buSzPts val="1400"/>
              <a:buChar char="●"/>
            </a:pPr>
            <a:r>
              <a:t/>
            </a:r>
            <a:endParaRPr/>
          </a:p>
        </p:txBody>
      </p:sp>
      <p:sp>
        <p:nvSpPr>
          <p:cNvPr id="219" name="Google Shape;219;p30"/>
          <p:cNvSpPr txBox="1"/>
          <p:nvPr/>
        </p:nvSpPr>
        <p:spPr>
          <a:xfrm>
            <a:off x="381000" y="1219200"/>
            <a:ext cx="457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Read: </a:t>
            </a:r>
            <a:r>
              <a:rPr lang="en" u="sng">
                <a:solidFill>
                  <a:schemeClr val="hlink"/>
                </a:solidFill>
                <a:hlinkClick r:id="rId3"/>
              </a:rPr>
              <a:t>https://www.tesla.com/support/autopilot</a:t>
            </a:r>
            <a:endParaRPr/>
          </a:p>
        </p:txBody>
      </p:sp>
      <p:sp>
        <p:nvSpPr>
          <p:cNvPr id="220" name="Google Shape;22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Optional: Resources</a:t>
            </a:r>
            <a:endParaRPr/>
          </a:p>
        </p:txBody>
      </p:sp>
      <p:sp>
        <p:nvSpPr>
          <p:cNvPr id="226" name="Google Shape;22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Additional </a:t>
            </a:r>
            <a:r>
              <a:rPr lang="en"/>
              <a:t>Videos</a:t>
            </a:r>
            <a:endParaRPr/>
          </a:p>
          <a:p>
            <a:pPr indent="-298450" lvl="0" marL="457200" rtl="0" algn="l">
              <a:spcBef>
                <a:spcPts val="1200"/>
              </a:spcBef>
              <a:spcAft>
                <a:spcPts val="0"/>
              </a:spcAft>
              <a:buClr>
                <a:schemeClr val="dk1"/>
              </a:buClr>
              <a:buSzPts val="1100"/>
              <a:buAutoNum type="arabicPeriod"/>
            </a:pPr>
            <a:r>
              <a:rPr lang="en" sz="1100" u="sng">
                <a:solidFill>
                  <a:srgbClr val="1155CC"/>
                </a:solidFill>
                <a:hlinkClick r:id="rId3">
                  <a:extLst>
                    <a:ext uri="{A12FA001-AC4F-418D-AE19-62706E023703}">
                      <ahyp:hlinkClr val="tx"/>
                    </a:ext>
                  </a:extLst>
                </a:hlinkClick>
              </a:rPr>
              <a:t>Driver asleep at the wheel of his Tesla on busy freeway in Los Angeles</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u="sng">
                <a:solidFill>
                  <a:srgbClr val="1155CC"/>
                </a:solidFill>
                <a:hlinkClick r:id="rId4">
                  <a:extLst>
                    <a:ext uri="{A12FA001-AC4F-418D-AE19-62706E023703}">
                      <ahyp:hlinkClr val="tx"/>
                    </a:ext>
                  </a:extLst>
                </a:hlinkClick>
              </a:rPr>
              <a:t>Tesla Driver Pulled Over After Appearing To Be Asleep While Driving</a:t>
            </a:r>
            <a:endParaRPr sz="1100">
              <a:solidFill>
                <a:schemeClr val="dk1"/>
              </a:solidFill>
            </a:endParaRPr>
          </a:p>
          <a:p>
            <a:pPr indent="-298450" lvl="0" marL="457200" rtl="0" algn="l">
              <a:lnSpc>
                <a:spcPct val="120000"/>
              </a:lnSpc>
              <a:spcBef>
                <a:spcPts val="0"/>
              </a:spcBef>
              <a:spcAft>
                <a:spcPts val="0"/>
              </a:spcAft>
              <a:buClr>
                <a:schemeClr val="dk1"/>
              </a:buClr>
              <a:buSzPts val="1100"/>
              <a:buAutoNum type="arabicPeriod"/>
            </a:pPr>
            <a:r>
              <a:rPr lang="en" sz="1100" u="sng">
                <a:solidFill>
                  <a:srgbClr val="1155CC"/>
                </a:solidFill>
                <a:hlinkClick r:id="rId5">
                  <a:extLst>
                    <a:ext uri="{A12FA001-AC4F-418D-AE19-62706E023703}">
                      <ahyp:hlinkClr val="tx"/>
                    </a:ext>
                  </a:extLst>
                </a:hlinkClick>
              </a:rPr>
              <a:t>Tesla Owner Caught Sleeping Behind The Wheel On Autopilot</a:t>
            </a:r>
            <a:r>
              <a:rPr lang="en" sz="1100">
                <a:solidFill>
                  <a:schemeClr val="dk1"/>
                </a:solidFill>
              </a:rPr>
              <a:t> (20 minutes, bodycam)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