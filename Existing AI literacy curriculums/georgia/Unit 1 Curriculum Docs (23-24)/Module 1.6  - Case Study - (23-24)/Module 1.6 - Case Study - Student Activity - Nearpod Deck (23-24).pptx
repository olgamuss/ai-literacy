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Roboto"/>
      <p:regular r:id="rId29"/>
      <p:bold r:id="rId30"/>
      <p:italic r:id="rId31"/>
      <p:boldItalic r:id="rId32"/>
    </p:embeddedFont>
    <p:embeddedFont>
      <p:font typeface="Permanent Marker"/>
      <p:regular r:id="rId33"/>
    </p:embeddedFont>
    <p:embeddedFont>
      <p:font typeface="Helvetica Neue"/>
      <p:regular r:id="rId34"/>
      <p:bold r:id="rId35"/>
      <p:italic r:id="rId36"/>
      <p:boldItalic r:id="rId37"/>
    </p:embeddedFont>
    <p:embeddedFont>
      <p:font typeface="Merriweather"/>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erriweather-italic.fntdata"/><Relationship Id="rId20" Type="http://schemas.openxmlformats.org/officeDocument/2006/relationships/slide" Target="slides/slide15.xml"/><Relationship Id="rId41" Type="http://schemas.openxmlformats.org/officeDocument/2006/relationships/font" Target="fonts/Merriweather-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6.xml"/><Relationship Id="rId33" Type="http://schemas.openxmlformats.org/officeDocument/2006/relationships/font" Target="fonts/PermanentMarker-regular.fntdata"/><Relationship Id="rId10" Type="http://schemas.openxmlformats.org/officeDocument/2006/relationships/slide" Target="slides/slide5.xml"/><Relationship Id="rId32" Type="http://schemas.openxmlformats.org/officeDocument/2006/relationships/font" Target="fonts/Roboto-boldItalic.fntdata"/><Relationship Id="rId13" Type="http://schemas.openxmlformats.org/officeDocument/2006/relationships/slide" Target="slides/slide8.xml"/><Relationship Id="rId35" Type="http://schemas.openxmlformats.org/officeDocument/2006/relationships/font" Target="fonts/HelveticaNeue-bold.fntdata"/><Relationship Id="rId12" Type="http://schemas.openxmlformats.org/officeDocument/2006/relationships/slide" Target="slides/slide7.xml"/><Relationship Id="rId34" Type="http://schemas.openxmlformats.org/officeDocument/2006/relationships/font" Target="fonts/HelveticaNeue-regular.fntdata"/><Relationship Id="rId15" Type="http://schemas.openxmlformats.org/officeDocument/2006/relationships/slide" Target="slides/slide10.xml"/><Relationship Id="rId37" Type="http://schemas.openxmlformats.org/officeDocument/2006/relationships/font" Target="fonts/HelveticaNeue-boldItalic.fntdata"/><Relationship Id="rId14" Type="http://schemas.openxmlformats.org/officeDocument/2006/relationships/slide" Target="slides/slide9.xml"/><Relationship Id="rId36" Type="http://schemas.openxmlformats.org/officeDocument/2006/relationships/font" Target="fonts/HelveticaNeue-italic.fntdata"/><Relationship Id="rId17" Type="http://schemas.openxmlformats.org/officeDocument/2006/relationships/slide" Target="slides/slide12.xml"/><Relationship Id="rId39" Type="http://schemas.openxmlformats.org/officeDocument/2006/relationships/font" Target="fonts/Merriweather-bold.fntdata"/><Relationship Id="rId16" Type="http://schemas.openxmlformats.org/officeDocument/2006/relationships/slide" Target="slides/slide11.xml"/><Relationship Id="rId38" Type="http://schemas.openxmlformats.org/officeDocument/2006/relationships/font" Target="fonts/Merriweather-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alert.com/tesla-driver-caught-sleeping-for-more-than-30-miles-on-one-of-california-s-busiest-freeways"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alert.com/tesla-driver-caught-sleeping-for-more-than-30-miles-on-one-of-california-s-busiest-freeways"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alert.com/tesla-driver-caught-sleeping-for-more-than-30-miles-on-one-of-california-s-busiest-freeways"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5c358982f2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5c358982f2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0d8106e7d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0d8106e7d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Student Notes: Complete the activities described in the slides and record your answers.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0b047b3676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0b047b3676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SLIDES_API41526302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SLIDES_API41526302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10b047b3676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10b047b3676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SLIDES_API79748723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SLIDES_API79748723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0b047b3676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0b047b3676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SLIDES_API6015627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SLIDES_API6015627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0b047b3676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0b047b3676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a:t>
            </a:r>
            <a:r>
              <a:rPr lang="en" u="sng">
                <a:solidFill>
                  <a:schemeClr val="hlink"/>
                </a:solidFill>
                <a:hlinkClick r:id="rId2"/>
              </a:rPr>
              <a:t>https://www.sciencealert.com/tesla-driver-caught-sleeping-for-more-than-30-miles-on-one-of-california-s-busiest-freeways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0b047b3676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10b047b3676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a:t>
            </a:r>
            <a:r>
              <a:rPr lang="en" u="sng">
                <a:solidFill>
                  <a:schemeClr val="hlink"/>
                </a:solidFill>
                <a:hlinkClick r:id="rId2"/>
              </a:rPr>
              <a:t>https://www.sciencealert.com/tesla-driver-caught-sleeping-for-more-than-30-miles-on-one-of-california-s-busiest-freeways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SLIDES_API132425768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SLIDES_API132425768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0b047b3676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0b047b3676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https://www.sciencealert.com/tesla-driver-caught-sleeping-for-more-than-30-miles-on-one-of-california-s-busiest-freeways</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SLIDES_API29903032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SLIDES_API29903032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0b047b3676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0b047b3676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SLIDES_API206289378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SLIDES_API206289378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0b047b3676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10b047b3676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0b047b3676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0b047b3676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SLIDES_API16032051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SLIDES_API1603205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0b047b3676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0b047b3676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Student </a:t>
            </a:r>
            <a:r>
              <a:rPr lang="en"/>
              <a:t>Note: Both videos provide some answers about the consequences. You can do a little research to answer this question.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SLIDES_API75709626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SLIDES_API75709626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0b047b3676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0b047b3676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SLIDES_API90660708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SLIDES_API90660708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0b047b3676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0b047b3676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hyperlink" Target="https://creativecommons.org/licenses/by-nc-sa/4.0/" TargetMode="External"/><Relationship Id="rId6" Type="http://schemas.openxmlformats.org/officeDocument/2006/relationships/hyperlink" Target="http://www.youtube.com/watch?v=NHUZxeSUFUk" TargetMode="External"/><Relationship Id="rId7"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www.youtube.com/watch?v=NHUZxeSUFUk" TargetMode="External"/><Relationship Id="rId4" Type="http://schemas.openxmlformats.org/officeDocument/2006/relationships/image" Target="../media/image2.jpg"/><Relationship Id="rId5" Type="http://schemas.openxmlformats.org/officeDocument/2006/relationships/hyperlink" Target="https://www.youtube.com/watch?v=NHUZxeSUFUk"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0.jp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www.youtube.com/watch?v=NHUZxeSUFUk" TargetMode="External"/><Relationship Id="rId4" Type="http://schemas.openxmlformats.org/officeDocument/2006/relationships/image" Target="../media/image2.jpg"/><Relationship Id="rId5" Type="http://schemas.openxmlformats.org/officeDocument/2006/relationships/hyperlink" Target="https://www.youtube.com/watch?v=NHUZxeSUFUk"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8.jp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youtube.com/watch?v=WQyliOXgNnc" TargetMode="External"/><Relationship Id="rId4" Type="http://schemas.openxmlformats.org/officeDocument/2006/relationships/hyperlink" Target="http://www.youtube.com/watch?v=WQyliOXgNnc" TargetMode="External"/><Relationship Id="rId5"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6.jp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9.jp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9.jp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1.jp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3.jp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3.jp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hyperlink" Target="https://www.tesla.com/support/autopilot"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16.jp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www.youtube.com/watch?v=ZhObsMnipS8" TargetMode="External"/><Relationship Id="rId4" Type="http://schemas.openxmlformats.org/officeDocument/2006/relationships/hyperlink" Target="https://www.youtube.com/watch?v=YQKXl5x2Alc" TargetMode="External"/><Relationship Id="rId5" Type="http://schemas.openxmlformats.org/officeDocument/2006/relationships/hyperlink" Target="https://insideevs.com/news/517321/tesla-owner-sleeping-on-autopilo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156750" y="733763"/>
            <a:ext cx="61155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1.6,  Case Study #1:</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Sleeping Drivers in Self-Driving Cars </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t/>
            </a:r>
            <a:endParaRPr sz="2800">
              <a:solidFill>
                <a:schemeClr val="dk2"/>
              </a:solidFill>
              <a:latin typeface="Merriweather"/>
              <a:ea typeface="Merriweather"/>
              <a:cs typeface="Merriweather"/>
              <a:sym typeface="Merriweather"/>
            </a:endParaRPr>
          </a:p>
        </p:txBody>
      </p:sp>
      <p:sp>
        <p:nvSpPr>
          <p:cNvPr id="55" name="Google Shape;55;p13"/>
          <p:cNvSpPr txBox="1"/>
          <p:nvPr/>
        </p:nvSpPr>
        <p:spPr>
          <a:xfrm>
            <a:off x="278150" y="3272225"/>
            <a:ext cx="2867700" cy="10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6" name="Google Shape;56;p13"/>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57" name="Google Shape;57;p13"/>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58" name="Google Shape;58;p13"/>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59" name="Google Shape;59;p13"/>
          <p:cNvSpPr txBox="1"/>
          <p:nvPr/>
        </p:nvSpPr>
        <p:spPr>
          <a:xfrm>
            <a:off x="1377450" y="4488725"/>
            <a:ext cx="77667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Developed 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Attribution-NonCommercial-ShareAlike 4.0 International License. </a:t>
            </a:r>
            <a:r>
              <a:rPr b="1" lang="en" sz="900" u="sng">
                <a:solidFill>
                  <a:schemeClr val="accent5"/>
                </a:solidFill>
                <a:highlight>
                  <a:srgbClr val="FFFFFF"/>
                </a:highlight>
                <a:hlinkClick r:id="rId5">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descr="A motorist on a Massachusetts highway captured a man asleep behind the wheel of his Tesla, presumably in autopilot mode. It’s the latest incident involving semi-autonomous cars that have police and federal safety experts sounding an alarm.&#10;» Subscribe to NBC News: http://nbcnews.to/SubscribeToNBC&#10;» Watch more NBC video: http://bit.ly/MoreNBCNews&#10;&#10;NBC News Digital is a collection of innovative and powerful news brands that deliver compelling, diverse and engaging news stories. NBC News Digital features NBCNews.com, MSNBC.com, TODAY.com, Nightly News, Meet the Press, Dateline, and the existing apps and digital extensions of these respective properties.  We deliver the best in breaking news, live video coverage, original journalism and segments from your favorite NBC News Shows.&#10;&#10;Connect with NBC News Online!&#10;NBC News App: https://smart.link/5d0cd9df61b80&#10;Breaking News Alerts: https://link.nbcnews.com/join/5cj/breaking-news-signup?cid=sm_npd_nn_yt_bn-clip_190621&#10;Visit NBCNews.Com: http://nbcnews.to/ReadNBC&#10;Find NBC News on Facebook: http://nbcnews.to/LikeNBC&#10;Follow NBC News on Twitter: http://nbcnews.to/FollowNBC&#10;Follow NBC News on Instagram: http://nbcnews.to/InstaNBC&#10;&#10;Tesla Driver Caught On Camera Apparently Asleep At The Wheel | NBC Nightly News" id="60" name="Google Shape;60;p13" title="Tesla Driver Caught On Camera Apparently Asleep At The Wheel | NBC Nightly News">
            <a:hlinkClick r:id="rId6"/>
          </p:cNvPr>
          <p:cNvPicPr preferRelativeResize="0"/>
          <p:nvPr/>
        </p:nvPicPr>
        <p:blipFill>
          <a:blip r:embed="rId7">
            <a:alphaModFix/>
          </a:blip>
          <a:stretch>
            <a:fillRect/>
          </a:stretch>
        </p:blipFill>
        <p:spPr>
          <a:xfrm>
            <a:off x="3726525" y="1922975"/>
            <a:ext cx="3112534" cy="2334400"/>
          </a:xfrm>
          <a:prstGeom prst="rect">
            <a:avLst/>
          </a:prstGeom>
          <a:noFill/>
          <a:ln>
            <a:noFill/>
          </a:ln>
        </p:spPr>
      </p:pic>
      <p:sp>
        <p:nvSpPr>
          <p:cNvPr id="61" name="Google Shape;61;p13"/>
          <p:cNvSpPr txBox="1"/>
          <p:nvPr/>
        </p:nvSpPr>
        <p:spPr>
          <a:xfrm>
            <a:off x="368925" y="3021750"/>
            <a:ext cx="1980000" cy="831300"/>
          </a:xfrm>
          <a:prstGeom prst="rect">
            <a:avLst/>
          </a:prstGeom>
          <a:solidFill>
            <a:srgbClr val="CFE2F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t>Student Activity Slides</a:t>
            </a:r>
            <a:endParaRPr sz="2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7" name="Google Shape;67;p14"/>
          <p:cNvSpPr txBox="1"/>
          <p:nvPr/>
        </p:nvSpPr>
        <p:spPr>
          <a:xfrm>
            <a:off x="181625" y="66725"/>
            <a:ext cx="3462000" cy="585000"/>
          </a:xfrm>
          <a:prstGeom prst="rect">
            <a:avLst/>
          </a:prstGeom>
          <a:solidFill>
            <a:srgbClr val="CFE2F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600"/>
              <a:t>Student Activity Slides</a:t>
            </a:r>
            <a:endParaRPr sz="2600"/>
          </a:p>
        </p:txBody>
      </p:sp>
      <p:sp>
        <p:nvSpPr>
          <p:cNvPr id="68" name="Google Shape;68;p14"/>
          <p:cNvSpPr txBox="1"/>
          <p:nvPr/>
        </p:nvSpPr>
        <p:spPr>
          <a:xfrm>
            <a:off x="181625" y="1902850"/>
            <a:ext cx="8440500" cy="1508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rgbClr val="FF0000"/>
                </a:solidFill>
                <a:latin typeface="Permanent Marker"/>
                <a:ea typeface="Permanent Marker"/>
                <a:cs typeface="Permanent Marker"/>
                <a:sym typeface="Permanent Marker"/>
              </a:rPr>
              <a:t>Directions:</a:t>
            </a:r>
            <a:r>
              <a:rPr lang="en" sz="2800">
                <a:solidFill>
                  <a:srgbClr val="FF0000"/>
                </a:solidFill>
                <a:latin typeface="Permanent Marker"/>
                <a:ea typeface="Permanent Marker"/>
                <a:cs typeface="Permanent Marker"/>
                <a:sym typeface="Permanent Marker"/>
              </a:rPr>
              <a:t> </a:t>
            </a:r>
            <a:r>
              <a:rPr lang="en" sz="2800">
                <a:solidFill>
                  <a:schemeClr val="dk1"/>
                </a:solidFill>
              </a:rPr>
              <a:t>Complete the activities described in the slides and record your answers on the slides or add a slide if you need more room.</a:t>
            </a:r>
            <a:endParaRPr sz="2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Video: Tesla Driver Caught On Camera Apparently Asleep At The Wheel | NBC Nightly News</a:t>
            </a:r>
            <a:endParaRPr/>
          </a:p>
        </p:txBody>
      </p:sp>
      <p:sp>
        <p:nvSpPr>
          <p:cNvPr id="74" name="Google Shape;74;p15"/>
          <p:cNvSpPr txBox="1"/>
          <p:nvPr>
            <p:ph idx="1" type="body"/>
          </p:nvPr>
        </p:nvSpPr>
        <p:spPr>
          <a:xfrm>
            <a:off x="5340600" y="1678050"/>
            <a:ext cx="3491700" cy="26559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
                <a:solidFill>
                  <a:srgbClr val="0000FF"/>
                </a:solidFill>
              </a:rPr>
              <a:t>As you watch the video, </a:t>
            </a:r>
            <a:br>
              <a:rPr lang="en">
                <a:solidFill>
                  <a:srgbClr val="0000FF"/>
                </a:solidFill>
              </a:rPr>
            </a:br>
            <a:r>
              <a:rPr lang="en">
                <a:solidFill>
                  <a:srgbClr val="0000FF"/>
                </a:solidFill>
              </a:rPr>
              <a:t>think about </a:t>
            </a:r>
            <a:endParaRPr>
              <a:solidFill>
                <a:srgbClr val="0000FF"/>
              </a:solidFill>
            </a:endParaRPr>
          </a:p>
          <a:p>
            <a:pPr indent="-334327" lvl="0" marL="457200" rtl="0" algn="l">
              <a:spcBef>
                <a:spcPts val="1200"/>
              </a:spcBef>
              <a:spcAft>
                <a:spcPts val="0"/>
              </a:spcAft>
              <a:buClr>
                <a:schemeClr val="dk1"/>
              </a:buClr>
              <a:buSzPct val="100000"/>
              <a:buChar char="●"/>
            </a:pPr>
            <a:r>
              <a:rPr lang="en">
                <a:solidFill>
                  <a:schemeClr val="dk1"/>
                </a:solidFill>
              </a:rPr>
              <a:t>What do you find interesting or surprising?</a:t>
            </a:r>
            <a:endParaRPr>
              <a:solidFill>
                <a:schemeClr val="dk1"/>
              </a:solidFill>
            </a:endParaRPr>
          </a:p>
          <a:p>
            <a:pPr indent="-334327" lvl="0" marL="457200" rtl="0" algn="l">
              <a:spcBef>
                <a:spcPts val="1000"/>
              </a:spcBef>
              <a:spcAft>
                <a:spcPts val="0"/>
              </a:spcAft>
              <a:buClr>
                <a:schemeClr val="dk1"/>
              </a:buClr>
              <a:buSzPct val="100000"/>
              <a:buChar char="●"/>
            </a:pPr>
            <a:r>
              <a:rPr lang="en">
                <a:solidFill>
                  <a:schemeClr val="dk1"/>
                </a:solidFill>
              </a:rPr>
              <a:t>What do the producers of the video want you to learn?</a:t>
            </a:r>
            <a:endParaRPr>
              <a:solidFill>
                <a:schemeClr val="dk1"/>
              </a:solidFill>
            </a:endParaRPr>
          </a:p>
          <a:p>
            <a:pPr indent="0" lvl="0" marL="457200" rtl="0" algn="l">
              <a:spcBef>
                <a:spcPts val="1000"/>
              </a:spcBef>
              <a:spcAft>
                <a:spcPts val="1200"/>
              </a:spcAft>
              <a:buNone/>
            </a:pPr>
            <a:r>
              <a:t/>
            </a:r>
            <a:endParaRPr>
              <a:solidFill>
                <a:schemeClr val="dk1"/>
              </a:solidFill>
            </a:endParaRPr>
          </a:p>
        </p:txBody>
      </p:sp>
      <p:pic>
        <p:nvPicPr>
          <p:cNvPr descr="A motorist on a Massachusetts highway captured a man asleep behind the wheel of his Tesla, presumably in autopilot mode. It’s the latest incident involving semi-autonomous cars that have police and federal safety experts sounding an alarm.&#10;» Subscribe to NBC News: http://nbcnews.to/SubscribeToNBC&#10;» Watch more NBC video: http://bit.ly/MoreNBCNews&#10;&#10;NBC News Digital is a collection of innovative and powerful news brands that deliver compelling, diverse and engaging news stories. NBC News Digital features NBCNews.com, MSNBC.com, TODAY.com, Nightly News, Meet the Press, Dateline, and the existing apps and digital extensions of these respective properties.  We deliver the best in breaking news, live video coverage, original journalism and segments from your favorite NBC News Shows.&#10;&#10;Connect with NBC News Online!&#10;NBC News App: https://smart.link/5d0cd9df61b80&#10;Breaking News Alerts: https://link.nbcnews.com/join/5cj/breaking-news-signup?cid=sm_npd_nn_yt_bn-clip_190621&#10;Visit NBCNews.Com: http://nbcnews.to/ReadNBC&#10;Find NBC News on Facebook: http://nbcnews.to/LikeNBC&#10;Follow NBC News on Twitter: http://nbcnews.to/FollowNBC&#10;Follow NBC News on Instagram: http://nbcnews.to/InstaNBC&#10;&#10;Tesla Driver Caught On Camera Apparently Asleep At The Wheel | NBC Nightly News" id="75" name="Google Shape;75;p15" title="Tesla Driver Caught On Camera Apparently Asleep At The Wheel | NBC Nightly News">
            <a:hlinkClick r:id="rId3"/>
          </p:cNvPr>
          <p:cNvPicPr preferRelativeResize="0"/>
          <p:nvPr/>
        </p:nvPicPr>
        <p:blipFill>
          <a:blip r:embed="rId4">
            <a:alphaModFix/>
          </a:blip>
          <a:stretch>
            <a:fillRect/>
          </a:stretch>
        </p:blipFill>
        <p:spPr>
          <a:xfrm>
            <a:off x="381000" y="1170125"/>
            <a:ext cx="4572000" cy="3429000"/>
          </a:xfrm>
          <a:prstGeom prst="rect">
            <a:avLst/>
          </a:prstGeom>
          <a:noFill/>
          <a:ln>
            <a:noFill/>
          </a:ln>
        </p:spPr>
      </p:pic>
      <p:sp>
        <p:nvSpPr>
          <p:cNvPr id="76" name="Google Shape;76;p15"/>
          <p:cNvSpPr txBox="1"/>
          <p:nvPr/>
        </p:nvSpPr>
        <p:spPr>
          <a:xfrm>
            <a:off x="306375" y="4727000"/>
            <a:ext cx="5126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5"/>
              </a:rPr>
              <a:t>https://www.youtube.com/watch?v=NHUZxeSUFUk</a:t>
            </a:r>
            <a:r>
              <a:rPr lang="en"/>
              <a:t> (1:35)</a:t>
            </a:r>
            <a:endParaRPr/>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
                                        </p:tgtEl>
                                        <p:attrNameLst>
                                          <p:attrName>style.visibility</p:attrName>
                                        </p:attrNameLst>
                                      </p:cBhvr>
                                      <p:to>
                                        <p:strVal val="visible"/>
                                      </p:to>
                                    </p:set>
                                    <p:animEffect filter="fade" transition="in">
                                      <p:cBhvr>
                                        <p:cTn dur="1000"/>
                                        <p:tgtEl>
                                          <p:spTgt spid="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pic>
        <p:nvPicPr>
          <p:cNvPr id="82" name="Google Shape;82;p16"/>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83" name="Google Shape;83;p16"/>
          <p:cNvPicPr preferRelativeResize="0"/>
          <p:nvPr/>
        </p:nvPicPr>
        <p:blipFill>
          <a:blip r:embed="rId4">
            <a:alphaModFix/>
          </a:blip>
          <a:stretch>
            <a:fillRect/>
          </a:stretch>
        </p:blipFill>
        <p:spPr>
          <a:xfrm>
            <a:off x="1143000" y="0"/>
            <a:ext cx="6857999" cy="51434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Video: Tesla Driver Caught On Camera Apparently Asleep At The Wheel | NBC Nightly News</a:t>
            </a:r>
            <a:endParaRPr/>
          </a:p>
        </p:txBody>
      </p:sp>
      <p:sp>
        <p:nvSpPr>
          <p:cNvPr id="89" name="Google Shape;89;p17"/>
          <p:cNvSpPr txBox="1"/>
          <p:nvPr>
            <p:ph idx="1" type="body"/>
          </p:nvPr>
        </p:nvSpPr>
        <p:spPr>
          <a:xfrm>
            <a:off x="5340600" y="1381075"/>
            <a:ext cx="34917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b="1" lang="en">
                <a:solidFill>
                  <a:srgbClr val="0000FF"/>
                </a:solidFill>
              </a:rPr>
              <a:t>Let’s watch it again</a:t>
            </a:r>
            <a:endParaRPr b="1">
              <a:solidFill>
                <a:srgbClr val="0000FF"/>
              </a:solidFill>
            </a:endParaRPr>
          </a:p>
          <a:p>
            <a:pPr indent="-334327" lvl="0" marL="457200" rtl="0" algn="l">
              <a:spcBef>
                <a:spcPts val="1200"/>
              </a:spcBef>
              <a:spcAft>
                <a:spcPts val="0"/>
              </a:spcAft>
              <a:buClr>
                <a:schemeClr val="dk1"/>
              </a:buClr>
              <a:buSzPct val="100000"/>
              <a:buChar char="●"/>
            </a:pPr>
            <a:r>
              <a:rPr lang="en">
                <a:solidFill>
                  <a:schemeClr val="dk1"/>
                </a:solidFill>
              </a:rPr>
              <a:t>Is the human using the self-driving car as it was intended?</a:t>
            </a:r>
            <a:endParaRPr>
              <a:solidFill>
                <a:schemeClr val="dk1"/>
              </a:solidFill>
            </a:endParaRPr>
          </a:p>
          <a:p>
            <a:pPr indent="-334327" lvl="0" marL="457200" rtl="0" algn="l">
              <a:spcBef>
                <a:spcPts val="1000"/>
              </a:spcBef>
              <a:spcAft>
                <a:spcPts val="0"/>
              </a:spcAft>
              <a:buClr>
                <a:schemeClr val="dk1"/>
              </a:buClr>
              <a:buSzPct val="100000"/>
              <a:buChar char="●"/>
            </a:pPr>
            <a:r>
              <a:rPr lang="en">
                <a:solidFill>
                  <a:schemeClr val="dk1"/>
                </a:solidFill>
              </a:rPr>
              <a:t>Is this responsible behavior?</a:t>
            </a:r>
            <a:endParaRPr>
              <a:solidFill>
                <a:schemeClr val="dk1"/>
              </a:solidFill>
            </a:endParaRPr>
          </a:p>
          <a:p>
            <a:pPr indent="-334327" lvl="0" marL="457200" rtl="0" algn="l">
              <a:spcBef>
                <a:spcPts val="1000"/>
              </a:spcBef>
              <a:spcAft>
                <a:spcPts val="0"/>
              </a:spcAft>
              <a:buClr>
                <a:schemeClr val="dk1"/>
              </a:buClr>
              <a:buSzPct val="100000"/>
              <a:buChar char="●"/>
            </a:pPr>
            <a:r>
              <a:rPr lang="en">
                <a:solidFill>
                  <a:schemeClr val="dk1"/>
                </a:solidFill>
              </a:rPr>
              <a:t>Is this behavior legal?</a:t>
            </a:r>
            <a:endParaRPr>
              <a:solidFill>
                <a:schemeClr val="dk1"/>
              </a:solidFill>
            </a:endParaRPr>
          </a:p>
          <a:p>
            <a:pPr indent="-334327" lvl="0" marL="457200" rtl="0" algn="l">
              <a:spcBef>
                <a:spcPts val="1000"/>
              </a:spcBef>
              <a:spcAft>
                <a:spcPts val="0"/>
              </a:spcAft>
              <a:buClr>
                <a:schemeClr val="dk1"/>
              </a:buClr>
              <a:buSzPct val="100000"/>
              <a:buChar char="●"/>
            </a:pPr>
            <a:r>
              <a:rPr lang="en">
                <a:solidFill>
                  <a:schemeClr val="dk1"/>
                </a:solidFill>
              </a:rPr>
              <a:t>Is it safe behavior?</a:t>
            </a:r>
            <a:endParaRPr>
              <a:solidFill>
                <a:schemeClr val="dk1"/>
              </a:solidFill>
            </a:endParaRPr>
          </a:p>
          <a:p>
            <a:pPr indent="-334327" lvl="0" marL="457200" rtl="0" algn="l">
              <a:spcBef>
                <a:spcPts val="1000"/>
              </a:spcBef>
              <a:spcAft>
                <a:spcPts val="1000"/>
              </a:spcAft>
              <a:buClr>
                <a:schemeClr val="dk1"/>
              </a:buClr>
              <a:buSzPct val="100000"/>
              <a:buChar char="●"/>
            </a:pPr>
            <a:r>
              <a:rPr lang="en">
                <a:solidFill>
                  <a:schemeClr val="dk1"/>
                </a:solidFill>
              </a:rPr>
              <a:t>Are the sensors operating properly?</a:t>
            </a:r>
            <a:endParaRPr>
              <a:solidFill>
                <a:schemeClr val="dk1"/>
              </a:solidFill>
            </a:endParaRPr>
          </a:p>
        </p:txBody>
      </p:sp>
      <p:pic>
        <p:nvPicPr>
          <p:cNvPr descr="A motorist on a Massachusetts highway captured a man asleep behind the wheel of his Tesla, presumably in autopilot mode. It’s the latest incident involving semi-autonomous cars that have police and federal safety experts sounding an alarm.&#10;» Subscribe to NBC News: http://nbcnews.to/SubscribeToNBC&#10;» Watch more NBC video: http://bit.ly/MoreNBCNews&#10;&#10;NBC News Digital is a collection of innovative and powerful news brands that deliver compelling, diverse and engaging news stories. NBC News Digital features NBCNews.com, MSNBC.com, TODAY.com, Nightly News, Meet the Press, Dateline, and the existing apps and digital extensions of these respective properties.  We deliver the best in breaking news, live video coverage, original journalism and segments from your favorite NBC News Shows.&#10;&#10;Connect with NBC News Online!&#10;NBC News App: https://smart.link/5d0cd9df61b80&#10;Breaking News Alerts: https://link.nbcnews.com/join/5cj/breaking-news-signup?cid=sm_npd_nn_yt_bn-clip_190621&#10;Visit NBCNews.Com: http://nbcnews.to/ReadNBC&#10;Find NBC News on Facebook: http://nbcnews.to/LikeNBC&#10;Follow NBC News on Twitter: http://nbcnews.to/FollowNBC&#10;Follow NBC News on Instagram: http://nbcnews.to/InstaNBC&#10;&#10;Tesla Driver Caught On Camera Apparently Asleep At The Wheel | NBC Nightly News" id="90" name="Google Shape;90;p17" title="Tesla Driver Caught On Camera Apparently Asleep At The Wheel | NBC Nightly News">
            <a:hlinkClick r:id="rId3"/>
          </p:cNvPr>
          <p:cNvPicPr preferRelativeResize="0"/>
          <p:nvPr/>
        </p:nvPicPr>
        <p:blipFill>
          <a:blip r:embed="rId4">
            <a:alphaModFix/>
          </a:blip>
          <a:stretch>
            <a:fillRect/>
          </a:stretch>
        </p:blipFill>
        <p:spPr>
          <a:xfrm>
            <a:off x="381000" y="1170125"/>
            <a:ext cx="4572000" cy="3429000"/>
          </a:xfrm>
          <a:prstGeom prst="rect">
            <a:avLst/>
          </a:prstGeom>
          <a:noFill/>
          <a:ln>
            <a:noFill/>
          </a:ln>
        </p:spPr>
      </p:pic>
      <p:sp>
        <p:nvSpPr>
          <p:cNvPr id="91" name="Google Shape;91;p17"/>
          <p:cNvSpPr txBox="1"/>
          <p:nvPr/>
        </p:nvSpPr>
        <p:spPr>
          <a:xfrm>
            <a:off x="306375" y="4727000"/>
            <a:ext cx="5126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5"/>
              </a:rPr>
              <a:t>https://www.youtube.com/watch?v=NHUZxeSUFUk</a:t>
            </a:r>
            <a:r>
              <a:rPr lang="en"/>
              <a:t> (1:35)</a:t>
            </a:r>
            <a:endParaRPr/>
          </a:p>
        </p:txBody>
      </p:sp>
      <p:sp>
        <p:nvSpPr>
          <p:cNvPr id="92" name="Google Shape;92;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gtEl>
                                        <p:attrNameLst>
                                          <p:attrName>style.visibility</p:attrName>
                                        </p:attrNameLst>
                                      </p:cBhvr>
                                      <p:to>
                                        <p:strVal val="visible"/>
                                      </p:to>
                                    </p:set>
                                    <p:animEffect filter="fade" transition="in">
                                      <p:cBhvr>
                                        <p:cTn dur="1000"/>
                                        <p:tgtEl>
                                          <p:spTgt spid="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18"/>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98" name="Google Shape;98;p18"/>
          <p:cNvPicPr preferRelativeResize="0"/>
          <p:nvPr/>
        </p:nvPicPr>
        <p:blipFill>
          <a:blip r:embed="rId4">
            <a:alphaModFix/>
          </a:blip>
          <a:stretch>
            <a:fillRect/>
          </a:stretch>
        </p:blipFill>
        <p:spPr>
          <a:xfrm>
            <a:off x="1143000" y="0"/>
            <a:ext cx="6857999" cy="51434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Video: Video shows Tesla driver seemingly asleep at the wheel on a BC bridge during rush hour</a:t>
            </a:r>
            <a:endParaRPr/>
          </a:p>
        </p:txBody>
      </p:sp>
      <p:sp>
        <p:nvSpPr>
          <p:cNvPr id="104" name="Google Shape;104;p19"/>
          <p:cNvSpPr txBox="1"/>
          <p:nvPr>
            <p:ph idx="1" type="body"/>
          </p:nvPr>
        </p:nvSpPr>
        <p:spPr>
          <a:xfrm>
            <a:off x="5340600" y="1381075"/>
            <a:ext cx="34917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solidFill>
                  <a:srgbClr val="0000FF"/>
                </a:solidFill>
              </a:rPr>
              <a:t>Let’s watch a new video and keep these questions in mind</a:t>
            </a:r>
            <a:endParaRPr b="1">
              <a:solidFill>
                <a:srgbClr val="0000FF"/>
              </a:solidFill>
            </a:endParaRPr>
          </a:p>
          <a:p>
            <a:pPr indent="-334327" lvl="0" marL="457200" rtl="0" algn="l">
              <a:spcBef>
                <a:spcPts val="1200"/>
              </a:spcBef>
              <a:spcAft>
                <a:spcPts val="0"/>
              </a:spcAft>
              <a:buClr>
                <a:schemeClr val="dk1"/>
              </a:buClr>
              <a:buSzPct val="100000"/>
              <a:buChar char="●"/>
            </a:pPr>
            <a:r>
              <a:rPr lang="en">
                <a:solidFill>
                  <a:schemeClr val="dk1"/>
                </a:solidFill>
              </a:rPr>
              <a:t>Is the human using the self-driving car as it was intended?</a:t>
            </a:r>
            <a:endParaRPr>
              <a:solidFill>
                <a:schemeClr val="dk1"/>
              </a:solidFill>
            </a:endParaRPr>
          </a:p>
          <a:p>
            <a:pPr indent="-334327" lvl="0" marL="457200" rtl="0" algn="l">
              <a:spcBef>
                <a:spcPts val="1000"/>
              </a:spcBef>
              <a:spcAft>
                <a:spcPts val="0"/>
              </a:spcAft>
              <a:buClr>
                <a:schemeClr val="dk1"/>
              </a:buClr>
              <a:buSzPct val="100000"/>
              <a:buChar char="●"/>
            </a:pPr>
            <a:r>
              <a:rPr lang="en">
                <a:solidFill>
                  <a:schemeClr val="dk1"/>
                </a:solidFill>
              </a:rPr>
              <a:t>Is this responsible behavior?</a:t>
            </a:r>
            <a:endParaRPr>
              <a:solidFill>
                <a:schemeClr val="dk1"/>
              </a:solidFill>
            </a:endParaRPr>
          </a:p>
          <a:p>
            <a:pPr indent="-334327" lvl="0" marL="457200" rtl="0" algn="l">
              <a:spcBef>
                <a:spcPts val="1000"/>
              </a:spcBef>
              <a:spcAft>
                <a:spcPts val="0"/>
              </a:spcAft>
              <a:buClr>
                <a:schemeClr val="dk1"/>
              </a:buClr>
              <a:buSzPct val="100000"/>
              <a:buChar char="●"/>
            </a:pPr>
            <a:r>
              <a:rPr lang="en">
                <a:solidFill>
                  <a:schemeClr val="dk1"/>
                </a:solidFill>
              </a:rPr>
              <a:t>Is this behavior legal?</a:t>
            </a:r>
            <a:endParaRPr>
              <a:solidFill>
                <a:schemeClr val="dk1"/>
              </a:solidFill>
            </a:endParaRPr>
          </a:p>
          <a:p>
            <a:pPr indent="-334327" lvl="0" marL="457200" rtl="0" algn="l">
              <a:spcBef>
                <a:spcPts val="1000"/>
              </a:spcBef>
              <a:spcAft>
                <a:spcPts val="0"/>
              </a:spcAft>
              <a:buClr>
                <a:schemeClr val="dk1"/>
              </a:buClr>
              <a:buSzPct val="100000"/>
              <a:buChar char="●"/>
            </a:pPr>
            <a:r>
              <a:rPr lang="en">
                <a:solidFill>
                  <a:schemeClr val="dk1"/>
                </a:solidFill>
              </a:rPr>
              <a:t>Is it safe behavior?</a:t>
            </a:r>
            <a:endParaRPr>
              <a:solidFill>
                <a:schemeClr val="dk1"/>
              </a:solidFill>
            </a:endParaRPr>
          </a:p>
          <a:p>
            <a:pPr indent="-334327" lvl="0" marL="457200" rtl="0" algn="l">
              <a:spcBef>
                <a:spcPts val="1000"/>
              </a:spcBef>
              <a:spcAft>
                <a:spcPts val="1000"/>
              </a:spcAft>
              <a:buClr>
                <a:schemeClr val="dk1"/>
              </a:buClr>
              <a:buSzPct val="100000"/>
              <a:buChar char="●"/>
            </a:pPr>
            <a:r>
              <a:rPr lang="en">
                <a:solidFill>
                  <a:schemeClr val="dk1"/>
                </a:solidFill>
              </a:rPr>
              <a:t>Are the sensors operating properly?</a:t>
            </a:r>
            <a:endParaRPr>
              <a:solidFill>
                <a:schemeClr val="dk1"/>
              </a:solidFill>
            </a:endParaRPr>
          </a:p>
        </p:txBody>
      </p:sp>
      <p:sp>
        <p:nvSpPr>
          <p:cNvPr id="105" name="Google Shape;105;p19"/>
          <p:cNvSpPr txBox="1"/>
          <p:nvPr/>
        </p:nvSpPr>
        <p:spPr>
          <a:xfrm>
            <a:off x="153975" y="4498400"/>
            <a:ext cx="5126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3"/>
              </a:rPr>
              <a:t>https://www.youtube.com/watch?v=WQyliOXgNnc</a:t>
            </a:r>
            <a:r>
              <a:rPr lang="en"/>
              <a:t>  (2:13)</a:t>
            </a:r>
            <a:endParaRPr/>
          </a:p>
        </p:txBody>
      </p:sp>
      <p:pic>
        <p:nvPicPr>
          <p:cNvPr descr="A B.C. Tesla driver has been ticketed for driving without due care and attention, following a video posted to social media appearing to show them asleep at the wheel with the car in autopilot mode.&#10;&#10;The video was shot northbound on the Ironworkers Memorial Second Narrows bridge during rush hour.&#10;&#10;“I looked out the passenger window and noticed what looked like somebody just completely asleep behind the wheel of the Tesla,” the man who shot the video and asked not to be identified told Global News.&#10;&#10;“From what I saw they were out like a light, but then there was a couple moments where it looked like they almost woke up, then went back to sleep.”&#10;&#10;In the video, the Tesla driver can be seen with their seat partially reclined, and appears to be dozing, then snap to attention before dozing off again.&#10;&#10;Tesla’s autopilot system is meant to assist drivers, but not to render the vehicles autonomous, according to the company’s website.&#10;&#10;For more info, please go to https://globalnews.ca/news/8270749/video-tesla-driver-asleep-at-the-wheel-bc-bridge-rush-hour/&#10;&#10;Subscribe to Global News Channel HERE: http://bit.ly/20fcXDc&#10;Like Global News on Facebook HERE: http://bit.ly/255GMJQ&#10;Follow Global News on Twitter HERE: http://bit.ly/1Toz8mt&#10;Follow Global News on Instagram HERE: https://bit.ly/2QZaZIB&#10;#GlobalNews #Tesla" id="106" name="Google Shape;106;p19" title="Video shows Tesla driver seemingly asleep at the wheel on a BC bridge during rush hour">
            <a:hlinkClick r:id="rId4"/>
          </p:cNvPr>
          <p:cNvPicPr preferRelativeResize="0"/>
          <p:nvPr/>
        </p:nvPicPr>
        <p:blipFill>
          <a:blip r:embed="rId5">
            <a:alphaModFix/>
          </a:blip>
          <a:stretch>
            <a:fillRect/>
          </a:stretch>
        </p:blipFill>
        <p:spPr>
          <a:xfrm>
            <a:off x="228600" y="1093925"/>
            <a:ext cx="4572000" cy="3429000"/>
          </a:xfrm>
          <a:prstGeom prst="rect">
            <a:avLst/>
          </a:prstGeom>
          <a:noFill/>
          <a:ln>
            <a:noFill/>
          </a:ln>
        </p:spPr>
      </p:pic>
      <p:sp>
        <p:nvSpPr>
          <p:cNvPr id="107" name="Google Shape;107;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1000"/>
                                        <p:tgtEl>
                                          <p:spTgt spid="1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20"/>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113" name="Google Shape;113;p20"/>
          <p:cNvPicPr preferRelativeResize="0"/>
          <p:nvPr/>
        </p:nvPicPr>
        <p:blipFill>
          <a:blip r:embed="rId4">
            <a:alphaModFix/>
          </a:blip>
          <a:stretch>
            <a:fillRect/>
          </a:stretch>
        </p:blipFill>
        <p:spPr>
          <a:xfrm>
            <a:off x="1143000" y="0"/>
            <a:ext cx="6857999" cy="51434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140775" y="264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level of autonomy is Tesla’s Autopilot mode?</a:t>
            </a:r>
            <a:endParaRPr/>
          </a:p>
        </p:txBody>
      </p:sp>
      <p:pic>
        <p:nvPicPr>
          <p:cNvPr id="119" name="Google Shape;119;p21"/>
          <p:cNvPicPr preferRelativeResize="0"/>
          <p:nvPr/>
        </p:nvPicPr>
        <p:blipFill>
          <a:blip r:embed="rId3">
            <a:alphaModFix/>
          </a:blip>
          <a:stretch>
            <a:fillRect/>
          </a:stretch>
        </p:blipFill>
        <p:spPr>
          <a:xfrm>
            <a:off x="152400" y="941525"/>
            <a:ext cx="8339768" cy="3820975"/>
          </a:xfrm>
          <a:prstGeom prst="rect">
            <a:avLst/>
          </a:prstGeom>
          <a:noFill/>
          <a:ln>
            <a:noFill/>
          </a:ln>
        </p:spPr>
      </p:pic>
      <p:sp>
        <p:nvSpPr>
          <p:cNvPr id="120" name="Google Shape;120;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22"/>
          <p:cNvPicPr preferRelativeResize="0"/>
          <p:nvPr/>
        </p:nvPicPr>
        <p:blipFill>
          <a:blip r:embed="rId3">
            <a:alphaModFix/>
          </a:blip>
          <a:stretch>
            <a:fillRect/>
          </a:stretch>
        </p:blipFill>
        <p:spPr>
          <a:xfrm>
            <a:off x="152400" y="1170125"/>
            <a:ext cx="8339768" cy="3820975"/>
          </a:xfrm>
          <a:prstGeom prst="rect">
            <a:avLst/>
          </a:prstGeom>
          <a:noFill/>
          <a:ln>
            <a:noFill/>
          </a:ln>
        </p:spPr>
      </p:pic>
      <p:sp>
        <p:nvSpPr>
          <p:cNvPr id="126" name="Google Shape;126;p22"/>
          <p:cNvSpPr txBox="1"/>
          <p:nvPr/>
        </p:nvSpPr>
        <p:spPr>
          <a:xfrm>
            <a:off x="159275" y="773675"/>
            <a:ext cx="852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9900"/>
                </a:solidFill>
              </a:rPr>
              <a:t>Instructions: </a:t>
            </a:r>
            <a:r>
              <a:rPr lang="en">
                <a:solidFill>
                  <a:srgbClr val="FF9900"/>
                </a:solidFill>
              </a:rPr>
              <a:t>Circle your answer below and explain why</a:t>
            </a:r>
            <a:endParaRPr>
              <a:solidFill>
                <a:srgbClr val="FF9900"/>
              </a:solidFill>
            </a:endParaRPr>
          </a:p>
        </p:txBody>
      </p:sp>
      <p:sp>
        <p:nvSpPr>
          <p:cNvPr id="127" name="Google Shape;127;p22"/>
          <p:cNvSpPr txBox="1"/>
          <p:nvPr/>
        </p:nvSpPr>
        <p:spPr>
          <a:xfrm>
            <a:off x="135575" y="14175"/>
            <a:ext cx="430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9900"/>
                </a:solidFill>
              </a:rPr>
              <a:t>Student ID#</a:t>
            </a:r>
            <a:r>
              <a:rPr lang="en"/>
              <a:t> ____________________</a:t>
            </a:r>
            <a:endParaRPr/>
          </a:p>
        </p:txBody>
      </p:sp>
      <p:sp>
        <p:nvSpPr>
          <p:cNvPr id="128" name="Google Shape;128;p22"/>
          <p:cNvSpPr txBox="1"/>
          <p:nvPr>
            <p:ph type="title"/>
          </p:nvPr>
        </p:nvSpPr>
        <p:spPr>
          <a:xfrm>
            <a:off x="140775" y="264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level of autonomy is Tesla’s Autopilot mode?</a:t>
            </a:r>
            <a:endParaRPr/>
          </a:p>
        </p:txBody>
      </p:sp>
      <p:sp>
        <p:nvSpPr>
          <p:cNvPr id="129" name="Google Shape;129;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23"/>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135" name="Google Shape;135;p23"/>
          <p:cNvPicPr preferRelativeResize="0"/>
          <p:nvPr/>
        </p:nvPicPr>
        <p:blipFill>
          <a:blip r:embed="rId4">
            <a:alphaModFix/>
          </a:blip>
          <a:stretch>
            <a:fillRect/>
          </a:stretch>
        </p:blipFill>
        <p:spPr>
          <a:xfrm>
            <a:off x="1143000" y="0"/>
            <a:ext cx="6857999" cy="51434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4"/>
          <p:cNvSpPr txBox="1"/>
          <p:nvPr>
            <p:ph type="title"/>
          </p:nvPr>
        </p:nvSpPr>
        <p:spPr>
          <a:xfrm>
            <a:off x="159300" y="216425"/>
            <a:ext cx="8520600" cy="95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level of autonomy do you think sleeping drivers associate with Tesla’s Autopilot mode?</a:t>
            </a:r>
            <a:endParaRPr/>
          </a:p>
        </p:txBody>
      </p:sp>
      <p:pic>
        <p:nvPicPr>
          <p:cNvPr id="141" name="Google Shape;141;p24"/>
          <p:cNvPicPr preferRelativeResize="0"/>
          <p:nvPr/>
        </p:nvPicPr>
        <p:blipFill>
          <a:blip r:embed="rId3">
            <a:alphaModFix/>
          </a:blip>
          <a:stretch>
            <a:fillRect/>
          </a:stretch>
        </p:blipFill>
        <p:spPr>
          <a:xfrm>
            <a:off x="152400" y="1322525"/>
            <a:ext cx="8339768" cy="3820975"/>
          </a:xfrm>
          <a:prstGeom prst="rect">
            <a:avLst/>
          </a:prstGeom>
          <a:noFill/>
          <a:ln>
            <a:noFill/>
          </a:ln>
        </p:spPr>
      </p:pic>
      <p:sp>
        <p:nvSpPr>
          <p:cNvPr id="142" name="Google Shape;142;p24"/>
          <p:cNvSpPr txBox="1"/>
          <p:nvPr/>
        </p:nvSpPr>
        <p:spPr>
          <a:xfrm>
            <a:off x="159275" y="1002275"/>
            <a:ext cx="852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9900"/>
                </a:solidFill>
              </a:rPr>
              <a:t>Instructions: </a:t>
            </a:r>
            <a:r>
              <a:rPr lang="en">
                <a:solidFill>
                  <a:srgbClr val="FF9900"/>
                </a:solidFill>
              </a:rPr>
              <a:t>Circle your answer below and explain why</a:t>
            </a:r>
            <a:endParaRPr>
              <a:solidFill>
                <a:srgbClr val="FF9900"/>
              </a:solidFill>
            </a:endParaRPr>
          </a:p>
        </p:txBody>
      </p:sp>
      <p:sp>
        <p:nvSpPr>
          <p:cNvPr id="143" name="Google Shape;143;p24"/>
          <p:cNvSpPr txBox="1"/>
          <p:nvPr/>
        </p:nvSpPr>
        <p:spPr>
          <a:xfrm>
            <a:off x="135575" y="14175"/>
            <a:ext cx="4304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FF9900"/>
                </a:solidFill>
              </a:rPr>
              <a:t>Student ID#</a:t>
            </a:r>
            <a:r>
              <a:rPr lang="en"/>
              <a:t> ____________________</a:t>
            </a:r>
            <a:endParaRPr/>
          </a:p>
        </p:txBody>
      </p:sp>
      <p:sp>
        <p:nvSpPr>
          <p:cNvPr id="144" name="Google Shape;144;p24"/>
          <p:cNvSpPr/>
          <p:nvPr/>
        </p:nvSpPr>
        <p:spPr>
          <a:xfrm>
            <a:off x="6600229" y="3989467"/>
            <a:ext cx="341100" cy="118200"/>
          </a:xfrm>
          <a:prstGeom prst="rect">
            <a:avLst/>
          </a:prstGeom>
          <a:solidFill>
            <a:srgbClr val="FFFF00">
              <a:alpha val="37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4"/>
          <p:cNvSpPr/>
          <p:nvPr/>
        </p:nvSpPr>
        <p:spPr>
          <a:xfrm>
            <a:off x="8048025" y="3989475"/>
            <a:ext cx="179100" cy="118200"/>
          </a:xfrm>
          <a:prstGeom prst="rect">
            <a:avLst/>
          </a:prstGeom>
          <a:solidFill>
            <a:srgbClr val="FFFF00">
              <a:alpha val="374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p25"/>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152" name="Google Shape;152;p25"/>
          <p:cNvPicPr preferRelativeResize="0"/>
          <p:nvPr/>
        </p:nvPicPr>
        <p:blipFill>
          <a:blip r:embed="rId4">
            <a:alphaModFix/>
          </a:blip>
          <a:stretch>
            <a:fillRect/>
          </a:stretch>
        </p:blipFill>
        <p:spPr>
          <a:xfrm>
            <a:off x="1143000" y="0"/>
            <a:ext cx="6857999" cy="51434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Ethical Reflection:</a:t>
            </a:r>
            <a:r>
              <a:rPr lang="en"/>
              <a:t> Is it enough to warn people not to do something even though you know they won’t listen?</a:t>
            </a:r>
            <a:endParaRPr/>
          </a:p>
        </p:txBody>
      </p:sp>
      <p:sp>
        <p:nvSpPr>
          <p:cNvPr id="158" name="Google Shape;158;p26"/>
          <p:cNvSpPr txBox="1"/>
          <p:nvPr>
            <p:ph idx="1" type="body"/>
          </p:nvPr>
        </p:nvSpPr>
        <p:spPr>
          <a:xfrm>
            <a:off x="311700" y="1385575"/>
            <a:ext cx="3999900" cy="3396000"/>
          </a:xfrm>
          <a:prstGeom prst="rect">
            <a:avLst/>
          </a:prstGeom>
          <a:ln cap="flat" cmpd="sng" w="9525">
            <a:solidFill>
              <a:srgbClr val="B7B7B7"/>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b="1" lang="en"/>
              <a:t>Yes, explain why</a:t>
            </a:r>
            <a:endParaRPr b="1"/>
          </a:p>
          <a:p>
            <a:pPr indent="0" lvl="0" marL="457200" rtl="0" algn="l">
              <a:spcBef>
                <a:spcPts val="1200"/>
              </a:spcBef>
              <a:spcAft>
                <a:spcPts val="1200"/>
              </a:spcAft>
              <a:buNone/>
            </a:pPr>
            <a:r>
              <a:t/>
            </a:r>
            <a:endParaRPr/>
          </a:p>
        </p:txBody>
      </p:sp>
      <p:sp>
        <p:nvSpPr>
          <p:cNvPr id="159" name="Google Shape;159;p26"/>
          <p:cNvSpPr txBox="1"/>
          <p:nvPr>
            <p:ph idx="2" type="body"/>
          </p:nvPr>
        </p:nvSpPr>
        <p:spPr>
          <a:xfrm>
            <a:off x="4832400" y="1385575"/>
            <a:ext cx="3999900" cy="3396000"/>
          </a:xfrm>
          <a:prstGeom prst="rect">
            <a:avLst/>
          </a:prstGeom>
          <a:ln cap="flat" cmpd="sng" w="9525">
            <a:solidFill>
              <a:srgbClr val="B7B7B7"/>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b="1" lang="en"/>
              <a:t>No, explain why</a:t>
            </a:r>
            <a:endParaRPr b="1"/>
          </a:p>
          <a:p>
            <a:pPr indent="0" lvl="0" marL="0" rtl="0" algn="l">
              <a:spcBef>
                <a:spcPts val="1200"/>
              </a:spcBef>
              <a:spcAft>
                <a:spcPts val="1200"/>
              </a:spcAft>
              <a:buNone/>
            </a:pPr>
            <a:r>
              <a:t/>
            </a:r>
            <a:endParaRPr/>
          </a:p>
        </p:txBody>
      </p:sp>
      <p:sp>
        <p:nvSpPr>
          <p:cNvPr id="160" name="Google Shape;160;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27"/>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166" name="Google Shape;166;p27"/>
          <p:cNvPicPr preferRelativeResize="0"/>
          <p:nvPr/>
        </p:nvPicPr>
        <p:blipFill>
          <a:blip r:embed="rId4">
            <a:alphaModFix/>
          </a:blip>
          <a:stretch>
            <a:fillRect/>
          </a:stretch>
        </p:blipFill>
        <p:spPr>
          <a:xfrm>
            <a:off x="1143000" y="0"/>
            <a:ext cx="6857999" cy="51434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Is Tesla’s Autopilot mode an attractive nuisance? </a:t>
            </a:r>
            <a:endParaRPr/>
          </a:p>
        </p:txBody>
      </p:sp>
      <p:sp>
        <p:nvSpPr>
          <p:cNvPr id="172" name="Google Shape;172;p28"/>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600">
                <a:solidFill>
                  <a:srgbClr val="202124"/>
                </a:solidFill>
                <a:latin typeface="Roboto"/>
                <a:ea typeface="Roboto"/>
                <a:cs typeface="Roboto"/>
                <a:sym typeface="Roboto"/>
              </a:rPr>
              <a:t>Basic Elements of Attractive Nuisance</a:t>
            </a:r>
            <a:endParaRPr b="1" sz="1600">
              <a:solidFill>
                <a:srgbClr val="202124"/>
              </a:solidFill>
              <a:latin typeface="Roboto"/>
              <a:ea typeface="Roboto"/>
              <a:cs typeface="Roboto"/>
              <a:sym typeface="Roboto"/>
            </a:endParaRPr>
          </a:p>
          <a:p>
            <a:pPr indent="-304800" lvl="0" marL="457200" rtl="0" algn="l">
              <a:spcBef>
                <a:spcPts val="900"/>
              </a:spcBef>
              <a:spcAft>
                <a:spcPts val="0"/>
              </a:spcAft>
              <a:buClr>
                <a:srgbClr val="202124"/>
              </a:buClr>
              <a:buSzPts val="1200"/>
              <a:buFont typeface="Roboto"/>
              <a:buChar char="●"/>
            </a:pPr>
            <a:r>
              <a:rPr lang="en" sz="1200">
                <a:solidFill>
                  <a:srgbClr val="202124"/>
                </a:solidFill>
                <a:latin typeface="Roboto"/>
                <a:ea typeface="Roboto"/>
                <a:cs typeface="Roboto"/>
                <a:sym typeface="Roboto"/>
              </a:rPr>
              <a:t>A potentially dangerous condition exists on the property.</a:t>
            </a:r>
            <a:endParaRPr sz="1200">
              <a:solidFill>
                <a:srgbClr val="202124"/>
              </a:solidFill>
              <a:latin typeface="Roboto"/>
              <a:ea typeface="Roboto"/>
              <a:cs typeface="Roboto"/>
              <a:sym typeface="Roboto"/>
            </a:endParaRPr>
          </a:p>
          <a:p>
            <a:pPr indent="-304800" lvl="0" marL="457200" rtl="0" algn="l">
              <a:spcBef>
                <a:spcPts val="0"/>
              </a:spcBef>
              <a:spcAft>
                <a:spcPts val="0"/>
              </a:spcAft>
              <a:buClr>
                <a:srgbClr val="202124"/>
              </a:buClr>
              <a:buSzPts val="1200"/>
              <a:buFont typeface="Roboto"/>
              <a:buChar char="●"/>
            </a:pPr>
            <a:r>
              <a:rPr lang="en" sz="1200">
                <a:solidFill>
                  <a:srgbClr val="202124"/>
                </a:solidFill>
                <a:latin typeface="Roboto"/>
                <a:ea typeface="Roboto"/>
                <a:cs typeface="Roboto"/>
                <a:sym typeface="Roboto"/>
              </a:rPr>
              <a:t>The landowner created or maintained the potential hazard.</a:t>
            </a:r>
            <a:endParaRPr sz="1200">
              <a:solidFill>
                <a:srgbClr val="202124"/>
              </a:solidFill>
              <a:latin typeface="Roboto"/>
              <a:ea typeface="Roboto"/>
              <a:cs typeface="Roboto"/>
              <a:sym typeface="Roboto"/>
            </a:endParaRPr>
          </a:p>
          <a:p>
            <a:pPr indent="-304800" lvl="0" marL="457200" rtl="0" algn="l">
              <a:spcBef>
                <a:spcPts val="0"/>
              </a:spcBef>
              <a:spcAft>
                <a:spcPts val="0"/>
              </a:spcAft>
              <a:buClr>
                <a:srgbClr val="202124"/>
              </a:buClr>
              <a:buSzPts val="1200"/>
              <a:buFont typeface="Roboto"/>
              <a:buChar char="●"/>
            </a:pPr>
            <a:r>
              <a:rPr lang="en" sz="1200">
                <a:solidFill>
                  <a:srgbClr val="202124"/>
                </a:solidFill>
                <a:latin typeface="Roboto"/>
                <a:ea typeface="Roboto"/>
                <a:cs typeface="Roboto"/>
                <a:sym typeface="Roboto"/>
              </a:rPr>
              <a:t>The landowner should have known the condition would attract children.</a:t>
            </a:r>
            <a:endParaRPr sz="1200">
              <a:solidFill>
                <a:srgbClr val="202124"/>
              </a:solidFill>
              <a:latin typeface="Roboto"/>
              <a:ea typeface="Roboto"/>
              <a:cs typeface="Roboto"/>
              <a:sym typeface="Roboto"/>
            </a:endParaRPr>
          </a:p>
          <a:p>
            <a:pPr indent="-304800" lvl="0" marL="457200" rtl="0" algn="l">
              <a:spcBef>
                <a:spcPts val="0"/>
              </a:spcBef>
              <a:spcAft>
                <a:spcPts val="0"/>
              </a:spcAft>
              <a:buClr>
                <a:srgbClr val="202124"/>
              </a:buClr>
              <a:buSzPts val="1200"/>
              <a:buFont typeface="Roboto"/>
              <a:buChar char="●"/>
            </a:pPr>
            <a:r>
              <a:rPr lang="en" sz="1200">
                <a:solidFill>
                  <a:srgbClr val="202124"/>
                </a:solidFill>
                <a:latin typeface="Roboto"/>
                <a:ea typeface="Roboto"/>
                <a:cs typeface="Roboto"/>
                <a:sym typeface="Roboto"/>
              </a:rPr>
              <a:t>The landowner should have known the condition could harm children.</a:t>
            </a:r>
            <a:endParaRPr/>
          </a:p>
        </p:txBody>
      </p:sp>
      <p:sp>
        <p:nvSpPr>
          <p:cNvPr id="173" name="Google Shape;173;p28"/>
          <p:cNvSpPr txBox="1"/>
          <p:nvPr>
            <p:ph idx="2" type="body"/>
          </p:nvPr>
        </p:nvSpPr>
        <p:spPr>
          <a:xfrm>
            <a:off x="4832400" y="1152475"/>
            <a:ext cx="3999900" cy="2928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sz="1600">
                <a:solidFill>
                  <a:srgbClr val="202124"/>
                </a:solidFill>
                <a:latin typeface="Roboto"/>
                <a:ea typeface="Roboto"/>
                <a:cs typeface="Roboto"/>
                <a:sym typeface="Roboto"/>
              </a:rPr>
              <a:t>Examples:</a:t>
            </a:r>
            <a:endParaRPr b="1"/>
          </a:p>
          <a:p>
            <a:pPr indent="-317500" lvl="0" marL="457200" rtl="0" algn="l">
              <a:spcBef>
                <a:spcPts val="1200"/>
              </a:spcBef>
              <a:spcAft>
                <a:spcPts val="0"/>
              </a:spcAft>
              <a:buSzPts val="1400"/>
              <a:buChar char="●"/>
            </a:pPr>
            <a:r>
              <a:rPr lang="en"/>
              <a:t>Swimming pools</a:t>
            </a:r>
            <a:endParaRPr/>
          </a:p>
          <a:p>
            <a:pPr indent="-317500" lvl="0" marL="457200" rtl="0" algn="l">
              <a:spcBef>
                <a:spcPts val="0"/>
              </a:spcBef>
              <a:spcAft>
                <a:spcPts val="0"/>
              </a:spcAft>
              <a:buSzPts val="1400"/>
              <a:buChar char="●"/>
            </a:pPr>
            <a:r>
              <a:rPr lang="en"/>
              <a:t>Trampolines</a:t>
            </a:r>
            <a:endParaRPr/>
          </a:p>
          <a:p>
            <a:pPr indent="-317500" lvl="0" marL="457200" rtl="0" algn="l">
              <a:spcBef>
                <a:spcPts val="0"/>
              </a:spcBef>
              <a:spcAft>
                <a:spcPts val="0"/>
              </a:spcAft>
              <a:buSzPts val="1400"/>
              <a:buChar char="●"/>
            </a:pPr>
            <a:r>
              <a:rPr lang="en"/>
              <a:t>Tree houses</a:t>
            </a:r>
            <a:endParaRPr/>
          </a:p>
          <a:p>
            <a:pPr indent="-317500" lvl="0" marL="457200" rtl="0" algn="l">
              <a:spcBef>
                <a:spcPts val="0"/>
              </a:spcBef>
              <a:spcAft>
                <a:spcPts val="0"/>
              </a:spcAft>
              <a:buSzPts val="1400"/>
              <a:buChar char="●"/>
            </a:pPr>
            <a:r>
              <a:rPr lang="en"/>
              <a:t>Fountains</a:t>
            </a:r>
            <a:endParaRPr/>
          </a:p>
          <a:p>
            <a:pPr indent="-317500" lvl="0" marL="457200" rtl="0" algn="l">
              <a:spcBef>
                <a:spcPts val="0"/>
              </a:spcBef>
              <a:spcAft>
                <a:spcPts val="0"/>
              </a:spcAft>
              <a:buSzPts val="1400"/>
              <a:buChar char="●"/>
            </a:pPr>
            <a:r>
              <a:rPr lang="en"/>
              <a:t>Machinery (lawnmowers, gasoline pumps, etc.)</a:t>
            </a:r>
            <a:endParaRPr/>
          </a:p>
          <a:p>
            <a:pPr indent="-317500" lvl="0" marL="457200" rtl="0" algn="l">
              <a:spcBef>
                <a:spcPts val="0"/>
              </a:spcBef>
              <a:spcAft>
                <a:spcPts val="0"/>
              </a:spcAft>
              <a:buSzPts val="1400"/>
              <a:buChar char="●"/>
            </a:pPr>
            <a:r>
              <a:rPr lang="en"/>
              <a:t>Wells</a:t>
            </a:r>
            <a:endParaRPr/>
          </a:p>
          <a:p>
            <a:pPr indent="-317500" lvl="0" marL="457200" rtl="0" algn="l">
              <a:spcBef>
                <a:spcPts val="0"/>
              </a:spcBef>
              <a:spcAft>
                <a:spcPts val="0"/>
              </a:spcAft>
              <a:buSzPts val="1400"/>
              <a:buChar char="●"/>
            </a:pPr>
            <a:r>
              <a:rPr lang="en"/>
              <a:t>Tunnels</a:t>
            </a:r>
            <a:endParaRPr/>
          </a:p>
          <a:p>
            <a:pPr indent="-317500" lvl="0" marL="457200" rtl="0" algn="l">
              <a:spcBef>
                <a:spcPts val="0"/>
              </a:spcBef>
              <a:spcAft>
                <a:spcPts val="0"/>
              </a:spcAft>
              <a:buSzPts val="1400"/>
              <a:buChar char="●"/>
            </a:pPr>
            <a:r>
              <a:rPr lang="en"/>
              <a:t>Dangerous animals</a:t>
            </a:r>
            <a:endParaRPr/>
          </a:p>
          <a:p>
            <a:pPr indent="0" lvl="0" marL="0" rtl="0" algn="l">
              <a:spcBef>
                <a:spcPts val="1200"/>
              </a:spcBef>
              <a:spcAft>
                <a:spcPts val="1200"/>
              </a:spcAft>
              <a:buNone/>
            </a:pPr>
            <a:r>
              <a:t/>
            </a:r>
            <a:endParaRPr/>
          </a:p>
        </p:txBody>
      </p:sp>
      <p:sp>
        <p:nvSpPr>
          <p:cNvPr id="174" name="Google Shape;174;p28"/>
          <p:cNvSpPr txBox="1"/>
          <p:nvPr/>
        </p:nvSpPr>
        <p:spPr>
          <a:xfrm>
            <a:off x="330000" y="3700799"/>
            <a:ext cx="8502300" cy="1262100"/>
          </a:xfrm>
          <a:prstGeom prst="rect">
            <a:avLst/>
          </a:prstGeom>
          <a:noFill/>
          <a:ln cap="flat" cmpd="sng" w="9525">
            <a:solidFill>
              <a:srgbClr val="999999"/>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t>Perspective:</a:t>
            </a:r>
            <a:r>
              <a:rPr lang="en"/>
              <a:t> Given this definition of Attractive Nuisance, do you consider Tesla’s Autopilot mode a type of attractive nuisance? Why?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p:txBody>
      </p:sp>
      <p:sp>
        <p:nvSpPr>
          <p:cNvPr id="175" name="Google Shape;175;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Policy Reflection:</a:t>
            </a:r>
            <a:r>
              <a:rPr lang="en"/>
              <a:t> Should Autopilot Mode be banned?</a:t>
            </a:r>
            <a:endParaRPr/>
          </a:p>
        </p:txBody>
      </p:sp>
      <p:sp>
        <p:nvSpPr>
          <p:cNvPr id="181" name="Google Shape;181;p29"/>
          <p:cNvSpPr txBox="1"/>
          <p:nvPr>
            <p:ph idx="1" type="body"/>
          </p:nvPr>
        </p:nvSpPr>
        <p:spPr>
          <a:xfrm>
            <a:off x="311700" y="1309375"/>
            <a:ext cx="3999900" cy="2431500"/>
          </a:xfrm>
          <a:prstGeom prst="rect">
            <a:avLst/>
          </a:prstGeom>
          <a:ln cap="flat" cmpd="sng" w="9525">
            <a:solidFill>
              <a:srgbClr val="999999"/>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b="1" lang="en"/>
              <a:t>Yes, explain why</a:t>
            </a:r>
            <a:endParaRPr b="1"/>
          </a:p>
          <a:p>
            <a:pPr indent="0" lvl="0" marL="457200" rtl="0" algn="l">
              <a:spcBef>
                <a:spcPts val="1200"/>
              </a:spcBef>
              <a:spcAft>
                <a:spcPts val="1200"/>
              </a:spcAft>
              <a:buNone/>
            </a:pPr>
            <a:r>
              <a:t/>
            </a:r>
            <a:endParaRPr/>
          </a:p>
        </p:txBody>
      </p:sp>
      <p:sp>
        <p:nvSpPr>
          <p:cNvPr id="182" name="Google Shape;182;p29"/>
          <p:cNvSpPr txBox="1"/>
          <p:nvPr>
            <p:ph idx="2" type="body"/>
          </p:nvPr>
        </p:nvSpPr>
        <p:spPr>
          <a:xfrm>
            <a:off x="4832400" y="1309375"/>
            <a:ext cx="3999900" cy="2431500"/>
          </a:xfrm>
          <a:prstGeom prst="rect">
            <a:avLst/>
          </a:prstGeom>
          <a:ln cap="flat" cmpd="sng" w="9525">
            <a:solidFill>
              <a:srgbClr val="999999"/>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b="1" lang="en"/>
              <a:t>No, explain why</a:t>
            </a:r>
            <a:endParaRPr b="1"/>
          </a:p>
          <a:p>
            <a:pPr indent="0" lvl="0" marL="0" rtl="0" algn="l">
              <a:spcBef>
                <a:spcPts val="1200"/>
              </a:spcBef>
              <a:spcAft>
                <a:spcPts val="1200"/>
              </a:spcAft>
              <a:buNone/>
            </a:pPr>
            <a:r>
              <a:t/>
            </a:r>
            <a:endParaRPr/>
          </a:p>
        </p:txBody>
      </p:sp>
      <p:sp>
        <p:nvSpPr>
          <p:cNvPr id="183" name="Google Shape;183;p29"/>
          <p:cNvSpPr txBox="1"/>
          <p:nvPr/>
        </p:nvSpPr>
        <p:spPr>
          <a:xfrm>
            <a:off x="330000" y="886961"/>
            <a:ext cx="8502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0000"/>
                </a:solidFill>
                <a:latin typeface="Permanent Marker"/>
                <a:ea typeface="Permanent Marker"/>
                <a:cs typeface="Permanent Marker"/>
                <a:sym typeface="Permanent Marker"/>
              </a:rPr>
              <a:t>Directions:</a:t>
            </a:r>
            <a:r>
              <a:rPr lang="en"/>
              <a:t> Write down several reasons for banning or not banning auto pilot mode</a:t>
            </a:r>
            <a:endParaRPr/>
          </a:p>
        </p:txBody>
      </p:sp>
      <p:sp>
        <p:nvSpPr>
          <p:cNvPr id="184" name="Google Shape;184;p29"/>
          <p:cNvSpPr txBox="1"/>
          <p:nvPr/>
        </p:nvSpPr>
        <p:spPr>
          <a:xfrm>
            <a:off x="330000" y="3858734"/>
            <a:ext cx="8502300" cy="1046700"/>
          </a:xfrm>
          <a:prstGeom prst="rect">
            <a:avLst/>
          </a:prstGeom>
          <a:noFill/>
          <a:ln cap="flat" cmpd="sng" w="9525">
            <a:solidFill>
              <a:srgbClr val="999999"/>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t>Perspective:</a:t>
            </a:r>
            <a:r>
              <a:rPr lang="en"/>
              <a:t> Which view do you support and why?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p:txBody>
      </p:sp>
      <p:sp>
        <p:nvSpPr>
          <p:cNvPr id="185" name="Google Shape;185;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30"/>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191" name="Google Shape;191;p30"/>
          <p:cNvPicPr preferRelativeResize="0"/>
          <p:nvPr/>
        </p:nvPicPr>
        <p:blipFill>
          <a:blip r:embed="rId4">
            <a:alphaModFix/>
          </a:blip>
          <a:stretch>
            <a:fillRect/>
          </a:stretch>
        </p:blipFill>
        <p:spPr>
          <a:xfrm>
            <a:off x="1143000" y="0"/>
            <a:ext cx="6857999" cy="51434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idx="1" type="body"/>
          </p:nvPr>
        </p:nvSpPr>
        <p:spPr>
          <a:xfrm>
            <a:off x="311700" y="1385575"/>
            <a:ext cx="3999900" cy="2431500"/>
          </a:xfrm>
          <a:prstGeom prst="rect">
            <a:avLst/>
          </a:prstGeom>
          <a:ln cap="flat" cmpd="sng" w="9525">
            <a:solidFill>
              <a:srgbClr val="999999"/>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b="1" lang="en"/>
              <a:t>Yes, explain why</a:t>
            </a:r>
            <a:endParaRPr b="1"/>
          </a:p>
          <a:p>
            <a:pPr indent="0" lvl="0" marL="457200" rtl="0" algn="l">
              <a:spcBef>
                <a:spcPts val="1200"/>
              </a:spcBef>
              <a:spcAft>
                <a:spcPts val="1200"/>
              </a:spcAft>
              <a:buNone/>
            </a:pPr>
            <a:r>
              <a:t/>
            </a:r>
            <a:endParaRPr/>
          </a:p>
        </p:txBody>
      </p:sp>
      <p:sp>
        <p:nvSpPr>
          <p:cNvPr id="197" name="Google Shape;197;p31"/>
          <p:cNvSpPr txBox="1"/>
          <p:nvPr>
            <p:ph idx="2" type="body"/>
          </p:nvPr>
        </p:nvSpPr>
        <p:spPr>
          <a:xfrm>
            <a:off x="4832400" y="1385575"/>
            <a:ext cx="3999900" cy="2431500"/>
          </a:xfrm>
          <a:prstGeom prst="rect">
            <a:avLst/>
          </a:prstGeom>
          <a:ln cap="flat" cmpd="sng" w="9525">
            <a:solidFill>
              <a:srgbClr val="999999"/>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b="1" lang="en"/>
              <a:t>No, explain why</a:t>
            </a:r>
            <a:endParaRPr b="1"/>
          </a:p>
          <a:p>
            <a:pPr indent="0" lvl="0" marL="0" rtl="0" algn="l">
              <a:spcBef>
                <a:spcPts val="1200"/>
              </a:spcBef>
              <a:spcAft>
                <a:spcPts val="1200"/>
              </a:spcAft>
              <a:buNone/>
            </a:pPr>
            <a:r>
              <a:t/>
            </a:r>
            <a:endParaRPr/>
          </a:p>
        </p:txBody>
      </p:sp>
      <p:sp>
        <p:nvSpPr>
          <p:cNvPr id="198" name="Google Shape;198;p31"/>
          <p:cNvSpPr txBox="1"/>
          <p:nvPr>
            <p:ph type="title"/>
          </p:nvPr>
        </p:nvSpPr>
        <p:spPr>
          <a:xfrm>
            <a:off x="373925" y="207975"/>
            <a:ext cx="8520600" cy="831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Reflection:</a:t>
            </a:r>
            <a:r>
              <a:rPr lang="en"/>
              <a:t> </a:t>
            </a:r>
            <a:r>
              <a:rPr lang="en" sz="2022"/>
              <a:t>Do you think the penalty drivers received for sleeping while their car is driving in autopilot mode is appropriate given the possible safety risks?</a:t>
            </a:r>
            <a:endParaRPr sz="2022"/>
          </a:p>
        </p:txBody>
      </p:sp>
      <p:sp>
        <p:nvSpPr>
          <p:cNvPr id="199" name="Google Shape;199;p31"/>
          <p:cNvSpPr txBox="1"/>
          <p:nvPr/>
        </p:nvSpPr>
        <p:spPr>
          <a:xfrm>
            <a:off x="330000" y="1039361"/>
            <a:ext cx="8502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0000"/>
                </a:solidFill>
                <a:latin typeface="Permanent Marker"/>
                <a:ea typeface="Permanent Marker"/>
                <a:cs typeface="Permanent Marker"/>
                <a:sym typeface="Permanent Marker"/>
              </a:rPr>
              <a:t>Directions:</a:t>
            </a:r>
            <a:r>
              <a:rPr lang="en"/>
              <a:t> What are the penalties? Are they appropriate?</a:t>
            </a:r>
            <a:endParaRPr/>
          </a:p>
        </p:txBody>
      </p:sp>
      <p:sp>
        <p:nvSpPr>
          <p:cNvPr id="200" name="Google Shape;200;p31"/>
          <p:cNvSpPr txBox="1"/>
          <p:nvPr/>
        </p:nvSpPr>
        <p:spPr>
          <a:xfrm>
            <a:off x="330000" y="3934934"/>
            <a:ext cx="8502300" cy="1046700"/>
          </a:xfrm>
          <a:prstGeom prst="rect">
            <a:avLst/>
          </a:prstGeom>
          <a:noFill/>
          <a:ln cap="flat" cmpd="sng" w="9525">
            <a:solidFill>
              <a:srgbClr val="999999"/>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rPr>
              <a:t>Perspective:</a:t>
            </a:r>
            <a:r>
              <a:rPr lang="en">
                <a:solidFill>
                  <a:schemeClr val="dk1"/>
                </a:solidFill>
              </a:rPr>
              <a:t> Which view do you support and why?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p:txBody>
      </p:sp>
      <p:sp>
        <p:nvSpPr>
          <p:cNvPr id="201" name="Google Shape;201;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32"/>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207" name="Google Shape;207;p32"/>
          <p:cNvPicPr preferRelativeResize="0"/>
          <p:nvPr/>
        </p:nvPicPr>
        <p:blipFill>
          <a:blip r:embed="rId4">
            <a:alphaModFix/>
          </a:blip>
          <a:stretch>
            <a:fillRect/>
          </a:stretch>
        </p:blipFill>
        <p:spPr>
          <a:xfrm>
            <a:off x="1143000" y="0"/>
            <a:ext cx="6857999" cy="51434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Deeper Dive: What are the driver assistance features of Tesla’s Cars?</a:t>
            </a:r>
            <a:endParaRPr/>
          </a:p>
        </p:txBody>
      </p:sp>
      <p:sp>
        <p:nvSpPr>
          <p:cNvPr id="213" name="Google Shape;213;p33"/>
          <p:cNvSpPr txBox="1"/>
          <p:nvPr>
            <p:ph idx="1" type="body"/>
          </p:nvPr>
        </p:nvSpPr>
        <p:spPr>
          <a:xfrm>
            <a:off x="311700" y="1533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Auto-Pilot Mode</a:t>
            </a:r>
            <a:endParaRPr b="1"/>
          </a:p>
          <a:p>
            <a:pPr indent="-317500" lvl="0" marL="457200" rtl="0" algn="l">
              <a:spcBef>
                <a:spcPts val="1200"/>
              </a:spcBef>
              <a:spcAft>
                <a:spcPts val="0"/>
              </a:spcAft>
              <a:buSzPts val="1400"/>
              <a:buChar char="●"/>
            </a:pPr>
            <a:r>
              <a:t/>
            </a:r>
            <a:endParaRPr/>
          </a:p>
        </p:txBody>
      </p:sp>
      <p:sp>
        <p:nvSpPr>
          <p:cNvPr id="214" name="Google Shape;214;p33"/>
          <p:cNvSpPr txBox="1"/>
          <p:nvPr>
            <p:ph idx="2" type="body"/>
          </p:nvPr>
        </p:nvSpPr>
        <p:spPr>
          <a:xfrm>
            <a:off x="4832400" y="1533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Fully Autonomous</a:t>
            </a:r>
            <a:endParaRPr b="1"/>
          </a:p>
          <a:p>
            <a:pPr indent="-317500" lvl="0" marL="457200" rtl="0" algn="l">
              <a:spcBef>
                <a:spcPts val="1200"/>
              </a:spcBef>
              <a:spcAft>
                <a:spcPts val="0"/>
              </a:spcAft>
              <a:buSzPts val="1400"/>
              <a:buChar char="●"/>
            </a:pPr>
            <a:r>
              <a:t/>
            </a:r>
            <a:endParaRPr/>
          </a:p>
        </p:txBody>
      </p:sp>
      <p:sp>
        <p:nvSpPr>
          <p:cNvPr id="215" name="Google Shape;215;p33"/>
          <p:cNvSpPr txBox="1"/>
          <p:nvPr/>
        </p:nvSpPr>
        <p:spPr>
          <a:xfrm>
            <a:off x="381000" y="1219200"/>
            <a:ext cx="457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Read: </a:t>
            </a:r>
            <a:r>
              <a:rPr lang="en" u="sng">
                <a:solidFill>
                  <a:schemeClr val="hlink"/>
                </a:solidFill>
                <a:hlinkClick r:id="rId3"/>
              </a:rPr>
              <a:t>https://www.tesla.com/support/autopilot</a:t>
            </a:r>
            <a:endParaRPr/>
          </a:p>
        </p:txBody>
      </p:sp>
      <p:sp>
        <p:nvSpPr>
          <p:cNvPr id="216" name="Google Shape;216;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34"/>
          <p:cNvPicPr preferRelativeResize="0"/>
          <p:nvPr/>
        </p:nvPicPr>
        <p:blipFill>
          <a:blip r:embed="rId3">
            <a:alphaModFix/>
          </a:blip>
          <a:stretch>
            <a:fillRect/>
          </a:stretch>
        </p:blipFill>
        <p:spPr>
          <a:xfrm>
            <a:off x="1143000" y="0"/>
            <a:ext cx="6857999" cy="5143499"/>
          </a:xfrm>
          <a:prstGeom prst="rect">
            <a:avLst/>
          </a:prstGeom>
          <a:noFill/>
          <a:ln>
            <a:noFill/>
          </a:ln>
        </p:spPr>
      </p:pic>
      <p:pic>
        <p:nvPicPr>
          <p:cNvPr id="222" name="Google Shape;222;p34"/>
          <p:cNvPicPr preferRelativeResize="0"/>
          <p:nvPr/>
        </p:nvPicPr>
        <p:blipFill>
          <a:blip r:embed="rId4">
            <a:alphaModFix/>
          </a:blip>
          <a:stretch>
            <a:fillRect/>
          </a:stretch>
        </p:blipFill>
        <p:spPr>
          <a:xfrm>
            <a:off x="1143000" y="0"/>
            <a:ext cx="6857999" cy="51434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Optional: Resources</a:t>
            </a:r>
            <a:endParaRPr/>
          </a:p>
        </p:txBody>
      </p:sp>
      <p:sp>
        <p:nvSpPr>
          <p:cNvPr id="228" name="Google Shape;228;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Additional Videos</a:t>
            </a:r>
            <a:endParaRPr/>
          </a:p>
          <a:p>
            <a:pPr indent="-298450" lvl="0" marL="457200" rtl="0" algn="l">
              <a:spcBef>
                <a:spcPts val="1200"/>
              </a:spcBef>
              <a:spcAft>
                <a:spcPts val="0"/>
              </a:spcAft>
              <a:buClr>
                <a:schemeClr val="dk1"/>
              </a:buClr>
              <a:buSzPts val="1100"/>
              <a:buAutoNum type="arabicPeriod"/>
            </a:pPr>
            <a:r>
              <a:rPr lang="en" sz="1100" u="sng">
                <a:solidFill>
                  <a:srgbClr val="1155CC"/>
                </a:solidFill>
                <a:hlinkClick r:id="rId3">
                  <a:extLst>
                    <a:ext uri="{A12FA001-AC4F-418D-AE19-62706E023703}">
                      <ahyp:hlinkClr val="tx"/>
                    </a:ext>
                  </a:extLst>
                </a:hlinkClick>
              </a:rPr>
              <a:t>Driver asleep at the wheel of his Tesla on busy freeway in Los Angeles</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u="sng">
                <a:solidFill>
                  <a:srgbClr val="1155CC"/>
                </a:solidFill>
                <a:hlinkClick r:id="rId4">
                  <a:extLst>
                    <a:ext uri="{A12FA001-AC4F-418D-AE19-62706E023703}">
                      <ahyp:hlinkClr val="tx"/>
                    </a:ext>
                  </a:extLst>
                </a:hlinkClick>
              </a:rPr>
              <a:t>Tesla Driver Pulled Over After Appearing To Be Asleep While Driving</a:t>
            </a:r>
            <a:endParaRPr sz="1100">
              <a:solidFill>
                <a:schemeClr val="dk1"/>
              </a:solidFill>
            </a:endParaRPr>
          </a:p>
          <a:p>
            <a:pPr indent="-298450" lvl="0" marL="457200" rtl="0" algn="l">
              <a:lnSpc>
                <a:spcPct val="120000"/>
              </a:lnSpc>
              <a:spcBef>
                <a:spcPts val="0"/>
              </a:spcBef>
              <a:spcAft>
                <a:spcPts val="0"/>
              </a:spcAft>
              <a:buClr>
                <a:schemeClr val="dk1"/>
              </a:buClr>
              <a:buSzPts val="1100"/>
              <a:buAutoNum type="arabicPeriod"/>
            </a:pPr>
            <a:r>
              <a:rPr lang="en" sz="1100" u="sng">
                <a:solidFill>
                  <a:srgbClr val="1155CC"/>
                </a:solidFill>
                <a:hlinkClick r:id="rId5">
                  <a:extLst>
                    <a:ext uri="{A12FA001-AC4F-418D-AE19-62706E023703}">
                      <ahyp:hlinkClr val="tx"/>
                    </a:ext>
                  </a:extLst>
                </a:hlinkClick>
              </a:rPr>
              <a:t>Tesla Owner Caught Sleeping Behind The Wheel On Autopilot</a:t>
            </a:r>
            <a:r>
              <a:rPr lang="en" sz="1100">
                <a:solidFill>
                  <a:schemeClr val="dk1"/>
                </a:solidFill>
              </a:rPr>
              <a:t> (20 minutes, bodycam)</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