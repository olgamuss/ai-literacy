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Lst>
  <p:sldSz cy="5143500" cx="9144000"/>
  <p:notesSz cx="6858000" cy="9144000"/>
  <p:embeddedFontLst>
    <p:embeddedFont>
      <p:font typeface="Roboto"/>
      <p:regular r:id="rId27"/>
      <p:bold r:id="rId28"/>
      <p:italic r:id="rId29"/>
      <p:boldItalic r:id="rId30"/>
    </p:embeddedFont>
    <p:embeddedFont>
      <p:font typeface="Helvetica Neue"/>
      <p:regular r:id="rId31"/>
      <p:bold r:id="rId32"/>
      <p:italic r:id="rId33"/>
      <p:boldItalic r:id="rId34"/>
    </p:embeddedFont>
    <p:embeddedFont>
      <p:font typeface="Merriweather"/>
      <p:regular r:id="rId35"/>
      <p:bold r:id="rId36"/>
      <p:italic r:id="rId37"/>
      <p:boldItalic r:id="rId38"/>
    </p:embeddedFont>
    <p:embeddedFont>
      <p:font typeface="Open Sans"/>
      <p:regular r:id="rId39"/>
      <p:bold r:id="rId40"/>
      <p:italic r:id="rId41"/>
      <p:boldItalic r:id="rId4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OpenSans-bold.fntdata"/><Relationship Id="rId20" Type="http://schemas.openxmlformats.org/officeDocument/2006/relationships/slide" Target="slides/slide15.xml"/><Relationship Id="rId42" Type="http://schemas.openxmlformats.org/officeDocument/2006/relationships/font" Target="fonts/OpenSans-boldItalic.fntdata"/><Relationship Id="rId41" Type="http://schemas.openxmlformats.org/officeDocument/2006/relationships/font" Target="fonts/OpenSans-italic.fntdata"/><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font" Target="fonts/Roboto-bold.fntdata"/><Relationship Id="rId27" Type="http://schemas.openxmlformats.org/officeDocument/2006/relationships/font" Target="fonts/Roboto-regular.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Roboto-italic.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HelveticaNeue-regular.fntdata"/><Relationship Id="rId30" Type="http://schemas.openxmlformats.org/officeDocument/2006/relationships/font" Target="fonts/Roboto-boldItalic.fntdata"/><Relationship Id="rId11" Type="http://schemas.openxmlformats.org/officeDocument/2006/relationships/slide" Target="slides/slide6.xml"/><Relationship Id="rId33" Type="http://schemas.openxmlformats.org/officeDocument/2006/relationships/font" Target="fonts/HelveticaNeue-italic.fntdata"/><Relationship Id="rId10" Type="http://schemas.openxmlformats.org/officeDocument/2006/relationships/slide" Target="slides/slide5.xml"/><Relationship Id="rId32" Type="http://schemas.openxmlformats.org/officeDocument/2006/relationships/font" Target="fonts/HelveticaNeue-bold.fntdata"/><Relationship Id="rId13" Type="http://schemas.openxmlformats.org/officeDocument/2006/relationships/slide" Target="slides/slide8.xml"/><Relationship Id="rId35" Type="http://schemas.openxmlformats.org/officeDocument/2006/relationships/font" Target="fonts/Merriweather-regular.fntdata"/><Relationship Id="rId12" Type="http://schemas.openxmlformats.org/officeDocument/2006/relationships/slide" Target="slides/slide7.xml"/><Relationship Id="rId34" Type="http://schemas.openxmlformats.org/officeDocument/2006/relationships/font" Target="fonts/HelveticaNeue-boldItalic.fntdata"/><Relationship Id="rId15" Type="http://schemas.openxmlformats.org/officeDocument/2006/relationships/slide" Target="slides/slide10.xml"/><Relationship Id="rId37" Type="http://schemas.openxmlformats.org/officeDocument/2006/relationships/font" Target="fonts/Merriweather-italic.fntdata"/><Relationship Id="rId14" Type="http://schemas.openxmlformats.org/officeDocument/2006/relationships/slide" Target="slides/slide9.xml"/><Relationship Id="rId36" Type="http://schemas.openxmlformats.org/officeDocument/2006/relationships/font" Target="fonts/Merriweather-bold.fntdata"/><Relationship Id="rId17" Type="http://schemas.openxmlformats.org/officeDocument/2006/relationships/slide" Target="slides/slide12.xml"/><Relationship Id="rId39" Type="http://schemas.openxmlformats.org/officeDocument/2006/relationships/font" Target="fonts/OpenSans-regular.fntdata"/><Relationship Id="rId16" Type="http://schemas.openxmlformats.org/officeDocument/2006/relationships/slide" Target="slides/slide11.xml"/><Relationship Id="rId38" Type="http://schemas.openxmlformats.org/officeDocument/2006/relationships/font" Target="fonts/Merriweather-boldItalic.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1e52a78bc8b_0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1e52a78bc8b_0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g21bd6ac0345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 name="Google Shape;63;g21bd6ac0345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10071ab57b7_1_1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10071ab57b7_1_1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g10071ab57b7_1_1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 name="Google Shape;80;g10071ab57b7_1_1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10071ab57b7_1_2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 name="Google Shape;87;g10071ab57b7_1_2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Choose an example you would like to use as a class to Think. Pair. Share (in whole group).</a:t>
            </a:r>
            <a:endParaRPr/>
          </a:p>
          <a:p>
            <a:pPr indent="0" lvl="0" marL="0" rtl="0" algn="l">
              <a:spcBef>
                <a:spcPts val="0"/>
              </a:spcBef>
              <a:spcAft>
                <a:spcPts val="0"/>
              </a:spcAft>
              <a:buNone/>
            </a:pPr>
            <a:r>
              <a:rPr lang="en"/>
              <a:t>Think Pair Share: </a:t>
            </a:r>
            <a:endParaRPr/>
          </a:p>
          <a:p>
            <a:pPr indent="457200" lvl="0" marL="0" rtl="0" algn="l">
              <a:spcBef>
                <a:spcPts val="0"/>
              </a:spcBef>
              <a:spcAft>
                <a:spcPts val="0"/>
              </a:spcAft>
              <a:buNone/>
            </a:pPr>
            <a:r>
              <a:rPr lang="en"/>
              <a:t>1) What does the robot do/ what is </a:t>
            </a:r>
            <a:r>
              <a:rPr lang="en"/>
              <a:t>its</a:t>
            </a:r>
            <a:r>
              <a:rPr lang="en"/>
              <a:t> purpose?</a:t>
            </a:r>
            <a:endParaRPr/>
          </a:p>
          <a:p>
            <a:pPr indent="457200" lvl="0" marL="0" rtl="0" algn="l">
              <a:spcBef>
                <a:spcPts val="0"/>
              </a:spcBef>
              <a:spcAft>
                <a:spcPts val="0"/>
              </a:spcAft>
              <a:buNone/>
            </a:pPr>
            <a:r>
              <a:rPr lang="en"/>
              <a:t>2)What kinds of </a:t>
            </a:r>
            <a:r>
              <a:rPr lang="en" u="sng">
                <a:solidFill>
                  <a:srgbClr val="9900FF"/>
                </a:solidFill>
              </a:rPr>
              <a:t>decisions</a:t>
            </a:r>
            <a:r>
              <a:rPr lang="en"/>
              <a:t> did the robot make? (How was it </a:t>
            </a:r>
            <a:r>
              <a:rPr lang="en" u="sng">
                <a:solidFill>
                  <a:srgbClr val="9900FF"/>
                </a:solidFill>
              </a:rPr>
              <a:t>autonomous</a:t>
            </a:r>
            <a:r>
              <a:rPr lang="en"/>
              <a:t>?))</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1346172bd93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 name="Google Shape;101;g1346172bd93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Dave: add answers to these questions.</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10071ab57b7_1_1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10071ab57b7_1_1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AutoNum type="arabicPeriod"/>
            </a:pPr>
            <a:r>
              <a:rPr lang="en"/>
              <a:t>What the robot does: moves boxes in a warehouse; stacks boxes on pallets.</a:t>
            </a:r>
            <a:endParaRPr/>
          </a:p>
          <a:p>
            <a:pPr indent="-298450" lvl="0" marL="457200" rtl="0" algn="l">
              <a:spcBef>
                <a:spcPts val="0"/>
              </a:spcBef>
              <a:spcAft>
                <a:spcPts val="0"/>
              </a:spcAft>
              <a:buSzPts val="1100"/>
              <a:buAutoNum type="arabicPeriod"/>
            </a:pPr>
            <a:r>
              <a:rPr lang="en"/>
              <a:t>What decisions it makes: which box to pick up next; how to pick up the box; where to place the box; how to navigate without hitting anything to get to the spot where it can place the box.</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10071ab57b7_1_1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 name="Google Shape;116;g10071ab57b7_1_1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AutoNum type="arabicPeriod"/>
            </a:pPr>
            <a:r>
              <a:rPr lang="en"/>
              <a:t>What the robot does: unloads a truck by transferring boxes from the truck to a conveyor belt.</a:t>
            </a:r>
            <a:endParaRPr/>
          </a:p>
          <a:p>
            <a:pPr indent="-298450" lvl="0" marL="457200" rtl="0" algn="l">
              <a:spcBef>
                <a:spcPts val="0"/>
              </a:spcBef>
              <a:spcAft>
                <a:spcPts val="0"/>
              </a:spcAft>
              <a:buSzPts val="1100"/>
              <a:buAutoNum type="arabicPeriod"/>
            </a:pPr>
            <a:r>
              <a:rPr lang="en"/>
              <a:t>What decisions the robot makes: how to move its gripper to reach the boxes, how to grab them, and how to move its arm to get them onto the conveyor.</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10071ab57b7_1_1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 name="Google Shape;124;g10071ab57b7_1_1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AutoNum type="arabicPeriod"/>
            </a:pPr>
            <a:r>
              <a:rPr lang="en"/>
              <a:t>What the robot does: delivers items to hotel guests in their rooms.</a:t>
            </a:r>
            <a:endParaRPr/>
          </a:p>
          <a:p>
            <a:pPr indent="-298450" lvl="0" marL="457200" rtl="0" algn="l">
              <a:spcBef>
                <a:spcPts val="0"/>
              </a:spcBef>
              <a:spcAft>
                <a:spcPts val="0"/>
              </a:spcAft>
              <a:buSzPts val="1100"/>
              <a:buAutoNum type="arabicPeriod"/>
            </a:pPr>
            <a:r>
              <a:rPr lang="en"/>
              <a:t>What decisions the robot makes: how to navigate through the hotel, including using the elevator.</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cff3a76bdd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cff3a76bdd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First robot: What it does: Separates trash from recyclables on a moving conveyor belt.</a:t>
            </a:r>
            <a:br>
              <a:rPr lang="en"/>
            </a:br>
            <a:r>
              <a:rPr lang="en"/>
              <a:t>Decisions it makes: recognizing which items are trash; calculating how to move the arms to remove the items.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Second robot: What it does: Moves boxes between warehouse shelves and pallets.</a:t>
            </a:r>
            <a:br>
              <a:rPr lang="en"/>
            </a:br>
            <a:r>
              <a:rPr lang="en"/>
              <a:t>Decisions it makes: how to navigate around the shelves and warehouse; how to recognize and grasp a box.</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Third robot: What it does: carries containers through a warehouse.</a:t>
            </a:r>
            <a:br>
              <a:rPr lang="en"/>
            </a:br>
            <a:r>
              <a:rPr lang="en"/>
              <a:t>Decisions it makes: how to navigate safely, avoiding obstacles including people.</a:t>
            </a:r>
            <a:br>
              <a:rPr lang="en"/>
            </a:br>
            <a:endParaRPr/>
          </a:p>
          <a:p>
            <a:pPr indent="0" lvl="0" marL="0" rtl="0" algn="l">
              <a:spcBef>
                <a:spcPts val="0"/>
              </a:spcBef>
              <a:spcAft>
                <a:spcPts val="0"/>
              </a:spcAft>
              <a:buNone/>
            </a:pPr>
            <a:r>
              <a:rPr lang="en"/>
              <a:t>Fourth robot: this is the Handle robot covered on an earlier slide.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Fifth robot: what it does: unloads boxes of varied merchandise sealed in plastic bags.</a:t>
            </a:r>
            <a:br>
              <a:rPr lang="en"/>
            </a:br>
            <a:r>
              <a:rPr lang="en"/>
              <a:t>Decisions it makes: how to select a bag and grasp it; determines whether an item is damaged or has an unreadable barcode</a:t>
            </a:r>
            <a:endParaRPr/>
          </a:p>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10071ab57b7_1_1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 name="Google Shape;140;g10071ab57b7_1_1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AutoNum type="arabicPeriod"/>
            </a:pPr>
            <a:r>
              <a:rPr lang="en"/>
              <a:t>What the robot does: delivers food or packages in a hospital or COVID quarantine facility.</a:t>
            </a:r>
            <a:endParaRPr/>
          </a:p>
          <a:p>
            <a:pPr indent="-298450" lvl="0" marL="457200" rtl="0" algn="l">
              <a:spcBef>
                <a:spcPts val="0"/>
              </a:spcBef>
              <a:spcAft>
                <a:spcPts val="0"/>
              </a:spcAft>
              <a:buSzPts val="1100"/>
              <a:buAutoNum type="arabicPeriod"/>
            </a:pPr>
            <a:r>
              <a:rPr lang="en"/>
              <a:t>What decisions does it make: how to navigate through the facility and find the correct room.</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10071ab57b7_1_1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 name="Google Shape;148;g10071ab57b7_1_1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AutoNum type="arabicPeriod"/>
            </a:pPr>
            <a:r>
              <a:rPr lang="en"/>
              <a:t>What the robot does: picks ripe strawberries and drops them in a container.</a:t>
            </a:r>
            <a:endParaRPr/>
          </a:p>
          <a:p>
            <a:pPr indent="-298450" lvl="0" marL="457200" rtl="0" algn="l">
              <a:spcBef>
                <a:spcPts val="0"/>
              </a:spcBef>
              <a:spcAft>
                <a:spcPts val="0"/>
              </a:spcAft>
              <a:buSzPts val="1100"/>
              <a:buAutoNum type="arabicPeriod"/>
            </a:pPr>
            <a:r>
              <a:rPr lang="en"/>
              <a:t>What decisions does it make: locating a strawberry; deciding whether it’s ripe enough to pick; guiding the arm to pick it and move it to the container.</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10071ab57b7_1_1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10071ab57b7_1_1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AutoNum type="arabicPeriod"/>
            </a:pPr>
            <a:r>
              <a:rPr lang="en"/>
              <a:t>What the robot does: delivers food to tables at a restaurant.</a:t>
            </a:r>
            <a:endParaRPr/>
          </a:p>
          <a:p>
            <a:pPr indent="-298450" lvl="0" marL="457200" rtl="0" algn="l">
              <a:spcBef>
                <a:spcPts val="0"/>
              </a:spcBef>
              <a:spcAft>
                <a:spcPts val="0"/>
              </a:spcAft>
              <a:buSzPts val="1100"/>
              <a:buAutoNum type="arabicPeriod"/>
            </a:pPr>
            <a:r>
              <a:rPr lang="en"/>
              <a:t>What decisions does it make: how to navigate while avoiding obstacles including people and other robots; how to recognize the table it’s supposed to deliver to.</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10071ab57b7_1_1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5" name="Google Shape;165;g10071ab57b7_1_1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AutoNum type="arabicPeriod"/>
            </a:pPr>
            <a:r>
              <a:rPr lang="en"/>
              <a:t>What the robot does: vacuums the floor.</a:t>
            </a:r>
            <a:endParaRPr/>
          </a:p>
          <a:p>
            <a:pPr indent="-298450" lvl="0" marL="457200" rtl="0" algn="l">
              <a:spcBef>
                <a:spcPts val="0"/>
              </a:spcBef>
              <a:spcAft>
                <a:spcPts val="0"/>
              </a:spcAft>
              <a:buSzPts val="1100"/>
              <a:buAutoNum type="arabicPeriod"/>
            </a:pPr>
            <a:r>
              <a:rPr lang="en"/>
              <a:t>What decisions does it make: what path to take to cover the floor efficiently without missing any spots, but avoiding obstacles; detecting and avoiding stairs; what power level to use based on the surface it’s moving on.</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10071ab57b7_1_1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3" name="Google Shape;173;g10071ab57b7_1_1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AutoNum type="arabicPeriod"/>
            </a:pPr>
            <a:r>
              <a:rPr lang="en"/>
              <a:t>What does the robot do: shoots basketballs.</a:t>
            </a:r>
            <a:endParaRPr/>
          </a:p>
          <a:p>
            <a:pPr indent="-298450" lvl="0" marL="457200" rtl="0" algn="l">
              <a:spcBef>
                <a:spcPts val="0"/>
              </a:spcBef>
              <a:spcAft>
                <a:spcPts val="0"/>
              </a:spcAft>
              <a:buSzPts val="1100"/>
              <a:buAutoNum type="arabicPeriod"/>
            </a:pPr>
            <a:r>
              <a:rPr lang="en"/>
              <a:t>What decisions does it make: recognizing the ball and the basket; how to grasp the ball; how to shoot the ball to get it in the basket.</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10071ab57b7_1_2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1" name="Google Shape;181;g10071ab57b7_1_2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AutoNum type="arabicPeriod"/>
            </a:pPr>
            <a:r>
              <a:rPr lang="en"/>
              <a:t>What does the robot do: make pizzas.</a:t>
            </a:r>
            <a:endParaRPr/>
          </a:p>
          <a:p>
            <a:pPr indent="-298450" lvl="0" marL="457200" rtl="0" algn="l">
              <a:spcBef>
                <a:spcPts val="0"/>
              </a:spcBef>
              <a:spcAft>
                <a:spcPts val="0"/>
              </a:spcAft>
              <a:buSzPts val="1100"/>
              <a:buAutoNum type="arabicPeriod"/>
            </a:pPr>
            <a:r>
              <a:rPr lang="en"/>
              <a:t>What decisions does the robot make: how to check the dough and correct any problems if it’s not rolled out properly; how to move the arms to apply sauce and toppings, and to cut up the pizza after it’s baked.</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10071ab57b7_1_1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9" name="Google Shape;189;g10071ab57b7_1_1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10071ab57b7_1_1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0" name="Google Shape;200;g10071ab57b7_1_1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g10071ab57b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9" name="Google Shape;209;g10071ab57b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g175ef78b5ba_1_3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7" name="Google Shape;217;g175ef78b5ba_1_3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g25f4900371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3" name="Google Shape;223;g25f4900371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 Id="rId4" Type="http://schemas.openxmlformats.org/officeDocument/2006/relationships/image" Target="../media/image1.png"/><Relationship Id="rId5" Type="http://schemas.openxmlformats.org/officeDocument/2006/relationships/hyperlink" Target="https://creativecommons.org/licenses/by-nc-sa/4.0/" TargetMode="External"/><Relationship Id="rId6" Type="http://schemas.openxmlformats.org/officeDocument/2006/relationships/hyperlink" Target="http://www.youtube.com/watch?v=-e1_QhJ1EhQ" TargetMode="External"/><Relationship Id="rId7" Type="http://schemas.openxmlformats.org/officeDocument/2006/relationships/image" Target="../media/image13.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png"/><Relationship Id="rId4" Type="http://schemas.openxmlformats.org/officeDocument/2006/relationships/image" Target="../media/image5.png"/><Relationship Id="rId5" Type="http://schemas.openxmlformats.org/officeDocument/2006/relationships/image" Target="../media/image1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hyperlink" Target="http://www.youtube.com/watch?v=8VpxPQo5eCM" TargetMode="External"/><Relationship Id="rId4" Type="http://schemas.openxmlformats.org/officeDocument/2006/relationships/image" Target="../media/image6.jpg"/><Relationship Id="rId11" Type="http://schemas.openxmlformats.org/officeDocument/2006/relationships/hyperlink" Target="http://www.youtube.com/watch?v=_ms5tr5TTHM" TargetMode="External"/><Relationship Id="rId10" Type="http://schemas.openxmlformats.org/officeDocument/2006/relationships/image" Target="../media/image24.jpg"/><Relationship Id="rId12" Type="http://schemas.openxmlformats.org/officeDocument/2006/relationships/image" Target="../media/image15.jpg"/><Relationship Id="rId9" Type="http://schemas.openxmlformats.org/officeDocument/2006/relationships/hyperlink" Target="http://www.youtube.com/watch?v=fn3KWM1kuAw" TargetMode="External"/><Relationship Id="rId5" Type="http://schemas.openxmlformats.org/officeDocument/2006/relationships/hyperlink" Target="http://www.youtube.com/watch?v=HSA5Bq-1fU4" TargetMode="External"/><Relationship Id="rId6" Type="http://schemas.openxmlformats.org/officeDocument/2006/relationships/image" Target="../media/image4.jpg"/><Relationship Id="rId7" Type="http://schemas.openxmlformats.org/officeDocument/2006/relationships/hyperlink" Target="http://www.youtube.com/watch?v=NR32ULxbjYc" TargetMode="External"/><Relationship Id="rId8" Type="http://schemas.openxmlformats.org/officeDocument/2006/relationships/image" Target="../media/image19.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18.gif"/></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hyperlink" Target="http://www.youtube.com/watch?v=5iV_hB08Uns" TargetMode="External"/><Relationship Id="rId4" Type="http://schemas.openxmlformats.org/officeDocument/2006/relationships/image" Target="../media/image21.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hyperlink" Target="http://www.youtube.com/watch?v=mTFBuSuYuZI" TargetMode="External"/><Relationship Id="rId4" Type="http://schemas.openxmlformats.org/officeDocument/2006/relationships/image" Target="../media/image11.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hyperlink" Target="http://www.youtube.com/watch?v=7LLxI5L_5jg" TargetMode="External"/><Relationship Id="rId4" Type="http://schemas.openxmlformats.org/officeDocument/2006/relationships/image" Target="../media/image16.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hyperlink" Target="http://www.youtube.com/watch?v=9mG1bgs_ND0" TargetMode="External"/><Relationship Id="rId4" Type="http://schemas.openxmlformats.org/officeDocument/2006/relationships/image" Target="../media/image12.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hyperlink" Target="http://www.youtube.com/watch?v=eQVS0R4G05s" TargetMode="External"/><Relationship Id="rId4" Type="http://schemas.openxmlformats.org/officeDocument/2006/relationships/image" Target="../media/image8.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hyperlink" Target="http://www.youtube.com/watch?v=FCivsotZEjk" TargetMode="External"/><Relationship Id="rId4" Type="http://schemas.openxmlformats.org/officeDocument/2006/relationships/image" Target="../media/image23.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hyperlink" Target="http://www.youtube.com/watch?v=IodHg17tiHg" TargetMode="External"/><Relationship Id="rId4" Type="http://schemas.openxmlformats.org/officeDocument/2006/relationships/image" Target="../media/image7.jpg"/><Relationship Id="rId5" Type="http://schemas.openxmlformats.org/officeDocument/2006/relationships/hyperlink" Target="http://www.youtube.com/watch?v=CKJXLpnNLes" TargetMode="External"/><Relationship Id="rId6" Type="http://schemas.openxmlformats.org/officeDocument/2006/relationships/image" Target="../media/image22.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hyperlink" Target="http://www.youtube.com/watch?v=XIPzSmwClJ8" TargetMode="External"/><Relationship Id="rId4" Type="http://schemas.openxmlformats.org/officeDocument/2006/relationships/image" Target="../media/image10.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hyperlink" Target="http://www.youtube.com/watch?v=4mnK-1Und_0" TargetMode="External"/><Relationship Id="rId4" Type="http://schemas.openxmlformats.org/officeDocument/2006/relationships/image" Target="../media/image9.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hyperlink" Target="http://www.youtube.com/watch?v=fNpBDwYLi-Q" TargetMode="External"/><Relationship Id="rId4" Type="http://schemas.openxmlformats.org/officeDocument/2006/relationships/image" Target="../media/image14.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20.png"/><Relationship Id="rId4" Type="http://schemas.openxmlformats.org/officeDocument/2006/relationships/image" Target="../media/image28.jpg"/><Relationship Id="rId5" Type="http://schemas.openxmlformats.org/officeDocument/2006/relationships/image" Target="../media/image29.jpg"/><Relationship Id="rId6" Type="http://schemas.openxmlformats.org/officeDocument/2006/relationships/image" Target="../media/image27.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26.png"/><Relationship Id="rId4" Type="http://schemas.openxmlformats.org/officeDocument/2006/relationships/hyperlink" Target="http://www.youtube.com/watch?v=PSu52CAtpf8" TargetMode="External"/><Relationship Id="rId5" Type="http://schemas.openxmlformats.org/officeDocument/2006/relationships/image" Target="../media/image25.jpg"/><Relationship Id="rId6" Type="http://schemas.openxmlformats.org/officeDocument/2006/relationships/hyperlink" Target="https://www.npr.org/2017/12/19/569474169/being-different-helped-a-nasa-roboticist-achieve-her-dream" TargetMode="External"/><Relationship Id="rId7" Type="http://schemas.openxmlformats.org/officeDocument/2006/relationships/hyperlink" Target="https://engineering.osu.edu/about/office-dean/about-dean-ayanna-howard"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hyperlink" Target="https://www.youtube.com/watch?v=9mG1bgs_ND0" TargetMode="External"/><Relationship Id="rId4" Type="http://schemas.openxmlformats.org/officeDocument/2006/relationships/hyperlink" Target="https://builtin.com/robotics"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2156750" y="733763"/>
            <a:ext cx="6115500" cy="11892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sz="2800">
                <a:solidFill>
                  <a:schemeClr val="dk2"/>
                </a:solidFill>
                <a:latin typeface="Merriweather"/>
                <a:ea typeface="Merriweather"/>
                <a:cs typeface="Merriweather"/>
                <a:sym typeface="Merriweather"/>
              </a:rPr>
              <a:t>Module 1.2 (B)</a:t>
            </a:r>
            <a:endParaRPr sz="2800">
              <a:solidFill>
                <a:schemeClr val="dk2"/>
              </a:solidFill>
              <a:latin typeface="Merriweather"/>
              <a:ea typeface="Merriweather"/>
              <a:cs typeface="Merriweather"/>
              <a:sym typeface="Merriweather"/>
            </a:endParaRPr>
          </a:p>
          <a:p>
            <a:pPr indent="0" lvl="0" marL="0" rtl="0" algn="ctr">
              <a:spcBef>
                <a:spcPts val="0"/>
              </a:spcBef>
              <a:spcAft>
                <a:spcPts val="0"/>
              </a:spcAft>
              <a:buNone/>
            </a:pPr>
            <a:r>
              <a:rPr lang="en" sz="2800">
                <a:solidFill>
                  <a:schemeClr val="dk2"/>
                </a:solidFill>
                <a:latin typeface="Merriweather"/>
                <a:ea typeface="Merriweather"/>
                <a:cs typeface="Merriweather"/>
                <a:sym typeface="Merriweather"/>
              </a:rPr>
              <a:t>Autonomous Robots: Robot Videos</a:t>
            </a:r>
            <a:endParaRPr sz="2800">
              <a:solidFill>
                <a:schemeClr val="dk2"/>
              </a:solidFill>
              <a:latin typeface="Merriweather"/>
              <a:ea typeface="Merriweather"/>
              <a:cs typeface="Merriweather"/>
              <a:sym typeface="Merriweather"/>
            </a:endParaRPr>
          </a:p>
        </p:txBody>
      </p:sp>
      <p:sp>
        <p:nvSpPr>
          <p:cNvPr id="55" name="Google Shape;55;p13"/>
          <p:cNvSpPr txBox="1"/>
          <p:nvPr/>
        </p:nvSpPr>
        <p:spPr>
          <a:xfrm>
            <a:off x="278150" y="3272225"/>
            <a:ext cx="2867700" cy="1064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pic>
        <p:nvPicPr>
          <p:cNvPr id="56" name="Google Shape;56;p13"/>
          <p:cNvPicPr preferRelativeResize="0"/>
          <p:nvPr/>
        </p:nvPicPr>
        <p:blipFill>
          <a:blip r:embed="rId3">
            <a:alphaModFix/>
          </a:blip>
          <a:stretch>
            <a:fillRect/>
          </a:stretch>
        </p:blipFill>
        <p:spPr>
          <a:xfrm>
            <a:off x="24425" y="4552275"/>
            <a:ext cx="1375825" cy="481375"/>
          </a:xfrm>
          <a:prstGeom prst="rect">
            <a:avLst/>
          </a:prstGeom>
          <a:noFill/>
          <a:ln>
            <a:noFill/>
          </a:ln>
        </p:spPr>
      </p:pic>
      <p:pic>
        <p:nvPicPr>
          <p:cNvPr id="57" name="Google Shape;57;p13"/>
          <p:cNvPicPr preferRelativeResize="0"/>
          <p:nvPr/>
        </p:nvPicPr>
        <p:blipFill>
          <a:blip r:embed="rId4">
            <a:alphaModFix/>
          </a:blip>
          <a:stretch>
            <a:fillRect/>
          </a:stretch>
        </p:blipFill>
        <p:spPr>
          <a:xfrm>
            <a:off x="100625" y="237362"/>
            <a:ext cx="1979932" cy="2334375"/>
          </a:xfrm>
          <a:prstGeom prst="rect">
            <a:avLst/>
          </a:prstGeom>
          <a:noFill/>
          <a:ln>
            <a:noFill/>
          </a:ln>
        </p:spPr>
      </p:pic>
      <p:sp>
        <p:nvSpPr>
          <p:cNvPr id="58" name="Google Shape;58;p13"/>
          <p:cNvSpPr txBox="1"/>
          <p:nvPr/>
        </p:nvSpPr>
        <p:spPr>
          <a:xfrm>
            <a:off x="1558900" y="237350"/>
            <a:ext cx="7447800" cy="666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600">
                <a:solidFill>
                  <a:srgbClr val="F89D77"/>
                </a:solidFill>
                <a:latin typeface="Helvetica Neue"/>
                <a:ea typeface="Helvetica Neue"/>
                <a:cs typeface="Helvetica Neue"/>
                <a:sym typeface="Helvetica Neue"/>
              </a:rPr>
              <a:t>Living and Working with Artificial Intelligence</a:t>
            </a:r>
            <a:endParaRPr b="1" sz="2600">
              <a:solidFill>
                <a:srgbClr val="F89D77"/>
              </a:solidFill>
              <a:latin typeface="Helvetica Neue"/>
              <a:ea typeface="Helvetica Neue"/>
              <a:cs typeface="Helvetica Neue"/>
              <a:sym typeface="Helvetica Neue"/>
            </a:endParaRPr>
          </a:p>
        </p:txBody>
      </p:sp>
      <p:sp>
        <p:nvSpPr>
          <p:cNvPr id="59" name="Google Shape;59;p13"/>
          <p:cNvSpPr txBox="1"/>
          <p:nvPr/>
        </p:nvSpPr>
        <p:spPr>
          <a:xfrm>
            <a:off x="1377450" y="4488725"/>
            <a:ext cx="7766700" cy="713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chemeClr val="dk1"/>
                </a:solidFill>
              </a:rPr>
              <a:t>Developed for the AI4GA (Artificial Intelligence for Georgia) project funded by National Science Foundation awards DRL-2049029 and DRL-2048502.</a:t>
            </a:r>
            <a:endParaRPr sz="900">
              <a:solidFill>
                <a:schemeClr val="dk1"/>
              </a:solidFill>
            </a:endParaRPr>
          </a:p>
          <a:p>
            <a:pPr indent="0" lvl="0" marL="0" rtl="0" algn="l">
              <a:spcBef>
                <a:spcPts val="0"/>
              </a:spcBef>
              <a:spcAft>
                <a:spcPts val="0"/>
              </a:spcAft>
              <a:buNone/>
            </a:pPr>
            <a:r>
              <a:rPr b="1" lang="en" sz="900">
                <a:solidFill>
                  <a:schemeClr val="dk1"/>
                </a:solidFill>
                <a:highlight>
                  <a:srgbClr val="FFFFFF"/>
                </a:highlight>
              </a:rPr>
              <a:t>This work is licensed under the Creative Commons Attribution-</a:t>
            </a:r>
            <a:r>
              <a:rPr b="1" lang="en" sz="900">
                <a:solidFill>
                  <a:schemeClr val="dk1"/>
                </a:solidFill>
                <a:highlight>
                  <a:srgbClr val="FFFFFF"/>
                </a:highlight>
              </a:rPr>
              <a:t>NonCommercial</a:t>
            </a:r>
            <a:r>
              <a:rPr b="1" lang="en" sz="900">
                <a:solidFill>
                  <a:schemeClr val="dk1"/>
                </a:solidFill>
                <a:highlight>
                  <a:srgbClr val="FFFFFF"/>
                </a:highlight>
              </a:rPr>
              <a:t>-ShareAlike 4.0 International License. </a:t>
            </a:r>
            <a:r>
              <a:rPr b="1" lang="en" sz="900" u="sng">
                <a:solidFill>
                  <a:schemeClr val="accent5"/>
                </a:solidFill>
                <a:highlight>
                  <a:srgbClr val="FFFFFF"/>
                </a:highlight>
                <a:hlinkClick r:id="rId5">
                  <a:extLst>
                    <a:ext uri="{A12FA001-AC4F-418D-AE19-62706E023703}">
                      <ahyp:hlinkClr val="tx"/>
                    </a:ext>
                  </a:extLst>
                </a:hlinkClick>
              </a:rPr>
              <a:t>https://creativecommons.org/licenses/by-nc-sa/4.0/</a:t>
            </a:r>
            <a:endParaRPr b="1" sz="900">
              <a:solidFill>
                <a:schemeClr val="dk1"/>
              </a:solidFill>
              <a:highlight>
                <a:srgbClr val="FFFFFF"/>
              </a:highlight>
            </a:endParaRPr>
          </a:p>
          <a:p>
            <a:pPr indent="0" lvl="0" marL="0" rtl="0" algn="l">
              <a:spcBef>
                <a:spcPts val="0"/>
              </a:spcBef>
              <a:spcAft>
                <a:spcPts val="0"/>
              </a:spcAft>
              <a:buNone/>
            </a:pPr>
            <a:r>
              <a:t/>
            </a:r>
            <a:endParaRPr sz="900">
              <a:solidFill>
                <a:schemeClr val="dk1"/>
              </a:solidFill>
            </a:endParaRPr>
          </a:p>
          <a:p>
            <a:pPr indent="0" lvl="0" marL="0" rtl="0" algn="l">
              <a:spcBef>
                <a:spcPts val="0"/>
              </a:spcBef>
              <a:spcAft>
                <a:spcPts val="0"/>
              </a:spcAft>
              <a:buNone/>
            </a:pPr>
            <a:r>
              <a:t/>
            </a:r>
            <a:endParaRPr/>
          </a:p>
        </p:txBody>
      </p:sp>
      <p:pic>
        <p:nvPicPr>
          <p:cNvPr descr="It’s time for Atlas to pick up a new set of skills and get hands on. In this video, the humanoid robot manipulates the world around it: Atlas interacts with objects and modifies the course to reach its goal—pushing the limits of locomotion, sensing, and athleticism.&#10;&#10;To learn how we go from idea to execution, go being the scenes with our team: https://youtu.be/XPVC4IyRTG8&#10;&#10;To learn more about how we enable Atlas to make smart decisions, check out our blog: https://www.bostondynamics.com/resources/blog/picking-momentum&#10;&#10;#BostonDynamics #Robots #Robotics" id="60" name="Google Shape;60;p13" title="Atlas Gets a Grip | Boston Dynamics">
            <a:hlinkClick r:id="rId6"/>
          </p:cNvPr>
          <p:cNvPicPr preferRelativeResize="0"/>
          <p:nvPr/>
        </p:nvPicPr>
        <p:blipFill>
          <a:blip r:embed="rId7">
            <a:alphaModFix/>
          </a:blip>
          <a:stretch>
            <a:fillRect/>
          </a:stretch>
        </p:blipFill>
        <p:spPr>
          <a:xfrm>
            <a:off x="3251063" y="1922979"/>
            <a:ext cx="4019466" cy="22609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sp>
        <p:nvSpPr>
          <p:cNvPr id="65" name="Google Shape;65;p1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66" name="Google Shape;66;p14"/>
          <p:cNvSpPr txBox="1"/>
          <p:nvPr/>
        </p:nvSpPr>
        <p:spPr>
          <a:xfrm>
            <a:off x="311700" y="354600"/>
            <a:ext cx="46290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800">
                <a:solidFill>
                  <a:schemeClr val="dk1"/>
                </a:solidFill>
              </a:rPr>
              <a:t>Learning Objectives</a:t>
            </a:r>
            <a:endParaRPr/>
          </a:p>
        </p:txBody>
      </p:sp>
      <p:sp>
        <p:nvSpPr>
          <p:cNvPr id="67" name="Google Shape;67;p14"/>
          <p:cNvSpPr txBox="1"/>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None/>
            </a:pPr>
            <a:r>
              <a:rPr i="1" lang="en" sz="2000">
                <a:solidFill>
                  <a:schemeClr val="dk1"/>
                </a:solidFill>
              </a:rPr>
              <a:t>Students should be able to: </a:t>
            </a:r>
            <a:endParaRPr i="1" sz="2000">
              <a:solidFill>
                <a:schemeClr val="dk1"/>
              </a:solidFill>
            </a:endParaRPr>
          </a:p>
          <a:p>
            <a:pPr indent="-336550" lvl="0" marL="457200" rtl="0" algn="l">
              <a:lnSpc>
                <a:spcPct val="115000"/>
              </a:lnSpc>
              <a:spcBef>
                <a:spcPts val="1200"/>
              </a:spcBef>
              <a:spcAft>
                <a:spcPts val="0"/>
              </a:spcAft>
              <a:buClr>
                <a:schemeClr val="accent2"/>
              </a:buClr>
              <a:buSzPts val="1700"/>
              <a:buFont typeface="Lato"/>
              <a:buChar char="●"/>
            </a:pPr>
            <a:r>
              <a:rPr lang="en" sz="1700">
                <a:solidFill>
                  <a:schemeClr val="dk1"/>
                </a:solidFill>
              </a:rPr>
              <a:t>Explain what autonomy means.</a:t>
            </a:r>
            <a:endParaRPr sz="1700">
              <a:solidFill>
                <a:schemeClr val="dk1"/>
              </a:solidFill>
            </a:endParaRPr>
          </a:p>
          <a:p>
            <a:pPr indent="-336550" lvl="0" marL="457200" rtl="0" algn="l">
              <a:lnSpc>
                <a:spcPct val="115000"/>
              </a:lnSpc>
              <a:spcBef>
                <a:spcPts val="0"/>
              </a:spcBef>
              <a:spcAft>
                <a:spcPts val="0"/>
              </a:spcAft>
              <a:buClr>
                <a:schemeClr val="accent2"/>
              </a:buClr>
              <a:buSzPts val="1700"/>
              <a:buFont typeface="Lato"/>
              <a:buChar char="●"/>
            </a:pPr>
            <a:r>
              <a:rPr lang="en" sz="1700">
                <a:solidFill>
                  <a:schemeClr val="dk1"/>
                </a:solidFill>
              </a:rPr>
              <a:t>Given a robot, explain what it does and what kinds of decisions it makes.</a:t>
            </a:r>
            <a:endParaRPr sz="1700">
              <a:solidFill>
                <a:schemeClr val="dk1"/>
              </a:solidFill>
            </a:endParaRPr>
          </a:p>
          <a:p>
            <a:pPr indent="-336550" lvl="0" marL="457200" rtl="0" algn="l">
              <a:lnSpc>
                <a:spcPct val="115000"/>
              </a:lnSpc>
              <a:spcBef>
                <a:spcPts val="0"/>
              </a:spcBef>
              <a:spcAft>
                <a:spcPts val="0"/>
              </a:spcAft>
              <a:buClr>
                <a:schemeClr val="accent2"/>
              </a:buClr>
              <a:buSzPts val="1700"/>
              <a:buFont typeface="Lato"/>
              <a:buChar char="●"/>
            </a:pPr>
            <a:r>
              <a:rPr lang="en" sz="1700">
                <a:solidFill>
                  <a:schemeClr val="dk1"/>
                </a:solidFill>
              </a:rPr>
              <a:t>Decide whether a device is a robot or not. Roombas are robots. Your grandmother’s antique Electrolux vacuum is not a robot. Why not?</a:t>
            </a:r>
            <a:endParaRPr sz="2000">
              <a:solidFill>
                <a:schemeClr val="dk1"/>
              </a:solidFill>
            </a:endParaRPr>
          </a:p>
          <a:p>
            <a:pPr indent="0" lvl="0" marL="457200" rtl="0" algn="l">
              <a:spcBef>
                <a:spcPts val="0"/>
              </a:spcBef>
              <a:spcAft>
                <a:spcPts val="0"/>
              </a:spcAft>
              <a:buNone/>
            </a:pPr>
            <a:r>
              <a:t/>
            </a:r>
            <a:endParaRPr sz="2000">
              <a:solidFill>
                <a:srgbClr val="595959"/>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5"/>
          <p:cNvSpPr txBox="1"/>
          <p:nvPr>
            <p:ph type="ctrTitle"/>
          </p:nvPr>
        </p:nvSpPr>
        <p:spPr>
          <a:xfrm>
            <a:off x="311700" y="426425"/>
            <a:ext cx="8520600" cy="9522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lang="en"/>
              <a:t>Robot Videos</a:t>
            </a:r>
            <a:endParaRPr/>
          </a:p>
        </p:txBody>
      </p:sp>
      <p:sp>
        <p:nvSpPr>
          <p:cNvPr id="73" name="Google Shape;73;p1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latin typeface="Arial"/>
                <a:ea typeface="Arial"/>
                <a:cs typeface="Arial"/>
                <a:sym typeface="Arial"/>
              </a:rPr>
              <a:t>‹#›</a:t>
            </a:fld>
            <a:endParaRPr>
              <a:latin typeface="Arial"/>
              <a:ea typeface="Arial"/>
              <a:cs typeface="Arial"/>
              <a:sym typeface="Arial"/>
            </a:endParaRPr>
          </a:p>
        </p:txBody>
      </p:sp>
      <p:sp>
        <p:nvSpPr>
          <p:cNvPr id="74" name="Google Shape;74;p15"/>
          <p:cNvSpPr txBox="1"/>
          <p:nvPr>
            <p:ph idx="1" type="subTitle"/>
          </p:nvPr>
        </p:nvSpPr>
        <p:spPr>
          <a:xfrm>
            <a:off x="311700" y="1995925"/>
            <a:ext cx="8520600" cy="1485900"/>
          </a:xfrm>
          <a:prstGeom prst="rect">
            <a:avLst/>
          </a:prstGeom>
        </p:spPr>
        <p:txBody>
          <a:bodyPr anchorCtr="0" anchor="t" bIns="91425" lIns="91425" spcFirstLastPara="1" rIns="91425" wrap="square" tIns="91425">
            <a:noAutofit/>
          </a:bodyPr>
          <a:lstStyle/>
          <a:p>
            <a:pPr indent="0" lvl="0" marL="0" rtl="0" algn="ctr">
              <a:lnSpc>
                <a:spcPct val="80000"/>
              </a:lnSpc>
              <a:spcBef>
                <a:spcPts val="0"/>
              </a:spcBef>
              <a:spcAft>
                <a:spcPts val="0"/>
              </a:spcAft>
              <a:buSzPts val="770"/>
              <a:buNone/>
            </a:pPr>
            <a:r>
              <a:rPr lang="en" sz="2660"/>
              <a:t>All of the machines in the following videos </a:t>
            </a:r>
            <a:r>
              <a:rPr b="1" lang="en" sz="2660"/>
              <a:t>ARE</a:t>
            </a:r>
            <a:r>
              <a:rPr lang="en" sz="2660"/>
              <a:t> robots. </a:t>
            </a:r>
            <a:br>
              <a:rPr lang="en" sz="2660"/>
            </a:br>
            <a:endParaRPr sz="2660"/>
          </a:p>
          <a:p>
            <a:pPr indent="0" lvl="0" marL="0" rtl="0" algn="ctr">
              <a:lnSpc>
                <a:spcPct val="80000"/>
              </a:lnSpc>
              <a:spcBef>
                <a:spcPts val="0"/>
              </a:spcBef>
              <a:spcAft>
                <a:spcPts val="0"/>
              </a:spcAft>
              <a:buSzPts val="770"/>
              <a:buNone/>
            </a:pPr>
            <a:r>
              <a:rPr lang="en" sz="2660"/>
              <a:t>These machines follow all of the rules we learned in the previous activity.</a:t>
            </a:r>
            <a:endParaRPr sz="2660"/>
          </a:p>
        </p:txBody>
      </p:sp>
      <p:pic>
        <p:nvPicPr>
          <p:cNvPr id="75" name="Google Shape;75;p15"/>
          <p:cNvPicPr preferRelativeResize="0"/>
          <p:nvPr/>
        </p:nvPicPr>
        <p:blipFill>
          <a:blip r:embed="rId3">
            <a:alphaModFix/>
          </a:blip>
          <a:stretch>
            <a:fillRect/>
          </a:stretch>
        </p:blipFill>
        <p:spPr>
          <a:xfrm>
            <a:off x="6956771" y="76200"/>
            <a:ext cx="1977984" cy="1935450"/>
          </a:xfrm>
          <a:prstGeom prst="rect">
            <a:avLst/>
          </a:prstGeom>
          <a:noFill/>
          <a:ln>
            <a:noFill/>
          </a:ln>
        </p:spPr>
      </p:pic>
      <p:pic>
        <p:nvPicPr>
          <p:cNvPr id="76" name="Google Shape;76;p15"/>
          <p:cNvPicPr preferRelativeResize="0"/>
          <p:nvPr/>
        </p:nvPicPr>
        <p:blipFill>
          <a:blip r:embed="rId4">
            <a:alphaModFix/>
          </a:blip>
          <a:stretch>
            <a:fillRect/>
          </a:stretch>
        </p:blipFill>
        <p:spPr>
          <a:xfrm>
            <a:off x="463252" y="76200"/>
            <a:ext cx="1962672" cy="1935449"/>
          </a:xfrm>
          <a:prstGeom prst="rect">
            <a:avLst/>
          </a:prstGeom>
          <a:noFill/>
          <a:ln>
            <a:noFill/>
          </a:ln>
        </p:spPr>
      </p:pic>
      <p:pic>
        <p:nvPicPr>
          <p:cNvPr id="77" name="Google Shape;77;p15"/>
          <p:cNvPicPr preferRelativeResize="0"/>
          <p:nvPr/>
        </p:nvPicPr>
        <p:blipFill>
          <a:blip r:embed="rId5">
            <a:alphaModFix/>
          </a:blip>
          <a:stretch>
            <a:fillRect/>
          </a:stretch>
        </p:blipFill>
        <p:spPr>
          <a:xfrm>
            <a:off x="2595025" y="3588125"/>
            <a:ext cx="3748624" cy="1555374"/>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p16"/>
          <p:cNvSpPr txBox="1"/>
          <p:nvPr>
            <p:ph type="title"/>
          </p:nvPr>
        </p:nvSpPr>
        <p:spPr>
          <a:xfrm>
            <a:off x="50" y="450150"/>
            <a:ext cx="9144000" cy="16239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en"/>
              <a:t>New Question: </a:t>
            </a:r>
            <a:endParaRPr/>
          </a:p>
          <a:p>
            <a:pPr indent="0" lvl="0" marL="0" rtl="0" algn="ctr">
              <a:spcBef>
                <a:spcPts val="0"/>
              </a:spcBef>
              <a:spcAft>
                <a:spcPts val="0"/>
              </a:spcAft>
              <a:buNone/>
            </a:pPr>
            <a:r>
              <a:rPr lang="en"/>
              <a:t>Do all robots have AI?</a:t>
            </a:r>
            <a:endParaRPr/>
          </a:p>
        </p:txBody>
      </p:sp>
      <p:sp>
        <p:nvSpPr>
          <p:cNvPr id="83" name="Google Shape;83;p1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latin typeface="Arial"/>
                <a:ea typeface="Arial"/>
                <a:cs typeface="Arial"/>
                <a:sym typeface="Arial"/>
              </a:rPr>
              <a:t>‹#›</a:t>
            </a:fld>
            <a:endParaRPr>
              <a:latin typeface="Arial"/>
              <a:ea typeface="Arial"/>
              <a:cs typeface="Arial"/>
              <a:sym typeface="Arial"/>
            </a:endParaRPr>
          </a:p>
        </p:txBody>
      </p:sp>
      <p:sp>
        <p:nvSpPr>
          <p:cNvPr id="84" name="Google Shape;84;p16"/>
          <p:cNvSpPr txBox="1"/>
          <p:nvPr/>
        </p:nvSpPr>
        <p:spPr>
          <a:xfrm>
            <a:off x="94275" y="2074050"/>
            <a:ext cx="8559600" cy="2108700"/>
          </a:xfrm>
          <a:prstGeom prst="rect">
            <a:avLst/>
          </a:prstGeom>
          <a:noFill/>
          <a:ln>
            <a:noFill/>
          </a:ln>
        </p:spPr>
        <p:txBody>
          <a:bodyPr anchorCtr="0" anchor="t" bIns="91425" lIns="91425" spcFirstLastPara="1" rIns="91425" wrap="square" tIns="91425">
            <a:spAutoFit/>
          </a:bodyPr>
          <a:lstStyle/>
          <a:p>
            <a:pPr indent="-387350" lvl="0" marL="457200" rtl="0" algn="l">
              <a:spcBef>
                <a:spcPts val="0"/>
              </a:spcBef>
              <a:spcAft>
                <a:spcPts val="0"/>
              </a:spcAft>
              <a:buSzPts val="2500"/>
              <a:buChar char="●"/>
            </a:pPr>
            <a:r>
              <a:rPr lang="en" sz="2500"/>
              <a:t>An </a:t>
            </a:r>
            <a:r>
              <a:rPr b="1" lang="en" sz="2500">
                <a:solidFill>
                  <a:schemeClr val="accent1"/>
                </a:solidFill>
              </a:rPr>
              <a:t>autonomous robot</a:t>
            </a:r>
            <a:r>
              <a:rPr lang="en" sz="2500"/>
              <a:t> can make decisions about what it will do.</a:t>
            </a:r>
            <a:endParaRPr sz="2500"/>
          </a:p>
          <a:p>
            <a:pPr indent="0" lvl="0" marL="457200" rtl="0" algn="l">
              <a:spcBef>
                <a:spcPts val="0"/>
              </a:spcBef>
              <a:spcAft>
                <a:spcPts val="0"/>
              </a:spcAft>
              <a:buNone/>
            </a:pPr>
            <a:r>
              <a:t/>
            </a:r>
            <a:endParaRPr sz="2500"/>
          </a:p>
          <a:p>
            <a:pPr indent="-387350" lvl="0" marL="457200" rtl="0" algn="l">
              <a:spcBef>
                <a:spcPts val="0"/>
              </a:spcBef>
              <a:spcAft>
                <a:spcPts val="0"/>
              </a:spcAft>
              <a:buSzPts val="2500"/>
              <a:buChar char="●"/>
            </a:pPr>
            <a:r>
              <a:rPr lang="en" sz="2500"/>
              <a:t>Having “Artificial Intelligence” or AI means that </a:t>
            </a:r>
            <a:r>
              <a:rPr lang="en" sz="2500"/>
              <a:t>the robot can “</a:t>
            </a:r>
            <a:r>
              <a:rPr b="1" lang="en" sz="2500">
                <a:solidFill>
                  <a:srgbClr val="4A86E8"/>
                </a:solidFill>
              </a:rPr>
              <a:t>perceive</a:t>
            </a:r>
            <a:r>
              <a:rPr lang="en" sz="2500"/>
              <a:t>” or make meaning of what it senses.</a:t>
            </a:r>
            <a:endParaRPr sz="25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7"/>
          <p:cNvSpPr txBox="1"/>
          <p:nvPr>
            <p:ph type="title"/>
          </p:nvPr>
        </p:nvSpPr>
        <p:spPr>
          <a:xfrm>
            <a:off x="2867050" y="0"/>
            <a:ext cx="4202700" cy="627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t>Whole Group Examples</a:t>
            </a:r>
            <a:endParaRPr b="1"/>
          </a:p>
        </p:txBody>
      </p:sp>
      <p:sp>
        <p:nvSpPr>
          <p:cNvPr id="90" name="Google Shape;90;p17"/>
          <p:cNvSpPr txBox="1"/>
          <p:nvPr>
            <p:ph idx="1" type="body"/>
          </p:nvPr>
        </p:nvSpPr>
        <p:spPr>
          <a:xfrm>
            <a:off x="3412675" y="580900"/>
            <a:ext cx="2429400" cy="584100"/>
          </a:xfrm>
          <a:prstGeom prst="rect">
            <a:avLst/>
          </a:prstGeom>
        </p:spPr>
        <p:txBody>
          <a:bodyPr anchorCtr="0" anchor="t" bIns="91425" lIns="91425" spcFirstLastPara="1" rIns="91425" wrap="square" tIns="91425">
            <a:normAutofit/>
          </a:bodyPr>
          <a:lstStyle/>
          <a:p>
            <a:pPr indent="0" lvl="0" marL="0" rtl="0" algn="ctr">
              <a:spcBef>
                <a:spcPts val="0"/>
              </a:spcBef>
              <a:spcAft>
                <a:spcPts val="1200"/>
              </a:spcAft>
              <a:buNone/>
            </a:pPr>
            <a:r>
              <a:rPr b="1" lang="en"/>
              <a:t>Ice Cream Shop</a:t>
            </a:r>
            <a:endParaRPr b="1"/>
          </a:p>
        </p:txBody>
      </p:sp>
      <p:sp>
        <p:nvSpPr>
          <p:cNvPr id="91" name="Google Shape;91;p1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latin typeface="Arial"/>
                <a:ea typeface="Arial"/>
                <a:cs typeface="Arial"/>
                <a:sym typeface="Arial"/>
              </a:rPr>
              <a:t>‹#›</a:t>
            </a:fld>
            <a:endParaRPr>
              <a:latin typeface="Arial"/>
              <a:ea typeface="Arial"/>
              <a:cs typeface="Arial"/>
              <a:sym typeface="Arial"/>
            </a:endParaRPr>
          </a:p>
        </p:txBody>
      </p:sp>
      <p:pic>
        <p:nvPicPr>
          <p:cNvPr descr="Robots have started doing the job of creating Ice cream and serving it in a cute way like a Human.&#10;&#10;A Japanese twitter user (@torachitech2) has shared a video showing the ice cream vending machine operated by a cute Robot.&#10;&#10;Video Credit: Twitter user @torachitech2" id="92" name="Google Shape;92;p17" title="A cute Robot will make you a perfect Ice Cream Cone">
            <a:hlinkClick r:id="rId3"/>
          </p:cNvPr>
          <p:cNvPicPr preferRelativeResize="0"/>
          <p:nvPr/>
        </p:nvPicPr>
        <p:blipFill>
          <a:blip r:embed="rId4">
            <a:alphaModFix/>
          </a:blip>
          <a:stretch>
            <a:fillRect/>
          </a:stretch>
        </p:blipFill>
        <p:spPr>
          <a:xfrm>
            <a:off x="3301924" y="1087426"/>
            <a:ext cx="2540150" cy="1905136"/>
          </a:xfrm>
          <a:prstGeom prst="rect">
            <a:avLst/>
          </a:prstGeom>
          <a:noFill/>
          <a:ln>
            <a:noFill/>
          </a:ln>
        </p:spPr>
      </p:pic>
      <p:pic>
        <p:nvPicPr>
          <p:cNvPr descr="Will robots take over the world? Most researchers don’t think so. But how about our jobs?&#10;&#10;NOVA on Facebook: https://www.facebook.com/NOVAonline&#10;NOVA on Twitter: @novapbs&#10;NOVA on Instagram: @novapbs&#10;&#10;PRODUCTION CREDITS&#10;&#10;Digital Producer:&#10;Michael Rivera&#10;&#10;NOVA WONDERS: WHAT ARE ANIMALS SAYING?&#10;Producers:&#10;Michael Bicks &amp; Anna Lee Strachan&#10;&#10;© WGBH Educational Foundation 2018" id="93" name="Google Shape;93;p17" title="Meet the Robots at Amazon">
            <a:hlinkClick r:id="rId5"/>
          </p:cNvPr>
          <p:cNvPicPr preferRelativeResize="0"/>
          <p:nvPr/>
        </p:nvPicPr>
        <p:blipFill>
          <a:blip r:embed="rId6">
            <a:alphaModFix/>
          </a:blip>
          <a:stretch>
            <a:fillRect/>
          </a:stretch>
        </p:blipFill>
        <p:spPr>
          <a:xfrm>
            <a:off x="6329243" y="2301363"/>
            <a:ext cx="2540156" cy="1905125"/>
          </a:xfrm>
          <a:prstGeom prst="rect">
            <a:avLst/>
          </a:prstGeom>
          <a:noFill/>
          <a:ln>
            <a:noFill/>
          </a:ln>
        </p:spPr>
      </p:pic>
      <p:pic>
        <p:nvPicPr>
          <p:cNvPr descr="In this video, you can see the evolution of the robots that made Boston Dynamics since 2012&#10;&#10;All videos about robots and Boston Dynamics you can watch on their official channel: https://www.youtube.com/user/BostonDynamics/featured&#10;★★★★★★★★★★★★★★★★★★★★★★★★★★★★★★★★★★★★★★★★&#10;►Don't forget subscribe ☞ http://goo.gl/QXClN9" id="94" name="Google Shape;94;p17" title="Evolution Of Boston Dynamics Since 2012">
            <a:hlinkClick r:id="rId7"/>
          </p:cNvPr>
          <p:cNvPicPr preferRelativeResize="0"/>
          <p:nvPr/>
        </p:nvPicPr>
        <p:blipFill>
          <a:blip r:embed="rId8">
            <a:alphaModFix/>
          </a:blip>
          <a:stretch>
            <a:fillRect/>
          </a:stretch>
        </p:blipFill>
        <p:spPr>
          <a:xfrm>
            <a:off x="326900" y="3035762"/>
            <a:ext cx="2540150" cy="1905113"/>
          </a:xfrm>
          <a:prstGeom prst="rect">
            <a:avLst/>
          </a:prstGeom>
          <a:noFill/>
          <a:ln>
            <a:noFill/>
          </a:ln>
        </p:spPr>
      </p:pic>
      <p:pic>
        <p:nvPicPr>
          <p:cNvPr descr="Our whole crew got together to celebrate the start of what we hope will be a happier year:  Happy New Year from all of us at Boston Dynamics.  www.BostonDynamics.com." id="95" name="Google Shape;95;p17" title="Do You Love Me?">
            <a:hlinkClick r:id="rId9"/>
          </p:cNvPr>
          <p:cNvPicPr preferRelativeResize="0"/>
          <p:nvPr/>
        </p:nvPicPr>
        <p:blipFill>
          <a:blip r:embed="rId10">
            <a:alphaModFix/>
          </a:blip>
          <a:stretch>
            <a:fillRect/>
          </a:stretch>
        </p:blipFill>
        <p:spPr>
          <a:xfrm>
            <a:off x="342600" y="1042600"/>
            <a:ext cx="2540150" cy="1905139"/>
          </a:xfrm>
          <a:prstGeom prst="rect">
            <a:avLst/>
          </a:prstGeom>
          <a:noFill/>
          <a:ln>
            <a:noFill/>
          </a:ln>
        </p:spPr>
      </p:pic>
      <p:sp>
        <p:nvSpPr>
          <p:cNvPr id="96" name="Google Shape;96;p17"/>
          <p:cNvSpPr txBox="1"/>
          <p:nvPr/>
        </p:nvSpPr>
        <p:spPr>
          <a:xfrm>
            <a:off x="6647325" y="1703125"/>
            <a:ext cx="2046300" cy="46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None/>
            </a:pPr>
            <a:r>
              <a:rPr b="1" lang="en" sz="1800">
                <a:solidFill>
                  <a:schemeClr val="dk2"/>
                </a:solidFill>
              </a:rPr>
              <a:t>Kiva Wearhouse</a:t>
            </a:r>
            <a:endParaRPr b="1"/>
          </a:p>
        </p:txBody>
      </p:sp>
      <p:sp>
        <p:nvSpPr>
          <p:cNvPr id="97" name="Google Shape;97;p17"/>
          <p:cNvSpPr txBox="1"/>
          <p:nvPr/>
        </p:nvSpPr>
        <p:spPr>
          <a:xfrm>
            <a:off x="266950" y="580900"/>
            <a:ext cx="2600100" cy="4617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1200"/>
              </a:spcAft>
              <a:buNone/>
            </a:pPr>
            <a:r>
              <a:rPr b="1" lang="en" sz="1800">
                <a:solidFill>
                  <a:schemeClr val="dk2"/>
                </a:solidFill>
              </a:rPr>
              <a:t>Boston Dynamics</a:t>
            </a:r>
            <a:endParaRPr b="1"/>
          </a:p>
        </p:txBody>
      </p:sp>
      <p:pic>
        <p:nvPicPr>
          <p:cNvPr descr="The ice cream served by collaborative robot Indy🤖&#10;&#10;subscription : https://www.youtube.com/neuromeka?sub_confirmation=1%E2%80%9D &#10;------------------------------------------------------------------------------------------------------------- &#10;Robot as a Tool &#10;Robot as a Service &#10;Robots for Every Workplace &#10; &#10; &#10;#neuromeka #robotics #collaborativerobots #cobots #robot #deltarobot #indy #automation #manufacturing #smartfactory #industry4 #robotarm #icecream #f&amp;B" id="98" name="Google Shape;98;p17" title="Demonstration of Ice cream robot">
            <a:hlinkClick r:id="rId11"/>
          </p:cNvPr>
          <p:cNvPicPr preferRelativeResize="0"/>
          <p:nvPr/>
        </p:nvPicPr>
        <p:blipFill>
          <a:blip r:embed="rId12">
            <a:alphaModFix/>
          </a:blip>
          <a:stretch>
            <a:fillRect/>
          </a:stretch>
        </p:blipFill>
        <p:spPr>
          <a:xfrm>
            <a:off x="3298100" y="3311621"/>
            <a:ext cx="2600100" cy="1462556"/>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2"/>
                                        </p:tgtEl>
                                        <p:attrNameLst>
                                          <p:attrName>style.visibility</p:attrName>
                                        </p:attrNameLst>
                                      </p:cBhvr>
                                      <p:to>
                                        <p:strVal val="visible"/>
                                      </p:to>
                                    </p:set>
                                    <p:animEffect filter="fade" transition="in">
                                      <p:cBhvr>
                                        <p:cTn dur="1000"/>
                                        <p:tgtEl>
                                          <p:spTgt spid="9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5"/>
                                        </p:tgtEl>
                                        <p:attrNameLst>
                                          <p:attrName>style.visibility</p:attrName>
                                        </p:attrNameLst>
                                      </p:cBhvr>
                                      <p:to>
                                        <p:strVal val="visible"/>
                                      </p:to>
                                    </p:set>
                                    <p:animEffect filter="fade" transition="in">
                                      <p:cBhvr>
                                        <p:cTn dur="1000"/>
                                        <p:tgtEl>
                                          <p:spTgt spid="9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8"/>
                                        </p:tgtEl>
                                        <p:attrNameLst>
                                          <p:attrName>style.visibility</p:attrName>
                                        </p:attrNameLst>
                                      </p:cBhvr>
                                      <p:to>
                                        <p:strVal val="visible"/>
                                      </p:to>
                                    </p:set>
                                    <p:animEffect filter="fade" transition="in">
                                      <p:cBhvr>
                                        <p:cTn dur="1000"/>
                                        <p:tgtEl>
                                          <p:spTgt spid="9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18"/>
          <p:cNvSpPr txBox="1"/>
          <p:nvPr>
            <p:ph type="title"/>
          </p:nvPr>
        </p:nvSpPr>
        <p:spPr>
          <a:xfrm>
            <a:off x="533100" y="344375"/>
            <a:ext cx="4404000" cy="45930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b="1" lang="en" sz="2800"/>
              <a:t>Directions: </a:t>
            </a:r>
            <a:endParaRPr b="1" sz="2800"/>
          </a:p>
          <a:p>
            <a:pPr indent="0" lvl="0" marL="0" rtl="0" algn="l">
              <a:spcBef>
                <a:spcPts val="0"/>
              </a:spcBef>
              <a:spcAft>
                <a:spcPts val="0"/>
              </a:spcAft>
              <a:buNone/>
            </a:pPr>
            <a:r>
              <a:t/>
            </a:r>
            <a:endParaRPr sz="2500"/>
          </a:p>
          <a:p>
            <a:pPr indent="-387350" lvl="0" marL="457200" rtl="0" algn="l">
              <a:spcBef>
                <a:spcPts val="0"/>
              </a:spcBef>
              <a:spcAft>
                <a:spcPts val="0"/>
              </a:spcAft>
              <a:buSzPts val="2500"/>
              <a:buAutoNum type="arabicPeriod"/>
            </a:pPr>
            <a:r>
              <a:rPr lang="en" sz="2500"/>
              <a:t>W</a:t>
            </a:r>
            <a:r>
              <a:rPr lang="en" sz="2500"/>
              <a:t>rite</a:t>
            </a:r>
            <a:r>
              <a:rPr lang="en" sz="2500"/>
              <a:t> a short summary of what the robot does.</a:t>
            </a:r>
            <a:endParaRPr sz="2500"/>
          </a:p>
          <a:p>
            <a:pPr indent="0" lvl="0" marL="457200" rtl="0" algn="l">
              <a:spcBef>
                <a:spcPts val="0"/>
              </a:spcBef>
              <a:spcAft>
                <a:spcPts val="0"/>
              </a:spcAft>
              <a:buNone/>
            </a:pPr>
            <a:r>
              <a:t/>
            </a:r>
            <a:endParaRPr sz="2500"/>
          </a:p>
          <a:p>
            <a:pPr indent="-387350" lvl="0" marL="457200" rtl="0" algn="l">
              <a:spcBef>
                <a:spcPts val="0"/>
              </a:spcBef>
              <a:spcAft>
                <a:spcPts val="0"/>
              </a:spcAft>
              <a:buSzPts val="2500"/>
              <a:buAutoNum type="arabicPeriod"/>
            </a:pPr>
            <a:r>
              <a:rPr lang="en" sz="2500"/>
              <a:t>What kinds of decisions did the robot make?</a:t>
            </a:r>
            <a:endParaRPr sz="2500"/>
          </a:p>
          <a:p>
            <a:pPr indent="0" lvl="0" marL="0" rtl="0" algn="l">
              <a:spcBef>
                <a:spcPts val="0"/>
              </a:spcBef>
              <a:spcAft>
                <a:spcPts val="0"/>
              </a:spcAft>
              <a:buNone/>
            </a:pPr>
            <a:r>
              <a:t/>
            </a:r>
            <a:endParaRPr sz="2500"/>
          </a:p>
          <a:p>
            <a:pPr indent="0" lvl="0" marL="0" rtl="0" algn="l">
              <a:spcBef>
                <a:spcPts val="0"/>
              </a:spcBef>
              <a:spcAft>
                <a:spcPts val="0"/>
              </a:spcAft>
              <a:buNone/>
            </a:pPr>
            <a:r>
              <a:rPr lang="en" sz="2500"/>
              <a:t>Be prepared to share your ideas with the class.</a:t>
            </a:r>
            <a:endParaRPr sz="2500"/>
          </a:p>
        </p:txBody>
      </p:sp>
      <p:sp>
        <p:nvSpPr>
          <p:cNvPr id="104" name="Google Shape;104;p1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latin typeface="Arial"/>
                <a:ea typeface="Arial"/>
                <a:cs typeface="Arial"/>
                <a:sym typeface="Arial"/>
              </a:rPr>
              <a:t>‹#›</a:t>
            </a:fld>
            <a:endParaRPr>
              <a:latin typeface="Arial"/>
              <a:ea typeface="Arial"/>
              <a:cs typeface="Arial"/>
              <a:sym typeface="Arial"/>
            </a:endParaRPr>
          </a:p>
        </p:txBody>
      </p:sp>
      <p:pic>
        <p:nvPicPr>
          <p:cNvPr id="105" name="Google Shape;105;p18"/>
          <p:cNvPicPr preferRelativeResize="0"/>
          <p:nvPr/>
        </p:nvPicPr>
        <p:blipFill>
          <a:blip r:embed="rId3">
            <a:alphaModFix/>
          </a:blip>
          <a:stretch>
            <a:fillRect/>
          </a:stretch>
        </p:blipFill>
        <p:spPr>
          <a:xfrm>
            <a:off x="4937100" y="777063"/>
            <a:ext cx="3902100" cy="29265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19"/>
          <p:cNvSpPr txBox="1"/>
          <p:nvPr>
            <p:ph type="title"/>
          </p:nvPr>
        </p:nvSpPr>
        <p:spPr>
          <a:xfrm>
            <a:off x="819150" y="3884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Robot Video #1 - Handle Robot</a:t>
            </a:r>
            <a:endParaRPr/>
          </a:p>
        </p:txBody>
      </p:sp>
      <p:sp>
        <p:nvSpPr>
          <p:cNvPr id="111" name="Google Shape;111;p1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latin typeface="Arial"/>
                <a:ea typeface="Arial"/>
                <a:cs typeface="Arial"/>
                <a:sym typeface="Arial"/>
              </a:rPr>
              <a:t>‹#›</a:t>
            </a:fld>
            <a:endParaRPr>
              <a:latin typeface="Arial"/>
              <a:ea typeface="Arial"/>
              <a:cs typeface="Arial"/>
              <a:sym typeface="Arial"/>
            </a:endParaRPr>
          </a:p>
        </p:txBody>
      </p:sp>
      <p:sp>
        <p:nvSpPr>
          <p:cNvPr id="112" name="Google Shape;112;p19"/>
          <p:cNvSpPr txBox="1"/>
          <p:nvPr>
            <p:ph idx="1" type="body"/>
          </p:nvPr>
        </p:nvSpPr>
        <p:spPr>
          <a:xfrm>
            <a:off x="485325" y="1152475"/>
            <a:ext cx="2958300" cy="3416400"/>
          </a:xfrm>
          <a:prstGeom prst="rect">
            <a:avLst/>
          </a:prstGeom>
        </p:spPr>
        <p:txBody>
          <a:bodyPr anchorCtr="0" anchor="t" bIns="91425" lIns="91425" spcFirstLastPara="1" rIns="91425" wrap="square" tIns="91425">
            <a:normAutofit/>
          </a:bodyPr>
          <a:lstStyle/>
          <a:p>
            <a:pPr indent="0" lvl="0" marL="0" rtl="0" algn="l">
              <a:lnSpc>
                <a:spcPct val="100000"/>
              </a:lnSpc>
              <a:spcBef>
                <a:spcPts val="0"/>
              </a:spcBef>
              <a:spcAft>
                <a:spcPts val="0"/>
              </a:spcAft>
              <a:buClr>
                <a:schemeClr val="dk1"/>
              </a:buClr>
              <a:buSzPts val="1100"/>
              <a:buFont typeface="Arial"/>
              <a:buNone/>
            </a:pPr>
            <a:r>
              <a:t/>
            </a:r>
            <a:endParaRPr sz="2100"/>
          </a:p>
        </p:txBody>
      </p:sp>
      <p:pic>
        <p:nvPicPr>
          <p:cNvPr descr="Handle is a mobile manipulation robot designed for logistics. Handle autonomously performs mixed SKU pallet building and depalletizing after initialization and localizing against the pallets. The on-board vision system on Handle tracks the marked pallets for navigation and finds individual boxes for grasping and placing.&#10;&#10;When Handle places a boxes onto a pallet, it uses force control to nestle each box up against its neighbors.  The boxes used in the video weigh about 5 Kg (11 lbs), but the robot is designed to handle boxes up to (15 Kg) (33 lb).  This version of Handle works with pallets that are 1.2 m deep and 1.7 m tall (48 inches deep and 68 inches tall)." id="113" name="Google Shape;113;p19" title="Handle Robot Reimagined for Logistics">
            <a:hlinkClick r:id="rId3"/>
          </p:cNvPr>
          <p:cNvPicPr preferRelativeResize="0"/>
          <p:nvPr/>
        </p:nvPicPr>
        <p:blipFill>
          <a:blip r:embed="rId4">
            <a:alphaModFix/>
          </a:blip>
          <a:stretch>
            <a:fillRect/>
          </a:stretch>
        </p:blipFill>
        <p:spPr>
          <a:xfrm>
            <a:off x="3824250" y="1146175"/>
            <a:ext cx="4572000" cy="34290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3"/>
                                        </p:tgtEl>
                                        <p:attrNameLst>
                                          <p:attrName>style.visibility</p:attrName>
                                        </p:attrNameLst>
                                      </p:cBhvr>
                                      <p:to>
                                        <p:strVal val="visible"/>
                                      </p:to>
                                    </p:set>
                                    <p:animEffect filter="fade" transition="in">
                                      <p:cBhvr>
                                        <p:cTn dur="1000"/>
                                        <p:tgtEl>
                                          <p:spTgt spid="11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20"/>
          <p:cNvSpPr txBox="1"/>
          <p:nvPr>
            <p:ph type="title"/>
          </p:nvPr>
        </p:nvSpPr>
        <p:spPr>
          <a:xfrm>
            <a:off x="819150" y="5408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Robot Video #2 - Unloading a Truck</a:t>
            </a:r>
            <a:endParaRPr/>
          </a:p>
        </p:txBody>
      </p:sp>
      <p:sp>
        <p:nvSpPr>
          <p:cNvPr id="119" name="Google Shape;119;p20"/>
          <p:cNvSpPr txBox="1"/>
          <p:nvPr>
            <p:ph idx="1" type="body"/>
          </p:nvPr>
        </p:nvSpPr>
        <p:spPr>
          <a:xfrm>
            <a:off x="563750" y="1152475"/>
            <a:ext cx="29583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
        <p:nvSpPr>
          <p:cNvPr id="120" name="Google Shape;120;p2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latin typeface="Arial"/>
                <a:ea typeface="Arial"/>
                <a:cs typeface="Arial"/>
                <a:sym typeface="Arial"/>
              </a:rPr>
              <a:t>‹#›</a:t>
            </a:fld>
            <a:endParaRPr>
              <a:latin typeface="Arial"/>
              <a:ea typeface="Arial"/>
              <a:cs typeface="Arial"/>
              <a:sym typeface="Arial"/>
            </a:endParaRPr>
          </a:p>
        </p:txBody>
      </p:sp>
      <p:pic>
        <p:nvPicPr>
          <p:cNvPr descr="Honeywell announces an automated robotic solution for unloading a wide range of packages from truck trailers and shipping containers at distribution centers." id="121" name="Google Shape;121;p20" title="Honeywell Robotic Unloader">
            <a:hlinkClick r:id="rId3"/>
          </p:cNvPr>
          <p:cNvPicPr preferRelativeResize="0"/>
          <p:nvPr/>
        </p:nvPicPr>
        <p:blipFill>
          <a:blip r:embed="rId4">
            <a:alphaModFix/>
          </a:blip>
          <a:stretch>
            <a:fillRect/>
          </a:stretch>
        </p:blipFill>
        <p:spPr>
          <a:xfrm>
            <a:off x="3672038" y="1234225"/>
            <a:ext cx="4572000" cy="34290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1"/>
                                        </p:tgtEl>
                                        <p:attrNameLst>
                                          <p:attrName>style.visibility</p:attrName>
                                        </p:attrNameLst>
                                      </p:cBhvr>
                                      <p:to>
                                        <p:strVal val="visible"/>
                                      </p:to>
                                    </p:set>
                                    <p:animEffect filter="fade" transition="in">
                                      <p:cBhvr>
                                        <p:cTn dur="1000"/>
                                        <p:tgtEl>
                                          <p:spTgt spid="12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21"/>
          <p:cNvSpPr txBox="1"/>
          <p:nvPr>
            <p:ph type="title"/>
          </p:nvPr>
        </p:nvSpPr>
        <p:spPr>
          <a:xfrm>
            <a:off x="819150" y="464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Robot Video #3 - Butler</a:t>
            </a:r>
            <a:endParaRPr/>
          </a:p>
        </p:txBody>
      </p:sp>
      <p:sp>
        <p:nvSpPr>
          <p:cNvPr id="127" name="Google Shape;127;p21"/>
          <p:cNvSpPr txBox="1"/>
          <p:nvPr>
            <p:ph idx="1" type="body"/>
          </p:nvPr>
        </p:nvSpPr>
        <p:spPr>
          <a:xfrm>
            <a:off x="485325" y="1152475"/>
            <a:ext cx="29583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
        <p:nvSpPr>
          <p:cNvPr id="128" name="Google Shape;128;p2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latin typeface="Arial"/>
                <a:ea typeface="Arial"/>
                <a:cs typeface="Arial"/>
                <a:sym typeface="Arial"/>
              </a:rPr>
              <a:t>‹#›</a:t>
            </a:fld>
            <a:endParaRPr>
              <a:latin typeface="Arial"/>
              <a:ea typeface="Arial"/>
              <a:cs typeface="Arial"/>
              <a:sym typeface="Arial"/>
            </a:endParaRPr>
          </a:p>
        </p:txBody>
      </p:sp>
      <p:pic>
        <p:nvPicPr>
          <p:cNvPr descr="If you plan to stay in Cupertino's high-tech Aloft Hotel in the near future, don't be surprised if you open your door to a 3-foot-tall robot carrying extra towels or breakfast.&#10;» Read more here: http://bit.ly/Aloft-robot-butler&#10;» Subscribe to Engadget now! http://bit.ly/YA7pDV&#10;&#10;Engadget provides the web's best consumer electronics &amp; gadgets coverage. Launched in 2004 by former Gizmodo editor and co-founder Peter Rojas, Engadget now covers the latest mobile devices, computers, TVs, laptops, personal electronics, hardware, tablets and cameras. Engadget's video property is a part of the AOL On Network.&#10;&#10;Get More Engadget: &#10;Read: http://engt.co/YZHYeP&#10;Like: http://on.fb.me/YZI4mL&#10;Follow: http://bit.ly/YFfj0L" id="129" name="Google Shape;129;p21" title="Aloft Hotel's robot butler">
            <a:hlinkClick r:id="rId3"/>
          </p:cNvPr>
          <p:cNvPicPr preferRelativeResize="0"/>
          <p:nvPr/>
        </p:nvPicPr>
        <p:blipFill>
          <a:blip r:embed="rId4">
            <a:alphaModFix/>
          </a:blip>
          <a:stretch>
            <a:fillRect/>
          </a:stretch>
        </p:blipFill>
        <p:spPr>
          <a:xfrm>
            <a:off x="3596025" y="1170125"/>
            <a:ext cx="4454256" cy="334069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9"/>
                                        </p:tgtEl>
                                        <p:attrNameLst>
                                          <p:attrName>style.visibility</p:attrName>
                                        </p:attrNameLst>
                                      </p:cBhvr>
                                      <p:to>
                                        <p:strVal val="visible"/>
                                      </p:to>
                                    </p:set>
                                    <p:animEffect filter="fade" transition="in">
                                      <p:cBhvr>
                                        <p:cTn dur="1000"/>
                                        <p:tgtEl>
                                          <p:spTgt spid="12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Robot Video #4 - Warehouse Robots</a:t>
            </a:r>
            <a:endParaRPr/>
          </a:p>
        </p:txBody>
      </p:sp>
      <p:sp>
        <p:nvSpPr>
          <p:cNvPr id="135" name="Google Shape;135;p22"/>
          <p:cNvSpPr txBox="1"/>
          <p:nvPr>
            <p:ph idx="1" type="body"/>
          </p:nvPr>
        </p:nvSpPr>
        <p:spPr>
          <a:xfrm>
            <a:off x="485325" y="1152475"/>
            <a:ext cx="29583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
        <p:nvSpPr>
          <p:cNvPr id="136" name="Google Shape;136;p2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latin typeface="Arial"/>
                <a:ea typeface="Arial"/>
                <a:cs typeface="Arial"/>
                <a:sym typeface="Arial"/>
              </a:rPr>
              <a:t>‹#›</a:t>
            </a:fld>
            <a:endParaRPr>
              <a:latin typeface="Arial"/>
              <a:ea typeface="Arial"/>
              <a:cs typeface="Arial"/>
              <a:sym typeface="Arial"/>
            </a:endParaRPr>
          </a:p>
        </p:txBody>
      </p:sp>
      <p:pic>
        <p:nvPicPr>
          <p:cNvPr descr="5 Amazing Warehouse Robots You Must See&#10;&#10;&#10;Credits ►&#10;&#10;Max-AI® AQC-C Recycling CoBot ►  https://www.bulkhandlingsystems.com/&#10;&#10;SqUID ► https://www.bionichive.com/&#10;&#10;Autonomous Mobile Robots (AMRs) ► https://milvusrobotics.com/&#10;&#10;Handle Robot ► https://www.bostondynamics.com/handle&#10;&#10;SuperPick Polybag Picking System ► https://www.softroboticsinc.com/&#10;&#10;&#10;Watch Amazing Technology Videos  👇&#10;&#10;&#10;► 5 innovative Vehicles That Are on Another Level&#10;  https://youtu.be/S5swJGdYx8E&#10;&#10;► 5 innovative Face Masks &amp; Helmets For Clean air and Virus Protection &#10;  https://youtu.be/T-UnfC2k7Sc&#10;&#10;► These 5 Invention Could Save So Many Lives&#10;  https://youtu.be/HEjwMiMLSfk&#10;&#10;► 5 ज़बरदस्त ड्रोन्स | Unbelievable DRONE Inventions You Must See&#10;  https://youtu.be/5nFAjxyuXnc&#10;&#10;► Next Level Innovative Helmets &amp; Accessories&#10;  https://youtu.be/WS4AlC_tlRU&#10;&#10;► Stop Any Speeding Vehicle Using These Inventions&#10;  https://youtu.be/hwUHVEoOwdU&#10;&#10;&#10;Thanks for watching &#10;Please Like, Share and Subscribe For More Videos&#10;&#10;&#10;Don’t miss next videos: Press the little bell icon ((🔔)) to get notifications&#10;&#10;&#10;Follow me on Twitter:  https://twitter.com/vipinofficial11" id="137" name="Google Shape;137;p22" title="5 Amazing Warehouse Robots You Must See">
            <a:hlinkClick r:id="rId3"/>
          </p:cNvPr>
          <p:cNvPicPr preferRelativeResize="0"/>
          <p:nvPr/>
        </p:nvPicPr>
        <p:blipFill>
          <a:blip r:embed="rId4">
            <a:alphaModFix/>
          </a:blip>
          <a:stretch>
            <a:fillRect/>
          </a:stretch>
        </p:blipFill>
        <p:spPr>
          <a:xfrm>
            <a:off x="3348375" y="1579700"/>
            <a:ext cx="4454256" cy="334069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7"/>
                                        </p:tgtEl>
                                        <p:attrNameLst>
                                          <p:attrName>style.visibility</p:attrName>
                                        </p:attrNameLst>
                                      </p:cBhvr>
                                      <p:to>
                                        <p:strVal val="visible"/>
                                      </p:to>
                                    </p:set>
                                    <p:animEffect filter="fade" transition="in">
                                      <p:cBhvr>
                                        <p:cTn dur="1000"/>
                                        <p:tgtEl>
                                          <p:spTgt spid="13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23"/>
          <p:cNvSpPr txBox="1"/>
          <p:nvPr>
            <p:ph type="title"/>
          </p:nvPr>
        </p:nvSpPr>
        <p:spPr>
          <a:xfrm>
            <a:off x="819150" y="3884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Robot Video #5 - In Hospitals (during COVID)</a:t>
            </a:r>
            <a:endParaRPr/>
          </a:p>
        </p:txBody>
      </p:sp>
      <p:sp>
        <p:nvSpPr>
          <p:cNvPr id="143" name="Google Shape;143;p23"/>
          <p:cNvSpPr txBox="1"/>
          <p:nvPr>
            <p:ph idx="1" type="body"/>
          </p:nvPr>
        </p:nvSpPr>
        <p:spPr>
          <a:xfrm>
            <a:off x="485325" y="1152475"/>
            <a:ext cx="29583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
        <p:nvSpPr>
          <p:cNvPr id="144" name="Google Shape;144;p2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latin typeface="Arial"/>
                <a:ea typeface="Arial"/>
                <a:cs typeface="Arial"/>
                <a:sym typeface="Arial"/>
              </a:rPr>
              <a:t>‹#›</a:t>
            </a:fld>
            <a:endParaRPr>
              <a:latin typeface="Arial"/>
              <a:ea typeface="Arial"/>
              <a:cs typeface="Arial"/>
              <a:sym typeface="Arial"/>
            </a:endParaRPr>
          </a:p>
        </p:txBody>
      </p:sp>
      <p:pic>
        <p:nvPicPr>
          <p:cNvPr descr="Robots are employed to offer services to people in quarantine amid the #coronavirus fight in China. #FightVirus" id="145" name="Google Shape;145;p23" title="Coronavirus fight: Robots make deliveries">
            <a:hlinkClick r:id="rId3"/>
          </p:cNvPr>
          <p:cNvPicPr preferRelativeResize="0"/>
          <p:nvPr/>
        </p:nvPicPr>
        <p:blipFill>
          <a:blip r:embed="rId4">
            <a:alphaModFix/>
          </a:blip>
          <a:stretch>
            <a:fillRect/>
          </a:stretch>
        </p:blipFill>
        <p:spPr>
          <a:xfrm>
            <a:off x="3596025" y="1170125"/>
            <a:ext cx="4454256" cy="334069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5"/>
                                        </p:tgtEl>
                                        <p:attrNameLst>
                                          <p:attrName>style.visibility</p:attrName>
                                        </p:attrNameLst>
                                      </p:cBhvr>
                                      <p:to>
                                        <p:strVal val="visible"/>
                                      </p:to>
                                    </p:set>
                                    <p:animEffect filter="fade" transition="in">
                                      <p:cBhvr>
                                        <p:cTn dur="1000"/>
                                        <p:tgtEl>
                                          <p:spTgt spid="14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24"/>
          <p:cNvSpPr txBox="1"/>
          <p:nvPr>
            <p:ph type="title"/>
          </p:nvPr>
        </p:nvSpPr>
        <p:spPr>
          <a:xfrm>
            <a:off x="819150" y="3122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Robot Video #6 - Fruit Picking</a:t>
            </a:r>
            <a:endParaRPr/>
          </a:p>
        </p:txBody>
      </p:sp>
      <p:sp>
        <p:nvSpPr>
          <p:cNvPr id="151" name="Google Shape;151;p24"/>
          <p:cNvSpPr txBox="1"/>
          <p:nvPr>
            <p:ph idx="1" type="body"/>
          </p:nvPr>
        </p:nvSpPr>
        <p:spPr>
          <a:xfrm>
            <a:off x="485325" y="1152475"/>
            <a:ext cx="29583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sz="1700">
              <a:solidFill>
                <a:srgbClr val="202124"/>
              </a:solidFill>
              <a:highlight>
                <a:srgbClr val="FFFFFF"/>
              </a:highlight>
              <a:latin typeface="Roboto"/>
              <a:ea typeface="Roboto"/>
              <a:cs typeface="Roboto"/>
              <a:sym typeface="Roboto"/>
            </a:endParaRPr>
          </a:p>
        </p:txBody>
      </p:sp>
      <p:sp>
        <p:nvSpPr>
          <p:cNvPr id="152" name="Google Shape;152;p2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latin typeface="Arial"/>
                <a:ea typeface="Arial"/>
                <a:cs typeface="Arial"/>
                <a:sym typeface="Arial"/>
              </a:rPr>
              <a:t>‹#›</a:t>
            </a:fld>
            <a:endParaRPr>
              <a:latin typeface="Arial"/>
              <a:ea typeface="Arial"/>
              <a:cs typeface="Arial"/>
              <a:sym typeface="Arial"/>
            </a:endParaRPr>
          </a:p>
        </p:txBody>
      </p:sp>
      <p:pic>
        <p:nvPicPr>
          <p:cNvPr descr="Named the “Agrobot,” the robot’s designed to carry out its tasks autonomously.&#10;&#10;► Subscribe for more tech &amp; culture videos: http://on.mash.to/subscribe ◄&#10;MORE FROM MASHABLE&#10;‌• Video - https://youtu.be/1qKfvfFdJqs &#10;‌• Video - https://youtu.be/3XqRJRCSQzA &#10;‌• Video - https://youtu.be/mEmwJzQjwyw &#10;&#10;Best of playlist: Best of Mashable &#10;Tech Playlist: Tech Features &amp; Trending Coverage &#10;&#10;Keep up with us on social media&#10;Mashable.com: http://on.mash.to/1hCcRpl &#10;Facebook: http://on.mash.to/2lyOwmZ&#10;Twitter: http://on.mash.to/1Udp1kz&#10;Instagram: http://on.mash.to/1U6D40z&#10;Mashable is your source for the latest in tech, culture, and entertainment.  &#10;Subscribe to Mashable: http://on.mash.to/subscribe &#10;&#10;#farming #robotics #robots" id="153" name="Google Shape;153;p24" title="Meet the Robotic Strawberry Harvesters Picking Fresh Produce">
            <a:hlinkClick r:id="rId3"/>
          </p:cNvPr>
          <p:cNvPicPr preferRelativeResize="0"/>
          <p:nvPr/>
        </p:nvPicPr>
        <p:blipFill>
          <a:blip r:embed="rId4">
            <a:alphaModFix/>
          </a:blip>
          <a:stretch>
            <a:fillRect/>
          </a:stretch>
        </p:blipFill>
        <p:spPr>
          <a:xfrm>
            <a:off x="3596025" y="1170125"/>
            <a:ext cx="4454256" cy="334069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3"/>
                                        </p:tgtEl>
                                        <p:attrNameLst>
                                          <p:attrName>style.visibility</p:attrName>
                                        </p:attrNameLst>
                                      </p:cBhvr>
                                      <p:to>
                                        <p:strVal val="visible"/>
                                      </p:to>
                                    </p:set>
                                    <p:animEffect filter="fade" transition="in">
                                      <p:cBhvr>
                                        <p:cTn dur="1000"/>
                                        <p:tgtEl>
                                          <p:spTgt spid="15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25"/>
          <p:cNvSpPr txBox="1"/>
          <p:nvPr>
            <p:ph type="title"/>
          </p:nvPr>
        </p:nvSpPr>
        <p:spPr>
          <a:xfrm>
            <a:off x="819150" y="3122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Robot Video #7 - In Restaurants</a:t>
            </a:r>
            <a:endParaRPr/>
          </a:p>
        </p:txBody>
      </p:sp>
      <p:sp>
        <p:nvSpPr>
          <p:cNvPr id="159" name="Google Shape;159;p2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latin typeface="Arial"/>
                <a:ea typeface="Arial"/>
                <a:cs typeface="Arial"/>
                <a:sym typeface="Arial"/>
              </a:rPr>
              <a:t>‹#›</a:t>
            </a:fld>
            <a:endParaRPr>
              <a:latin typeface="Arial"/>
              <a:ea typeface="Arial"/>
              <a:cs typeface="Arial"/>
              <a:sym typeface="Arial"/>
            </a:endParaRPr>
          </a:p>
        </p:txBody>
      </p:sp>
      <p:pic>
        <p:nvPicPr>
          <p:cNvPr descr="Such a cozy place with the cutest and helpful BellaBot.You deserve to serve by it !!!Click the video and tell me how you like it.&#10;-&#10;#deliveryrobot# #foodrobot#&#10;&#10;Learn more:https://www.pudurobotics.com/product/detail/bellabot&#10;Business email:global_sales@pudutech.com&#10;&#10;Like us on Facebook: https://www.facebook.com/PuduRobotics...&#10;Follow us on Linkedin: https://www.linkedin.com/company/pudu...&#10;Follow us on Twitter:  https://twitter.com/PuduRobotics&#10;Follow us on Instagram: https://www.instagram.com/pudurobotic...&#10;&#10;Website: https://www.pudurobotics.com/" id="160" name="Google Shape;160;p25" title="BellaBot Features-BellaBot for delivery food can be change place to place">
            <a:hlinkClick r:id="rId3"/>
          </p:cNvPr>
          <p:cNvPicPr preferRelativeResize="0"/>
          <p:nvPr/>
        </p:nvPicPr>
        <p:blipFill>
          <a:blip r:embed="rId4">
            <a:alphaModFix/>
          </a:blip>
          <a:stretch>
            <a:fillRect/>
          </a:stretch>
        </p:blipFill>
        <p:spPr>
          <a:xfrm>
            <a:off x="495250" y="1479925"/>
            <a:ext cx="3727692" cy="2795775"/>
          </a:xfrm>
          <a:prstGeom prst="rect">
            <a:avLst/>
          </a:prstGeom>
          <a:noFill/>
          <a:ln>
            <a:noFill/>
          </a:ln>
        </p:spPr>
      </p:pic>
      <p:pic>
        <p:nvPicPr>
          <p:cNvPr descr="BellaBot is serving at Sushi Island on Kenmount road Canada. Go and find out how BellaBot provide a better service experience and none physical contact .&#10;-&#10;Learn more：https://pudurobotics.com/product/detail/bellabot&#10;Business email:global_sales@pudutech.com&#10;&#10;Like us on Facebook: https://www.facebook.com/PuduRobotics.cn&#10;Follow us on Linkedin:https://www.linkedin.com/company/pudurobotics/&#10;Follow us on Twitter:  https://twitter.com/PuduRobotics&#10;Follow us on Instagram: https://www.instagram.com/pudurobotics_official/&#10;&#10;Website: https://www.pudurobotics.com/" id="161" name="Google Shape;161;p25" title="Usage Scenario-Delivery robot BellaBot The first precence at Canada restaurant">
            <a:hlinkClick r:id="rId5"/>
          </p:cNvPr>
          <p:cNvPicPr preferRelativeResize="0"/>
          <p:nvPr/>
        </p:nvPicPr>
        <p:blipFill>
          <a:blip r:embed="rId6">
            <a:alphaModFix/>
          </a:blip>
          <a:stretch>
            <a:fillRect/>
          </a:stretch>
        </p:blipFill>
        <p:spPr>
          <a:xfrm>
            <a:off x="4907850" y="1353975"/>
            <a:ext cx="3895625" cy="2921729"/>
          </a:xfrm>
          <a:prstGeom prst="rect">
            <a:avLst/>
          </a:prstGeom>
          <a:noFill/>
          <a:ln>
            <a:noFill/>
          </a:ln>
        </p:spPr>
      </p:pic>
      <p:sp>
        <p:nvSpPr>
          <p:cNvPr id="162" name="Google Shape;162;p25"/>
          <p:cNvSpPr txBox="1"/>
          <p:nvPr/>
        </p:nvSpPr>
        <p:spPr>
          <a:xfrm>
            <a:off x="368825" y="953775"/>
            <a:ext cx="40005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0"/>
                                        </p:tgtEl>
                                        <p:attrNameLst>
                                          <p:attrName>style.visibility</p:attrName>
                                        </p:attrNameLst>
                                      </p:cBhvr>
                                      <p:to>
                                        <p:strVal val="visible"/>
                                      </p:to>
                                    </p:set>
                                    <p:animEffect filter="fade" transition="in">
                                      <p:cBhvr>
                                        <p:cTn dur="1000"/>
                                        <p:tgtEl>
                                          <p:spTgt spid="16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1"/>
                                        </p:tgtEl>
                                        <p:attrNameLst>
                                          <p:attrName>style.visibility</p:attrName>
                                        </p:attrNameLst>
                                      </p:cBhvr>
                                      <p:to>
                                        <p:strVal val="visible"/>
                                      </p:to>
                                    </p:set>
                                    <p:animEffect filter="fade" transition="in">
                                      <p:cBhvr>
                                        <p:cTn dur="1000"/>
                                        <p:tgtEl>
                                          <p:spTgt spid="16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26"/>
          <p:cNvSpPr txBox="1"/>
          <p:nvPr>
            <p:ph type="title"/>
          </p:nvPr>
        </p:nvSpPr>
        <p:spPr>
          <a:xfrm>
            <a:off x="819150" y="3884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Robot Video #8 - Vacuum</a:t>
            </a:r>
            <a:endParaRPr/>
          </a:p>
        </p:txBody>
      </p:sp>
      <p:sp>
        <p:nvSpPr>
          <p:cNvPr id="168" name="Google Shape;168;p26"/>
          <p:cNvSpPr txBox="1"/>
          <p:nvPr>
            <p:ph idx="1" type="body"/>
          </p:nvPr>
        </p:nvSpPr>
        <p:spPr>
          <a:xfrm>
            <a:off x="485325" y="1152475"/>
            <a:ext cx="29583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
        <p:nvSpPr>
          <p:cNvPr id="169" name="Google Shape;169;p26"/>
          <p:cNvSpPr txBox="1"/>
          <p:nvPr>
            <p:ph idx="12" type="sldNum"/>
          </p:nvPr>
        </p:nvSpPr>
        <p:spPr>
          <a:xfrm>
            <a:off x="83962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latin typeface="Arial"/>
                <a:ea typeface="Arial"/>
                <a:cs typeface="Arial"/>
                <a:sym typeface="Arial"/>
              </a:rPr>
              <a:t>‹#›</a:t>
            </a:fld>
            <a:endParaRPr>
              <a:latin typeface="Arial"/>
              <a:ea typeface="Arial"/>
              <a:cs typeface="Arial"/>
              <a:sym typeface="Arial"/>
            </a:endParaRPr>
          </a:p>
        </p:txBody>
      </p:sp>
      <p:pic>
        <p:nvPicPr>
          <p:cNvPr descr="What makes the Roomba® 900 series robot vacuum so special? Just press CLEAN, and Roomba navigates your entire home, cleaning up pet hair and debris, making sure your floors are always clean. Learn more: https://www.irobot.com/roomba/900-series &#10; &#10;Find out which robot is best for you: https://www.irobot.com/help-me-choose&#10;Facebook: https://www.facebook.com/irobot  ​ &#10;Instagram: https://www.instagram.com/irobot ​ &#10;Twitter: https://www.twitter.com/iRobot ​   &#10;LinkedIn: https://www.linkedin.com/company/irobot  ​ &#10;Support: https://homesupport.irobot.com/​ &#10;  &#10;SUBSCRIBE to get notified when new iRobot videos are posted: http://bit.ly/390fdJy.  &#10;  &#10;iRobot, the leading global consumer robot company, designs and builds robots that empower people to do more both inside and outside of the home. iRobot's products, including the award-winning Roomba® Robot Vacuum, the Braava® family of robot mops, Terra® Robot Mower and Root® Coding Robot. Our products have been welcomed into millions of homes around the world and are hard at work every day helping people to get more done. ​ &#10;  &#10;We are committed to fostering invention, discovery and technological exploration in the pursuit of practical and valuable robot products for the home. iRobot is at the forefront of developing technologies in the areas of mapping and navigation, human-robot interaction, and physical solutions. We seek to build an ecosystem of robots and technologies to enable the smart home, both through internal initiatives and by building strategic external partnerships. ​" id="170" name="Google Shape;170;p26" title="Clean Floors with the Press of a Button | Roomba® 900 series | iRobot®">
            <a:hlinkClick r:id="rId3"/>
          </p:cNvPr>
          <p:cNvPicPr preferRelativeResize="0"/>
          <p:nvPr/>
        </p:nvPicPr>
        <p:blipFill>
          <a:blip r:embed="rId4">
            <a:alphaModFix/>
          </a:blip>
          <a:stretch>
            <a:fillRect/>
          </a:stretch>
        </p:blipFill>
        <p:spPr>
          <a:xfrm>
            <a:off x="3596025" y="1170125"/>
            <a:ext cx="4454256" cy="334069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0"/>
                                        </p:tgtEl>
                                        <p:attrNameLst>
                                          <p:attrName>style.visibility</p:attrName>
                                        </p:attrNameLst>
                                      </p:cBhvr>
                                      <p:to>
                                        <p:strVal val="visible"/>
                                      </p:to>
                                    </p:set>
                                    <p:animEffect filter="fade" transition="in">
                                      <p:cBhvr>
                                        <p:cTn dur="1000"/>
                                        <p:tgtEl>
                                          <p:spTgt spid="17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27"/>
          <p:cNvSpPr txBox="1"/>
          <p:nvPr>
            <p:ph type="title"/>
          </p:nvPr>
        </p:nvSpPr>
        <p:spPr>
          <a:xfrm>
            <a:off x="356550" y="3553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Robot Video #9 - Toyota Basketball Robot</a:t>
            </a:r>
            <a:endParaRPr/>
          </a:p>
        </p:txBody>
      </p:sp>
      <p:sp>
        <p:nvSpPr>
          <p:cNvPr id="176" name="Google Shape;176;p27"/>
          <p:cNvSpPr txBox="1"/>
          <p:nvPr>
            <p:ph idx="1" type="body"/>
          </p:nvPr>
        </p:nvSpPr>
        <p:spPr>
          <a:xfrm>
            <a:off x="485325" y="1152475"/>
            <a:ext cx="29583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
        <p:nvSpPr>
          <p:cNvPr id="177" name="Google Shape;177;p2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latin typeface="Arial"/>
                <a:ea typeface="Arial"/>
                <a:cs typeface="Arial"/>
                <a:sym typeface="Arial"/>
              </a:rPr>
              <a:t>‹#›</a:t>
            </a:fld>
            <a:endParaRPr>
              <a:latin typeface="Arial"/>
              <a:ea typeface="Arial"/>
              <a:cs typeface="Arial"/>
              <a:sym typeface="Arial"/>
            </a:endParaRPr>
          </a:p>
        </p:txBody>
      </p:sp>
      <p:pic>
        <p:nvPicPr>
          <p:cNvPr descr="s/o https://twitter.com/GwashburnGlobe&#10;&#10;#nba #olympics #mlg" id="178" name="Google Shape;178;p27" title="basketball robot can't miss at half-time">
            <a:hlinkClick r:id="rId3"/>
          </p:cNvPr>
          <p:cNvPicPr preferRelativeResize="0"/>
          <p:nvPr/>
        </p:nvPicPr>
        <p:blipFill>
          <a:blip r:embed="rId4">
            <a:alphaModFix/>
          </a:blip>
          <a:stretch>
            <a:fillRect/>
          </a:stretch>
        </p:blipFill>
        <p:spPr>
          <a:xfrm>
            <a:off x="3596025" y="1170125"/>
            <a:ext cx="4454256" cy="334069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8"/>
                                        </p:tgtEl>
                                        <p:attrNameLst>
                                          <p:attrName>style.visibility</p:attrName>
                                        </p:attrNameLst>
                                      </p:cBhvr>
                                      <p:to>
                                        <p:strVal val="visible"/>
                                      </p:to>
                                    </p:set>
                                    <p:animEffect filter="fade" transition="in">
                                      <p:cBhvr>
                                        <p:cTn dur="1000"/>
                                        <p:tgtEl>
                                          <p:spTgt spid="17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28"/>
          <p:cNvSpPr txBox="1"/>
          <p:nvPr>
            <p:ph type="title"/>
          </p:nvPr>
        </p:nvSpPr>
        <p:spPr>
          <a:xfrm>
            <a:off x="819150" y="3884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Robot Video #10 - Pizza-Making Robot</a:t>
            </a:r>
            <a:endParaRPr/>
          </a:p>
        </p:txBody>
      </p:sp>
      <p:sp>
        <p:nvSpPr>
          <p:cNvPr id="184" name="Google Shape;184;p28"/>
          <p:cNvSpPr txBox="1"/>
          <p:nvPr>
            <p:ph idx="1" type="body"/>
          </p:nvPr>
        </p:nvSpPr>
        <p:spPr>
          <a:xfrm>
            <a:off x="485325" y="1152475"/>
            <a:ext cx="29583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
        <p:nvSpPr>
          <p:cNvPr id="185" name="Google Shape;185;p2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latin typeface="Arial"/>
                <a:ea typeface="Arial"/>
                <a:cs typeface="Arial"/>
                <a:sym typeface="Arial"/>
              </a:rPr>
              <a:t>‹#›</a:t>
            </a:fld>
            <a:endParaRPr>
              <a:latin typeface="Arial"/>
              <a:ea typeface="Arial"/>
              <a:cs typeface="Arial"/>
              <a:sym typeface="Arial"/>
            </a:endParaRPr>
          </a:p>
        </p:txBody>
      </p:sp>
      <p:pic>
        <p:nvPicPr>
          <p:cNvPr descr="‘Pazzi’ means ‘crazy’ in Italian – the perfect name for the world’s first autonomous pizza robot. It does everything on its own, and can make several pizzas at once. Is it a threat to the traditional pizzaioli?&#10;&#10;#PizzaRobot #Pizza # DWFood&#10;------------------------------------------------------------------------------------&#10;Subscribe to DW Food: &#10;https://bit.ly/DWFood_Sub&#10;&#10;DW Food brings you the perfect blend of culinary trends, easy DIY recipes, exciting food secrets &amp; a look behind the scenes of Europe’s culinary culture." id="186" name="Google Shape;186;p28" title="How the World’s First Autonomous Pizza Robot Works">
            <a:hlinkClick r:id="rId3"/>
          </p:cNvPr>
          <p:cNvPicPr preferRelativeResize="0"/>
          <p:nvPr/>
        </p:nvPicPr>
        <p:blipFill>
          <a:blip r:embed="rId4">
            <a:alphaModFix/>
          </a:blip>
          <a:stretch>
            <a:fillRect/>
          </a:stretch>
        </p:blipFill>
        <p:spPr>
          <a:xfrm>
            <a:off x="3596025" y="1170125"/>
            <a:ext cx="4454256" cy="334069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6"/>
                                        </p:tgtEl>
                                        <p:attrNameLst>
                                          <p:attrName>style.visibility</p:attrName>
                                        </p:attrNameLst>
                                      </p:cBhvr>
                                      <p:to>
                                        <p:strVal val="visible"/>
                                      </p:to>
                                    </p:set>
                                    <p:animEffect filter="fade" transition="in">
                                      <p:cBhvr>
                                        <p:cTn dur="1000"/>
                                        <p:tgtEl>
                                          <p:spTgt spid="18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29"/>
          <p:cNvSpPr txBox="1"/>
          <p:nvPr>
            <p:ph type="title"/>
          </p:nvPr>
        </p:nvSpPr>
        <p:spPr>
          <a:xfrm>
            <a:off x="232300" y="273975"/>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Careers in Robotics</a:t>
            </a:r>
            <a:endParaRPr/>
          </a:p>
        </p:txBody>
      </p:sp>
      <p:sp>
        <p:nvSpPr>
          <p:cNvPr id="192" name="Google Shape;192;p29"/>
          <p:cNvSpPr txBox="1"/>
          <p:nvPr>
            <p:ph idx="1" type="body"/>
          </p:nvPr>
        </p:nvSpPr>
        <p:spPr>
          <a:xfrm>
            <a:off x="311700" y="1105475"/>
            <a:ext cx="8424300" cy="3692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700">
                <a:latin typeface="Comic Sans MS"/>
                <a:ea typeface="Comic Sans MS"/>
                <a:cs typeface="Comic Sans MS"/>
                <a:sym typeface="Comic Sans MS"/>
              </a:rPr>
              <a:t>Robotics is an interdisciplinary field that draws ideas from </a:t>
            </a:r>
            <a:r>
              <a:rPr lang="en" sz="1700">
                <a:latin typeface="Comic Sans MS"/>
                <a:ea typeface="Comic Sans MS"/>
                <a:cs typeface="Comic Sans MS"/>
                <a:sym typeface="Comic Sans MS"/>
              </a:rPr>
              <a:t>electrical</a:t>
            </a:r>
            <a:r>
              <a:rPr lang="en" sz="1700">
                <a:latin typeface="Comic Sans MS"/>
                <a:ea typeface="Comic Sans MS"/>
                <a:cs typeface="Comic Sans MS"/>
                <a:sym typeface="Comic Sans MS"/>
              </a:rPr>
              <a:t> engineering, mechanical engineering, and computer science (including artificial intelligence).</a:t>
            </a:r>
            <a:endParaRPr sz="1700">
              <a:latin typeface="Comic Sans MS"/>
              <a:ea typeface="Comic Sans MS"/>
              <a:cs typeface="Comic Sans MS"/>
              <a:sym typeface="Comic Sans MS"/>
            </a:endParaRPr>
          </a:p>
          <a:p>
            <a:pPr indent="0" lvl="0" marL="0" rtl="0" algn="l">
              <a:spcBef>
                <a:spcPts val="1200"/>
              </a:spcBef>
              <a:spcAft>
                <a:spcPts val="0"/>
              </a:spcAft>
              <a:buNone/>
            </a:pPr>
            <a:r>
              <a:rPr b="1" lang="en" sz="1400">
                <a:latin typeface="Comic Sans MS"/>
                <a:ea typeface="Comic Sans MS"/>
                <a:cs typeface="Comic Sans MS"/>
                <a:sym typeface="Comic Sans MS"/>
              </a:rPr>
              <a:t>Roboticist: </a:t>
            </a:r>
            <a:r>
              <a:rPr lang="en" sz="1400">
                <a:latin typeface="Comic Sans MS"/>
                <a:ea typeface="Comic Sans MS"/>
                <a:cs typeface="Comic Sans MS"/>
                <a:sym typeface="Comic Sans MS"/>
              </a:rPr>
              <a:t>They are people who work with robots. They are specialized in the following areas: </a:t>
            </a:r>
            <a:endParaRPr sz="1400">
              <a:latin typeface="Comic Sans MS"/>
              <a:ea typeface="Comic Sans MS"/>
              <a:cs typeface="Comic Sans MS"/>
              <a:sym typeface="Comic Sans MS"/>
            </a:endParaRPr>
          </a:p>
          <a:p>
            <a:pPr indent="-292100" lvl="0" marL="457200" rtl="0" algn="l">
              <a:spcBef>
                <a:spcPts val="1200"/>
              </a:spcBef>
              <a:spcAft>
                <a:spcPts val="0"/>
              </a:spcAft>
              <a:buSzPts val="1000"/>
              <a:buFont typeface="Comic Sans MS"/>
              <a:buChar char="●"/>
            </a:pPr>
            <a:r>
              <a:rPr b="1" lang="en" sz="1000">
                <a:latin typeface="Comic Sans MS"/>
                <a:ea typeface="Comic Sans MS"/>
                <a:cs typeface="Comic Sans MS"/>
                <a:sym typeface="Comic Sans MS"/>
              </a:rPr>
              <a:t>Mechanical Engineer:</a:t>
            </a:r>
            <a:r>
              <a:rPr lang="en" sz="1000">
                <a:latin typeface="Comic Sans MS"/>
                <a:ea typeface="Comic Sans MS"/>
                <a:cs typeface="Comic Sans MS"/>
                <a:sym typeface="Comic Sans MS"/>
              </a:rPr>
              <a:t> Concerned with the physical and mechanical movement of robots and how they can operate efficiently e.g. how the legs moves and </a:t>
            </a:r>
            <a:r>
              <a:rPr lang="en" sz="1000">
                <a:latin typeface="Comic Sans MS"/>
                <a:ea typeface="Comic Sans MS"/>
                <a:cs typeface="Comic Sans MS"/>
                <a:sym typeface="Comic Sans MS"/>
              </a:rPr>
              <a:t>ensure they can balance</a:t>
            </a:r>
            <a:endParaRPr sz="1000">
              <a:latin typeface="Comic Sans MS"/>
              <a:ea typeface="Comic Sans MS"/>
              <a:cs typeface="Comic Sans MS"/>
              <a:sym typeface="Comic Sans MS"/>
            </a:endParaRPr>
          </a:p>
          <a:p>
            <a:pPr indent="-292100" lvl="0" marL="457200" rtl="0" algn="l">
              <a:spcBef>
                <a:spcPts val="0"/>
              </a:spcBef>
              <a:spcAft>
                <a:spcPts val="0"/>
              </a:spcAft>
              <a:buSzPts val="1000"/>
              <a:buFont typeface="Comic Sans MS"/>
              <a:buChar char="●"/>
            </a:pPr>
            <a:r>
              <a:rPr b="1" lang="en" sz="1000">
                <a:latin typeface="Comic Sans MS"/>
                <a:ea typeface="Comic Sans MS"/>
                <a:cs typeface="Comic Sans MS"/>
                <a:sym typeface="Comic Sans MS"/>
              </a:rPr>
              <a:t>Electrical Engineer</a:t>
            </a:r>
            <a:r>
              <a:rPr lang="en" sz="1000">
                <a:latin typeface="Comic Sans MS"/>
                <a:ea typeface="Comic Sans MS"/>
                <a:cs typeface="Comic Sans MS"/>
                <a:sym typeface="Comic Sans MS"/>
              </a:rPr>
              <a:t>: Concerned with the sensors and other electronic circuitry that make up the robot e.g. the camera and microphones</a:t>
            </a:r>
            <a:endParaRPr b="1" sz="1000">
              <a:latin typeface="Comic Sans MS"/>
              <a:ea typeface="Comic Sans MS"/>
              <a:cs typeface="Comic Sans MS"/>
              <a:sym typeface="Comic Sans MS"/>
            </a:endParaRPr>
          </a:p>
          <a:p>
            <a:pPr indent="-292100" lvl="0" marL="457200" rtl="0" algn="l">
              <a:spcBef>
                <a:spcPts val="0"/>
              </a:spcBef>
              <a:spcAft>
                <a:spcPts val="0"/>
              </a:spcAft>
              <a:buSzPts val="1000"/>
              <a:buFont typeface="Comic Sans MS"/>
              <a:buChar char="●"/>
            </a:pPr>
            <a:r>
              <a:rPr b="1" lang="en" sz="1000">
                <a:latin typeface="Comic Sans MS"/>
                <a:ea typeface="Comic Sans MS"/>
                <a:cs typeface="Comic Sans MS"/>
                <a:sym typeface="Comic Sans MS"/>
              </a:rPr>
              <a:t>Computer Scientist: </a:t>
            </a:r>
            <a:r>
              <a:rPr lang="en" sz="1000">
                <a:latin typeface="Comic Sans MS"/>
                <a:ea typeface="Comic Sans MS"/>
                <a:cs typeface="Comic Sans MS"/>
                <a:sym typeface="Comic Sans MS"/>
              </a:rPr>
              <a:t>They write the code that makes the robots function e.g. instructions that help a robot complete its tasks</a:t>
            </a:r>
            <a:endParaRPr sz="1000">
              <a:latin typeface="Comic Sans MS"/>
              <a:ea typeface="Comic Sans MS"/>
              <a:cs typeface="Comic Sans MS"/>
              <a:sym typeface="Comic Sans MS"/>
            </a:endParaRPr>
          </a:p>
          <a:p>
            <a:pPr indent="0" lvl="0" marL="457200" rtl="0" algn="l">
              <a:spcBef>
                <a:spcPts val="1200"/>
              </a:spcBef>
              <a:spcAft>
                <a:spcPts val="0"/>
              </a:spcAft>
              <a:buNone/>
            </a:pPr>
            <a:r>
              <a:t/>
            </a:r>
            <a:endParaRPr sz="1000"/>
          </a:p>
          <a:p>
            <a:pPr indent="0" lvl="0" marL="0" rtl="0" algn="l">
              <a:spcBef>
                <a:spcPts val="1200"/>
              </a:spcBef>
              <a:spcAft>
                <a:spcPts val="1200"/>
              </a:spcAft>
              <a:buNone/>
            </a:pPr>
            <a:r>
              <a:t/>
            </a:r>
            <a:endParaRPr/>
          </a:p>
        </p:txBody>
      </p:sp>
      <p:sp>
        <p:nvSpPr>
          <p:cNvPr id="193" name="Google Shape;193;p2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latin typeface="Arial"/>
                <a:ea typeface="Arial"/>
                <a:cs typeface="Arial"/>
                <a:sym typeface="Arial"/>
              </a:rPr>
              <a:t>‹#›</a:t>
            </a:fld>
            <a:endParaRPr>
              <a:latin typeface="Arial"/>
              <a:ea typeface="Arial"/>
              <a:cs typeface="Arial"/>
              <a:sym typeface="Arial"/>
            </a:endParaRPr>
          </a:p>
        </p:txBody>
      </p:sp>
      <p:pic>
        <p:nvPicPr>
          <p:cNvPr id="194" name="Google Shape;194;p29"/>
          <p:cNvPicPr preferRelativeResize="0"/>
          <p:nvPr/>
        </p:nvPicPr>
        <p:blipFill rotWithShape="1">
          <a:blip r:embed="rId3">
            <a:alphaModFix/>
          </a:blip>
          <a:srcRect b="0" l="0" r="0" t="6690"/>
          <a:stretch/>
        </p:blipFill>
        <p:spPr>
          <a:xfrm>
            <a:off x="6002150" y="-19825"/>
            <a:ext cx="3008875" cy="1248400"/>
          </a:xfrm>
          <a:prstGeom prst="rect">
            <a:avLst/>
          </a:prstGeom>
          <a:noFill/>
          <a:ln>
            <a:noFill/>
          </a:ln>
        </p:spPr>
      </p:pic>
      <p:pic>
        <p:nvPicPr>
          <p:cNvPr id="195" name="Google Shape;195;p29"/>
          <p:cNvPicPr preferRelativeResize="0"/>
          <p:nvPr/>
        </p:nvPicPr>
        <p:blipFill rotWithShape="1">
          <a:blip r:embed="rId4">
            <a:alphaModFix/>
          </a:blip>
          <a:srcRect b="0" l="15457" r="12413" t="0"/>
          <a:stretch/>
        </p:blipFill>
        <p:spPr>
          <a:xfrm>
            <a:off x="761550" y="3349475"/>
            <a:ext cx="1648399" cy="1498772"/>
          </a:xfrm>
          <a:prstGeom prst="rect">
            <a:avLst/>
          </a:prstGeom>
          <a:noFill/>
          <a:ln>
            <a:noFill/>
          </a:ln>
        </p:spPr>
      </p:pic>
      <p:pic>
        <p:nvPicPr>
          <p:cNvPr id="196" name="Google Shape;196;p29"/>
          <p:cNvPicPr preferRelativeResize="0"/>
          <p:nvPr/>
        </p:nvPicPr>
        <p:blipFill>
          <a:blip r:embed="rId5">
            <a:alphaModFix/>
          </a:blip>
          <a:stretch>
            <a:fillRect/>
          </a:stretch>
        </p:blipFill>
        <p:spPr>
          <a:xfrm>
            <a:off x="4363775" y="3349475"/>
            <a:ext cx="2132320" cy="1498774"/>
          </a:xfrm>
          <a:prstGeom prst="rect">
            <a:avLst/>
          </a:prstGeom>
          <a:noFill/>
          <a:ln>
            <a:noFill/>
          </a:ln>
        </p:spPr>
      </p:pic>
      <p:pic>
        <p:nvPicPr>
          <p:cNvPr id="197" name="Google Shape;197;p29"/>
          <p:cNvPicPr preferRelativeResize="0"/>
          <p:nvPr/>
        </p:nvPicPr>
        <p:blipFill rotWithShape="1">
          <a:blip r:embed="rId6">
            <a:alphaModFix/>
          </a:blip>
          <a:srcRect b="0" l="11349" r="12633" t="0"/>
          <a:stretch/>
        </p:blipFill>
        <p:spPr>
          <a:xfrm>
            <a:off x="2517672" y="3349475"/>
            <a:ext cx="1738380" cy="149877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30"/>
          <p:cNvSpPr txBox="1"/>
          <p:nvPr>
            <p:ph type="title"/>
          </p:nvPr>
        </p:nvSpPr>
        <p:spPr>
          <a:xfrm>
            <a:off x="395775" y="312200"/>
            <a:ext cx="8431500" cy="9546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Dr.  Ayanna Howard</a:t>
            </a:r>
            <a:br>
              <a:rPr lang="en">
                <a:solidFill>
                  <a:schemeClr val="dk1"/>
                </a:solidFill>
              </a:rPr>
            </a:br>
            <a:r>
              <a:rPr i="1" lang="en" sz="2577"/>
              <a:t>Roboticist, NASA Engineer, Entrepreneur, Professor, &amp; Dean </a:t>
            </a:r>
            <a:endParaRPr/>
          </a:p>
        </p:txBody>
      </p:sp>
      <p:sp>
        <p:nvSpPr>
          <p:cNvPr id="203" name="Google Shape;203;p3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latin typeface="Arial"/>
                <a:ea typeface="Arial"/>
                <a:cs typeface="Arial"/>
                <a:sym typeface="Arial"/>
              </a:rPr>
              <a:t>‹#›</a:t>
            </a:fld>
            <a:endParaRPr>
              <a:latin typeface="Arial"/>
              <a:ea typeface="Arial"/>
              <a:cs typeface="Arial"/>
              <a:sym typeface="Arial"/>
            </a:endParaRPr>
          </a:p>
        </p:txBody>
      </p:sp>
      <p:pic>
        <p:nvPicPr>
          <p:cNvPr id="204" name="Google Shape;204;p30"/>
          <p:cNvPicPr preferRelativeResize="0"/>
          <p:nvPr/>
        </p:nvPicPr>
        <p:blipFill>
          <a:blip r:embed="rId3">
            <a:alphaModFix/>
          </a:blip>
          <a:stretch>
            <a:fillRect/>
          </a:stretch>
        </p:blipFill>
        <p:spPr>
          <a:xfrm>
            <a:off x="311700" y="1996573"/>
            <a:ext cx="4260300" cy="2394001"/>
          </a:xfrm>
          <a:prstGeom prst="rect">
            <a:avLst/>
          </a:prstGeom>
          <a:noFill/>
          <a:ln>
            <a:noFill/>
          </a:ln>
        </p:spPr>
      </p:pic>
      <p:pic>
        <p:nvPicPr>
          <p:cNvPr descr="Growing up, Howard was obsessed with creating robots. She earned her Ph.D. in Electrical Engineering and by the time she was 27 she landed her dream job at NASA's Jet Propulsion Laboratory (JPL). Howard describes an experience early on in her career at JPL and how courage is a necessary part of the invention process.&#10;&#10;• Read Being Different Helped A NASA Roboticist Achieve Her Dream at www.npr.org/2017/12/08/569474169/being-different-helped-a-nasa-roboticist-achieve-her-dream&#10;&#10;------------------------------------------------------&#10;&#10;Subscribe to NPR on YouTube: https://www.youtube.com/npr&#10;&#10;Follow NPR elsewhere, too:&#10;• Twitter: https://twitter.com/npr&#10;• Facebook: https://www.facebook.com/NPR&#10;• Instagram: https://www.instagram.com/npr/&#10;• Tumblr: http://npr.tumblr.com/&#10;• Snapchat: https://www.snapchat.com/add/npr&#10;&#10;ABOUT NPR&#10;NPR connects to audiences on the air, on demand, online, and in person. More than 26 million radio listeners tune in to NPR stations each week and more than 36 million unique visitors access NPR.org each month making NPR one of the most trusted sources of news and insights on life and the arts. NPR is also the leading publisher of podcasts, with 36 original shows and an average of 4 million listeners per week. NPR shares compelling stories, audio and photos with millions of social media users on Facebook, Twitter, Instagram, Pinterest, YouTube and Snapchat; NPR News and NPR One apps, online streaming, podcasts, iTunes radio and connected car dashboards help meet audiences where they are. NPR's live events bring to the stage two-way conversations between NPR hosts and the audience in collaboration with the public radio Member Station community. This robust access to public service journalism makes NPR an indispensable resource in the media landscape." id="205" name="Google Shape;205;p30" title="The Courage To Invent: A NASA Roboticist Tells Her Story | Joe's Big Idea| NPR">
            <a:hlinkClick r:id="rId4"/>
          </p:cNvPr>
          <p:cNvPicPr preferRelativeResize="0"/>
          <p:nvPr/>
        </p:nvPicPr>
        <p:blipFill>
          <a:blip r:embed="rId5">
            <a:alphaModFix/>
          </a:blip>
          <a:stretch>
            <a:fillRect/>
          </a:stretch>
        </p:blipFill>
        <p:spPr>
          <a:xfrm>
            <a:off x="4938024" y="1628900"/>
            <a:ext cx="3889400" cy="2917050"/>
          </a:xfrm>
          <a:prstGeom prst="rect">
            <a:avLst/>
          </a:prstGeom>
          <a:noFill/>
          <a:ln>
            <a:noFill/>
          </a:ln>
        </p:spPr>
      </p:pic>
      <p:sp>
        <p:nvSpPr>
          <p:cNvPr id="206" name="Google Shape;206;p30"/>
          <p:cNvSpPr txBox="1"/>
          <p:nvPr/>
        </p:nvSpPr>
        <p:spPr>
          <a:xfrm>
            <a:off x="5293025" y="4472100"/>
            <a:ext cx="3179400" cy="615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t>Learn more about her journey. Watch &amp; </a:t>
            </a:r>
            <a:r>
              <a:rPr b="1" lang="en" u="sng">
                <a:solidFill>
                  <a:schemeClr val="hlink"/>
                </a:solidFill>
                <a:hlinkClick r:id="rId6"/>
              </a:rPr>
              <a:t>Read</a:t>
            </a:r>
            <a:r>
              <a:rPr b="1" lang="en"/>
              <a:t>, </a:t>
            </a:r>
            <a:r>
              <a:rPr b="1" lang="en" u="sng">
                <a:solidFill>
                  <a:schemeClr val="hlink"/>
                </a:solidFill>
                <a:hlinkClick r:id="rId7"/>
              </a:rPr>
              <a:t>Deeper Read</a:t>
            </a:r>
            <a:r>
              <a:rPr b="1" lang="en"/>
              <a:t> </a:t>
            </a:r>
            <a:endParaRPr b="1"/>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5"/>
                                        </p:tgtEl>
                                        <p:attrNameLst>
                                          <p:attrName>style.visibility</p:attrName>
                                        </p:attrNameLst>
                                      </p:cBhvr>
                                      <p:to>
                                        <p:strVal val="visible"/>
                                      </p:to>
                                    </p:set>
                                    <p:animEffect filter="fade" transition="in">
                                      <p:cBhvr>
                                        <p:cTn dur="1000"/>
                                        <p:tgtEl>
                                          <p:spTgt spid="20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3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Varieties of Autonomous Robots</a:t>
            </a:r>
            <a:endParaRPr/>
          </a:p>
        </p:txBody>
      </p:sp>
      <p:sp>
        <p:nvSpPr>
          <p:cNvPr id="212" name="Google Shape;212;p3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n"/>
              <a:t>Five warehouse robots: </a:t>
            </a:r>
            <a:r>
              <a:rPr lang="en" u="sng">
                <a:solidFill>
                  <a:schemeClr val="hlink"/>
                </a:solidFill>
                <a:hlinkClick r:id="rId3"/>
              </a:rPr>
              <a:t>https://www.youtube.com/watch?v=9mG1bgs_ND0</a:t>
            </a:r>
            <a:endParaRPr/>
          </a:p>
          <a:p>
            <a:pPr indent="0" lvl="0" marL="0" rtl="0" algn="l">
              <a:spcBef>
                <a:spcPts val="1200"/>
              </a:spcBef>
              <a:spcAft>
                <a:spcPts val="0"/>
              </a:spcAft>
              <a:buClr>
                <a:schemeClr val="dk1"/>
              </a:buClr>
              <a:buSzPts val="1100"/>
              <a:buFont typeface="Arial"/>
              <a:buNone/>
            </a:pPr>
            <a:r>
              <a:rPr lang="en"/>
              <a:t>This was video #4 in the preceding exercise.</a:t>
            </a:r>
            <a:endParaRPr/>
          </a:p>
          <a:p>
            <a:pPr indent="0" lvl="0" marL="0" rtl="0" algn="l">
              <a:spcBef>
                <a:spcPts val="1200"/>
              </a:spcBef>
              <a:spcAft>
                <a:spcPts val="0"/>
              </a:spcAft>
              <a:buClr>
                <a:schemeClr val="dk1"/>
              </a:buClr>
              <a:buSzPts val="1100"/>
              <a:buFont typeface="Arial"/>
              <a:buNone/>
            </a:pPr>
            <a:r>
              <a:t/>
            </a:r>
            <a:endParaRPr/>
          </a:p>
          <a:p>
            <a:pPr indent="0" lvl="0" marL="0" rtl="0" algn="l">
              <a:spcBef>
                <a:spcPts val="1200"/>
              </a:spcBef>
              <a:spcAft>
                <a:spcPts val="1200"/>
              </a:spcAft>
              <a:buNone/>
            </a:pPr>
            <a:r>
              <a:t/>
            </a:r>
            <a:endParaRPr/>
          </a:p>
        </p:txBody>
      </p:sp>
      <p:sp>
        <p:nvSpPr>
          <p:cNvPr id="213" name="Google Shape;213;p3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latin typeface="Arial"/>
                <a:ea typeface="Arial"/>
                <a:cs typeface="Arial"/>
                <a:sym typeface="Arial"/>
              </a:rPr>
              <a:t>‹#›</a:t>
            </a:fld>
            <a:endParaRPr>
              <a:latin typeface="Arial"/>
              <a:ea typeface="Arial"/>
              <a:cs typeface="Arial"/>
              <a:sym typeface="Arial"/>
            </a:endParaRPr>
          </a:p>
        </p:txBody>
      </p:sp>
      <p:sp>
        <p:nvSpPr>
          <p:cNvPr id="214" name="Google Shape;214;p31"/>
          <p:cNvSpPr txBox="1"/>
          <p:nvPr/>
        </p:nvSpPr>
        <p:spPr>
          <a:xfrm>
            <a:off x="6076700" y="434050"/>
            <a:ext cx="2864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u="sng">
                <a:solidFill>
                  <a:schemeClr val="hlink"/>
                </a:solidFill>
                <a:hlinkClick r:id="rId4"/>
              </a:rPr>
              <a:t>Learn more about robots</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3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My Dream Bot</a:t>
            </a:r>
            <a:endParaRPr/>
          </a:p>
        </p:txBody>
      </p:sp>
      <p:sp>
        <p:nvSpPr>
          <p:cNvPr id="220" name="Google Shape;220;p3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fontScale="85000" lnSpcReduction="20000"/>
          </a:bodyPr>
          <a:lstStyle/>
          <a:p>
            <a:pPr indent="0" lvl="0" marL="0" rtl="0" algn="ctr">
              <a:spcBef>
                <a:spcPts val="0"/>
              </a:spcBef>
              <a:spcAft>
                <a:spcPts val="0"/>
              </a:spcAft>
              <a:buNone/>
            </a:pPr>
            <a:r>
              <a:rPr lang="en"/>
              <a:t>Over the course of Unit 1, you will design your own dream robot.</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3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28947"/>
              <a:buFont typeface="Arial"/>
              <a:buNone/>
            </a:pPr>
            <a:r>
              <a:rPr lang="en" sz="3420">
                <a:latin typeface="Comic Sans MS"/>
                <a:ea typeface="Comic Sans MS"/>
                <a:cs typeface="Comic Sans MS"/>
                <a:sym typeface="Comic Sans MS"/>
              </a:rPr>
              <a:t>Module 1.2 (B): Exit Ticket</a:t>
            </a:r>
            <a:endParaRPr sz="3420">
              <a:latin typeface="Comic Sans MS"/>
              <a:ea typeface="Comic Sans MS"/>
              <a:cs typeface="Comic Sans MS"/>
              <a:sym typeface="Comic Sans MS"/>
            </a:endParaRPr>
          </a:p>
          <a:p>
            <a:pPr indent="0" lvl="0" marL="0" rtl="0" algn="l">
              <a:spcBef>
                <a:spcPts val="0"/>
              </a:spcBef>
              <a:spcAft>
                <a:spcPts val="0"/>
              </a:spcAft>
              <a:buNone/>
            </a:pPr>
            <a:r>
              <a:t/>
            </a:r>
            <a:endParaRPr/>
          </a:p>
        </p:txBody>
      </p:sp>
      <p:sp>
        <p:nvSpPr>
          <p:cNvPr id="226" name="Google Shape;226;p3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n" sz="3100">
                <a:solidFill>
                  <a:srgbClr val="65D8C0"/>
                </a:solidFill>
                <a:latin typeface="Comic Sans MS"/>
                <a:ea typeface="Comic Sans MS"/>
                <a:cs typeface="Comic Sans MS"/>
                <a:sym typeface="Comic Sans MS"/>
              </a:rPr>
              <a:t>Let’s make your dream robot autonomous!</a:t>
            </a:r>
            <a:endParaRPr sz="3100">
              <a:solidFill>
                <a:srgbClr val="65D8C0"/>
              </a:solidFill>
              <a:latin typeface="Comic Sans MS"/>
              <a:ea typeface="Comic Sans MS"/>
              <a:cs typeface="Comic Sans MS"/>
              <a:sym typeface="Comic Sans MS"/>
            </a:endParaRPr>
          </a:p>
          <a:p>
            <a:pPr indent="0" lvl="0" marL="0" rtl="0" algn="l">
              <a:spcBef>
                <a:spcPts val="1200"/>
              </a:spcBef>
              <a:spcAft>
                <a:spcPts val="0"/>
              </a:spcAft>
              <a:buNone/>
            </a:pPr>
            <a:r>
              <a:rPr lang="en" sz="2400">
                <a:solidFill>
                  <a:srgbClr val="000000"/>
                </a:solidFill>
                <a:latin typeface="Comic Sans MS"/>
                <a:ea typeface="Comic Sans MS"/>
                <a:cs typeface="Comic Sans MS"/>
                <a:sym typeface="Comic Sans MS"/>
              </a:rPr>
              <a:t>What decisions can your robot make?</a:t>
            </a:r>
            <a:endParaRPr sz="2400">
              <a:solidFill>
                <a:srgbClr val="000000"/>
              </a:solidFill>
              <a:latin typeface="Comic Sans MS"/>
              <a:ea typeface="Comic Sans MS"/>
              <a:cs typeface="Comic Sans MS"/>
              <a:sym typeface="Comic Sans MS"/>
            </a:endParaRPr>
          </a:p>
          <a:p>
            <a:pPr indent="-381000" lvl="0" marL="457200" rtl="0" algn="l">
              <a:spcBef>
                <a:spcPts val="0"/>
              </a:spcBef>
              <a:spcAft>
                <a:spcPts val="0"/>
              </a:spcAft>
              <a:buClr>
                <a:srgbClr val="000000"/>
              </a:buClr>
              <a:buSzPts val="2400"/>
              <a:buFont typeface="Comic Sans MS"/>
              <a:buAutoNum type="arabicPeriod"/>
            </a:pPr>
            <a:r>
              <a:rPr lang="en" sz="2400">
                <a:solidFill>
                  <a:srgbClr val="000000"/>
                </a:solidFill>
                <a:latin typeface="Comic Sans MS"/>
                <a:ea typeface="Comic Sans MS"/>
                <a:cs typeface="Comic Sans MS"/>
                <a:sym typeface="Comic Sans MS"/>
              </a:rPr>
              <a:t>…</a:t>
            </a:r>
            <a:endParaRPr sz="2400">
              <a:solidFill>
                <a:srgbClr val="000000"/>
              </a:solidFill>
              <a:latin typeface="Comic Sans MS"/>
              <a:ea typeface="Comic Sans MS"/>
              <a:cs typeface="Comic Sans MS"/>
              <a:sym typeface="Comic Sans MS"/>
            </a:endParaRPr>
          </a:p>
          <a:p>
            <a:pPr indent="-381000" lvl="0" marL="457200" rtl="0" algn="l">
              <a:spcBef>
                <a:spcPts val="0"/>
              </a:spcBef>
              <a:spcAft>
                <a:spcPts val="0"/>
              </a:spcAft>
              <a:buClr>
                <a:srgbClr val="000000"/>
              </a:buClr>
              <a:buSzPts val="2400"/>
              <a:buFont typeface="Comic Sans MS"/>
              <a:buAutoNum type="arabicPeriod"/>
            </a:pPr>
            <a:r>
              <a:rPr lang="en" sz="2400">
                <a:solidFill>
                  <a:srgbClr val="000000"/>
                </a:solidFill>
                <a:latin typeface="Comic Sans MS"/>
                <a:ea typeface="Comic Sans MS"/>
                <a:cs typeface="Comic Sans MS"/>
                <a:sym typeface="Comic Sans MS"/>
              </a:rPr>
              <a:t>…</a:t>
            </a:r>
            <a:endParaRPr sz="2400">
              <a:solidFill>
                <a:srgbClr val="000000"/>
              </a:solidFill>
              <a:latin typeface="Comic Sans MS"/>
              <a:ea typeface="Comic Sans MS"/>
              <a:cs typeface="Comic Sans MS"/>
              <a:sym typeface="Comic Sans MS"/>
            </a:endParaRPr>
          </a:p>
          <a:p>
            <a:pPr indent="-381000" lvl="0" marL="457200" rtl="0" algn="l">
              <a:spcBef>
                <a:spcPts val="0"/>
              </a:spcBef>
              <a:spcAft>
                <a:spcPts val="0"/>
              </a:spcAft>
              <a:buClr>
                <a:srgbClr val="000000"/>
              </a:buClr>
              <a:buSzPts val="2400"/>
              <a:buFont typeface="Comic Sans MS"/>
              <a:buAutoNum type="arabicPeriod"/>
            </a:pPr>
            <a:r>
              <a:rPr lang="en" sz="2400">
                <a:solidFill>
                  <a:srgbClr val="000000"/>
                </a:solidFill>
                <a:latin typeface="Comic Sans MS"/>
                <a:ea typeface="Comic Sans MS"/>
                <a:cs typeface="Comic Sans MS"/>
                <a:sym typeface="Comic Sans MS"/>
              </a:rPr>
              <a:t>…</a:t>
            </a:r>
            <a:endParaRPr sz="2400">
              <a:solidFill>
                <a:srgbClr val="000000"/>
              </a:solidFill>
              <a:latin typeface="Comic Sans MS"/>
              <a:ea typeface="Comic Sans MS"/>
              <a:cs typeface="Comic Sans MS"/>
              <a:sym typeface="Comic Sans MS"/>
            </a:endParaRPr>
          </a:p>
          <a:p>
            <a:pPr indent="-381000" lvl="0" marL="457200" rtl="0" algn="l">
              <a:spcBef>
                <a:spcPts val="0"/>
              </a:spcBef>
              <a:spcAft>
                <a:spcPts val="0"/>
              </a:spcAft>
              <a:buClr>
                <a:srgbClr val="000000"/>
              </a:buClr>
              <a:buSzPts val="2400"/>
              <a:buFont typeface="Comic Sans MS"/>
              <a:buAutoNum type="arabicPeriod"/>
            </a:pPr>
            <a:r>
              <a:rPr lang="en" sz="2400">
                <a:solidFill>
                  <a:srgbClr val="000000"/>
                </a:solidFill>
                <a:latin typeface="Comic Sans MS"/>
                <a:ea typeface="Comic Sans MS"/>
                <a:cs typeface="Comic Sans MS"/>
                <a:sym typeface="Comic Sans MS"/>
              </a:rPr>
              <a:t>…</a:t>
            </a:r>
            <a:endParaRPr sz="2400">
              <a:solidFill>
                <a:srgbClr val="000000"/>
              </a:solidFill>
              <a:latin typeface="Comic Sans MS"/>
              <a:ea typeface="Comic Sans MS"/>
              <a:cs typeface="Comic Sans MS"/>
              <a:sym typeface="Comic Sans MS"/>
            </a:endParaRPr>
          </a:p>
          <a:p>
            <a:pPr indent="-381000" lvl="0" marL="457200" rtl="0" algn="l">
              <a:spcBef>
                <a:spcPts val="0"/>
              </a:spcBef>
              <a:spcAft>
                <a:spcPts val="0"/>
              </a:spcAft>
              <a:buClr>
                <a:srgbClr val="000000"/>
              </a:buClr>
              <a:buSzPts val="2400"/>
              <a:buFont typeface="Comic Sans MS"/>
              <a:buAutoNum type="arabicPeriod"/>
            </a:pPr>
            <a:r>
              <a:rPr lang="en" sz="2400">
                <a:solidFill>
                  <a:srgbClr val="000000"/>
                </a:solidFill>
                <a:latin typeface="Comic Sans MS"/>
                <a:ea typeface="Comic Sans MS"/>
                <a:cs typeface="Comic Sans MS"/>
                <a:sym typeface="Comic Sans MS"/>
              </a:rPr>
              <a:t>…</a:t>
            </a:r>
            <a:endParaRPr sz="3100">
              <a:solidFill>
                <a:srgbClr val="000000"/>
              </a:solidFill>
              <a:latin typeface="Comic Sans MS"/>
              <a:ea typeface="Comic Sans MS"/>
              <a:cs typeface="Comic Sans MS"/>
              <a:sym typeface="Comic Sans MS"/>
            </a:endParaRPr>
          </a:p>
        </p:txBody>
      </p:sp>
      <p:sp>
        <p:nvSpPr>
          <p:cNvPr id="227" name="Google Shape;227;p33"/>
          <p:cNvSpPr txBox="1"/>
          <p:nvPr/>
        </p:nvSpPr>
        <p:spPr>
          <a:xfrm>
            <a:off x="6331800" y="76275"/>
            <a:ext cx="2812200" cy="1025100"/>
          </a:xfrm>
          <a:prstGeom prst="rect">
            <a:avLst/>
          </a:prstGeom>
          <a:noFill/>
          <a:ln cap="flat" cmpd="sng" w="19050">
            <a:solidFill>
              <a:srgbClr val="FF0000"/>
            </a:solidFill>
            <a:prstDash val="dash"/>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Clr>
                <a:srgbClr val="000000"/>
              </a:buClr>
              <a:buSzPts val="990"/>
              <a:buFont typeface="Arial"/>
              <a:buNone/>
            </a:pPr>
            <a:r>
              <a:rPr b="1" lang="en" sz="1820">
                <a:solidFill>
                  <a:srgbClr val="0000FF"/>
                </a:solidFill>
                <a:latin typeface="Comic Sans MS"/>
                <a:ea typeface="Comic Sans MS"/>
                <a:cs typeface="Comic Sans MS"/>
                <a:sym typeface="Comic Sans MS"/>
              </a:rPr>
              <a:t>Tip: Students should complete in their </a:t>
            </a:r>
            <a:r>
              <a:rPr b="1" lang="en" sz="1820" u="sng">
                <a:solidFill>
                  <a:srgbClr val="0000FF"/>
                </a:solidFill>
                <a:latin typeface="Comic Sans MS"/>
                <a:ea typeface="Comic Sans MS"/>
                <a:cs typeface="Comic Sans MS"/>
                <a:sym typeface="Comic Sans MS"/>
              </a:rPr>
              <a:t>own </a:t>
            </a:r>
            <a:r>
              <a:rPr b="1" lang="en" sz="1820">
                <a:solidFill>
                  <a:srgbClr val="0000FF"/>
                </a:solidFill>
                <a:latin typeface="Comic Sans MS"/>
                <a:ea typeface="Comic Sans MS"/>
                <a:cs typeface="Comic Sans MS"/>
                <a:sym typeface="Comic Sans MS"/>
              </a:rPr>
              <a:t> Dream Bot slides</a:t>
            </a:r>
            <a:endParaRPr>
              <a:solidFill>
                <a:srgbClr val="0000FF"/>
              </a:solidFill>
              <a:latin typeface="Open Sans"/>
              <a:ea typeface="Open Sans"/>
              <a:cs typeface="Open Sans"/>
              <a:sym typeface="Open Sans"/>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