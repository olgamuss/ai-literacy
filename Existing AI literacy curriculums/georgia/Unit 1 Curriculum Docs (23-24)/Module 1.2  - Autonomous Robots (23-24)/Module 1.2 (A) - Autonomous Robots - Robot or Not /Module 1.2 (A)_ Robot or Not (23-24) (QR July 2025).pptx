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5143500" cx="9144000"/>
  <p:notesSz cx="6858000" cy="9144000"/>
  <p:embeddedFontLst>
    <p:embeddedFont>
      <p:font typeface="Helvetica Neue"/>
      <p:regular r:id="rId32"/>
      <p:bold r:id="rId33"/>
      <p:italic r:id="rId34"/>
      <p:boldItalic r:id="rId35"/>
    </p:embeddedFont>
    <p:embeddedFont>
      <p:font typeface="Merriweather"/>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HelveticaNeue-bold.fntdata"/><Relationship Id="rId10" Type="http://schemas.openxmlformats.org/officeDocument/2006/relationships/slide" Target="slides/slide4.xml"/><Relationship Id="rId32" Type="http://schemas.openxmlformats.org/officeDocument/2006/relationships/font" Target="fonts/HelveticaNeue-regular.fntdata"/><Relationship Id="rId13" Type="http://schemas.openxmlformats.org/officeDocument/2006/relationships/slide" Target="slides/slide7.xml"/><Relationship Id="rId35" Type="http://schemas.openxmlformats.org/officeDocument/2006/relationships/font" Target="fonts/HelveticaNeue-boldItalic.fntdata"/><Relationship Id="rId12" Type="http://schemas.openxmlformats.org/officeDocument/2006/relationships/slide" Target="slides/slide6.xml"/><Relationship Id="rId34" Type="http://schemas.openxmlformats.org/officeDocument/2006/relationships/font" Target="fonts/HelveticaNeue-italic.fntdata"/><Relationship Id="rId15" Type="http://schemas.openxmlformats.org/officeDocument/2006/relationships/slide" Target="slides/slide9.xml"/><Relationship Id="rId37" Type="http://schemas.openxmlformats.org/officeDocument/2006/relationships/font" Target="fonts/Merriweather-bold.fntdata"/><Relationship Id="rId14" Type="http://schemas.openxmlformats.org/officeDocument/2006/relationships/slide" Target="slides/slide8.xml"/><Relationship Id="rId36" Type="http://schemas.openxmlformats.org/officeDocument/2006/relationships/font" Target="fonts/Merriweather-regular.fntdata"/><Relationship Id="rId17" Type="http://schemas.openxmlformats.org/officeDocument/2006/relationships/slide" Target="slides/slide11.xml"/><Relationship Id="rId39" Type="http://schemas.openxmlformats.org/officeDocument/2006/relationships/font" Target="fonts/Merriweather-boldItalic.fntdata"/><Relationship Id="rId16" Type="http://schemas.openxmlformats.org/officeDocument/2006/relationships/slide" Target="slides/slide10.xml"/><Relationship Id="rId38" Type="http://schemas.openxmlformats.org/officeDocument/2006/relationships/font" Target="fonts/Merriweather-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5be68ff442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5be68ff442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1bd6b81b0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1bd6b81b0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11f79d5caa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11f79d5caa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video is an </a:t>
            </a:r>
            <a:r>
              <a:rPr lang="en"/>
              <a:t>exciting</a:t>
            </a:r>
            <a:r>
              <a:rPr lang="en"/>
              <a:t> look at autonomous robot.</a:t>
            </a:r>
            <a:endParaRPr/>
          </a:p>
          <a:p>
            <a:pPr indent="0" lvl="0" marL="0" rtl="0" algn="l">
              <a:spcBef>
                <a:spcPts val="0"/>
              </a:spcBef>
              <a:spcAft>
                <a:spcPts val="0"/>
              </a:spcAft>
              <a:buNone/>
            </a:pPr>
            <a:r>
              <a:rPr lang="en"/>
              <a:t>Questions to ponder:</a:t>
            </a:r>
            <a:endParaRPr/>
          </a:p>
          <a:p>
            <a:pPr indent="-298450" lvl="0" marL="457200" rtl="0" algn="l">
              <a:spcBef>
                <a:spcPts val="0"/>
              </a:spcBef>
              <a:spcAft>
                <a:spcPts val="0"/>
              </a:spcAft>
              <a:buSzPts val="1100"/>
              <a:buAutoNum type="arabicParenR"/>
            </a:pPr>
            <a:r>
              <a:rPr lang="en"/>
              <a:t>What was interesting about the robots?</a:t>
            </a:r>
            <a:endParaRPr/>
          </a:p>
          <a:p>
            <a:pPr indent="-298450" lvl="0" marL="457200" rtl="0" algn="l">
              <a:spcBef>
                <a:spcPts val="0"/>
              </a:spcBef>
              <a:spcAft>
                <a:spcPts val="0"/>
              </a:spcAft>
              <a:buSzPts val="1100"/>
              <a:buAutoNum type="arabicParenR"/>
            </a:pPr>
            <a:r>
              <a:rPr lang="en">
                <a:solidFill>
                  <a:schemeClr val="dk1"/>
                </a:solidFill>
              </a:rPr>
              <a:t>What kinds of things are the robots doing?</a:t>
            </a:r>
            <a:endParaRPr>
              <a:solidFill>
                <a:schemeClr val="dk1"/>
              </a:solidFill>
            </a:endParaRPr>
          </a:p>
          <a:p>
            <a:pPr indent="-298450" lvl="0" marL="457200" rtl="0" algn="l">
              <a:spcBef>
                <a:spcPts val="0"/>
              </a:spcBef>
              <a:spcAft>
                <a:spcPts val="0"/>
              </a:spcAft>
              <a:buSzPts val="1100"/>
              <a:buAutoNum type="arabicParenR"/>
            </a:pPr>
            <a:r>
              <a:rPr lang="en"/>
              <a:t>Are </a:t>
            </a:r>
            <a:r>
              <a:rPr lang="en"/>
              <a:t>these robots being remote controlled?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will learn more about this today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11f79d5caa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11f79d5caa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11f002af00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11f002af00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10071ab57b7_1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10071ab57b7_1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10071ab57b7_1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10071ab57b7_1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0071ab57b7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10071ab57b7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eb1dabe98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eb1dabe98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10071ab57b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10071ab57b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10071ab57b7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10071ab57b7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206864eca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206864eca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10071ab57b7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10071ab57b7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08f38666ac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108f38666ac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3c1e014a2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3c1e014a2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10071ab57b7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10071ab57b7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3c1e014a2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3c1e014a2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10071ab57b7_1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10071ab57b7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10071ab57b7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10071ab57b7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10071ab57b7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10071ab57b7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10071ab57b7_1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10071ab57b7_1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10071ab57b7_1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10071ab57b7_1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722b89aa91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722b89aa91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10071ab57b7_1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10071ab57b7_1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10071ab57b7_1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10071ab57b7_1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Clr>
                <a:srgbClr val="000000"/>
              </a:buClr>
              <a:buSzPts val="5200"/>
              <a:buNone/>
              <a:defRPr sz="5200">
                <a:solidFill>
                  <a:srgbClr val="000000"/>
                </a:solidFill>
              </a:defRPr>
            </a:lvl1pPr>
            <a:lvl2pPr lvl="1" rtl="0" algn="ctr">
              <a:spcBef>
                <a:spcPts val="0"/>
              </a:spcBef>
              <a:spcAft>
                <a:spcPts val="0"/>
              </a:spcAft>
              <a:buClr>
                <a:srgbClr val="000000"/>
              </a:buClr>
              <a:buSzPts val="5200"/>
              <a:buNone/>
              <a:defRPr sz="5200">
                <a:solidFill>
                  <a:srgbClr val="000000"/>
                </a:solidFill>
              </a:defRPr>
            </a:lvl2pPr>
            <a:lvl3pPr lvl="2" rtl="0" algn="ctr">
              <a:spcBef>
                <a:spcPts val="0"/>
              </a:spcBef>
              <a:spcAft>
                <a:spcPts val="0"/>
              </a:spcAft>
              <a:buClr>
                <a:srgbClr val="000000"/>
              </a:buClr>
              <a:buSzPts val="5200"/>
              <a:buNone/>
              <a:defRPr sz="5200">
                <a:solidFill>
                  <a:srgbClr val="000000"/>
                </a:solidFill>
              </a:defRPr>
            </a:lvl3pPr>
            <a:lvl4pPr lvl="3" rtl="0" algn="ctr">
              <a:spcBef>
                <a:spcPts val="0"/>
              </a:spcBef>
              <a:spcAft>
                <a:spcPts val="0"/>
              </a:spcAft>
              <a:buClr>
                <a:srgbClr val="000000"/>
              </a:buClr>
              <a:buSzPts val="5200"/>
              <a:buNone/>
              <a:defRPr sz="5200">
                <a:solidFill>
                  <a:srgbClr val="000000"/>
                </a:solidFill>
              </a:defRPr>
            </a:lvl4pPr>
            <a:lvl5pPr lvl="4" rtl="0" algn="ctr">
              <a:spcBef>
                <a:spcPts val="0"/>
              </a:spcBef>
              <a:spcAft>
                <a:spcPts val="0"/>
              </a:spcAft>
              <a:buClr>
                <a:srgbClr val="000000"/>
              </a:buClr>
              <a:buSzPts val="5200"/>
              <a:buNone/>
              <a:defRPr sz="5200">
                <a:solidFill>
                  <a:srgbClr val="000000"/>
                </a:solidFill>
              </a:defRPr>
            </a:lvl5pPr>
            <a:lvl6pPr lvl="5" rtl="0" algn="ctr">
              <a:spcBef>
                <a:spcPts val="0"/>
              </a:spcBef>
              <a:spcAft>
                <a:spcPts val="0"/>
              </a:spcAft>
              <a:buClr>
                <a:srgbClr val="000000"/>
              </a:buClr>
              <a:buSzPts val="5200"/>
              <a:buNone/>
              <a:defRPr sz="5200">
                <a:solidFill>
                  <a:srgbClr val="000000"/>
                </a:solidFill>
              </a:defRPr>
            </a:lvl6pPr>
            <a:lvl7pPr lvl="6" rtl="0" algn="ctr">
              <a:spcBef>
                <a:spcPts val="0"/>
              </a:spcBef>
              <a:spcAft>
                <a:spcPts val="0"/>
              </a:spcAft>
              <a:buClr>
                <a:srgbClr val="000000"/>
              </a:buClr>
              <a:buSzPts val="5200"/>
              <a:buNone/>
              <a:defRPr sz="5200">
                <a:solidFill>
                  <a:srgbClr val="000000"/>
                </a:solidFill>
              </a:defRPr>
            </a:lvl7pPr>
            <a:lvl8pPr lvl="7" rtl="0" algn="ctr">
              <a:spcBef>
                <a:spcPts val="0"/>
              </a:spcBef>
              <a:spcAft>
                <a:spcPts val="0"/>
              </a:spcAft>
              <a:buClr>
                <a:srgbClr val="000000"/>
              </a:buClr>
              <a:buSzPts val="5200"/>
              <a:buNone/>
              <a:defRPr sz="5200">
                <a:solidFill>
                  <a:srgbClr val="000000"/>
                </a:solidFill>
              </a:defRPr>
            </a:lvl8pPr>
            <a:lvl9pPr lvl="8" rtl="0" algn="ctr">
              <a:spcBef>
                <a:spcPts val="0"/>
              </a:spcBef>
              <a:spcAft>
                <a:spcPts val="0"/>
              </a:spcAft>
              <a:buClr>
                <a:srgbClr val="000000"/>
              </a:buClr>
              <a:buSzPts val="5200"/>
              <a:buNone/>
              <a:defRPr sz="5200">
                <a:solidFill>
                  <a:srgbClr val="000000"/>
                </a:solidFill>
              </a:defRPr>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000000"/>
              </a:buClr>
              <a:buSzPts val="2800"/>
              <a:buNone/>
              <a:defRPr sz="2800">
                <a:solidFill>
                  <a:srgbClr val="000000"/>
                </a:solidFill>
              </a:defRPr>
            </a:lvl1pPr>
            <a:lvl2pPr lvl="1" rtl="0" algn="ctr">
              <a:lnSpc>
                <a:spcPct val="100000"/>
              </a:lnSpc>
              <a:spcBef>
                <a:spcPts val="0"/>
              </a:spcBef>
              <a:spcAft>
                <a:spcPts val="0"/>
              </a:spcAft>
              <a:buClr>
                <a:srgbClr val="000000"/>
              </a:buClr>
              <a:buSzPts val="2800"/>
              <a:buNone/>
              <a:defRPr sz="2800">
                <a:solidFill>
                  <a:srgbClr val="000000"/>
                </a:solidFill>
              </a:defRPr>
            </a:lvl2pPr>
            <a:lvl3pPr lvl="2" rtl="0" algn="ctr">
              <a:lnSpc>
                <a:spcPct val="100000"/>
              </a:lnSpc>
              <a:spcBef>
                <a:spcPts val="0"/>
              </a:spcBef>
              <a:spcAft>
                <a:spcPts val="0"/>
              </a:spcAft>
              <a:buClr>
                <a:srgbClr val="000000"/>
              </a:buClr>
              <a:buSzPts val="2800"/>
              <a:buNone/>
              <a:defRPr sz="2800">
                <a:solidFill>
                  <a:srgbClr val="000000"/>
                </a:solidFill>
              </a:defRPr>
            </a:lvl3pPr>
            <a:lvl4pPr lvl="3" rtl="0" algn="ctr">
              <a:lnSpc>
                <a:spcPct val="100000"/>
              </a:lnSpc>
              <a:spcBef>
                <a:spcPts val="0"/>
              </a:spcBef>
              <a:spcAft>
                <a:spcPts val="0"/>
              </a:spcAft>
              <a:buClr>
                <a:srgbClr val="000000"/>
              </a:buClr>
              <a:buSzPts val="2800"/>
              <a:buNone/>
              <a:defRPr sz="2800">
                <a:solidFill>
                  <a:srgbClr val="000000"/>
                </a:solidFill>
              </a:defRPr>
            </a:lvl4pPr>
            <a:lvl5pPr lvl="4" rtl="0" algn="ctr">
              <a:lnSpc>
                <a:spcPct val="100000"/>
              </a:lnSpc>
              <a:spcBef>
                <a:spcPts val="0"/>
              </a:spcBef>
              <a:spcAft>
                <a:spcPts val="0"/>
              </a:spcAft>
              <a:buClr>
                <a:srgbClr val="000000"/>
              </a:buClr>
              <a:buSzPts val="2800"/>
              <a:buNone/>
              <a:defRPr sz="2800">
                <a:solidFill>
                  <a:srgbClr val="000000"/>
                </a:solidFill>
              </a:defRPr>
            </a:lvl5pPr>
            <a:lvl6pPr lvl="5" rtl="0" algn="ctr">
              <a:lnSpc>
                <a:spcPct val="100000"/>
              </a:lnSpc>
              <a:spcBef>
                <a:spcPts val="0"/>
              </a:spcBef>
              <a:spcAft>
                <a:spcPts val="0"/>
              </a:spcAft>
              <a:buClr>
                <a:srgbClr val="000000"/>
              </a:buClr>
              <a:buSzPts val="2800"/>
              <a:buNone/>
              <a:defRPr sz="2800">
                <a:solidFill>
                  <a:srgbClr val="000000"/>
                </a:solidFill>
              </a:defRPr>
            </a:lvl6pPr>
            <a:lvl7pPr lvl="6" rtl="0" algn="ctr">
              <a:lnSpc>
                <a:spcPct val="100000"/>
              </a:lnSpc>
              <a:spcBef>
                <a:spcPts val="0"/>
              </a:spcBef>
              <a:spcAft>
                <a:spcPts val="0"/>
              </a:spcAft>
              <a:buClr>
                <a:srgbClr val="000000"/>
              </a:buClr>
              <a:buSzPts val="2800"/>
              <a:buNone/>
              <a:defRPr sz="2800">
                <a:solidFill>
                  <a:srgbClr val="000000"/>
                </a:solidFill>
              </a:defRPr>
            </a:lvl7pPr>
            <a:lvl8pPr lvl="7" rtl="0" algn="ctr">
              <a:lnSpc>
                <a:spcPct val="100000"/>
              </a:lnSpc>
              <a:spcBef>
                <a:spcPts val="0"/>
              </a:spcBef>
              <a:spcAft>
                <a:spcPts val="0"/>
              </a:spcAft>
              <a:buClr>
                <a:srgbClr val="000000"/>
              </a:buClr>
              <a:buSzPts val="2800"/>
              <a:buNone/>
              <a:defRPr sz="2800">
                <a:solidFill>
                  <a:srgbClr val="000000"/>
                </a:solidFill>
              </a:defRPr>
            </a:lvl8pPr>
            <a:lvl9pPr lvl="8" rtl="0" algn="ctr">
              <a:lnSpc>
                <a:spcPct val="100000"/>
              </a:lnSpc>
              <a:spcBef>
                <a:spcPts val="0"/>
              </a:spcBef>
              <a:spcAft>
                <a:spcPts val="0"/>
              </a:spcAft>
              <a:buClr>
                <a:srgbClr val="000000"/>
              </a:buClr>
              <a:buSzPts val="2800"/>
              <a:buNone/>
              <a:defRPr sz="2800">
                <a:solidFill>
                  <a:srgbClr val="000000"/>
                </a:solidFill>
              </a:defRPr>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rgbClr val="000000"/>
                </a:solidFill>
              </a:defRPr>
            </a:lvl1pPr>
            <a:lvl2pPr lvl="1" rtl="0">
              <a:buNone/>
              <a:defRPr>
                <a:solidFill>
                  <a:srgbClr val="000000"/>
                </a:solidFill>
              </a:defRPr>
            </a:lvl2pPr>
            <a:lvl3pPr lvl="2" rtl="0">
              <a:buNone/>
              <a:defRPr>
                <a:solidFill>
                  <a:srgbClr val="000000"/>
                </a:solidFill>
              </a:defRPr>
            </a:lvl3pPr>
            <a:lvl4pPr lvl="3" rtl="0">
              <a:buNone/>
              <a:defRPr>
                <a:solidFill>
                  <a:srgbClr val="000000"/>
                </a:solidFill>
              </a:defRPr>
            </a:lvl4pPr>
            <a:lvl5pPr lvl="4" rtl="0">
              <a:buNone/>
              <a:defRPr>
                <a:solidFill>
                  <a:srgbClr val="000000"/>
                </a:solidFill>
              </a:defRPr>
            </a:lvl5pPr>
            <a:lvl6pPr lvl="5" rtl="0">
              <a:buNone/>
              <a:defRPr>
                <a:solidFill>
                  <a:srgbClr val="000000"/>
                </a:solidFill>
              </a:defRPr>
            </a:lvl6pPr>
            <a:lvl7pPr lvl="6" rtl="0">
              <a:buNone/>
              <a:defRPr>
                <a:solidFill>
                  <a:srgbClr val="000000"/>
                </a:solidFill>
              </a:defRPr>
            </a:lvl7pPr>
            <a:lvl8pPr lvl="7" rtl="0">
              <a:buNone/>
              <a:defRPr>
                <a:solidFill>
                  <a:srgbClr val="000000"/>
                </a:solidFill>
              </a:defRPr>
            </a:lvl8pPr>
            <a:lvl9pPr lvl="8" rtl="0">
              <a:buNone/>
              <a:defRPr>
                <a:solidFill>
                  <a:srgbClr val="000000"/>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rgbClr val="000000"/>
              </a:buClr>
              <a:buSzPts val="2800"/>
              <a:buNone/>
              <a:defRPr>
                <a:solidFill>
                  <a:srgbClr val="000000"/>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rgbClr val="000000"/>
              </a:buClr>
              <a:buSzPts val="1800"/>
              <a:buChar char="●"/>
              <a:defRPr>
                <a:solidFill>
                  <a:srgbClr val="000000"/>
                </a:solidFill>
              </a:defRPr>
            </a:lvl1pPr>
            <a:lvl2pPr indent="-317500" lvl="1" marL="914400" rtl="0">
              <a:spcBef>
                <a:spcPts val="0"/>
              </a:spcBef>
              <a:spcAft>
                <a:spcPts val="0"/>
              </a:spcAft>
              <a:buClr>
                <a:srgbClr val="000000"/>
              </a:buClr>
              <a:buSzPts val="1400"/>
              <a:buChar char="○"/>
              <a:defRPr>
                <a:solidFill>
                  <a:srgbClr val="000000"/>
                </a:solidFill>
              </a:defRPr>
            </a:lvl2pPr>
            <a:lvl3pPr indent="-317500" lvl="2" marL="1371600" rtl="0">
              <a:spcBef>
                <a:spcPts val="0"/>
              </a:spcBef>
              <a:spcAft>
                <a:spcPts val="0"/>
              </a:spcAft>
              <a:buClr>
                <a:srgbClr val="000000"/>
              </a:buClr>
              <a:buSzPts val="1400"/>
              <a:buChar char="■"/>
              <a:defRPr>
                <a:solidFill>
                  <a:srgbClr val="000000"/>
                </a:solidFill>
              </a:defRPr>
            </a:lvl3pPr>
            <a:lvl4pPr indent="-317500" lvl="3" marL="1828800" rtl="0">
              <a:spcBef>
                <a:spcPts val="0"/>
              </a:spcBef>
              <a:spcAft>
                <a:spcPts val="0"/>
              </a:spcAft>
              <a:buClr>
                <a:srgbClr val="000000"/>
              </a:buClr>
              <a:buSzPts val="1400"/>
              <a:buChar char="●"/>
              <a:defRPr>
                <a:solidFill>
                  <a:srgbClr val="000000"/>
                </a:solidFill>
              </a:defRPr>
            </a:lvl4pPr>
            <a:lvl5pPr indent="-317500" lvl="4" marL="2286000" rtl="0">
              <a:spcBef>
                <a:spcPts val="0"/>
              </a:spcBef>
              <a:spcAft>
                <a:spcPts val="0"/>
              </a:spcAft>
              <a:buClr>
                <a:srgbClr val="000000"/>
              </a:buClr>
              <a:buSzPts val="1400"/>
              <a:buChar char="○"/>
              <a:defRPr>
                <a:solidFill>
                  <a:srgbClr val="000000"/>
                </a:solidFill>
              </a:defRPr>
            </a:lvl5pPr>
            <a:lvl6pPr indent="-317500" lvl="5" marL="2743200" rtl="0">
              <a:spcBef>
                <a:spcPts val="0"/>
              </a:spcBef>
              <a:spcAft>
                <a:spcPts val="0"/>
              </a:spcAft>
              <a:buClr>
                <a:srgbClr val="000000"/>
              </a:buClr>
              <a:buSzPts val="1400"/>
              <a:buChar char="■"/>
              <a:defRPr>
                <a:solidFill>
                  <a:srgbClr val="000000"/>
                </a:solidFill>
              </a:defRPr>
            </a:lvl6pPr>
            <a:lvl7pPr indent="-317500" lvl="6" marL="3200400" rtl="0">
              <a:spcBef>
                <a:spcPts val="0"/>
              </a:spcBef>
              <a:spcAft>
                <a:spcPts val="0"/>
              </a:spcAft>
              <a:buClr>
                <a:srgbClr val="000000"/>
              </a:buClr>
              <a:buSzPts val="1400"/>
              <a:buChar char="●"/>
              <a:defRPr>
                <a:solidFill>
                  <a:srgbClr val="000000"/>
                </a:solidFill>
              </a:defRPr>
            </a:lvl7pPr>
            <a:lvl8pPr indent="-317500" lvl="7" marL="3657600" rtl="0">
              <a:spcBef>
                <a:spcPts val="0"/>
              </a:spcBef>
              <a:spcAft>
                <a:spcPts val="0"/>
              </a:spcAft>
              <a:buClr>
                <a:srgbClr val="000000"/>
              </a:buClr>
              <a:buSzPts val="1400"/>
              <a:buChar char="○"/>
              <a:defRPr>
                <a:solidFill>
                  <a:srgbClr val="000000"/>
                </a:solidFill>
              </a:defRPr>
            </a:lvl8pPr>
            <a:lvl9pPr indent="-317500" lvl="8" marL="4114800" rtl="0">
              <a:spcBef>
                <a:spcPts val="0"/>
              </a:spcBef>
              <a:spcAft>
                <a:spcPts val="0"/>
              </a:spcAft>
              <a:buClr>
                <a:srgbClr val="000000"/>
              </a:buClr>
              <a:buSzPts val="1400"/>
              <a:buChar char="■"/>
              <a:defRPr>
                <a:solidFill>
                  <a:srgbClr val="000000"/>
                </a:solidFill>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Clr>
                <a:srgbClr val="000000"/>
              </a:buClr>
              <a:buSzPts val="1200"/>
              <a:buChar char="●"/>
              <a:defRPr sz="1200">
                <a:solidFill>
                  <a:srgbClr val="000000"/>
                </a:solidFill>
              </a:defRPr>
            </a:lvl1pPr>
            <a:lvl2pPr indent="-304800" lvl="1" marL="914400" rtl="0">
              <a:spcBef>
                <a:spcPts val="0"/>
              </a:spcBef>
              <a:spcAft>
                <a:spcPts val="0"/>
              </a:spcAft>
              <a:buClr>
                <a:srgbClr val="000000"/>
              </a:buClr>
              <a:buSzPts val="1200"/>
              <a:buChar char="○"/>
              <a:defRPr sz="1200">
                <a:solidFill>
                  <a:srgbClr val="000000"/>
                </a:solidFill>
              </a:defRPr>
            </a:lvl2pPr>
            <a:lvl3pPr indent="-304800" lvl="2" marL="1371600" rtl="0">
              <a:spcBef>
                <a:spcPts val="0"/>
              </a:spcBef>
              <a:spcAft>
                <a:spcPts val="0"/>
              </a:spcAft>
              <a:buClr>
                <a:srgbClr val="000000"/>
              </a:buClr>
              <a:buSzPts val="1200"/>
              <a:buChar char="■"/>
              <a:defRPr sz="1200">
                <a:solidFill>
                  <a:srgbClr val="000000"/>
                </a:solidFill>
              </a:defRPr>
            </a:lvl3pPr>
            <a:lvl4pPr indent="-304800" lvl="3" marL="1828800" rtl="0">
              <a:spcBef>
                <a:spcPts val="0"/>
              </a:spcBef>
              <a:spcAft>
                <a:spcPts val="0"/>
              </a:spcAft>
              <a:buClr>
                <a:srgbClr val="000000"/>
              </a:buClr>
              <a:buSzPts val="1200"/>
              <a:buChar char="●"/>
              <a:defRPr sz="1200">
                <a:solidFill>
                  <a:srgbClr val="000000"/>
                </a:solidFill>
              </a:defRPr>
            </a:lvl4pPr>
            <a:lvl5pPr indent="-304800" lvl="4" marL="2286000" rtl="0">
              <a:spcBef>
                <a:spcPts val="0"/>
              </a:spcBef>
              <a:spcAft>
                <a:spcPts val="0"/>
              </a:spcAft>
              <a:buClr>
                <a:srgbClr val="000000"/>
              </a:buClr>
              <a:buSzPts val="1200"/>
              <a:buChar char="○"/>
              <a:defRPr sz="1200">
                <a:solidFill>
                  <a:srgbClr val="000000"/>
                </a:solidFill>
              </a:defRPr>
            </a:lvl5pPr>
            <a:lvl6pPr indent="-304800" lvl="5" marL="2743200" rtl="0">
              <a:spcBef>
                <a:spcPts val="0"/>
              </a:spcBef>
              <a:spcAft>
                <a:spcPts val="0"/>
              </a:spcAft>
              <a:buClr>
                <a:srgbClr val="000000"/>
              </a:buClr>
              <a:buSzPts val="1200"/>
              <a:buChar char="■"/>
              <a:defRPr sz="1200">
                <a:solidFill>
                  <a:srgbClr val="000000"/>
                </a:solidFill>
              </a:defRPr>
            </a:lvl6pPr>
            <a:lvl7pPr indent="-304800" lvl="6" marL="3200400" rtl="0">
              <a:spcBef>
                <a:spcPts val="0"/>
              </a:spcBef>
              <a:spcAft>
                <a:spcPts val="0"/>
              </a:spcAft>
              <a:buClr>
                <a:srgbClr val="000000"/>
              </a:buClr>
              <a:buSzPts val="1200"/>
              <a:buChar char="●"/>
              <a:defRPr sz="1200">
                <a:solidFill>
                  <a:srgbClr val="000000"/>
                </a:solidFill>
              </a:defRPr>
            </a:lvl7pPr>
            <a:lvl8pPr indent="-304800" lvl="7" marL="3657600" rtl="0">
              <a:spcBef>
                <a:spcPts val="0"/>
              </a:spcBef>
              <a:spcAft>
                <a:spcPts val="0"/>
              </a:spcAft>
              <a:buClr>
                <a:srgbClr val="000000"/>
              </a:buClr>
              <a:buSzPts val="1200"/>
              <a:buChar char="○"/>
              <a:defRPr sz="1200">
                <a:solidFill>
                  <a:srgbClr val="000000"/>
                </a:solidFill>
              </a:defRPr>
            </a:lvl8pPr>
            <a:lvl9pPr indent="-304800" lvl="8" marL="4114800" rtl="0">
              <a:spcBef>
                <a:spcPts val="0"/>
              </a:spcBef>
              <a:spcAft>
                <a:spcPts val="0"/>
              </a:spcAft>
              <a:buClr>
                <a:srgbClr val="000000"/>
              </a:buClr>
              <a:buSzPts val="1200"/>
              <a:buChar char="■"/>
              <a:defRPr sz="1200">
                <a:solidFill>
                  <a:srgbClr val="000000"/>
                </a:solidFill>
              </a:defRPr>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Clr>
                <a:srgbClr val="000000"/>
              </a:buClr>
              <a:buSzPts val="4800"/>
              <a:buNone/>
              <a:defRPr sz="4800">
                <a:solidFill>
                  <a:srgbClr val="000000"/>
                </a:solidFill>
              </a:defRPr>
            </a:lvl1pPr>
            <a:lvl2pPr lvl="1" rtl="0">
              <a:spcBef>
                <a:spcPts val="0"/>
              </a:spcBef>
              <a:spcAft>
                <a:spcPts val="0"/>
              </a:spcAft>
              <a:buClr>
                <a:srgbClr val="000000"/>
              </a:buClr>
              <a:buSzPts val="4800"/>
              <a:buNone/>
              <a:defRPr sz="4800">
                <a:solidFill>
                  <a:srgbClr val="000000"/>
                </a:solidFill>
              </a:defRPr>
            </a:lvl2pPr>
            <a:lvl3pPr lvl="2" rtl="0">
              <a:spcBef>
                <a:spcPts val="0"/>
              </a:spcBef>
              <a:spcAft>
                <a:spcPts val="0"/>
              </a:spcAft>
              <a:buClr>
                <a:srgbClr val="000000"/>
              </a:buClr>
              <a:buSzPts val="4800"/>
              <a:buNone/>
              <a:defRPr sz="4800">
                <a:solidFill>
                  <a:srgbClr val="000000"/>
                </a:solidFill>
              </a:defRPr>
            </a:lvl3pPr>
            <a:lvl4pPr lvl="3" rtl="0">
              <a:spcBef>
                <a:spcPts val="0"/>
              </a:spcBef>
              <a:spcAft>
                <a:spcPts val="0"/>
              </a:spcAft>
              <a:buClr>
                <a:srgbClr val="000000"/>
              </a:buClr>
              <a:buSzPts val="4800"/>
              <a:buNone/>
              <a:defRPr sz="4800">
                <a:solidFill>
                  <a:srgbClr val="000000"/>
                </a:solidFill>
              </a:defRPr>
            </a:lvl4pPr>
            <a:lvl5pPr lvl="4" rtl="0">
              <a:spcBef>
                <a:spcPts val="0"/>
              </a:spcBef>
              <a:spcAft>
                <a:spcPts val="0"/>
              </a:spcAft>
              <a:buClr>
                <a:srgbClr val="000000"/>
              </a:buClr>
              <a:buSzPts val="4800"/>
              <a:buNone/>
              <a:defRPr sz="4800">
                <a:solidFill>
                  <a:srgbClr val="000000"/>
                </a:solidFill>
              </a:defRPr>
            </a:lvl5pPr>
            <a:lvl6pPr lvl="5" rtl="0">
              <a:spcBef>
                <a:spcPts val="0"/>
              </a:spcBef>
              <a:spcAft>
                <a:spcPts val="0"/>
              </a:spcAft>
              <a:buClr>
                <a:srgbClr val="000000"/>
              </a:buClr>
              <a:buSzPts val="4800"/>
              <a:buNone/>
              <a:defRPr sz="4800">
                <a:solidFill>
                  <a:srgbClr val="000000"/>
                </a:solidFill>
              </a:defRPr>
            </a:lvl6pPr>
            <a:lvl7pPr lvl="6" rtl="0">
              <a:spcBef>
                <a:spcPts val="0"/>
              </a:spcBef>
              <a:spcAft>
                <a:spcPts val="0"/>
              </a:spcAft>
              <a:buClr>
                <a:srgbClr val="000000"/>
              </a:buClr>
              <a:buSzPts val="4800"/>
              <a:buNone/>
              <a:defRPr sz="4800">
                <a:solidFill>
                  <a:srgbClr val="000000"/>
                </a:solidFill>
              </a:defRPr>
            </a:lvl7pPr>
            <a:lvl8pPr lvl="7" rtl="0">
              <a:spcBef>
                <a:spcPts val="0"/>
              </a:spcBef>
              <a:spcAft>
                <a:spcPts val="0"/>
              </a:spcAft>
              <a:buClr>
                <a:srgbClr val="000000"/>
              </a:buClr>
              <a:buSzPts val="4800"/>
              <a:buNone/>
              <a:defRPr sz="4800">
                <a:solidFill>
                  <a:srgbClr val="000000"/>
                </a:solidFill>
              </a:defRPr>
            </a:lvl8pPr>
            <a:lvl9pPr lvl="8" rtl="0">
              <a:spcBef>
                <a:spcPts val="0"/>
              </a:spcBef>
              <a:spcAft>
                <a:spcPts val="0"/>
              </a:spcAft>
              <a:buClr>
                <a:srgbClr val="000000"/>
              </a:buClr>
              <a:buSzPts val="4800"/>
              <a:buNone/>
              <a:defRPr sz="4800">
                <a:solidFill>
                  <a:srgbClr val="000000"/>
                </a:solidFill>
              </a:defRPr>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hyperlink" Target="https://creativecommons.org/licenses/by-nc-sa/4.0/" TargetMode="External"/><Relationship Id="rId6"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www.youtube.com/watch?v=NR32ULxbjYc" TargetMode="Externa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hyperlink" Target="https://create.kahoot.it/share/robot-or-not/8a6cff36-a886-46e8-9359-98787cf27524" TargetMode="External"/><Relationship Id="rId4" Type="http://schemas.openxmlformats.org/officeDocument/2006/relationships/hyperlink" Target="https://create.kahoot.it/share/robot-or-not/8a6cff36-a886-46e8-9359-98787cf27524"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www.youtube.com/watch?v=VpjCQD8ynZE" TargetMode="External"/><Relationship Id="rId4"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www.youtube.com/watch?v=P7fi4hP_y80" TargetMode="External"/><Relationship Id="rId4"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www.youtube.com/watch?v=qcYR2XaD0UA" TargetMode="External"/><Relationship Id="rId4" Type="http://schemas.openxmlformats.org/officeDocument/2006/relationships/image" Target="../media/image1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www.youtube.com/watch?v=tZ0bq-jIg-o" TargetMode="External"/><Relationship Id="rId4" Type="http://schemas.openxmlformats.org/officeDocument/2006/relationships/image" Target="../media/image1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www.youtube.com/watch?v=v8c1imE7Spc" TargetMode="External"/><Relationship Id="rId4" Type="http://schemas.openxmlformats.org/officeDocument/2006/relationships/image" Target="../media/image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1.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7.png"/><Relationship Id="rId4" Type="http://schemas.openxmlformats.org/officeDocument/2006/relationships/hyperlink" Target="http://www.youtube.com/watch?v=PSu52CAtpf8" TargetMode="External"/><Relationship Id="rId5" Type="http://schemas.openxmlformats.org/officeDocument/2006/relationships/image" Target="../media/image14.jpg"/><Relationship Id="rId6" Type="http://schemas.openxmlformats.org/officeDocument/2006/relationships/hyperlink" Target="https://www.npr.org/2017/12/19/569474169/being-different-helped-a-nasa-roboticist-achieve-her-dream" TargetMode="External"/><Relationship Id="rId7" Type="http://schemas.openxmlformats.org/officeDocument/2006/relationships/hyperlink" Target="https://engineering.osu.edu/about/office-dean/about-dean-ayanna-howard"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5"/>
          <p:cNvSpPr txBox="1"/>
          <p:nvPr>
            <p:ph type="ctrTitle"/>
          </p:nvPr>
        </p:nvSpPr>
        <p:spPr>
          <a:xfrm>
            <a:off x="2156750" y="733763"/>
            <a:ext cx="6115500" cy="1189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Module 1.2 (A)</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Autonomous Robots: Robot or Not</a:t>
            </a:r>
            <a:endParaRPr sz="2800">
              <a:solidFill>
                <a:schemeClr val="dk2"/>
              </a:solidFill>
              <a:latin typeface="Merriweather"/>
              <a:ea typeface="Merriweather"/>
              <a:cs typeface="Merriweather"/>
              <a:sym typeface="Merriweather"/>
            </a:endParaRPr>
          </a:p>
        </p:txBody>
      </p:sp>
      <p:sp>
        <p:nvSpPr>
          <p:cNvPr id="100" name="Google Shape;100;p25"/>
          <p:cNvSpPr txBox="1"/>
          <p:nvPr/>
        </p:nvSpPr>
        <p:spPr>
          <a:xfrm>
            <a:off x="278150" y="3272225"/>
            <a:ext cx="2867700" cy="106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101" name="Google Shape;101;p25"/>
          <p:cNvPicPr preferRelativeResize="0"/>
          <p:nvPr/>
        </p:nvPicPr>
        <p:blipFill>
          <a:blip r:embed="rId3">
            <a:alphaModFix/>
          </a:blip>
          <a:stretch>
            <a:fillRect/>
          </a:stretch>
        </p:blipFill>
        <p:spPr>
          <a:xfrm>
            <a:off x="24425" y="4552275"/>
            <a:ext cx="1375825" cy="481375"/>
          </a:xfrm>
          <a:prstGeom prst="rect">
            <a:avLst/>
          </a:prstGeom>
          <a:noFill/>
          <a:ln>
            <a:noFill/>
          </a:ln>
        </p:spPr>
      </p:pic>
      <p:pic>
        <p:nvPicPr>
          <p:cNvPr id="102" name="Google Shape;102;p25"/>
          <p:cNvPicPr preferRelativeResize="0"/>
          <p:nvPr/>
        </p:nvPicPr>
        <p:blipFill>
          <a:blip r:embed="rId4">
            <a:alphaModFix/>
          </a:blip>
          <a:stretch>
            <a:fillRect/>
          </a:stretch>
        </p:blipFill>
        <p:spPr>
          <a:xfrm>
            <a:off x="100625" y="237362"/>
            <a:ext cx="1979932" cy="2334375"/>
          </a:xfrm>
          <a:prstGeom prst="rect">
            <a:avLst/>
          </a:prstGeom>
          <a:noFill/>
          <a:ln>
            <a:noFill/>
          </a:ln>
        </p:spPr>
      </p:pic>
      <p:sp>
        <p:nvSpPr>
          <p:cNvPr id="103" name="Google Shape;103;p25"/>
          <p:cNvSpPr txBox="1"/>
          <p:nvPr/>
        </p:nvSpPr>
        <p:spPr>
          <a:xfrm>
            <a:off x="1558900" y="237350"/>
            <a:ext cx="7447800" cy="6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rgbClr val="F89D77"/>
                </a:solidFill>
                <a:latin typeface="Helvetica Neue"/>
                <a:ea typeface="Helvetica Neue"/>
                <a:cs typeface="Helvetica Neue"/>
                <a:sym typeface="Helvetica Neue"/>
              </a:rPr>
              <a:t>Living and Working with Artificial Intelligence</a:t>
            </a:r>
            <a:endParaRPr b="1" sz="2600">
              <a:solidFill>
                <a:srgbClr val="F89D77"/>
              </a:solidFill>
              <a:latin typeface="Helvetica Neue"/>
              <a:ea typeface="Helvetica Neue"/>
              <a:cs typeface="Helvetica Neue"/>
              <a:sym typeface="Helvetica Neue"/>
            </a:endParaRPr>
          </a:p>
        </p:txBody>
      </p:sp>
      <p:sp>
        <p:nvSpPr>
          <p:cNvPr id="104" name="Google Shape;104;p25"/>
          <p:cNvSpPr txBox="1"/>
          <p:nvPr/>
        </p:nvSpPr>
        <p:spPr>
          <a:xfrm>
            <a:off x="1377450" y="4412525"/>
            <a:ext cx="7766700" cy="71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rPr>
              <a:t>Adapted from the Robot or Not Activity developed by MIT </a:t>
            </a:r>
            <a:r>
              <a:rPr lang="en" sz="900">
                <a:solidFill>
                  <a:schemeClr val="dk1"/>
                </a:solidFill>
              </a:rPr>
              <a:t>for the AI4GA (Artificial Intelligence for Georgia) project funded by National Science Foundation awards DRL-2049029 and DRL-2048502.</a:t>
            </a:r>
            <a:endParaRPr sz="900">
              <a:solidFill>
                <a:schemeClr val="dk1"/>
              </a:solidFill>
            </a:endParaRPr>
          </a:p>
          <a:p>
            <a:pPr indent="0" lvl="0" marL="0" rtl="0" algn="l">
              <a:spcBef>
                <a:spcPts val="0"/>
              </a:spcBef>
              <a:spcAft>
                <a:spcPts val="0"/>
              </a:spcAft>
              <a:buNone/>
            </a:pPr>
            <a:r>
              <a:rPr b="1" lang="en" sz="900">
                <a:solidFill>
                  <a:schemeClr val="dk1"/>
                </a:solidFill>
                <a:highlight>
                  <a:srgbClr val="FFFFFF"/>
                </a:highlight>
              </a:rPr>
              <a:t>This work is licensed under the Creative Commons Attribution-NonCommercial-ShareAlike 4.0 International License. </a:t>
            </a:r>
            <a:r>
              <a:rPr b="1" lang="en" sz="900" u="sng">
                <a:solidFill>
                  <a:schemeClr val="accent5"/>
                </a:solidFill>
                <a:highlight>
                  <a:srgbClr val="FFFFFF"/>
                </a:highlight>
                <a:hlinkClick r:id="rId5">
                  <a:extLst>
                    <a:ext uri="{A12FA001-AC4F-418D-AE19-62706E023703}">
                      <ahyp:hlinkClr val="tx"/>
                    </a:ext>
                  </a:extLst>
                </a:hlinkClick>
              </a:rPr>
              <a:t>https://creativecommons.org/licenses/by-nc-sa/4.0/</a:t>
            </a:r>
            <a:endParaRPr b="1" sz="900">
              <a:solidFill>
                <a:schemeClr val="dk1"/>
              </a:solidFill>
              <a:highlight>
                <a:srgbClr val="FFFFFF"/>
              </a:highlight>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a:p>
        </p:txBody>
      </p:sp>
      <p:pic>
        <p:nvPicPr>
          <p:cNvPr id="105" name="Google Shape;105;p25"/>
          <p:cNvPicPr preferRelativeResize="0"/>
          <p:nvPr/>
        </p:nvPicPr>
        <p:blipFill>
          <a:blip r:embed="rId6">
            <a:alphaModFix/>
          </a:blip>
          <a:stretch>
            <a:fillRect/>
          </a:stretch>
        </p:blipFill>
        <p:spPr>
          <a:xfrm>
            <a:off x="4114863" y="1722849"/>
            <a:ext cx="2199274" cy="26134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11" name="Google Shape;111;p26"/>
          <p:cNvSpPr txBox="1"/>
          <p:nvPr/>
        </p:nvSpPr>
        <p:spPr>
          <a:xfrm>
            <a:off x="311700" y="354600"/>
            <a:ext cx="4629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800">
                <a:solidFill>
                  <a:schemeClr val="dk1"/>
                </a:solidFill>
              </a:rPr>
              <a:t>Learning Objectives</a:t>
            </a:r>
            <a:endParaRPr/>
          </a:p>
        </p:txBody>
      </p:sp>
      <p:sp>
        <p:nvSpPr>
          <p:cNvPr id="112" name="Google Shape;112;p26"/>
          <p:cNvSpPr txBox="1"/>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i="1" lang="en" sz="2000">
                <a:solidFill>
                  <a:schemeClr val="dk1"/>
                </a:solidFill>
              </a:rPr>
              <a:t>Students should be able to: </a:t>
            </a:r>
            <a:endParaRPr i="1" sz="2000">
              <a:solidFill>
                <a:schemeClr val="dk1"/>
              </a:solidFill>
            </a:endParaRPr>
          </a:p>
          <a:p>
            <a:pPr indent="-336550" lvl="0" marL="457200" rtl="0" algn="l">
              <a:lnSpc>
                <a:spcPct val="115000"/>
              </a:lnSpc>
              <a:spcBef>
                <a:spcPts val="1200"/>
              </a:spcBef>
              <a:spcAft>
                <a:spcPts val="0"/>
              </a:spcAft>
              <a:buClr>
                <a:schemeClr val="accent2"/>
              </a:buClr>
              <a:buSzPts val="1700"/>
              <a:buFont typeface="Lato"/>
              <a:buChar char="●"/>
            </a:pPr>
            <a:r>
              <a:rPr lang="en" sz="1700">
                <a:solidFill>
                  <a:schemeClr val="dk1"/>
                </a:solidFill>
              </a:rPr>
              <a:t>Explain what autonomy means.</a:t>
            </a:r>
            <a:endParaRPr sz="1700">
              <a:solidFill>
                <a:schemeClr val="dk1"/>
              </a:solidFill>
            </a:endParaRPr>
          </a:p>
          <a:p>
            <a:pPr indent="-336550" lvl="0" marL="457200" rtl="0" algn="l">
              <a:lnSpc>
                <a:spcPct val="115000"/>
              </a:lnSpc>
              <a:spcBef>
                <a:spcPts val="0"/>
              </a:spcBef>
              <a:spcAft>
                <a:spcPts val="0"/>
              </a:spcAft>
              <a:buClr>
                <a:schemeClr val="accent2"/>
              </a:buClr>
              <a:buSzPts val="1700"/>
              <a:buFont typeface="Lato"/>
              <a:buChar char="●"/>
            </a:pPr>
            <a:r>
              <a:rPr lang="en" sz="1700">
                <a:solidFill>
                  <a:schemeClr val="dk1"/>
                </a:solidFill>
              </a:rPr>
              <a:t>Given a robot, explain what it does and what kinds of decisions it makes.</a:t>
            </a:r>
            <a:endParaRPr sz="1700">
              <a:solidFill>
                <a:schemeClr val="dk1"/>
              </a:solidFill>
            </a:endParaRPr>
          </a:p>
          <a:p>
            <a:pPr indent="-336550" lvl="0" marL="457200" rtl="0" algn="l">
              <a:lnSpc>
                <a:spcPct val="115000"/>
              </a:lnSpc>
              <a:spcBef>
                <a:spcPts val="0"/>
              </a:spcBef>
              <a:spcAft>
                <a:spcPts val="0"/>
              </a:spcAft>
              <a:buClr>
                <a:schemeClr val="accent2"/>
              </a:buClr>
              <a:buSzPts val="1700"/>
              <a:buFont typeface="Lato"/>
              <a:buChar char="●"/>
            </a:pPr>
            <a:r>
              <a:rPr lang="en" sz="1700">
                <a:solidFill>
                  <a:schemeClr val="dk1"/>
                </a:solidFill>
              </a:rPr>
              <a:t>Decide whether a device is a robot or not. Roombas are robots. Your grandmother’s antique Electrolux vacuum is not a robot. Why not?</a:t>
            </a:r>
            <a:endParaRPr sz="2000">
              <a:solidFill>
                <a:schemeClr val="dk1"/>
              </a:solidFill>
            </a:endParaRPr>
          </a:p>
          <a:p>
            <a:pPr indent="0" lvl="0" marL="457200" rtl="0" algn="l">
              <a:spcBef>
                <a:spcPts val="0"/>
              </a:spcBef>
              <a:spcAft>
                <a:spcPts val="0"/>
              </a:spcAft>
              <a:buNone/>
            </a:pPr>
            <a:r>
              <a:t/>
            </a:r>
            <a:endParaRPr sz="2000">
              <a:solidFill>
                <a:srgbClr val="59595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7"/>
          <p:cNvSpPr txBox="1"/>
          <p:nvPr>
            <p:ph idx="1" type="subTitle"/>
          </p:nvPr>
        </p:nvSpPr>
        <p:spPr>
          <a:xfrm>
            <a:off x="311700" y="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(Activator)</a:t>
            </a:r>
            <a:endParaRPr/>
          </a:p>
        </p:txBody>
      </p:sp>
      <p:sp>
        <p:nvSpPr>
          <p:cNvPr id="118" name="Google Shape;118;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In this video, you can see the evolution of the robots that made Boston Dynamics since 2012&#10;&#10;All videos about robots and Boston Dynamics you can watch on their official channel: https://www.youtube.com/user/BostonDynamics/featured&#10;★★★★★★★★★★★★★★★★★★★★★★★★★★★★★★★★★★★★★★★★&#10;►Don't forget subscribe ☞ http://goo.gl/QXClN9" id="119" name="Google Shape;119;p27" title="Evolution Of Boston Dynamics Since 2012">
            <a:hlinkClick r:id="rId3"/>
          </p:cNvPr>
          <p:cNvPicPr preferRelativeResize="0"/>
          <p:nvPr/>
        </p:nvPicPr>
        <p:blipFill>
          <a:blip r:embed="rId4">
            <a:alphaModFix/>
          </a:blip>
          <a:stretch>
            <a:fillRect/>
          </a:stretch>
        </p:blipFill>
        <p:spPr>
          <a:xfrm>
            <a:off x="1724500" y="603325"/>
            <a:ext cx="5600125" cy="42001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3" name="Shape 123"/>
        <p:cNvGrpSpPr/>
        <p:nvPr/>
      </p:nvGrpSpPr>
      <p:grpSpPr>
        <a:xfrm>
          <a:off x="0" y="0"/>
          <a:ext cx="0" cy="0"/>
          <a:chOff x="0" y="0"/>
          <a:chExt cx="0" cy="0"/>
        </a:xfrm>
      </p:grpSpPr>
      <p:sp>
        <p:nvSpPr>
          <p:cNvPr id="124" name="Google Shape;124;p28"/>
          <p:cNvSpPr txBox="1"/>
          <p:nvPr>
            <p:ph type="ctrTitle"/>
          </p:nvPr>
        </p:nvSpPr>
        <p:spPr>
          <a:xfrm>
            <a:off x="311700" y="744575"/>
            <a:ext cx="8520600" cy="10530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EQs</a:t>
            </a:r>
            <a:endParaRPr/>
          </a:p>
        </p:txBody>
      </p:sp>
      <p:sp>
        <p:nvSpPr>
          <p:cNvPr id="125" name="Google Shape;125;p28"/>
          <p:cNvSpPr txBox="1"/>
          <p:nvPr>
            <p:ph idx="1" type="subTitle"/>
          </p:nvPr>
        </p:nvSpPr>
        <p:spPr>
          <a:xfrm>
            <a:off x="311700" y="1923075"/>
            <a:ext cx="8520600" cy="1703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600">
                <a:solidFill>
                  <a:schemeClr val="dk1"/>
                </a:solidFill>
                <a:latin typeface="Calibri"/>
                <a:ea typeface="Calibri"/>
                <a:cs typeface="Calibri"/>
                <a:sym typeface="Calibri"/>
              </a:rPr>
              <a:t>How are autonomous robots different from other machines/software?</a:t>
            </a:r>
            <a:endParaRPr sz="26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t/>
            </a:r>
            <a:endParaRPr sz="2600">
              <a:solidFill>
                <a:schemeClr val="dk1"/>
              </a:solidFill>
              <a:latin typeface="Calibri"/>
              <a:ea typeface="Calibri"/>
              <a:cs typeface="Calibri"/>
              <a:sym typeface="Calibri"/>
            </a:endParaRPr>
          </a:p>
          <a:p>
            <a:pPr indent="0" lvl="0" marL="0" rtl="0" algn="ctr">
              <a:spcBef>
                <a:spcPts val="0"/>
              </a:spcBef>
              <a:spcAft>
                <a:spcPts val="0"/>
              </a:spcAft>
              <a:buNone/>
            </a:pPr>
            <a:r>
              <a:rPr lang="en" sz="2600">
                <a:solidFill>
                  <a:schemeClr val="dk1"/>
                </a:solidFill>
                <a:latin typeface="Calibri"/>
                <a:ea typeface="Calibri"/>
                <a:cs typeface="Calibri"/>
                <a:sym typeface="Calibri"/>
              </a:rPr>
              <a:t>Where can we find autonomous robots working?</a:t>
            </a:r>
            <a:endParaRPr sz="26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t/>
            </a:r>
            <a:endParaRPr sz="26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rPr lang="en" sz="2600">
                <a:solidFill>
                  <a:schemeClr val="dk1"/>
                </a:solidFill>
                <a:latin typeface="Calibri"/>
                <a:ea typeface="Calibri"/>
                <a:cs typeface="Calibri"/>
                <a:sym typeface="Calibri"/>
              </a:rPr>
              <a:t>How can we differentiate between high, medium, and low levels of autonomy in robots?</a:t>
            </a:r>
            <a:endParaRPr sz="4400"/>
          </a:p>
        </p:txBody>
      </p:sp>
      <p:sp>
        <p:nvSpPr>
          <p:cNvPr id="126" name="Google Shape;126;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0" name="Shape 130"/>
        <p:cNvGrpSpPr/>
        <p:nvPr/>
      </p:nvGrpSpPr>
      <p:grpSpPr>
        <a:xfrm>
          <a:off x="0" y="0"/>
          <a:ext cx="0" cy="0"/>
          <a:chOff x="0" y="0"/>
          <a:chExt cx="0" cy="0"/>
        </a:xfrm>
      </p:grpSpPr>
      <p:sp>
        <p:nvSpPr>
          <p:cNvPr id="131" name="Google Shape;131;p29"/>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Activity 1</a:t>
            </a:r>
            <a:endParaRPr/>
          </a:p>
        </p:txBody>
      </p:sp>
      <p:sp>
        <p:nvSpPr>
          <p:cNvPr id="132" name="Google Shape;132;p29"/>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t>Is it a robot or not?</a:t>
            </a:r>
            <a:endParaRPr b="1"/>
          </a:p>
        </p:txBody>
      </p:sp>
      <p:sp>
        <p:nvSpPr>
          <p:cNvPr id="133" name="Google Shape;133;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7" name="Shape 137"/>
        <p:cNvGrpSpPr/>
        <p:nvPr/>
      </p:nvGrpSpPr>
      <p:grpSpPr>
        <a:xfrm>
          <a:off x="0" y="0"/>
          <a:ext cx="0" cy="0"/>
          <a:chOff x="0" y="0"/>
          <a:chExt cx="0" cy="0"/>
        </a:xfrm>
      </p:grpSpPr>
      <p:sp>
        <p:nvSpPr>
          <p:cNvPr id="138" name="Google Shape;138;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a robot?</a:t>
            </a:r>
            <a:endParaRPr/>
          </a:p>
        </p:txBody>
      </p:sp>
      <p:sp>
        <p:nvSpPr>
          <p:cNvPr id="139" name="Google Shape;139;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Rules of a robot:</a:t>
            </a:r>
            <a:endParaRPr/>
          </a:p>
          <a:p>
            <a:pPr indent="-342900" lvl="0" marL="457200" rtl="0" algn="l">
              <a:spcBef>
                <a:spcPts val="1200"/>
              </a:spcBef>
              <a:spcAft>
                <a:spcPts val="0"/>
              </a:spcAft>
              <a:buSzPts val="1800"/>
              <a:buAutoNum type="arabicPeriod"/>
            </a:pPr>
            <a:r>
              <a:rPr lang="en"/>
              <a:t>It must be a machine (made by humans).</a:t>
            </a:r>
            <a:endParaRPr/>
          </a:p>
          <a:p>
            <a:pPr indent="-342900" lvl="0" marL="457200" rtl="0" algn="l">
              <a:spcBef>
                <a:spcPts val="0"/>
              </a:spcBef>
              <a:spcAft>
                <a:spcPts val="0"/>
              </a:spcAft>
              <a:buSzPts val="1800"/>
              <a:buAutoNum type="arabicPeriod"/>
            </a:pPr>
            <a:r>
              <a:rPr lang="en"/>
              <a:t>It must sense its environment.</a:t>
            </a:r>
            <a:endParaRPr/>
          </a:p>
          <a:p>
            <a:pPr indent="-342900" lvl="0" marL="457200" rtl="0" algn="l">
              <a:spcBef>
                <a:spcPts val="0"/>
              </a:spcBef>
              <a:spcAft>
                <a:spcPts val="0"/>
              </a:spcAft>
              <a:buSzPts val="1800"/>
              <a:buAutoNum type="arabicPeriod"/>
            </a:pPr>
            <a:r>
              <a:rPr lang="en"/>
              <a:t>It must be programmable</a:t>
            </a:r>
            <a:r>
              <a:rPr lang="en"/>
              <a:t> (respond to instructions).</a:t>
            </a:r>
            <a:endParaRPr/>
          </a:p>
          <a:p>
            <a:pPr indent="-342900" lvl="0" marL="457200" rtl="0" algn="l">
              <a:spcBef>
                <a:spcPts val="0"/>
              </a:spcBef>
              <a:spcAft>
                <a:spcPts val="0"/>
              </a:spcAft>
              <a:buSzPts val="1800"/>
              <a:buAutoNum type="arabicPeriod"/>
            </a:pPr>
            <a:r>
              <a:rPr lang="en">
                <a:solidFill>
                  <a:schemeClr val="dk1"/>
                </a:solidFill>
              </a:rPr>
              <a:t>It is controlled from within or is remotely controlled.</a:t>
            </a:r>
            <a:endParaRPr/>
          </a:p>
          <a:p>
            <a:pPr indent="-342900" lvl="0" marL="457200" rtl="0" algn="l">
              <a:spcBef>
                <a:spcPts val="0"/>
              </a:spcBef>
              <a:spcAft>
                <a:spcPts val="0"/>
              </a:spcAft>
              <a:buSzPts val="1800"/>
              <a:buAutoNum type="arabicPeriod"/>
            </a:pPr>
            <a:r>
              <a:rPr lang="en"/>
              <a:t>It must perform a physical action.</a:t>
            </a:r>
            <a:endParaRPr/>
          </a:p>
          <a:p>
            <a:pPr indent="0" lvl="0" marL="0" rtl="0" algn="l">
              <a:spcBef>
                <a:spcPts val="1200"/>
              </a:spcBef>
              <a:spcAft>
                <a:spcPts val="1200"/>
              </a:spcAft>
              <a:buNone/>
            </a:pPr>
            <a:r>
              <a:t/>
            </a:r>
            <a:endParaRPr/>
          </a:p>
        </p:txBody>
      </p:sp>
      <p:sp>
        <p:nvSpPr>
          <p:cNvPr id="140" name="Google Shape;140;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4" name="Shape 144"/>
        <p:cNvGrpSpPr/>
        <p:nvPr/>
      </p:nvGrpSpPr>
      <p:grpSpPr>
        <a:xfrm>
          <a:off x="0" y="0"/>
          <a:ext cx="0" cy="0"/>
          <a:chOff x="0" y="0"/>
          <a:chExt cx="0" cy="0"/>
        </a:xfrm>
      </p:grpSpPr>
      <p:sp>
        <p:nvSpPr>
          <p:cNvPr id="145" name="Google Shape;145;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What’s </a:t>
            </a:r>
            <a:r>
              <a:rPr b="1" lang="en"/>
              <a:t>not</a:t>
            </a:r>
            <a:r>
              <a:rPr lang="en"/>
              <a:t> a robot?</a:t>
            </a:r>
            <a:endParaRPr/>
          </a:p>
        </p:txBody>
      </p:sp>
      <p:sp>
        <p:nvSpPr>
          <p:cNvPr id="146" name="Google Shape;146;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Software “bot” that automates a task but </a:t>
            </a:r>
            <a:r>
              <a:rPr b="1" lang="en"/>
              <a:t>doesn’t</a:t>
            </a:r>
            <a:r>
              <a:rPr lang="en"/>
              <a:t> control a </a:t>
            </a:r>
            <a:r>
              <a:rPr b="1" lang="en"/>
              <a:t>physical device</a:t>
            </a:r>
            <a:endParaRPr b="1"/>
          </a:p>
        </p:txBody>
      </p:sp>
      <p:sp>
        <p:nvSpPr>
          <p:cNvPr id="147" name="Google Shape;147;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148" name="Google Shape;148;p31"/>
          <p:cNvCxnSpPr/>
          <p:nvPr/>
        </p:nvCxnSpPr>
        <p:spPr>
          <a:xfrm>
            <a:off x="1882425" y="2014975"/>
            <a:ext cx="4653000" cy="2412600"/>
          </a:xfrm>
          <a:prstGeom prst="straightConnector1">
            <a:avLst/>
          </a:prstGeom>
          <a:noFill/>
          <a:ln cap="flat" cmpd="sng" w="152400">
            <a:solidFill>
              <a:srgbClr val="FF0000"/>
            </a:solidFill>
            <a:prstDash val="solid"/>
            <a:round/>
            <a:headEnd len="med" w="med" type="none"/>
            <a:tailEnd len="med" w="med" type="none"/>
          </a:ln>
        </p:spPr>
      </p:cxnSp>
      <p:cxnSp>
        <p:nvCxnSpPr>
          <p:cNvPr id="149" name="Google Shape;149;p31"/>
          <p:cNvCxnSpPr/>
          <p:nvPr/>
        </p:nvCxnSpPr>
        <p:spPr>
          <a:xfrm flipH="1">
            <a:off x="1703350" y="2180575"/>
            <a:ext cx="4487400" cy="2247000"/>
          </a:xfrm>
          <a:prstGeom prst="straightConnector1">
            <a:avLst/>
          </a:prstGeom>
          <a:noFill/>
          <a:ln cap="flat" cmpd="sng" w="152400">
            <a:solidFill>
              <a:srgbClr val="FF0000"/>
            </a:solidFill>
            <a:prstDash val="solid"/>
            <a:round/>
            <a:headEnd len="med" w="med" type="none"/>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3" name="Shape 153"/>
        <p:cNvGrpSpPr/>
        <p:nvPr/>
      </p:nvGrpSpPr>
      <p:grpSpPr>
        <a:xfrm>
          <a:off x="0" y="0"/>
          <a:ext cx="0" cy="0"/>
          <a:chOff x="0" y="0"/>
          <a:chExt cx="0" cy="0"/>
        </a:xfrm>
      </p:grpSpPr>
      <p:sp>
        <p:nvSpPr>
          <p:cNvPr id="154" name="Google Shape;154;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 </a:t>
            </a:r>
            <a:r>
              <a:rPr lang="en"/>
              <a:t>Robot or Not? Riding </a:t>
            </a:r>
            <a:r>
              <a:rPr lang="en"/>
              <a:t>Lawn Mower</a:t>
            </a:r>
            <a:endParaRPr/>
          </a:p>
        </p:txBody>
      </p:sp>
      <p:sp>
        <p:nvSpPr>
          <p:cNvPr id="155" name="Google Shape;155;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id="156" name="Google Shape;156;p32"/>
          <p:cNvPicPr preferRelativeResize="0"/>
          <p:nvPr/>
        </p:nvPicPr>
        <p:blipFill>
          <a:blip r:embed="rId3">
            <a:alphaModFix/>
          </a:blip>
          <a:stretch>
            <a:fillRect/>
          </a:stretch>
        </p:blipFill>
        <p:spPr>
          <a:xfrm>
            <a:off x="1350000" y="1017725"/>
            <a:ext cx="5731463" cy="38209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3"/>
          <p:cNvSpPr txBox="1"/>
          <p:nvPr>
            <p:ph type="ctrTitle"/>
          </p:nvPr>
        </p:nvSpPr>
        <p:spPr>
          <a:xfrm>
            <a:off x="1345625" y="2341275"/>
            <a:ext cx="8520600" cy="1777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Optional </a:t>
            </a:r>
            <a:r>
              <a:rPr lang="en"/>
              <a:t>Resources</a:t>
            </a:r>
            <a:endParaRPr/>
          </a:p>
        </p:txBody>
      </p:sp>
      <p:sp>
        <p:nvSpPr>
          <p:cNvPr id="162" name="Google Shape;162;p33"/>
          <p:cNvSpPr txBox="1"/>
          <p:nvPr>
            <p:ph idx="1" type="subTitle"/>
          </p:nvPr>
        </p:nvSpPr>
        <p:spPr>
          <a:xfrm>
            <a:off x="213625" y="247450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u="sng">
                <a:solidFill>
                  <a:schemeClr val="hlink"/>
                </a:solidFill>
                <a:hlinkClick r:id="rId3"/>
              </a:rPr>
              <a:t>Kahoot Instructor Edition</a:t>
            </a:r>
            <a:r>
              <a:rPr lang="en"/>
              <a:t>*</a:t>
            </a:r>
            <a:endParaRPr/>
          </a:p>
        </p:txBody>
      </p:sp>
      <p:sp>
        <p:nvSpPr>
          <p:cNvPr id="163" name="Google Shape;163;p33"/>
          <p:cNvSpPr txBox="1"/>
          <p:nvPr/>
        </p:nvSpPr>
        <p:spPr>
          <a:xfrm>
            <a:off x="1345625" y="4558500"/>
            <a:ext cx="68436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*Note that the </a:t>
            </a:r>
            <a:r>
              <a:rPr lang="en" sz="1200" u="sng">
                <a:solidFill>
                  <a:schemeClr val="accent5"/>
                </a:solidFill>
                <a:hlinkClick r:id="rId4">
                  <a:extLst>
                    <a:ext uri="{A12FA001-AC4F-418D-AE19-62706E023703}">
                      <ahyp:hlinkClr val="tx"/>
                    </a:ext>
                  </a:extLst>
                </a:hlinkClick>
              </a:rPr>
              <a:t>Kahoot Instructor Edition</a:t>
            </a:r>
            <a:r>
              <a:rPr lang="en" sz="1200"/>
              <a:t> does not have all of the same examples as the slides/worksheet and due to gray areas of robot, some answers may spark debate.</a:t>
            </a:r>
            <a:endParaRPr sz="12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7" name="Shape 167"/>
        <p:cNvGrpSpPr/>
        <p:nvPr/>
      </p:nvGrpSpPr>
      <p:grpSpPr>
        <a:xfrm>
          <a:off x="0" y="0"/>
          <a:ext cx="0" cy="0"/>
          <a:chOff x="0" y="0"/>
          <a:chExt cx="0" cy="0"/>
        </a:xfrm>
      </p:grpSpPr>
      <p:sp>
        <p:nvSpPr>
          <p:cNvPr id="168" name="Google Shape;168;p34"/>
          <p:cNvSpPr txBox="1"/>
          <p:nvPr>
            <p:ph type="title"/>
          </p:nvPr>
        </p:nvSpPr>
        <p:spPr>
          <a:xfrm>
            <a:off x="311700" y="263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 Cowbrush</a:t>
            </a:r>
            <a:endParaRPr/>
          </a:p>
        </p:txBody>
      </p:sp>
      <p:sp>
        <p:nvSpPr>
          <p:cNvPr id="169" name="Google Shape;169;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descr="Natural behaviour is essential for cows that need to optimally perform. DeLaval cow brushes improve animal welfare and promote correct cow traffic in the barn. They are developed to increase cow health, cow comfort, animal welfare and overall performance. &#10; &#10;The cow brush improves animal welfare by increasing blood circulation while keeping the cows clean, busy and happy.    &#10; &#10;A cow brush promotes cow traffic and natural behaviour. It contributes to the herds overall well - being. Cows will not scratch themselves against the interior any longer, which saves costs and prevents accidents. Increased cow welfare and comfort giving more milk." id="170" name="Google Shape;170;p34" title="Swinging Cow Brush SCB | The Right Device for Cow Health | DeLaval">
            <a:hlinkClick r:id="rId3"/>
          </p:cNvPr>
          <p:cNvPicPr preferRelativeResize="0"/>
          <p:nvPr/>
        </p:nvPicPr>
        <p:blipFill>
          <a:blip r:embed="rId4">
            <a:alphaModFix/>
          </a:blip>
          <a:stretch>
            <a:fillRect/>
          </a:stretch>
        </p:blipFill>
        <p:spPr>
          <a:xfrm>
            <a:off x="2790300" y="720200"/>
            <a:ext cx="5682150" cy="4261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70"/>
                                        </p:tgtEl>
                                        <p:attrNameLst>
                                          <p:attrName>style.visibility</p:attrName>
                                        </p:attrNameLst>
                                      </p:cBhvr>
                                      <p:to>
                                        <p:strVal val="visible"/>
                                      </p:to>
                                    </p:set>
                                    <p:animEffect filter="fade" transition="in">
                                      <p:cBhvr>
                                        <p:cTn dur="1000"/>
                                        <p:tgtEl>
                                          <p:spTgt spid="1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4" name="Shape 174"/>
        <p:cNvGrpSpPr/>
        <p:nvPr/>
      </p:nvGrpSpPr>
      <p:grpSpPr>
        <a:xfrm>
          <a:off x="0" y="0"/>
          <a:ext cx="0" cy="0"/>
          <a:chOff x="0" y="0"/>
          <a:chExt cx="0" cy="0"/>
        </a:xfrm>
      </p:grpSpPr>
      <p:sp>
        <p:nvSpPr>
          <p:cNvPr id="175" name="Google Shape;175;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a:t>
            </a:r>
            <a:endParaRPr/>
          </a:p>
          <a:p>
            <a:pPr indent="0" lvl="0" marL="0" rtl="0" algn="l">
              <a:spcBef>
                <a:spcPts val="0"/>
              </a:spcBef>
              <a:spcAft>
                <a:spcPts val="0"/>
              </a:spcAft>
              <a:buNone/>
            </a:pPr>
            <a:r>
              <a:rPr lang="en"/>
              <a:t>Car Assembler</a:t>
            </a:r>
            <a:endParaRPr/>
          </a:p>
        </p:txBody>
      </p:sp>
      <p:sp>
        <p:nvSpPr>
          <p:cNvPr id="176" name="Google Shape;176;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descr="BMW Car Factory Robots- Fast Extreme Automatic Manufacturing. Fast Extreme and Automatic Car Manufacturing Factory, Modern BMW cars Assembly Technology....BMW X2, i8, new BMW X7 and 5- Series Production Assembly Line. Cars Production is Oddly Satisfying #BMW #Manufacturing #CarFactory&#10;&#10;⚡️ Discover ALL new cars before anyone else! SUBSCRIBE Now to Gommeblog Car and Performance ► http://goo.gl/sP8oKK &#10;&#10;🔔 Don’t miss next videos: Press the little bell ((🔔)) to get notifications&#10;&#10;🔥 My website ►: https://www.gommeblog.it/&#10;&#10; 2019 bmw x7 i8 5-Series X2 manufactory bmw x7 2020&#10;&#10;&quot;SUBSCRIBE&quot;" id="177" name="Google Shape;177;p35" title="BMW Car Factory ROBOTS - Fast Manufacturing">
            <a:hlinkClick r:id="rId3"/>
          </p:cNvPr>
          <p:cNvPicPr preferRelativeResize="0"/>
          <p:nvPr/>
        </p:nvPicPr>
        <p:blipFill>
          <a:blip r:embed="rId4">
            <a:alphaModFix/>
          </a:blip>
          <a:stretch>
            <a:fillRect/>
          </a:stretch>
        </p:blipFill>
        <p:spPr>
          <a:xfrm>
            <a:off x="2576683" y="315775"/>
            <a:ext cx="6132167" cy="4599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77"/>
                                        </p:tgtEl>
                                        <p:attrNameLst>
                                          <p:attrName>style.visibility</p:attrName>
                                        </p:attrNameLst>
                                      </p:cBhvr>
                                      <p:to>
                                        <p:strVal val="visible"/>
                                      </p:to>
                                    </p:set>
                                    <p:animEffect filter="fade" transition="in">
                                      <p:cBhvr>
                                        <p:cTn dur="1000"/>
                                        <p:tgtEl>
                                          <p:spTgt spid="1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1" name="Shape 181"/>
        <p:cNvGrpSpPr/>
        <p:nvPr/>
      </p:nvGrpSpPr>
      <p:grpSpPr>
        <a:xfrm>
          <a:off x="0" y="0"/>
          <a:ext cx="0" cy="0"/>
          <a:chOff x="0" y="0"/>
          <a:chExt cx="0" cy="0"/>
        </a:xfrm>
      </p:grpSpPr>
      <p:sp>
        <p:nvSpPr>
          <p:cNvPr id="182" name="Google Shape;182;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 Netflix </a:t>
            </a:r>
            <a:r>
              <a:rPr lang="en"/>
              <a:t>Recommendation</a:t>
            </a:r>
            <a:r>
              <a:rPr lang="en"/>
              <a:t> Bot</a:t>
            </a:r>
            <a:endParaRPr/>
          </a:p>
        </p:txBody>
      </p:sp>
      <p:sp>
        <p:nvSpPr>
          <p:cNvPr id="183" name="Google Shape;183;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84" name="Google Shape;184;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85" name="Google Shape;185;p36"/>
          <p:cNvPicPr preferRelativeResize="0"/>
          <p:nvPr/>
        </p:nvPicPr>
        <p:blipFill rotWithShape="1">
          <a:blip r:embed="rId3">
            <a:alphaModFix/>
          </a:blip>
          <a:srcRect b="6318" l="24648" r="26495" t="20715"/>
          <a:stretch/>
        </p:blipFill>
        <p:spPr>
          <a:xfrm>
            <a:off x="1948800" y="1229800"/>
            <a:ext cx="5185800" cy="38724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9" name="Shape 189"/>
        <p:cNvGrpSpPr/>
        <p:nvPr/>
      </p:nvGrpSpPr>
      <p:grpSpPr>
        <a:xfrm>
          <a:off x="0" y="0"/>
          <a:ext cx="0" cy="0"/>
          <a:chOff x="0" y="0"/>
          <a:chExt cx="0" cy="0"/>
        </a:xfrm>
      </p:grpSpPr>
      <p:sp>
        <p:nvSpPr>
          <p:cNvPr id="190" name="Google Shape;190;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a:t>
            </a:r>
            <a:endParaRPr/>
          </a:p>
          <a:p>
            <a:pPr indent="0" lvl="0" marL="0" rtl="0" algn="l">
              <a:spcBef>
                <a:spcPts val="0"/>
              </a:spcBef>
              <a:spcAft>
                <a:spcPts val="0"/>
              </a:spcAft>
              <a:buNone/>
            </a:pPr>
            <a:r>
              <a:rPr lang="en"/>
              <a:t>Self-Driving Tractor</a:t>
            </a:r>
            <a:endParaRPr/>
          </a:p>
        </p:txBody>
      </p:sp>
      <p:sp>
        <p:nvSpPr>
          <p:cNvPr id="191" name="Google Shape;191;p37"/>
          <p:cNvSpPr txBox="1"/>
          <p:nvPr>
            <p:ph idx="1" type="body"/>
          </p:nvPr>
        </p:nvSpPr>
        <p:spPr>
          <a:xfrm>
            <a:off x="311700" y="1152475"/>
            <a:ext cx="28971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192" name="Google Shape;192;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descr="In September 2020, Dutch start-up AgXeed premiered its robot tractor for Future Farming. A robot that growers have been waiting for, they say. We had the opportunity to be the first to see it at work: autonomously subsoiling and spading a field." id="193" name="Google Shape;193;p37" title="AgXeed robot tractor test drive: first impression">
            <a:hlinkClick r:id="rId3"/>
          </p:cNvPr>
          <p:cNvPicPr preferRelativeResize="0"/>
          <p:nvPr/>
        </p:nvPicPr>
        <p:blipFill>
          <a:blip r:embed="rId4">
            <a:alphaModFix/>
          </a:blip>
          <a:stretch>
            <a:fillRect/>
          </a:stretch>
        </p:blipFill>
        <p:spPr>
          <a:xfrm>
            <a:off x="3361200" y="445025"/>
            <a:ext cx="5538800" cy="4154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93"/>
                                        </p:tgtEl>
                                        <p:attrNameLst>
                                          <p:attrName>style.visibility</p:attrName>
                                        </p:attrNameLst>
                                      </p:cBhvr>
                                      <p:to>
                                        <p:strVal val="visible"/>
                                      </p:to>
                                    </p:set>
                                    <p:animEffect filter="fade" transition="in">
                                      <p:cBhvr>
                                        <p:cTn dur="1000"/>
                                        <p:tgtEl>
                                          <p:spTgt spid="1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7" name="Shape 197"/>
        <p:cNvGrpSpPr/>
        <p:nvPr/>
      </p:nvGrpSpPr>
      <p:grpSpPr>
        <a:xfrm>
          <a:off x="0" y="0"/>
          <a:ext cx="0" cy="0"/>
          <a:chOff x="0" y="0"/>
          <a:chExt cx="0" cy="0"/>
        </a:xfrm>
      </p:grpSpPr>
      <p:sp>
        <p:nvSpPr>
          <p:cNvPr id="198" name="Google Shape;198;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a:t>
            </a:r>
            <a:endParaRPr/>
          </a:p>
          <a:p>
            <a:pPr indent="0" lvl="0" marL="0" rtl="0" algn="l">
              <a:spcBef>
                <a:spcPts val="0"/>
              </a:spcBef>
              <a:spcAft>
                <a:spcPts val="0"/>
              </a:spcAft>
              <a:buNone/>
            </a:pPr>
            <a:r>
              <a:rPr lang="en"/>
              <a:t>TikTok</a:t>
            </a:r>
            <a:endParaRPr/>
          </a:p>
        </p:txBody>
      </p:sp>
      <p:sp>
        <p:nvSpPr>
          <p:cNvPr id="199" name="Google Shape;199;p38"/>
          <p:cNvSpPr txBox="1"/>
          <p:nvPr>
            <p:ph idx="1" type="body"/>
          </p:nvPr>
        </p:nvSpPr>
        <p:spPr>
          <a:xfrm>
            <a:off x="311700" y="1152475"/>
            <a:ext cx="28971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200" name="Google Shape;200;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id="201" name="Google Shape;201;p38"/>
          <p:cNvPicPr preferRelativeResize="0"/>
          <p:nvPr/>
        </p:nvPicPr>
        <p:blipFill>
          <a:blip r:embed="rId3">
            <a:alphaModFix/>
          </a:blip>
          <a:stretch>
            <a:fillRect/>
          </a:stretch>
        </p:blipFill>
        <p:spPr>
          <a:xfrm>
            <a:off x="3777800" y="747900"/>
            <a:ext cx="3820975" cy="38209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5" name="Shape 205"/>
        <p:cNvGrpSpPr/>
        <p:nvPr/>
      </p:nvGrpSpPr>
      <p:grpSpPr>
        <a:xfrm>
          <a:off x="0" y="0"/>
          <a:ext cx="0" cy="0"/>
          <a:chOff x="0" y="0"/>
          <a:chExt cx="0" cy="0"/>
        </a:xfrm>
      </p:grpSpPr>
      <p:sp>
        <p:nvSpPr>
          <p:cNvPr id="206" name="Google Shape;206;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a:t>
            </a:r>
            <a:endParaRPr/>
          </a:p>
          <a:p>
            <a:pPr indent="0" lvl="0" marL="0" rtl="0" algn="l">
              <a:spcBef>
                <a:spcPts val="0"/>
              </a:spcBef>
              <a:spcAft>
                <a:spcPts val="0"/>
              </a:spcAft>
              <a:buNone/>
            </a:pPr>
            <a:r>
              <a:rPr lang="en"/>
              <a:t>Microwave</a:t>
            </a:r>
            <a:endParaRPr/>
          </a:p>
        </p:txBody>
      </p:sp>
      <p:sp>
        <p:nvSpPr>
          <p:cNvPr id="207" name="Google Shape;207;p39"/>
          <p:cNvSpPr txBox="1"/>
          <p:nvPr>
            <p:ph idx="1" type="body"/>
          </p:nvPr>
        </p:nvSpPr>
        <p:spPr>
          <a:xfrm>
            <a:off x="311700" y="1152475"/>
            <a:ext cx="28971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208" name="Google Shape;208;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id="209" name="Google Shape;209;p39"/>
          <p:cNvPicPr preferRelativeResize="0"/>
          <p:nvPr/>
        </p:nvPicPr>
        <p:blipFill>
          <a:blip r:embed="rId3">
            <a:alphaModFix/>
          </a:blip>
          <a:stretch>
            <a:fillRect/>
          </a:stretch>
        </p:blipFill>
        <p:spPr>
          <a:xfrm>
            <a:off x="3498300" y="1360475"/>
            <a:ext cx="5334000" cy="30003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3" name="Shape 213"/>
        <p:cNvGrpSpPr/>
        <p:nvPr/>
      </p:nvGrpSpPr>
      <p:grpSpPr>
        <a:xfrm>
          <a:off x="0" y="0"/>
          <a:ext cx="0" cy="0"/>
          <a:chOff x="0" y="0"/>
          <a:chExt cx="0" cy="0"/>
        </a:xfrm>
      </p:grpSpPr>
      <p:sp>
        <p:nvSpPr>
          <p:cNvPr id="214" name="Google Shape;214;p40"/>
          <p:cNvSpPr txBox="1"/>
          <p:nvPr>
            <p:ph type="title"/>
          </p:nvPr>
        </p:nvSpPr>
        <p:spPr>
          <a:xfrm>
            <a:off x="311700" y="445025"/>
            <a:ext cx="8520600" cy="106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Robot or Not?</a:t>
            </a:r>
            <a:endParaRPr/>
          </a:p>
          <a:p>
            <a:pPr indent="0" lvl="0" marL="0" rtl="0" algn="l">
              <a:spcBef>
                <a:spcPts val="0"/>
              </a:spcBef>
              <a:spcAft>
                <a:spcPts val="0"/>
              </a:spcAft>
              <a:buNone/>
            </a:pPr>
            <a:r>
              <a:rPr lang="en"/>
              <a:t>Roomba Vaccum</a:t>
            </a:r>
            <a:endParaRPr/>
          </a:p>
        </p:txBody>
      </p:sp>
      <p:sp>
        <p:nvSpPr>
          <p:cNvPr id="215" name="Google Shape;215;p40"/>
          <p:cNvSpPr txBox="1"/>
          <p:nvPr>
            <p:ph idx="1" type="body"/>
          </p:nvPr>
        </p:nvSpPr>
        <p:spPr>
          <a:xfrm>
            <a:off x="311700" y="1152475"/>
            <a:ext cx="28971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216" name="Google Shape;216;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descr="The robot that started the revolution is back and better than ever and now includes the iRobot HOME App that makes customizing your Roomba® 980 easier than ever. Learn more https://www.irobot.com/roomba/900-series&#10;&#10;Find out which robot is best for you: https://www.irobot.com/help-me-choose&#10;Facebook: https://www.facebook.com/irobot  ​ &#10;Instagram: https://www.instagram.com/irobot ​ &#10;Twitter: https://www.twitter.com/iRobot ​   &#10;LinkedIn: https://www.linkedin.com/company/irobot  ​ &#10;Support: https://homesupport.irobot.com/​ &#10;  &#10;SUBSCRIBE to get notified when new iRobot videos are posted: http://bit.ly/390fdJy.  &#10;  &#10;iRobot, the leading global consumer robot company, designs and builds robots that empower people to do more both inside and outside of the home. iRobot's products, including the award-winning Roomba® Robot Vacuum, the Braava® family of robot mops, Terra® Robot Mower and Root® Coding Robot. Our products have been welcomed into millions of homes around the world and are hard at work every day helping people to get more done. ​ &#10;  &#10;We are committed to fostering invention, discovery and technological exploration in the pursuit of practical and valuable robot products for the home. iRobot is at the forefront of developing technologies in the areas of mapping and navigation, human-robot interaction, and physical solutions. We seek to build an ecosystem of robots and technologies to enable the smart home, both through internal initiatives and by building strategic external partnerships. ​" id="217" name="Google Shape;217;p40" title="How to Use iRobot Roomba® 980 | Roomba® 980 | iRobot®">
            <a:hlinkClick r:id="rId3"/>
          </p:cNvPr>
          <p:cNvPicPr preferRelativeResize="0"/>
          <p:nvPr/>
        </p:nvPicPr>
        <p:blipFill>
          <a:blip r:embed="rId4">
            <a:alphaModFix/>
          </a:blip>
          <a:stretch>
            <a:fillRect/>
          </a:stretch>
        </p:blipFill>
        <p:spPr>
          <a:xfrm>
            <a:off x="3361200" y="354163"/>
            <a:ext cx="5659950" cy="42449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17"/>
                                        </p:tgtEl>
                                        <p:attrNameLst>
                                          <p:attrName>style.visibility</p:attrName>
                                        </p:attrNameLst>
                                      </p:cBhvr>
                                      <p:to>
                                        <p:strVal val="visible"/>
                                      </p:to>
                                    </p:set>
                                    <p:animEffect filter="fade" transition="in">
                                      <p:cBhvr>
                                        <p:cTn dur="1000"/>
                                        <p:tgtEl>
                                          <p:spTgt spid="2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1" name="Shape 221"/>
        <p:cNvGrpSpPr/>
        <p:nvPr/>
      </p:nvGrpSpPr>
      <p:grpSpPr>
        <a:xfrm>
          <a:off x="0" y="0"/>
          <a:ext cx="0" cy="0"/>
          <a:chOff x="0" y="0"/>
          <a:chExt cx="0" cy="0"/>
        </a:xfrm>
      </p:grpSpPr>
      <p:sp>
        <p:nvSpPr>
          <p:cNvPr id="222" name="Google Shape;222;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a:t>
            </a:r>
            <a:endParaRPr/>
          </a:p>
        </p:txBody>
      </p:sp>
      <p:sp>
        <p:nvSpPr>
          <p:cNvPr id="223" name="Google Shape;223;p41"/>
          <p:cNvSpPr txBox="1"/>
          <p:nvPr>
            <p:ph idx="1" type="body"/>
          </p:nvPr>
        </p:nvSpPr>
        <p:spPr>
          <a:xfrm>
            <a:off x="311700" y="1152475"/>
            <a:ext cx="28971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224" name="Google Shape;224;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25" name="Google Shape;225;p41"/>
          <p:cNvPicPr preferRelativeResize="0"/>
          <p:nvPr/>
        </p:nvPicPr>
        <p:blipFill>
          <a:blip r:embed="rId3">
            <a:alphaModFix/>
          </a:blip>
          <a:stretch>
            <a:fillRect/>
          </a:stretch>
        </p:blipFill>
        <p:spPr>
          <a:xfrm>
            <a:off x="549425" y="1401775"/>
            <a:ext cx="5630400" cy="3167100"/>
          </a:xfrm>
          <a:prstGeom prst="rect">
            <a:avLst/>
          </a:prstGeom>
          <a:noFill/>
          <a:ln>
            <a:noFill/>
          </a:ln>
        </p:spPr>
      </p:pic>
      <p:sp>
        <p:nvSpPr>
          <p:cNvPr id="226" name="Google Shape;226;p41"/>
          <p:cNvSpPr txBox="1"/>
          <p:nvPr/>
        </p:nvSpPr>
        <p:spPr>
          <a:xfrm>
            <a:off x="6371850" y="1645925"/>
            <a:ext cx="2571000" cy="133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t>1970 </a:t>
            </a:r>
            <a:endParaRPr sz="2500"/>
          </a:p>
          <a:p>
            <a:pPr indent="0" lvl="0" marL="0" rtl="0" algn="l">
              <a:spcBef>
                <a:spcPts val="0"/>
              </a:spcBef>
              <a:spcAft>
                <a:spcPts val="0"/>
              </a:spcAft>
              <a:buNone/>
            </a:pPr>
            <a:r>
              <a:rPr lang="en" sz="2500"/>
              <a:t>Ford </a:t>
            </a:r>
            <a:endParaRPr sz="2500"/>
          </a:p>
          <a:p>
            <a:pPr indent="0" lvl="0" marL="0" rtl="0" algn="l">
              <a:spcBef>
                <a:spcPts val="0"/>
              </a:spcBef>
              <a:spcAft>
                <a:spcPts val="0"/>
              </a:spcAft>
              <a:buNone/>
            </a:pPr>
            <a:r>
              <a:rPr lang="en" sz="2500"/>
              <a:t>Mustang Mach 1</a:t>
            </a:r>
            <a:endParaRPr sz="25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0" name="Shape 230"/>
        <p:cNvGrpSpPr/>
        <p:nvPr/>
      </p:nvGrpSpPr>
      <p:grpSpPr>
        <a:xfrm>
          <a:off x="0" y="0"/>
          <a:ext cx="0" cy="0"/>
          <a:chOff x="0" y="0"/>
          <a:chExt cx="0" cy="0"/>
        </a:xfrm>
      </p:grpSpPr>
      <p:sp>
        <p:nvSpPr>
          <p:cNvPr id="231" name="Google Shape;231;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a:t>
            </a:r>
            <a:endParaRPr/>
          </a:p>
          <a:p>
            <a:pPr indent="0" lvl="0" marL="0" rtl="0" algn="l">
              <a:spcBef>
                <a:spcPts val="0"/>
              </a:spcBef>
              <a:spcAft>
                <a:spcPts val="0"/>
              </a:spcAft>
              <a:buNone/>
            </a:pPr>
            <a:r>
              <a:rPr lang="en"/>
              <a:t>Drone</a:t>
            </a:r>
            <a:endParaRPr/>
          </a:p>
        </p:txBody>
      </p:sp>
      <p:sp>
        <p:nvSpPr>
          <p:cNvPr id="232" name="Google Shape;232;p42"/>
          <p:cNvSpPr txBox="1"/>
          <p:nvPr>
            <p:ph idx="1" type="body"/>
          </p:nvPr>
        </p:nvSpPr>
        <p:spPr>
          <a:xfrm>
            <a:off x="311700" y="1152475"/>
            <a:ext cx="28971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233" name="Google Shape;233;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id="234" name="Google Shape;234;p42"/>
          <p:cNvPicPr preferRelativeResize="0"/>
          <p:nvPr/>
        </p:nvPicPr>
        <p:blipFill>
          <a:blip r:embed="rId3">
            <a:alphaModFix/>
          </a:blip>
          <a:stretch>
            <a:fillRect/>
          </a:stretch>
        </p:blipFill>
        <p:spPr>
          <a:xfrm>
            <a:off x="3361922" y="1017726"/>
            <a:ext cx="5470378" cy="36455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8" name="Shape 238"/>
        <p:cNvGrpSpPr/>
        <p:nvPr/>
      </p:nvGrpSpPr>
      <p:grpSpPr>
        <a:xfrm>
          <a:off x="0" y="0"/>
          <a:ext cx="0" cy="0"/>
          <a:chOff x="0" y="0"/>
          <a:chExt cx="0" cy="0"/>
        </a:xfrm>
      </p:grpSpPr>
      <p:sp>
        <p:nvSpPr>
          <p:cNvPr id="239" name="Google Shape;239;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a:t>
            </a:r>
            <a:endParaRPr/>
          </a:p>
          <a:p>
            <a:pPr indent="0" lvl="0" marL="0" rtl="0" algn="l">
              <a:spcBef>
                <a:spcPts val="0"/>
              </a:spcBef>
              <a:spcAft>
                <a:spcPts val="0"/>
              </a:spcAft>
              <a:buNone/>
            </a:pPr>
            <a:r>
              <a:rPr lang="en"/>
              <a:t>Tablet</a:t>
            </a:r>
            <a:endParaRPr/>
          </a:p>
        </p:txBody>
      </p:sp>
      <p:sp>
        <p:nvSpPr>
          <p:cNvPr id="240" name="Google Shape;240;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id="241" name="Google Shape;241;p43"/>
          <p:cNvPicPr preferRelativeResize="0"/>
          <p:nvPr/>
        </p:nvPicPr>
        <p:blipFill>
          <a:blip r:embed="rId3">
            <a:alphaModFix/>
          </a:blip>
          <a:stretch>
            <a:fillRect/>
          </a:stretch>
        </p:blipFill>
        <p:spPr>
          <a:xfrm>
            <a:off x="2916050" y="519825"/>
            <a:ext cx="5731462" cy="38209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5" name="Shape 245"/>
        <p:cNvGrpSpPr/>
        <p:nvPr/>
      </p:nvGrpSpPr>
      <p:grpSpPr>
        <a:xfrm>
          <a:off x="0" y="0"/>
          <a:ext cx="0" cy="0"/>
          <a:chOff x="0" y="0"/>
          <a:chExt cx="0" cy="0"/>
        </a:xfrm>
      </p:grpSpPr>
      <p:sp>
        <p:nvSpPr>
          <p:cNvPr id="246" name="Google Shape;246;p44"/>
          <p:cNvSpPr txBox="1"/>
          <p:nvPr>
            <p:ph type="title"/>
          </p:nvPr>
        </p:nvSpPr>
        <p:spPr>
          <a:xfrm>
            <a:off x="72000" y="102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a:t>
            </a:r>
            <a:r>
              <a:rPr lang="en"/>
              <a:t>bot or Not?</a:t>
            </a:r>
            <a:endParaRPr/>
          </a:p>
        </p:txBody>
      </p:sp>
      <p:sp>
        <p:nvSpPr>
          <p:cNvPr id="247" name="Google Shape;247;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descr="Official press video and commercial footage of the newly-announced Tesla Model 3. With the new Model 3 officially revealed by Tesla CEO Elon Musk, this is one of the first looks we have of this brand new EV.&#10;&#10;Many test drives, reviews, comparisons and drag races are sure to follow, but this is it - your first real look!&#10;&#10;Be sure to subscribe to our channel for more great content! And follow @TeslaCentral everywhere you go!" id="248" name="Google Shape;248;p44" title="Test Drive: The Tesla Model 3 [Official Video]">
            <a:hlinkClick r:id="rId3"/>
          </p:cNvPr>
          <p:cNvPicPr preferRelativeResize="0"/>
          <p:nvPr/>
        </p:nvPicPr>
        <p:blipFill>
          <a:blip r:embed="rId4">
            <a:alphaModFix/>
          </a:blip>
          <a:stretch>
            <a:fillRect/>
          </a:stretch>
        </p:blipFill>
        <p:spPr>
          <a:xfrm>
            <a:off x="3361200" y="675575"/>
            <a:ext cx="5231400" cy="3923550"/>
          </a:xfrm>
          <a:prstGeom prst="rect">
            <a:avLst/>
          </a:prstGeom>
          <a:noFill/>
          <a:ln>
            <a:noFill/>
          </a:ln>
        </p:spPr>
      </p:pic>
      <p:sp>
        <p:nvSpPr>
          <p:cNvPr id="249" name="Google Shape;249;p44"/>
          <p:cNvSpPr txBox="1"/>
          <p:nvPr/>
        </p:nvSpPr>
        <p:spPr>
          <a:xfrm>
            <a:off x="69675" y="913550"/>
            <a:ext cx="244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Self-Driving Car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gtEl>
                                        <p:attrNameLst>
                                          <p:attrName>style.visibility</p:attrName>
                                        </p:attrNameLst>
                                      </p:cBhvr>
                                      <p:to>
                                        <p:strVal val="visible"/>
                                      </p:to>
                                    </p:set>
                                    <p:animEffect filter="fade" transition="in">
                                      <p:cBhvr>
                                        <p:cTn dur="1000"/>
                                        <p:tgtEl>
                                          <p:spTgt spid="2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3" name="Shape 253"/>
        <p:cNvGrpSpPr/>
        <p:nvPr/>
      </p:nvGrpSpPr>
      <p:grpSpPr>
        <a:xfrm>
          <a:off x="0" y="0"/>
          <a:ext cx="0" cy="0"/>
          <a:chOff x="0" y="0"/>
          <a:chExt cx="0" cy="0"/>
        </a:xfrm>
      </p:grpSpPr>
      <p:sp>
        <p:nvSpPr>
          <p:cNvPr id="254" name="Google Shape;254;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 Toy</a:t>
            </a:r>
            <a:endParaRPr/>
          </a:p>
        </p:txBody>
      </p:sp>
      <p:sp>
        <p:nvSpPr>
          <p:cNvPr id="255" name="Google Shape;255;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id="256" name="Google Shape;256;p45"/>
          <p:cNvPicPr preferRelativeResize="0"/>
          <p:nvPr/>
        </p:nvPicPr>
        <p:blipFill>
          <a:blip r:embed="rId3">
            <a:alphaModFix/>
          </a:blip>
          <a:stretch>
            <a:fillRect/>
          </a:stretch>
        </p:blipFill>
        <p:spPr>
          <a:xfrm>
            <a:off x="4053600" y="842250"/>
            <a:ext cx="3820976" cy="382097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0" name="Shape 260"/>
        <p:cNvGrpSpPr/>
        <p:nvPr/>
      </p:nvGrpSpPr>
      <p:grpSpPr>
        <a:xfrm>
          <a:off x="0" y="0"/>
          <a:ext cx="0" cy="0"/>
          <a:chOff x="0" y="0"/>
          <a:chExt cx="0" cy="0"/>
        </a:xfrm>
      </p:grpSpPr>
      <p:sp>
        <p:nvSpPr>
          <p:cNvPr id="261" name="Google Shape;261;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a:t>
            </a:r>
            <a:endParaRPr/>
          </a:p>
          <a:p>
            <a:pPr indent="0" lvl="0" marL="0" rtl="0" algn="l">
              <a:spcBef>
                <a:spcPts val="0"/>
              </a:spcBef>
              <a:spcAft>
                <a:spcPts val="0"/>
              </a:spcAft>
              <a:buNone/>
            </a:pPr>
            <a:r>
              <a:rPr lang="en"/>
              <a:t>Vending Machine</a:t>
            </a:r>
            <a:endParaRPr/>
          </a:p>
        </p:txBody>
      </p:sp>
      <p:sp>
        <p:nvSpPr>
          <p:cNvPr id="262" name="Google Shape;262;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id="263" name="Google Shape;263;p46"/>
          <p:cNvPicPr preferRelativeResize="0"/>
          <p:nvPr/>
        </p:nvPicPr>
        <p:blipFill>
          <a:blip r:embed="rId3">
            <a:alphaModFix/>
          </a:blip>
          <a:stretch>
            <a:fillRect/>
          </a:stretch>
        </p:blipFill>
        <p:spPr>
          <a:xfrm>
            <a:off x="3192325" y="0"/>
            <a:ext cx="4991099" cy="499109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a:t>
            </a:r>
            <a:endParaRPr/>
          </a:p>
          <a:p>
            <a:pPr indent="0" lvl="0" marL="0" rtl="0" algn="l">
              <a:spcBef>
                <a:spcPts val="0"/>
              </a:spcBef>
              <a:spcAft>
                <a:spcPts val="0"/>
              </a:spcAft>
              <a:buNone/>
            </a:pPr>
            <a:r>
              <a:rPr lang="en"/>
              <a:t>Washing Machine</a:t>
            </a:r>
            <a:endParaRPr/>
          </a:p>
        </p:txBody>
      </p:sp>
      <p:sp>
        <p:nvSpPr>
          <p:cNvPr id="269" name="Google Shape;269;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70" name="Google Shape;270;p47"/>
          <p:cNvPicPr preferRelativeResize="0"/>
          <p:nvPr/>
        </p:nvPicPr>
        <p:blipFill rotWithShape="1">
          <a:blip r:embed="rId3">
            <a:alphaModFix/>
          </a:blip>
          <a:srcRect b="0" l="0" r="2685" t="0"/>
          <a:stretch/>
        </p:blipFill>
        <p:spPr>
          <a:xfrm>
            <a:off x="144950" y="2571750"/>
            <a:ext cx="3877725" cy="2434200"/>
          </a:xfrm>
          <a:prstGeom prst="rect">
            <a:avLst/>
          </a:prstGeom>
          <a:noFill/>
          <a:ln>
            <a:noFill/>
          </a:ln>
        </p:spPr>
      </p:pic>
      <p:pic>
        <p:nvPicPr>
          <p:cNvPr id="271" name="Google Shape;271;p47"/>
          <p:cNvPicPr preferRelativeResize="0"/>
          <p:nvPr/>
        </p:nvPicPr>
        <p:blipFill>
          <a:blip r:embed="rId4">
            <a:alphaModFix/>
          </a:blip>
          <a:stretch>
            <a:fillRect/>
          </a:stretch>
        </p:blipFill>
        <p:spPr>
          <a:xfrm>
            <a:off x="4364100" y="76750"/>
            <a:ext cx="4468199" cy="437582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Careers in Robotics</a:t>
            </a:r>
            <a:endParaRPr/>
          </a:p>
        </p:txBody>
      </p:sp>
      <p:sp>
        <p:nvSpPr>
          <p:cNvPr id="277" name="Google Shape;277;p48"/>
          <p:cNvSpPr txBox="1"/>
          <p:nvPr>
            <p:ph idx="1" type="body"/>
          </p:nvPr>
        </p:nvSpPr>
        <p:spPr>
          <a:xfrm>
            <a:off x="311700" y="1152475"/>
            <a:ext cx="44490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Robotics is an interdisciplinary field that draws ideas from </a:t>
            </a:r>
            <a:r>
              <a:rPr lang="en"/>
              <a:t>electrical</a:t>
            </a:r>
            <a:r>
              <a:rPr lang="en"/>
              <a:t> engineering, mechanical engineering, and computer science (including artificial intelligence).</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Mechanical Engineer</a:t>
            </a:r>
            <a:endParaRPr/>
          </a:p>
          <a:p>
            <a:pPr indent="0" lvl="0" marL="0" rtl="0" algn="l">
              <a:spcBef>
                <a:spcPts val="1200"/>
              </a:spcBef>
              <a:spcAft>
                <a:spcPts val="0"/>
              </a:spcAft>
              <a:buNone/>
            </a:pPr>
            <a:r>
              <a:rPr lang="en"/>
              <a:t>Computer Scientist </a:t>
            </a:r>
            <a:endParaRPr/>
          </a:p>
          <a:p>
            <a:pPr indent="0" lvl="0" marL="0" rtl="0" algn="l">
              <a:spcBef>
                <a:spcPts val="1200"/>
              </a:spcBef>
              <a:spcAft>
                <a:spcPts val="0"/>
              </a:spcAft>
              <a:buNone/>
            </a:pPr>
            <a:r>
              <a:rPr lang="en"/>
              <a:t>Roboticist</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278" name="Google Shape;278;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79" name="Google Shape;279;p48"/>
          <p:cNvPicPr preferRelativeResize="0"/>
          <p:nvPr/>
        </p:nvPicPr>
        <p:blipFill>
          <a:blip r:embed="rId3">
            <a:alphaModFix/>
          </a:blip>
          <a:stretch>
            <a:fillRect/>
          </a:stretch>
        </p:blipFill>
        <p:spPr>
          <a:xfrm>
            <a:off x="4913100" y="1170125"/>
            <a:ext cx="4078500" cy="208898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dk1"/>
                </a:solidFill>
              </a:rPr>
              <a:t>Dr.  Ayanna Howard</a:t>
            </a:r>
            <a:br>
              <a:rPr lang="en">
                <a:solidFill>
                  <a:schemeClr val="dk1"/>
                </a:solidFill>
              </a:rPr>
            </a:br>
            <a:r>
              <a:rPr i="1" lang="en" sz="2577"/>
              <a:t>Roboticist, NASA Engineer, Entrepreneur, Professor, &amp; Dean </a:t>
            </a:r>
            <a:endParaRPr i="1" sz="2577"/>
          </a:p>
          <a:p>
            <a:pPr indent="0" lvl="0" marL="0" rtl="0" algn="l">
              <a:spcBef>
                <a:spcPts val="0"/>
              </a:spcBef>
              <a:spcAft>
                <a:spcPts val="0"/>
              </a:spcAft>
              <a:buNone/>
            </a:pPr>
            <a:r>
              <a:t/>
            </a:r>
            <a:endParaRPr/>
          </a:p>
        </p:txBody>
      </p:sp>
      <p:sp>
        <p:nvSpPr>
          <p:cNvPr id="285" name="Google Shape;285;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86" name="Google Shape;286;p49"/>
          <p:cNvPicPr preferRelativeResize="0"/>
          <p:nvPr/>
        </p:nvPicPr>
        <p:blipFill>
          <a:blip r:embed="rId3">
            <a:alphaModFix/>
          </a:blip>
          <a:stretch>
            <a:fillRect/>
          </a:stretch>
        </p:blipFill>
        <p:spPr>
          <a:xfrm>
            <a:off x="311700" y="1784275"/>
            <a:ext cx="4638099" cy="2606299"/>
          </a:xfrm>
          <a:prstGeom prst="rect">
            <a:avLst/>
          </a:prstGeom>
          <a:noFill/>
          <a:ln>
            <a:noFill/>
          </a:ln>
        </p:spPr>
      </p:pic>
      <p:pic>
        <p:nvPicPr>
          <p:cNvPr descr="Growing up, Howard was obsessed with creating robots. She earned her Ph.D. in Electrical Engineering and by the time she was 27 she landed her dream job at NASA's Jet Propulsion Laboratory (JPL). Howard describes an experience early on in her career at JPL and how courage is a necessary part of the invention process.&#10;&#10;• Read Being Different Helped A NASA Roboticist Achieve Her Dream at www.npr.org/2017/12/08/569474169/being-different-helped-a-nasa-roboticist-achieve-her-dream&#10;&#10;------------------------------------------------------&#10;&#10;Subscribe to NPR on YouTube: https://www.youtube.com/npr&#10;&#10;Follow NPR elsewhere, too:&#10;• Twitter: https://twitter.com/npr&#10;• Facebook: https://www.facebook.com/NPR&#10;• Instagram: https://www.instagram.com/npr/&#10;• Tumblr: http://npr.tumblr.com/&#10;• Snapchat: https://www.snapchat.com/add/npr&#10;&#10;ABOUT NPR&#10;NPR connects to audiences on the air, on demand, online, and in person. More than 26 million radio listeners tune in to NPR stations each week and more than 36 million unique visitors access NPR.org each month making NPR one of the most trusted sources of news and insights on life and the arts. NPR is also the leading publisher of podcasts, with 36 original shows and an average of 4 million listeners per week. NPR shares compelling stories, audio and photos with millions of social media users on Facebook, Twitter, Instagram, Pinterest, YouTube and Snapchat; NPR News and NPR One apps, online streaming, podcasts, iTunes radio and connected car dashboards help meet audiences where they are. NPR's live events bring to the stage two-way conversations between NPR hosts and the audience in collaboration with the public radio Member Station community. This robust access to public service journalism makes NPR an indispensable resource in the media landscape." id="287" name="Google Shape;287;p49" title="The Courage To Invent: A NASA Roboticist Tells Her Story | Joe's Big Idea| NPR">
            <a:hlinkClick r:id="rId4"/>
          </p:cNvPr>
          <p:cNvPicPr preferRelativeResize="0"/>
          <p:nvPr/>
        </p:nvPicPr>
        <p:blipFill>
          <a:blip r:embed="rId5">
            <a:alphaModFix/>
          </a:blip>
          <a:stretch>
            <a:fillRect/>
          </a:stretch>
        </p:blipFill>
        <p:spPr>
          <a:xfrm>
            <a:off x="4938024" y="1628900"/>
            <a:ext cx="3889400" cy="2917050"/>
          </a:xfrm>
          <a:prstGeom prst="rect">
            <a:avLst/>
          </a:prstGeom>
          <a:noFill/>
          <a:ln>
            <a:noFill/>
          </a:ln>
        </p:spPr>
      </p:pic>
      <p:sp>
        <p:nvSpPr>
          <p:cNvPr id="288" name="Google Shape;288;p49"/>
          <p:cNvSpPr txBox="1"/>
          <p:nvPr/>
        </p:nvSpPr>
        <p:spPr>
          <a:xfrm>
            <a:off x="5293025" y="4472100"/>
            <a:ext cx="31794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t>Learn more about her journey. Watch &amp; </a:t>
            </a:r>
            <a:r>
              <a:rPr b="1" lang="en" u="sng">
                <a:solidFill>
                  <a:schemeClr val="hlink"/>
                </a:solidFill>
                <a:hlinkClick r:id="rId6"/>
              </a:rPr>
              <a:t>Read</a:t>
            </a:r>
            <a:r>
              <a:rPr b="1" lang="en"/>
              <a:t>, </a:t>
            </a:r>
            <a:r>
              <a:rPr b="1" lang="en" u="sng">
                <a:solidFill>
                  <a:schemeClr val="hlink"/>
                </a:solidFill>
                <a:hlinkClick r:id="rId7"/>
              </a:rPr>
              <a:t>Deeper Read</a:t>
            </a:r>
            <a:r>
              <a:rPr b="1" lang="en"/>
              <a:t> </a:t>
            </a:r>
            <a:endParaRPr b="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gtEl>
                                        <p:attrNameLst>
                                          <p:attrName>style.visibility</p:attrName>
                                        </p:attrNameLst>
                                      </p:cBhvr>
                                      <p:to>
                                        <p:strVal val="visible"/>
                                      </p:to>
                                    </p:set>
                                    <p:animEffect filter="fade" transition="in">
                                      <p:cBhvr>
                                        <p:cTn dur="1000"/>
                                        <p:tgtEl>
                                          <p:spTgt spid="2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