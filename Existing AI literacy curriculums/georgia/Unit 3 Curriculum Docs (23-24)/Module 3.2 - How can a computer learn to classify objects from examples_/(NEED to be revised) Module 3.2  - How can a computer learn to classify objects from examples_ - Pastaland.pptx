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  <p:sldMasterId id="214748368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y="5143500" cx="9144000"/>
  <p:notesSz cx="6858000" cy="9144000"/>
  <p:embeddedFontLst>
    <p:embeddedFont>
      <p:font typeface="Permanent Marker"/>
      <p:regular r:id="rId31"/>
    </p:embeddedFont>
    <p:embeddedFont>
      <p:font typeface="Helvetica Neue"/>
      <p:regular r:id="rId32"/>
      <p:bold r:id="rId33"/>
      <p:italic r:id="rId34"/>
      <p:boldItalic r:id="rId35"/>
    </p:embeddedFont>
    <p:embeddedFont>
      <p:font typeface="Merriweather"/>
      <p:regular r:id="rId36"/>
      <p:bold r:id="rId37"/>
      <p:italic r:id="rId38"/>
      <p:boldItalic r:id="rId39"/>
    </p:embeddedFont>
    <p:embeddedFont>
      <p:font typeface="Alfa Slab One"/>
      <p:regular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752A5B-906B-4E87-8642-6DC37DA6C8A1}">
  <a:tblStyle styleId="{FB752A5B-906B-4E87-8642-6DC37DA6C8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lfaSlabOne-regular.fntdata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PermanentMarker-regular.fntdata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font" Target="fonts/HelveticaNeue-bold.fntdata"/><Relationship Id="rId10" Type="http://schemas.openxmlformats.org/officeDocument/2006/relationships/slide" Target="slides/slide2.xml"/><Relationship Id="rId32" Type="http://schemas.openxmlformats.org/officeDocument/2006/relationships/font" Target="fonts/HelveticaNeue-regular.fntdata"/><Relationship Id="rId13" Type="http://schemas.openxmlformats.org/officeDocument/2006/relationships/slide" Target="slides/slide5.xml"/><Relationship Id="rId35" Type="http://schemas.openxmlformats.org/officeDocument/2006/relationships/font" Target="fonts/HelveticaNeue-boldItalic.fntdata"/><Relationship Id="rId12" Type="http://schemas.openxmlformats.org/officeDocument/2006/relationships/slide" Target="slides/slide4.xml"/><Relationship Id="rId34" Type="http://schemas.openxmlformats.org/officeDocument/2006/relationships/font" Target="fonts/HelveticaNeue-italic.fntdata"/><Relationship Id="rId15" Type="http://schemas.openxmlformats.org/officeDocument/2006/relationships/slide" Target="slides/slide7.xml"/><Relationship Id="rId37" Type="http://schemas.openxmlformats.org/officeDocument/2006/relationships/font" Target="fonts/Merriweather-bold.fntdata"/><Relationship Id="rId14" Type="http://schemas.openxmlformats.org/officeDocument/2006/relationships/slide" Target="slides/slide6.xml"/><Relationship Id="rId36" Type="http://schemas.openxmlformats.org/officeDocument/2006/relationships/font" Target="fonts/Merriweather-regular.fntdata"/><Relationship Id="rId17" Type="http://schemas.openxmlformats.org/officeDocument/2006/relationships/slide" Target="slides/slide9.xml"/><Relationship Id="rId39" Type="http://schemas.openxmlformats.org/officeDocument/2006/relationships/font" Target="fonts/Merriweather-boldItalic.fntdata"/><Relationship Id="rId16" Type="http://schemas.openxmlformats.org/officeDocument/2006/relationships/slide" Target="slides/slide8.xml"/><Relationship Id="rId38" Type="http://schemas.openxmlformats.org/officeDocument/2006/relationships/font" Target="fonts/Merriweather-italic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e54727c77e_1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e54727c77e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12ae8837d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12ae8837d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12ae8837d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12ae8837d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https://www.delish.com/uk/food-news/g31017969/pasta-shapes/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https://en.wikipedia.org/wiki/List_of_pasta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135af76a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135af76a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135af76a0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135af76a0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135af76a0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135af76a0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3813143eb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3813143eb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same idea of the semantic space of the word embedding 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 in the word embedding vector - the computer figures out the features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features dont’ have to be binary, it might have a numerical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the length &gt; of pasta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3813143ebf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3813143ebf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same idea of the semantic space of the word embedding 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 in the word embedding vector - the computer figures out the features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features dont’ have to be binary, it might have a numerical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the length &gt; of pasta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13b13fef0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13b13fef0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13b13fef07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13b13fef07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same idea of the semantic space of the word embedding 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 in the word embedding vector - the computer figures out the features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features dont’ have to be binary, it might have a numerical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the length &gt; of pasta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13b13fef07_2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113b13fef07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13b13fef07_2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113b13fef07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135af76a06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135af76a06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same idea of the semantic space of the word embedding 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 in the word embedding vector - the computer figures out the features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features dont’ have to be binary, it might have a numerical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the length &gt; of pasta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13b13fef07_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13b13fef07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12d5c227a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12d5c227a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12ae8837da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12ae8837da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12d5c227a7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12d5c227a7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12ae8837d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12ae8837d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12d5c227a7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112d5c227a7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12d5c227a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12d5c227a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- </a:t>
            </a:r>
            <a:r>
              <a:rPr lang="en">
                <a:solidFill>
                  <a:schemeClr val="dk1"/>
                </a:solidFill>
              </a:rPr>
              <a:t>It solves a problem by asking a series of questions.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12d5c227a7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112d5c227a7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12d5c227a7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112d5c227a7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- Learning by being told has been added in April 27,2023 to </a:t>
            </a:r>
            <a:r>
              <a:rPr lang="en"/>
              <a:t>accommodate</a:t>
            </a:r>
            <a:r>
              <a:rPr lang="en"/>
              <a:t> the appearance of ChatGPT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>
                <a:solidFill>
                  <a:srgbClr val="000000"/>
                </a:solidFill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1" name="Google Shape;101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2" name="Google Shape;10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" name="Google Shape;10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3" name="Google Shape;113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4" name="Google Shape;11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0" name="Google Shape;120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1" name="Google Shape;12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4" name="Google Shape;12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8" name="Google Shape;12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33" name="Google Shape;13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6" name="Google Shape;136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7" name="Google Shape;13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8" name="Google Shape;9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hyperlink" Target="https://creativecommons.org/licenses/by-nc-sa/4.0/" TargetMode="External"/><Relationship Id="rId6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13.png"/><Relationship Id="rId13" Type="http://schemas.openxmlformats.org/officeDocument/2006/relationships/image" Target="../media/image18.png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9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7"/>
          <p:cNvSpPr txBox="1"/>
          <p:nvPr>
            <p:ph type="ctrTitle"/>
          </p:nvPr>
        </p:nvSpPr>
        <p:spPr>
          <a:xfrm>
            <a:off x="2156750" y="733775"/>
            <a:ext cx="6987300" cy="1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3.2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How can a computer learn to classify objects from examples?</a:t>
            </a:r>
            <a:endParaRPr sz="235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45" name="Google Shape;14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7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sz="2600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" name="Google Shape;148;p37"/>
          <p:cNvSpPr txBox="1"/>
          <p:nvPr/>
        </p:nvSpPr>
        <p:spPr>
          <a:xfrm>
            <a:off x="1377450" y="4491585"/>
            <a:ext cx="9053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Developed for the AI4GA (Artificial Intelligence for Georgia) project funded by National Science Foundation awards DRL-2049029 and DRL-2048502.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FFFF"/>
                </a:highlight>
              </a:rPr>
              <a:t>This work is licensed under the Creative Commons. Attribution-NonComercial-ShareAlike 4.0 International License. </a:t>
            </a:r>
            <a:r>
              <a:rPr b="1" lang="en" sz="900" u="sng">
                <a:solidFill>
                  <a:schemeClr val="accent5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b="1"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1857" y="2075375"/>
            <a:ext cx="3801881" cy="2263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Alfa Slab One"/>
                <a:ea typeface="Alfa Slab One"/>
                <a:cs typeface="Alfa Slab One"/>
                <a:sym typeface="Alfa Slab One"/>
              </a:rPr>
              <a:t>Try It #1: </a:t>
            </a:r>
            <a:r>
              <a:rPr lang="en">
                <a:latin typeface="Alfa Slab One"/>
                <a:ea typeface="Alfa Slab One"/>
                <a:cs typeface="Alfa Slab One"/>
                <a:sym typeface="Alfa Slab One"/>
              </a:rPr>
              <a:t>Pasta Land - Creating a Pasta Classifier</a:t>
            </a:r>
            <a:endParaRPr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55" name="Google Shape;155;p38"/>
          <p:cNvSpPr txBox="1"/>
          <p:nvPr>
            <p:ph idx="1" type="body"/>
          </p:nvPr>
        </p:nvSpPr>
        <p:spPr>
          <a:xfrm>
            <a:off x="349500" y="1017725"/>
            <a:ext cx="8520600" cy="3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1"/>
                </a:solidFill>
              </a:rPr>
              <a:t>Setup: </a:t>
            </a:r>
            <a:r>
              <a:rPr lang="en" sz="1200">
                <a:solidFill>
                  <a:schemeClr val="dk1"/>
                </a:solidFill>
              </a:rPr>
              <a:t>(a) Get a big sheet of poster paper for drawing your tree; (b) cut out pictures of pastas (or use real pastas provided by your teacher)  that you can move around the nodes of your tree.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1"/>
                </a:solidFill>
              </a:rPr>
              <a:t>Step 1: </a:t>
            </a:r>
            <a:r>
              <a:rPr lang="en" sz="1200">
                <a:solidFill>
                  <a:schemeClr val="dk1"/>
                </a:solidFill>
              </a:rPr>
              <a:t>Propose a bunch of features to distinguish between the pasta types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1"/>
                </a:solidFill>
              </a:rPr>
              <a:t>Step 2: </a:t>
            </a:r>
            <a:r>
              <a:rPr lang="en" sz="1200"/>
              <a:t>Pick a feature that will split the pastas into two roughly equal groups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Doing this every time will give you the smallest number of questions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This is similar to how real machine learning algorithms decide which feature to use for the next node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200"/>
              <a:t>Step 3:</a:t>
            </a:r>
            <a:r>
              <a:rPr lang="en" sz="1200"/>
              <a:t> Take the features, build the decision tree.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Make sure every one of your pasta’s is a leaf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You may not have enough features - if you end up with two types of pasta at the same leaf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200"/>
              <a:t>Step 4:</a:t>
            </a:r>
            <a:r>
              <a:rPr lang="en" sz="1200"/>
              <a:t> Test this out and update the features and the tree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200"/>
              <a:t>Step 5:</a:t>
            </a:r>
            <a:r>
              <a:rPr lang="en" sz="1200"/>
              <a:t> Convert the tree into a table.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The columns are the </a:t>
            </a:r>
            <a:r>
              <a:rPr lang="en" sz="1200"/>
              <a:t>features (red - replace question)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The rows are the leaves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If the feature doesn’t apply, put N/A</a:t>
            </a:r>
            <a:endParaRPr sz="1200"/>
          </a:p>
        </p:txBody>
      </p:sp>
      <p:sp>
        <p:nvSpPr>
          <p:cNvPr id="156" name="Google Shape;15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39"/>
          <p:cNvPicPr preferRelativeResize="0"/>
          <p:nvPr/>
        </p:nvPicPr>
        <p:blipFill rotWithShape="1">
          <a:blip r:embed="rId3">
            <a:alphaModFix/>
          </a:blip>
          <a:srcRect b="12125" l="11257" r="64723" t="50826"/>
          <a:stretch/>
        </p:blipFill>
        <p:spPr>
          <a:xfrm rot="3681371">
            <a:off x="4339239" y="1483271"/>
            <a:ext cx="1557522" cy="159922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9"/>
          <p:cNvSpPr txBox="1"/>
          <p:nvPr>
            <p:ph type="title"/>
          </p:nvPr>
        </p:nvSpPr>
        <p:spPr>
          <a:xfrm>
            <a:off x="831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Setup: Distribute Pasta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 </a:t>
            </a:r>
            <a:r>
              <a:rPr lang="en"/>
              <a:t>cut out</a:t>
            </a:r>
            <a:endParaRPr/>
          </a:p>
        </p:txBody>
      </p:sp>
      <p:sp>
        <p:nvSpPr>
          <p:cNvPr id="163" name="Google Shape;16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39"/>
          <p:cNvSpPr txBox="1"/>
          <p:nvPr/>
        </p:nvSpPr>
        <p:spPr>
          <a:xfrm>
            <a:off x="4571988" y="4309050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Corkscrew</a:t>
            </a:r>
            <a:endParaRPr/>
          </a:p>
        </p:txBody>
      </p:sp>
      <p:sp>
        <p:nvSpPr>
          <p:cNvPr id="165" name="Google Shape;165;p39"/>
          <p:cNvSpPr txBox="1"/>
          <p:nvPr/>
        </p:nvSpPr>
        <p:spPr>
          <a:xfrm>
            <a:off x="2908750" y="2538450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Rigatoni</a:t>
            </a:r>
            <a:endParaRPr/>
          </a:p>
        </p:txBody>
      </p:sp>
      <p:sp>
        <p:nvSpPr>
          <p:cNvPr id="166" name="Google Shape;166;p39"/>
          <p:cNvSpPr txBox="1"/>
          <p:nvPr/>
        </p:nvSpPr>
        <p:spPr>
          <a:xfrm>
            <a:off x="4232975" y="2956938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Ravioli</a:t>
            </a:r>
            <a:endParaRPr/>
          </a:p>
        </p:txBody>
      </p:sp>
      <p:pic>
        <p:nvPicPr>
          <p:cNvPr id="167" name="Google Shape;16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0300" y="6"/>
            <a:ext cx="1499200" cy="116046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9"/>
          <p:cNvSpPr txBox="1"/>
          <p:nvPr/>
        </p:nvSpPr>
        <p:spPr>
          <a:xfrm>
            <a:off x="5813125" y="1133638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cascatelli</a:t>
            </a:r>
            <a:endParaRPr/>
          </a:p>
        </p:txBody>
      </p:sp>
      <p:pic>
        <p:nvPicPr>
          <p:cNvPr id="169" name="Google Shape;169;p39"/>
          <p:cNvPicPr preferRelativeResize="0"/>
          <p:nvPr/>
        </p:nvPicPr>
        <p:blipFill rotWithShape="1">
          <a:blip r:embed="rId5">
            <a:alphaModFix/>
          </a:blip>
          <a:srcRect b="0" l="0" r="62215" t="0"/>
          <a:stretch/>
        </p:blipFill>
        <p:spPr>
          <a:xfrm>
            <a:off x="415375" y="1150525"/>
            <a:ext cx="788675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9"/>
          <p:cNvPicPr preferRelativeResize="0"/>
          <p:nvPr/>
        </p:nvPicPr>
        <p:blipFill rotWithShape="1">
          <a:blip r:embed="rId6">
            <a:alphaModFix/>
          </a:blip>
          <a:srcRect b="31553" l="0" r="45349" t="0"/>
          <a:stretch/>
        </p:blipFill>
        <p:spPr>
          <a:xfrm>
            <a:off x="6244550" y="1762775"/>
            <a:ext cx="1499200" cy="11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9"/>
          <p:cNvSpPr txBox="1"/>
          <p:nvPr/>
        </p:nvSpPr>
        <p:spPr>
          <a:xfrm>
            <a:off x="6272700" y="3066288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Tortellini</a:t>
            </a:r>
            <a:endParaRPr/>
          </a:p>
        </p:txBody>
      </p:sp>
      <p:sp>
        <p:nvSpPr>
          <p:cNvPr id="172" name="Google Shape;172;p39"/>
          <p:cNvSpPr txBox="1"/>
          <p:nvPr/>
        </p:nvSpPr>
        <p:spPr>
          <a:xfrm>
            <a:off x="3153463" y="3908838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Penne</a:t>
            </a:r>
            <a:endParaRPr/>
          </a:p>
        </p:txBody>
      </p:sp>
      <p:pic>
        <p:nvPicPr>
          <p:cNvPr id="173" name="Google Shape;173;p39"/>
          <p:cNvPicPr preferRelativeResize="0"/>
          <p:nvPr/>
        </p:nvPicPr>
        <p:blipFill rotWithShape="1">
          <a:blip r:embed="rId7">
            <a:alphaModFix/>
          </a:blip>
          <a:srcRect b="22624" l="0" r="0" t="0"/>
          <a:stretch/>
        </p:blipFill>
        <p:spPr>
          <a:xfrm>
            <a:off x="3110425" y="2580175"/>
            <a:ext cx="1717174" cy="1328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9"/>
          <p:cNvPicPr preferRelativeResize="0"/>
          <p:nvPr/>
        </p:nvPicPr>
        <p:blipFill rotWithShape="1">
          <a:blip r:embed="rId8">
            <a:alphaModFix/>
          </a:blip>
          <a:srcRect b="32429" l="24485" r="24556" t="31922"/>
          <a:stretch/>
        </p:blipFill>
        <p:spPr>
          <a:xfrm>
            <a:off x="4837077" y="3409379"/>
            <a:ext cx="1631074" cy="760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9"/>
          <p:cNvPicPr preferRelativeResize="0"/>
          <p:nvPr/>
        </p:nvPicPr>
        <p:blipFill rotWithShape="1">
          <a:blip r:embed="rId9">
            <a:alphaModFix/>
          </a:blip>
          <a:srcRect b="22827" l="0" r="0" t="24368"/>
          <a:stretch/>
        </p:blipFill>
        <p:spPr>
          <a:xfrm>
            <a:off x="7135050" y="75012"/>
            <a:ext cx="2135264" cy="760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9"/>
          <p:cNvSpPr txBox="1"/>
          <p:nvPr/>
        </p:nvSpPr>
        <p:spPr>
          <a:xfrm>
            <a:off x="6307938" y="4269350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Macaroni</a:t>
            </a:r>
            <a:endParaRPr sz="2700"/>
          </a:p>
        </p:txBody>
      </p:sp>
      <p:pic>
        <p:nvPicPr>
          <p:cNvPr id="177" name="Google Shape;177;p39"/>
          <p:cNvPicPr preferRelativeResize="0"/>
          <p:nvPr/>
        </p:nvPicPr>
        <p:blipFill rotWithShape="1">
          <a:blip r:embed="rId10">
            <a:alphaModFix/>
          </a:blip>
          <a:srcRect b="15236" l="27470" r="26950" t="37298"/>
          <a:stretch/>
        </p:blipFill>
        <p:spPr>
          <a:xfrm>
            <a:off x="3070987" y="1149441"/>
            <a:ext cx="1131875" cy="1473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9"/>
          <p:cNvPicPr preferRelativeResize="0"/>
          <p:nvPr/>
        </p:nvPicPr>
        <p:blipFill rotWithShape="1">
          <a:blip r:embed="rId5">
            <a:alphaModFix/>
          </a:blip>
          <a:srcRect b="10642" l="36837" r="29364" t="0"/>
          <a:stretch/>
        </p:blipFill>
        <p:spPr>
          <a:xfrm>
            <a:off x="1388900" y="1214325"/>
            <a:ext cx="705474" cy="3414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9"/>
          <p:cNvPicPr preferRelativeResize="0"/>
          <p:nvPr/>
        </p:nvPicPr>
        <p:blipFill rotWithShape="1">
          <a:blip r:embed="rId5">
            <a:alphaModFix/>
          </a:blip>
          <a:srcRect b="679" l="63473" r="-1258" t="9963"/>
          <a:stretch/>
        </p:blipFill>
        <p:spPr>
          <a:xfrm>
            <a:off x="2312276" y="1017725"/>
            <a:ext cx="788675" cy="341425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9"/>
          <p:cNvSpPr txBox="1"/>
          <p:nvPr/>
        </p:nvSpPr>
        <p:spPr>
          <a:xfrm>
            <a:off x="7660638" y="987538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Fusilli</a:t>
            </a:r>
            <a:endParaRPr sz="2700"/>
          </a:p>
        </p:txBody>
      </p:sp>
      <p:pic>
        <p:nvPicPr>
          <p:cNvPr id="181" name="Google Shape;181;p39"/>
          <p:cNvPicPr preferRelativeResize="0"/>
          <p:nvPr/>
        </p:nvPicPr>
        <p:blipFill rotWithShape="1">
          <a:blip r:embed="rId11">
            <a:alphaModFix/>
          </a:blip>
          <a:srcRect b="55521" l="33374" r="44619" t="29700"/>
          <a:stretch/>
        </p:blipFill>
        <p:spPr>
          <a:xfrm>
            <a:off x="6416151" y="3525550"/>
            <a:ext cx="1131900" cy="76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9"/>
          <p:cNvPicPr preferRelativeResize="0"/>
          <p:nvPr/>
        </p:nvPicPr>
        <p:blipFill rotWithShape="1">
          <a:blip r:embed="rId12">
            <a:alphaModFix/>
          </a:blip>
          <a:srcRect b="4077" l="75407" r="0" t="67785"/>
          <a:stretch/>
        </p:blipFill>
        <p:spPr>
          <a:xfrm>
            <a:off x="8002675" y="2806435"/>
            <a:ext cx="1131901" cy="87614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9"/>
          <p:cNvSpPr txBox="1"/>
          <p:nvPr/>
        </p:nvSpPr>
        <p:spPr>
          <a:xfrm>
            <a:off x="7660638" y="3775863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farfalle</a:t>
            </a:r>
            <a:endParaRPr sz="2700"/>
          </a:p>
        </p:txBody>
      </p:sp>
      <p:pic>
        <p:nvPicPr>
          <p:cNvPr id="184" name="Google Shape;184;p39"/>
          <p:cNvPicPr preferRelativeResize="0"/>
          <p:nvPr/>
        </p:nvPicPr>
        <p:blipFill rotWithShape="1">
          <a:blip r:embed="rId13">
            <a:alphaModFix/>
          </a:blip>
          <a:srcRect b="46858" l="48807" r="3487" t="8420"/>
          <a:stretch/>
        </p:blipFill>
        <p:spPr>
          <a:xfrm>
            <a:off x="4061975" y="77750"/>
            <a:ext cx="1631075" cy="1223208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9"/>
          <p:cNvSpPr txBox="1"/>
          <p:nvPr/>
        </p:nvSpPr>
        <p:spPr>
          <a:xfrm>
            <a:off x="4061950" y="1235075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Zitti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40"/>
          <p:cNvSpPr txBox="1"/>
          <p:nvPr/>
        </p:nvSpPr>
        <p:spPr>
          <a:xfrm>
            <a:off x="3690975" y="1153200"/>
            <a:ext cx="1297800" cy="400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40"/>
          <p:cNvSpPr/>
          <p:nvPr/>
        </p:nvSpPr>
        <p:spPr>
          <a:xfrm>
            <a:off x="247950" y="7300"/>
            <a:ext cx="2143200" cy="457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Step 1: </a:t>
            </a:r>
            <a:br>
              <a:rPr b="1" i="1" lang="en"/>
            </a:br>
            <a:r>
              <a:rPr lang="en"/>
              <a:t>List all the features you think may be useful to distinguish the pastas.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endParaRPr/>
          </a:p>
        </p:txBody>
      </p:sp>
      <p:sp>
        <p:nvSpPr>
          <p:cNvPr id="193" name="Google Shape;193;p40"/>
          <p:cNvSpPr/>
          <p:nvPr/>
        </p:nvSpPr>
        <p:spPr>
          <a:xfrm>
            <a:off x="2559500" y="83500"/>
            <a:ext cx="1794000" cy="80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1"/>
                </a:solidFill>
              </a:rPr>
              <a:t>Step 2: </a:t>
            </a:r>
            <a:r>
              <a:rPr lang="en">
                <a:solidFill>
                  <a:schemeClr val="dk1"/>
                </a:solidFill>
              </a:rPr>
              <a:t>Create a root node and place all the pastas there.</a:t>
            </a:r>
            <a:br>
              <a:rPr lang="en"/>
            </a:br>
            <a:br>
              <a:rPr lang="en"/>
            </a:br>
            <a:endParaRPr/>
          </a:p>
        </p:txBody>
      </p:sp>
      <p:sp>
        <p:nvSpPr>
          <p:cNvPr id="194" name="Google Shape;194;p40"/>
          <p:cNvSpPr txBox="1"/>
          <p:nvPr/>
        </p:nvSpPr>
        <p:spPr>
          <a:xfrm>
            <a:off x="247950" y="4629175"/>
            <a:ext cx="621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</a:t>
            </a:r>
            <a:r>
              <a:rPr lang="en" sz="1800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 feature </a:t>
            </a:r>
            <a:r>
              <a:rPr lang="en" sz="1800">
                <a:solidFill>
                  <a:schemeClr val="dk1"/>
                </a:solidFill>
              </a:rPr>
              <a:t>is a property of a thing we are trying to describe.</a:t>
            </a:r>
            <a:endParaRPr/>
          </a:p>
        </p:txBody>
      </p:sp>
      <p:sp>
        <p:nvSpPr>
          <p:cNvPr id="195" name="Google Shape;195;p40"/>
          <p:cNvSpPr/>
          <p:nvPr/>
        </p:nvSpPr>
        <p:spPr>
          <a:xfrm>
            <a:off x="4464650" y="83500"/>
            <a:ext cx="3155400" cy="80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1"/>
                </a:solidFill>
              </a:rPr>
              <a:t>Step 3: </a:t>
            </a:r>
            <a:r>
              <a:rPr lang="en">
                <a:solidFill>
                  <a:schemeClr val="dk1"/>
                </a:solidFill>
              </a:rPr>
              <a:t>Pick a feature from the list that splits the pasta examples in the current node roughly in half.</a:t>
            </a: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41"/>
          <p:cNvSpPr txBox="1"/>
          <p:nvPr/>
        </p:nvSpPr>
        <p:spPr>
          <a:xfrm>
            <a:off x="3690975" y="1000800"/>
            <a:ext cx="1297800" cy="400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1"/>
          <p:cNvSpPr txBox="1"/>
          <p:nvPr/>
        </p:nvSpPr>
        <p:spPr>
          <a:xfrm>
            <a:off x="1633575" y="2296200"/>
            <a:ext cx="12978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41"/>
          <p:cNvSpPr txBox="1"/>
          <p:nvPr/>
        </p:nvSpPr>
        <p:spPr>
          <a:xfrm>
            <a:off x="6053175" y="2296200"/>
            <a:ext cx="12978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4" name="Google Shape;204;p41"/>
          <p:cNvCxnSpPr>
            <a:stCxn id="201" idx="2"/>
            <a:endCxn id="202" idx="0"/>
          </p:cNvCxnSpPr>
          <p:nvPr/>
        </p:nvCxnSpPr>
        <p:spPr>
          <a:xfrm flipH="1">
            <a:off x="2282475" y="1401000"/>
            <a:ext cx="2057400" cy="8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41"/>
          <p:cNvCxnSpPr>
            <a:stCxn id="201" idx="2"/>
            <a:endCxn id="203" idx="0"/>
          </p:cNvCxnSpPr>
          <p:nvPr/>
        </p:nvCxnSpPr>
        <p:spPr>
          <a:xfrm>
            <a:off x="4339875" y="1401000"/>
            <a:ext cx="2362200" cy="8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6" name="Google Shape;206;p41"/>
          <p:cNvSpPr txBox="1"/>
          <p:nvPr/>
        </p:nvSpPr>
        <p:spPr>
          <a:xfrm>
            <a:off x="2757525" y="164612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207" name="Google Shape;207;p41"/>
          <p:cNvSpPr txBox="1"/>
          <p:nvPr/>
        </p:nvSpPr>
        <p:spPr>
          <a:xfrm>
            <a:off x="5653125" y="164612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208" name="Google Shape;208;p41"/>
          <p:cNvSpPr/>
          <p:nvPr/>
        </p:nvSpPr>
        <p:spPr>
          <a:xfrm>
            <a:off x="120075" y="126725"/>
            <a:ext cx="2811300" cy="115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Step 4: </a:t>
            </a:r>
            <a:r>
              <a:rPr lang="en"/>
              <a:t>Create two children of the current node and split its pastas between them based on the feature.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42"/>
          <p:cNvSpPr txBox="1"/>
          <p:nvPr/>
        </p:nvSpPr>
        <p:spPr>
          <a:xfrm>
            <a:off x="3690975" y="1000800"/>
            <a:ext cx="12978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it long?</a:t>
            </a:r>
            <a:endParaRPr/>
          </a:p>
        </p:txBody>
      </p:sp>
      <p:sp>
        <p:nvSpPr>
          <p:cNvPr id="215" name="Google Shape;215;p42"/>
          <p:cNvSpPr txBox="1"/>
          <p:nvPr/>
        </p:nvSpPr>
        <p:spPr>
          <a:xfrm>
            <a:off x="1100175" y="2296200"/>
            <a:ext cx="1297800" cy="400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42"/>
          <p:cNvSpPr txBox="1"/>
          <p:nvPr/>
        </p:nvSpPr>
        <p:spPr>
          <a:xfrm>
            <a:off x="6053175" y="2296200"/>
            <a:ext cx="12978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" name="Google Shape;217;p42"/>
          <p:cNvCxnSpPr>
            <a:stCxn id="214" idx="2"/>
            <a:endCxn id="215" idx="0"/>
          </p:cNvCxnSpPr>
          <p:nvPr/>
        </p:nvCxnSpPr>
        <p:spPr>
          <a:xfrm flipH="1">
            <a:off x="1749075" y="1401000"/>
            <a:ext cx="2590800" cy="8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" name="Google Shape;218;p42"/>
          <p:cNvCxnSpPr>
            <a:stCxn id="214" idx="2"/>
            <a:endCxn id="216" idx="0"/>
          </p:cNvCxnSpPr>
          <p:nvPr/>
        </p:nvCxnSpPr>
        <p:spPr>
          <a:xfrm>
            <a:off x="4339875" y="1401000"/>
            <a:ext cx="2362200" cy="8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9" name="Google Shape;219;p42"/>
          <p:cNvSpPr txBox="1"/>
          <p:nvPr/>
        </p:nvSpPr>
        <p:spPr>
          <a:xfrm>
            <a:off x="2452725" y="164612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220" name="Google Shape;220;p42"/>
          <p:cNvSpPr txBox="1"/>
          <p:nvPr/>
        </p:nvSpPr>
        <p:spPr>
          <a:xfrm>
            <a:off x="5653125" y="164612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221" name="Google Shape;221;p42"/>
          <p:cNvSpPr txBox="1"/>
          <p:nvPr/>
        </p:nvSpPr>
        <p:spPr>
          <a:xfrm>
            <a:off x="109575" y="3591600"/>
            <a:ext cx="12978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2"/>
          <p:cNvSpPr txBox="1"/>
          <p:nvPr/>
        </p:nvSpPr>
        <p:spPr>
          <a:xfrm>
            <a:off x="2700375" y="3591600"/>
            <a:ext cx="12978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3" name="Google Shape;223;p42"/>
          <p:cNvCxnSpPr>
            <a:stCxn id="215" idx="2"/>
            <a:endCxn id="221" idx="0"/>
          </p:cNvCxnSpPr>
          <p:nvPr/>
        </p:nvCxnSpPr>
        <p:spPr>
          <a:xfrm flipH="1">
            <a:off x="758475" y="2696400"/>
            <a:ext cx="990600" cy="8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p42"/>
          <p:cNvCxnSpPr>
            <a:stCxn id="215" idx="2"/>
            <a:endCxn id="222" idx="0"/>
          </p:cNvCxnSpPr>
          <p:nvPr/>
        </p:nvCxnSpPr>
        <p:spPr>
          <a:xfrm>
            <a:off x="1749075" y="2696400"/>
            <a:ext cx="1600200" cy="8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5" name="Google Shape;225;p42"/>
          <p:cNvSpPr txBox="1"/>
          <p:nvPr/>
        </p:nvSpPr>
        <p:spPr>
          <a:xfrm>
            <a:off x="758475" y="2943900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226" name="Google Shape;226;p42"/>
          <p:cNvSpPr txBox="1"/>
          <p:nvPr/>
        </p:nvSpPr>
        <p:spPr>
          <a:xfrm>
            <a:off x="2618425" y="294627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227" name="Google Shape;227;p42"/>
          <p:cNvSpPr/>
          <p:nvPr/>
        </p:nvSpPr>
        <p:spPr>
          <a:xfrm>
            <a:off x="120075" y="126725"/>
            <a:ext cx="2811300" cy="115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Step 4: </a:t>
            </a:r>
            <a:r>
              <a:rPr lang="en"/>
              <a:t>Create two children of the current node and split its pastas between them based on the feature.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that we’ve created our classifier</a:t>
            </a:r>
            <a:endParaRPr/>
          </a:p>
        </p:txBody>
      </p:sp>
      <p:sp>
        <p:nvSpPr>
          <p:cNvPr id="234" name="Google Shape;234;p43"/>
          <p:cNvSpPr txBox="1"/>
          <p:nvPr>
            <p:ph idx="1" type="body"/>
          </p:nvPr>
        </p:nvSpPr>
        <p:spPr>
          <a:xfrm>
            <a:off x="311700" y="1073600"/>
            <a:ext cx="8520600" cy="15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describe pasta using feature vectors.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</a:t>
            </a:r>
            <a:r>
              <a:rPr lang="en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 feature </a:t>
            </a:r>
            <a:r>
              <a:rPr lang="en">
                <a:solidFill>
                  <a:schemeClr val="dk1"/>
                </a:solidFill>
              </a:rPr>
              <a:t>is a property of a thing we are trying to describe.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</a:t>
            </a:r>
            <a:r>
              <a:rPr lang="en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featurE Vector</a:t>
            </a:r>
            <a:r>
              <a:rPr lang="en"/>
              <a:t> is an ordered list of properties.</a:t>
            </a:r>
            <a:endParaRPr/>
          </a:p>
        </p:txBody>
      </p:sp>
      <p:graphicFrame>
        <p:nvGraphicFramePr>
          <p:cNvPr id="235" name="Google Shape;235;p43"/>
          <p:cNvGraphicFramePr/>
          <p:nvPr/>
        </p:nvGraphicFramePr>
        <p:xfrm>
          <a:off x="395550" y="30927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{FB752A5B-906B-4E87-8642-6DC37DA6C8A1}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9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Pasta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FFF00"/>
                          </a:highlight>
                        </a:rPr>
                        <a:t>Is it long?</a:t>
                      </a: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FFF00"/>
                          </a:highlight>
                        </a:rPr>
                        <a:t>Is it wide?</a:t>
                      </a: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FFF00"/>
                          </a:highlight>
                        </a:rPr>
                        <a:t>Is it stuffed?</a:t>
                      </a: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6" name="Google Shape;236;p43"/>
          <p:cNvSpPr txBox="1"/>
          <p:nvPr/>
        </p:nvSpPr>
        <p:spPr>
          <a:xfrm>
            <a:off x="311700" y="2631000"/>
            <a:ext cx="407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Our feature vector: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Vector Description of Pasta</a:t>
            </a:r>
            <a:endParaRPr/>
          </a:p>
        </p:txBody>
      </p:sp>
      <p:sp>
        <p:nvSpPr>
          <p:cNvPr id="243" name="Google Shape;243;p44"/>
          <p:cNvSpPr txBox="1"/>
          <p:nvPr>
            <p:ph idx="1" type="body"/>
          </p:nvPr>
        </p:nvSpPr>
        <p:spPr>
          <a:xfrm>
            <a:off x="311700" y="1000075"/>
            <a:ext cx="8520600" cy="10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We’ve created a language for describing pasta that is useful for machine learning.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br>
              <a:rPr lang="en"/>
            </a:br>
            <a:r>
              <a:rPr lang="en"/>
              <a:t>Your data is a feature vector - it isn’t a picture of pasta.</a:t>
            </a:r>
            <a:endParaRPr/>
          </a:p>
        </p:txBody>
      </p:sp>
      <p:graphicFrame>
        <p:nvGraphicFramePr>
          <p:cNvPr id="244" name="Google Shape;244;p44"/>
          <p:cNvGraphicFramePr/>
          <p:nvPr/>
        </p:nvGraphicFramePr>
        <p:xfrm>
          <a:off x="913450" y="2247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{FB752A5B-906B-4E87-8642-6DC37DA6C8A1}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Pasta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Is it long?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Is it wide?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Is it stuffed?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Spaghetti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Lasagne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Rigatoni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Ravioli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5" name="Google Shape;245;p44"/>
          <p:cNvSpPr txBox="1"/>
          <p:nvPr/>
        </p:nvSpPr>
        <p:spPr>
          <a:xfrm>
            <a:off x="267275" y="4464150"/>
            <a:ext cx="8455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FF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Connection to Module 2.5 - Word Embeddings</a:t>
            </a:r>
            <a:r>
              <a:rPr lang="en" sz="1100">
                <a:solidFill>
                  <a:schemeClr val="dk1"/>
                </a:solidFill>
              </a:rPr>
              <a:t> - Our feature vectors for pasta is similar to the </a:t>
            </a:r>
            <a:r>
              <a:rPr b="1" lang="en" sz="1100">
                <a:solidFill>
                  <a:schemeClr val="dk1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semantic space</a:t>
            </a:r>
            <a:r>
              <a:rPr lang="en" sz="1100">
                <a:solidFill>
                  <a:schemeClr val="dk1"/>
                </a:solidFill>
              </a:rPr>
              <a:t> of the word embedding vectors we interacted with in the demo. Since word embeddings have many features (300) the computer figures out the features.</a:t>
            </a:r>
            <a:endParaRPr/>
          </a:p>
        </p:txBody>
      </p:sp>
      <p:pic>
        <p:nvPicPr>
          <p:cNvPr id="246" name="Google Shape;246;p44"/>
          <p:cNvPicPr preferRelativeResize="0"/>
          <p:nvPr/>
        </p:nvPicPr>
        <p:blipFill rotWithShape="1">
          <a:blip r:embed="rId3">
            <a:alphaModFix/>
          </a:blip>
          <a:srcRect b="26531" l="0" r="0" t="25481"/>
          <a:stretch/>
        </p:blipFill>
        <p:spPr>
          <a:xfrm rot="-5400000">
            <a:off x="5882550" y="1521273"/>
            <a:ext cx="636575" cy="589426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44"/>
          <p:cNvSpPr/>
          <p:nvPr/>
        </p:nvSpPr>
        <p:spPr>
          <a:xfrm>
            <a:off x="5807988" y="1469638"/>
            <a:ext cx="785700" cy="692700"/>
          </a:xfrm>
          <a:prstGeom prst="noSmoking">
            <a:avLst>
              <a:gd fmla="val 6974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5"/>
          <p:cNvSpPr txBox="1"/>
          <p:nvPr>
            <p:ph type="title"/>
          </p:nvPr>
        </p:nvSpPr>
        <p:spPr>
          <a:xfrm>
            <a:off x="243550" y="88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test set to see how good your features are at classifying a new set of pastas</a:t>
            </a:r>
            <a:endParaRPr/>
          </a:p>
        </p:txBody>
      </p:sp>
      <p:sp>
        <p:nvSpPr>
          <p:cNvPr id="253" name="Google Shape;253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4" name="Google Shape;254;p45"/>
          <p:cNvPicPr preferRelativeResize="0"/>
          <p:nvPr/>
        </p:nvPicPr>
        <p:blipFill rotWithShape="1">
          <a:blip r:embed="rId3">
            <a:alphaModFix/>
          </a:blip>
          <a:srcRect b="25672" l="0" r="63689" t="0"/>
          <a:stretch/>
        </p:blipFill>
        <p:spPr>
          <a:xfrm>
            <a:off x="587625" y="1411537"/>
            <a:ext cx="1193200" cy="179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45"/>
          <p:cNvPicPr preferRelativeResize="0"/>
          <p:nvPr/>
        </p:nvPicPr>
        <p:blipFill rotWithShape="1">
          <a:blip r:embed="rId4">
            <a:alphaModFix/>
          </a:blip>
          <a:srcRect b="0" l="0" r="62291" t="0"/>
          <a:stretch/>
        </p:blipFill>
        <p:spPr>
          <a:xfrm>
            <a:off x="4286338" y="1118463"/>
            <a:ext cx="787100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45"/>
          <p:cNvPicPr preferRelativeResize="0"/>
          <p:nvPr/>
        </p:nvPicPr>
        <p:blipFill rotWithShape="1">
          <a:blip r:embed="rId5">
            <a:alphaModFix/>
          </a:blip>
          <a:srcRect b="22678" l="16500" r="12345" t="25708"/>
          <a:stretch/>
        </p:blipFill>
        <p:spPr>
          <a:xfrm>
            <a:off x="1885688" y="1106750"/>
            <a:ext cx="1998050" cy="144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5"/>
          <p:cNvSpPr txBox="1"/>
          <p:nvPr/>
        </p:nvSpPr>
        <p:spPr>
          <a:xfrm>
            <a:off x="2288163" y="2581675"/>
            <a:ext cx="11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Mezzaluna</a:t>
            </a:r>
            <a:endParaRPr/>
          </a:p>
        </p:txBody>
      </p:sp>
      <p:sp>
        <p:nvSpPr>
          <p:cNvPr id="258" name="Google Shape;258;p45"/>
          <p:cNvSpPr txBox="1"/>
          <p:nvPr/>
        </p:nvSpPr>
        <p:spPr>
          <a:xfrm>
            <a:off x="587625" y="3326625"/>
            <a:ext cx="208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Mafaldine</a:t>
            </a:r>
            <a:endParaRPr/>
          </a:p>
        </p:txBody>
      </p:sp>
      <p:pic>
        <p:nvPicPr>
          <p:cNvPr id="259" name="Google Shape;259;p45"/>
          <p:cNvPicPr preferRelativeResize="0"/>
          <p:nvPr/>
        </p:nvPicPr>
        <p:blipFill rotWithShape="1">
          <a:blip r:embed="rId4">
            <a:alphaModFix/>
          </a:blip>
          <a:srcRect b="679" l="63473" r="-1258" t="9963"/>
          <a:stretch/>
        </p:blipFill>
        <p:spPr>
          <a:xfrm>
            <a:off x="5516064" y="1321838"/>
            <a:ext cx="788675" cy="3414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5"/>
          <p:cNvPicPr preferRelativeResize="0"/>
          <p:nvPr/>
        </p:nvPicPr>
        <p:blipFill rotWithShape="1">
          <a:blip r:embed="rId6">
            <a:alphaModFix/>
          </a:blip>
          <a:srcRect b="3312" l="26200" r="57077" t="66180"/>
          <a:stretch/>
        </p:blipFill>
        <p:spPr>
          <a:xfrm>
            <a:off x="6975972" y="2819388"/>
            <a:ext cx="1289801" cy="156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5"/>
          <p:cNvSpPr txBox="1"/>
          <p:nvPr/>
        </p:nvSpPr>
        <p:spPr>
          <a:xfrm>
            <a:off x="7141950" y="4488825"/>
            <a:ext cx="13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Calamarata</a:t>
            </a:r>
            <a:endParaRPr/>
          </a:p>
        </p:txBody>
      </p:sp>
      <p:sp>
        <p:nvSpPr>
          <p:cNvPr id="262" name="Google Shape;262;p45"/>
          <p:cNvSpPr txBox="1"/>
          <p:nvPr/>
        </p:nvSpPr>
        <p:spPr>
          <a:xfrm>
            <a:off x="2133388" y="3781550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Penne</a:t>
            </a:r>
            <a:endParaRPr/>
          </a:p>
        </p:txBody>
      </p:sp>
      <p:pic>
        <p:nvPicPr>
          <p:cNvPr id="263" name="Google Shape;263;p45"/>
          <p:cNvPicPr preferRelativeResize="0"/>
          <p:nvPr/>
        </p:nvPicPr>
        <p:blipFill rotWithShape="1">
          <a:blip r:embed="rId7">
            <a:alphaModFix/>
          </a:blip>
          <a:srcRect b="22438" l="0" r="0" t="0"/>
          <a:stretch/>
        </p:blipFill>
        <p:spPr>
          <a:xfrm>
            <a:off x="6393037" y="627525"/>
            <a:ext cx="2371121" cy="179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5"/>
          <p:cNvSpPr txBox="1"/>
          <p:nvPr/>
        </p:nvSpPr>
        <p:spPr>
          <a:xfrm>
            <a:off x="6805325" y="2293188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Ravioli</a:t>
            </a:r>
            <a:endParaRPr/>
          </a:p>
        </p:txBody>
      </p:sp>
      <p:pic>
        <p:nvPicPr>
          <p:cNvPr id="265" name="Google Shape;265;p45"/>
          <p:cNvPicPr preferRelativeResize="0"/>
          <p:nvPr/>
        </p:nvPicPr>
        <p:blipFill rotWithShape="1">
          <a:blip r:embed="rId8">
            <a:alphaModFix/>
          </a:blip>
          <a:srcRect b="68320" l="25572" r="12538" t="10596"/>
          <a:stretch/>
        </p:blipFill>
        <p:spPr>
          <a:xfrm>
            <a:off x="1699175" y="2945623"/>
            <a:ext cx="2371100" cy="839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5"/>
          <p:cNvPicPr preferRelativeResize="0"/>
          <p:nvPr/>
        </p:nvPicPr>
        <p:blipFill rotWithShape="1">
          <a:blip r:embed="rId9">
            <a:alphaModFix/>
          </a:blip>
          <a:srcRect b="16044" l="0" r="15196" t="13273"/>
          <a:stretch/>
        </p:blipFill>
        <p:spPr>
          <a:xfrm>
            <a:off x="219800" y="3726823"/>
            <a:ext cx="1998025" cy="1144327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5"/>
          <p:cNvSpPr txBox="1"/>
          <p:nvPr/>
        </p:nvSpPr>
        <p:spPr>
          <a:xfrm>
            <a:off x="533188" y="4772150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Shell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3" name="Google Shape;27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Vector Description of Pasta</a:t>
            </a:r>
            <a:endParaRPr/>
          </a:p>
        </p:txBody>
      </p:sp>
      <p:graphicFrame>
        <p:nvGraphicFramePr>
          <p:cNvPr id="274" name="Google Shape;274;p46"/>
          <p:cNvGraphicFramePr/>
          <p:nvPr/>
        </p:nvGraphicFramePr>
        <p:xfrm>
          <a:off x="3117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{FB752A5B-906B-4E87-8642-6DC37DA6C8A1}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Pasta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Spaghetti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Lasagne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Rigatoni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Ravioli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Set - Data Collection Sheet</a:t>
            </a:r>
            <a:endParaRPr/>
          </a:p>
        </p:txBody>
      </p:sp>
      <p:sp>
        <p:nvSpPr>
          <p:cNvPr id="280" name="Google Shape;280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81" name="Google Shape;281;p47"/>
          <p:cNvGraphicFramePr/>
          <p:nvPr/>
        </p:nvGraphicFramePr>
        <p:xfrm>
          <a:off x="594525" y="109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{FB752A5B-906B-4E87-8642-6DC37DA6C8A1}</a:tableStyleId>
              </a:tblPr>
              <a:tblGrid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Pasta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Correctly classified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Incorrectly classified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Spaghetti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Lasagne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Rigatoni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Ravioli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Reflection</a:t>
            </a:r>
            <a:endParaRPr/>
          </a:p>
        </p:txBody>
      </p:sp>
      <p:sp>
        <p:nvSpPr>
          <p:cNvPr id="287" name="Google Shape;287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well did your pasta classifier do on this new test set? What pastas did it classify incorrectly?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Were your features flexible enough to allow you to classify new pasta? Why or why not?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 would you change your features to allow them to better classify a wider range of pastas?</a:t>
            </a:r>
            <a:endParaRPr/>
          </a:p>
        </p:txBody>
      </p:sp>
      <p:sp>
        <p:nvSpPr>
          <p:cNvPr id="288" name="Google Shape;288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4" name="Google Shape;294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Vector Description of Pasta </a:t>
            </a:r>
            <a:endParaRPr sz="213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33"/>
              <a:t>Add more columns to fit all your features &amp; more rows to fit all your pastas</a:t>
            </a:r>
            <a:endParaRPr sz="2133"/>
          </a:p>
        </p:txBody>
      </p:sp>
      <p:graphicFrame>
        <p:nvGraphicFramePr>
          <p:cNvPr id="295" name="Google Shape;295;p49"/>
          <p:cNvGraphicFramePr/>
          <p:nvPr/>
        </p:nvGraphicFramePr>
        <p:xfrm>
          <a:off x="410600" y="145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{FB752A5B-906B-4E87-8642-6DC37DA6C8A1}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Pasta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Spaghetti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Lasagne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Rigatoni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Ravioli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Takeaways</a:t>
            </a:r>
            <a:endParaRPr/>
          </a:p>
        </p:txBody>
      </p:sp>
      <p:sp>
        <p:nvSpPr>
          <p:cNvPr id="301" name="Google Shape;301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your data is in a feature vector table like this  then you don’t have to build the tree yourself</a:t>
            </a:r>
            <a:endParaRPr/>
          </a:p>
        </p:txBody>
      </p:sp>
      <p:sp>
        <p:nvSpPr>
          <p:cNvPr id="307" name="Google Shape;307;p51"/>
          <p:cNvSpPr txBox="1"/>
          <p:nvPr>
            <p:ph idx="1" type="body"/>
          </p:nvPr>
        </p:nvSpPr>
        <p:spPr>
          <a:xfrm>
            <a:off x="311700" y="1300150"/>
            <a:ext cx="8520600" cy="37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People don’t usually build decision trees by hand because for realistic tasks it can be hard.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For practical problems, people build a table that may have thousands of rows (examples) and dozens of columns (features). Each example is labeled with the correct decision (i.e., the class it belongs to).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Then they use a </a:t>
            </a:r>
            <a:r>
              <a:rPr b="1" lang="en" sz="1600"/>
              <a:t>machine learning</a:t>
            </a:r>
            <a:r>
              <a:rPr lang="en" sz="1600"/>
              <a:t> algorithm to create the decision tree.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08" name="Google Shape;308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9" name="Google Shape;309;p51"/>
          <p:cNvSpPr txBox="1"/>
          <p:nvPr/>
        </p:nvSpPr>
        <p:spPr>
          <a:xfrm>
            <a:off x="247950" y="4324375"/>
            <a:ext cx="82725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Machine Learning </a:t>
            </a:r>
            <a:r>
              <a:rPr lang="en" sz="1800">
                <a:solidFill>
                  <a:schemeClr val="dk1"/>
                </a:solidFill>
              </a:rPr>
              <a:t>is a process for constructing a reasoner (such as a decision tree classifier) using training data and a learning algorithm.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Pasta Land vs Mini-Akinator</a:t>
            </a:r>
            <a:endParaRPr/>
          </a:p>
        </p:txBody>
      </p:sp>
      <p:sp>
        <p:nvSpPr>
          <p:cNvPr id="315" name="Google Shape;315;p52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Pastaland is a simulation of a machine learning algorithm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We knew all the examples/classes  in advance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We knew all the features in advance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When we constructed the tree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We used node splitting process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We were selective about the features we chose in our tree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Used an algorithm to build the tree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Take away</a:t>
            </a:r>
            <a:r>
              <a:rPr lang="en" sz="1100">
                <a:solidFill>
                  <a:schemeClr val="dk1"/>
                </a:solidFill>
              </a:rPr>
              <a:t> - The new way we build the tree in Pasta Land is what a machine learning algorithm will do for you.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6" name="Google Shape;316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5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Mini-Akinator - simulation of creating and growing a decision tree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We didn’t know the examples in advance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We didn’t know all the features in advance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Instead we added the examples one at a time and discovered the features as we went along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When we constructed the tree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We grew it step by step because we added a new example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We couldn’t predict what to ask until we had another example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We might have to ask a lot more questions using this process.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Take away</a:t>
            </a:r>
            <a:r>
              <a:rPr lang="en" sz="1100">
                <a:solidFill>
                  <a:schemeClr val="dk1"/>
                </a:solidFill>
              </a:rPr>
              <a:t> - We learned how to create and grow a decision tree and get some insight into how Akinator works.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look at some examples from the real-world</a:t>
            </a:r>
            <a:endParaRPr/>
          </a:p>
        </p:txBody>
      </p:sp>
      <p:sp>
        <p:nvSpPr>
          <p:cNvPr id="323" name="Google Shape;323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Alfa Slab One"/>
                <a:ea typeface="Alfa Slab One"/>
                <a:cs typeface="Alfa Slab One"/>
                <a:sym typeface="Alfa Slab One"/>
              </a:rPr>
              <a:t>Try It #2: </a:t>
            </a:r>
            <a:r>
              <a:rPr lang="en"/>
              <a:t>Think of a real-world example</a:t>
            </a:r>
            <a:endParaRPr/>
          </a:p>
        </p:txBody>
      </p:sp>
      <p:sp>
        <p:nvSpPr>
          <p:cNvPr id="329" name="Google Shape;329;p54"/>
          <p:cNvSpPr txBox="1"/>
          <p:nvPr>
            <p:ph idx="1" type="body"/>
          </p:nvPr>
        </p:nvSpPr>
        <p:spPr>
          <a:xfrm>
            <a:off x="311700" y="12468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Step 1: </a:t>
            </a:r>
            <a:r>
              <a:rPr lang="en"/>
              <a:t>Pick a situation in the real world where computers might make decisions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Step 2: </a:t>
            </a:r>
            <a:r>
              <a:rPr lang="en"/>
              <a:t>Think about the attributes that would contribute to making good decisions </a:t>
            </a:r>
            <a:br>
              <a:rPr lang="en"/>
            </a:br>
            <a:br>
              <a:rPr lang="en"/>
            </a:br>
            <a:r>
              <a:rPr b="1" i="1" lang="en"/>
              <a:t>Step 3: </a:t>
            </a:r>
            <a:r>
              <a:rPr lang="en"/>
              <a:t>Reflection: Think about how your life is being affected by classifier systems (automated decision making). </a:t>
            </a:r>
            <a:endParaRPr/>
          </a:p>
        </p:txBody>
      </p:sp>
      <p:sp>
        <p:nvSpPr>
          <p:cNvPr id="330" name="Google Shape;330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1" name="Google Shape;331;p54"/>
          <p:cNvSpPr txBox="1"/>
          <p:nvPr>
            <p:ph idx="2" type="body"/>
          </p:nvPr>
        </p:nvSpPr>
        <p:spPr>
          <a:xfrm>
            <a:off x="4832400" y="1152475"/>
            <a:ext cx="418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Examples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Classifying toys based on age. </a:t>
            </a:r>
            <a:br>
              <a:rPr lang="en"/>
            </a:br>
            <a:r>
              <a:rPr lang="en"/>
              <a:t>What kinds of features make a toy suitable?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Classify games, movies, and music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Reviewing loan applications. </a:t>
            </a:r>
            <a:br>
              <a:rPr lang="en"/>
            </a:br>
            <a:r>
              <a:rPr lang="en"/>
              <a:t>What kinds of things help us determine the strength of a loan application?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College applications.</a:t>
            </a:r>
            <a:br>
              <a:rPr lang="en"/>
            </a:br>
            <a:r>
              <a:rPr lang="en"/>
              <a:t>What kinds of things make for a strong college application?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Computers don’t learn the way people do. </a:t>
            </a:r>
            <a:endParaRPr/>
          </a:p>
        </p:txBody>
      </p:sp>
      <p:sp>
        <p:nvSpPr>
          <p:cNvPr id="337" name="Google Shape;337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6"/>
          <p:cNvSpPr txBox="1"/>
          <p:nvPr>
            <p:ph type="title"/>
          </p:nvPr>
        </p:nvSpPr>
        <p:spPr>
          <a:xfrm>
            <a:off x="311700" y="2150850"/>
            <a:ext cx="8744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people learn?</a:t>
            </a:r>
            <a:endParaRPr/>
          </a:p>
        </p:txBody>
      </p:sp>
      <p:sp>
        <p:nvSpPr>
          <p:cNvPr id="343" name="Google Shape;343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56"/>
          <p:cNvSpPr/>
          <p:nvPr/>
        </p:nvSpPr>
        <p:spPr>
          <a:xfrm>
            <a:off x="678950" y="2866500"/>
            <a:ext cx="8376900" cy="2883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Ways people learn</a:t>
            </a:r>
            <a:endParaRPr/>
          </a:p>
        </p:txBody>
      </p:sp>
      <p:sp>
        <p:nvSpPr>
          <p:cNvPr id="350" name="Google Shape;350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Being taught by someone (e.g., parent, teacher, sibling, friend)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Asking questions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Observing others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Reading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Trial and error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Systematic experimentation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Everyday life experiences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1" name="Google Shape;351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2" name="Google Shape;352;p57"/>
          <p:cNvSpPr txBox="1"/>
          <p:nvPr/>
        </p:nvSpPr>
        <p:spPr>
          <a:xfrm>
            <a:off x="311700" y="4421250"/>
            <a:ext cx="718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None of these are things that computers currently do well.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Ways Computers Learn</a:t>
            </a:r>
            <a:endParaRPr/>
          </a:p>
        </p:txBody>
      </p:sp>
      <p:sp>
        <p:nvSpPr>
          <p:cNvPr id="358" name="Google Shape;358;p58"/>
          <p:cNvSpPr txBox="1"/>
          <p:nvPr>
            <p:ph idx="1" type="body"/>
          </p:nvPr>
        </p:nvSpPr>
        <p:spPr>
          <a:xfrm>
            <a:off x="311700" y="923875"/>
            <a:ext cx="8520600" cy="42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from labeled examples (like Pasta Land and Teachable Machine)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</a:t>
            </a:r>
            <a:r>
              <a:rPr b="1" lang="en"/>
              <a:t>supervised learning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will only explore supervised learning in this unit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Finding clusters in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</a:t>
            </a:r>
            <a:r>
              <a:rPr b="1" lang="en"/>
              <a:t>unsupervised learning</a:t>
            </a:r>
            <a:r>
              <a:rPr lang="en"/>
              <a:t> because the data does not come pre-labeled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Example: examining data on plants collected from a forest and decided how many different species of plants there are in the forest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from experience via trial and error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</a:t>
            </a:r>
            <a:r>
              <a:rPr b="1" lang="en"/>
              <a:t>reinforcement learning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how computers learn good strategies for playing games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by being told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</a:t>
            </a:r>
            <a:r>
              <a:rPr b="1" lang="en"/>
              <a:t>zero shot learning.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Large language models like ChatGPT can learn a new task by being told </a:t>
            </a:r>
            <a:r>
              <a:rPr lang="en"/>
              <a:t>what</a:t>
            </a:r>
            <a:r>
              <a:rPr lang="en"/>
              <a:t> to do and they will follow those instructions.</a:t>
            </a:r>
            <a:endParaRPr/>
          </a:p>
        </p:txBody>
      </p:sp>
      <p:sp>
        <p:nvSpPr>
          <p:cNvPr id="359" name="Google Shape;359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