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Permanent Marker"/>
      <p:regular r:id="rId35"/>
    </p:embeddedFont>
    <p:embeddedFont>
      <p:font typeface="Helvetica Neue"/>
      <p:regular r:id="rId36"/>
      <p:bold r:id="rId37"/>
      <p:italic r:id="rId38"/>
      <p:boldItalic r:id="rId39"/>
    </p:embeddedFont>
    <p:embeddedFont>
      <p:font typeface="Merriweather"/>
      <p:regular r:id="rId40"/>
      <p:bold r:id="rId41"/>
      <p:italic r:id="rId42"/>
      <p:boldItalic r:id="rId43"/>
    </p:embeddedFont>
    <p:embeddedFont>
      <p:font typeface="Alfa Slab One"/>
      <p:regular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iNCRQu9VVbYnf3pg9t1WZJWKco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750E20-7DBF-4BBE-B2F9-6E6BEFA554EF}">
  <a:tblStyle styleId="{19750E20-7DBF-4BBE-B2F9-6E6BEFA554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8A29E13-2EB7-4A78-93A6-AAD963E6F05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regular.fntdata"/><Relationship Id="rId20" Type="http://schemas.openxmlformats.org/officeDocument/2006/relationships/slide" Target="slides/slide12.xml"/><Relationship Id="rId42" Type="http://schemas.openxmlformats.org/officeDocument/2006/relationships/font" Target="fonts/Merriweather-italic.fntdata"/><Relationship Id="rId41" Type="http://schemas.openxmlformats.org/officeDocument/2006/relationships/font" Target="fonts/Merriweather-bold.fntdata"/><Relationship Id="rId22" Type="http://schemas.openxmlformats.org/officeDocument/2006/relationships/slide" Target="slides/slide14.xml"/><Relationship Id="rId44" Type="http://schemas.openxmlformats.org/officeDocument/2006/relationships/font" Target="fonts/AlfaSlabOne-regular.fntdata"/><Relationship Id="rId21" Type="http://schemas.openxmlformats.org/officeDocument/2006/relationships/slide" Target="slides/slide13.xml"/><Relationship Id="rId43" Type="http://schemas.openxmlformats.org/officeDocument/2006/relationships/font" Target="fonts/Merriweather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Roboto-italic.fntdata"/><Relationship Id="rId10" Type="http://schemas.openxmlformats.org/officeDocument/2006/relationships/slide" Target="slides/slide2.xml"/><Relationship Id="rId32" Type="http://schemas.openxmlformats.org/officeDocument/2006/relationships/font" Target="fonts/Roboto-bold.fntdata"/><Relationship Id="rId13" Type="http://schemas.openxmlformats.org/officeDocument/2006/relationships/slide" Target="slides/slide5.xml"/><Relationship Id="rId35" Type="http://schemas.openxmlformats.org/officeDocument/2006/relationships/font" Target="fonts/PermanentMarker-regular.fntdata"/><Relationship Id="rId12" Type="http://schemas.openxmlformats.org/officeDocument/2006/relationships/slide" Target="slides/slide4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7.xml"/><Relationship Id="rId37" Type="http://schemas.openxmlformats.org/officeDocument/2006/relationships/font" Target="fonts/HelveticaNeue-bold.fntdata"/><Relationship Id="rId14" Type="http://schemas.openxmlformats.org/officeDocument/2006/relationships/slide" Target="slides/slide6.xml"/><Relationship Id="rId36" Type="http://schemas.openxmlformats.org/officeDocument/2006/relationships/font" Target="fonts/HelveticaNeue-regular.fntdata"/><Relationship Id="rId17" Type="http://schemas.openxmlformats.org/officeDocument/2006/relationships/slide" Target="slides/slide9.xml"/><Relationship Id="rId39" Type="http://schemas.openxmlformats.org/officeDocument/2006/relationships/font" Target="fonts/HelveticaNeue-boldItalic.fntdata"/><Relationship Id="rId16" Type="http://schemas.openxmlformats.org/officeDocument/2006/relationships/slide" Target="slides/slide8.xml"/><Relationship Id="rId38" Type="http://schemas.openxmlformats.org/officeDocument/2006/relationships/font" Target="fonts/HelveticaNeue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e8e84dc56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e8e84dc56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81c96e0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2e81c96e0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8e84dc5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e8e84dc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e8e84dc56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2e8e84dc56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candy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831b0b5c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e831b0b5c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that yes equals one and no equals zero.  You may opt to have your students use this instead of yes and no.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e831b0b5ce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2e831b0b5ce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831b0b5ce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e831b0b5ce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the same idea of the semantic space of the word embedding vectors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Except in the word embedding vector - the computer figures out the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These features dont’ have to be binary, it might have a numerical value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Is the length &gt; of pasta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Answer - </a:t>
            </a:r>
            <a:r>
              <a:rPr lang="en">
                <a:solidFill>
                  <a:schemeClr val="dk1"/>
                </a:solidFill>
              </a:rPr>
              <a:t>It solves a problem by asking a series of questions.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Note - Learning by being told has been added in April 27,2</a:t>
            </a:r>
            <a:r>
              <a:rPr lang="en"/>
              <a:t>no</a:t>
            </a:r>
            <a:r>
              <a:rPr lang="en"/>
              <a:t>23 to accommodate the appearance of ChatGPT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" name="Google Shape;70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05" name="Google Shape;10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8" name="Google Shape;108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9" name="Google Shape;10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>
                <a:solidFill>
                  <a:srgbClr val="000000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>
                <a:solidFill>
                  <a:srgbClr val="000000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>
                <a:solidFill>
                  <a:srgbClr val="000000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13" name="Google Shape;113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33" name="Google Shape;13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hyperlink" Target="https://creativecommons.org/licenses/by-nc-sa/4.0/" TargetMode="External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2156750" y="733775"/>
            <a:ext cx="69873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06349"/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3.2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45340"/>
              <a:buNone/>
            </a:pPr>
            <a:r>
              <a:rPr lang="en" sz="2355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How can a computer learn to classify objects from examples?</a:t>
            </a:r>
            <a:endParaRPr sz="2355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i="0" sz="2600" u="none" cap="none" strike="noStrike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"/>
          <p:cNvSpPr txBox="1"/>
          <p:nvPr/>
        </p:nvSpPr>
        <p:spPr>
          <a:xfrm>
            <a:off x="1377450" y="4491585"/>
            <a:ext cx="90531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Developed for the AI4GA (Artificial Intelligence for Georgia) project funded by National Science Foundation awards DRL-2049029 and DRL-2048502.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Additional funding was provided by a gift from Google. </a:t>
            </a:r>
            <a:r>
              <a:rPr b="1" lang="en" sz="900">
                <a:highlight>
                  <a:srgbClr val="FFFFFF"/>
                </a:highlight>
              </a:rPr>
              <a:t>This work is licensed under the Creative Commons Attribution-NonCommercial-ShareAlike 4.0 International License. </a:t>
            </a:r>
            <a:r>
              <a:rPr b="1" lang="en" sz="900" u="sng">
                <a:solidFill>
                  <a:srgbClr val="0097A7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91475" y="1892475"/>
            <a:ext cx="5182650" cy="25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e8e84dc56f_0_64"/>
          <p:cNvSpPr txBox="1"/>
          <p:nvPr>
            <p:ph type="title"/>
          </p:nvPr>
        </p:nvSpPr>
        <p:spPr>
          <a:xfrm>
            <a:off x="311700" y="218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#1: </a:t>
            </a:r>
            <a:r>
              <a:rPr lang="en">
                <a:latin typeface="Alfa Slab One"/>
                <a:ea typeface="Alfa Slab One"/>
                <a:cs typeface="Alfa Slab One"/>
                <a:sym typeface="Alfa Slab One"/>
              </a:rPr>
              <a:t>Candy Land - Creating a Candy Classifier</a:t>
            </a:r>
            <a:endParaRPr>
              <a:latin typeface="Alfa Slab One"/>
              <a:ea typeface="Alfa Slab One"/>
              <a:cs typeface="Alfa Slab One"/>
              <a:sym typeface="Alfa Slab One"/>
            </a:endParaRPr>
          </a:p>
        </p:txBody>
      </p:sp>
      <p:sp>
        <p:nvSpPr>
          <p:cNvPr id="155" name="Google Shape;155;g2e8e84dc56f_0_64"/>
          <p:cNvSpPr txBox="1"/>
          <p:nvPr>
            <p:ph idx="1" type="body"/>
          </p:nvPr>
        </p:nvSpPr>
        <p:spPr>
          <a:xfrm>
            <a:off x="349500" y="1017725"/>
            <a:ext cx="8520600" cy="39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n" sz="1200">
                <a:solidFill>
                  <a:schemeClr val="dk1"/>
                </a:solidFill>
              </a:rPr>
              <a:t>Setup: </a:t>
            </a:r>
            <a:r>
              <a:rPr lang="en" sz="1200">
                <a:solidFill>
                  <a:schemeClr val="dk1"/>
                </a:solidFill>
              </a:rPr>
              <a:t>(a) Get a handout for drawing your tree; (b) cut out pictures of candy that you can move around the nodes of your tree.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1"/>
                </a:solidFill>
              </a:rPr>
              <a:t>Step 1: </a:t>
            </a:r>
            <a:r>
              <a:rPr lang="en" sz="1200">
                <a:solidFill>
                  <a:schemeClr val="dk1"/>
                </a:solidFill>
              </a:rPr>
              <a:t>Propose a bunch of features to distinguish between the candy types,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>
                <a:solidFill>
                  <a:schemeClr val="dk1"/>
                </a:solidFill>
              </a:rPr>
              <a:t>Step 2: </a:t>
            </a:r>
            <a:r>
              <a:rPr lang="en" sz="1200"/>
              <a:t>Pick a feature that will split the candy into two roughly equal groups.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  Doing this every time will give you the smallest number of nodes.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  This is similar to how real machine learning algorithms decide which feature to use for the next node.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3:</a:t>
            </a:r>
            <a:r>
              <a:rPr lang="en" sz="1200"/>
              <a:t> Take the features, build the decision tree.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Make sure every one of your types of candy is a leaf.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You may not have enough features - if you end up with two types of candy on the same leaf.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4:</a:t>
            </a:r>
            <a:r>
              <a:rPr lang="en" sz="1200"/>
              <a:t> Test this out and update the features and the tree.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200"/>
              <a:t>Step 5:</a:t>
            </a:r>
            <a:r>
              <a:rPr lang="en" sz="1200"/>
              <a:t> Convert the tree into a table.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columns are the features (red - replace question).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The rows are the leaves.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If the feature doesn’t apply, put N/A.</a:t>
            </a:r>
            <a:endParaRPr sz="1200"/>
          </a:p>
        </p:txBody>
      </p:sp>
      <p:sp>
        <p:nvSpPr>
          <p:cNvPr id="156" name="Google Shape;156;g2e8e84dc56f_0_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81c96e0e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g2e81c96e0ef_0_0"/>
          <p:cNvSpPr txBox="1"/>
          <p:nvPr/>
        </p:nvSpPr>
        <p:spPr>
          <a:xfrm>
            <a:off x="811688" y="22638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Gummy Worm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e81c96e0ef_0_0"/>
          <p:cNvSpPr txBox="1"/>
          <p:nvPr/>
        </p:nvSpPr>
        <p:spPr>
          <a:xfrm>
            <a:off x="4125800" y="23924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Reese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e81c96e0ef_0_0"/>
          <p:cNvSpPr txBox="1"/>
          <p:nvPr/>
        </p:nvSpPr>
        <p:spPr>
          <a:xfrm>
            <a:off x="6055100" y="274703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skittles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e81c96e0ef_0_0"/>
          <p:cNvSpPr txBox="1"/>
          <p:nvPr/>
        </p:nvSpPr>
        <p:spPr>
          <a:xfrm>
            <a:off x="951038" y="4601700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Mentos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2e81c96e0ef_0_0"/>
          <p:cNvSpPr txBox="1"/>
          <p:nvPr/>
        </p:nvSpPr>
        <p:spPr>
          <a:xfrm>
            <a:off x="5804363" y="4512013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Cadbury Egg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2e81c96e0ef_0_0"/>
          <p:cNvSpPr txBox="1"/>
          <p:nvPr/>
        </p:nvSpPr>
        <p:spPr>
          <a:xfrm>
            <a:off x="3448313" y="4201488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Hershey Bar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e81c96e0ef_0_0"/>
          <p:cNvSpPr txBox="1"/>
          <p:nvPr/>
        </p:nvSpPr>
        <p:spPr>
          <a:xfrm>
            <a:off x="2671713" y="2392450"/>
            <a:ext cx="109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lollipop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2e81c96e0e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400" y="972500"/>
            <a:ext cx="734200" cy="134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e81c96e0e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2150" y="953788"/>
            <a:ext cx="1145700" cy="138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e81c96e0e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25800" y="1023500"/>
            <a:ext cx="1389551" cy="12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e81c96e0ef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3300" y="1023500"/>
            <a:ext cx="1575450" cy="164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e81c96e0e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2823" y="3147250"/>
            <a:ext cx="734200" cy="1364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e81c96e0ef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6897" y="3064275"/>
            <a:ext cx="1631099" cy="1519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e81c96e0ef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217975" y="3057587"/>
            <a:ext cx="1950576" cy="10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g2e81c96e0ef_0_0"/>
          <p:cNvSpPr txBox="1"/>
          <p:nvPr/>
        </p:nvSpPr>
        <p:spPr>
          <a:xfrm>
            <a:off x="344650" y="205050"/>
            <a:ext cx="59082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Candy Data Set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8e84dc56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g2e8e84dc56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7499" y="1330171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2e8e84dc56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49" y="123191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2e8e84dc56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8297" y="1372020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g2e8e84dc56f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75100" y="1155045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2e8e84dc56f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09384" y="1325230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2e8e84dc56f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48741" y="1192551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2e8e84dc56f_0_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94467" y="1406533"/>
            <a:ext cx="1076312" cy="63684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g2e8e84dc56f_0_0"/>
          <p:cNvGraphicFramePr/>
          <p:nvPr/>
        </p:nvGraphicFramePr>
        <p:xfrm>
          <a:off x="1355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0" name="Google Shape;190;g2e8e84dc56f_0_0"/>
          <p:cNvSpPr txBox="1"/>
          <p:nvPr/>
        </p:nvSpPr>
        <p:spPr>
          <a:xfrm>
            <a:off x="0" y="0"/>
            <a:ext cx="62172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property of a thing we are trying to describe.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Write features for the candies in our dataset.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91" name="Google Shape;191;g2e8e84dc56f_0_0"/>
          <p:cNvGraphicFramePr/>
          <p:nvPr/>
        </p:nvGraphicFramePr>
        <p:xfrm>
          <a:off x="14309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2" name="Google Shape;192;g2e8e84dc56f_0_0"/>
          <p:cNvGraphicFramePr/>
          <p:nvPr/>
        </p:nvGraphicFramePr>
        <p:xfrm>
          <a:off x="27263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3" name="Google Shape;193;g2e8e84dc56f_0_0"/>
          <p:cNvGraphicFramePr/>
          <p:nvPr/>
        </p:nvGraphicFramePr>
        <p:xfrm>
          <a:off x="40217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4" name="Google Shape;194;g2e8e84dc56f_0_0"/>
          <p:cNvGraphicFramePr/>
          <p:nvPr/>
        </p:nvGraphicFramePr>
        <p:xfrm>
          <a:off x="53171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5" name="Google Shape;195;g2e8e84dc56f_0_0"/>
          <p:cNvGraphicFramePr/>
          <p:nvPr/>
        </p:nvGraphicFramePr>
        <p:xfrm>
          <a:off x="66125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96" name="Google Shape;196;g2e8e84dc56f_0_0"/>
          <p:cNvGraphicFramePr/>
          <p:nvPr/>
        </p:nvGraphicFramePr>
        <p:xfrm>
          <a:off x="7907950" y="220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{19750E20-7DBF-4BBE-B2F9-6E6BEFA554EF}</a:tableStyleId>
              </a:tblPr>
              <a:tblGrid>
                <a:gridCol w="1065925"/>
              </a:tblGrid>
              <a:tr h="41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8e84dc56f_0_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g2e8e84dc56f_0_115"/>
          <p:cNvSpPr txBox="1"/>
          <p:nvPr/>
        </p:nvSpPr>
        <p:spPr>
          <a:xfrm>
            <a:off x="247950" y="4629175"/>
            <a:ext cx="6217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en" sz="1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property of a thing we are trying to describe.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2e8e84dc56f_0_115"/>
          <p:cNvSpPr/>
          <p:nvPr/>
        </p:nvSpPr>
        <p:spPr>
          <a:xfrm>
            <a:off x="0" y="7300"/>
            <a:ext cx="7913100" cy="80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Pick a feature </a:t>
            </a:r>
            <a:r>
              <a:rPr lang="en">
                <a:solidFill>
                  <a:schemeClr val="dk1"/>
                </a:solidFill>
              </a:rPr>
              <a:t>from your last slide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</a:t>
            </a:r>
            <a:r>
              <a:rPr lang="en">
                <a:solidFill>
                  <a:schemeClr val="dk1"/>
                </a:solidFill>
              </a:rPr>
              <a:t>roughly half of your candy shares. 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Turn </a:t>
            </a:r>
            <a:r>
              <a:rPr lang="en">
                <a:solidFill>
                  <a:schemeClr val="dk1"/>
                </a:solidFill>
              </a:rPr>
              <a:t>that feature into a question that can be answered with yes or no and write it in the red box.  This is the root node, the beginning of your decision tree.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2e8e84dc56f_0_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2224" y="1232758"/>
            <a:ext cx="405126" cy="789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e8e84dc56f_0_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224" y="177860"/>
            <a:ext cx="632188" cy="811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2e8e84dc56f_0_1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397" y="1274607"/>
            <a:ext cx="766743" cy="705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2e8e84dc56f_0_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900" y="3993657"/>
            <a:ext cx="869320" cy="965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2e8e84dc56f_0_1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44234" y="2922130"/>
            <a:ext cx="405126" cy="799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2e8e84dc56f_0_1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41" y="2955376"/>
            <a:ext cx="900027" cy="890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2e8e84dc56f_0_1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531904" y="2170433"/>
            <a:ext cx="1076312" cy="63684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2e8e84dc56f_0_115"/>
          <p:cNvSpPr txBox="1"/>
          <p:nvPr/>
        </p:nvSpPr>
        <p:spPr>
          <a:xfrm>
            <a:off x="3308475" y="123275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3690975" y="10008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6335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60531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5"/>
          <p:cNvCxnSpPr>
            <a:stCxn id="217" idx="2"/>
            <a:endCxn id="218" idx="0"/>
          </p:cNvCxnSpPr>
          <p:nvPr/>
        </p:nvCxnSpPr>
        <p:spPr>
          <a:xfrm flipH="1">
            <a:off x="2282475" y="1401000"/>
            <a:ext cx="20574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1" name="Google Shape;221;p5"/>
          <p:cNvCxnSpPr>
            <a:stCxn id="217" idx="2"/>
            <a:endCxn id="219" idx="0"/>
          </p:cNvCxnSpPr>
          <p:nvPr/>
        </p:nvCxnSpPr>
        <p:spPr>
          <a:xfrm>
            <a:off x="4339875" y="1401000"/>
            <a:ext cx="2362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" name="Google Shape;222;p5"/>
          <p:cNvSpPr txBox="1"/>
          <p:nvPr/>
        </p:nvSpPr>
        <p:spPr>
          <a:xfrm>
            <a:off x="27575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56531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120075" y="126725"/>
            <a:ext cx="2811300" cy="11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two children of the current node and split its candies between them based on the feature.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3690975" y="10008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1100175" y="2296200"/>
            <a:ext cx="1297800" cy="40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6053175" y="22962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6"/>
          <p:cNvCxnSpPr>
            <a:stCxn id="230" idx="2"/>
            <a:endCxn id="231" idx="0"/>
          </p:cNvCxnSpPr>
          <p:nvPr/>
        </p:nvCxnSpPr>
        <p:spPr>
          <a:xfrm flipH="1">
            <a:off x="1749075" y="1401000"/>
            <a:ext cx="25908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6"/>
          <p:cNvCxnSpPr>
            <a:stCxn id="230" idx="2"/>
            <a:endCxn id="232" idx="0"/>
          </p:cNvCxnSpPr>
          <p:nvPr/>
        </p:nvCxnSpPr>
        <p:spPr>
          <a:xfrm>
            <a:off x="4339875" y="1401000"/>
            <a:ext cx="2362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6"/>
          <p:cNvSpPr txBox="1"/>
          <p:nvPr/>
        </p:nvSpPr>
        <p:spPr>
          <a:xfrm>
            <a:off x="24527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 txBox="1"/>
          <p:nvPr/>
        </p:nvSpPr>
        <p:spPr>
          <a:xfrm>
            <a:off x="5653125" y="164612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109575" y="35916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2700375" y="3591600"/>
            <a:ext cx="12978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6"/>
          <p:cNvCxnSpPr>
            <a:stCxn id="231" idx="2"/>
            <a:endCxn id="237" idx="0"/>
          </p:cNvCxnSpPr>
          <p:nvPr/>
        </p:nvCxnSpPr>
        <p:spPr>
          <a:xfrm flipH="1">
            <a:off x="758475" y="2696400"/>
            <a:ext cx="9906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6"/>
          <p:cNvCxnSpPr>
            <a:stCxn id="231" idx="2"/>
            <a:endCxn id="238" idx="0"/>
          </p:cNvCxnSpPr>
          <p:nvPr/>
        </p:nvCxnSpPr>
        <p:spPr>
          <a:xfrm>
            <a:off x="1749075" y="2696400"/>
            <a:ext cx="1600200" cy="8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" name="Google Shape;241;p6"/>
          <p:cNvSpPr txBox="1"/>
          <p:nvPr/>
        </p:nvSpPr>
        <p:spPr>
          <a:xfrm>
            <a:off x="758475" y="2943900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2618425" y="2946275"/>
            <a:ext cx="54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120075" y="126725"/>
            <a:ext cx="2811300" cy="115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two children of the current node and split its candies between them based on the feature.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Now that we’ve created our classifier</a:t>
            </a:r>
            <a:endParaRPr/>
          </a:p>
        </p:txBody>
      </p:sp>
      <p:sp>
        <p:nvSpPr>
          <p:cNvPr id="250" name="Google Shape;250;p7"/>
          <p:cNvSpPr txBox="1"/>
          <p:nvPr>
            <p:ph idx="1" type="body"/>
          </p:nvPr>
        </p:nvSpPr>
        <p:spPr>
          <a:xfrm>
            <a:off x="311700" y="1073600"/>
            <a:ext cx="8520600" cy="15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We can describe candy using feature vectors.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 feature </a:t>
            </a:r>
            <a:r>
              <a:rPr lang="en">
                <a:solidFill>
                  <a:schemeClr val="dk1"/>
                </a:solidFill>
              </a:rPr>
              <a:t>is a property of a thing we are trying to describe.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A </a:t>
            </a:r>
            <a:r>
              <a:rPr lang="en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featurE Vector</a:t>
            </a:r>
            <a:r>
              <a:rPr lang="en"/>
              <a:t> is an ordered list of properties.</a:t>
            </a:r>
            <a:endParaRPr/>
          </a:p>
        </p:txBody>
      </p:sp>
      <p:graphicFrame>
        <p:nvGraphicFramePr>
          <p:cNvPr id="251" name="Google Shape;251;p7"/>
          <p:cNvGraphicFramePr/>
          <p:nvPr/>
        </p:nvGraphicFramePr>
        <p:xfrm>
          <a:off x="395550" y="3092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{D8A29E13-2EB7-4A78-93A6-AAD963E6F05D}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93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Air Head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00"/>
                          </a:highlight>
                        </a:rPr>
                        <a:t>Is i</a:t>
                      </a:r>
                      <a:r>
                        <a:rPr lang="en">
                          <a:highlight>
                            <a:srgbClr val="FFFF00"/>
                          </a:highlight>
                        </a:rPr>
                        <a:t>t</a:t>
                      </a:r>
                      <a:r>
                        <a:rPr lang="en" sz="1400" u="none" cap="none" strike="noStrike">
                          <a:highlight>
                            <a:srgbClr val="FFFF00"/>
                          </a:highlight>
                        </a:rPr>
                        <a:t> round?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highlight>
                            <a:srgbClr val="FFFF00"/>
                          </a:highlight>
                        </a:rPr>
                        <a:t>N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" name="Google Shape;252;p7"/>
          <p:cNvSpPr txBox="1"/>
          <p:nvPr/>
        </p:nvSpPr>
        <p:spPr>
          <a:xfrm>
            <a:off x="311700" y="2631000"/>
            <a:ext cx="407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feature vector: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e831b0b5ce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g2e831b0b5ce_2_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Feature Vector Description of Candy: Respond yes or 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Possible Answers</a:t>
            </a:r>
            <a:endParaRPr b="1"/>
          </a:p>
        </p:txBody>
      </p:sp>
      <p:graphicFrame>
        <p:nvGraphicFramePr>
          <p:cNvPr id="259" name="Google Shape;259;g2e831b0b5ce_2_0"/>
          <p:cNvGraphicFramePr/>
          <p:nvPr/>
        </p:nvGraphicFramePr>
        <p:xfrm>
          <a:off x="3992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{D8A29E13-2EB7-4A78-93A6-AAD963E6F05D}</a:tableStyleId>
              </a:tblPr>
              <a:tblGrid>
                <a:gridCol w="950675"/>
                <a:gridCol w="999025"/>
                <a:gridCol w="999025"/>
                <a:gridCol w="999025"/>
                <a:gridCol w="999025"/>
                <a:gridCol w="999025"/>
                <a:gridCol w="999025"/>
                <a:gridCol w="999025"/>
              </a:tblGrid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Candy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/>
                        <a:t>Is it multicolor?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/>
                        <a:t>Is it round?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 u="none" cap="none" strike="noStrike"/>
                        <a:t>Is it chocolate?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Gummy worm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Lollipop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Skittles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Cadbury egg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Hershey bar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Chocolate bunny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200"/>
                        <a:t>yes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Mentos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e831b0b5ce_2_6"/>
          <p:cNvSpPr txBox="1"/>
          <p:nvPr>
            <p:ph type="title"/>
          </p:nvPr>
        </p:nvSpPr>
        <p:spPr>
          <a:xfrm>
            <a:off x="243550" y="88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Use this test set to see how effective your features are at classifying a new set of candies</a:t>
            </a:r>
            <a:endParaRPr/>
          </a:p>
        </p:txBody>
      </p:sp>
      <p:sp>
        <p:nvSpPr>
          <p:cNvPr id="265" name="Google Shape;265;g2e831b0b5ce_2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g2e831b0b5ce_2_6"/>
          <p:cNvSpPr txBox="1"/>
          <p:nvPr/>
        </p:nvSpPr>
        <p:spPr>
          <a:xfrm>
            <a:off x="2288163" y="2581675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Baby Ruth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2e831b0b5ce_2_6"/>
          <p:cNvSpPr txBox="1"/>
          <p:nvPr/>
        </p:nvSpPr>
        <p:spPr>
          <a:xfrm>
            <a:off x="125575" y="2516625"/>
            <a:ext cx="9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&amp; 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2e831b0b5ce_2_6"/>
          <p:cNvSpPr txBox="1"/>
          <p:nvPr/>
        </p:nvSpPr>
        <p:spPr>
          <a:xfrm>
            <a:off x="4374188" y="2583075"/>
            <a:ext cx="163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Candy Canes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2e831b0b5ce_2_6"/>
          <p:cNvSpPr txBox="1"/>
          <p:nvPr/>
        </p:nvSpPr>
        <p:spPr>
          <a:xfrm>
            <a:off x="207772" y="4291050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0" name="Google Shape;270;g2e831b0b5ce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575" y="1489200"/>
            <a:ext cx="1357500" cy="8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2e831b0b5ce_2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3425" y="1174800"/>
            <a:ext cx="13575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2e831b0b5ce_2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775" y="3183937"/>
            <a:ext cx="1193100" cy="83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g2e831b0b5ce_2_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5875" y="1283700"/>
            <a:ext cx="1514475" cy="11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g2e831b0b5ce_2_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94025" y="3012675"/>
            <a:ext cx="1514475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2e831b0b5ce_2_6"/>
          <p:cNvSpPr txBox="1"/>
          <p:nvPr/>
        </p:nvSpPr>
        <p:spPr>
          <a:xfrm>
            <a:off x="2134248" y="3952350"/>
            <a:ext cx="181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 Punch Straws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g2e831b0b5ce_2_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52113" y="3134238"/>
            <a:ext cx="1275267" cy="120216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e831b0b5ce_2_6"/>
          <p:cNvSpPr txBox="1"/>
          <p:nvPr/>
        </p:nvSpPr>
        <p:spPr>
          <a:xfrm>
            <a:off x="4593188" y="4121700"/>
            <a:ext cx="119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Whoppers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2e831b0b5ce_2_6"/>
          <p:cNvSpPr txBox="1"/>
          <p:nvPr/>
        </p:nvSpPr>
        <p:spPr>
          <a:xfrm>
            <a:off x="5592850" y="663125"/>
            <a:ext cx="2656800" cy="469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Pick 3 candies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Test Set - Data Collection Sheet</a:t>
            </a:r>
            <a:endParaRPr/>
          </a:p>
        </p:txBody>
      </p:sp>
      <p:sp>
        <p:nvSpPr>
          <p:cNvPr id="284" name="Google Shape;28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85" name="Google Shape;285;p12"/>
          <p:cNvGraphicFramePr/>
          <p:nvPr/>
        </p:nvGraphicFramePr>
        <p:xfrm>
          <a:off x="594525" y="109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{D8A29E13-2EB7-4A78-93A6-AAD963E6F05D}</a:tableStyleId>
              </a:tblPr>
              <a:tblGrid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Correctly classified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Incorrectly classified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1465"/>
              <a:buNone/>
            </a:pPr>
            <a:r>
              <a:rPr lang="en"/>
              <a:t>Feature Vector Description of Candy </a:t>
            </a:r>
            <a:endParaRPr sz="2133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856"/>
              <a:buNone/>
            </a:pPr>
            <a:r>
              <a:rPr lang="en" sz="2133"/>
              <a:t>Add more columns to fit all your features &amp; more rows to fit all your candies</a:t>
            </a:r>
            <a:endParaRPr sz="2133"/>
          </a:p>
        </p:txBody>
      </p:sp>
      <p:graphicFrame>
        <p:nvGraphicFramePr>
          <p:cNvPr id="292" name="Google Shape;292;p13"/>
          <p:cNvGraphicFramePr/>
          <p:nvPr/>
        </p:nvGraphicFramePr>
        <p:xfrm>
          <a:off x="410600" y="1452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{D8A29E13-2EB7-4A78-93A6-AAD963E6F05D}</a:tableStyleId>
              </a:tblPr>
              <a:tblGrid>
                <a:gridCol w="1825000"/>
                <a:gridCol w="1825000"/>
                <a:gridCol w="1825000"/>
                <a:gridCol w="1825000"/>
              </a:tblGrid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Candy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multicolor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round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Is it a quadrilateral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M&amp;M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Candy canes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Candy corn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Runts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Sour punch straws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Baby ruths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Whoppers 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4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e831b0b5ce_2_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g2e831b0b5ce_2_81"/>
          <p:cNvSpPr txBox="1"/>
          <p:nvPr>
            <p:ph type="title"/>
          </p:nvPr>
        </p:nvSpPr>
        <p:spPr>
          <a:xfrm>
            <a:off x="311700" y="116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Feature Vector Description of Candy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5856"/>
              <a:buFont typeface="Arial"/>
              <a:buNone/>
            </a:pPr>
            <a:r>
              <a:rPr lang="en" sz="2133">
                <a:solidFill>
                  <a:schemeClr val="dk1"/>
                </a:solidFill>
              </a:rPr>
              <a:t>Add more columns to fit all your features &amp; more rows to fit all your candies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graphicFrame>
        <p:nvGraphicFramePr>
          <p:cNvPr id="299" name="Google Shape;299;g2e831b0b5ce_2_81"/>
          <p:cNvGraphicFramePr/>
          <p:nvPr/>
        </p:nvGraphicFramePr>
        <p:xfrm>
          <a:off x="3992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{D8A29E13-2EB7-4A78-93A6-AAD963E6F05D}</a:tableStyleId>
              </a:tblPr>
              <a:tblGrid>
                <a:gridCol w="950675"/>
                <a:gridCol w="999025"/>
                <a:gridCol w="999025"/>
                <a:gridCol w="999025"/>
                <a:gridCol w="999025"/>
                <a:gridCol w="999025"/>
                <a:gridCol w="999025"/>
                <a:gridCol w="999025"/>
              </a:tblGrid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Candy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 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67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6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Reflection</a:t>
            </a:r>
            <a:endParaRPr/>
          </a:p>
        </p:txBody>
      </p:sp>
      <p:sp>
        <p:nvSpPr>
          <p:cNvPr id="305" name="Google Shape;305;p15"/>
          <p:cNvSpPr txBox="1"/>
          <p:nvPr>
            <p:ph idx="1" type="body"/>
          </p:nvPr>
        </p:nvSpPr>
        <p:spPr>
          <a:xfrm>
            <a:off x="311700" y="1152475"/>
            <a:ext cx="8520600" cy="3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54"/>
              <a:buNone/>
            </a:pPr>
            <a:r>
              <a:rPr lang="en" sz="1629"/>
              <a:t>How well did your candy classifier do on this new test set? What candies did it classify incorrectly? </a:t>
            </a:r>
            <a:endParaRPr sz="1629"/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30"/>
              <a:buChar char="●"/>
            </a:pPr>
            <a:r>
              <a:rPr lang="en" sz="1629"/>
              <a:t>Ex. If it classified everything correctly the candy classifier did really well.</a:t>
            </a:r>
            <a:endParaRPr sz="16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54"/>
              <a:buNone/>
            </a:pPr>
            <a:r>
              <a:t/>
            </a:r>
            <a:endParaRPr sz="16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54"/>
              <a:buNone/>
            </a:pPr>
            <a:r>
              <a:rPr lang="en" sz="1629"/>
              <a:t>Were your features flexible enough to allow you to classify new candy? Why or why not?</a:t>
            </a:r>
            <a:endParaRPr sz="1629"/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30"/>
              <a:buChar char="●"/>
            </a:pPr>
            <a:r>
              <a:rPr lang="en" sz="1629"/>
              <a:t>Ex. I had to change a question to make it work but it all worked out in the end.</a:t>
            </a:r>
            <a:endParaRPr sz="16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54"/>
              <a:buNone/>
            </a:pPr>
            <a:r>
              <a:t/>
            </a:r>
            <a:endParaRPr sz="1629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54"/>
              <a:buNone/>
            </a:pPr>
            <a:r>
              <a:rPr lang="en" sz="1629"/>
              <a:t>How would you change your features to allow them to better classify a wider range of candies? </a:t>
            </a:r>
            <a:endParaRPr sz="1629"/>
          </a:p>
          <a:p>
            <a:pPr indent="-33210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30"/>
              <a:buChar char="●"/>
            </a:pPr>
            <a:r>
              <a:rPr lang="en" sz="1629"/>
              <a:t>Ex. I would change the color question.</a:t>
            </a:r>
            <a:endParaRPr sz="1629"/>
          </a:p>
        </p:txBody>
      </p:sp>
      <p:sp>
        <p:nvSpPr>
          <p:cNvPr id="306" name="Google Shape;30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Takeaways</a:t>
            </a:r>
            <a:endParaRPr/>
          </a:p>
        </p:txBody>
      </p:sp>
      <p:sp>
        <p:nvSpPr>
          <p:cNvPr id="312" name="Google Shape;3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If your data is in a feature vector table like this then you don’t have to build the tree yourself</a:t>
            </a:r>
            <a:endParaRPr/>
          </a:p>
        </p:txBody>
      </p:sp>
      <p:sp>
        <p:nvSpPr>
          <p:cNvPr id="318" name="Google Shape;318;p17"/>
          <p:cNvSpPr txBox="1"/>
          <p:nvPr>
            <p:ph idx="1" type="body"/>
          </p:nvPr>
        </p:nvSpPr>
        <p:spPr>
          <a:xfrm>
            <a:off x="311700" y="1300150"/>
            <a:ext cx="85206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People don’t usually build decision trees by hand because for realistic tasks it can be hard.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For practical problems, people build a table that may have thousands of rows (examples) and dozens of columns (features). Each example is labeled with the correct decision (i.e., the class it belongs to).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Then they use a </a:t>
            </a:r>
            <a:r>
              <a:rPr b="1" lang="en" sz="1600"/>
              <a:t>machine learning</a:t>
            </a:r>
            <a:r>
              <a:rPr lang="en" sz="1600"/>
              <a:t> algorithm to create the decision tree.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247950" y="4324375"/>
            <a:ext cx="8272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Machine Learning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process for constructing a reasoner (such as a decision tree classifier) using training data and a learning algorithm.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Let’s look at some </a:t>
            </a:r>
            <a:r>
              <a:rPr lang="en">
                <a:solidFill>
                  <a:schemeClr val="dk1"/>
                </a:solidFill>
              </a:rPr>
              <a:t>real-world </a:t>
            </a:r>
            <a:r>
              <a:rPr lang="en"/>
              <a:t>examples: </a:t>
            </a:r>
            <a:endParaRPr/>
          </a:p>
        </p:txBody>
      </p:sp>
      <p:sp>
        <p:nvSpPr>
          <p:cNvPr id="326" name="Google Shape;32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FF"/>
                </a:solidFill>
                <a:latin typeface="Alfa Slab One"/>
                <a:ea typeface="Alfa Slab One"/>
                <a:cs typeface="Alfa Slab One"/>
                <a:sym typeface="Alfa Slab One"/>
              </a:rPr>
              <a:t>Try It #2: </a:t>
            </a:r>
            <a:r>
              <a:rPr lang="en"/>
              <a:t>Think of a real-world example:</a:t>
            </a:r>
            <a:endParaRPr/>
          </a:p>
        </p:txBody>
      </p:sp>
      <p:sp>
        <p:nvSpPr>
          <p:cNvPr id="332" name="Google Shape;332;p19"/>
          <p:cNvSpPr txBox="1"/>
          <p:nvPr>
            <p:ph idx="1" type="body"/>
          </p:nvPr>
        </p:nvSpPr>
        <p:spPr>
          <a:xfrm>
            <a:off x="311700" y="124682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i="1" lang="en"/>
              <a:t>Step 1: </a:t>
            </a:r>
            <a:r>
              <a:rPr lang="en"/>
              <a:t>Pick a situation in the real world where computers might make decisions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b="1" i="1" lang="en"/>
              <a:t>Step 2</a:t>
            </a:r>
            <a:r>
              <a:rPr b="1" lang="en"/>
              <a:t>: </a:t>
            </a:r>
            <a:r>
              <a:rPr lang="en"/>
              <a:t>Think about the attributes that would contribute to making good decisions </a:t>
            </a:r>
            <a:br>
              <a:rPr lang="en"/>
            </a:br>
            <a:br>
              <a:rPr lang="en"/>
            </a:br>
            <a:r>
              <a:rPr b="1" i="1" lang="en"/>
              <a:t>Step 3: </a:t>
            </a:r>
            <a:r>
              <a:rPr lang="en"/>
              <a:t>Reflection: Think about how your life is being affected by classifier systems (automated decision making). </a:t>
            </a:r>
            <a:endParaRPr/>
          </a:p>
        </p:txBody>
      </p:sp>
      <p:sp>
        <p:nvSpPr>
          <p:cNvPr id="333" name="Google Shape;33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19"/>
          <p:cNvSpPr txBox="1"/>
          <p:nvPr>
            <p:ph idx="2" type="body"/>
          </p:nvPr>
        </p:nvSpPr>
        <p:spPr>
          <a:xfrm>
            <a:off x="4832400" y="1152475"/>
            <a:ext cx="4188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Examples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Classifying toys based on age. </a:t>
            </a:r>
            <a:br>
              <a:rPr lang="en"/>
            </a:br>
            <a:r>
              <a:rPr lang="en"/>
              <a:t>What kinds of features make a toy suitable?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 games, movies, and music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Reviewing loan applications. </a:t>
            </a:r>
            <a:br>
              <a:rPr lang="en"/>
            </a:br>
            <a:r>
              <a:rPr lang="en"/>
              <a:t>What kinds of things help us determine the strength of a loan application?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College applications.</a:t>
            </a:r>
            <a:br>
              <a:rPr lang="en"/>
            </a:br>
            <a:r>
              <a:rPr lang="en"/>
              <a:t>What kinds of things make for a strong college application?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Computers don’t learn the way people do. </a:t>
            </a:r>
            <a:endParaRPr/>
          </a:p>
        </p:txBody>
      </p:sp>
      <p:sp>
        <p:nvSpPr>
          <p:cNvPr id="340" name="Google Shape;3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>
            <p:ph type="title"/>
          </p:nvPr>
        </p:nvSpPr>
        <p:spPr>
          <a:xfrm>
            <a:off x="311700" y="2150850"/>
            <a:ext cx="8744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How do people learn?</a:t>
            </a:r>
            <a:endParaRPr/>
          </a:p>
        </p:txBody>
      </p:sp>
      <p:sp>
        <p:nvSpPr>
          <p:cNvPr id="346" name="Google Shape;34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678950" y="2866500"/>
            <a:ext cx="8376900" cy="2883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/>
              <a:t>Ways people learn:</a:t>
            </a:r>
            <a:endParaRPr b="1"/>
          </a:p>
        </p:txBody>
      </p:sp>
      <p:sp>
        <p:nvSpPr>
          <p:cNvPr id="353" name="Google Shape;35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Being taught by someone (e.g., parent, teacher, sibling, friend)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Asking questions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Observing others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Trial and error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Systematic experimentation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Everyday life experiences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311700" y="4421250"/>
            <a:ext cx="718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Note: None of these are things that computers currently do well.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Ways Computers Learn</a:t>
            </a:r>
            <a:endParaRPr/>
          </a:p>
        </p:txBody>
      </p:sp>
      <p:sp>
        <p:nvSpPr>
          <p:cNvPr id="361" name="Google Shape;361;p23"/>
          <p:cNvSpPr txBox="1"/>
          <p:nvPr>
            <p:ph idx="1" type="body"/>
          </p:nvPr>
        </p:nvSpPr>
        <p:spPr>
          <a:xfrm>
            <a:off x="311700" y="923875"/>
            <a:ext cx="85206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labeled examples (like Pasta Land and Teachable Machine)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supervised learning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will only explore supervised learning in this unit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 clusters in 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unsupervised learning</a:t>
            </a:r>
            <a:r>
              <a:rPr lang="en"/>
              <a:t> because the data does not come pre-labeled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Example: examining data on plants collected from a forest and decided how many different species of plants there are in the forest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from experience via trial and error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reinforcement learning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how computers learn good strategies for playing games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by being told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zero shot learning.</a:t>
            </a:r>
            <a:endParaRPr b="1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 language models like ChatGPT can learn a new task by being told what to do and they will follow those instructions.</a:t>
            </a:r>
            <a:endParaRPr/>
          </a:p>
        </p:txBody>
      </p:sp>
      <p:sp>
        <p:nvSpPr>
          <p:cNvPr id="362" name="Google Shape;36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