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Permanent Marker"/>
      <p:regular r:id="rId46"/>
    </p:embeddedFont>
    <p:embeddedFont>
      <p:font typeface="Alfa Slab One"/>
      <p:regular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BA5305-38E3-4DBB-8C32-9BC6BFC2FCE0}">
  <a:tblStyle styleId="{83BA5305-38E3-4DBB-8C32-9BC6BFC2FC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font" Target="fonts/Roboto-regular.fntdata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font" Target="fonts/Roboto-italic.fntdata"/><Relationship Id="rId21" Type="http://schemas.openxmlformats.org/officeDocument/2006/relationships/slide" Target="slides/slide14.xml"/><Relationship Id="rId43" Type="http://schemas.openxmlformats.org/officeDocument/2006/relationships/font" Target="fonts/Roboto-bold.fntdata"/><Relationship Id="rId24" Type="http://schemas.openxmlformats.org/officeDocument/2006/relationships/slide" Target="slides/slide17.xml"/><Relationship Id="rId46" Type="http://schemas.openxmlformats.org/officeDocument/2006/relationships/font" Target="fonts/PermanentMarker-regular.fntdata"/><Relationship Id="rId23" Type="http://schemas.openxmlformats.org/officeDocument/2006/relationships/slide" Target="slides/slide16.xml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AlfaSlabOne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describe objects to a decision making system?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Feature representation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These features come from the questions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fill in the gap from Module 3.2 and 3.4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Pastaland is a </a:t>
            </a:r>
            <a:r>
              <a:rPr lang="en"/>
              <a:t>simulation</a:t>
            </a:r>
            <a:r>
              <a:rPr lang="en"/>
              <a:t> of a machine learning algorithm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know all the classes and features in advance  -. Constructing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between Akinator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Akinator</a:t>
            </a:r>
            <a:r>
              <a:rPr lang="en"/>
              <a:t> - expand tree incrementally - grow step by step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couldn’t predict what to ask until we had another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data is a </a:t>
            </a:r>
            <a:r>
              <a:rPr lang="en"/>
              <a:t>feature</a:t>
            </a:r>
            <a:r>
              <a:rPr lang="en"/>
              <a:t> vector - it isn’t a picture of pasta.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Lives are affected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module 3.4 we will create classifiers and predictors with AI lab.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</a:t>
            </a:r>
            <a:r>
              <a:rPr lang="en"/>
              <a:t>learning</a:t>
            </a:r>
            <a:r>
              <a:rPr lang="en"/>
              <a:t> for kids does use </a:t>
            </a:r>
            <a:r>
              <a:rPr lang="en"/>
              <a:t>decision</a:t>
            </a:r>
            <a:r>
              <a:rPr lang="en"/>
              <a:t> trees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</a:t>
            </a:r>
            <a:r>
              <a:rPr lang="en"/>
              <a:t> do AI machines need - they need labe examples.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</a:t>
            </a:r>
            <a:r>
              <a:rPr lang="en"/>
              <a:t> vectors are labeled examples.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can’t dump the rigatoni into an AI machine.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have pixels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objects need feature </a:t>
            </a:r>
            <a:r>
              <a:rPr lang="en"/>
              <a:t>vectors</a:t>
            </a:r>
            <a:r>
              <a:rPr lang="en"/>
              <a:t> to describe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Compuers only know the feature values. They don’t know the questions.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learning</a:t>
            </a:r>
            <a:r>
              <a:rPr lang="en"/>
              <a:t>  algorithms just look at the </a:t>
            </a:r>
            <a:r>
              <a:rPr lang="en"/>
              <a:t>feature</a:t>
            </a:r>
            <a:r>
              <a:rPr lang="en"/>
              <a:t> vectors.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connection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I3, Cart,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THey calculate </a:t>
            </a:r>
            <a:r>
              <a:rPr lang="en"/>
              <a:t>statistics</a:t>
            </a:r>
            <a:r>
              <a:rPr lang="en"/>
              <a:t> that will give </a:t>
            </a:r>
            <a:r>
              <a:rPr lang="en"/>
              <a:t>you</a:t>
            </a:r>
            <a:r>
              <a:rPr lang="en"/>
              <a:t> a good split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2ae8837d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12ae8837d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e5005678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e5005678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e50056785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e5005678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35af76a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35af76a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aa1c47b7a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5aa1c47b7a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notes - don’t revise the tree when using the decision tree - e.g., classify penne as rigatoni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distinction between learning and using the reasoner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3813b596bb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3813b596bb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notes - don’t revise the tree when using the decision tree - e.g., classify penne as rigatoni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distinction between learning and using the reasoner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3813b596bb_2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3813b596bb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notes - don’t revise the tree when using the decision tree - e.g., classify penne as rigatoni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distinction between learning and using the reasoner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3813b596bb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3813b596bb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notes - don’t revise the tree when using the decision tree - e.g., classify penne as rigatoni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distinction between learning and using the reasoner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5aa1c47b7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5aa1c47b7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this is not a great test set </a:t>
            </a:r>
            <a:r>
              <a:rPr lang="en"/>
              <a:t>because</a:t>
            </a:r>
            <a:r>
              <a:rPr lang="en"/>
              <a:t> there is no overlap in the test set and training set so this </a:t>
            </a:r>
            <a:r>
              <a:rPr lang="en"/>
              <a:t>classifier</a:t>
            </a:r>
            <a:r>
              <a:rPr lang="en"/>
              <a:t> does very poorly.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chose this set to show that when we are learning from examples and we don’t have enough examples then we won’t create great classifiers. It is very important to have a variety of data and to use your classifier in situations where the test data bears similarities to the training data.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13b13fef07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13b13fef07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3813b596b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3813b596b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notes - don’t revise the tree when using the decision tree - e.g., classify penne as rigatoni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distinction between learning and using the reasoner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5aa1c47b7a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5aa1c47b7a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notes - don’t revise the tree when using the decision tree - e.g., classify penne as rigatoni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distinction between learning and using the reasoner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5aa1c47b7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5aa1c47b7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notes - don’t revise the tree when using the decision tree - e.g., classify penne as rigatoni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distinction between learning and using the reasoner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5aa1c47b7a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5aa1c47b7a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notes - don’t revise the tree when using the decision tree - e.g., classify penne as rigatoni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distinction between learning and using the reasoner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3813b596bb_2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3813b596bb_2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notes - don’t revise the tree when using the decision tree - e.g., classify penne as rigatoni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distinction between learning and using the reasoner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3813b596bb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3813b596bb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3813b596bb_3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3813b596bb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3813b596bb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23813b596bb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13b13fef07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13b13fef07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3813b596bb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3813b596bb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3813b596b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3813b596b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3813b596bb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3813b596bb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3813b596bb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3813b596bb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5aa1c47b7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5aa1c47b7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13b13fef07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13b13fef07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12d5c227a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12d5c227a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12ae8837da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112ae8837da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12d5c227a7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12d5c227a7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12ae8837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12ae8837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12d5c227a7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12d5c227a7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12d5c227a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12d5c227a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- </a:t>
            </a:r>
            <a:r>
              <a:rPr lang="en">
                <a:solidFill>
                  <a:schemeClr val="dk1"/>
                </a:solidFill>
              </a:rPr>
              <a:t>It solves a problem by asking a series of questions.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12d5c227a7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12d5c227a7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112d5c227a7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112d5c227a7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1049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66"/>
              <a:t>How can a computer learn to classify objects from examples?</a:t>
            </a:r>
            <a:endParaRPr sz="4866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138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3, Module 3.2</a:t>
            </a:r>
            <a:endParaRPr/>
          </a:p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5"/>
          <p:cNvSpPr txBox="1"/>
          <p:nvPr/>
        </p:nvSpPr>
        <p:spPr>
          <a:xfrm>
            <a:off x="2720950" y="283225"/>
            <a:ext cx="4202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FF"/>
                </a:solidFill>
              </a:rPr>
              <a:t>Worked Example</a:t>
            </a:r>
            <a:endParaRPr sz="30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311700" y="144675"/>
            <a:ext cx="8520600" cy="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Unplugged Activity</a:t>
            </a:r>
            <a:endParaRPr>
              <a:solidFill>
                <a:srgbClr val="0000FF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fa Slab One"/>
                <a:ea typeface="Alfa Slab One"/>
                <a:cs typeface="Alfa Slab One"/>
                <a:sym typeface="Alfa Slab One"/>
              </a:rPr>
              <a:t>Pasta Land - Creating a Pasta Classifier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349500" y="101772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</a:rPr>
              <a:t>Setup: </a:t>
            </a:r>
            <a:r>
              <a:rPr lang="en" sz="1200">
                <a:solidFill>
                  <a:schemeClr val="dk1"/>
                </a:solidFill>
              </a:rPr>
              <a:t>(a) Get a big sheet of poster paper for drawing your tree; (b) cut out pictures of pastas (or use real pastas provided by your teacher)  that you can move around the nodes of your tree.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1"/>
                </a:solidFill>
              </a:rPr>
              <a:t>Step 1: </a:t>
            </a:r>
            <a:r>
              <a:rPr lang="en" sz="1200">
                <a:solidFill>
                  <a:schemeClr val="dk1"/>
                </a:solidFill>
              </a:rPr>
              <a:t>List all the features you think may be useful to distinguish the pastas.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</a:rPr>
              <a:t>Step 2: </a:t>
            </a:r>
            <a:r>
              <a:rPr lang="en" sz="1200"/>
              <a:t>Pick a feature that will split the pastas into two roughly equal groups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Doing this every time will give you the smallest number of questions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This is similar to how real machine learning algorithms decide which feature to use for the next node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/>
              <a:t>Step 3:</a:t>
            </a:r>
            <a:r>
              <a:rPr lang="en" sz="1200"/>
              <a:t> Take the features, build the decision tree.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Make sure every one of your pasta’s is a leaf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You may not have enough features - if you end up with two types of pasta at the same leaf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/>
              <a:t>Step 4:</a:t>
            </a:r>
            <a:r>
              <a:rPr lang="en" sz="1200"/>
              <a:t> Test this out and update the features and the tree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200"/>
              <a:t>Step 5:</a:t>
            </a:r>
            <a:r>
              <a:rPr lang="en" sz="1200"/>
              <a:t> Convert the tree into a table.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columns are the </a:t>
            </a:r>
            <a:r>
              <a:rPr lang="en" sz="1200"/>
              <a:t>features (red - replace question)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rows are the leaves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If the feature doesn’t apply, put N/A</a:t>
            </a:r>
            <a:endParaRPr sz="1200"/>
          </a:p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an example as a group</a:t>
            </a:r>
            <a:endParaRPr/>
          </a:p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725" y="1681675"/>
            <a:ext cx="14954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7"/>
          <p:cNvPicPr preferRelativeResize="0"/>
          <p:nvPr/>
        </p:nvPicPr>
        <p:blipFill rotWithShape="1">
          <a:blip r:embed="rId4">
            <a:alphaModFix/>
          </a:blip>
          <a:srcRect b="43259" l="49088" r="0" t="0"/>
          <a:stretch/>
        </p:blipFill>
        <p:spPr>
          <a:xfrm>
            <a:off x="2184725" y="2940450"/>
            <a:ext cx="1591525" cy="132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350" y="2079538"/>
            <a:ext cx="2063375" cy="26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1125" y="2048850"/>
            <a:ext cx="2397024" cy="221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8325" y="1681675"/>
            <a:ext cx="149542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311700" y="1012650"/>
            <a:ext cx="88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" sz="2000">
                <a:solidFill>
                  <a:schemeClr val="dk1"/>
                </a:solidFill>
              </a:rPr>
              <a:t>Step 1: </a:t>
            </a:r>
            <a:r>
              <a:rPr lang="en" sz="2000">
                <a:solidFill>
                  <a:schemeClr val="dk1"/>
                </a:solidFill>
              </a:rPr>
              <a:t>Propose a bunch of features to distinguish between the pasta types</a:t>
            </a:r>
            <a:endParaRPr sz="2200"/>
          </a:p>
        </p:txBody>
      </p:sp>
      <p:sp>
        <p:nvSpPr>
          <p:cNvPr id="122" name="Google Shape;122;p27"/>
          <p:cNvSpPr txBox="1"/>
          <p:nvPr/>
        </p:nvSpPr>
        <p:spPr>
          <a:xfrm>
            <a:off x="5440100" y="76200"/>
            <a:ext cx="3645900" cy="1017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r>
              <a:rPr lang="en" sz="1800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feature </a:t>
            </a:r>
            <a:r>
              <a:rPr lang="en" sz="1800">
                <a:solidFill>
                  <a:schemeClr val="dk1"/>
                </a:solidFill>
              </a:rPr>
              <a:t>is a property or characteristic of a thing we are trying to describe.</a:t>
            </a:r>
            <a:endParaRPr sz="1800">
              <a:solidFill>
                <a:srgbClr val="FF0000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123" name="Google Shape;123;p27"/>
          <p:cNvSpPr/>
          <p:nvPr/>
        </p:nvSpPr>
        <p:spPr>
          <a:xfrm>
            <a:off x="6498300" y="1505250"/>
            <a:ext cx="2143200" cy="347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1: </a:t>
            </a:r>
            <a:br>
              <a:rPr b="1" i="1" lang="en"/>
            </a:br>
            <a:r>
              <a:rPr lang="en"/>
              <a:t>List all the features you think may be useful to distinguish the pastas.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Filler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Breakable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Hollow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tubular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Ridges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Pinched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Sea shell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Hard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soft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an example as a group</a:t>
            </a:r>
            <a:endParaRPr/>
          </a:p>
        </p:txBody>
      </p:sp>
      <p:sp>
        <p:nvSpPr>
          <p:cNvPr id="129" name="Google Shape;12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275" y="1836100"/>
            <a:ext cx="14954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8"/>
          <p:cNvPicPr preferRelativeResize="0"/>
          <p:nvPr/>
        </p:nvPicPr>
        <p:blipFill rotWithShape="1">
          <a:blip r:embed="rId4">
            <a:alphaModFix/>
          </a:blip>
          <a:srcRect b="43259" l="49088" r="0" t="0"/>
          <a:stretch/>
        </p:blipFill>
        <p:spPr>
          <a:xfrm>
            <a:off x="5300275" y="3094875"/>
            <a:ext cx="1591525" cy="132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6900" y="2233963"/>
            <a:ext cx="2063375" cy="26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525" y="2924188"/>
            <a:ext cx="2397024" cy="221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8325" y="1681675"/>
            <a:ext cx="149542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8"/>
          <p:cNvSpPr txBox="1"/>
          <p:nvPr/>
        </p:nvSpPr>
        <p:spPr>
          <a:xfrm>
            <a:off x="390650" y="1003250"/>
            <a:ext cx="8753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>
                <a:solidFill>
                  <a:schemeClr val="dk1"/>
                </a:solidFill>
              </a:rPr>
              <a:t>Step 2: </a:t>
            </a:r>
            <a:r>
              <a:rPr lang="en" sz="1700">
                <a:solidFill>
                  <a:schemeClr val="dk1"/>
                </a:solidFill>
              </a:rPr>
              <a:t>Pick a feature that will split the pastas into two roughly equal groups</a:t>
            </a:r>
            <a:endParaRPr sz="1900"/>
          </a:p>
        </p:txBody>
      </p:sp>
      <p:sp>
        <p:nvSpPr>
          <p:cNvPr id="136" name="Google Shape;136;p28"/>
          <p:cNvSpPr/>
          <p:nvPr/>
        </p:nvSpPr>
        <p:spPr>
          <a:xfrm>
            <a:off x="6891800" y="1449650"/>
            <a:ext cx="2143200" cy="347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1: </a:t>
            </a:r>
            <a:br>
              <a:rPr b="1" i="1" lang="en"/>
            </a:br>
            <a:r>
              <a:rPr lang="en"/>
              <a:t>List all the features you think may be useful to distinguish the pastas.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Filler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stuffed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Breakable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Hollow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tubular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Ridges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Pinched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Sea shell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Hard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soft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137" name="Google Shape;137;p28"/>
          <p:cNvSpPr txBox="1"/>
          <p:nvPr/>
        </p:nvSpPr>
        <p:spPr>
          <a:xfrm>
            <a:off x="2717875" y="1402650"/>
            <a:ext cx="1673100" cy="446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5"/>
                </a:solidFill>
              </a:rPr>
              <a:t>S</a:t>
            </a:r>
            <a:r>
              <a:rPr b="1" lang="en">
                <a:solidFill>
                  <a:schemeClr val="accent5"/>
                </a:solidFill>
              </a:rPr>
              <a:t>tuffed</a:t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9"/>
          <p:cNvSpPr txBox="1"/>
          <p:nvPr/>
        </p:nvSpPr>
        <p:spPr>
          <a:xfrm>
            <a:off x="3690975" y="1153200"/>
            <a:ext cx="12978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stuffed?</a:t>
            </a:r>
            <a:endParaRPr/>
          </a:p>
        </p:txBody>
      </p:sp>
      <p:sp>
        <p:nvSpPr>
          <p:cNvPr id="144" name="Google Shape;144;p29"/>
          <p:cNvSpPr/>
          <p:nvPr/>
        </p:nvSpPr>
        <p:spPr>
          <a:xfrm>
            <a:off x="247950" y="83500"/>
            <a:ext cx="2143200" cy="457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1: </a:t>
            </a:r>
            <a:br>
              <a:rPr b="1" i="1" lang="en"/>
            </a:br>
            <a:r>
              <a:rPr lang="en"/>
              <a:t>List all the features you think may be useful to distinguish the pastas.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>
                <a:solidFill>
                  <a:schemeClr val="accent5"/>
                </a:solidFill>
              </a:rPr>
              <a:t>Filler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stuffed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Breakable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Hollow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tubular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Ridges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Pinched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Sea shell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Hard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soft</a:t>
            </a:r>
            <a:br>
              <a:rPr lang="en"/>
            </a:br>
            <a:endParaRPr/>
          </a:p>
        </p:txBody>
      </p:sp>
      <p:sp>
        <p:nvSpPr>
          <p:cNvPr id="145" name="Google Shape;145;p29"/>
          <p:cNvSpPr/>
          <p:nvPr/>
        </p:nvSpPr>
        <p:spPr>
          <a:xfrm>
            <a:off x="2559500" y="83500"/>
            <a:ext cx="1794000" cy="801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Step 2: </a:t>
            </a:r>
            <a:r>
              <a:rPr lang="en">
                <a:solidFill>
                  <a:schemeClr val="dk1"/>
                </a:solidFill>
              </a:rPr>
              <a:t>Create a root node and place all the pastas there.</a:t>
            </a: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146" name="Google Shape;146;p29"/>
          <p:cNvSpPr txBox="1"/>
          <p:nvPr/>
        </p:nvSpPr>
        <p:spPr>
          <a:xfrm>
            <a:off x="247950" y="4629175"/>
            <a:ext cx="621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r>
              <a:rPr lang="en" sz="1800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feature </a:t>
            </a:r>
            <a:r>
              <a:rPr lang="en" sz="1800">
                <a:solidFill>
                  <a:schemeClr val="dk1"/>
                </a:solidFill>
              </a:rPr>
              <a:t>is a property of a thing we are trying to describe.</a:t>
            </a:r>
            <a:endParaRPr/>
          </a:p>
        </p:txBody>
      </p:sp>
      <p:sp>
        <p:nvSpPr>
          <p:cNvPr id="147" name="Google Shape;147;p29"/>
          <p:cNvSpPr/>
          <p:nvPr/>
        </p:nvSpPr>
        <p:spPr>
          <a:xfrm>
            <a:off x="4464650" y="83500"/>
            <a:ext cx="3155400" cy="80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Step 3: </a:t>
            </a:r>
            <a:r>
              <a:rPr lang="en">
                <a:solidFill>
                  <a:schemeClr val="dk1"/>
                </a:solidFill>
              </a:rPr>
              <a:t>Pick a feature from the list that splits the pasta examples in the current node roughly in half.</a:t>
            </a:r>
            <a:br>
              <a:rPr lang="en"/>
            </a:br>
            <a:br>
              <a:rPr lang="en"/>
            </a:br>
            <a:endParaRPr/>
          </a:p>
        </p:txBody>
      </p:sp>
      <p:pic>
        <p:nvPicPr>
          <p:cNvPr id="148" name="Google Shape;14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497" y="1408931"/>
            <a:ext cx="798796" cy="574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9"/>
          <p:cNvPicPr preferRelativeResize="0"/>
          <p:nvPr/>
        </p:nvPicPr>
        <p:blipFill rotWithShape="1">
          <a:blip r:embed="rId4">
            <a:alphaModFix/>
          </a:blip>
          <a:srcRect b="43259" l="49088" r="0" t="0"/>
          <a:stretch/>
        </p:blipFill>
        <p:spPr>
          <a:xfrm>
            <a:off x="6357647" y="2177685"/>
            <a:ext cx="850129" cy="656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9"/>
          <p:cNvPicPr preferRelativeResize="0"/>
          <p:nvPr/>
        </p:nvPicPr>
        <p:blipFill rotWithShape="1">
          <a:blip r:embed="rId5">
            <a:alphaModFix/>
          </a:blip>
          <a:srcRect b="0" l="0" r="0" t="30299"/>
          <a:stretch/>
        </p:blipFill>
        <p:spPr>
          <a:xfrm>
            <a:off x="5182400" y="2111473"/>
            <a:ext cx="1102175" cy="9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1268" y="2239454"/>
            <a:ext cx="1280395" cy="1097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92064" y="1664631"/>
            <a:ext cx="798796" cy="574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idx="12" type="sldNum"/>
          </p:nvPr>
        </p:nvSpPr>
        <p:spPr>
          <a:xfrm>
            <a:off x="8420174" y="4685588"/>
            <a:ext cx="5004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30"/>
          <p:cNvSpPr txBox="1"/>
          <p:nvPr/>
        </p:nvSpPr>
        <p:spPr>
          <a:xfrm>
            <a:off x="4159908" y="442175"/>
            <a:ext cx="11835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stuffed?</a:t>
            </a:r>
            <a:endParaRPr/>
          </a:p>
        </p:txBody>
      </p:sp>
      <p:sp>
        <p:nvSpPr>
          <p:cNvPr id="159" name="Google Shape;159;p30"/>
          <p:cNvSpPr txBox="1"/>
          <p:nvPr/>
        </p:nvSpPr>
        <p:spPr>
          <a:xfrm>
            <a:off x="2283515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round?</a:t>
            </a:r>
            <a:endParaRPr/>
          </a:p>
        </p:txBody>
      </p:sp>
      <p:sp>
        <p:nvSpPr>
          <p:cNvPr id="160" name="Google Shape;160;p30"/>
          <p:cNvSpPr txBox="1"/>
          <p:nvPr/>
        </p:nvSpPr>
        <p:spPr>
          <a:xfrm>
            <a:off x="6314286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" name="Google Shape;161;p30"/>
          <p:cNvCxnSpPr>
            <a:stCxn id="158" idx="2"/>
            <a:endCxn id="159" idx="0"/>
          </p:cNvCxnSpPr>
          <p:nvPr/>
        </p:nvCxnSpPr>
        <p:spPr>
          <a:xfrm flipH="1">
            <a:off x="2875158" y="842375"/>
            <a:ext cx="18765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30"/>
          <p:cNvCxnSpPr>
            <a:stCxn id="158" idx="2"/>
            <a:endCxn id="160" idx="0"/>
          </p:cNvCxnSpPr>
          <p:nvPr/>
        </p:nvCxnSpPr>
        <p:spPr>
          <a:xfrm>
            <a:off x="4751658" y="842375"/>
            <a:ext cx="21543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30"/>
          <p:cNvSpPr txBox="1"/>
          <p:nvPr/>
        </p:nvSpPr>
        <p:spPr>
          <a:xfrm>
            <a:off x="330858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164" name="Google Shape;164;p30"/>
          <p:cNvSpPr txBox="1"/>
          <p:nvPr/>
        </p:nvSpPr>
        <p:spPr>
          <a:xfrm>
            <a:off x="594943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120075" y="50525"/>
            <a:ext cx="2811300" cy="11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4: </a:t>
            </a:r>
            <a:r>
              <a:rPr lang="en"/>
              <a:t>Create two children of the current node and split its pastas between them based on the feature.</a:t>
            </a:r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9109" y="576054"/>
            <a:ext cx="1005207" cy="60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 rotWithShape="1">
          <a:blip r:embed="rId4">
            <a:alphaModFix/>
          </a:blip>
          <a:srcRect b="43259" l="49088" r="0" t="0"/>
          <a:stretch/>
        </p:blipFill>
        <p:spPr>
          <a:xfrm>
            <a:off x="7848619" y="1207635"/>
            <a:ext cx="955069" cy="62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0"/>
          <p:cNvPicPr preferRelativeResize="0"/>
          <p:nvPr/>
        </p:nvPicPr>
        <p:blipFill rotWithShape="1">
          <a:blip r:embed="rId5">
            <a:alphaModFix/>
          </a:blip>
          <a:srcRect b="0" l="0" r="0" t="32664"/>
          <a:stretch/>
        </p:blipFill>
        <p:spPr>
          <a:xfrm>
            <a:off x="6905948" y="554010"/>
            <a:ext cx="955066" cy="65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8587" y="2872348"/>
            <a:ext cx="1167747" cy="84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3889" y="3023893"/>
            <a:ext cx="728519" cy="44171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/>
          <p:nvPr/>
        </p:nvSpPr>
        <p:spPr>
          <a:xfrm>
            <a:off x="826401" y="24494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Tortellini</a:t>
            </a:r>
            <a:endParaRPr/>
          </a:p>
        </p:txBody>
      </p:sp>
      <p:sp>
        <p:nvSpPr>
          <p:cNvPr id="172" name="Google Shape;172;p30"/>
          <p:cNvSpPr txBox="1"/>
          <p:nvPr/>
        </p:nvSpPr>
        <p:spPr>
          <a:xfrm>
            <a:off x="3138034" y="2359620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cxnSp>
        <p:nvCxnSpPr>
          <p:cNvPr id="173" name="Google Shape;173;p30"/>
          <p:cNvCxnSpPr>
            <a:stCxn id="159" idx="2"/>
            <a:endCxn id="171" idx="0"/>
          </p:cNvCxnSpPr>
          <p:nvPr/>
        </p:nvCxnSpPr>
        <p:spPr>
          <a:xfrm flipH="1">
            <a:off x="1418165" y="1837839"/>
            <a:ext cx="1457100" cy="6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30"/>
          <p:cNvCxnSpPr>
            <a:stCxn id="159" idx="2"/>
            <a:endCxn id="172" idx="0"/>
          </p:cNvCxnSpPr>
          <p:nvPr/>
        </p:nvCxnSpPr>
        <p:spPr>
          <a:xfrm>
            <a:off x="2875265" y="1837839"/>
            <a:ext cx="8544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30"/>
          <p:cNvSpPr txBox="1"/>
          <p:nvPr/>
        </p:nvSpPr>
        <p:spPr>
          <a:xfrm>
            <a:off x="1432188" y="1874990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176" name="Google Shape;176;p30"/>
          <p:cNvSpPr txBox="1"/>
          <p:nvPr/>
        </p:nvSpPr>
        <p:spPr>
          <a:xfrm>
            <a:off x="3393377" y="184690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8420174" y="4685588"/>
            <a:ext cx="5004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1"/>
          <p:cNvSpPr txBox="1"/>
          <p:nvPr/>
        </p:nvSpPr>
        <p:spPr>
          <a:xfrm>
            <a:off x="4159908" y="442175"/>
            <a:ext cx="11835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stuffed?</a:t>
            </a:r>
            <a:endParaRPr/>
          </a:p>
        </p:txBody>
      </p:sp>
      <p:sp>
        <p:nvSpPr>
          <p:cNvPr id="183" name="Google Shape;183;p31"/>
          <p:cNvSpPr txBox="1"/>
          <p:nvPr/>
        </p:nvSpPr>
        <p:spPr>
          <a:xfrm>
            <a:off x="2283515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round?</a:t>
            </a:r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6314286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hollow?</a:t>
            </a:r>
            <a:endParaRPr/>
          </a:p>
        </p:txBody>
      </p:sp>
      <p:cxnSp>
        <p:nvCxnSpPr>
          <p:cNvPr id="185" name="Google Shape;185;p31"/>
          <p:cNvCxnSpPr>
            <a:stCxn id="182" idx="2"/>
            <a:endCxn id="183" idx="0"/>
          </p:cNvCxnSpPr>
          <p:nvPr/>
        </p:nvCxnSpPr>
        <p:spPr>
          <a:xfrm flipH="1">
            <a:off x="2875158" y="842375"/>
            <a:ext cx="18765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31"/>
          <p:cNvCxnSpPr>
            <a:stCxn id="182" idx="2"/>
            <a:endCxn id="184" idx="0"/>
          </p:cNvCxnSpPr>
          <p:nvPr/>
        </p:nvCxnSpPr>
        <p:spPr>
          <a:xfrm>
            <a:off x="4751658" y="842375"/>
            <a:ext cx="21543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31"/>
          <p:cNvSpPr txBox="1"/>
          <p:nvPr/>
        </p:nvSpPr>
        <p:spPr>
          <a:xfrm>
            <a:off x="330858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188" name="Google Shape;188;p31"/>
          <p:cNvSpPr txBox="1"/>
          <p:nvPr/>
        </p:nvSpPr>
        <p:spPr>
          <a:xfrm>
            <a:off x="594943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189" name="Google Shape;189;p31"/>
          <p:cNvSpPr/>
          <p:nvPr/>
        </p:nvSpPr>
        <p:spPr>
          <a:xfrm>
            <a:off x="120075" y="50525"/>
            <a:ext cx="2811300" cy="11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4: </a:t>
            </a:r>
            <a:r>
              <a:rPr lang="en"/>
              <a:t>Create two children of the current node and split its pastas between them based on the feature.</a:t>
            </a:r>
            <a:endParaRPr/>
          </a:p>
        </p:txBody>
      </p:sp>
      <p:pic>
        <p:nvPicPr>
          <p:cNvPr id="190" name="Google Shape;190;p31"/>
          <p:cNvPicPr preferRelativeResize="0"/>
          <p:nvPr/>
        </p:nvPicPr>
        <p:blipFill rotWithShape="1">
          <a:blip r:embed="rId3">
            <a:alphaModFix/>
          </a:blip>
          <a:srcRect b="0" l="0" r="0" t="32664"/>
          <a:stretch/>
        </p:blipFill>
        <p:spPr>
          <a:xfrm>
            <a:off x="4120273" y="1687635"/>
            <a:ext cx="955066" cy="65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9062" y="2683511"/>
            <a:ext cx="1167747" cy="84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7364" y="2800068"/>
            <a:ext cx="728519" cy="44171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 txBox="1"/>
          <p:nvPr/>
        </p:nvSpPr>
        <p:spPr>
          <a:xfrm>
            <a:off x="826401" y="24494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Tortellini</a:t>
            </a:r>
            <a:endParaRPr/>
          </a:p>
        </p:txBody>
      </p:sp>
      <p:sp>
        <p:nvSpPr>
          <p:cNvPr id="194" name="Google Shape;194;p31"/>
          <p:cNvSpPr txBox="1"/>
          <p:nvPr/>
        </p:nvSpPr>
        <p:spPr>
          <a:xfrm>
            <a:off x="3138034" y="2359620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cxnSp>
        <p:nvCxnSpPr>
          <p:cNvPr id="195" name="Google Shape;195;p31"/>
          <p:cNvCxnSpPr>
            <a:stCxn id="183" idx="2"/>
            <a:endCxn id="193" idx="0"/>
          </p:cNvCxnSpPr>
          <p:nvPr/>
        </p:nvCxnSpPr>
        <p:spPr>
          <a:xfrm flipH="1">
            <a:off x="1418165" y="1837839"/>
            <a:ext cx="1457100" cy="6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31"/>
          <p:cNvCxnSpPr>
            <a:stCxn id="183" idx="2"/>
            <a:endCxn id="194" idx="0"/>
          </p:cNvCxnSpPr>
          <p:nvPr/>
        </p:nvCxnSpPr>
        <p:spPr>
          <a:xfrm>
            <a:off x="2875265" y="1837839"/>
            <a:ext cx="8544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31"/>
          <p:cNvSpPr txBox="1"/>
          <p:nvPr/>
        </p:nvSpPr>
        <p:spPr>
          <a:xfrm>
            <a:off x="1432188" y="1874990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198" name="Google Shape;198;p31"/>
          <p:cNvSpPr txBox="1"/>
          <p:nvPr/>
        </p:nvSpPr>
        <p:spPr>
          <a:xfrm>
            <a:off x="3393377" y="184690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5170884" y="2273821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 txBox="1"/>
          <p:nvPr/>
        </p:nvSpPr>
        <p:spPr>
          <a:xfrm>
            <a:off x="7274029" y="2359658"/>
            <a:ext cx="11835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lasagna</a:t>
            </a:r>
            <a:endParaRPr/>
          </a:p>
        </p:txBody>
      </p:sp>
      <p:cxnSp>
        <p:nvCxnSpPr>
          <p:cNvPr id="201" name="Google Shape;201;p31"/>
          <p:cNvCxnSpPr/>
          <p:nvPr/>
        </p:nvCxnSpPr>
        <p:spPr>
          <a:xfrm flipH="1">
            <a:off x="6091035" y="1745197"/>
            <a:ext cx="920400" cy="5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31"/>
          <p:cNvCxnSpPr>
            <a:endCxn id="200" idx="0"/>
          </p:cNvCxnSpPr>
          <p:nvPr/>
        </p:nvCxnSpPr>
        <p:spPr>
          <a:xfrm>
            <a:off x="7011379" y="1745258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31"/>
          <p:cNvSpPr txBox="1"/>
          <p:nvPr/>
        </p:nvSpPr>
        <p:spPr>
          <a:xfrm>
            <a:off x="5923120" y="181887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04" name="Google Shape;204;p31"/>
          <p:cNvSpPr txBox="1"/>
          <p:nvPr/>
        </p:nvSpPr>
        <p:spPr>
          <a:xfrm>
            <a:off x="7529372" y="1846941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4959" y="2756991"/>
            <a:ext cx="1005207" cy="60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 rotWithShape="1">
          <a:blip r:embed="rId7">
            <a:alphaModFix/>
          </a:blip>
          <a:srcRect b="43259" l="49088" r="0" t="0"/>
          <a:stretch/>
        </p:blipFill>
        <p:spPr>
          <a:xfrm>
            <a:off x="4892982" y="1544860"/>
            <a:ext cx="955069" cy="621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420174" y="4685588"/>
            <a:ext cx="5004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/>
        </p:nvSpPr>
        <p:spPr>
          <a:xfrm>
            <a:off x="4159908" y="442175"/>
            <a:ext cx="11835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stuffed?</a:t>
            </a:r>
            <a:endParaRPr/>
          </a:p>
        </p:txBody>
      </p:sp>
      <p:sp>
        <p:nvSpPr>
          <p:cNvPr id="213" name="Google Shape;213;p32"/>
          <p:cNvSpPr txBox="1"/>
          <p:nvPr/>
        </p:nvSpPr>
        <p:spPr>
          <a:xfrm>
            <a:off x="2283515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round?</a:t>
            </a:r>
            <a:endParaRPr/>
          </a:p>
        </p:txBody>
      </p:sp>
      <p:sp>
        <p:nvSpPr>
          <p:cNvPr id="214" name="Google Shape;214;p32"/>
          <p:cNvSpPr txBox="1"/>
          <p:nvPr/>
        </p:nvSpPr>
        <p:spPr>
          <a:xfrm>
            <a:off x="6314286" y="1437639"/>
            <a:ext cx="11835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hollow?</a:t>
            </a:r>
            <a:endParaRPr/>
          </a:p>
        </p:txBody>
      </p:sp>
      <p:cxnSp>
        <p:nvCxnSpPr>
          <p:cNvPr id="215" name="Google Shape;215;p32"/>
          <p:cNvCxnSpPr>
            <a:stCxn id="212" idx="2"/>
            <a:endCxn id="213" idx="0"/>
          </p:cNvCxnSpPr>
          <p:nvPr/>
        </p:nvCxnSpPr>
        <p:spPr>
          <a:xfrm flipH="1">
            <a:off x="2875158" y="842375"/>
            <a:ext cx="18765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32"/>
          <p:cNvCxnSpPr>
            <a:stCxn id="212" idx="2"/>
            <a:endCxn id="214" idx="0"/>
          </p:cNvCxnSpPr>
          <p:nvPr/>
        </p:nvCxnSpPr>
        <p:spPr>
          <a:xfrm>
            <a:off x="4751658" y="842375"/>
            <a:ext cx="21543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32"/>
          <p:cNvSpPr txBox="1"/>
          <p:nvPr/>
        </p:nvSpPr>
        <p:spPr>
          <a:xfrm>
            <a:off x="330858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18" name="Google Shape;218;p32"/>
          <p:cNvSpPr txBox="1"/>
          <p:nvPr/>
        </p:nvSpPr>
        <p:spPr>
          <a:xfrm>
            <a:off x="594943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219" name="Google Shape;219;p32"/>
          <p:cNvSpPr/>
          <p:nvPr/>
        </p:nvSpPr>
        <p:spPr>
          <a:xfrm>
            <a:off x="120075" y="50525"/>
            <a:ext cx="2811300" cy="115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4: </a:t>
            </a:r>
            <a:r>
              <a:rPr lang="en"/>
              <a:t>Create two children of the current node and split its pastas between them based on the feature.</a:t>
            </a:r>
            <a:endParaRPr/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3">
            <a:alphaModFix/>
          </a:blip>
          <a:srcRect b="43259" l="49088" r="0" t="0"/>
          <a:stretch/>
        </p:blipFill>
        <p:spPr>
          <a:xfrm>
            <a:off x="6585819" y="3513385"/>
            <a:ext cx="955069" cy="62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 rotWithShape="1">
          <a:blip r:embed="rId4">
            <a:alphaModFix/>
          </a:blip>
          <a:srcRect b="0" l="0" r="0" t="32664"/>
          <a:stretch/>
        </p:blipFill>
        <p:spPr>
          <a:xfrm>
            <a:off x="4321523" y="3761310"/>
            <a:ext cx="955066" cy="65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9062" y="2683511"/>
            <a:ext cx="1167747" cy="84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7364" y="2800068"/>
            <a:ext cx="728519" cy="44171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2"/>
          <p:cNvSpPr txBox="1"/>
          <p:nvPr/>
        </p:nvSpPr>
        <p:spPr>
          <a:xfrm>
            <a:off x="826401" y="24494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Tortellini</a:t>
            </a:r>
            <a:endParaRPr/>
          </a:p>
        </p:txBody>
      </p:sp>
      <p:sp>
        <p:nvSpPr>
          <p:cNvPr id="225" name="Google Shape;225;p32"/>
          <p:cNvSpPr txBox="1"/>
          <p:nvPr/>
        </p:nvSpPr>
        <p:spPr>
          <a:xfrm>
            <a:off x="3138034" y="2359620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cxnSp>
        <p:nvCxnSpPr>
          <p:cNvPr id="226" name="Google Shape;226;p32"/>
          <p:cNvCxnSpPr>
            <a:stCxn id="213" idx="2"/>
            <a:endCxn id="224" idx="0"/>
          </p:cNvCxnSpPr>
          <p:nvPr/>
        </p:nvCxnSpPr>
        <p:spPr>
          <a:xfrm flipH="1">
            <a:off x="1418165" y="1837839"/>
            <a:ext cx="1457100" cy="6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32"/>
          <p:cNvCxnSpPr>
            <a:stCxn id="213" idx="2"/>
            <a:endCxn id="225" idx="0"/>
          </p:cNvCxnSpPr>
          <p:nvPr/>
        </p:nvCxnSpPr>
        <p:spPr>
          <a:xfrm>
            <a:off x="2875265" y="1837839"/>
            <a:ext cx="8544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32"/>
          <p:cNvSpPr txBox="1"/>
          <p:nvPr/>
        </p:nvSpPr>
        <p:spPr>
          <a:xfrm>
            <a:off x="1432188" y="1874990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29" name="Google Shape;229;p32"/>
          <p:cNvSpPr txBox="1"/>
          <p:nvPr/>
        </p:nvSpPr>
        <p:spPr>
          <a:xfrm>
            <a:off x="3393377" y="184690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230" name="Google Shape;230;p32"/>
          <p:cNvSpPr txBox="1"/>
          <p:nvPr/>
        </p:nvSpPr>
        <p:spPr>
          <a:xfrm>
            <a:off x="5170884" y="2273821"/>
            <a:ext cx="11835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ribbed?</a:t>
            </a:r>
            <a:endParaRPr/>
          </a:p>
        </p:txBody>
      </p:sp>
      <p:sp>
        <p:nvSpPr>
          <p:cNvPr id="231" name="Google Shape;231;p32"/>
          <p:cNvSpPr txBox="1"/>
          <p:nvPr/>
        </p:nvSpPr>
        <p:spPr>
          <a:xfrm>
            <a:off x="7274029" y="2359658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lasagna</a:t>
            </a:r>
            <a:endParaRPr/>
          </a:p>
        </p:txBody>
      </p:sp>
      <p:cxnSp>
        <p:nvCxnSpPr>
          <p:cNvPr id="232" name="Google Shape;232;p32"/>
          <p:cNvCxnSpPr/>
          <p:nvPr/>
        </p:nvCxnSpPr>
        <p:spPr>
          <a:xfrm flipH="1">
            <a:off x="6091035" y="1745197"/>
            <a:ext cx="920400" cy="5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32"/>
          <p:cNvCxnSpPr>
            <a:endCxn id="231" idx="0"/>
          </p:cNvCxnSpPr>
          <p:nvPr/>
        </p:nvCxnSpPr>
        <p:spPr>
          <a:xfrm>
            <a:off x="7011379" y="1745258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32"/>
          <p:cNvSpPr txBox="1"/>
          <p:nvPr/>
        </p:nvSpPr>
        <p:spPr>
          <a:xfrm>
            <a:off x="5923120" y="181887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35" name="Google Shape;235;p32"/>
          <p:cNvSpPr txBox="1"/>
          <p:nvPr/>
        </p:nvSpPr>
        <p:spPr>
          <a:xfrm>
            <a:off x="7529372" y="1846941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236" name="Google Shape;236;p32"/>
          <p:cNvSpPr txBox="1"/>
          <p:nvPr/>
        </p:nvSpPr>
        <p:spPr>
          <a:xfrm>
            <a:off x="4159908" y="3295587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Rigatoni</a:t>
            </a:r>
            <a:endParaRPr/>
          </a:p>
        </p:txBody>
      </p:sp>
      <p:sp>
        <p:nvSpPr>
          <p:cNvPr id="237" name="Google Shape;237;p32"/>
          <p:cNvSpPr txBox="1"/>
          <p:nvPr/>
        </p:nvSpPr>
        <p:spPr>
          <a:xfrm>
            <a:off x="6471541" y="32057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ziti</a:t>
            </a:r>
            <a:endParaRPr/>
          </a:p>
        </p:txBody>
      </p:sp>
      <p:cxnSp>
        <p:nvCxnSpPr>
          <p:cNvPr id="238" name="Google Shape;238;p32"/>
          <p:cNvCxnSpPr>
            <a:endCxn id="236" idx="0"/>
          </p:cNvCxnSpPr>
          <p:nvPr/>
        </p:nvCxnSpPr>
        <p:spPr>
          <a:xfrm flipH="1">
            <a:off x="4751658" y="2591187"/>
            <a:ext cx="1457100" cy="7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32"/>
          <p:cNvCxnSpPr>
            <a:endCxn id="237" idx="0"/>
          </p:cNvCxnSpPr>
          <p:nvPr/>
        </p:nvCxnSpPr>
        <p:spPr>
          <a:xfrm>
            <a:off x="6208891" y="2591353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p32"/>
          <p:cNvSpPr txBox="1"/>
          <p:nvPr/>
        </p:nvSpPr>
        <p:spPr>
          <a:xfrm>
            <a:off x="4765696" y="272112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41" name="Google Shape;241;p32"/>
          <p:cNvSpPr txBox="1"/>
          <p:nvPr/>
        </p:nvSpPr>
        <p:spPr>
          <a:xfrm>
            <a:off x="6726885" y="2693036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242" name="Google Shape;242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14959" y="2756991"/>
            <a:ext cx="1005207" cy="609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idx="12" type="sldNum"/>
          </p:nvPr>
        </p:nvSpPr>
        <p:spPr>
          <a:xfrm>
            <a:off x="8420174" y="4685588"/>
            <a:ext cx="5004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33"/>
          <p:cNvSpPr txBox="1"/>
          <p:nvPr/>
        </p:nvSpPr>
        <p:spPr>
          <a:xfrm>
            <a:off x="4159908" y="442175"/>
            <a:ext cx="11835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stuffed?</a:t>
            </a:r>
            <a:endParaRPr/>
          </a:p>
        </p:txBody>
      </p:sp>
      <p:sp>
        <p:nvSpPr>
          <p:cNvPr id="249" name="Google Shape;249;p33"/>
          <p:cNvSpPr txBox="1"/>
          <p:nvPr/>
        </p:nvSpPr>
        <p:spPr>
          <a:xfrm>
            <a:off x="2283515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round?</a:t>
            </a:r>
            <a:endParaRPr/>
          </a:p>
        </p:txBody>
      </p:sp>
      <p:sp>
        <p:nvSpPr>
          <p:cNvPr id="250" name="Google Shape;250;p33"/>
          <p:cNvSpPr txBox="1"/>
          <p:nvPr/>
        </p:nvSpPr>
        <p:spPr>
          <a:xfrm>
            <a:off x="6314286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hollow?</a:t>
            </a:r>
            <a:endParaRPr/>
          </a:p>
        </p:txBody>
      </p:sp>
      <p:cxnSp>
        <p:nvCxnSpPr>
          <p:cNvPr id="251" name="Google Shape;251;p33"/>
          <p:cNvCxnSpPr>
            <a:stCxn id="248" idx="2"/>
            <a:endCxn id="249" idx="0"/>
          </p:cNvCxnSpPr>
          <p:nvPr/>
        </p:nvCxnSpPr>
        <p:spPr>
          <a:xfrm flipH="1">
            <a:off x="2875158" y="842375"/>
            <a:ext cx="18765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33"/>
          <p:cNvCxnSpPr>
            <a:stCxn id="248" idx="2"/>
            <a:endCxn id="250" idx="0"/>
          </p:cNvCxnSpPr>
          <p:nvPr/>
        </p:nvCxnSpPr>
        <p:spPr>
          <a:xfrm>
            <a:off x="4751658" y="842375"/>
            <a:ext cx="21543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33"/>
          <p:cNvSpPr txBox="1"/>
          <p:nvPr/>
        </p:nvSpPr>
        <p:spPr>
          <a:xfrm>
            <a:off x="330858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54" name="Google Shape;254;p33"/>
          <p:cNvSpPr txBox="1"/>
          <p:nvPr/>
        </p:nvSpPr>
        <p:spPr>
          <a:xfrm>
            <a:off x="594943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255" name="Google Shape;2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959" y="2756991"/>
            <a:ext cx="1005207" cy="60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3"/>
          <p:cNvPicPr preferRelativeResize="0"/>
          <p:nvPr/>
        </p:nvPicPr>
        <p:blipFill rotWithShape="1">
          <a:blip r:embed="rId4">
            <a:alphaModFix/>
          </a:blip>
          <a:srcRect b="43259" l="49088" r="0" t="0"/>
          <a:stretch/>
        </p:blipFill>
        <p:spPr>
          <a:xfrm>
            <a:off x="6585819" y="3513385"/>
            <a:ext cx="955069" cy="62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3"/>
          <p:cNvPicPr preferRelativeResize="0"/>
          <p:nvPr/>
        </p:nvPicPr>
        <p:blipFill rotWithShape="1">
          <a:blip r:embed="rId5">
            <a:alphaModFix/>
          </a:blip>
          <a:srcRect b="0" l="0" r="0" t="32664"/>
          <a:stretch/>
        </p:blipFill>
        <p:spPr>
          <a:xfrm>
            <a:off x="4321523" y="3761310"/>
            <a:ext cx="955066" cy="65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9062" y="2683511"/>
            <a:ext cx="1167747" cy="84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7364" y="2800068"/>
            <a:ext cx="728519" cy="44171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 txBox="1"/>
          <p:nvPr/>
        </p:nvSpPr>
        <p:spPr>
          <a:xfrm>
            <a:off x="826401" y="24494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Tortellini</a:t>
            </a:r>
            <a:endParaRPr/>
          </a:p>
        </p:txBody>
      </p:sp>
      <p:sp>
        <p:nvSpPr>
          <p:cNvPr id="261" name="Google Shape;261;p33"/>
          <p:cNvSpPr txBox="1"/>
          <p:nvPr/>
        </p:nvSpPr>
        <p:spPr>
          <a:xfrm>
            <a:off x="3138034" y="2359620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cxnSp>
        <p:nvCxnSpPr>
          <p:cNvPr id="262" name="Google Shape;262;p33"/>
          <p:cNvCxnSpPr>
            <a:stCxn id="249" idx="2"/>
            <a:endCxn id="260" idx="0"/>
          </p:cNvCxnSpPr>
          <p:nvPr/>
        </p:nvCxnSpPr>
        <p:spPr>
          <a:xfrm flipH="1">
            <a:off x="1418165" y="1837839"/>
            <a:ext cx="1457100" cy="6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33"/>
          <p:cNvCxnSpPr>
            <a:stCxn id="249" idx="2"/>
            <a:endCxn id="261" idx="0"/>
          </p:cNvCxnSpPr>
          <p:nvPr/>
        </p:nvCxnSpPr>
        <p:spPr>
          <a:xfrm>
            <a:off x="2875265" y="1837839"/>
            <a:ext cx="8544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33"/>
          <p:cNvSpPr txBox="1"/>
          <p:nvPr/>
        </p:nvSpPr>
        <p:spPr>
          <a:xfrm>
            <a:off x="1432188" y="1874990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65" name="Google Shape;265;p33"/>
          <p:cNvSpPr txBox="1"/>
          <p:nvPr/>
        </p:nvSpPr>
        <p:spPr>
          <a:xfrm>
            <a:off x="3393377" y="184690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266" name="Google Shape;266;p33"/>
          <p:cNvSpPr txBox="1"/>
          <p:nvPr/>
        </p:nvSpPr>
        <p:spPr>
          <a:xfrm>
            <a:off x="5170884" y="2273821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ribbed?</a:t>
            </a:r>
            <a:endParaRPr/>
          </a:p>
        </p:txBody>
      </p:sp>
      <p:sp>
        <p:nvSpPr>
          <p:cNvPr id="267" name="Google Shape;267;p33"/>
          <p:cNvSpPr txBox="1"/>
          <p:nvPr/>
        </p:nvSpPr>
        <p:spPr>
          <a:xfrm>
            <a:off x="7274029" y="2359658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lasagna</a:t>
            </a: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 flipH="1">
            <a:off x="6091035" y="1745197"/>
            <a:ext cx="920400" cy="5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33"/>
          <p:cNvCxnSpPr>
            <a:endCxn id="267" idx="0"/>
          </p:cNvCxnSpPr>
          <p:nvPr/>
        </p:nvCxnSpPr>
        <p:spPr>
          <a:xfrm>
            <a:off x="7011379" y="1745258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p33"/>
          <p:cNvSpPr txBox="1"/>
          <p:nvPr/>
        </p:nvSpPr>
        <p:spPr>
          <a:xfrm>
            <a:off x="5923120" y="181887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71" name="Google Shape;271;p33"/>
          <p:cNvSpPr txBox="1"/>
          <p:nvPr/>
        </p:nvSpPr>
        <p:spPr>
          <a:xfrm>
            <a:off x="7529372" y="1846941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272" name="Google Shape;272;p33"/>
          <p:cNvSpPr txBox="1"/>
          <p:nvPr/>
        </p:nvSpPr>
        <p:spPr>
          <a:xfrm>
            <a:off x="4159908" y="3295587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Rigatoni</a:t>
            </a:r>
            <a:endParaRPr/>
          </a:p>
        </p:txBody>
      </p:sp>
      <p:sp>
        <p:nvSpPr>
          <p:cNvPr id="273" name="Google Shape;273;p33"/>
          <p:cNvSpPr txBox="1"/>
          <p:nvPr/>
        </p:nvSpPr>
        <p:spPr>
          <a:xfrm>
            <a:off x="6471541" y="32057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ziti</a:t>
            </a:r>
            <a:endParaRPr/>
          </a:p>
        </p:txBody>
      </p:sp>
      <p:cxnSp>
        <p:nvCxnSpPr>
          <p:cNvPr id="274" name="Google Shape;274;p33"/>
          <p:cNvCxnSpPr>
            <a:endCxn id="272" idx="0"/>
          </p:cNvCxnSpPr>
          <p:nvPr/>
        </p:nvCxnSpPr>
        <p:spPr>
          <a:xfrm flipH="1">
            <a:off x="4751658" y="2591187"/>
            <a:ext cx="1457100" cy="7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33"/>
          <p:cNvCxnSpPr>
            <a:endCxn id="273" idx="0"/>
          </p:cNvCxnSpPr>
          <p:nvPr/>
        </p:nvCxnSpPr>
        <p:spPr>
          <a:xfrm>
            <a:off x="6208891" y="2591353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33"/>
          <p:cNvSpPr txBox="1"/>
          <p:nvPr/>
        </p:nvSpPr>
        <p:spPr>
          <a:xfrm>
            <a:off x="4765696" y="272112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277" name="Google Shape;277;p33"/>
          <p:cNvSpPr txBox="1"/>
          <p:nvPr/>
        </p:nvSpPr>
        <p:spPr>
          <a:xfrm>
            <a:off x="6726885" y="2693036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278" name="Google Shape;278;p33"/>
          <p:cNvSpPr txBox="1"/>
          <p:nvPr/>
        </p:nvSpPr>
        <p:spPr>
          <a:xfrm>
            <a:off x="154475" y="229625"/>
            <a:ext cx="2154300" cy="52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</a:rPr>
              <a:t>FINAL TREE</a:t>
            </a:r>
            <a:endParaRPr b="1"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type="title"/>
          </p:nvPr>
        </p:nvSpPr>
        <p:spPr>
          <a:xfrm>
            <a:off x="243550" y="88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test set to see how good your features are at classifying a new set of pastas</a:t>
            </a:r>
            <a:endParaRPr/>
          </a:p>
        </p:txBody>
      </p:sp>
      <p:sp>
        <p:nvSpPr>
          <p:cNvPr id="284" name="Google Shape;28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5" name="Google Shape;285;p34"/>
          <p:cNvPicPr preferRelativeResize="0"/>
          <p:nvPr/>
        </p:nvPicPr>
        <p:blipFill rotWithShape="1">
          <a:blip r:embed="rId3">
            <a:alphaModFix/>
          </a:blip>
          <a:srcRect b="25672" l="0" r="63689" t="0"/>
          <a:stretch/>
        </p:blipFill>
        <p:spPr>
          <a:xfrm>
            <a:off x="587625" y="1411537"/>
            <a:ext cx="1193200" cy="17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4"/>
          <p:cNvPicPr preferRelativeResize="0"/>
          <p:nvPr/>
        </p:nvPicPr>
        <p:blipFill rotWithShape="1">
          <a:blip r:embed="rId4">
            <a:alphaModFix/>
          </a:blip>
          <a:srcRect b="0" l="0" r="62291" t="0"/>
          <a:stretch/>
        </p:blipFill>
        <p:spPr>
          <a:xfrm>
            <a:off x="4286338" y="1118463"/>
            <a:ext cx="78710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4"/>
          <p:cNvPicPr preferRelativeResize="0"/>
          <p:nvPr/>
        </p:nvPicPr>
        <p:blipFill rotWithShape="1">
          <a:blip r:embed="rId5">
            <a:alphaModFix/>
          </a:blip>
          <a:srcRect b="22678" l="16500" r="12345" t="25708"/>
          <a:stretch/>
        </p:blipFill>
        <p:spPr>
          <a:xfrm>
            <a:off x="1885688" y="1106750"/>
            <a:ext cx="1998050" cy="144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4"/>
          <p:cNvSpPr txBox="1"/>
          <p:nvPr/>
        </p:nvSpPr>
        <p:spPr>
          <a:xfrm>
            <a:off x="2288163" y="2581675"/>
            <a:ext cx="1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Mezzaluna</a:t>
            </a:r>
            <a:endParaRPr/>
          </a:p>
        </p:txBody>
      </p:sp>
      <p:sp>
        <p:nvSpPr>
          <p:cNvPr id="289" name="Google Shape;289;p34"/>
          <p:cNvSpPr txBox="1"/>
          <p:nvPr/>
        </p:nvSpPr>
        <p:spPr>
          <a:xfrm>
            <a:off x="587625" y="3326625"/>
            <a:ext cx="208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Mafaldine</a:t>
            </a:r>
            <a:endParaRPr/>
          </a:p>
        </p:txBody>
      </p:sp>
      <p:pic>
        <p:nvPicPr>
          <p:cNvPr id="290" name="Google Shape;290;p34"/>
          <p:cNvPicPr preferRelativeResize="0"/>
          <p:nvPr/>
        </p:nvPicPr>
        <p:blipFill rotWithShape="1">
          <a:blip r:embed="rId4">
            <a:alphaModFix/>
          </a:blip>
          <a:srcRect b="679" l="63473" r="-1258" t="9963"/>
          <a:stretch/>
        </p:blipFill>
        <p:spPr>
          <a:xfrm>
            <a:off x="5516064" y="1321838"/>
            <a:ext cx="788675" cy="341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4"/>
          <p:cNvPicPr preferRelativeResize="0"/>
          <p:nvPr/>
        </p:nvPicPr>
        <p:blipFill rotWithShape="1">
          <a:blip r:embed="rId6">
            <a:alphaModFix/>
          </a:blip>
          <a:srcRect b="3312" l="26200" r="57077" t="66180"/>
          <a:stretch/>
        </p:blipFill>
        <p:spPr>
          <a:xfrm>
            <a:off x="6975972" y="2819388"/>
            <a:ext cx="1289801" cy="156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4"/>
          <p:cNvSpPr txBox="1"/>
          <p:nvPr/>
        </p:nvSpPr>
        <p:spPr>
          <a:xfrm>
            <a:off x="7141950" y="4488825"/>
            <a:ext cx="13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Calamarata</a:t>
            </a:r>
            <a:endParaRPr/>
          </a:p>
        </p:txBody>
      </p:sp>
      <p:sp>
        <p:nvSpPr>
          <p:cNvPr id="293" name="Google Shape;293;p34"/>
          <p:cNvSpPr txBox="1"/>
          <p:nvPr/>
        </p:nvSpPr>
        <p:spPr>
          <a:xfrm>
            <a:off x="2133388" y="378155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Penne</a:t>
            </a:r>
            <a:endParaRPr/>
          </a:p>
        </p:txBody>
      </p:sp>
      <p:pic>
        <p:nvPicPr>
          <p:cNvPr id="294" name="Google Shape;294;p34"/>
          <p:cNvPicPr preferRelativeResize="0"/>
          <p:nvPr/>
        </p:nvPicPr>
        <p:blipFill rotWithShape="1">
          <a:blip r:embed="rId7">
            <a:alphaModFix/>
          </a:blip>
          <a:srcRect b="22438" l="0" r="0" t="0"/>
          <a:stretch/>
        </p:blipFill>
        <p:spPr>
          <a:xfrm>
            <a:off x="6393037" y="627525"/>
            <a:ext cx="2371121" cy="17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4"/>
          <p:cNvSpPr txBox="1"/>
          <p:nvPr/>
        </p:nvSpPr>
        <p:spPr>
          <a:xfrm>
            <a:off x="6805325" y="229318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pic>
        <p:nvPicPr>
          <p:cNvPr id="296" name="Google Shape;296;p34"/>
          <p:cNvPicPr preferRelativeResize="0"/>
          <p:nvPr/>
        </p:nvPicPr>
        <p:blipFill rotWithShape="1">
          <a:blip r:embed="rId8">
            <a:alphaModFix/>
          </a:blip>
          <a:srcRect b="68320" l="25572" r="12538" t="10596"/>
          <a:stretch/>
        </p:blipFill>
        <p:spPr>
          <a:xfrm>
            <a:off x="1699175" y="2945623"/>
            <a:ext cx="2371100" cy="839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4"/>
          <p:cNvPicPr preferRelativeResize="0"/>
          <p:nvPr/>
        </p:nvPicPr>
        <p:blipFill rotWithShape="1">
          <a:blip r:embed="rId9">
            <a:alphaModFix/>
          </a:blip>
          <a:srcRect b="16044" l="0" r="15196" t="13273"/>
          <a:stretch/>
        </p:blipFill>
        <p:spPr>
          <a:xfrm>
            <a:off x="219800" y="3726823"/>
            <a:ext cx="1998025" cy="1144327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4"/>
          <p:cNvSpPr txBox="1"/>
          <p:nvPr/>
        </p:nvSpPr>
        <p:spPr>
          <a:xfrm>
            <a:off x="533188" y="477215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5"/>
          <p:cNvSpPr txBox="1"/>
          <p:nvPr>
            <p:ph type="title"/>
          </p:nvPr>
        </p:nvSpPr>
        <p:spPr>
          <a:xfrm>
            <a:off x="36645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Set - Data Collection Sheet</a:t>
            </a:r>
            <a:endParaRPr/>
          </a:p>
        </p:txBody>
      </p:sp>
      <p:sp>
        <p:nvSpPr>
          <p:cNvPr id="304" name="Google Shape;30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05" name="Google Shape;305;p35"/>
          <p:cNvGraphicFramePr/>
          <p:nvPr/>
        </p:nvGraphicFramePr>
        <p:xfrm>
          <a:off x="3109125" y="109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{83BA5305-38E3-4DBB-8C32-9BC6BFC2FCE0}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Correctly classified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Incorrectly classified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Penne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Mezzaluna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Ravioli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Lasagna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Calamarata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6" name="Google Shape;306;p35"/>
          <p:cNvSpPr/>
          <p:nvPr/>
        </p:nvSpPr>
        <p:spPr>
          <a:xfrm>
            <a:off x="-32325" y="279125"/>
            <a:ext cx="2992200" cy="129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5: </a:t>
            </a:r>
            <a:r>
              <a:rPr lang="en"/>
              <a:t>Use your pasta classifier to classify the test pasta’s you’ve been given.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well does your classifier work?</a:t>
            </a:r>
            <a:endParaRPr b="1"/>
          </a:p>
        </p:txBody>
      </p:sp>
      <p:pic>
        <p:nvPicPr>
          <p:cNvPr id="307" name="Google Shape;307;p35"/>
          <p:cNvPicPr preferRelativeResize="0"/>
          <p:nvPr/>
        </p:nvPicPr>
        <p:blipFill rotWithShape="1">
          <a:blip r:embed="rId3">
            <a:alphaModFix/>
          </a:blip>
          <a:srcRect b="68320" l="25572" r="12538" t="10596"/>
          <a:stretch/>
        </p:blipFill>
        <p:spPr>
          <a:xfrm>
            <a:off x="1568700" y="1490125"/>
            <a:ext cx="1385800" cy="49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5"/>
          <p:cNvPicPr preferRelativeResize="0"/>
          <p:nvPr/>
        </p:nvPicPr>
        <p:blipFill rotWithShape="1">
          <a:blip r:embed="rId4">
            <a:alphaModFix/>
          </a:blip>
          <a:srcRect b="22678" l="16500" r="12345" t="25708"/>
          <a:stretch/>
        </p:blipFill>
        <p:spPr>
          <a:xfrm>
            <a:off x="1885694" y="1981050"/>
            <a:ext cx="1074176" cy="779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5"/>
          <p:cNvPicPr preferRelativeResize="0"/>
          <p:nvPr/>
        </p:nvPicPr>
        <p:blipFill rotWithShape="1">
          <a:blip r:embed="rId5">
            <a:alphaModFix/>
          </a:blip>
          <a:srcRect b="22438" l="0" r="0" t="0"/>
          <a:stretch/>
        </p:blipFill>
        <p:spPr>
          <a:xfrm>
            <a:off x="1909055" y="2685325"/>
            <a:ext cx="1027450" cy="7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5"/>
          <p:cNvPicPr preferRelativeResize="0"/>
          <p:nvPr/>
        </p:nvPicPr>
        <p:blipFill rotWithShape="1">
          <a:blip r:embed="rId6">
            <a:alphaModFix/>
          </a:blip>
          <a:srcRect b="0" l="0" r="62291" t="0"/>
          <a:stretch/>
        </p:blipFill>
        <p:spPr>
          <a:xfrm>
            <a:off x="2514567" y="3464536"/>
            <a:ext cx="285650" cy="138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idx="12" type="sldNum"/>
          </p:nvPr>
        </p:nvSpPr>
        <p:spPr>
          <a:xfrm>
            <a:off x="8420174" y="4685588"/>
            <a:ext cx="5004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6"/>
          <p:cNvSpPr txBox="1"/>
          <p:nvPr/>
        </p:nvSpPr>
        <p:spPr>
          <a:xfrm>
            <a:off x="4159908" y="442175"/>
            <a:ext cx="11835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stuffed?</a:t>
            </a:r>
            <a:endParaRPr/>
          </a:p>
        </p:txBody>
      </p:sp>
      <p:sp>
        <p:nvSpPr>
          <p:cNvPr id="317" name="Google Shape;317;p36"/>
          <p:cNvSpPr txBox="1"/>
          <p:nvPr/>
        </p:nvSpPr>
        <p:spPr>
          <a:xfrm>
            <a:off x="2283515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round?</a:t>
            </a:r>
            <a:endParaRPr/>
          </a:p>
        </p:txBody>
      </p:sp>
      <p:sp>
        <p:nvSpPr>
          <p:cNvPr id="318" name="Google Shape;318;p36"/>
          <p:cNvSpPr txBox="1"/>
          <p:nvPr/>
        </p:nvSpPr>
        <p:spPr>
          <a:xfrm>
            <a:off x="6314286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hollow?</a:t>
            </a:r>
            <a:endParaRPr/>
          </a:p>
        </p:txBody>
      </p:sp>
      <p:cxnSp>
        <p:nvCxnSpPr>
          <p:cNvPr id="319" name="Google Shape;319;p36"/>
          <p:cNvCxnSpPr>
            <a:stCxn id="316" idx="2"/>
            <a:endCxn id="317" idx="0"/>
          </p:cNvCxnSpPr>
          <p:nvPr/>
        </p:nvCxnSpPr>
        <p:spPr>
          <a:xfrm flipH="1">
            <a:off x="2875158" y="842375"/>
            <a:ext cx="18765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36"/>
          <p:cNvCxnSpPr>
            <a:stCxn id="316" idx="2"/>
            <a:endCxn id="318" idx="0"/>
          </p:cNvCxnSpPr>
          <p:nvPr/>
        </p:nvCxnSpPr>
        <p:spPr>
          <a:xfrm>
            <a:off x="4751658" y="842375"/>
            <a:ext cx="21543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" name="Google Shape;321;p36"/>
          <p:cNvSpPr txBox="1"/>
          <p:nvPr/>
        </p:nvSpPr>
        <p:spPr>
          <a:xfrm>
            <a:off x="330858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322" name="Google Shape;322;p36"/>
          <p:cNvSpPr txBox="1"/>
          <p:nvPr/>
        </p:nvSpPr>
        <p:spPr>
          <a:xfrm>
            <a:off x="594943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323" name="Google Shape;323;p36"/>
          <p:cNvSpPr/>
          <p:nvPr/>
        </p:nvSpPr>
        <p:spPr>
          <a:xfrm>
            <a:off x="-32325" y="-25675"/>
            <a:ext cx="3273300" cy="129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5: </a:t>
            </a:r>
            <a:r>
              <a:rPr lang="en"/>
              <a:t>Use your pasta classifier to classify the test pasta’s you’ve been given.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well does your classifier work?</a:t>
            </a:r>
            <a:endParaRPr b="1"/>
          </a:p>
        </p:txBody>
      </p:sp>
      <p:pic>
        <p:nvPicPr>
          <p:cNvPr id="324" name="Google Shape;32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959" y="2756991"/>
            <a:ext cx="1005207" cy="60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6"/>
          <p:cNvPicPr preferRelativeResize="0"/>
          <p:nvPr/>
        </p:nvPicPr>
        <p:blipFill rotWithShape="1">
          <a:blip r:embed="rId4">
            <a:alphaModFix/>
          </a:blip>
          <a:srcRect b="43259" l="49088" r="0" t="0"/>
          <a:stretch/>
        </p:blipFill>
        <p:spPr>
          <a:xfrm>
            <a:off x="6585819" y="3513385"/>
            <a:ext cx="955069" cy="62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6"/>
          <p:cNvPicPr preferRelativeResize="0"/>
          <p:nvPr/>
        </p:nvPicPr>
        <p:blipFill rotWithShape="1">
          <a:blip r:embed="rId5">
            <a:alphaModFix/>
          </a:blip>
          <a:srcRect b="0" l="0" r="0" t="32664"/>
          <a:stretch/>
        </p:blipFill>
        <p:spPr>
          <a:xfrm>
            <a:off x="4321523" y="3761310"/>
            <a:ext cx="955066" cy="65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9062" y="2683511"/>
            <a:ext cx="1167747" cy="84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7364" y="2800068"/>
            <a:ext cx="728519" cy="44171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6"/>
          <p:cNvSpPr txBox="1"/>
          <p:nvPr/>
        </p:nvSpPr>
        <p:spPr>
          <a:xfrm>
            <a:off x="826401" y="24494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Tortellini</a:t>
            </a:r>
            <a:endParaRPr/>
          </a:p>
        </p:txBody>
      </p:sp>
      <p:sp>
        <p:nvSpPr>
          <p:cNvPr id="330" name="Google Shape;330;p36"/>
          <p:cNvSpPr txBox="1"/>
          <p:nvPr/>
        </p:nvSpPr>
        <p:spPr>
          <a:xfrm>
            <a:off x="3138034" y="2359620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cxnSp>
        <p:nvCxnSpPr>
          <p:cNvPr id="331" name="Google Shape;331;p36"/>
          <p:cNvCxnSpPr>
            <a:stCxn id="317" idx="2"/>
            <a:endCxn id="329" idx="0"/>
          </p:cNvCxnSpPr>
          <p:nvPr/>
        </p:nvCxnSpPr>
        <p:spPr>
          <a:xfrm flipH="1">
            <a:off x="1418165" y="1837839"/>
            <a:ext cx="1457100" cy="6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36"/>
          <p:cNvCxnSpPr>
            <a:stCxn id="317" idx="2"/>
            <a:endCxn id="330" idx="0"/>
          </p:cNvCxnSpPr>
          <p:nvPr/>
        </p:nvCxnSpPr>
        <p:spPr>
          <a:xfrm>
            <a:off x="2875265" y="1837839"/>
            <a:ext cx="8544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" name="Google Shape;333;p36"/>
          <p:cNvSpPr txBox="1"/>
          <p:nvPr/>
        </p:nvSpPr>
        <p:spPr>
          <a:xfrm>
            <a:off x="1432188" y="1874990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334" name="Google Shape;334;p36"/>
          <p:cNvSpPr txBox="1"/>
          <p:nvPr/>
        </p:nvSpPr>
        <p:spPr>
          <a:xfrm>
            <a:off x="3393377" y="184690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335" name="Google Shape;335;p36"/>
          <p:cNvSpPr txBox="1"/>
          <p:nvPr/>
        </p:nvSpPr>
        <p:spPr>
          <a:xfrm>
            <a:off x="5170884" y="2273821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ribbed?</a:t>
            </a:r>
            <a:endParaRPr/>
          </a:p>
        </p:txBody>
      </p:sp>
      <p:sp>
        <p:nvSpPr>
          <p:cNvPr id="336" name="Google Shape;336;p36"/>
          <p:cNvSpPr txBox="1"/>
          <p:nvPr/>
        </p:nvSpPr>
        <p:spPr>
          <a:xfrm>
            <a:off x="7274029" y="2359658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lasagna</a:t>
            </a:r>
            <a:endParaRPr/>
          </a:p>
        </p:txBody>
      </p:sp>
      <p:cxnSp>
        <p:nvCxnSpPr>
          <p:cNvPr id="337" name="Google Shape;337;p36"/>
          <p:cNvCxnSpPr/>
          <p:nvPr/>
        </p:nvCxnSpPr>
        <p:spPr>
          <a:xfrm flipH="1">
            <a:off x="6091035" y="1745197"/>
            <a:ext cx="920400" cy="5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36"/>
          <p:cNvCxnSpPr>
            <a:endCxn id="336" idx="0"/>
          </p:cNvCxnSpPr>
          <p:nvPr/>
        </p:nvCxnSpPr>
        <p:spPr>
          <a:xfrm>
            <a:off x="7011379" y="1745258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36"/>
          <p:cNvSpPr txBox="1"/>
          <p:nvPr/>
        </p:nvSpPr>
        <p:spPr>
          <a:xfrm>
            <a:off x="5923120" y="181887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340" name="Google Shape;340;p36"/>
          <p:cNvSpPr txBox="1"/>
          <p:nvPr/>
        </p:nvSpPr>
        <p:spPr>
          <a:xfrm>
            <a:off x="7529372" y="1846941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341" name="Google Shape;341;p36"/>
          <p:cNvSpPr txBox="1"/>
          <p:nvPr/>
        </p:nvSpPr>
        <p:spPr>
          <a:xfrm>
            <a:off x="4159908" y="3295587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Rigatoni</a:t>
            </a:r>
            <a:endParaRPr/>
          </a:p>
        </p:txBody>
      </p:sp>
      <p:sp>
        <p:nvSpPr>
          <p:cNvPr id="342" name="Google Shape;342;p36"/>
          <p:cNvSpPr txBox="1"/>
          <p:nvPr/>
        </p:nvSpPr>
        <p:spPr>
          <a:xfrm>
            <a:off x="6471541" y="32057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ziti</a:t>
            </a:r>
            <a:endParaRPr/>
          </a:p>
        </p:txBody>
      </p:sp>
      <p:cxnSp>
        <p:nvCxnSpPr>
          <p:cNvPr id="343" name="Google Shape;343;p36"/>
          <p:cNvCxnSpPr>
            <a:endCxn id="341" idx="0"/>
          </p:cNvCxnSpPr>
          <p:nvPr/>
        </p:nvCxnSpPr>
        <p:spPr>
          <a:xfrm flipH="1">
            <a:off x="4751658" y="2591187"/>
            <a:ext cx="1457100" cy="7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36"/>
          <p:cNvCxnSpPr>
            <a:endCxn id="342" idx="0"/>
          </p:cNvCxnSpPr>
          <p:nvPr/>
        </p:nvCxnSpPr>
        <p:spPr>
          <a:xfrm>
            <a:off x="6208891" y="2591353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" name="Google Shape;345;p36"/>
          <p:cNvSpPr txBox="1"/>
          <p:nvPr/>
        </p:nvSpPr>
        <p:spPr>
          <a:xfrm>
            <a:off x="4765696" y="272112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346" name="Google Shape;346;p36"/>
          <p:cNvSpPr txBox="1"/>
          <p:nvPr/>
        </p:nvSpPr>
        <p:spPr>
          <a:xfrm>
            <a:off x="6726885" y="2693036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347" name="Google Shape;347;p36"/>
          <p:cNvPicPr preferRelativeResize="0"/>
          <p:nvPr/>
        </p:nvPicPr>
        <p:blipFill rotWithShape="1">
          <a:blip r:embed="rId8">
            <a:alphaModFix/>
          </a:blip>
          <a:srcRect b="68320" l="25572" r="12538" t="10596"/>
          <a:stretch/>
        </p:blipFill>
        <p:spPr>
          <a:xfrm>
            <a:off x="4236516" y="10"/>
            <a:ext cx="1030275" cy="30753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6"/>
          <p:cNvSpPr txBox="1"/>
          <p:nvPr/>
        </p:nvSpPr>
        <p:spPr>
          <a:xfrm>
            <a:off x="5345800" y="55625"/>
            <a:ext cx="1851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PASTA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7"/>
          <p:cNvSpPr txBox="1"/>
          <p:nvPr>
            <p:ph idx="12" type="sldNum"/>
          </p:nvPr>
        </p:nvSpPr>
        <p:spPr>
          <a:xfrm>
            <a:off x="8420174" y="4685588"/>
            <a:ext cx="5004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4" name="Google Shape;354;p37"/>
          <p:cNvSpPr txBox="1"/>
          <p:nvPr/>
        </p:nvSpPr>
        <p:spPr>
          <a:xfrm>
            <a:off x="4159908" y="442175"/>
            <a:ext cx="11835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stuffed?</a:t>
            </a:r>
            <a:endParaRPr/>
          </a:p>
        </p:txBody>
      </p:sp>
      <p:sp>
        <p:nvSpPr>
          <p:cNvPr id="355" name="Google Shape;355;p37"/>
          <p:cNvSpPr txBox="1"/>
          <p:nvPr/>
        </p:nvSpPr>
        <p:spPr>
          <a:xfrm>
            <a:off x="2283515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round?</a:t>
            </a:r>
            <a:endParaRPr/>
          </a:p>
        </p:txBody>
      </p:sp>
      <p:sp>
        <p:nvSpPr>
          <p:cNvPr id="356" name="Google Shape;356;p37"/>
          <p:cNvSpPr txBox="1"/>
          <p:nvPr/>
        </p:nvSpPr>
        <p:spPr>
          <a:xfrm>
            <a:off x="6314286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hollow?</a:t>
            </a:r>
            <a:endParaRPr/>
          </a:p>
        </p:txBody>
      </p:sp>
      <p:cxnSp>
        <p:nvCxnSpPr>
          <p:cNvPr id="357" name="Google Shape;357;p37"/>
          <p:cNvCxnSpPr>
            <a:stCxn id="354" idx="2"/>
            <a:endCxn id="355" idx="0"/>
          </p:cNvCxnSpPr>
          <p:nvPr/>
        </p:nvCxnSpPr>
        <p:spPr>
          <a:xfrm flipH="1">
            <a:off x="2875158" y="842375"/>
            <a:ext cx="18765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37"/>
          <p:cNvCxnSpPr>
            <a:stCxn id="354" idx="2"/>
            <a:endCxn id="356" idx="0"/>
          </p:cNvCxnSpPr>
          <p:nvPr/>
        </p:nvCxnSpPr>
        <p:spPr>
          <a:xfrm>
            <a:off x="4751658" y="842375"/>
            <a:ext cx="21543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37"/>
          <p:cNvSpPr txBox="1"/>
          <p:nvPr/>
        </p:nvSpPr>
        <p:spPr>
          <a:xfrm>
            <a:off x="330858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360" name="Google Shape;360;p37"/>
          <p:cNvSpPr txBox="1"/>
          <p:nvPr/>
        </p:nvSpPr>
        <p:spPr>
          <a:xfrm>
            <a:off x="594943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361" name="Google Shape;3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959" y="2756991"/>
            <a:ext cx="1005207" cy="60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7"/>
          <p:cNvPicPr preferRelativeResize="0"/>
          <p:nvPr/>
        </p:nvPicPr>
        <p:blipFill rotWithShape="1">
          <a:blip r:embed="rId4">
            <a:alphaModFix/>
          </a:blip>
          <a:srcRect b="43259" l="49088" r="0" t="0"/>
          <a:stretch/>
        </p:blipFill>
        <p:spPr>
          <a:xfrm>
            <a:off x="6585819" y="3513385"/>
            <a:ext cx="955069" cy="62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7"/>
          <p:cNvPicPr preferRelativeResize="0"/>
          <p:nvPr/>
        </p:nvPicPr>
        <p:blipFill rotWithShape="1">
          <a:blip r:embed="rId5">
            <a:alphaModFix/>
          </a:blip>
          <a:srcRect b="0" l="0" r="0" t="32664"/>
          <a:stretch/>
        </p:blipFill>
        <p:spPr>
          <a:xfrm>
            <a:off x="4321523" y="3761310"/>
            <a:ext cx="955066" cy="65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9062" y="2683511"/>
            <a:ext cx="1167747" cy="84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7364" y="2800068"/>
            <a:ext cx="728519" cy="441718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/>
        </p:nvSpPr>
        <p:spPr>
          <a:xfrm>
            <a:off x="826401" y="24494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Tortellini</a:t>
            </a:r>
            <a:endParaRPr/>
          </a:p>
        </p:txBody>
      </p:sp>
      <p:sp>
        <p:nvSpPr>
          <p:cNvPr id="367" name="Google Shape;367;p37"/>
          <p:cNvSpPr txBox="1"/>
          <p:nvPr/>
        </p:nvSpPr>
        <p:spPr>
          <a:xfrm>
            <a:off x="3138034" y="2359620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cxnSp>
        <p:nvCxnSpPr>
          <p:cNvPr id="368" name="Google Shape;368;p37"/>
          <p:cNvCxnSpPr>
            <a:stCxn id="355" idx="2"/>
            <a:endCxn id="366" idx="0"/>
          </p:cNvCxnSpPr>
          <p:nvPr/>
        </p:nvCxnSpPr>
        <p:spPr>
          <a:xfrm flipH="1">
            <a:off x="1418165" y="1837839"/>
            <a:ext cx="1457100" cy="6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37"/>
          <p:cNvCxnSpPr>
            <a:stCxn id="355" idx="2"/>
            <a:endCxn id="367" idx="0"/>
          </p:cNvCxnSpPr>
          <p:nvPr/>
        </p:nvCxnSpPr>
        <p:spPr>
          <a:xfrm>
            <a:off x="2875265" y="1837839"/>
            <a:ext cx="8544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" name="Google Shape;370;p37"/>
          <p:cNvSpPr txBox="1"/>
          <p:nvPr/>
        </p:nvSpPr>
        <p:spPr>
          <a:xfrm>
            <a:off x="1432188" y="1874990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371" name="Google Shape;371;p37"/>
          <p:cNvSpPr txBox="1"/>
          <p:nvPr/>
        </p:nvSpPr>
        <p:spPr>
          <a:xfrm>
            <a:off x="3393377" y="184690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5170884" y="2273821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ribbed?</a:t>
            </a:r>
            <a:endParaRPr/>
          </a:p>
        </p:txBody>
      </p:sp>
      <p:sp>
        <p:nvSpPr>
          <p:cNvPr id="373" name="Google Shape;373;p37"/>
          <p:cNvSpPr txBox="1"/>
          <p:nvPr/>
        </p:nvSpPr>
        <p:spPr>
          <a:xfrm>
            <a:off x="7274029" y="2359658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lasagna</a:t>
            </a:r>
            <a:endParaRPr/>
          </a:p>
        </p:txBody>
      </p:sp>
      <p:cxnSp>
        <p:nvCxnSpPr>
          <p:cNvPr id="374" name="Google Shape;374;p37"/>
          <p:cNvCxnSpPr/>
          <p:nvPr/>
        </p:nvCxnSpPr>
        <p:spPr>
          <a:xfrm flipH="1">
            <a:off x="6091035" y="1745197"/>
            <a:ext cx="920400" cy="5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37"/>
          <p:cNvCxnSpPr>
            <a:endCxn id="373" idx="0"/>
          </p:cNvCxnSpPr>
          <p:nvPr/>
        </p:nvCxnSpPr>
        <p:spPr>
          <a:xfrm>
            <a:off x="7011379" y="1745258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6" name="Google Shape;376;p37"/>
          <p:cNvSpPr txBox="1"/>
          <p:nvPr/>
        </p:nvSpPr>
        <p:spPr>
          <a:xfrm>
            <a:off x="5923120" y="181887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7529372" y="1846941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378" name="Google Shape;378;p37"/>
          <p:cNvSpPr txBox="1"/>
          <p:nvPr/>
        </p:nvSpPr>
        <p:spPr>
          <a:xfrm>
            <a:off x="4159908" y="3295587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Rigatoni</a:t>
            </a:r>
            <a:endParaRPr/>
          </a:p>
        </p:txBody>
      </p:sp>
      <p:sp>
        <p:nvSpPr>
          <p:cNvPr id="379" name="Google Shape;379;p37"/>
          <p:cNvSpPr txBox="1"/>
          <p:nvPr/>
        </p:nvSpPr>
        <p:spPr>
          <a:xfrm>
            <a:off x="6471541" y="32057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ziti</a:t>
            </a:r>
            <a:endParaRPr/>
          </a:p>
        </p:txBody>
      </p:sp>
      <p:cxnSp>
        <p:nvCxnSpPr>
          <p:cNvPr id="380" name="Google Shape;380;p37"/>
          <p:cNvCxnSpPr>
            <a:endCxn id="378" idx="0"/>
          </p:cNvCxnSpPr>
          <p:nvPr/>
        </p:nvCxnSpPr>
        <p:spPr>
          <a:xfrm flipH="1">
            <a:off x="4751658" y="2591187"/>
            <a:ext cx="1457100" cy="7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37"/>
          <p:cNvCxnSpPr>
            <a:endCxn id="379" idx="0"/>
          </p:cNvCxnSpPr>
          <p:nvPr/>
        </p:nvCxnSpPr>
        <p:spPr>
          <a:xfrm>
            <a:off x="6208891" y="2591353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2" name="Google Shape;382;p37"/>
          <p:cNvSpPr txBox="1"/>
          <p:nvPr/>
        </p:nvSpPr>
        <p:spPr>
          <a:xfrm>
            <a:off x="4765696" y="272112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383" name="Google Shape;383;p37"/>
          <p:cNvSpPr txBox="1"/>
          <p:nvPr/>
        </p:nvSpPr>
        <p:spPr>
          <a:xfrm>
            <a:off x="6726885" y="2693036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384" name="Google Shape;384;p37"/>
          <p:cNvPicPr preferRelativeResize="0"/>
          <p:nvPr/>
        </p:nvPicPr>
        <p:blipFill rotWithShape="1">
          <a:blip r:embed="rId8">
            <a:alphaModFix/>
          </a:blip>
          <a:srcRect b="68320" l="25572" r="12538" t="10596"/>
          <a:stretch/>
        </p:blipFill>
        <p:spPr>
          <a:xfrm>
            <a:off x="6461928" y="1028335"/>
            <a:ext cx="1030275" cy="30753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7"/>
          <p:cNvSpPr txBox="1"/>
          <p:nvPr/>
        </p:nvSpPr>
        <p:spPr>
          <a:xfrm>
            <a:off x="7504300" y="948575"/>
            <a:ext cx="1851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PASTA</a:t>
            </a:r>
            <a:endParaRPr/>
          </a:p>
        </p:txBody>
      </p:sp>
      <p:sp>
        <p:nvSpPr>
          <p:cNvPr id="386" name="Google Shape;386;p37"/>
          <p:cNvSpPr/>
          <p:nvPr/>
        </p:nvSpPr>
        <p:spPr>
          <a:xfrm>
            <a:off x="-32325" y="-25675"/>
            <a:ext cx="3273300" cy="129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5: </a:t>
            </a:r>
            <a:r>
              <a:rPr lang="en"/>
              <a:t>Use your pasta classifier to classify the test pasta’s you’ve been given.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well does your classifier work?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 txBox="1"/>
          <p:nvPr>
            <p:ph idx="12" type="sldNum"/>
          </p:nvPr>
        </p:nvSpPr>
        <p:spPr>
          <a:xfrm>
            <a:off x="8420174" y="4685588"/>
            <a:ext cx="5004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38"/>
          <p:cNvSpPr txBox="1"/>
          <p:nvPr/>
        </p:nvSpPr>
        <p:spPr>
          <a:xfrm>
            <a:off x="4159908" y="442175"/>
            <a:ext cx="11835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stuffed?</a:t>
            </a:r>
            <a:endParaRPr/>
          </a:p>
        </p:txBody>
      </p:sp>
      <p:sp>
        <p:nvSpPr>
          <p:cNvPr id="393" name="Google Shape;393;p38"/>
          <p:cNvSpPr txBox="1"/>
          <p:nvPr/>
        </p:nvSpPr>
        <p:spPr>
          <a:xfrm>
            <a:off x="2283515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round?</a:t>
            </a:r>
            <a:endParaRPr/>
          </a:p>
        </p:txBody>
      </p:sp>
      <p:sp>
        <p:nvSpPr>
          <p:cNvPr id="394" name="Google Shape;394;p38"/>
          <p:cNvSpPr txBox="1"/>
          <p:nvPr/>
        </p:nvSpPr>
        <p:spPr>
          <a:xfrm>
            <a:off x="6314286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hollow?</a:t>
            </a:r>
            <a:endParaRPr/>
          </a:p>
        </p:txBody>
      </p:sp>
      <p:cxnSp>
        <p:nvCxnSpPr>
          <p:cNvPr id="395" name="Google Shape;395;p38"/>
          <p:cNvCxnSpPr>
            <a:stCxn id="392" idx="2"/>
            <a:endCxn id="393" idx="0"/>
          </p:cNvCxnSpPr>
          <p:nvPr/>
        </p:nvCxnSpPr>
        <p:spPr>
          <a:xfrm flipH="1">
            <a:off x="2875158" y="842375"/>
            <a:ext cx="18765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" name="Google Shape;396;p38"/>
          <p:cNvCxnSpPr>
            <a:stCxn id="392" idx="2"/>
            <a:endCxn id="394" idx="0"/>
          </p:cNvCxnSpPr>
          <p:nvPr/>
        </p:nvCxnSpPr>
        <p:spPr>
          <a:xfrm>
            <a:off x="4751658" y="842375"/>
            <a:ext cx="21543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38"/>
          <p:cNvSpPr txBox="1"/>
          <p:nvPr/>
        </p:nvSpPr>
        <p:spPr>
          <a:xfrm>
            <a:off x="330858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398" name="Google Shape;398;p38"/>
          <p:cNvSpPr txBox="1"/>
          <p:nvPr/>
        </p:nvSpPr>
        <p:spPr>
          <a:xfrm>
            <a:off x="594943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399" name="Google Shape;3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959" y="2756991"/>
            <a:ext cx="1005207" cy="60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8"/>
          <p:cNvPicPr preferRelativeResize="0"/>
          <p:nvPr/>
        </p:nvPicPr>
        <p:blipFill rotWithShape="1">
          <a:blip r:embed="rId4">
            <a:alphaModFix/>
          </a:blip>
          <a:srcRect b="43259" l="49088" r="0" t="0"/>
          <a:stretch/>
        </p:blipFill>
        <p:spPr>
          <a:xfrm>
            <a:off x="6585819" y="3513385"/>
            <a:ext cx="955069" cy="62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8"/>
          <p:cNvPicPr preferRelativeResize="0"/>
          <p:nvPr/>
        </p:nvPicPr>
        <p:blipFill rotWithShape="1">
          <a:blip r:embed="rId5">
            <a:alphaModFix/>
          </a:blip>
          <a:srcRect b="0" l="0" r="0" t="32664"/>
          <a:stretch/>
        </p:blipFill>
        <p:spPr>
          <a:xfrm>
            <a:off x="4321523" y="3761310"/>
            <a:ext cx="955066" cy="65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9062" y="2683511"/>
            <a:ext cx="1167747" cy="84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7364" y="2800068"/>
            <a:ext cx="728519" cy="44171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8"/>
          <p:cNvSpPr txBox="1"/>
          <p:nvPr/>
        </p:nvSpPr>
        <p:spPr>
          <a:xfrm>
            <a:off x="826401" y="24494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Tortellini</a:t>
            </a:r>
            <a:endParaRPr/>
          </a:p>
        </p:txBody>
      </p:sp>
      <p:sp>
        <p:nvSpPr>
          <p:cNvPr id="405" name="Google Shape;405;p38"/>
          <p:cNvSpPr txBox="1"/>
          <p:nvPr/>
        </p:nvSpPr>
        <p:spPr>
          <a:xfrm>
            <a:off x="3138034" y="2359620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cxnSp>
        <p:nvCxnSpPr>
          <p:cNvPr id="406" name="Google Shape;406;p38"/>
          <p:cNvCxnSpPr>
            <a:stCxn id="393" idx="2"/>
            <a:endCxn id="404" idx="0"/>
          </p:cNvCxnSpPr>
          <p:nvPr/>
        </p:nvCxnSpPr>
        <p:spPr>
          <a:xfrm flipH="1">
            <a:off x="1418165" y="1837839"/>
            <a:ext cx="1457100" cy="6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38"/>
          <p:cNvCxnSpPr>
            <a:stCxn id="393" idx="2"/>
            <a:endCxn id="405" idx="0"/>
          </p:cNvCxnSpPr>
          <p:nvPr/>
        </p:nvCxnSpPr>
        <p:spPr>
          <a:xfrm>
            <a:off x="2875265" y="1837839"/>
            <a:ext cx="8544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8" name="Google Shape;408;p38"/>
          <p:cNvSpPr txBox="1"/>
          <p:nvPr/>
        </p:nvSpPr>
        <p:spPr>
          <a:xfrm>
            <a:off x="1432188" y="1874990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09" name="Google Shape;409;p38"/>
          <p:cNvSpPr txBox="1"/>
          <p:nvPr/>
        </p:nvSpPr>
        <p:spPr>
          <a:xfrm>
            <a:off x="3393377" y="184690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410" name="Google Shape;410;p38"/>
          <p:cNvSpPr txBox="1"/>
          <p:nvPr/>
        </p:nvSpPr>
        <p:spPr>
          <a:xfrm>
            <a:off x="5170884" y="2273821"/>
            <a:ext cx="11835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ribbed?</a:t>
            </a:r>
            <a:endParaRPr/>
          </a:p>
        </p:txBody>
      </p:sp>
      <p:sp>
        <p:nvSpPr>
          <p:cNvPr id="411" name="Google Shape;411;p38"/>
          <p:cNvSpPr txBox="1"/>
          <p:nvPr/>
        </p:nvSpPr>
        <p:spPr>
          <a:xfrm>
            <a:off x="7274029" y="2359658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lasagna</a:t>
            </a:r>
            <a:endParaRPr/>
          </a:p>
        </p:txBody>
      </p:sp>
      <p:cxnSp>
        <p:nvCxnSpPr>
          <p:cNvPr id="412" name="Google Shape;412;p38"/>
          <p:cNvCxnSpPr/>
          <p:nvPr/>
        </p:nvCxnSpPr>
        <p:spPr>
          <a:xfrm flipH="1">
            <a:off x="6091035" y="1745197"/>
            <a:ext cx="920400" cy="5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3" name="Google Shape;413;p38"/>
          <p:cNvCxnSpPr>
            <a:endCxn id="411" idx="0"/>
          </p:cNvCxnSpPr>
          <p:nvPr/>
        </p:nvCxnSpPr>
        <p:spPr>
          <a:xfrm>
            <a:off x="7011379" y="1745258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4" name="Google Shape;414;p38"/>
          <p:cNvSpPr txBox="1"/>
          <p:nvPr/>
        </p:nvSpPr>
        <p:spPr>
          <a:xfrm>
            <a:off x="5923120" y="181887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15" name="Google Shape;415;p38"/>
          <p:cNvSpPr txBox="1"/>
          <p:nvPr/>
        </p:nvSpPr>
        <p:spPr>
          <a:xfrm>
            <a:off x="7529372" y="1846941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416" name="Google Shape;416;p38"/>
          <p:cNvSpPr txBox="1"/>
          <p:nvPr/>
        </p:nvSpPr>
        <p:spPr>
          <a:xfrm>
            <a:off x="4159908" y="3295587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Rigatoni</a:t>
            </a:r>
            <a:endParaRPr/>
          </a:p>
        </p:txBody>
      </p:sp>
      <p:sp>
        <p:nvSpPr>
          <p:cNvPr id="417" name="Google Shape;417;p38"/>
          <p:cNvSpPr txBox="1"/>
          <p:nvPr/>
        </p:nvSpPr>
        <p:spPr>
          <a:xfrm>
            <a:off x="6471541" y="32057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ziti</a:t>
            </a:r>
            <a:endParaRPr/>
          </a:p>
        </p:txBody>
      </p:sp>
      <p:cxnSp>
        <p:nvCxnSpPr>
          <p:cNvPr id="418" name="Google Shape;418;p38"/>
          <p:cNvCxnSpPr>
            <a:endCxn id="416" idx="0"/>
          </p:cNvCxnSpPr>
          <p:nvPr/>
        </p:nvCxnSpPr>
        <p:spPr>
          <a:xfrm flipH="1">
            <a:off x="4751658" y="2591187"/>
            <a:ext cx="1457100" cy="7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38"/>
          <p:cNvCxnSpPr>
            <a:endCxn id="417" idx="0"/>
          </p:cNvCxnSpPr>
          <p:nvPr/>
        </p:nvCxnSpPr>
        <p:spPr>
          <a:xfrm>
            <a:off x="6208891" y="2591353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0" name="Google Shape;420;p38"/>
          <p:cNvSpPr txBox="1"/>
          <p:nvPr/>
        </p:nvSpPr>
        <p:spPr>
          <a:xfrm>
            <a:off x="4765696" y="272112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21" name="Google Shape;421;p38"/>
          <p:cNvSpPr txBox="1"/>
          <p:nvPr/>
        </p:nvSpPr>
        <p:spPr>
          <a:xfrm>
            <a:off x="6726885" y="2693036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422" name="Google Shape;422;p38"/>
          <p:cNvPicPr preferRelativeResize="0"/>
          <p:nvPr/>
        </p:nvPicPr>
        <p:blipFill rotWithShape="1">
          <a:blip r:embed="rId8">
            <a:alphaModFix/>
          </a:blip>
          <a:srcRect b="68320" l="25572" r="12538" t="10596"/>
          <a:stretch/>
        </p:blipFill>
        <p:spPr>
          <a:xfrm>
            <a:off x="4855391" y="1860610"/>
            <a:ext cx="1030275" cy="307538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8"/>
          <p:cNvSpPr txBox="1"/>
          <p:nvPr/>
        </p:nvSpPr>
        <p:spPr>
          <a:xfrm>
            <a:off x="4559525" y="1632800"/>
            <a:ext cx="1851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PASTA</a:t>
            </a:r>
            <a:endParaRPr/>
          </a:p>
        </p:txBody>
      </p:sp>
      <p:sp>
        <p:nvSpPr>
          <p:cNvPr id="424" name="Google Shape;424;p38"/>
          <p:cNvSpPr/>
          <p:nvPr/>
        </p:nvSpPr>
        <p:spPr>
          <a:xfrm>
            <a:off x="-32325" y="-25675"/>
            <a:ext cx="3273300" cy="129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5: </a:t>
            </a:r>
            <a:r>
              <a:rPr lang="en"/>
              <a:t>Use your pasta classifier to classify the test pasta’s you’ve been given.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well does your classifier work?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 txBox="1"/>
          <p:nvPr>
            <p:ph idx="12" type="sldNum"/>
          </p:nvPr>
        </p:nvSpPr>
        <p:spPr>
          <a:xfrm>
            <a:off x="8420174" y="4685588"/>
            <a:ext cx="5004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39"/>
          <p:cNvSpPr txBox="1"/>
          <p:nvPr/>
        </p:nvSpPr>
        <p:spPr>
          <a:xfrm>
            <a:off x="4159908" y="442175"/>
            <a:ext cx="11835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stuffed?</a:t>
            </a:r>
            <a:endParaRPr/>
          </a:p>
        </p:txBody>
      </p:sp>
      <p:sp>
        <p:nvSpPr>
          <p:cNvPr id="431" name="Google Shape;431;p39"/>
          <p:cNvSpPr txBox="1"/>
          <p:nvPr/>
        </p:nvSpPr>
        <p:spPr>
          <a:xfrm>
            <a:off x="2283515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round?</a:t>
            </a:r>
            <a:endParaRPr/>
          </a:p>
        </p:txBody>
      </p:sp>
      <p:sp>
        <p:nvSpPr>
          <p:cNvPr id="432" name="Google Shape;432;p39"/>
          <p:cNvSpPr txBox="1"/>
          <p:nvPr/>
        </p:nvSpPr>
        <p:spPr>
          <a:xfrm>
            <a:off x="6314286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hollow?</a:t>
            </a:r>
            <a:endParaRPr/>
          </a:p>
        </p:txBody>
      </p:sp>
      <p:cxnSp>
        <p:nvCxnSpPr>
          <p:cNvPr id="433" name="Google Shape;433;p39"/>
          <p:cNvCxnSpPr>
            <a:stCxn id="430" idx="2"/>
            <a:endCxn id="431" idx="0"/>
          </p:cNvCxnSpPr>
          <p:nvPr/>
        </p:nvCxnSpPr>
        <p:spPr>
          <a:xfrm flipH="1">
            <a:off x="2875158" y="842375"/>
            <a:ext cx="18765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39"/>
          <p:cNvCxnSpPr>
            <a:stCxn id="430" idx="2"/>
            <a:endCxn id="432" idx="0"/>
          </p:cNvCxnSpPr>
          <p:nvPr/>
        </p:nvCxnSpPr>
        <p:spPr>
          <a:xfrm>
            <a:off x="4751658" y="842375"/>
            <a:ext cx="21543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39"/>
          <p:cNvSpPr txBox="1"/>
          <p:nvPr/>
        </p:nvSpPr>
        <p:spPr>
          <a:xfrm>
            <a:off x="330858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36" name="Google Shape;436;p39"/>
          <p:cNvSpPr txBox="1"/>
          <p:nvPr/>
        </p:nvSpPr>
        <p:spPr>
          <a:xfrm>
            <a:off x="594943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437" name="Google Shape;4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959" y="2756991"/>
            <a:ext cx="1005207" cy="60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9"/>
          <p:cNvPicPr preferRelativeResize="0"/>
          <p:nvPr/>
        </p:nvPicPr>
        <p:blipFill rotWithShape="1">
          <a:blip r:embed="rId4">
            <a:alphaModFix/>
          </a:blip>
          <a:srcRect b="43259" l="49088" r="0" t="0"/>
          <a:stretch/>
        </p:blipFill>
        <p:spPr>
          <a:xfrm>
            <a:off x="6585819" y="3513385"/>
            <a:ext cx="955069" cy="62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9"/>
          <p:cNvPicPr preferRelativeResize="0"/>
          <p:nvPr/>
        </p:nvPicPr>
        <p:blipFill rotWithShape="1">
          <a:blip r:embed="rId5">
            <a:alphaModFix/>
          </a:blip>
          <a:srcRect b="0" l="0" r="0" t="32664"/>
          <a:stretch/>
        </p:blipFill>
        <p:spPr>
          <a:xfrm>
            <a:off x="4321523" y="3761310"/>
            <a:ext cx="955066" cy="65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9062" y="2683511"/>
            <a:ext cx="1167747" cy="84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7364" y="2800068"/>
            <a:ext cx="728519" cy="441718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9"/>
          <p:cNvSpPr txBox="1"/>
          <p:nvPr/>
        </p:nvSpPr>
        <p:spPr>
          <a:xfrm>
            <a:off x="826401" y="24494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Tortellini</a:t>
            </a:r>
            <a:endParaRPr/>
          </a:p>
        </p:txBody>
      </p:sp>
      <p:sp>
        <p:nvSpPr>
          <p:cNvPr id="443" name="Google Shape;443;p39"/>
          <p:cNvSpPr txBox="1"/>
          <p:nvPr/>
        </p:nvSpPr>
        <p:spPr>
          <a:xfrm>
            <a:off x="3138034" y="2359620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cxnSp>
        <p:nvCxnSpPr>
          <p:cNvPr id="444" name="Google Shape;444;p39"/>
          <p:cNvCxnSpPr>
            <a:stCxn id="431" idx="2"/>
            <a:endCxn id="442" idx="0"/>
          </p:cNvCxnSpPr>
          <p:nvPr/>
        </p:nvCxnSpPr>
        <p:spPr>
          <a:xfrm flipH="1">
            <a:off x="1418165" y="1837839"/>
            <a:ext cx="1457100" cy="6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39"/>
          <p:cNvCxnSpPr>
            <a:stCxn id="431" idx="2"/>
            <a:endCxn id="443" idx="0"/>
          </p:cNvCxnSpPr>
          <p:nvPr/>
        </p:nvCxnSpPr>
        <p:spPr>
          <a:xfrm>
            <a:off x="2875265" y="1837839"/>
            <a:ext cx="8544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39"/>
          <p:cNvSpPr txBox="1"/>
          <p:nvPr/>
        </p:nvSpPr>
        <p:spPr>
          <a:xfrm>
            <a:off x="1432188" y="1874990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47" name="Google Shape;447;p39"/>
          <p:cNvSpPr txBox="1"/>
          <p:nvPr/>
        </p:nvSpPr>
        <p:spPr>
          <a:xfrm>
            <a:off x="3393377" y="184690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448" name="Google Shape;448;p39"/>
          <p:cNvSpPr txBox="1"/>
          <p:nvPr/>
        </p:nvSpPr>
        <p:spPr>
          <a:xfrm>
            <a:off x="5170884" y="2273821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ribbed?</a:t>
            </a:r>
            <a:endParaRPr/>
          </a:p>
        </p:txBody>
      </p:sp>
      <p:sp>
        <p:nvSpPr>
          <p:cNvPr id="449" name="Google Shape;449;p39"/>
          <p:cNvSpPr txBox="1"/>
          <p:nvPr/>
        </p:nvSpPr>
        <p:spPr>
          <a:xfrm>
            <a:off x="7274029" y="2359658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lasagna</a:t>
            </a:r>
            <a:endParaRPr/>
          </a:p>
        </p:txBody>
      </p:sp>
      <p:cxnSp>
        <p:nvCxnSpPr>
          <p:cNvPr id="450" name="Google Shape;450;p39"/>
          <p:cNvCxnSpPr/>
          <p:nvPr/>
        </p:nvCxnSpPr>
        <p:spPr>
          <a:xfrm flipH="1">
            <a:off x="6091035" y="1745197"/>
            <a:ext cx="920400" cy="5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39"/>
          <p:cNvCxnSpPr>
            <a:endCxn id="449" idx="0"/>
          </p:cNvCxnSpPr>
          <p:nvPr/>
        </p:nvCxnSpPr>
        <p:spPr>
          <a:xfrm>
            <a:off x="7011379" y="1745258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39"/>
          <p:cNvSpPr txBox="1"/>
          <p:nvPr/>
        </p:nvSpPr>
        <p:spPr>
          <a:xfrm>
            <a:off x="5923120" y="181887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53" name="Google Shape;453;p39"/>
          <p:cNvSpPr txBox="1"/>
          <p:nvPr/>
        </p:nvSpPr>
        <p:spPr>
          <a:xfrm>
            <a:off x="7529372" y="1846941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454" name="Google Shape;454;p39"/>
          <p:cNvSpPr txBox="1"/>
          <p:nvPr/>
        </p:nvSpPr>
        <p:spPr>
          <a:xfrm>
            <a:off x="4159908" y="3295587"/>
            <a:ext cx="11835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Rigatoni</a:t>
            </a:r>
            <a:endParaRPr/>
          </a:p>
        </p:txBody>
      </p:sp>
      <p:sp>
        <p:nvSpPr>
          <p:cNvPr id="455" name="Google Shape;455;p39"/>
          <p:cNvSpPr txBox="1"/>
          <p:nvPr/>
        </p:nvSpPr>
        <p:spPr>
          <a:xfrm>
            <a:off x="6471541" y="32057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ziti</a:t>
            </a:r>
            <a:endParaRPr/>
          </a:p>
        </p:txBody>
      </p:sp>
      <p:cxnSp>
        <p:nvCxnSpPr>
          <p:cNvPr id="456" name="Google Shape;456;p39"/>
          <p:cNvCxnSpPr>
            <a:stCxn id="448" idx="2"/>
            <a:endCxn id="454" idx="0"/>
          </p:cNvCxnSpPr>
          <p:nvPr/>
        </p:nvCxnSpPr>
        <p:spPr>
          <a:xfrm flipH="1">
            <a:off x="4751634" y="2674021"/>
            <a:ext cx="10110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7" name="Google Shape;457;p39"/>
          <p:cNvCxnSpPr>
            <a:stCxn id="448" idx="2"/>
            <a:endCxn id="455" idx="0"/>
          </p:cNvCxnSpPr>
          <p:nvPr/>
        </p:nvCxnSpPr>
        <p:spPr>
          <a:xfrm>
            <a:off x="5762634" y="2674021"/>
            <a:ext cx="1300800" cy="5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8" name="Google Shape;458;p39"/>
          <p:cNvSpPr txBox="1"/>
          <p:nvPr/>
        </p:nvSpPr>
        <p:spPr>
          <a:xfrm>
            <a:off x="4765696" y="272112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59" name="Google Shape;459;p39"/>
          <p:cNvSpPr txBox="1"/>
          <p:nvPr/>
        </p:nvSpPr>
        <p:spPr>
          <a:xfrm>
            <a:off x="6726885" y="2693036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460" name="Google Shape;460;p39"/>
          <p:cNvSpPr/>
          <p:nvPr/>
        </p:nvSpPr>
        <p:spPr>
          <a:xfrm>
            <a:off x="-32325" y="-25675"/>
            <a:ext cx="3273300" cy="129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5: </a:t>
            </a:r>
            <a:r>
              <a:rPr lang="en"/>
              <a:t>Use your pasta classifier to classify the test pasta’s you’ve been given.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61" name="Google Shape;461;p39"/>
          <p:cNvSpPr txBox="1"/>
          <p:nvPr/>
        </p:nvSpPr>
        <p:spPr>
          <a:xfrm>
            <a:off x="126425" y="4351825"/>
            <a:ext cx="7677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</a:rPr>
              <a:t>How well does your classifier work?</a:t>
            </a:r>
            <a:endParaRPr b="1" sz="1900">
              <a:solidFill>
                <a:schemeClr val="accent5"/>
              </a:solidFill>
            </a:endParaRPr>
          </a:p>
        </p:txBody>
      </p:sp>
      <p:pic>
        <p:nvPicPr>
          <p:cNvPr id="462" name="Google Shape;462;p39"/>
          <p:cNvPicPr preferRelativeResize="0"/>
          <p:nvPr/>
        </p:nvPicPr>
        <p:blipFill rotWithShape="1">
          <a:blip r:embed="rId8">
            <a:alphaModFix/>
          </a:blip>
          <a:srcRect b="68320" l="25572" r="12538" t="10596"/>
          <a:stretch/>
        </p:blipFill>
        <p:spPr>
          <a:xfrm>
            <a:off x="4965053" y="3870035"/>
            <a:ext cx="1030275" cy="307538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0"/>
          <p:cNvSpPr txBox="1"/>
          <p:nvPr>
            <p:ph idx="12" type="sldNum"/>
          </p:nvPr>
        </p:nvSpPr>
        <p:spPr>
          <a:xfrm>
            <a:off x="8420174" y="4685588"/>
            <a:ext cx="5004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40"/>
          <p:cNvSpPr txBox="1"/>
          <p:nvPr/>
        </p:nvSpPr>
        <p:spPr>
          <a:xfrm>
            <a:off x="4159908" y="442175"/>
            <a:ext cx="11835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stuffed?</a:t>
            </a:r>
            <a:endParaRPr/>
          </a:p>
        </p:txBody>
      </p:sp>
      <p:sp>
        <p:nvSpPr>
          <p:cNvPr id="469" name="Google Shape;469;p40"/>
          <p:cNvSpPr txBox="1"/>
          <p:nvPr/>
        </p:nvSpPr>
        <p:spPr>
          <a:xfrm>
            <a:off x="2283515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round?</a:t>
            </a:r>
            <a:endParaRPr/>
          </a:p>
        </p:txBody>
      </p:sp>
      <p:sp>
        <p:nvSpPr>
          <p:cNvPr id="470" name="Google Shape;470;p40"/>
          <p:cNvSpPr txBox="1"/>
          <p:nvPr/>
        </p:nvSpPr>
        <p:spPr>
          <a:xfrm>
            <a:off x="6314286" y="1437639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hollow?</a:t>
            </a:r>
            <a:endParaRPr/>
          </a:p>
        </p:txBody>
      </p:sp>
      <p:cxnSp>
        <p:nvCxnSpPr>
          <p:cNvPr id="471" name="Google Shape;471;p40"/>
          <p:cNvCxnSpPr>
            <a:stCxn id="468" idx="2"/>
            <a:endCxn id="469" idx="0"/>
          </p:cNvCxnSpPr>
          <p:nvPr/>
        </p:nvCxnSpPr>
        <p:spPr>
          <a:xfrm flipH="1">
            <a:off x="2875158" y="842375"/>
            <a:ext cx="18765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40"/>
          <p:cNvCxnSpPr>
            <a:stCxn id="468" idx="2"/>
            <a:endCxn id="470" idx="0"/>
          </p:cNvCxnSpPr>
          <p:nvPr/>
        </p:nvCxnSpPr>
        <p:spPr>
          <a:xfrm>
            <a:off x="4751658" y="842375"/>
            <a:ext cx="2154300" cy="5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40"/>
          <p:cNvSpPr txBox="1"/>
          <p:nvPr/>
        </p:nvSpPr>
        <p:spPr>
          <a:xfrm>
            <a:off x="330858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74" name="Google Shape;474;p40"/>
          <p:cNvSpPr txBox="1"/>
          <p:nvPr/>
        </p:nvSpPr>
        <p:spPr>
          <a:xfrm>
            <a:off x="5949432" y="938082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475" name="Google Shape;47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959" y="2756991"/>
            <a:ext cx="1005207" cy="60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0"/>
          <p:cNvPicPr preferRelativeResize="0"/>
          <p:nvPr/>
        </p:nvPicPr>
        <p:blipFill rotWithShape="1">
          <a:blip r:embed="rId4">
            <a:alphaModFix/>
          </a:blip>
          <a:srcRect b="43259" l="49088" r="0" t="0"/>
          <a:stretch/>
        </p:blipFill>
        <p:spPr>
          <a:xfrm>
            <a:off x="6585819" y="3513385"/>
            <a:ext cx="955069" cy="62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0"/>
          <p:cNvPicPr preferRelativeResize="0"/>
          <p:nvPr/>
        </p:nvPicPr>
        <p:blipFill rotWithShape="1">
          <a:blip r:embed="rId5">
            <a:alphaModFix/>
          </a:blip>
          <a:srcRect b="0" l="0" r="0" t="32664"/>
          <a:stretch/>
        </p:blipFill>
        <p:spPr>
          <a:xfrm>
            <a:off x="4321523" y="3761310"/>
            <a:ext cx="955066" cy="65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9062" y="2683511"/>
            <a:ext cx="1167747" cy="84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7364" y="2800068"/>
            <a:ext cx="728519" cy="441718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0"/>
          <p:cNvSpPr txBox="1"/>
          <p:nvPr/>
        </p:nvSpPr>
        <p:spPr>
          <a:xfrm>
            <a:off x="826401" y="24494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Tortellini</a:t>
            </a:r>
            <a:endParaRPr/>
          </a:p>
        </p:txBody>
      </p:sp>
      <p:sp>
        <p:nvSpPr>
          <p:cNvPr id="481" name="Google Shape;481;p40"/>
          <p:cNvSpPr txBox="1"/>
          <p:nvPr/>
        </p:nvSpPr>
        <p:spPr>
          <a:xfrm>
            <a:off x="3138034" y="2359620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cxnSp>
        <p:nvCxnSpPr>
          <p:cNvPr id="482" name="Google Shape;482;p40"/>
          <p:cNvCxnSpPr>
            <a:stCxn id="469" idx="2"/>
            <a:endCxn id="480" idx="0"/>
          </p:cNvCxnSpPr>
          <p:nvPr/>
        </p:nvCxnSpPr>
        <p:spPr>
          <a:xfrm flipH="1">
            <a:off x="1418165" y="1837839"/>
            <a:ext cx="1457100" cy="6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" name="Google Shape;483;p40"/>
          <p:cNvCxnSpPr>
            <a:stCxn id="469" idx="2"/>
            <a:endCxn id="481" idx="0"/>
          </p:cNvCxnSpPr>
          <p:nvPr/>
        </p:nvCxnSpPr>
        <p:spPr>
          <a:xfrm>
            <a:off x="2875265" y="1837839"/>
            <a:ext cx="8544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4" name="Google Shape;484;p40"/>
          <p:cNvSpPr txBox="1"/>
          <p:nvPr/>
        </p:nvSpPr>
        <p:spPr>
          <a:xfrm>
            <a:off x="1432188" y="1874990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85" name="Google Shape;485;p40"/>
          <p:cNvSpPr txBox="1"/>
          <p:nvPr/>
        </p:nvSpPr>
        <p:spPr>
          <a:xfrm>
            <a:off x="3393377" y="184690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486" name="Google Shape;486;p40"/>
          <p:cNvSpPr txBox="1"/>
          <p:nvPr/>
        </p:nvSpPr>
        <p:spPr>
          <a:xfrm>
            <a:off x="5170884" y="2273821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ribbed?</a:t>
            </a:r>
            <a:endParaRPr/>
          </a:p>
        </p:txBody>
      </p:sp>
      <p:sp>
        <p:nvSpPr>
          <p:cNvPr id="487" name="Google Shape;487;p40"/>
          <p:cNvSpPr txBox="1"/>
          <p:nvPr/>
        </p:nvSpPr>
        <p:spPr>
          <a:xfrm>
            <a:off x="7274029" y="2359658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lasagna</a:t>
            </a:r>
            <a:endParaRPr/>
          </a:p>
        </p:txBody>
      </p:sp>
      <p:cxnSp>
        <p:nvCxnSpPr>
          <p:cNvPr id="488" name="Google Shape;488;p40"/>
          <p:cNvCxnSpPr/>
          <p:nvPr/>
        </p:nvCxnSpPr>
        <p:spPr>
          <a:xfrm flipH="1">
            <a:off x="6091035" y="1745197"/>
            <a:ext cx="920400" cy="5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40"/>
          <p:cNvCxnSpPr>
            <a:endCxn id="487" idx="0"/>
          </p:cNvCxnSpPr>
          <p:nvPr/>
        </p:nvCxnSpPr>
        <p:spPr>
          <a:xfrm>
            <a:off x="7011379" y="1745258"/>
            <a:ext cx="85440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0" name="Google Shape;490;p40"/>
          <p:cNvSpPr txBox="1"/>
          <p:nvPr/>
        </p:nvSpPr>
        <p:spPr>
          <a:xfrm>
            <a:off x="5923120" y="181887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91" name="Google Shape;491;p40"/>
          <p:cNvSpPr txBox="1"/>
          <p:nvPr/>
        </p:nvSpPr>
        <p:spPr>
          <a:xfrm>
            <a:off x="7529372" y="1846941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492" name="Google Shape;492;p40"/>
          <p:cNvSpPr txBox="1"/>
          <p:nvPr/>
        </p:nvSpPr>
        <p:spPr>
          <a:xfrm>
            <a:off x="4159908" y="3295587"/>
            <a:ext cx="11835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Rigatoni</a:t>
            </a:r>
            <a:endParaRPr/>
          </a:p>
        </p:txBody>
      </p:sp>
      <p:sp>
        <p:nvSpPr>
          <p:cNvPr id="493" name="Google Shape;493;p40"/>
          <p:cNvSpPr txBox="1"/>
          <p:nvPr/>
        </p:nvSpPr>
        <p:spPr>
          <a:xfrm>
            <a:off x="6471541" y="3205753"/>
            <a:ext cx="1183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ziti</a:t>
            </a:r>
            <a:endParaRPr/>
          </a:p>
        </p:txBody>
      </p:sp>
      <p:cxnSp>
        <p:nvCxnSpPr>
          <p:cNvPr id="494" name="Google Shape;494;p40"/>
          <p:cNvCxnSpPr>
            <a:stCxn id="486" idx="2"/>
            <a:endCxn id="492" idx="0"/>
          </p:cNvCxnSpPr>
          <p:nvPr/>
        </p:nvCxnSpPr>
        <p:spPr>
          <a:xfrm flipH="1">
            <a:off x="4751634" y="2674021"/>
            <a:ext cx="10110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p40"/>
          <p:cNvCxnSpPr>
            <a:stCxn id="486" idx="2"/>
            <a:endCxn id="493" idx="0"/>
          </p:cNvCxnSpPr>
          <p:nvPr/>
        </p:nvCxnSpPr>
        <p:spPr>
          <a:xfrm>
            <a:off x="5762634" y="2674021"/>
            <a:ext cx="1300800" cy="5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6" name="Google Shape;496;p40"/>
          <p:cNvSpPr txBox="1"/>
          <p:nvPr/>
        </p:nvSpPr>
        <p:spPr>
          <a:xfrm>
            <a:off x="4765696" y="2721123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</a:t>
            </a:r>
            <a:endParaRPr/>
          </a:p>
        </p:txBody>
      </p:sp>
      <p:sp>
        <p:nvSpPr>
          <p:cNvPr id="497" name="Google Shape;497;p40"/>
          <p:cNvSpPr txBox="1"/>
          <p:nvPr/>
        </p:nvSpPr>
        <p:spPr>
          <a:xfrm>
            <a:off x="6726885" y="2693036"/>
            <a:ext cx="5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pic>
        <p:nvPicPr>
          <p:cNvPr id="498" name="Google Shape;498;p40"/>
          <p:cNvPicPr preferRelativeResize="0"/>
          <p:nvPr/>
        </p:nvPicPr>
        <p:blipFill rotWithShape="1">
          <a:blip r:embed="rId8">
            <a:alphaModFix/>
          </a:blip>
          <a:srcRect b="68320" l="25572" r="12538" t="10596"/>
          <a:stretch/>
        </p:blipFill>
        <p:spPr>
          <a:xfrm>
            <a:off x="4965053" y="3870035"/>
            <a:ext cx="1030275" cy="307538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499" name="Google Shape;499;p40"/>
          <p:cNvSpPr/>
          <p:nvPr/>
        </p:nvSpPr>
        <p:spPr>
          <a:xfrm>
            <a:off x="-32325" y="-25675"/>
            <a:ext cx="3273300" cy="129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5: </a:t>
            </a:r>
            <a:r>
              <a:rPr lang="en"/>
              <a:t>Use your pasta classifier to classify the test pasta’s you’ve been given.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00" name="Google Shape;500;p40"/>
          <p:cNvSpPr txBox="1"/>
          <p:nvPr/>
        </p:nvSpPr>
        <p:spPr>
          <a:xfrm>
            <a:off x="126425" y="4351825"/>
            <a:ext cx="7677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</a:rPr>
              <a:t>How well does your classifier work?</a:t>
            </a:r>
            <a:endParaRPr b="1" sz="1900">
              <a:solidFill>
                <a:schemeClr val="accent5"/>
              </a:solidFill>
            </a:endParaRPr>
          </a:p>
        </p:txBody>
      </p:sp>
      <p:sp>
        <p:nvSpPr>
          <p:cNvPr id="501" name="Google Shape;501;p40"/>
          <p:cNvSpPr txBox="1"/>
          <p:nvPr/>
        </p:nvSpPr>
        <p:spPr>
          <a:xfrm>
            <a:off x="4411925" y="4402825"/>
            <a:ext cx="4278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incorrectly classifies Penne as Rigatoni.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are very similar but not the same.</a:t>
            </a:r>
            <a:endParaRPr/>
          </a:p>
        </p:txBody>
      </p:sp>
      <p:sp>
        <p:nvSpPr>
          <p:cNvPr id="502" name="Google Shape;502;p40"/>
          <p:cNvSpPr txBox="1"/>
          <p:nvPr/>
        </p:nvSpPr>
        <p:spPr>
          <a:xfrm>
            <a:off x="369200" y="4698450"/>
            <a:ext cx="40428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forget to update your data collection sheet.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1"/>
          <p:cNvSpPr txBox="1"/>
          <p:nvPr>
            <p:ph type="title"/>
          </p:nvPr>
        </p:nvSpPr>
        <p:spPr>
          <a:xfrm>
            <a:off x="36645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Set - Data Collection Sheet</a:t>
            </a:r>
            <a:endParaRPr/>
          </a:p>
        </p:txBody>
      </p:sp>
      <p:sp>
        <p:nvSpPr>
          <p:cNvPr id="508" name="Google Shape;50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09" name="Google Shape;509;p41"/>
          <p:cNvGraphicFramePr/>
          <p:nvPr/>
        </p:nvGraphicFramePr>
        <p:xfrm>
          <a:off x="3109125" y="109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{83BA5305-38E3-4DBB-8C32-9BC6BFC2FCE0}</a:tableStyleId>
              </a:tblPr>
              <a:tblGrid>
                <a:gridCol w="1357325"/>
                <a:gridCol w="1357325"/>
                <a:gridCol w="1357325"/>
                <a:gridCol w="135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What did you classifier it as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Correctly classified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Incorrectly classified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Penne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Rigatoni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Mezzaluna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Ravioli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Lasagna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Calamarata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0" name="Google Shape;510;p41"/>
          <p:cNvSpPr/>
          <p:nvPr/>
        </p:nvSpPr>
        <p:spPr>
          <a:xfrm>
            <a:off x="-32325" y="279125"/>
            <a:ext cx="2992200" cy="129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5: </a:t>
            </a:r>
            <a:r>
              <a:rPr lang="en"/>
              <a:t>Use your pasta classifier to classify the test pasta’s you’ve been given.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well does your classifier work?</a:t>
            </a:r>
            <a:endParaRPr b="1"/>
          </a:p>
        </p:txBody>
      </p:sp>
      <p:pic>
        <p:nvPicPr>
          <p:cNvPr id="511" name="Google Shape;511;p41"/>
          <p:cNvPicPr preferRelativeResize="0"/>
          <p:nvPr/>
        </p:nvPicPr>
        <p:blipFill rotWithShape="1">
          <a:blip r:embed="rId3">
            <a:alphaModFix/>
          </a:blip>
          <a:srcRect b="68320" l="25572" r="12538" t="10596"/>
          <a:stretch/>
        </p:blipFill>
        <p:spPr>
          <a:xfrm>
            <a:off x="1568700" y="1490125"/>
            <a:ext cx="1385800" cy="49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1"/>
          <p:cNvPicPr preferRelativeResize="0"/>
          <p:nvPr/>
        </p:nvPicPr>
        <p:blipFill rotWithShape="1">
          <a:blip r:embed="rId4">
            <a:alphaModFix/>
          </a:blip>
          <a:srcRect b="22678" l="16500" r="12345" t="25708"/>
          <a:stretch/>
        </p:blipFill>
        <p:spPr>
          <a:xfrm>
            <a:off x="1885694" y="1981050"/>
            <a:ext cx="1074176" cy="779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1"/>
          <p:cNvPicPr preferRelativeResize="0"/>
          <p:nvPr/>
        </p:nvPicPr>
        <p:blipFill rotWithShape="1">
          <a:blip r:embed="rId5">
            <a:alphaModFix/>
          </a:blip>
          <a:srcRect b="22438" l="0" r="0" t="0"/>
          <a:stretch/>
        </p:blipFill>
        <p:spPr>
          <a:xfrm>
            <a:off x="1909055" y="2685325"/>
            <a:ext cx="1027450" cy="7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41"/>
          <p:cNvPicPr preferRelativeResize="0"/>
          <p:nvPr/>
        </p:nvPicPr>
        <p:blipFill rotWithShape="1">
          <a:blip r:embed="rId6">
            <a:alphaModFix/>
          </a:blip>
          <a:srcRect b="0" l="0" r="62291" t="0"/>
          <a:stretch/>
        </p:blipFill>
        <p:spPr>
          <a:xfrm>
            <a:off x="2514567" y="3464536"/>
            <a:ext cx="285650" cy="138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2"/>
          <p:cNvSpPr txBox="1"/>
          <p:nvPr>
            <p:ph type="title"/>
          </p:nvPr>
        </p:nvSpPr>
        <p:spPr>
          <a:xfrm>
            <a:off x="243550" y="88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Set - Try Another pasta </a:t>
            </a:r>
            <a:endParaRPr/>
          </a:p>
        </p:txBody>
      </p:sp>
      <p:sp>
        <p:nvSpPr>
          <p:cNvPr id="520" name="Google Shape;52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1" name="Google Shape;521;p42"/>
          <p:cNvPicPr preferRelativeResize="0"/>
          <p:nvPr/>
        </p:nvPicPr>
        <p:blipFill rotWithShape="1">
          <a:blip r:embed="rId3">
            <a:alphaModFix/>
          </a:blip>
          <a:srcRect b="25672" l="0" r="63689" t="0"/>
          <a:stretch/>
        </p:blipFill>
        <p:spPr>
          <a:xfrm>
            <a:off x="587625" y="1411537"/>
            <a:ext cx="1193200" cy="17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2"/>
          <p:cNvPicPr preferRelativeResize="0"/>
          <p:nvPr/>
        </p:nvPicPr>
        <p:blipFill rotWithShape="1">
          <a:blip r:embed="rId4">
            <a:alphaModFix/>
          </a:blip>
          <a:srcRect b="0" l="0" r="62291" t="0"/>
          <a:stretch/>
        </p:blipFill>
        <p:spPr>
          <a:xfrm>
            <a:off x="4286338" y="1118463"/>
            <a:ext cx="78710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42"/>
          <p:cNvPicPr preferRelativeResize="0"/>
          <p:nvPr/>
        </p:nvPicPr>
        <p:blipFill rotWithShape="1">
          <a:blip r:embed="rId5">
            <a:alphaModFix/>
          </a:blip>
          <a:srcRect b="22678" l="16500" r="12345" t="25708"/>
          <a:stretch/>
        </p:blipFill>
        <p:spPr>
          <a:xfrm>
            <a:off x="1885688" y="1106750"/>
            <a:ext cx="1998050" cy="144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2"/>
          <p:cNvSpPr txBox="1"/>
          <p:nvPr/>
        </p:nvSpPr>
        <p:spPr>
          <a:xfrm>
            <a:off x="2288163" y="2581675"/>
            <a:ext cx="1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Mezzaluna</a:t>
            </a:r>
            <a:endParaRPr/>
          </a:p>
        </p:txBody>
      </p:sp>
      <p:sp>
        <p:nvSpPr>
          <p:cNvPr id="525" name="Google Shape;525;p42"/>
          <p:cNvSpPr txBox="1"/>
          <p:nvPr/>
        </p:nvSpPr>
        <p:spPr>
          <a:xfrm>
            <a:off x="587625" y="3326625"/>
            <a:ext cx="208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Mafaldine</a:t>
            </a:r>
            <a:endParaRPr/>
          </a:p>
        </p:txBody>
      </p:sp>
      <p:pic>
        <p:nvPicPr>
          <p:cNvPr id="526" name="Google Shape;526;p42"/>
          <p:cNvPicPr preferRelativeResize="0"/>
          <p:nvPr/>
        </p:nvPicPr>
        <p:blipFill rotWithShape="1">
          <a:blip r:embed="rId4">
            <a:alphaModFix/>
          </a:blip>
          <a:srcRect b="679" l="63473" r="-1258" t="9963"/>
          <a:stretch/>
        </p:blipFill>
        <p:spPr>
          <a:xfrm>
            <a:off x="5516064" y="1321838"/>
            <a:ext cx="788675" cy="341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2"/>
          <p:cNvPicPr preferRelativeResize="0"/>
          <p:nvPr/>
        </p:nvPicPr>
        <p:blipFill rotWithShape="1">
          <a:blip r:embed="rId6">
            <a:alphaModFix/>
          </a:blip>
          <a:srcRect b="3312" l="26200" r="57077" t="66180"/>
          <a:stretch/>
        </p:blipFill>
        <p:spPr>
          <a:xfrm>
            <a:off x="6975972" y="2819388"/>
            <a:ext cx="1289801" cy="156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2"/>
          <p:cNvSpPr txBox="1"/>
          <p:nvPr/>
        </p:nvSpPr>
        <p:spPr>
          <a:xfrm>
            <a:off x="7141950" y="4488825"/>
            <a:ext cx="13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Calamarata</a:t>
            </a:r>
            <a:endParaRPr/>
          </a:p>
        </p:txBody>
      </p:sp>
      <p:pic>
        <p:nvPicPr>
          <p:cNvPr id="529" name="Google Shape;529;p42"/>
          <p:cNvPicPr preferRelativeResize="0"/>
          <p:nvPr/>
        </p:nvPicPr>
        <p:blipFill rotWithShape="1">
          <a:blip r:embed="rId7">
            <a:alphaModFix/>
          </a:blip>
          <a:srcRect b="22438" l="0" r="0" t="0"/>
          <a:stretch/>
        </p:blipFill>
        <p:spPr>
          <a:xfrm>
            <a:off x="6393037" y="627525"/>
            <a:ext cx="2371121" cy="17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2"/>
          <p:cNvSpPr txBox="1"/>
          <p:nvPr/>
        </p:nvSpPr>
        <p:spPr>
          <a:xfrm>
            <a:off x="2133388" y="378155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Penne</a:t>
            </a:r>
            <a:endParaRPr/>
          </a:p>
        </p:txBody>
      </p:sp>
      <p:sp>
        <p:nvSpPr>
          <p:cNvPr id="531" name="Google Shape;531;p42"/>
          <p:cNvSpPr txBox="1"/>
          <p:nvPr/>
        </p:nvSpPr>
        <p:spPr>
          <a:xfrm>
            <a:off x="6805325" y="229318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Ravioli</a:t>
            </a:r>
            <a:endParaRPr/>
          </a:p>
        </p:txBody>
      </p:sp>
      <p:pic>
        <p:nvPicPr>
          <p:cNvPr id="532" name="Google Shape;532;p42"/>
          <p:cNvPicPr preferRelativeResize="0"/>
          <p:nvPr/>
        </p:nvPicPr>
        <p:blipFill rotWithShape="1">
          <a:blip r:embed="rId8">
            <a:alphaModFix/>
          </a:blip>
          <a:srcRect b="68320" l="25572" r="12538" t="10596"/>
          <a:stretch/>
        </p:blipFill>
        <p:spPr>
          <a:xfrm>
            <a:off x="1699175" y="2945623"/>
            <a:ext cx="2371100" cy="839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42"/>
          <p:cNvPicPr preferRelativeResize="0"/>
          <p:nvPr/>
        </p:nvPicPr>
        <p:blipFill rotWithShape="1">
          <a:blip r:embed="rId9">
            <a:alphaModFix/>
          </a:blip>
          <a:srcRect b="16044" l="0" r="15196" t="13273"/>
          <a:stretch/>
        </p:blipFill>
        <p:spPr>
          <a:xfrm>
            <a:off x="67400" y="3803023"/>
            <a:ext cx="1998025" cy="1144327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2"/>
          <p:cNvSpPr txBox="1"/>
          <p:nvPr/>
        </p:nvSpPr>
        <p:spPr>
          <a:xfrm>
            <a:off x="533188" y="477215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</a:t>
            </a:r>
            <a:endParaRPr/>
          </a:p>
        </p:txBody>
      </p:sp>
      <p:sp>
        <p:nvSpPr>
          <p:cNvPr id="535" name="Google Shape;535;p42"/>
          <p:cNvSpPr/>
          <p:nvPr/>
        </p:nvSpPr>
        <p:spPr>
          <a:xfrm>
            <a:off x="1810250" y="2999100"/>
            <a:ext cx="2269800" cy="1144200"/>
          </a:xfrm>
          <a:prstGeom prst="rect">
            <a:avLst/>
          </a:prstGeom>
          <a:solidFill>
            <a:srgbClr val="EEEEEE">
              <a:alpha val="578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3"/>
          <p:cNvSpPr txBox="1"/>
          <p:nvPr>
            <p:ph type="title"/>
          </p:nvPr>
        </p:nvSpPr>
        <p:spPr>
          <a:xfrm>
            <a:off x="36645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Set - Data Collection Sheet</a:t>
            </a:r>
            <a:endParaRPr/>
          </a:p>
        </p:txBody>
      </p:sp>
      <p:sp>
        <p:nvSpPr>
          <p:cNvPr id="541" name="Google Shape;54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42" name="Google Shape;542;p43"/>
          <p:cNvGraphicFramePr/>
          <p:nvPr/>
        </p:nvGraphicFramePr>
        <p:xfrm>
          <a:off x="3109125" y="109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{83BA5305-38E3-4DBB-8C32-9BC6BFC2FCE0}</a:tableStyleId>
              </a:tblPr>
              <a:tblGrid>
                <a:gridCol w="1357325"/>
                <a:gridCol w="1357325"/>
                <a:gridCol w="1357325"/>
                <a:gridCol w="135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What did you classifier it as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Correctly classified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Incorrectly classified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Penne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Rigatoni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Mezzaluna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Tortellini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Ravioli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Tortellini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Lasagna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Mini-Lasagna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Calamarata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Ziti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43" name="Google Shape;543;p43"/>
          <p:cNvSpPr/>
          <p:nvPr/>
        </p:nvSpPr>
        <p:spPr>
          <a:xfrm>
            <a:off x="43875" y="33025"/>
            <a:ext cx="5074800" cy="490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How well does your classifier work?</a:t>
            </a:r>
            <a:endParaRPr b="1" sz="2100">
              <a:solidFill>
                <a:schemeClr val="accent5"/>
              </a:solidFill>
            </a:endParaRPr>
          </a:p>
        </p:txBody>
      </p:sp>
      <p:pic>
        <p:nvPicPr>
          <p:cNvPr id="544" name="Google Shape;544;p43"/>
          <p:cNvPicPr preferRelativeResize="0"/>
          <p:nvPr/>
        </p:nvPicPr>
        <p:blipFill rotWithShape="1">
          <a:blip r:embed="rId3">
            <a:alphaModFix/>
          </a:blip>
          <a:srcRect b="68320" l="25572" r="12538" t="10596"/>
          <a:stretch/>
        </p:blipFill>
        <p:spPr>
          <a:xfrm>
            <a:off x="1568700" y="1490125"/>
            <a:ext cx="1385800" cy="49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43"/>
          <p:cNvPicPr preferRelativeResize="0"/>
          <p:nvPr/>
        </p:nvPicPr>
        <p:blipFill rotWithShape="1">
          <a:blip r:embed="rId4">
            <a:alphaModFix/>
          </a:blip>
          <a:srcRect b="22678" l="16500" r="12345" t="25708"/>
          <a:stretch/>
        </p:blipFill>
        <p:spPr>
          <a:xfrm>
            <a:off x="1885694" y="1981050"/>
            <a:ext cx="1074176" cy="779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3"/>
          <p:cNvPicPr preferRelativeResize="0"/>
          <p:nvPr/>
        </p:nvPicPr>
        <p:blipFill rotWithShape="1">
          <a:blip r:embed="rId5">
            <a:alphaModFix/>
          </a:blip>
          <a:srcRect b="22438" l="0" r="0" t="0"/>
          <a:stretch/>
        </p:blipFill>
        <p:spPr>
          <a:xfrm>
            <a:off x="1909055" y="2685325"/>
            <a:ext cx="1027450" cy="7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43"/>
          <p:cNvPicPr preferRelativeResize="0"/>
          <p:nvPr/>
        </p:nvPicPr>
        <p:blipFill rotWithShape="1">
          <a:blip r:embed="rId6">
            <a:alphaModFix/>
          </a:blip>
          <a:srcRect b="0" l="0" r="62291" t="0"/>
          <a:stretch/>
        </p:blipFill>
        <p:spPr>
          <a:xfrm>
            <a:off x="2514567" y="3464536"/>
            <a:ext cx="285650" cy="138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"/>
          <p:cNvSpPr txBox="1"/>
          <p:nvPr>
            <p:ph type="title"/>
          </p:nvPr>
        </p:nvSpPr>
        <p:spPr>
          <a:xfrm>
            <a:off x="311700" y="64025"/>
            <a:ext cx="8520600" cy="8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55">
                <a:solidFill>
                  <a:schemeClr val="accent5"/>
                </a:solidFill>
                <a:highlight>
                  <a:schemeClr val="accent6"/>
                </a:highlight>
              </a:rPr>
              <a:t>Use the results of your data collection to evaluate your classifier</a:t>
            </a:r>
            <a:endParaRPr i="1" sz="2355">
              <a:solidFill>
                <a:schemeClr val="accent5"/>
              </a:solidFill>
              <a:highlight>
                <a:schemeClr val="accent6"/>
              </a:highlight>
            </a:endParaRPr>
          </a:p>
        </p:txBody>
      </p:sp>
      <p:sp>
        <p:nvSpPr>
          <p:cNvPr id="553" name="Google Shape;55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4" name="Google Shape;554;p44"/>
          <p:cNvSpPr/>
          <p:nvPr/>
        </p:nvSpPr>
        <p:spPr>
          <a:xfrm>
            <a:off x="111250" y="1017725"/>
            <a:ext cx="2898000" cy="421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How well did your pasta classifier do on this new test set? What pastas did it classify incorrectly? </a:t>
            </a:r>
            <a:endParaRPr b="1" sz="1100"/>
          </a:p>
        </p:txBody>
      </p:sp>
      <p:sp>
        <p:nvSpPr>
          <p:cNvPr id="555" name="Google Shape;555;p44"/>
          <p:cNvSpPr/>
          <p:nvPr/>
        </p:nvSpPr>
        <p:spPr>
          <a:xfrm>
            <a:off x="3117200" y="925500"/>
            <a:ext cx="2898000" cy="421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Were your features flexible enough to allow you to classify new pasta? Why or why not?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6123150" y="938350"/>
            <a:ext cx="2898000" cy="421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How would you change your features to allow them to better classify a wider range of pastas?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describe each of our pasta’s to a computer?</a:t>
            </a:r>
            <a:endParaRPr/>
          </a:p>
        </p:txBody>
      </p:sp>
      <p:sp>
        <p:nvSpPr>
          <p:cNvPr id="562" name="Google Shape;56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9999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we’ve created our classifier</a:t>
            </a:r>
            <a:endParaRPr/>
          </a:p>
        </p:txBody>
      </p:sp>
      <p:sp>
        <p:nvSpPr>
          <p:cNvPr id="569" name="Google Shape;569;p46"/>
          <p:cNvSpPr txBox="1"/>
          <p:nvPr>
            <p:ph idx="1" type="body"/>
          </p:nvPr>
        </p:nvSpPr>
        <p:spPr>
          <a:xfrm>
            <a:off x="311700" y="1073600"/>
            <a:ext cx="85206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describe pasta using feature vectors.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feature </a:t>
            </a:r>
            <a:r>
              <a:rPr lang="en">
                <a:solidFill>
                  <a:schemeClr val="dk1"/>
                </a:solidFill>
              </a:rPr>
              <a:t>is a property of a thing we are trying to describe.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featurE Vector</a:t>
            </a:r>
            <a:r>
              <a:rPr lang="en"/>
              <a:t> is an ordered list of properties.</a:t>
            </a:r>
            <a:endParaRPr/>
          </a:p>
        </p:txBody>
      </p:sp>
      <p:graphicFrame>
        <p:nvGraphicFramePr>
          <p:cNvPr id="570" name="Google Shape;570;p46"/>
          <p:cNvGraphicFramePr/>
          <p:nvPr/>
        </p:nvGraphicFramePr>
        <p:xfrm>
          <a:off x="395550" y="3092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{83BA5305-38E3-4DBB-8C32-9BC6BFC2FCE0}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00"/>
                          </a:highlight>
                        </a:rPr>
                        <a:t>Is it long?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00"/>
                          </a:highlight>
                        </a:rPr>
                        <a:t>Is it wide?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00"/>
                          </a:highlight>
                        </a:rPr>
                        <a:t>Is it stuffed?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71" name="Google Shape;571;p46"/>
          <p:cNvSpPr txBox="1"/>
          <p:nvPr/>
        </p:nvSpPr>
        <p:spPr>
          <a:xfrm>
            <a:off x="311700" y="2631000"/>
            <a:ext cx="407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Our feature vector: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9999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Vector Description of Pasta</a:t>
            </a:r>
            <a:endParaRPr/>
          </a:p>
        </p:txBody>
      </p:sp>
      <p:sp>
        <p:nvSpPr>
          <p:cNvPr id="578" name="Google Shape;578;p47"/>
          <p:cNvSpPr txBox="1"/>
          <p:nvPr>
            <p:ph idx="1" type="body"/>
          </p:nvPr>
        </p:nvSpPr>
        <p:spPr>
          <a:xfrm>
            <a:off x="311700" y="1000075"/>
            <a:ext cx="8520600" cy="10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created a language for describing pasta that is useful for machine learning.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br>
              <a:rPr lang="en"/>
            </a:br>
            <a:r>
              <a:rPr lang="en"/>
              <a:t>Your data is a feature vector - it isn’t a picture of pasta.</a:t>
            </a:r>
            <a:endParaRPr/>
          </a:p>
        </p:txBody>
      </p:sp>
      <p:graphicFrame>
        <p:nvGraphicFramePr>
          <p:cNvPr id="579" name="Google Shape;579;p47"/>
          <p:cNvGraphicFramePr/>
          <p:nvPr/>
        </p:nvGraphicFramePr>
        <p:xfrm>
          <a:off x="913450" y="224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{83BA5305-38E3-4DBB-8C32-9BC6BFC2FCE0}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 it long?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 it wide?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 it stuffed?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Spaghetti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Lasagne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Rigatoni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Ravioli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80" name="Google Shape;580;p47"/>
          <p:cNvSpPr txBox="1"/>
          <p:nvPr/>
        </p:nvSpPr>
        <p:spPr>
          <a:xfrm>
            <a:off x="267275" y="4464150"/>
            <a:ext cx="8455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Connection to Module 2.5 - Word Embeddings</a:t>
            </a:r>
            <a:r>
              <a:rPr lang="en" sz="1100">
                <a:solidFill>
                  <a:schemeClr val="dk1"/>
                </a:solidFill>
              </a:rPr>
              <a:t> - Our feature vectors for pasta is similar to the </a:t>
            </a:r>
            <a:r>
              <a:rPr b="1" lang="en" sz="11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semantic space</a:t>
            </a:r>
            <a:r>
              <a:rPr lang="en" sz="1100">
                <a:solidFill>
                  <a:schemeClr val="dk1"/>
                </a:solidFill>
              </a:rPr>
              <a:t> of the word embedding vectors we interacted with in the demo. Since word embeddings have many features (300) the computer figures out the features.</a:t>
            </a:r>
            <a:endParaRPr/>
          </a:p>
        </p:txBody>
      </p:sp>
      <p:pic>
        <p:nvPicPr>
          <p:cNvPr id="581" name="Google Shape;581;p47"/>
          <p:cNvPicPr preferRelativeResize="0"/>
          <p:nvPr/>
        </p:nvPicPr>
        <p:blipFill rotWithShape="1">
          <a:blip r:embed="rId3">
            <a:alphaModFix/>
          </a:blip>
          <a:srcRect b="26531" l="0" r="0" t="25481"/>
          <a:stretch/>
        </p:blipFill>
        <p:spPr>
          <a:xfrm rot="-5400000">
            <a:off x="5882550" y="1521273"/>
            <a:ext cx="636575" cy="589426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7"/>
          <p:cNvSpPr/>
          <p:nvPr/>
        </p:nvSpPr>
        <p:spPr>
          <a:xfrm>
            <a:off x="5807988" y="1469638"/>
            <a:ext cx="785700" cy="692700"/>
          </a:xfrm>
          <a:prstGeom prst="noSmoking">
            <a:avLst>
              <a:gd fmla="val 6974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48"/>
          <p:cNvSpPr txBox="1"/>
          <p:nvPr>
            <p:ph type="title"/>
          </p:nvPr>
        </p:nvSpPr>
        <p:spPr>
          <a:xfrm>
            <a:off x="169150" y="0"/>
            <a:ext cx="399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Vector Description of Pasta </a:t>
            </a:r>
            <a:endParaRPr sz="21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/>
              <a:t>Add more columns to fit all your features &amp; more rows to fit all your pastas</a:t>
            </a:r>
            <a:endParaRPr sz="2133"/>
          </a:p>
        </p:txBody>
      </p:sp>
      <p:graphicFrame>
        <p:nvGraphicFramePr>
          <p:cNvPr id="589" name="Google Shape;589;p48"/>
          <p:cNvGraphicFramePr/>
          <p:nvPr/>
        </p:nvGraphicFramePr>
        <p:xfrm>
          <a:off x="1172600" y="183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{83BA5305-38E3-4DBB-8C32-9BC6BFC2FCE0}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Stuffed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Hollow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Ribbed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Cut on an angle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round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Tortellini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 (1)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 (0)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 (0)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Y (1)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Ravioli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Penne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Rigatoni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ziti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Mini-lasagna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0" name="Google Shape;590;p48"/>
          <p:cNvSpPr txBox="1"/>
          <p:nvPr/>
        </p:nvSpPr>
        <p:spPr>
          <a:xfrm>
            <a:off x="4792625" y="131500"/>
            <a:ext cx="42285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Key: </a:t>
            </a:r>
            <a:r>
              <a:rPr lang="en"/>
              <a:t>Using the decision tree to indicate which </a:t>
            </a:r>
            <a:r>
              <a:rPr lang="en">
                <a:solidFill>
                  <a:schemeClr val="dk1"/>
                </a:solidFill>
              </a:rPr>
              <a:t>pasta questions the pasta answered yes or no 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(1) for Yes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(0) for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6" name="Google Shape;59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Vector Description of Pasta </a:t>
            </a:r>
            <a:endParaRPr sz="21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/>
              <a:t>Add more columns to fit all your features &amp; more rows to fit all your pastas</a:t>
            </a:r>
            <a:endParaRPr sz="2133"/>
          </a:p>
        </p:txBody>
      </p:sp>
      <p:graphicFrame>
        <p:nvGraphicFramePr>
          <p:cNvPr id="597" name="Google Shape;597;p49"/>
          <p:cNvGraphicFramePr/>
          <p:nvPr/>
        </p:nvGraphicFramePr>
        <p:xfrm>
          <a:off x="410600" y="145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{83BA5305-38E3-4DBB-8C32-9BC6BFC2FCE0}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Pasta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Stuffed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Hollow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Ribbed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Cut on an angle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round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Tortellini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 (1)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 (0)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 (0)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Y (1)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Ravioli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Y (1)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Penne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 (0)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 (1)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 (1)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Y (1)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Rigatoni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Y (1)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Y (1)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ziti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Y (1)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Mini-lasagna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(0)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603" name="Google Shape;60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your data is in a feature vector table (like the one you just  created) then you don’t have to build the tree yourself</a:t>
            </a:r>
            <a:endParaRPr/>
          </a:p>
        </p:txBody>
      </p:sp>
      <p:sp>
        <p:nvSpPr>
          <p:cNvPr id="609" name="Google Shape;609;p51"/>
          <p:cNvSpPr txBox="1"/>
          <p:nvPr>
            <p:ph idx="1" type="body"/>
          </p:nvPr>
        </p:nvSpPr>
        <p:spPr>
          <a:xfrm>
            <a:off x="311700" y="1300150"/>
            <a:ext cx="8520600" cy="37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People don’t usually build decision trees by hand because for realistic tasks it can be hard.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For practical problems, people build a table that may have thousands of rows (examples) and dozens of columns (features). Each example is labeled with the correct decision (i.e., the class it belongs to).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Then they use a </a:t>
            </a:r>
            <a:r>
              <a:rPr b="1" lang="en" sz="1600"/>
              <a:t>machine learning</a:t>
            </a:r>
            <a:r>
              <a:rPr lang="en" sz="1600"/>
              <a:t> algorithm to create the decision tree.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10" name="Google Shape;61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1" name="Google Shape;611;p51"/>
          <p:cNvSpPr txBox="1"/>
          <p:nvPr/>
        </p:nvSpPr>
        <p:spPr>
          <a:xfrm>
            <a:off x="311700" y="3383925"/>
            <a:ext cx="8272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Machine Learning </a:t>
            </a:r>
            <a:r>
              <a:rPr lang="en" sz="1800">
                <a:solidFill>
                  <a:schemeClr val="dk1"/>
                </a:solidFill>
              </a:rPr>
              <a:t>is a process for constructing a reasoner (such as a decision tree classifier) using training data and a learning algorithm.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2" name="Google Shape;612;p51"/>
          <p:cNvSpPr txBox="1"/>
          <p:nvPr/>
        </p:nvSpPr>
        <p:spPr>
          <a:xfrm>
            <a:off x="311700" y="4164225"/>
            <a:ext cx="807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Decision Trees (DTs)</a:t>
            </a:r>
            <a:r>
              <a:rPr lang="en" sz="15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are </a:t>
            </a:r>
            <a:r>
              <a:rPr lang="en" sz="1500">
                <a:solidFill>
                  <a:srgbClr val="040C28"/>
                </a:solidFill>
                <a:latin typeface="Roboto"/>
                <a:ea typeface="Roboto"/>
                <a:cs typeface="Roboto"/>
                <a:sym typeface="Roboto"/>
              </a:rPr>
              <a:t>a supervised learning method used for classification and prediction</a:t>
            </a:r>
            <a:r>
              <a:rPr lang="en" sz="15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The goal is to create a model that predicts the value of a target variable by learning simple decision rules inferred from the data features.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Pasta Land vs Mini-Akinator</a:t>
            </a:r>
            <a:endParaRPr/>
          </a:p>
        </p:txBody>
      </p:sp>
      <p:sp>
        <p:nvSpPr>
          <p:cNvPr id="618" name="Google Shape;618;p5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Pastaland is a simulation of a machine learning algorithm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knew all the examples/classes  in advance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knew all the features in advance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When we constructed the tree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used node splitting process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were selective about the features we chose in our tree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Used an algorithm to build the tree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Take away</a:t>
            </a:r>
            <a:r>
              <a:rPr lang="en" sz="1100">
                <a:solidFill>
                  <a:schemeClr val="dk1"/>
                </a:solidFill>
              </a:rPr>
              <a:t> - The new way we build the tree in Pasta Land is what a machine learning algorithm will do for you.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9" name="Google Shape;61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0" name="Google Shape;620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Mini-Akinator - simulation of creating and growing a decision tree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didn’t know the examples in advance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didn’t know all the features in advance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Instead we added the examples one at a time and discovered the features as we went along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When we constructed the tree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grew it step by step because we added a new example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couldn’t predict what to ask until we had another example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We might have to ask a lot more questions using this process.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Take away</a:t>
            </a:r>
            <a:r>
              <a:rPr lang="en" sz="1100">
                <a:solidFill>
                  <a:schemeClr val="dk1"/>
                </a:solidFill>
              </a:rPr>
              <a:t> - We learned how to create and grow a decision tree and get some insight into how Akinator works.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This is a </a:t>
            </a:r>
            <a:r>
              <a:rPr lang="en" sz="1100">
                <a:solidFill>
                  <a:schemeClr val="dk1"/>
                </a:solidFill>
              </a:rPr>
              <a:t>different</a:t>
            </a:r>
            <a:r>
              <a:rPr lang="en" sz="1100">
                <a:solidFill>
                  <a:schemeClr val="dk1"/>
                </a:solidFill>
              </a:rPr>
              <a:t> type of learning algorithm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some examples from the real-world</a:t>
            </a:r>
            <a:endParaRPr/>
          </a:p>
        </p:txBody>
      </p:sp>
      <p:sp>
        <p:nvSpPr>
          <p:cNvPr id="626" name="Google Shape;62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Try It #2: </a:t>
            </a:r>
            <a:r>
              <a:rPr lang="en"/>
              <a:t>Think of a real-world example</a:t>
            </a:r>
            <a:endParaRPr/>
          </a:p>
        </p:txBody>
      </p:sp>
      <p:sp>
        <p:nvSpPr>
          <p:cNvPr id="632" name="Google Shape;632;p54"/>
          <p:cNvSpPr txBox="1"/>
          <p:nvPr>
            <p:ph idx="1" type="body"/>
          </p:nvPr>
        </p:nvSpPr>
        <p:spPr>
          <a:xfrm>
            <a:off x="311700" y="12468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Step 1: </a:t>
            </a:r>
            <a:r>
              <a:rPr lang="en"/>
              <a:t>Pick a situation in the real world where computers might make decisions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Step 2: </a:t>
            </a:r>
            <a:r>
              <a:rPr lang="en"/>
              <a:t>Think about the attributes that would contribute to making good decisions </a:t>
            </a:r>
            <a:br>
              <a:rPr lang="en"/>
            </a:br>
            <a:br>
              <a:rPr lang="en"/>
            </a:br>
            <a:r>
              <a:rPr b="1" i="1" lang="en"/>
              <a:t>Step 3: </a:t>
            </a:r>
            <a:r>
              <a:rPr lang="en"/>
              <a:t>Reflection: Think about how your life is being affected by classifier systems (automated decision making). </a:t>
            </a:r>
            <a:endParaRPr/>
          </a:p>
        </p:txBody>
      </p:sp>
      <p:sp>
        <p:nvSpPr>
          <p:cNvPr id="633" name="Google Shape;63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4" name="Google Shape;634;p54"/>
          <p:cNvSpPr txBox="1"/>
          <p:nvPr>
            <p:ph idx="2" type="body"/>
          </p:nvPr>
        </p:nvSpPr>
        <p:spPr>
          <a:xfrm>
            <a:off x="4832400" y="1152475"/>
            <a:ext cx="418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Examples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Classifying toys based on age. </a:t>
            </a:r>
            <a:br>
              <a:rPr lang="en"/>
            </a:br>
            <a:r>
              <a:rPr lang="en"/>
              <a:t>What kinds of features make a toy suitable?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Classify games, movies, and music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Reviewing loan applications. </a:t>
            </a:r>
            <a:br>
              <a:rPr lang="en"/>
            </a:br>
            <a:r>
              <a:rPr lang="en"/>
              <a:t>What kinds of things help us determine the strength of a loan application?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College applications.</a:t>
            </a:r>
            <a:br>
              <a:rPr lang="en"/>
            </a:br>
            <a:r>
              <a:rPr lang="en"/>
              <a:t>What kinds of things make for a strong college application?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Computers don’t learn the way people do. </a:t>
            </a:r>
            <a:endParaRPr/>
          </a:p>
        </p:txBody>
      </p:sp>
      <p:sp>
        <p:nvSpPr>
          <p:cNvPr id="640" name="Google Shape;640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6"/>
          <p:cNvSpPr txBox="1"/>
          <p:nvPr>
            <p:ph type="title"/>
          </p:nvPr>
        </p:nvSpPr>
        <p:spPr>
          <a:xfrm>
            <a:off x="311700" y="2150850"/>
            <a:ext cx="874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people learn?</a:t>
            </a:r>
            <a:endParaRPr/>
          </a:p>
        </p:txBody>
      </p:sp>
      <p:sp>
        <p:nvSpPr>
          <p:cNvPr id="646" name="Google Shape;64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7" name="Google Shape;647;p56"/>
          <p:cNvSpPr/>
          <p:nvPr/>
        </p:nvSpPr>
        <p:spPr>
          <a:xfrm>
            <a:off x="678950" y="2866500"/>
            <a:ext cx="8376900" cy="288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people learn</a:t>
            </a:r>
            <a:endParaRPr/>
          </a:p>
        </p:txBody>
      </p:sp>
      <p:sp>
        <p:nvSpPr>
          <p:cNvPr id="653" name="Google Shape;653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Being taught by someone (e.g., parent, teacher, sibling, friend)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Asking questions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Observing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Reading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Trial and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Systematic experimentation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Everyday life experiences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4" name="Google Shape;65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5" name="Google Shape;655;p57"/>
          <p:cNvSpPr txBox="1"/>
          <p:nvPr/>
        </p:nvSpPr>
        <p:spPr>
          <a:xfrm>
            <a:off x="311700" y="4421250"/>
            <a:ext cx="71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None of these are things that computers currently do well.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Computers Learn</a:t>
            </a:r>
            <a:endParaRPr/>
          </a:p>
        </p:txBody>
      </p:sp>
      <p:sp>
        <p:nvSpPr>
          <p:cNvPr id="661" name="Google Shape;66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from labeled examples (like Pasta Land)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supervised learning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will only explore supervised learning in this unit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clusters in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unsupervised learning</a:t>
            </a:r>
            <a:r>
              <a:rPr lang="en"/>
              <a:t> because the data does not come pre-labeled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examining data on plants collected from a forest and decided how many different species of plants there are in the forest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from experience via trial and error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reinforcement learning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how computers learn good strategies for playing games</a:t>
            </a:r>
            <a:endParaRPr/>
          </a:p>
        </p:txBody>
      </p:sp>
      <p:sp>
        <p:nvSpPr>
          <p:cNvPr id="662" name="Google Shape;66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