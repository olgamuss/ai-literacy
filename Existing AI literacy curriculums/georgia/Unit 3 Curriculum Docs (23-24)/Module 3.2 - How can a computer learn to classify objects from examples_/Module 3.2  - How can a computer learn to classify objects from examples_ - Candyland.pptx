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 id="214748368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Lst>
  <p:sldSz cy="5143500" cx="9144000"/>
  <p:notesSz cx="6858000" cy="9144000"/>
  <p:embeddedFontLst>
    <p:embeddedFont>
      <p:font typeface="Permanent Marker"/>
      <p:regular r:id="rId33"/>
    </p:embeddedFont>
    <p:embeddedFont>
      <p:font typeface="Helvetica Neue"/>
      <p:regular r:id="rId34"/>
      <p:bold r:id="rId35"/>
      <p:italic r:id="rId36"/>
      <p:boldItalic r:id="rId37"/>
    </p:embeddedFont>
    <p:embeddedFont>
      <p:font typeface="Merriweather"/>
      <p:regular r:id="rId38"/>
      <p:bold r:id="rId39"/>
      <p:italic r:id="rId40"/>
      <p:boldItalic r:id="rId41"/>
    </p:embeddedFont>
    <p:embeddedFont>
      <p:font typeface="Alfa Slab One"/>
      <p:regular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24B53F7-EC2A-47EB-9511-3FD6F6E82F80}">
  <a:tblStyle styleId="{D24B53F7-EC2A-47EB-9511-3FD6F6E82F8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erriweather-italic.fntdata"/><Relationship Id="rId20" Type="http://schemas.openxmlformats.org/officeDocument/2006/relationships/slide" Target="slides/slide12.xml"/><Relationship Id="rId42" Type="http://schemas.openxmlformats.org/officeDocument/2006/relationships/font" Target="fonts/AlfaSlabOne-regular.fntdata"/><Relationship Id="rId41" Type="http://schemas.openxmlformats.org/officeDocument/2006/relationships/font" Target="fonts/Merriweather-boldItalic.fntdata"/><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1.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font" Target="fonts/PermanentMarker-regular.fntdata"/><Relationship Id="rId10" Type="http://schemas.openxmlformats.org/officeDocument/2006/relationships/slide" Target="slides/slide2.xml"/><Relationship Id="rId32" Type="http://schemas.openxmlformats.org/officeDocument/2006/relationships/slide" Target="slides/slide24.xml"/><Relationship Id="rId13" Type="http://schemas.openxmlformats.org/officeDocument/2006/relationships/slide" Target="slides/slide5.xml"/><Relationship Id="rId35" Type="http://schemas.openxmlformats.org/officeDocument/2006/relationships/font" Target="fonts/HelveticaNeue-bold.fntdata"/><Relationship Id="rId12" Type="http://schemas.openxmlformats.org/officeDocument/2006/relationships/slide" Target="slides/slide4.xml"/><Relationship Id="rId34" Type="http://schemas.openxmlformats.org/officeDocument/2006/relationships/font" Target="fonts/HelveticaNeue-regular.fntdata"/><Relationship Id="rId15" Type="http://schemas.openxmlformats.org/officeDocument/2006/relationships/slide" Target="slides/slide7.xml"/><Relationship Id="rId37" Type="http://schemas.openxmlformats.org/officeDocument/2006/relationships/font" Target="fonts/HelveticaNeue-boldItalic.fntdata"/><Relationship Id="rId14" Type="http://schemas.openxmlformats.org/officeDocument/2006/relationships/slide" Target="slides/slide6.xml"/><Relationship Id="rId36" Type="http://schemas.openxmlformats.org/officeDocument/2006/relationships/font" Target="fonts/HelveticaNeue-italic.fntdata"/><Relationship Id="rId17" Type="http://schemas.openxmlformats.org/officeDocument/2006/relationships/slide" Target="slides/slide9.xml"/><Relationship Id="rId39" Type="http://schemas.openxmlformats.org/officeDocument/2006/relationships/font" Target="fonts/Merriweather-bold.fntdata"/><Relationship Id="rId16" Type="http://schemas.openxmlformats.org/officeDocument/2006/relationships/slide" Target="slides/slide8.xml"/><Relationship Id="rId38" Type="http://schemas.openxmlformats.org/officeDocument/2006/relationships/font" Target="fonts/Merriweather-regular.fntdata"/><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e54727c77e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e54727c77e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12ae8837d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12ae8837d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e6f426c13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e6f426c13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e6f426c13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e6f426c13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e6f426c13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e6f426c13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135af76a0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135af76a0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135af76a0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135af76a0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135af76a06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135af76a06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3813143eb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3813143eb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same idea of the semantic space of the word embedding vectors</a:t>
            </a:r>
            <a:endParaRPr/>
          </a:p>
          <a:p>
            <a:pPr indent="0" lvl="0" marL="0" rtl="0" algn="l">
              <a:spcBef>
                <a:spcPts val="0"/>
              </a:spcBef>
              <a:spcAft>
                <a:spcPts val="0"/>
              </a:spcAft>
              <a:buNone/>
            </a:pPr>
            <a:r>
              <a:rPr lang="en"/>
              <a:t>Except in the word embedding vector - the computer figures out the features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features dont’ have to be binary, it might have a numerical value</a:t>
            </a:r>
            <a:endParaRPr/>
          </a:p>
          <a:p>
            <a:pPr indent="0" lvl="0" marL="0" rtl="0" algn="l">
              <a:spcBef>
                <a:spcPts val="0"/>
              </a:spcBef>
              <a:spcAft>
                <a:spcPts val="0"/>
              </a:spcAft>
              <a:buNone/>
            </a:pPr>
            <a:r>
              <a:rPr lang="en"/>
              <a:t>Is the length &gt; of pasta</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3813143ebf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3813143ebf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same idea of the semantic space of the word embedding vectors</a:t>
            </a:r>
            <a:endParaRPr/>
          </a:p>
          <a:p>
            <a:pPr indent="0" lvl="0" marL="0" rtl="0" algn="l">
              <a:spcBef>
                <a:spcPts val="0"/>
              </a:spcBef>
              <a:spcAft>
                <a:spcPts val="0"/>
              </a:spcAft>
              <a:buNone/>
            </a:pPr>
            <a:r>
              <a:rPr lang="en"/>
              <a:t>Except in the word embedding vector - the computer figures out the features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features dont’ have to be binary, it might have a numerical value</a:t>
            </a:r>
            <a:endParaRPr/>
          </a:p>
          <a:p>
            <a:pPr indent="0" lvl="0" marL="0" rtl="0" algn="l">
              <a:spcBef>
                <a:spcPts val="0"/>
              </a:spcBef>
              <a:spcAft>
                <a:spcPts val="0"/>
              </a:spcAft>
              <a:buNone/>
            </a:pPr>
            <a:r>
              <a:rPr lang="en"/>
              <a:t>Is the length &gt; of pasta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e6f426c13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e6f426c13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13b13fef07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13b13fef07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same idea of the semantic space of the word embedding vectors</a:t>
            </a:r>
            <a:endParaRPr/>
          </a:p>
          <a:p>
            <a:pPr indent="0" lvl="0" marL="0" rtl="0" algn="l">
              <a:spcBef>
                <a:spcPts val="0"/>
              </a:spcBef>
              <a:spcAft>
                <a:spcPts val="0"/>
              </a:spcAft>
              <a:buNone/>
            </a:pPr>
            <a:r>
              <a:rPr lang="en"/>
              <a:t>Except in the word embedding vector - the computer figures out the features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features dont’ have to be binary, it might have a numerical value</a:t>
            </a:r>
            <a:endParaRPr/>
          </a:p>
          <a:p>
            <a:pPr indent="0" lvl="0" marL="0" rtl="0" algn="l">
              <a:spcBef>
                <a:spcPts val="0"/>
              </a:spcBef>
              <a:spcAft>
                <a:spcPts val="0"/>
              </a:spcAft>
              <a:buNone/>
            </a:pPr>
            <a:r>
              <a:rPr lang="en"/>
              <a:t>Is the length &gt; of pasta</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13b13fef07_2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13b13fef07_2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13b13fef07_2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13b13fef07_2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135af76a06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135af76a06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same idea of the semantic space of the word embedding vectors</a:t>
            </a:r>
            <a:endParaRPr/>
          </a:p>
          <a:p>
            <a:pPr indent="0" lvl="0" marL="0" rtl="0" algn="l">
              <a:spcBef>
                <a:spcPts val="0"/>
              </a:spcBef>
              <a:spcAft>
                <a:spcPts val="0"/>
              </a:spcAft>
              <a:buNone/>
            </a:pPr>
            <a:r>
              <a:rPr lang="en"/>
              <a:t>Except in the word embedding vector - the computer figures out the features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features dont’ have to be binary, it might have a numerical value</a:t>
            </a:r>
            <a:endParaRPr/>
          </a:p>
          <a:p>
            <a:pPr indent="0" lvl="0" marL="0" rtl="0" algn="l">
              <a:spcBef>
                <a:spcPts val="0"/>
              </a:spcBef>
              <a:spcAft>
                <a:spcPts val="0"/>
              </a:spcAft>
              <a:buNone/>
            </a:pPr>
            <a:r>
              <a:rPr lang="en"/>
              <a:t>Is the length &gt; of pasta</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13b13fef07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113b13fef07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12d5c227a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12d5c227a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12ae8837da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12ae8837da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12d5c227a7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112d5c227a7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12ae8837d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12ae8837d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12d5c227a7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12d5c227a7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12d5c227a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12d5c227a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Answer - </a:t>
            </a:r>
            <a:r>
              <a:rPr lang="en">
                <a:solidFill>
                  <a:schemeClr val="dk1"/>
                </a:solidFill>
              </a:rPr>
              <a:t>It solves a problem by asking a series of questions.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12d5c227a7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112d5c227a7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12d5c227a7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12d5c227a7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 Learning by being told has been added in April 27,2023 to </a:t>
            </a:r>
            <a:r>
              <a:rPr lang="en"/>
              <a:t>accommodate</a:t>
            </a:r>
            <a:r>
              <a:rPr lang="en"/>
              <a:t> the appearance of ChatGPT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000000"/>
              </a:buClr>
              <a:buSzPts val="2800"/>
              <a:buNone/>
              <a:defRPr>
                <a:solidFill>
                  <a:srgbClr val="000000"/>
                </a:solidFill>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000000"/>
              </a:buClr>
              <a:buSzPts val="2800"/>
              <a:buNone/>
              <a:defRPr>
                <a:solidFill>
                  <a:srgbClr val="000000"/>
                </a:solidFill>
              </a:defRPr>
            </a:lvl1pPr>
            <a:lvl2pPr lvl="1" rtl="0">
              <a:spcBef>
                <a:spcPts val="0"/>
              </a:spcBef>
              <a:spcAft>
                <a:spcPts val="0"/>
              </a:spcAft>
              <a:buClr>
                <a:srgbClr val="000000"/>
              </a:buClr>
              <a:buSzPts val="2800"/>
              <a:buNone/>
              <a:defRPr>
                <a:solidFill>
                  <a:srgbClr val="000000"/>
                </a:solidFill>
              </a:defRPr>
            </a:lvl2pPr>
            <a:lvl3pPr lvl="2" rtl="0">
              <a:spcBef>
                <a:spcPts val="0"/>
              </a:spcBef>
              <a:spcAft>
                <a:spcPts val="0"/>
              </a:spcAft>
              <a:buClr>
                <a:srgbClr val="000000"/>
              </a:buClr>
              <a:buSzPts val="2800"/>
              <a:buNone/>
              <a:defRPr>
                <a:solidFill>
                  <a:srgbClr val="000000"/>
                </a:solidFill>
              </a:defRPr>
            </a:lvl3pPr>
            <a:lvl4pPr lvl="3" rtl="0">
              <a:spcBef>
                <a:spcPts val="0"/>
              </a:spcBef>
              <a:spcAft>
                <a:spcPts val="0"/>
              </a:spcAft>
              <a:buClr>
                <a:srgbClr val="000000"/>
              </a:buClr>
              <a:buSzPts val="2800"/>
              <a:buNone/>
              <a:defRPr>
                <a:solidFill>
                  <a:srgbClr val="000000"/>
                </a:solidFill>
              </a:defRPr>
            </a:lvl4pPr>
            <a:lvl5pPr lvl="4" rtl="0">
              <a:spcBef>
                <a:spcPts val="0"/>
              </a:spcBef>
              <a:spcAft>
                <a:spcPts val="0"/>
              </a:spcAft>
              <a:buClr>
                <a:srgbClr val="000000"/>
              </a:buClr>
              <a:buSzPts val="2800"/>
              <a:buNone/>
              <a:defRPr>
                <a:solidFill>
                  <a:srgbClr val="000000"/>
                </a:solidFill>
              </a:defRPr>
            </a:lvl5pPr>
            <a:lvl6pPr lvl="5" rtl="0">
              <a:spcBef>
                <a:spcPts val="0"/>
              </a:spcBef>
              <a:spcAft>
                <a:spcPts val="0"/>
              </a:spcAft>
              <a:buClr>
                <a:srgbClr val="000000"/>
              </a:buClr>
              <a:buSzPts val="2800"/>
              <a:buNone/>
              <a:defRPr>
                <a:solidFill>
                  <a:srgbClr val="000000"/>
                </a:solidFill>
              </a:defRPr>
            </a:lvl6pPr>
            <a:lvl7pPr lvl="6" rtl="0">
              <a:spcBef>
                <a:spcPts val="0"/>
              </a:spcBef>
              <a:spcAft>
                <a:spcPts val="0"/>
              </a:spcAft>
              <a:buClr>
                <a:srgbClr val="000000"/>
              </a:buClr>
              <a:buSzPts val="2800"/>
              <a:buNone/>
              <a:defRPr>
                <a:solidFill>
                  <a:srgbClr val="000000"/>
                </a:solidFill>
              </a:defRPr>
            </a:lvl7pPr>
            <a:lvl8pPr lvl="7" rtl="0">
              <a:spcBef>
                <a:spcPts val="0"/>
              </a:spcBef>
              <a:spcAft>
                <a:spcPts val="0"/>
              </a:spcAft>
              <a:buClr>
                <a:srgbClr val="000000"/>
              </a:buClr>
              <a:buSzPts val="2800"/>
              <a:buNone/>
              <a:defRPr>
                <a:solidFill>
                  <a:srgbClr val="000000"/>
                </a:solidFill>
              </a:defRPr>
            </a:lvl8pPr>
            <a:lvl9pPr lvl="8" rtl="0">
              <a:spcBef>
                <a:spcPts val="0"/>
              </a:spcBef>
              <a:spcAft>
                <a:spcPts val="0"/>
              </a:spcAft>
              <a:buClr>
                <a:srgbClr val="000000"/>
              </a:buClr>
              <a:buSzPts val="2800"/>
              <a:buNone/>
              <a:defRPr>
                <a:solidFill>
                  <a:srgbClr val="000000"/>
                </a:solidFill>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000000"/>
              </a:buClr>
              <a:buSzPts val="1800"/>
              <a:buChar char="●"/>
              <a:defRPr>
                <a:solidFill>
                  <a:srgbClr val="000000"/>
                </a:solidFill>
              </a:defRPr>
            </a:lvl1pPr>
            <a:lvl2pPr indent="-317500" lvl="1" marL="914400" rtl="0">
              <a:spcBef>
                <a:spcPts val="0"/>
              </a:spcBef>
              <a:spcAft>
                <a:spcPts val="0"/>
              </a:spcAft>
              <a:buClr>
                <a:srgbClr val="000000"/>
              </a:buClr>
              <a:buSzPts val="1400"/>
              <a:buChar char="○"/>
              <a:defRPr>
                <a:solidFill>
                  <a:srgbClr val="000000"/>
                </a:solidFill>
              </a:defRPr>
            </a:lvl2pPr>
            <a:lvl3pPr indent="-317500" lvl="2" marL="1371600" rtl="0">
              <a:spcBef>
                <a:spcPts val="0"/>
              </a:spcBef>
              <a:spcAft>
                <a:spcPts val="0"/>
              </a:spcAft>
              <a:buClr>
                <a:srgbClr val="000000"/>
              </a:buClr>
              <a:buSzPts val="1400"/>
              <a:buChar char="■"/>
              <a:defRPr>
                <a:solidFill>
                  <a:srgbClr val="000000"/>
                </a:solidFill>
              </a:defRPr>
            </a:lvl3pPr>
            <a:lvl4pPr indent="-317500" lvl="3" marL="1828800" rtl="0">
              <a:spcBef>
                <a:spcPts val="0"/>
              </a:spcBef>
              <a:spcAft>
                <a:spcPts val="0"/>
              </a:spcAft>
              <a:buClr>
                <a:srgbClr val="000000"/>
              </a:buClr>
              <a:buSzPts val="1400"/>
              <a:buChar char="●"/>
              <a:defRPr>
                <a:solidFill>
                  <a:srgbClr val="000000"/>
                </a:solidFill>
              </a:defRPr>
            </a:lvl4pPr>
            <a:lvl5pPr indent="-317500" lvl="4" marL="2286000" rtl="0">
              <a:spcBef>
                <a:spcPts val="0"/>
              </a:spcBef>
              <a:spcAft>
                <a:spcPts val="0"/>
              </a:spcAft>
              <a:buClr>
                <a:srgbClr val="000000"/>
              </a:buClr>
              <a:buSzPts val="1400"/>
              <a:buChar char="○"/>
              <a:defRPr>
                <a:solidFill>
                  <a:srgbClr val="000000"/>
                </a:solidFill>
              </a:defRPr>
            </a:lvl5pPr>
            <a:lvl6pPr indent="-317500" lvl="5" marL="2743200" rtl="0">
              <a:spcBef>
                <a:spcPts val="0"/>
              </a:spcBef>
              <a:spcAft>
                <a:spcPts val="0"/>
              </a:spcAft>
              <a:buClr>
                <a:srgbClr val="000000"/>
              </a:buClr>
              <a:buSzPts val="1400"/>
              <a:buChar char="■"/>
              <a:defRPr>
                <a:solidFill>
                  <a:srgbClr val="000000"/>
                </a:solidFill>
              </a:defRPr>
            </a:lvl6pPr>
            <a:lvl7pPr indent="-317500" lvl="6" marL="3200400" rtl="0">
              <a:spcBef>
                <a:spcPts val="0"/>
              </a:spcBef>
              <a:spcAft>
                <a:spcPts val="0"/>
              </a:spcAft>
              <a:buClr>
                <a:srgbClr val="000000"/>
              </a:buClr>
              <a:buSzPts val="1400"/>
              <a:buChar char="●"/>
              <a:defRPr>
                <a:solidFill>
                  <a:srgbClr val="000000"/>
                </a:solidFill>
              </a:defRPr>
            </a:lvl7pPr>
            <a:lvl8pPr indent="-317500" lvl="7" marL="3657600" rtl="0">
              <a:spcBef>
                <a:spcPts val="0"/>
              </a:spcBef>
              <a:spcAft>
                <a:spcPts val="0"/>
              </a:spcAft>
              <a:buClr>
                <a:srgbClr val="000000"/>
              </a:buClr>
              <a:buSzPts val="1400"/>
              <a:buChar char="○"/>
              <a:defRPr>
                <a:solidFill>
                  <a:srgbClr val="000000"/>
                </a:solidFill>
              </a:defRPr>
            </a:lvl8pPr>
            <a:lvl9pPr indent="-317500" lvl="8" marL="4114800" rtl="0">
              <a:spcBef>
                <a:spcPts val="0"/>
              </a:spcBef>
              <a:spcAft>
                <a:spcPts val="0"/>
              </a:spcAft>
              <a:buClr>
                <a:srgbClr val="000000"/>
              </a:buClr>
              <a:buSzPts val="1400"/>
              <a:buChar char="■"/>
              <a:defRPr>
                <a:solidFill>
                  <a:srgbClr val="000000"/>
                </a:solidFill>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Clr>
                <a:srgbClr val="000000"/>
              </a:buClr>
              <a:buSzPts val="1400"/>
              <a:buChar char="●"/>
              <a:defRPr sz="1400">
                <a:solidFill>
                  <a:srgbClr val="000000"/>
                </a:solidFill>
              </a:defRPr>
            </a:lvl1pPr>
            <a:lvl2pPr indent="-304800" lvl="1" marL="914400" rtl="0">
              <a:spcBef>
                <a:spcPts val="0"/>
              </a:spcBef>
              <a:spcAft>
                <a:spcPts val="0"/>
              </a:spcAft>
              <a:buClr>
                <a:srgbClr val="000000"/>
              </a:buClr>
              <a:buSzPts val="1200"/>
              <a:buChar char="○"/>
              <a:defRPr sz="1200">
                <a:solidFill>
                  <a:srgbClr val="000000"/>
                </a:solidFill>
              </a:defRPr>
            </a:lvl2pPr>
            <a:lvl3pPr indent="-304800" lvl="2" marL="1371600" rtl="0">
              <a:spcBef>
                <a:spcPts val="0"/>
              </a:spcBef>
              <a:spcAft>
                <a:spcPts val="0"/>
              </a:spcAft>
              <a:buClr>
                <a:srgbClr val="000000"/>
              </a:buClr>
              <a:buSzPts val="1200"/>
              <a:buChar char="■"/>
              <a:defRPr sz="1200">
                <a:solidFill>
                  <a:srgbClr val="000000"/>
                </a:solidFill>
              </a:defRPr>
            </a:lvl3pPr>
            <a:lvl4pPr indent="-304800" lvl="3" marL="1828800" rtl="0">
              <a:spcBef>
                <a:spcPts val="0"/>
              </a:spcBef>
              <a:spcAft>
                <a:spcPts val="0"/>
              </a:spcAft>
              <a:buClr>
                <a:srgbClr val="000000"/>
              </a:buClr>
              <a:buSzPts val="1200"/>
              <a:buChar char="●"/>
              <a:defRPr sz="1200">
                <a:solidFill>
                  <a:srgbClr val="000000"/>
                </a:solidFill>
              </a:defRPr>
            </a:lvl4pPr>
            <a:lvl5pPr indent="-304800" lvl="4" marL="2286000" rtl="0">
              <a:spcBef>
                <a:spcPts val="0"/>
              </a:spcBef>
              <a:spcAft>
                <a:spcPts val="0"/>
              </a:spcAft>
              <a:buClr>
                <a:srgbClr val="000000"/>
              </a:buClr>
              <a:buSzPts val="1200"/>
              <a:buChar char="○"/>
              <a:defRPr sz="1200">
                <a:solidFill>
                  <a:srgbClr val="000000"/>
                </a:solidFill>
              </a:defRPr>
            </a:lvl5pPr>
            <a:lvl6pPr indent="-304800" lvl="5" marL="2743200" rtl="0">
              <a:spcBef>
                <a:spcPts val="0"/>
              </a:spcBef>
              <a:spcAft>
                <a:spcPts val="0"/>
              </a:spcAft>
              <a:buClr>
                <a:srgbClr val="000000"/>
              </a:buClr>
              <a:buSzPts val="1200"/>
              <a:buChar char="■"/>
              <a:defRPr sz="1200">
                <a:solidFill>
                  <a:srgbClr val="000000"/>
                </a:solidFill>
              </a:defRPr>
            </a:lvl6pPr>
            <a:lvl7pPr indent="-304800" lvl="6" marL="3200400" rtl="0">
              <a:spcBef>
                <a:spcPts val="0"/>
              </a:spcBef>
              <a:spcAft>
                <a:spcPts val="0"/>
              </a:spcAft>
              <a:buClr>
                <a:srgbClr val="000000"/>
              </a:buClr>
              <a:buSzPts val="1200"/>
              <a:buChar char="●"/>
              <a:defRPr sz="1200">
                <a:solidFill>
                  <a:srgbClr val="000000"/>
                </a:solidFill>
              </a:defRPr>
            </a:lvl7pPr>
            <a:lvl8pPr indent="-304800" lvl="7" marL="3657600" rtl="0">
              <a:spcBef>
                <a:spcPts val="0"/>
              </a:spcBef>
              <a:spcAft>
                <a:spcPts val="0"/>
              </a:spcAft>
              <a:buClr>
                <a:srgbClr val="000000"/>
              </a:buClr>
              <a:buSzPts val="1200"/>
              <a:buChar char="○"/>
              <a:defRPr sz="1200">
                <a:solidFill>
                  <a:srgbClr val="000000"/>
                </a:solidFill>
              </a:defRPr>
            </a:lvl8pPr>
            <a:lvl9pPr indent="-304800" lvl="8" marL="4114800" rtl="0">
              <a:spcBef>
                <a:spcPts val="0"/>
              </a:spcBef>
              <a:spcAft>
                <a:spcPts val="0"/>
              </a:spcAft>
              <a:buClr>
                <a:srgbClr val="000000"/>
              </a:buClr>
              <a:buSzPts val="1200"/>
              <a:buChar char="■"/>
              <a:defRPr sz="1200">
                <a:solidFill>
                  <a:srgbClr val="000000"/>
                </a:solidFill>
              </a:defRPr>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9" name="Shape 99"/>
        <p:cNvGrpSpPr/>
        <p:nvPr/>
      </p:nvGrpSpPr>
      <p:grpSpPr>
        <a:xfrm>
          <a:off x="0" y="0"/>
          <a:ext cx="0" cy="0"/>
          <a:chOff x="0" y="0"/>
          <a:chExt cx="0" cy="0"/>
        </a:xfrm>
      </p:grpSpPr>
      <p:sp>
        <p:nvSpPr>
          <p:cNvPr id="100" name="Google Shape;100;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1" name="Google Shape;101;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2" name="Google Shape;10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3" name="Shape 103"/>
        <p:cNvGrpSpPr/>
        <p:nvPr/>
      </p:nvGrpSpPr>
      <p:grpSpPr>
        <a:xfrm>
          <a:off x="0" y="0"/>
          <a:ext cx="0" cy="0"/>
          <a:chOff x="0" y="0"/>
          <a:chExt cx="0" cy="0"/>
        </a:xfrm>
      </p:grpSpPr>
      <p:sp>
        <p:nvSpPr>
          <p:cNvPr id="104" name="Google Shape;104;p2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5" name="Google Shape;105;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6" name="Shape 106"/>
        <p:cNvGrpSpPr/>
        <p:nvPr/>
      </p:nvGrpSpPr>
      <p:grpSpPr>
        <a:xfrm>
          <a:off x="0" y="0"/>
          <a:ext cx="0" cy="0"/>
          <a:chOff x="0" y="0"/>
          <a:chExt cx="0" cy="0"/>
        </a:xfrm>
      </p:grpSpPr>
      <p:sp>
        <p:nvSpPr>
          <p:cNvPr id="107" name="Google Shape;107;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8" name="Google Shape;108;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09" name="Google Shape;10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0" name="Shape 110"/>
        <p:cNvGrpSpPr/>
        <p:nvPr/>
      </p:nvGrpSpPr>
      <p:grpSpPr>
        <a:xfrm>
          <a:off x="0" y="0"/>
          <a:ext cx="0" cy="0"/>
          <a:chOff x="0" y="0"/>
          <a:chExt cx="0" cy="0"/>
        </a:xfrm>
      </p:grpSpPr>
      <p:sp>
        <p:nvSpPr>
          <p:cNvPr id="111" name="Google Shape;111;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2" name="Google Shape;112;p2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13" name="Google Shape;113;p2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14" name="Google Shape;114;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5" name="Shape 115"/>
        <p:cNvGrpSpPr/>
        <p:nvPr/>
      </p:nvGrpSpPr>
      <p:grpSpPr>
        <a:xfrm>
          <a:off x="0" y="0"/>
          <a:ext cx="0" cy="0"/>
          <a:chOff x="0" y="0"/>
          <a:chExt cx="0" cy="0"/>
        </a:xfrm>
      </p:grpSpPr>
      <p:sp>
        <p:nvSpPr>
          <p:cNvPr id="116" name="Google Shape;116;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7" name="Google Shape;117;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8" name="Shape 118"/>
        <p:cNvGrpSpPr/>
        <p:nvPr/>
      </p:nvGrpSpPr>
      <p:grpSpPr>
        <a:xfrm>
          <a:off x="0" y="0"/>
          <a:ext cx="0" cy="0"/>
          <a:chOff x="0" y="0"/>
          <a:chExt cx="0" cy="0"/>
        </a:xfrm>
      </p:grpSpPr>
      <p:sp>
        <p:nvSpPr>
          <p:cNvPr id="119" name="Google Shape;119;p3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20" name="Google Shape;120;p3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21" name="Google Shape;121;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2" name="Shape 122"/>
        <p:cNvGrpSpPr/>
        <p:nvPr/>
      </p:nvGrpSpPr>
      <p:grpSpPr>
        <a:xfrm>
          <a:off x="0" y="0"/>
          <a:ext cx="0" cy="0"/>
          <a:chOff x="0" y="0"/>
          <a:chExt cx="0" cy="0"/>
        </a:xfrm>
      </p:grpSpPr>
      <p:sp>
        <p:nvSpPr>
          <p:cNvPr id="123" name="Google Shape;123;p3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24" name="Google Shape;124;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5" name="Shape 125"/>
        <p:cNvGrpSpPr/>
        <p:nvPr/>
      </p:nvGrpSpPr>
      <p:grpSpPr>
        <a:xfrm>
          <a:off x="0" y="0"/>
          <a:ext cx="0" cy="0"/>
          <a:chOff x="0" y="0"/>
          <a:chExt cx="0" cy="0"/>
        </a:xfrm>
      </p:grpSpPr>
      <p:sp>
        <p:nvSpPr>
          <p:cNvPr id="126" name="Google Shape;126;p3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28" name="Google Shape;128;p3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29" name="Google Shape;129;p3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30" name="Google Shape;130;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1" name="Shape 131"/>
        <p:cNvGrpSpPr/>
        <p:nvPr/>
      </p:nvGrpSpPr>
      <p:grpSpPr>
        <a:xfrm>
          <a:off x="0" y="0"/>
          <a:ext cx="0" cy="0"/>
          <a:chOff x="0" y="0"/>
          <a:chExt cx="0" cy="0"/>
        </a:xfrm>
      </p:grpSpPr>
      <p:sp>
        <p:nvSpPr>
          <p:cNvPr id="132" name="Google Shape;132;p34"/>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133" name="Google Shape;13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4" name="Shape 134"/>
        <p:cNvGrpSpPr/>
        <p:nvPr/>
      </p:nvGrpSpPr>
      <p:grpSpPr>
        <a:xfrm>
          <a:off x="0" y="0"/>
          <a:ext cx="0" cy="0"/>
          <a:chOff x="0" y="0"/>
          <a:chExt cx="0" cy="0"/>
        </a:xfrm>
      </p:grpSpPr>
      <p:sp>
        <p:nvSpPr>
          <p:cNvPr id="135" name="Google Shape;135;p3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36" name="Google Shape;136;p3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37" name="Google Shape;137;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8" name="Shape 138"/>
        <p:cNvGrpSpPr/>
        <p:nvPr/>
      </p:nvGrpSpPr>
      <p:grpSpPr>
        <a:xfrm>
          <a:off x="0" y="0"/>
          <a:ext cx="0" cy="0"/>
          <a:chOff x="0" y="0"/>
          <a:chExt cx="0" cy="0"/>
        </a:xfrm>
      </p:grpSpPr>
      <p:sp>
        <p:nvSpPr>
          <p:cNvPr id="139" name="Google Shape;139;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3.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SzPts val="2800"/>
              <a:buNone/>
              <a:defRPr sz="2800"/>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SzPts val="1800"/>
              <a:buChar char="●"/>
              <a:defRPr sz="1800"/>
            </a:lvl1pPr>
            <a:lvl2pPr indent="-317500" lvl="1" marL="914400">
              <a:lnSpc>
                <a:spcPct val="115000"/>
              </a:lnSpc>
              <a:spcBef>
                <a:spcPts val="0"/>
              </a:spcBef>
              <a:spcAft>
                <a:spcPts val="0"/>
              </a:spcAft>
              <a:buSzPts val="1400"/>
              <a:buChar char="○"/>
              <a:defRPr/>
            </a:lvl2pPr>
            <a:lvl3pPr indent="-317500" lvl="2" marL="1371600">
              <a:lnSpc>
                <a:spcPct val="115000"/>
              </a:lnSpc>
              <a:spcBef>
                <a:spcPts val="0"/>
              </a:spcBef>
              <a:spcAft>
                <a:spcPts val="0"/>
              </a:spcAft>
              <a:buSzPts val="1400"/>
              <a:buChar char="■"/>
              <a:defRPr/>
            </a:lvl3pPr>
            <a:lvl4pPr indent="-317500" lvl="3" marL="1828800">
              <a:lnSpc>
                <a:spcPct val="115000"/>
              </a:lnSpc>
              <a:spcBef>
                <a:spcPts val="0"/>
              </a:spcBef>
              <a:spcAft>
                <a:spcPts val="0"/>
              </a:spcAft>
              <a:buSzPts val="1400"/>
              <a:buChar char="●"/>
              <a:defRPr/>
            </a:lvl4pPr>
            <a:lvl5pPr indent="-317500" lvl="4" marL="2286000">
              <a:lnSpc>
                <a:spcPct val="115000"/>
              </a:lnSpc>
              <a:spcBef>
                <a:spcPts val="0"/>
              </a:spcBef>
              <a:spcAft>
                <a:spcPts val="0"/>
              </a:spcAft>
              <a:buSzPts val="1400"/>
              <a:buChar char="○"/>
              <a:defRPr/>
            </a:lvl5pPr>
            <a:lvl6pPr indent="-317500" lvl="5" marL="2743200">
              <a:lnSpc>
                <a:spcPct val="115000"/>
              </a:lnSpc>
              <a:spcBef>
                <a:spcPts val="0"/>
              </a:spcBef>
              <a:spcAft>
                <a:spcPts val="0"/>
              </a:spcAft>
              <a:buSzPts val="1400"/>
              <a:buChar char="■"/>
              <a:defRPr/>
            </a:lvl6pPr>
            <a:lvl7pPr indent="-317500" lvl="6" marL="3200400">
              <a:lnSpc>
                <a:spcPct val="115000"/>
              </a:lnSpc>
              <a:spcBef>
                <a:spcPts val="0"/>
              </a:spcBef>
              <a:spcAft>
                <a:spcPts val="0"/>
              </a:spcAft>
              <a:buSzPts val="1400"/>
              <a:buChar char="●"/>
              <a:defRPr/>
            </a:lvl7pPr>
            <a:lvl8pPr indent="-317500" lvl="7" marL="3657600">
              <a:lnSpc>
                <a:spcPct val="115000"/>
              </a:lnSpc>
              <a:spcBef>
                <a:spcPts val="0"/>
              </a:spcBef>
              <a:spcAft>
                <a:spcPts val="0"/>
              </a:spcAft>
              <a:buSzPts val="1400"/>
              <a:buChar char="○"/>
              <a:defRPr/>
            </a:lvl8pPr>
            <a:lvl9pPr indent="-317500" lvl="8" marL="4114800">
              <a:lnSpc>
                <a:spcPct val="115000"/>
              </a:lnSpc>
              <a:spcBef>
                <a:spcPts val="0"/>
              </a:spcBef>
              <a:spcAft>
                <a:spcPts val="0"/>
              </a:spcAft>
              <a:buSzPts val="1400"/>
              <a:buChar cha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5" name="Shape 95"/>
        <p:cNvGrpSpPr/>
        <p:nvPr/>
      </p:nvGrpSpPr>
      <p:grpSpPr>
        <a:xfrm>
          <a:off x="0" y="0"/>
          <a:ext cx="0" cy="0"/>
          <a:chOff x="0" y="0"/>
          <a:chExt cx="0" cy="0"/>
        </a:xfrm>
      </p:grpSpPr>
      <p:sp>
        <p:nvSpPr>
          <p:cNvPr id="96" name="Google Shape;9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97" name="Google Shape;9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98" name="Google Shape;9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creativecommons.org/licenses/by-nc-sa/4.0/" TargetMode="External"/><Relationship Id="rId6"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slide" Target="/ppt/slides/slide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7"/>
          <p:cNvSpPr txBox="1"/>
          <p:nvPr>
            <p:ph type="ctrTitle"/>
          </p:nvPr>
        </p:nvSpPr>
        <p:spPr>
          <a:xfrm>
            <a:off x="2156750" y="733775"/>
            <a:ext cx="69873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3.2</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355">
                <a:solidFill>
                  <a:schemeClr val="dk2"/>
                </a:solidFill>
                <a:latin typeface="Merriweather"/>
                <a:ea typeface="Merriweather"/>
                <a:cs typeface="Merriweather"/>
                <a:sym typeface="Merriweather"/>
              </a:rPr>
              <a:t>How can a computer learn to classify objects from examples?</a:t>
            </a:r>
            <a:endParaRPr sz="2355">
              <a:solidFill>
                <a:schemeClr val="dk2"/>
              </a:solidFill>
              <a:latin typeface="Merriweather"/>
              <a:ea typeface="Merriweather"/>
              <a:cs typeface="Merriweather"/>
              <a:sym typeface="Merriweather"/>
            </a:endParaRPr>
          </a:p>
        </p:txBody>
      </p:sp>
      <p:pic>
        <p:nvPicPr>
          <p:cNvPr id="145" name="Google Shape;145;p37"/>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146" name="Google Shape;146;p37"/>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147" name="Google Shape;147;p37"/>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148" name="Google Shape;148;p37"/>
          <p:cNvSpPr txBox="1"/>
          <p:nvPr/>
        </p:nvSpPr>
        <p:spPr>
          <a:xfrm>
            <a:off x="1377450" y="4491585"/>
            <a:ext cx="9053100" cy="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Developed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Attribution-NonComercial-ShareAlike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id="149" name="Google Shape;149;p37"/>
          <p:cNvPicPr preferRelativeResize="0"/>
          <p:nvPr/>
        </p:nvPicPr>
        <p:blipFill>
          <a:blip r:embed="rId6">
            <a:alphaModFix/>
          </a:blip>
          <a:stretch>
            <a:fillRect/>
          </a:stretch>
        </p:blipFill>
        <p:spPr>
          <a:xfrm>
            <a:off x="3773594" y="1984650"/>
            <a:ext cx="3018414" cy="22638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8"/>
          <p:cNvSpPr txBox="1"/>
          <p:nvPr>
            <p:ph type="title"/>
          </p:nvPr>
        </p:nvSpPr>
        <p:spPr>
          <a:xfrm>
            <a:off x="311700" y="445025"/>
            <a:ext cx="8889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00FF"/>
                </a:solidFill>
                <a:latin typeface="Alfa Slab One"/>
                <a:ea typeface="Alfa Slab One"/>
                <a:cs typeface="Alfa Slab One"/>
                <a:sym typeface="Alfa Slab One"/>
              </a:rPr>
              <a:t>Try It #1: </a:t>
            </a:r>
            <a:r>
              <a:rPr lang="en">
                <a:latin typeface="Alfa Slab One"/>
                <a:ea typeface="Alfa Slab One"/>
                <a:cs typeface="Alfa Slab One"/>
                <a:sym typeface="Alfa Slab One"/>
              </a:rPr>
              <a:t>Candy</a:t>
            </a:r>
            <a:r>
              <a:rPr lang="en">
                <a:latin typeface="Alfa Slab One"/>
                <a:ea typeface="Alfa Slab One"/>
                <a:cs typeface="Alfa Slab One"/>
                <a:sym typeface="Alfa Slab One"/>
              </a:rPr>
              <a:t> Land - Creating a Candy Classifier</a:t>
            </a:r>
            <a:endParaRPr>
              <a:latin typeface="Alfa Slab One"/>
              <a:ea typeface="Alfa Slab One"/>
              <a:cs typeface="Alfa Slab One"/>
              <a:sym typeface="Alfa Slab One"/>
            </a:endParaRPr>
          </a:p>
        </p:txBody>
      </p:sp>
      <p:sp>
        <p:nvSpPr>
          <p:cNvPr id="155" name="Google Shape;155;p38"/>
          <p:cNvSpPr txBox="1"/>
          <p:nvPr>
            <p:ph idx="1" type="body"/>
          </p:nvPr>
        </p:nvSpPr>
        <p:spPr>
          <a:xfrm>
            <a:off x="349500" y="1017725"/>
            <a:ext cx="8520600" cy="390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sz="1200">
                <a:solidFill>
                  <a:schemeClr val="dk1"/>
                </a:solidFill>
              </a:rPr>
              <a:t>Setup: </a:t>
            </a:r>
            <a:r>
              <a:rPr lang="en" sz="1200">
                <a:solidFill>
                  <a:schemeClr val="dk1"/>
                </a:solidFill>
              </a:rPr>
              <a:t>(a) Print out pages with a box and two arrows (</a:t>
            </a:r>
            <a:r>
              <a:rPr lang="en" sz="1200" u="sng">
                <a:solidFill>
                  <a:schemeClr val="hlink"/>
                </a:solidFill>
                <a:hlinkClick action="ppaction://hlinksldjump" r:id="rId3"/>
              </a:rPr>
              <a:t>link</a:t>
            </a:r>
            <a:r>
              <a:rPr lang="en" sz="1200">
                <a:solidFill>
                  <a:schemeClr val="dk1"/>
                </a:solidFill>
              </a:rPr>
              <a:t>) or use a large sheet of poster paper ; </a:t>
            </a:r>
            <a:br>
              <a:rPr lang="en" sz="1200">
                <a:solidFill>
                  <a:schemeClr val="dk1"/>
                </a:solidFill>
              </a:rPr>
            </a:br>
            <a:r>
              <a:rPr lang="en" sz="1200">
                <a:solidFill>
                  <a:schemeClr val="dk1"/>
                </a:solidFill>
              </a:rPr>
              <a:t>(b) eight </a:t>
            </a:r>
            <a:r>
              <a:rPr lang="en" sz="1200">
                <a:solidFill>
                  <a:schemeClr val="dk1"/>
                </a:solidFill>
              </a:rPr>
              <a:t>pieces of candy</a:t>
            </a:r>
            <a:r>
              <a:rPr lang="en" sz="1200">
                <a:solidFill>
                  <a:schemeClr val="dk1"/>
                </a:solidFill>
              </a:rPr>
              <a:t> that you can move around the nodes of your tree.</a:t>
            </a:r>
            <a:endParaRPr sz="1200">
              <a:solidFill>
                <a:schemeClr val="dk1"/>
              </a:solidFill>
            </a:endParaRPr>
          </a:p>
          <a:p>
            <a:pPr indent="0" lvl="0" marL="0" rtl="0" algn="l">
              <a:spcBef>
                <a:spcPts val="1200"/>
              </a:spcBef>
              <a:spcAft>
                <a:spcPts val="0"/>
              </a:spcAft>
              <a:buClr>
                <a:schemeClr val="dk1"/>
              </a:buClr>
              <a:buSzPts val="1100"/>
              <a:buFont typeface="Arial"/>
              <a:buNone/>
            </a:pPr>
            <a:r>
              <a:rPr b="1" i="1" lang="en" sz="1200">
                <a:solidFill>
                  <a:schemeClr val="dk1"/>
                </a:solidFill>
              </a:rPr>
              <a:t>Step 1:</a:t>
            </a:r>
            <a:r>
              <a:rPr b="1" i="1" lang="en" sz="1200">
                <a:solidFill>
                  <a:schemeClr val="dk1"/>
                </a:solidFill>
              </a:rPr>
              <a:t> </a:t>
            </a:r>
            <a:r>
              <a:rPr lang="en" sz="1200"/>
              <a:t>Pick a feature that will split the candy into two roughly equal groups</a:t>
            </a:r>
            <a:endParaRPr sz="1200"/>
          </a:p>
          <a:p>
            <a:pPr indent="-304800" lvl="0" marL="457200" rtl="0" algn="l">
              <a:spcBef>
                <a:spcPts val="1200"/>
              </a:spcBef>
              <a:spcAft>
                <a:spcPts val="0"/>
              </a:spcAft>
              <a:buSzPts val="1200"/>
              <a:buChar char="-"/>
            </a:pPr>
            <a:r>
              <a:rPr lang="en" sz="1200"/>
              <a:t>Doing this every time will give you the smallest number of questions</a:t>
            </a:r>
            <a:endParaRPr sz="1200"/>
          </a:p>
          <a:p>
            <a:pPr indent="-304800" lvl="0" marL="457200" rtl="0" algn="l">
              <a:spcBef>
                <a:spcPts val="0"/>
              </a:spcBef>
              <a:spcAft>
                <a:spcPts val="0"/>
              </a:spcAft>
              <a:buSzPts val="1200"/>
              <a:buChar char="-"/>
            </a:pPr>
            <a:r>
              <a:rPr lang="en" sz="1200"/>
              <a:t>This is similar to how real machine learning algorithms decide which feature to use for the next node</a:t>
            </a:r>
            <a:endParaRPr sz="1200"/>
          </a:p>
          <a:p>
            <a:pPr indent="0" lvl="0" marL="0" rtl="0" algn="l">
              <a:spcBef>
                <a:spcPts val="1200"/>
              </a:spcBef>
              <a:spcAft>
                <a:spcPts val="0"/>
              </a:spcAft>
              <a:buNone/>
            </a:pPr>
            <a:r>
              <a:rPr b="1" i="1" lang="en" sz="1200"/>
              <a:t>Step 3:</a:t>
            </a:r>
            <a:r>
              <a:rPr lang="en" sz="1200"/>
              <a:t> Take the features, build the decision tree. </a:t>
            </a:r>
            <a:endParaRPr sz="1200"/>
          </a:p>
          <a:p>
            <a:pPr indent="-304800" lvl="0" marL="457200" rtl="0" algn="l">
              <a:spcBef>
                <a:spcPts val="0"/>
              </a:spcBef>
              <a:spcAft>
                <a:spcPts val="0"/>
              </a:spcAft>
              <a:buSzPts val="1200"/>
              <a:buChar char="-"/>
            </a:pPr>
            <a:r>
              <a:rPr lang="en" sz="1200"/>
              <a:t>Make sure every </a:t>
            </a:r>
            <a:r>
              <a:rPr lang="en" sz="1200"/>
              <a:t>piece</a:t>
            </a:r>
            <a:r>
              <a:rPr lang="en" sz="1200"/>
              <a:t> of candy is a leaf</a:t>
            </a:r>
            <a:endParaRPr sz="1200"/>
          </a:p>
          <a:p>
            <a:pPr indent="-304800" lvl="0" marL="457200" rtl="0" algn="l">
              <a:spcBef>
                <a:spcPts val="0"/>
              </a:spcBef>
              <a:spcAft>
                <a:spcPts val="0"/>
              </a:spcAft>
              <a:buSzPts val="1200"/>
              <a:buChar char="-"/>
            </a:pPr>
            <a:r>
              <a:rPr lang="en" sz="1200">
                <a:solidFill>
                  <a:schemeClr val="dk1"/>
                </a:solidFill>
              </a:rPr>
              <a:t>You may not have enough features - if you end up with two pieces of candy at the same leaf</a:t>
            </a:r>
            <a:endParaRPr sz="1200"/>
          </a:p>
          <a:p>
            <a:pPr indent="0" lvl="0" marL="0" rtl="0" algn="l">
              <a:spcBef>
                <a:spcPts val="1200"/>
              </a:spcBef>
              <a:spcAft>
                <a:spcPts val="0"/>
              </a:spcAft>
              <a:buNone/>
            </a:pPr>
            <a:r>
              <a:rPr b="1" i="1" lang="en" sz="1200"/>
              <a:t>Step 4:</a:t>
            </a:r>
            <a:r>
              <a:rPr lang="en" sz="1200"/>
              <a:t> Test this out and update the features and the tree</a:t>
            </a:r>
            <a:endParaRPr sz="1200"/>
          </a:p>
          <a:p>
            <a:pPr indent="0" lvl="0" marL="0" rtl="0" algn="l">
              <a:spcBef>
                <a:spcPts val="1200"/>
              </a:spcBef>
              <a:spcAft>
                <a:spcPts val="0"/>
              </a:spcAft>
              <a:buNone/>
            </a:pPr>
            <a:r>
              <a:rPr b="1" i="1" lang="en" sz="1200"/>
              <a:t>Step 5:</a:t>
            </a:r>
            <a:r>
              <a:rPr lang="en" sz="1200"/>
              <a:t> Convert the tree into a table.</a:t>
            </a:r>
            <a:endParaRPr sz="1200"/>
          </a:p>
          <a:p>
            <a:pPr indent="-304800" lvl="0" marL="457200" rtl="0" algn="l">
              <a:spcBef>
                <a:spcPts val="0"/>
              </a:spcBef>
              <a:spcAft>
                <a:spcPts val="0"/>
              </a:spcAft>
              <a:buSzPts val="1200"/>
              <a:buChar char="-"/>
            </a:pPr>
            <a:r>
              <a:rPr lang="en" sz="1200"/>
              <a:t>The columns are the </a:t>
            </a:r>
            <a:r>
              <a:rPr lang="en" sz="1200"/>
              <a:t>features</a:t>
            </a:r>
            <a:endParaRPr sz="1200"/>
          </a:p>
          <a:p>
            <a:pPr indent="-304800" lvl="0" marL="457200" rtl="0" algn="l">
              <a:spcBef>
                <a:spcPts val="0"/>
              </a:spcBef>
              <a:spcAft>
                <a:spcPts val="0"/>
              </a:spcAft>
              <a:buSzPts val="1200"/>
              <a:buChar char="-"/>
            </a:pPr>
            <a:r>
              <a:rPr lang="en" sz="1200"/>
              <a:t>The rows are the leaves</a:t>
            </a:r>
            <a:endParaRPr sz="1200"/>
          </a:p>
          <a:p>
            <a:pPr indent="-304800" lvl="0" marL="457200" rtl="0" algn="l">
              <a:spcBef>
                <a:spcPts val="0"/>
              </a:spcBef>
              <a:spcAft>
                <a:spcPts val="0"/>
              </a:spcAft>
              <a:buSzPts val="1200"/>
              <a:buChar char="-"/>
            </a:pPr>
            <a:r>
              <a:rPr lang="en" sz="1200"/>
              <a:t>If the feature doesn’t apply, put N/A</a:t>
            </a:r>
            <a:endParaRPr sz="1200"/>
          </a:p>
        </p:txBody>
      </p:sp>
      <p:sp>
        <p:nvSpPr>
          <p:cNvPr id="156" name="Google Shape;156;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2" name="Google Shape;162;p39"/>
          <p:cNvSpPr txBox="1"/>
          <p:nvPr/>
        </p:nvSpPr>
        <p:spPr>
          <a:xfrm>
            <a:off x="304800" y="304800"/>
            <a:ext cx="8506500" cy="3000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t>Candy Decision Tree Implementation</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rPr lang="en" sz="1100"/>
              <a:t>Required materials:</a:t>
            </a:r>
            <a:endParaRPr sz="1100"/>
          </a:p>
          <a:p>
            <a:pPr indent="-298450" lvl="0" marL="457200" rtl="0" algn="l">
              <a:lnSpc>
                <a:spcPct val="115000"/>
              </a:lnSpc>
              <a:spcBef>
                <a:spcPts val="0"/>
              </a:spcBef>
              <a:spcAft>
                <a:spcPts val="0"/>
              </a:spcAft>
              <a:buSzPts val="1100"/>
              <a:buChar char="●"/>
            </a:pPr>
            <a:r>
              <a:rPr lang="en" sz="1100"/>
              <a:t>8 pieces of individually wrapped fun sized candy per group of two to four students ( What I had was four candies that were chocolate, and four that were not, but anything will work )</a:t>
            </a:r>
            <a:endParaRPr sz="1100"/>
          </a:p>
          <a:p>
            <a:pPr indent="-298450" lvl="0" marL="457200" rtl="0" algn="l">
              <a:lnSpc>
                <a:spcPct val="115000"/>
              </a:lnSpc>
              <a:spcBef>
                <a:spcPts val="0"/>
              </a:spcBef>
              <a:spcAft>
                <a:spcPts val="0"/>
              </a:spcAft>
              <a:buSzPts val="1100"/>
              <a:buChar char="●"/>
            </a:pPr>
            <a:r>
              <a:rPr lang="en" sz="1100"/>
              <a:t>7 printed decision trees per group (Last page of this document)</a:t>
            </a:r>
            <a:endParaRPr sz="1100"/>
          </a:p>
          <a:p>
            <a:pPr indent="-298450" lvl="0" marL="457200" rtl="0" algn="l">
              <a:lnSpc>
                <a:spcPct val="115000"/>
              </a:lnSpc>
              <a:spcBef>
                <a:spcPts val="0"/>
              </a:spcBef>
              <a:spcAft>
                <a:spcPts val="0"/>
              </a:spcAft>
              <a:buSzPts val="1100"/>
              <a:buChar char="●"/>
            </a:pPr>
            <a:r>
              <a:rPr lang="en" sz="1100"/>
              <a:t>8 notecards / sticky notes for each group</a:t>
            </a:r>
            <a:endParaRPr sz="1100"/>
          </a:p>
          <a:p>
            <a:pPr indent="-298450" lvl="0" marL="457200" rtl="0" algn="l">
              <a:lnSpc>
                <a:spcPct val="115000"/>
              </a:lnSpc>
              <a:spcBef>
                <a:spcPts val="0"/>
              </a:spcBef>
              <a:spcAft>
                <a:spcPts val="0"/>
              </a:spcAft>
              <a:buSzPts val="1100"/>
              <a:buChar char="●"/>
            </a:pPr>
            <a:r>
              <a:rPr lang="en" sz="1100"/>
              <a:t>Floor / table space to work as students will need space to lay out their tree.</a:t>
            </a:r>
            <a:endParaRPr sz="1100"/>
          </a:p>
          <a:p>
            <a:pPr indent="0" lvl="0" marL="45720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rPr lang="en" sz="1100"/>
              <a:t>Implementation:</a:t>
            </a:r>
            <a:endParaRPr sz="1100"/>
          </a:p>
          <a:p>
            <a:pPr indent="-298450" lvl="0" marL="457200" rtl="0" algn="l">
              <a:lnSpc>
                <a:spcPct val="115000"/>
              </a:lnSpc>
              <a:spcBef>
                <a:spcPts val="0"/>
              </a:spcBef>
              <a:spcAft>
                <a:spcPts val="0"/>
              </a:spcAft>
              <a:buSzPts val="1100"/>
              <a:buChar char="●"/>
            </a:pPr>
            <a:r>
              <a:rPr lang="en" sz="1100"/>
              <a:t>Tell students that they will be getting a piece of candy at the end of class so that they will focus on the task.</a:t>
            </a:r>
            <a:endParaRPr sz="1100"/>
          </a:p>
          <a:p>
            <a:pPr indent="-298450" lvl="0" marL="457200" rtl="0" algn="l">
              <a:lnSpc>
                <a:spcPct val="115000"/>
              </a:lnSpc>
              <a:spcBef>
                <a:spcPts val="0"/>
              </a:spcBef>
              <a:spcAft>
                <a:spcPts val="0"/>
              </a:spcAft>
              <a:buSzPts val="1100"/>
              <a:buChar char="●"/>
            </a:pPr>
            <a:r>
              <a:rPr lang="en" sz="1100"/>
              <a:t>Start by asking students what their science teacher would be looking for if they asked students to deceive the features of a bird (Color, beak shape, size, etc.)</a:t>
            </a:r>
            <a:endParaRPr sz="1100"/>
          </a:p>
          <a:p>
            <a:pPr indent="-298450" lvl="0" marL="457200" rtl="0" algn="l">
              <a:lnSpc>
                <a:spcPct val="115000"/>
              </a:lnSpc>
              <a:spcBef>
                <a:spcPts val="0"/>
              </a:spcBef>
              <a:spcAft>
                <a:spcPts val="0"/>
              </a:spcAft>
              <a:buSzPts val="1100"/>
              <a:buChar char="●"/>
            </a:pPr>
            <a:r>
              <a:rPr lang="en" sz="1100"/>
              <a:t>Using one index card per piece of candy, ask the students to write down the features of each piece of candy.</a:t>
            </a:r>
            <a:endParaRPr sz="1100"/>
          </a:p>
          <a:p>
            <a:pPr indent="-298450" lvl="0" marL="457200" rtl="0" algn="l">
              <a:lnSpc>
                <a:spcPct val="115000"/>
              </a:lnSpc>
              <a:spcBef>
                <a:spcPts val="0"/>
              </a:spcBef>
              <a:spcAft>
                <a:spcPts val="0"/>
              </a:spcAft>
              <a:buSzPts val="1100"/>
              <a:buChar char="●"/>
            </a:pPr>
            <a:r>
              <a:rPr lang="en" sz="1100"/>
              <a:t>Have students take out their first decision tree.  Tell them to write the word “Yes” by the line going down to the right and the word “No” by the line going down to the left.</a:t>
            </a:r>
            <a:endParaRPr sz="1100"/>
          </a:p>
          <a:p>
            <a:pPr indent="-298450" lvl="0" marL="457200" rtl="0" algn="l">
              <a:lnSpc>
                <a:spcPct val="115000"/>
              </a:lnSpc>
              <a:spcBef>
                <a:spcPts val="0"/>
              </a:spcBef>
              <a:spcAft>
                <a:spcPts val="0"/>
              </a:spcAft>
              <a:buSzPts val="1100"/>
              <a:buChar char="●"/>
            </a:pPr>
            <a:r>
              <a:rPr lang="en" sz="1100"/>
              <a:t>Ask each group to develop a question that uses their features to split the candy into two equal groups. Have each group move each candy and notecard to the end of the correct yes or no arrows.  </a:t>
            </a:r>
            <a:endParaRPr sz="1100"/>
          </a:p>
          <a:p>
            <a:pPr indent="-298450" lvl="0" marL="457200" rtl="0" algn="l">
              <a:lnSpc>
                <a:spcPct val="115000"/>
              </a:lnSpc>
              <a:spcBef>
                <a:spcPts val="0"/>
              </a:spcBef>
              <a:spcAft>
                <a:spcPts val="0"/>
              </a:spcAft>
              <a:buSzPts val="1100"/>
              <a:buChar char="●"/>
            </a:pPr>
            <a:r>
              <a:rPr lang="en" sz="1100"/>
              <a:t>Discuss what each group used as their first question (My class used chocolate or not)</a:t>
            </a:r>
            <a:endParaRPr sz="1100"/>
          </a:p>
          <a:p>
            <a:pPr indent="-298450" lvl="0" marL="457200" rtl="0" algn="l">
              <a:lnSpc>
                <a:spcPct val="115000"/>
              </a:lnSpc>
              <a:spcBef>
                <a:spcPts val="0"/>
              </a:spcBef>
              <a:spcAft>
                <a:spcPts val="0"/>
              </a:spcAft>
              <a:buSzPts val="1100"/>
              <a:buChar char="●"/>
            </a:pPr>
            <a:r>
              <a:rPr lang="en" sz="1100"/>
              <a:t>Have students take out two more decision trees and place them below the yes and now arrows</a:t>
            </a:r>
            <a:endParaRPr sz="1100"/>
          </a:p>
          <a:p>
            <a:pPr indent="-298450" lvl="0" marL="457200" rtl="0" algn="l">
              <a:lnSpc>
                <a:spcPct val="115000"/>
              </a:lnSpc>
              <a:spcBef>
                <a:spcPts val="0"/>
              </a:spcBef>
              <a:spcAft>
                <a:spcPts val="0"/>
              </a:spcAft>
              <a:buSzPts val="1100"/>
              <a:buChar char="●"/>
            </a:pPr>
            <a:r>
              <a:rPr lang="en" sz="1100"/>
              <a:t>Have students write in yes and no beside the lines like before, and develop a new question to split each of the two groups as equally in half as possible. </a:t>
            </a:r>
            <a:endParaRPr sz="1100"/>
          </a:p>
          <a:p>
            <a:pPr indent="-298450" lvl="0" marL="457200" rtl="0" algn="l">
              <a:lnSpc>
                <a:spcPct val="115000"/>
              </a:lnSpc>
              <a:spcBef>
                <a:spcPts val="0"/>
              </a:spcBef>
              <a:spcAft>
                <a:spcPts val="0"/>
              </a:spcAft>
              <a:buSzPts val="1100"/>
              <a:buChar char="●"/>
            </a:pPr>
            <a:r>
              <a:rPr lang="en" sz="1100"/>
              <a:t>Have students repeat this process, adding papers and questions until each candy is on its own at the end of an arrow.</a:t>
            </a:r>
            <a:endParaRPr sz="1100"/>
          </a:p>
          <a:p>
            <a:pPr indent="-298450" lvl="0" marL="457200" rtl="0" algn="l">
              <a:lnSpc>
                <a:spcPct val="115000"/>
              </a:lnSpc>
              <a:spcBef>
                <a:spcPts val="0"/>
              </a:spcBef>
              <a:spcAft>
                <a:spcPts val="0"/>
              </a:spcAft>
              <a:buSzPts val="1100"/>
              <a:buChar char="●"/>
            </a:pPr>
            <a:r>
              <a:rPr lang="en" sz="1100"/>
              <a:t>Have students move all of their candies above their first question, and then move to another groups decision tree</a:t>
            </a:r>
            <a:endParaRPr sz="1100"/>
          </a:p>
          <a:p>
            <a:pPr indent="-298450" lvl="0" marL="457200" rtl="0" algn="l">
              <a:lnSpc>
                <a:spcPct val="115000"/>
              </a:lnSpc>
              <a:spcBef>
                <a:spcPts val="0"/>
              </a:spcBef>
              <a:spcAft>
                <a:spcPts val="0"/>
              </a:spcAft>
              <a:buSzPts val="1100"/>
              <a:buChar char="●"/>
            </a:pPr>
            <a:r>
              <a:rPr lang="en" sz="1100"/>
              <a:t>Have students use the other group’s tree to sort the candies, moving the candies through the yes / no questions and paths. Tell students to do exactly what the question says. Be strict!  IT IS NORMAL AND OK FOR THINGS NOT TO WORK!!!!!</a:t>
            </a:r>
            <a:endParaRPr sz="1100"/>
          </a:p>
          <a:p>
            <a:pPr indent="-298450" lvl="0" marL="457200" rtl="0" algn="l">
              <a:lnSpc>
                <a:spcPct val="115000"/>
              </a:lnSpc>
              <a:spcBef>
                <a:spcPts val="0"/>
              </a:spcBef>
              <a:spcAft>
                <a:spcPts val="0"/>
              </a:spcAft>
              <a:buSzPts val="1100"/>
              <a:buChar char="●"/>
            </a:pPr>
            <a:r>
              <a:rPr lang="en" sz="1100"/>
              <a:t>Tell students to leave the candies where they end up on the tree, and then have students go back to their decision tree.  </a:t>
            </a:r>
            <a:endParaRPr sz="1100"/>
          </a:p>
          <a:p>
            <a:pPr indent="-298450" lvl="0" marL="457200" rtl="0" algn="l">
              <a:lnSpc>
                <a:spcPct val="115000"/>
              </a:lnSpc>
              <a:spcBef>
                <a:spcPts val="0"/>
              </a:spcBef>
              <a:spcAft>
                <a:spcPts val="0"/>
              </a:spcAft>
              <a:buSzPts val="1100"/>
              <a:buChar char="●"/>
            </a:pPr>
            <a:r>
              <a:rPr lang="en" sz="1100"/>
              <a:t>Have students make any changes they need to make to their questions</a:t>
            </a:r>
            <a:endParaRPr sz="1100"/>
          </a:p>
          <a:p>
            <a:pPr indent="-298450" lvl="0" marL="457200" rtl="0" algn="l">
              <a:lnSpc>
                <a:spcPct val="115000"/>
              </a:lnSpc>
              <a:spcBef>
                <a:spcPts val="0"/>
              </a:spcBef>
              <a:spcAft>
                <a:spcPts val="0"/>
              </a:spcAft>
              <a:buSzPts val="1100"/>
              <a:buChar char="●"/>
            </a:pPr>
            <a:r>
              <a:rPr lang="en" sz="1100"/>
              <a:t>Move the candies to the top of the tree, and then move to a different decision tree than they checked before </a:t>
            </a:r>
            <a:endParaRPr sz="1100"/>
          </a:p>
          <a:p>
            <a:pPr indent="-298450" lvl="0" marL="457200" rtl="0" algn="l">
              <a:lnSpc>
                <a:spcPct val="115000"/>
              </a:lnSpc>
              <a:spcBef>
                <a:spcPts val="0"/>
              </a:spcBef>
              <a:spcAft>
                <a:spcPts val="0"/>
              </a:spcAft>
              <a:buSzPts val="1100"/>
              <a:buChar char="●"/>
            </a:pPr>
            <a:r>
              <a:rPr lang="en" sz="1100"/>
              <a:t>Repeat the process of checking the other groups tree</a:t>
            </a:r>
            <a:endParaRPr sz="1100"/>
          </a:p>
          <a:p>
            <a:pPr indent="-298450" lvl="0" marL="457200" rtl="0" algn="l">
              <a:lnSpc>
                <a:spcPct val="115000"/>
              </a:lnSpc>
              <a:spcBef>
                <a:spcPts val="0"/>
              </a:spcBef>
              <a:spcAft>
                <a:spcPts val="0"/>
              </a:spcAft>
              <a:buSzPts val="1100"/>
              <a:buChar char="●"/>
            </a:pPr>
            <a:r>
              <a:rPr lang="en" sz="1100"/>
              <a:t>Have students go back to their original tree and make any final changes</a:t>
            </a:r>
            <a:endParaRPr sz="1100"/>
          </a:p>
          <a:p>
            <a:pPr indent="-298450" lvl="0" marL="457200" rtl="0" algn="l">
              <a:lnSpc>
                <a:spcPct val="115000"/>
              </a:lnSpc>
              <a:spcBef>
                <a:spcPts val="0"/>
              </a:spcBef>
              <a:spcAft>
                <a:spcPts val="0"/>
              </a:spcAft>
              <a:buSzPts val="1100"/>
              <a:buChar char="●"/>
            </a:pPr>
            <a:r>
              <a:rPr lang="en" sz="1100"/>
              <a:t>Document the trees by taking a picture of each group’s tree.</a:t>
            </a:r>
            <a:endParaRPr sz="1100"/>
          </a:p>
          <a:p>
            <a:pPr indent="-298450" lvl="0" marL="457200" rtl="0" algn="l">
              <a:lnSpc>
                <a:spcPct val="115000"/>
              </a:lnSpc>
              <a:spcBef>
                <a:spcPts val="0"/>
              </a:spcBef>
              <a:spcAft>
                <a:spcPts val="0"/>
              </a:spcAft>
              <a:buSzPts val="1100"/>
              <a:buChar char="●"/>
            </a:pPr>
            <a:r>
              <a:rPr lang="en" sz="1100"/>
              <a:t>Let the groups split up the candy or give them a piece</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rPr lang="en" sz="1100"/>
              <a:t>Discussion for the next day / wrap up</a:t>
            </a:r>
            <a:endParaRPr sz="1100"/>
          </a:p>
          <a:p>
            <a:pPr indent="-298450" lvl="0" marL="457200" rtl="0" algn="l">
              <a:lnSpc>
                <a:spcPct val="115000"/>
              </a:lnSpc>
              <a:spcBef>
                <a:spcPts val="0"/>
              </a:spcBef>
              <a:spcAft>
                <a:spcPts val="0"/>
              </a:spcAft>
              <a:buSzPts val="1100"/>
              <a:buChar char="●"/>
            </a:pPr>
            <a:r>
              <a:rPr lang="en" sz="1100"/>
              <a:t>Define terms</a:t>
            </a:r>
            <a:endParaRPr sz="1100"/>
          </a:p>
          <a:p>
            <a:pPr indent="-298450" lvl="1" marL="914400" rtl="0" algn="l">
              <a:lnSpc>
                <a:spcPct val="115000"/>
              </a:lnSpc>
              <a:spcBef>
                <a:spcPts val="0"/>
              </a:spcBef>
              <a:spcAft>
                <a:spcPts val="0"/>
              </a:spcAft>
              <a:buSzPts val="1100"/>
              <a:buChar char="○"/>
            </a:pPr>
            <a:r>
              <a:rPr lang="en" sz="1100"/>
              <a:t>Features</a:t>
            </a:r>
            <a:endParaRPr sz="1100"/>
          </a:p>
          <a:p>
            <a:pPr indent="-298450" lvl="1" marL="914400" rtl="0" algn="l">
              <a:lnSpc>
                <a:spcPct val="115000"/>
              </a:lnSpc>
              <a:spcBef>
                <a:spcPts val="0"/>
              </a:spcBef>
              <a:spcAft>
                <a:spcPts val="0"/>
              </a:spcAft>
              <a:buSzPts val="1100"/>
              <a:buChar char="○"/>
            </a:pPr>
            <a:r>
              <a:rPr lang="en" sz="1100"/>
              <a:t>Root node </a:t>
            </a:r>
            <a:endParaRPr sz="1100"/>
          </a:p>
          <a:p>
            <a:pPr indent="-298450" lvl="1" marL="914400" rtl="0" algn="l">
              <a:lnSpc>
                <a:spcPct val="115000"/>
              </a:lnSpc>
              <a:spcBef>
                <a:spcPts val="0"/>
              </a:spcBef>
              <a:spcAft>
                <a:spcPts val="0"/>
              </a:spcAft>
              <a:buSzPts val="1100"/>
              <a:buChar char="○"/>
            </a:pPr>
            <a:r>
              <a:rPr lang="en" sz="1100"/>
              <a:t>Decision node</a:t>
            </a:r>
            <a:endParaRPr sz="1100"/>
          </a:p>
          <a:p>
            <a:pPr indent="-298450" lvl="1" marL="914400" rtl="0" algn="l">
              <a:lnSpc>
                <a:spcPct val="115000"/>
              </a:lnSpc>
              <a:spcBef>
                <a:spcPts val="0"/>
              </a:spcBef>
              <a:spcAft>
                <a:spcPts val="0"/>
              </a:spcAft>
              <a:buSzPts val="1100"/>
              <a:buChar char="○"/>
            </a:pPr>
            <a:r>
              <a:rPr lang="en" sz="1100"/>
              <a:t>Leaf nodes</a:t>
            </a:r>
            <a:endParaRPr sz="1100"/>
          </a:p>
          <a:p>
            <a:pPr indent="-298450" lvl="0" marL="457200" rtl="0" algn="l">
              <a:lnSpc>
                <a:spcPct val="115000"/>
              </a:lnSpc>
              <a:spcBef>
                <a:spcPts val="0"/>
              </a:spcBef>
              <a:spcAft>
                <a:spcPts val="0"/>
              </a:spcAft>
              <a:buSzPts val="1100"/>
              <a:buChar char="●"/>
            </a:pPr>
            <a:r>
              <a:rPr lang="en" sz="1100"/>
              <a:t>Explain usefulness in real life</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Reeses cup</a:t>
            </a:r>
            <a:endParaRPr/>
          </a:p>
          <a:p>
            <a:pPr indent="0" lvl="0" marL="0" rtl="0" algn="l">
              <a:spcBef>
                <a:spcPts val="1200"/>
              </a:spcBef>
              <a:spcAft>
                <a:spcPts val="0"/>
              </a:spcAft>
              <a:buNone/>
            </a:pPr>
            <a:r>
              <a:rPr lang="en"/>
              <a:t>Hershey</a:t>
            </a:r>
            <a:r>
              <a:rPr lang="en"/>
              <a:t> Bar</a:t>
            </a:r>
            <a:endParaRPr/>
          </a:p>
          <a:p>
            <a:pPr indent="0" lvl="0" marL="0" rtl="0" algn="l">
              <a:spcBef>
                <a:spcPts val="1200"/>
              </a:spcBef>
              <a:spcAft>
                <a:spcPts val="0"/>
              </a:spcAft>
              <a:buNone/>
            </a:pPr>
            <a:r>
              <a:rPr lang="en"/>
              <a:t>Jolly rancher lollipop</a:t>
            </a:r>
            <a:endParaRPr/>
          </a:p>
          <a:p>
            <a:pPr indent="0" lvl="0" marL="0" rtl="0" algn="l">
              <a:spcBef>
                <a:spcPts val="1200"/>
              </a:spcBef>
              <a:spcAft>
                <a:spcPts val="0"/>
              </a:spcAft>
              <a:buNone/>
            </a:pPr>
            <a:r>
              <a:rPr lang="en"/>
              <a:t>Twizzler</a:t>
            </a:r>
            <a:endParaRPr/>
          </a:p>
          <a:p>
            <a:pPr indent="0" lvl="0" marL="0" rtl="0" algn="l">
              <a:spcBef>
                <a:spcPts val="1200"/>
              </a:spcBef>
              <a:spcAft>
                <a:spcPts val="0"/>
              </a:spcAft>
              <a:buNone/>
            </a:pPr>
            <a:r>
              <a:rPr lang="en"/>
              <a:t>Gummies</a:t>
            </a:r>
            <a:endParaRPr/>
          </a:p>
          <a:p>
            <a:pPr indent="0" lvl="0" marL="0" rtl="0" algn="l">
              <a:spcBef>
                <a:spcPts val="1200"/>
              </a:spcBef>
              <a:spcAft>
                <a:spcPts val="1200"/>
              </a:spcAft>
              <a:buNone/>
            </a:pPr>
            <a:r>
              <a:rPr lang="en"/>
              <a:t>Kitcat</a:t>
            </a:r>
            <a:endParaRPr/>
          </a:p>
        </p:txBody>
      </p:sp>
      <p:sp>
        <p:nvSpPr>
          <p:cNvPr id="168" name="Google Shape;168;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9" name="Google Shape;169;p40"/>
          <p:cNvSpPr txBox="1"/>
          <p:nvPr>
            <p:ph type="title"/>
          </p:nvPr>
        </p:nvSpPr>
        <p:spPr>
          <a:xfrm>
            <a:off x="831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Setup: Distribute Candy</a:t>
            </a:r>
            <a:endParaRPr/>
          </a:p>
        </p:txBody>
      </p:sp>
      <p:pic>
        <p:nvPicPr>
          <p:cNvPr id="170" name="Google Shape;170;p40"/>
          <p:cNvPicPr preferRelativeResize="0"/>
          <p:nvPr/>
        </p:nvPicPr>
        <p:blipFill>
          <a:blip r:embed="rId3">
            <a:alphaModFix/>
          </a:blip>
          <a:stretch>
            <a:fillRect/>
          </a:stretch>
        </p:blipFill>
        <p:spPr>
          <a:xfrm>
            <a:off x="3840000" y="562212"/>
            <a:ext cx="4992302" cy="3744227"/>
          </a:xfrm>
          <a:prstGeom prst="rect">
            <a:avLst/>
          </a:prstGeom>
          <a:noFill/>
          <a:ln>
            <a:noFill/>
          </a:ln>
        </p:spPr>
      </p:pic>
      <p:sp>
        <p:nvSpPr>
          <p:cNvPr id="171" name="Google Shape;171;p40"/>
          <p:cNvSpPr/>
          <p:nvPr/>
        </p:nvSpPr>
        <p:spPr>
          <a:xfrm rot="-754175">
            <a:off x="7322705" y="1034796"/>
            <a:ext cx="548650" cy="798228"/>
          </a:xfrm>
          <a:prstGeom prst="ellipse">
            <a:avLst/>
          </a:prstGeom>
          <a:solidFill>
            <a:srgbClr val="815B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77" name="Google Shape;177;p41"/>
          <p:cNvPicPr preferRelativeResize="0"/>
          <p:nvPr/>
        </p:nvPicPr>
        <p:blipFill>
          <a:blip r:embed="rId3">
            <a:alphaModFix/>
          </a:blip>
          <a:stretch>
            <a:fillRect/>
          </a:stretch>
        </p:blipFill>
        <p:spPr>
          <a:xfrm>
            <a:off x="1198073" y="37398"/>
            <a:ext cx="6747851" cy="506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3" name="Google Shape;183;p42"/>
          <p:cNvSpPr txBox="1"/>
          <p:nvPr/>
        </p:nvSpPr>
        <p:spPr>
          <a:xfrm>
            <a:off x="3690975" y="1153200"/>
            <a:ext cx="1297800" cy="4002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t/>
            </a:r>
            <a:endParaRPr/>
          </a:p>
        </p:txBody>
      </p:sp>
      <p:sp>
        <p:nvSpPr>
          <p:cNvPr id="184" name="Google Shape;184;p42"/>
          <p:cNvSpPr/>
          <p:nvPr/>
        </p:nvSpPr>
        <p:spPr>
          <a:xfrm>
            <a:off x="247950" y="7300"/>
            <a:ext cx="2143200" cy="45798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a:t>Step 1: </a:t>
            </a:r>
            <a:br>
              <a:rPr b="1" i="1" lang="en"/>
            </a:br>
            <a:r>
              <a:rPr lang="en"/>
              <a:t>List all the features you think may be useful to distinguish the candy.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br>
              <a:rPr lang="en"/>
            </a:br>
            <a:br>
              <a:rPr lang="en"/>
            </a:br>
            <a:endParaRPr/>
          </a:p>
        </p:txBody>
      </p:sp>
      <p:sp>
        <p:nvSpPr>
          <p:cNvPr id="185" name="Google Shape;185;p42"/>
          <p:cNvSpPr/>
          <p:nvPr/>
        </p:nvSpPr>
        <p:spPr>
          <a:xfrm>
            <a:off x="2559500" y="83500"/>
            <a:ext cx="1794000" cy="8013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a:solidFill>
                  <a:schemeClr val="dk1"/>
                </a:solidFill>
              </a:rPr>
              <a:t>Step 2: </a:t>
            </a:r>
            <a:r>
              <a:rPr lang="en">
                <a:solidFill>
                  <a:schemeClr val="dk1"/>
                </a:solidFill>
              </a:rPr>
              <a:t>Create a root node and place all the candy there.</a:t>
            </a:r>
            <a:br>
              <a:rPr lang="en"/>
            </a:br>
            <a:br>
              <a:rPr lang="en"/>
            </a:br>
            <a:endParaRPr/>
          </a:p>
        </p:txBody>
      </p:sp>
      <p:sp>
        <p:nvSpPr>
          <p:cNvPr id="186" name="Google Shape;186;p42"/>
          <p:cNvSpPr txBox="1"/>
          <p:nvPr/>
        </p:nvSpPr>
        <p:spPr>
          <a:xfrm>
            <a:off x="247950" y="4629175"/>
            <a:ext cx="62172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1"/>
                </a:solidFill>
              </a:rPr>
              <a:t>A</a:t>
            </a:r>
            <a:r>
              <a:rPr lang="en" sz="1800">
                <a:solidFill>
                  <a:srgbClr val="FF0000"/>
                </a:solidFill>
                <a:latin typeface="Permanent Marker"/>
                <a:ea typeface="Permanent Marker"/>
                <a:cs typeface="Permanent Marker"/>
                <a:sym typeface="Permanent Marker"/>
              </a:rPr>
              <a:t> feature </a:t>
            </a:r>
            <a:r>
              <a:rPr lang="en" sz="1800">
                <a:solidFill>
                  <a:schemeClr val="dk1"/>
                </a:solidFill>
              </a:rPr>
              <a:t>is a property of a thing we are trying to describe.</a:t>
            </a:r>
            <a:endParaRPr/>
          </a:p>
        </p:txBody>
      </p:sp>
      <p:sp>
        <p:nvSpPr>
          <p:cNvPr id="187" name="Google Shape;187;p42"/>
          <p:cNvSpPr/>
          <p:nvPr/>
        </p:nvSpPr>
        <p:spPr>
          <a:xfrm>
            <a:off x="4464650" y="83500"/>
            <a:ext cx="3155400" cy="8013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a:solidFill>
                  <a:schemeClr val="dk1"/>
                </a:solidFill>
              </a:rPr>
              <a:t>Step 3: </a:t>
            </a:r>
            <a:r>
              <a:rPr lang="en">
                <a:solidFill>
                  <a:schemeClr val="dk1"/>
                </a:solidFill>
              </a:rPr>
              <a:t>Pick a feature from the list that splits the candy examples in the current node roughly in half.</a:t>
            </a:r>
            <a:br>
              <a:rPr lang="en"/>
            </a:br>
            <a:br>
              <a:rPr lang="en"/>
            </a:b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3" name="Google Shape;193;p43"/>
          <p:cNvSpPr txBox="1"/>
          <p:nvPr/>
        </p:nvSpPr>
        <p:spPr>
          <a:xfrm>
            <a:off x="3690975" y="1000800"/>
            <a:ext cx="1297800" cy="4002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t/>
            </a:r>
            <a:endParaRPr/>
          </a:p>
        </p:txBody>
      </p:sp>
      <p:sp>
        <p:nvSpPr>
          <p:cNvPr id="194" name="Google Shape;194;p43"/>
          <p:cNvSpPr txBox="1"/>
          <p:nvPr/>
        </p:nvSpPr>
        <p:spPr>
          <a:xfrm>
            <a:off x="1633575" y="2296200"/>
            <a:ext cx="12978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t/>
            </a:r>
            <a:endParaRPr/>
          </a:p>
        </p:txBody>
      </p:sp>
      <p:sp>
        <p:nvSpPr>
          <p:cNvPr id="195" name="Google Shape;195;p43"/>
          <p:cNvSpPr txBox="1"/>
          <p:nvPr/>
        </p:nvSpPr>
        <p:spPr>
          <a:xfrm>
            <a:off x="6053175" y="2296200"/>
            <a:ext cx="12978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t/>
            </a:r>
            <a:endParaRPr/>
          </a:p>
        </p:txBody>
      </p:sp>
      <p:cxnSp>
        <p:nvCxnSpPr>
          <p:cNvPr id="196" name="Google Shape;196;p43"/>
          <p:cNvCxnSpPr>
            <a:stCxn id="193" idx="2"/>
            <a:endCxn id="194" idx="0"/>
          </p:cNvCxnSpPr>
          <p:nvPr/>
        </p:nvCxnSpPr>
        <p:spPr>
          <a:xfrm flipH="1">
            <a:off x="2282475" y="1401000"/>
            <a:ext cx="2057400" cy="895200"/>
          </a:xfrm>
          <a:prstGeom prst="straightConnector1">
            <a:avLst/>
          </a:prstGeom>
          <a:noFill/>
          <a:ln cap="flat" cmpd="sng" w="9525">
            <a:solidFill>
              <a:schemeClr val="dk2"/>
            </a:solidFill>
            <a:prstDash val="solid"/>
            <a:round/>
            <a:headEnd len="med" w="med" type="none"/>
            <a:tailEnd len="med" w="med" type="triangle"/>
          </a:ln>
        </p:spPr>
      </p:cxnSp>
      <p:cxnSp>
        <p:nvCxnSpPr>
          <p:cNvPr id="197" name="Google Shape;197;p43"/>
          <p:cNvCxnSpPr>
            <a:stCxn id="193" idx="2"/>
            <a:endCxn id="195" idx="0"/>
          </p:cNvCxnSpPr>
          <p:nvPr/>
        </p:nvCxnSpPr>
        <p:spPr>
          <a:xfrm>
            <a:off x="4339875" y="1401000"/>
            <a:ext cx="2362200" cy="895200"/>
          </a:xfrm>
          <a:prstGeom prst="straightConnector1">
            <a:avLst/>
          </a:prstGeom>
          <a:noFill/>
          <a:ln cap="flat" cmpd="sng" w="9525">
            <a:solidFill>
              <a:schemeClr val="dk2"/>
            </a:solidFill>
            <a:prstDash val="solid"/>
            <a:round/>
            <a:headEnd len="med" w="med" type="none"/>
            <a:tailEnd len="med" w="med" type="triangle"/>
          </a:ln>
        </p:spPr>
      </p:cxnSp>
      <p:sp>
        <p:nvSpPr>
          <p:cNvPr id="198" name="Google Shape;198;p43"/>
          <p:cNvSpPr txBox="1"/>
          <p:nvPr/>
        </p:nvSpPr>
        <p:spPr>
          <a:xfrm>
            <a:off x="2757525" y="1646125"/>
            <a:ext cx="54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Yes</a:t>
            </a:r>
            <a:endParaRPr/>
          </a:p>
        </p:txBody>
      </p:sp>
      <p:sp>
        <p:nvSpPr>
          <p:cNvPr id="199" name="Google Shape;199;p43"/>
          <p:cNvSpPr txBox="1"/>
          <p:nvPr/>
        </p:nvSpPr>
        <p:spPr>
          <a:xfrm>
            <a:off x="5653125" y="1646125"/>
            <a:ext cx="54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No</a:t>
            </a:r>
            <a:endParaRPr/>
          </a:p>
        </p:txBody>
      </p:sp>
      <p:sp>
        <p:nvSpPr>
          <p:cNvPr id="200" name="Google Shape;200;p43"/>
          <p:cNvSpPr/>
          <p:nvPr/>
        </p:nvSpPr>
        <p:spPr>
          <a:xfrm>
            <a:off x="120075" y="126725"/>
            <a:ext cx="2811300" cy="11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n"/>
              <a:t>Step 4: </a:t>
            </a:r>
            <a:r>
              <a:rPr lang="en"/>
              <a:t>Create two children of the current node and split its candy between them based on the feature.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6" name="Google Shape;206;p44"/>
          <p:cNvSpPr txBox="1"/>
          <p:nvPr/>
        </p:nvSpPr>
        <p:spPr>
          <a:xfrm>
            <a:off x="3690975" y="1000800"/>
            <a:ext cx="12978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Is it long?</a:t>
            </a:r>
            <a:endParaRPr/>
          </a:p>
        </p:txBody>
      </p:sp>
      <p:sp>
        <p:nvSpPr>
          <p:cNvPr id="207" name="Google Shape;207;p44"/>
          <p:cNvSpPr txBox="1"/>
          <p:nvPr/>
        </p:nvSpPr>
        <p:spPr>
          <a:xfrm>
            <a:off x="1100175" y="2296200"/>
            <a:ext cx="1297800" cy="4002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t/>
            </a:r>
            <a:endParaRPr/>
          </a:p>
        </p:txBody>
      </p:sp>
      <p:sp>
        <p:nvSpPr>
          <p:cNvPr id="208" name="Google Shape;208;p44"/>
          <p:cNvSpPr txBox="1"/>
          <p:nvPr/>
        </p:nvSpPr>
        <p:spPr>
          <a:xfrm>
            <a:off x="6053175" y="2296200"/>
            <a:ext cx="12978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t/>
            </a:r>
            <a:endParaRPr/>
          </a:p>
        </p:txBody>
      </p:sp>
      <p:cxnSp>
        <p:nvCxnSpPr>
          <p:cNvPr id="209" name="Google Shape;209;p44"/>
          <p:cNvCxnSpPr>
            <a:stCxn id="206" idx="2"/>
            <a:endCxn id="207" idx="0"/>
          </p:cNvCxnSpPr>
          <p:nvPr/>
        </p:nvCxnSpPr>
        <p:spPr>
          <a:xfrm flipH="1">
            <a:off x="1749075" y="1401000"/>
            <a:ext cx="2590800" cy="895200"/>
          </a:xfrm>
          <a:prstGeom prst="straightConnector1">
            <a:avLst/>
          </a:prstGeom>
          <a:noFill/>
          <a:ln cap="flat" cmpd="sng" w="9525">
            <a:solidFill>
              <a:schemeClr val="dk2"/>
            </a:solidFill>
            <a:prstDash val="solid"/>
            <a:round/>
            <a:headEnd len="med" w="med" type="none"/>
            <a:tailEnd len="med" w="med" type="triangle"/>
          </a:ln>
        </p:spPr>
      </p:cxnSp>
      <p:cxnSp>
        <p:nvCxnSpPr>
          <p:cNvPr id="210" name="Google Shape;210;p44"/>
          <p:cNvCxnSpPr>
            <a:stCxn id="206" idx="2"/>
            <a:endCxn id="208" idx="0"/>
          </p:cNvCxnSpPr>
          <p:nvPr/>
        </p:nvCxnSpPr>
        <p:spPr>
          <a:xfrm>
            <a:off x="4339875" y="1401000"/>
            <a:ext cx="2362200" cy="895200"/>
          </a:xfrm>
          <a:prstGeom prst="straightConnector1">
            <a:avLst/>
          </a:prstGeom>
          <a:noFill/>
          <a:ln cap="flat" cmpd="sng" w="9525">
            <a:solidFill>
              <a:schemeClr val="dk2"/>
            </a:solidFill>
            <a:prstDash val="solid"/>
            <a:round/>
            <a:headEnd len="med" w="med" type="none"/>
            <a:tailEnd len="med" w="med" type="triangle"/>
          </a:ln>
        </p:spPr>
      </p:cxnSp>
      <p:sp>
        <p:nvSpPr>
          <p:cNvPr id="211" name="Google Shape;211;p44"/>
          <p:cNvSpPr txBox="1"/>
          <p:nvPr/>
        </p:nvSpPr>
        <p:spPr>
          <a:xfrm>
            <a:off x="2452725" y="1646125"/>
            <a:ext cx="54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Yes</a:t>
            </a:r>
            <a:endParaRPr/>
          </a:p>
        </p:txBody>
      </p:sp>
      <p:sp>
        <p:nvSpPr>
          <p:cNvPr id="212" name="Google Shape;212;p44"/>
          <p:cNvSpPr txBox="1"/>
          <p:nvPr/>
        </p:nvSpPr>
        <p:spPr>
          <a:xfrm>
            <a:off x="5653125" y="1646125"/>
            <a:ext cx="54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No</a:t>
            </a:r>
            <a:endParaRPr/>
          </a:p>
        </p:txBody>
      </p:sp>
      <p:sp>
        <p:nvSpPr>
          <p:cNvPr id="213" name="Google Shape;213;p44"/>
          <p:cNvSpPr txBox="1"/>
          <p:nvPr/>
        </p:nvSpPr>
        <p:spPr>
          <a:xfrm>
            <a:off x="109575" y="3591600"/>
            <a:ext cx="12978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t/>
            </a:r>
            <a:endParaRPr/>
          </a:p>
        </p:txBody>
      </p:sp>
      <p:sp>
        <p:nvSpPr>
          <p:cNvPr id="214" name="Google Shape;214;p44"/>
          <p:cNvSpPr txBox="1"/>
          <p:nvPr/>
        </p:nvSpPr>
        <p:spPr>
          <a:xfrm>
            <a:off x="2700375" y="3591600"/>
            <a:ext cx="12978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t/>
            </a:r>
            <a:endParaRPr/>
          </a:p>
        </p:txBody>
      </p:sp>
      <p:cxnSp>
        <p:nvCxnSpPr>
          <p:cNvPr id="215" name="Google Shape;215;p44"/>
          <p:cNvCxnSpPr>
            <a:stCxn id="207" idx="2"/>
            <a:endCxn id="213" idx="0"/>
          </p:cNvCxnSpPr>
          <p:nvPr/>
        </p:nvCxnSpPr>
        <p:spPr>
          <a:xfrm flipH="1">
            <a:off x="758475" y="2696400"/>
            <a:ext cx="990600" cy="895200"/>
          </a:xfrm>
          <a:prstGeom prst="straightConnector1">
            <a:avLst/>
          </a:prstGeom>
          <a:noFill/>
          <a:ln cap="flat" cmpd="sng" w="9525">
            <a:solidFill>
              <a:schemeClr val="dk2"/>
            </a:solidFill>
            <a:prstDash val="solid"/>
            <a:round/>
            <a:headEnd len="med" w="med" type="none"/>
            <a:tailEnd len="med" w="med" type="triangle"/>
          </a:ln>
        </p:spPr>
      </p:cxnSp>
      <p:cxnSp>
        <p:nvCxnSpPr>
          <p:cNvPr id="216" name="Google Shape;216;p44"/>
          <p:cNvCxnSpPr>
            <a:stCxn id="207" idx="2"/>
            <a:endCxn id="214" idx="0"/>
          </p:cNvCxnSpPr>
          <p:nvPr/>
        </p:nvCxnSpPr>
        <p:spPr>
          <a:xfrm>
            <a:off x="1749075" y="2696400"/>
            <a:ext cx="1600200" cy="895200"/>
          </a:xfrm>
          <a:prstGeom prst="straightConnector1">
            <a:avLst/>
          </a:prstGeom>
          <a:noFill/>
          <a:ln cap="flat" cmpd="sng" w="9525">
            <a:solidFill>
              <a:schemeClr val="dk2"/>
            </a:solidFill>
            <a:prstDash val="solid"/>
            <a:round/>
            <a:headEnd len="med" w="med" type="none"/>
            <a:tailEnd len="med" w="med" type="triangle"/>
          </a:ln>
        </p:spPr>
      </p:cxnSp>
      <p:sp>
        <p:nvSpPr>
          <p:cNvPr id="217" name="Google Shape;217;p44"/>
          <p:cNvSpPr txBox="1"/>
          <p:nvPr/>
        </p:nvSpPr>
        <p:spPr>
          <a:xfrm>
            <a:off x="758475" y="2943900"/>
            <a:ext cx="54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Yes</a:t>
            </a:r>
            <a:endParaRPr/>
          </a:p>
        </p:txBody>
      </p:sp>
      <p:sp>
        <p:nvSpPr>
          <p:cNvPr id="218" name="Google Shape;218;p44"/>
          <p:cNvSpPr txBox="1"/>
          <p:nvPr/>
        </p:nvSpPr>
        <p:spPr>
          <a:xfrm>
            <a:off x="2618425" y="2946275"/>
            <a:ext cx="54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No</a:t>
            </a:r>
            <a:endParaRPr/>
          </a:p>
        </p:txBody>
      </p:sp>
      <p:sp>
        <p:nvSpPr>
          <p:cNvPr id="219" name="Google Shape;219;p44"/>
          <p:cNvSpPr/>
          <p:nvPr/>
        </p:nvSpPr>
        <p:spPr>
          <a:xfrm>
            <a:off x="120075" y="126725"/>
            <a:ext cx="2811300" cy="11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n"/>
              <a:t>Step 4: </a:t>
            </a:r>
            <a:r>
              <a:rPr lang="en"/>
              <a:t>Create two children of the current node and split its candy between them based on the feature.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5" name="Google Shape;225;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Now that we’ve created our classifier</a:t>
            </a:r>
            <a:endParaRPr/>
          </a:p>
        </p:txBody>
      </p:sp>
      <p:sp>
        <p:nvSpPr>
          <p:cNvPr id="226" name="Google Shape;226;p45"/>
          <p:cNvSpPr txBox="1"/>
          <p:nvPr>
            <p:ph idx="1" type="body"/>
          </p:nvPr>
        </p:nvSpPr>
        <p:spPr>
          <a:xfrm>
            <a:off x="311700" y="1073600"/>
            <a:ext cx="8520600" cy="1557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can describe pasta using feature vectors. </a:t>
            </a:r>
            <a:endParaRPr/>
          </a:p>
          <a:p>
            <a:pPr indent="0" lvl="0" marL="0" rtl="0" algn="l">
              <a:spcBef>
                <a:spcPts val="1200"/>
              </a:spcBef>
              <a:spcAft>
                <a:spcPts val="0"/>
              </a:spcAft>
              <a:buNone/>
            </a:pPr>
            <a:r>
              <a:rPr lang="en">
                <a:solidFill>
                  <a:schemeClr val="dk1"/>
                </a:solidFill>
              </a:rPr>
              <a:t>A</a:t>
            </a:r>
            <a:r>
              <a:rPr lang="en">
                <a:solidFill>
                  <a:srgbClr val="FF0000"/>
                </a:solidFill>
                <a:latin typeface="Permanent Marker"/>
                <a:ea typeface="Permanent Marker"/>
                <a:cs typeface="Permanent Marker"/>
                <a:sym typeface="Permanent Marker"/>
              </a:rPr>
              <a:t> feature </a:t>
            </a:r>
            <a:r>
              <a:rPr lang="en">
                <a:solidFill>
                  <a:schemeClr val="dk1"/>
                </a:solidFill>
              </a:rPr>
              <a:t>is a property of a thing we are trying to describe.</a:t>
            </a:r>
            <a:endParaRPr/>
          </a:p>
          <a:p>
            <a:pPr indent="0" lvl="0" marL="0" rtl="0" algn="l">
              <a:spcBef>
                <a:spcPts val="1200"/>
              </a:spcBef>
              <a:spcAft>
                <a:spcPts val="1200"/>
              </a:spcAft>
              <a:buNone/>
            </a:pPr>
            <a:r>
              <a:rPr lang="en"/>
              <a:t>A </a:t>
            </a:r>
            <a:r>
              <a:rPr lang="en">
                <a:solidFill>
                  <a:srgbClr val="FF0000"/>
                </a:solidFill>
                <a:latin typeface="Permanent Marker"/>
                <a:ea typeface="Permanent Marker"/>
                <a:cs typeface="Permanent Marker"/>
                <a:sym typeface="Permanent Marker"/>
              </a:rPr>
              <a:t>featurE Vector</a:t>
            </a:r>
            <a:r>
              <a:rPr lang="en"/>
              <a:t> is an ordered list of properties.</a:t>
            </a:r>
            <a:endParaRPr/>
          </a:p>
        </p:txBody>
      </p:sp>
      <p:graphicFrame>
        <p:nvGraphicFramePr>
          <p:cNvPr id="227" name="Google Shape;227;p45"/>
          <p:cNvGraphicFramePr/>
          <p:nvPr/>
        </p:nvGraphicFramePr>
        <p:xfrm>
          <a:off x="395550" y="3092710"/>
          <a:ext cx="3000000" cy="3000000"/>
        </p:xfrm>
        <a:graphic>
          <a:graphicData uri="http://schemas.openxmlformats.org/drawingml/2006/table">
            <a:tbl>
              <a:tblPr>
                <a:noFill/>
                <a:tableStyleId>{D24B53F7-EC2A-47EB-9511-3FD6F6E82F80}</a:tableStyleId>
              </a:tblPr>
              <a:tblGrid>
                <a:gridCol w="1809750"/>
                <a:gridCol w="1809750"/>
                <a:gridCol w="1809750"/>
                <a:gridCol w="1809750"/>
              </a:tblGrid>
              <a:tr h="393600">
                <a:tc>
                  <a:txBody>
                    <a:bodyPr/>
                    <a:lstStyle/>
                    <a:p>
                      <a:pPr indent="0" lvl="0" marL="0" rtl="0" algn="ctr">
                        <a:spcBef>
                          <a:spcPts val="0"/>
                        </a:spcBef>
                        <a:spcAft>
                          <a:spcPts val="0"/>
                        </a:spcAft>
                        <a:buNone/>
                      </a:pPr>
                      <a:r>
                        <a:rPr b="1" lang="en"/>
                        <a:t>candy</a:t>
                      </a:r>
                      <a:endParaRPr b="1"/>
                    </a:p>
                  </a:txBody>
                  <a:tcPr marT="91425" marB="91425" marR="91425" marL="91425"/>
                </a:tc>
                <a:tc>
                  <a:txBody>
                    <a:bodyPr/>
                    <a:lstStyle/>
                    <a:p>
                      <a:pPr indent="0" lvl="0" marL="0" rtl="0" algn="ctr">
                        <a:spcBef>
                          <a:spcPts val="0"/>
                        </a:spcBef>
                        <a:spcAft>
                          <a:spcPts val="0"/>
                        </a:spcAft>
                        <a:buNone/>
                      </a:pPr>
                      <a:r>
                        <a:rPr lang="en">
                          <a:highlight>
                            <a:srgbClr val="FFFF00"/>
                          </a:highlight>
                        </a:rPr>
                        <a:t>Is it long?</a:t>
                      </a:r>
                      <a:endParaRPr>
                        <a:highlight>
                          <a:srgbClr val="FFFF00"/>
                        </a:highlight>
                      </a:endParaRPr>
                    </a:p>
                  </a:txBody>
                  <a:tcPr marT="91425" marB="91425" marR="91425" marL="91425"/>
                </a:tc>
                <a:tc>
                  <a:txBody>
                    <a:bodyPr/>
                    <a:lstStyle/>
                    <a:p>
                      <a:pPr indent="0" lvl="0" marL="0" rtl="0" algn="ctr">
                        <a:spcBef>
                          <a:spcPts val="0"/>
                        </a:spcBef>
                        <a:spcAft>
                          <a:spcPts val="0"/>
                        </a:spcAft>
                        <a:buNone/>
                      </a:pPr>
                      <a:r>
                        <a:rPr lang="en">
                          <a:highlight>
                            <a:srgbClr val="FFFF00"/>
                          </a:highlight>
                        </a:rPr>
                        <a:t>Is it wide?</a:t>
                      </a:r>
                      <a:endParaRPr>
                        <a:highlight>
                          <a:srgbClr val="FFFF00"/>
                        </a:highlight>
                      </a:endParaRPr>
                    </a:p>
                  </a:txBody>
                  <a:tcPr marT="91425" marB="91425" marR="91425" marL="91425"/>
                </a:tc>
                <a:tc>
                  <a:txBody>
                    <a:bodyPr/>
                    <a:lstStyle/>
                    <a:p>
                      <a:pPr indent="0" lvl="0" marL="0" rtl="0" algn="ctr">
                        <a:spcBef>
                          <a:spcPts val="0"/>
                        </a:spcBef>
                        <a:spcAft>
                          <a:spcPts val="0"/>
                        </a:spcAft>
                        <a:buNone/>
                      </a:pPr>
                      <a:r>
                        <a:rPr lang="en">
                          <a:highlight>
                            <a:srgbClr val="FFFF00"/>
                          </a:highlight>
                        </a:rPr>
                        <a:t>Is it stuffed?</a:t>
                      </a:r>
                      <a:endParaRPr>
                        <a:highlight>
                          <a:srgbClr val="FFFF00"/>
                        </a:highlight>
                      </a:endParaRPr>
                    </a:p>
                  </a:txBody>
                  <a:tcPr marT="91425" marB="91425" marR="91425" marL="91425"/>
                </a:tc>
              </a:tr>
            </a:tbl>
          </a:graphicData>
        </a:graphic>
      </p:graphicFrame>
      <p:sp>
        <p:nvSpPr>
          <p:cNvPr id="228" name="Google Shape;228;p45"/>
          <p:cNvSpPr txBox="1"/>
          <p:nvPr/>
        </p:nvSpPr>
        <p:spPr>
          <a:xfrm>
            <a:off x="311700" y="2631000"/>
            <a:ext cx="4079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Our feature vector:</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4" name="Google Shape;234;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 Vector Description of Pasta</a:t>
            </a:r>
            <a:endParaRPr/>
          </a:p>
        </p:txBody>
      </p:sp>
      <p:sp>
        <p:nvSpPr>
          <p:cNvPr id="235" name="Google Shape;235;p46"/>
          <p:cNvSpPr txBox="1"/>
          <p:nvPr>
            <p:ph idx="1" type="body"/>
          </p:nvPr>
        </p:nvSpPr>
        <p:spPr>
          <a:xfrm>
            <a:off x="311700" y="1000075"/>
            <a:ext cx="8520600" cy="1078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We’ve created a language for describing pasta that is useful for machine learning.</a:t>
            </a:r>
            <a:endParaRPr/>
          </a:p>
          <a:p>
            <a:pPr indent="0" lvl="0" marL="0" rtl="0" algn="l">
              <a:spcBef>
                <a:spcPts val="1200"/>
              </a:spcBef>
              <a:spcAft>
                <a:spcPts val="1200"/>
              </a:spcAft>
              <a:buNone/>
            </a:pPr>
            <a:r>
              <a:rPr lang="en"/>
              <a:t> </a:t>
            </a:r>
            <a:br>
              <a:rPr lang="en"/>
            </a:br>
            <a:r>
              <a:rPr lang="en"/>
              <a:t>Your data is a feature vector - it isn’t a picture of pasta.</a:t>
            </a:r>
            <a:endParaRPr/>
          </a:p>
        </p:txBody>
      </p:sp>
      <p:graphicFrame>
        <p:nvGraphicFramePr>
          <p:cNvPr id="236" name="Google Shape;236;p46"/>
          <p:cNvGraphicFramePr/>
          <p:nvPr/>
        </p:nvGraphicFramePr>
        <p:xfrm>
          <a:off x="913450" y="2247650"/>
          <a:ext cx="3000000" cy="3000000"/>
        </p:xfrm>
        <a:graphic>
          <a:graphicData uri="http://schemas.openxmlformats.org/drawingml/2006/table">
            <a:tbl>
              <a:tblPr>
                <a:noFill/>
                <a:tableStyleId>{D24B53F7-EC2A-47EB-9511-3FD6F6E82F80}</a:tableStyleId>
              </a:tblPr>
              <a:tblGrid>
                <a:gridCol w="1809750"/>
                <a:gridCol w="1809750"/>
                <a:gridCol w="1809750"/>
                <a:gridCol w="1809750"/>
              </a:tblGrid>
              <a:tr h="381000">
                <a:tc>
                  <a:txBody>
                    <a:bodyPr/>
                    <a:lstStyle/>
                    <a:p>
                      <a:pPr indent="0" lvl="0" marL="0" rtl="0" algn="ctr">
                        <a:spcBef>
                          <a:spcPts val="0"/>
                        </a:spcBef>
                        <a:spcAft>
                          <a:spcPts val="0"/>
                        </a:spcAft>
                        <a:buNone/>
                      </a:pPr>
                      <a:r>
                        <a:rPr b="1" lang="en"/>
                        <a:t>Candy</a:t>
                      </a:r>
                      <a:endParaRPr b="1"/>
                    </a:p>
                  </a:txBody>
                  <a:tcPr marT="91425" marB="91425" marR="91425" marL="91425"/>
                </a:tc>
                <a:tc>
                  <a:txBody>
                    <a:bodyPr/>
                    <a:lstStyle/>
                    <a:p>
                      <a:pPr indent="0" lvl="0" marL="0" rtl="0" algn="ctr">
                        <a:spcBef>
                          <a:spcPts val="0"/>
                        </a:spcBef>
                        <a:spcAft>
                          <a:spcPts val="0"/>
                        </a:spcAft>
                        <a:buNone/>
                      </a:pPr>
                      <a:r>
                        <a:rPr lang="en"/>
                        <a:t>Is it long?</a:t>
                      </a:r>
                      <a:endParaRPr/>
                    </a:p>
                  </a:txBody>
                  <a:tcPr marT="91425" marB="91425" marR="91425" marL="91425"/>
                </a:tc>
                <a:tc>
                  <a:txBody>
                    <a:bodyPr/>
                    <a:lstStyle/>
                    <a:p>
                      <a:pPr indent="0" lvl="0" marL="0" rtl="0" algn="ctr">
                        <a:spcBef>
                          <a:spcPts val="0"/>
                        </a:spcBef>
                        <a:spcAft>
                          <a:spcPts val="0"/>
                        </a:spcAft>
                        <a:buNone/>
                      </a:pPr>
                      <a:r>
                        <a:rPr lang="en"/>
                        <a:t>Is it wide?</a:t>
                      </a:r>
                      <a:endParaRPr/>
                    </a:p>
                  </a:txBody>
                  <a:tcPr marT="91425" marB="91425" marR="91425" marL="91425"/>
                </a:tc>
                <a:tc>
                  <a:txBody>
                    <a:bodyPr/>
                    <a:lstStyle/>
                    <a:p>
                      <a:pPr indent="0" lvl="0" marL="0" rtl="0" algn="ctr">
                        <a:spcBef>
                          <a:spcPts val="0"/>
                        </a:spcBef>
                        <a:spcAft>
                          <a:spcPts val="0"/>
                        </a:spcAft>
                        <a:buNone/>
                      </a:pPr>
                      <a:r>
                        <a:rPr lang="en"/>
                        <a:t>Is it stuffed?</a:t>
                      </a:r>
                      <a:endParaRPr/>
                    </a:p>
                  </a:txBody>
                  <a:tcPr marT="91425" marB="91425" marR="91425" marL="91425"/>
                </a:tc>
              </a:tr>
              <a:tr h="381000">
                <a:tc>
                  <a:txBody>
                    <a:bodyPr/>
                    <a:lstStyle/>
                    <a:p>
                      <a:pPr indent="0" lvl="0" marL="0" rtl="0" algn="ctr">
                        <a:spcBef>
                          <a:spcPts val="0"/>
                        </a:spcBef>
                        <a:spcAft>
                          <a:spcPts val="0"/>
                        </a:spcAft>
                        <a:buNone/>
                      </a:pPr>
                      <a:r>
                        <a:rPr lang="en"/>
                        <a:t>Spaghetti</a:t>
                      </a:r>
                      <a:endParaRPr/>
                    </a:p>
                  </a:txBody>
                  <a:tcPr marT="91425" marB="91425" marR="91425" marL="91425"/>
                </a:tc>
                <a:tc>
                  <a:txBody>
                    <a:bodyPr/>
                    <a:lstStyle/>
                    <a:p>
                      <a:pPr indent="0" lvl="0" marL="0" rtl="0" algn="ctr">
                        <a:spcBef>
                          <a:spcPts val="0"/>
                        </a:spcBef>
                        <a:spcAft>
                          <a:spcPts val="0"/>
                        </a:spcAft>
                        <a:buNone/>
                      </a:pPr>
                      <a:r>
                        <a:rPr lang="en"/>
                        <a:t>Y</a:t>
                      </a:r>
                      <a:endParaRPr/>
                    </a:p>
                  </a:txBody>
                  <a:tcPr marT="91425" marB="91425" marR="91425" marL="91425"/>
                </a:tc>
                <a:tc>
                  <a:txBody>
                    <a:bodyPr/>
                    <a:lstStyle/>
                    <a:p>
                      <a:pPr indent="0" lvl="0" marL="0" rtl="0" algn="ctr">
                        <a:spcBef>
                          <a:spcPts val="0"/>
                        </a:spcBef>
                        <a:spcAft>
                          <a:spcPts val="0"/>
                        </a:spcAft>
                        <a:buNone/>
                      </a:pPr>
                      <a:r>
                        <a:rPr lang="en"/>
                        <a:t>N</a:t>
                      </a:r>
                      <a:endParaRPr/>
                    </a:p>
                  </a:txBody>
                  <a:tcPr marT="91425" marB="91425" marR="91425" marL="91425"/>
                </a:tc>
                <a:tc>
                  <a:txBody>
                    <a:bodyPr/>
                    <a:lstStyle/>
                    <a:p>
                      <a:pPr indent="0" lvl="0" marL="0" rtl="0" algn="ctr">
                        <a:spcBef>
                          <a:spcPts val="0"/>
                        </a:spcBef>
                        <a:spcAft>
                          <a:spcPts val="0"/>
                        </a:spcAft>
                        <a:buNone/>
                      </a:pPr>
                      <a:r>
                        <a:rPr lang="en"/>
                        <a:t>N</a:t>
                      </a:r>
                      <a:endParaRPr/>
                    </a:p>
                  </a:txBody>
                  <a:tcPr marT="91425" marB="91425" marR="91425" marL="91425"/>
                </a:tc>
              </a:tr>
              <a:tr h="381000">
                <a:tc>
                  <a:txBody>
                    <a:bodyPr/>
                    <a:lstStyle/>
                    <a:p>
                      <a:pPr indent="0" lvl="0" marL="0" rtl="0" algn="ctr">
                        <a:spcBef>
                          <a:spcPts val="0"/>
                        </a:spcBef>
                        <a:spcAft>
                          <a:spcPts val="0"/>
                        </a:spcAft>
                        <a:buNone/>
                      </a:pPr>
                      <a:r>
                        <a:rPr lang="en"/>
                        <a:t>Lasagne</a:t>
                      </a:r>
                      <a:endParaRPr/>
                    </a:p>
                  </a:txBody>
                  <a:tcPr marT="91425" marB="91425" marR="91425" marL="91425"/>
                </a:tc>
                <a:tc>
                  <a:txBody>
                    <a:bodyPr/>
                    <a:lstStyle/>
                    <a:p>
                      <a:pPr indent="0" lvl="0" marL="0" rtl="0" algn="ctr">
                        <a:spcBef>
                          <a:spcPts val="0"/>
                        </a:spcBef>
                        <a:spcAft>
                          <a:spcPts val="0"/>
                        </a:spcAft>
                        <a:buNone/>
                      </a:pPr>
                      <a:r>
                        <a:rPr lang="en"/>
                        <a:t>Y</a:t>
                      </a:r>
                      <a:endParaRPr/>
                    </a:p>
                  </a:txBody>
                  <a:tcPr marT="91425" marB="91425" marR="91425" marL="91425"/>
                </a:tc>
                <a:tc>
                  <a:txBody>
                    <a:bodyPr/>
                    <a:lstStyle/>
                    <a:p>
                      <a:pPr indent="0" lvl="0" marL="0" rtl="0" algn="ctr">
                        <a:spcBef>
                          <a:spcPts val="0"/>
                        </a:spcBef>
                        <a:spcAft>
                          <a:spcPts val="0"/>
                        </a:spcAft>
                        <a:buNone/>
                      </a:pPr>
                      <a:r>
                        <a:rPr lang="en"/>
                        <a:t>Y</a:t>
                      </a:r>
                      <a:endParaRPr/>
                    </a:p>
                  </a:txBody>
                  <a:tcPr marT="91425" marB="91425" marR="91425" marL="91425"/>
                </a:tc>
                <a:tc>
                  <a:txBody>
                    <a:bodyPr/>
                    <a:lstStyle/>
                    <a:p>
                      <a:pPr indent="0" lvl="0" marL="0" rtl="0" algn="ctr">
                        <a:spcBef>
                          <a:spcPts val="0"/>
                        </a:spcBef>
                        <a:spcAft>
                          <a:spcPts val="0"/>
                        </a:spcAft>
                        <a:buNone/>
                      </a:pPr>
                      <a:r>
                        <a:rPr lang="en"/>
                        <a:t>N</a:t>
                      </a:r>
                      <a:endParaRPr/>
                    </a:p>
                  </a:txBody>
                  <a:tcPr marT="91425" marB="91425" marR="91425" marL="91425"/>
                </a:tc>
              </a:tr>
              <a:tr h="381000">
                <a:tc>
                  <a:txBody>
                    <a:bodyPr/>
                    <a:lstStyle/>
                    <a:p>
                      <a:pPr indent="0" lvl="0" marL="0" rtl="0" algn="ctr">
                        <a:spcBef>
                          <a:spcPts val="0"/>
                        </a:spcBef>
                        <a:spcAft>
                          <a:spcPts val="0"/>
                        </a:spcAft>
                        <a:buNone/>
                      </a:pPr>
                      <a:r>
                        <a:rPr lang="en"/>
                        <a:t>Rigatoni</a:t>
                      </a:r>
                      <a:endParaRPr/>
                    </a:p>
                  </a:txBody>
                  <a:tcPr marT="91425" marB="91425" marR="91425" marL="91425"/>
                </a:tc>
                <a:tc>
                  <a:txBody>
                    <a:bodyPr/>
                    <a:lstStyle/>
                    <a:p>
                      <a:pPr indent="0" lvl="0" marL="0" rtl="0" algn="ctr">
                        <a:spcBef>
                          <a:spcPts val="0"/>
                        </a:spcBef>
                        <a:spcAft>
                          <a:spcPts val="0"/>
                        </a:spcAft>
                        <a:buNone/>
                      </a:pPr>
                      <a:r>
                        <a:rPr lang="en"/>
                        <a:t>N</a:t>
                      </a:r>
                      <a:endParaRPr/>
                    </a:p>
                  </a:txBody>
                  <a:tcPr marT="91425" marB="91425" marR="91425" marL="91425"/>
                </a:tc>
                <a:tc>
                  <a:txBody>
                    <a:bodyPr/>
                    <a:lstStyle/>
                    <a:p>
                      <a:pPr indent="0" lvl="0" marL="0" rtl="0" algn="ctr">
                        <a:spcBef>
                          <a:spcPts val="0"/>
                        </a:spcBef>
                        <a:spcAft>
                          <a:spcPts val="0"/>
                        </a:spcAft>
                        <a:buNone/>
                      </a:pPr>
                      <a:r>
                        <a:rPr lang="en"/>
                        <a:t>N</a:t>
                      </a:r>
                      <a:endParaRPr/>
                    </a:p>
                  </a:txBody>
                  <a:tcPr marT="91425" marB="91425" marR="91425" marL="91425"/>
                </a:tc>
                <a:tc>
                  <a:txBody>
                    <a:bodyPr/>
                    <a:lstStyle/>
                    <a:p>
                      <a:pPr indent="0" lvl="0" marL="0" rtl="0" algn="ctr">
                        <a:spcBef>
                          <a:spcPts val="0"/>
                        </a:spcBef>
                        <a:spcAft>
                          <a:spcPts val="0"/>
                        </a:spcAft>
                        <a:buNone/>
                      </a:pPr>
                      <a:r>
                        <a:rPr lang="en"/>
                        <a:t>N</a:t>
                      </a:r>
                      <a:endParaRPr/>
                    </a:p>
                  </a:txBody>
                  <a:tcPr marT="91425" marB="91425" marR="91425" marL="91425"/>
                </a:tc>
              </a:tr>
              <a:tr h="381000">
                <a:tc>
                  <a:txBody>
                    <a:bodyPr/>
                    <a:lstStyle/>
                    <a:p>
                      <a:pPr indent="0" lvl="0" marL="0" rtl="0" algn="ctr">
                        <a:spcBef>
                          <a:spcPts val="0"/>
                        </a:spcBef>
                        <a:spcAft>
                          <a:spcPts val="0"/>
                        </a:spcAft>
                        <a:buNone/>
                      </a:pPr>
                      <a:r>
                        <a:rPr lang="en"/>
                        <a:t>Ravioli</a:t>
                      </a:r>
                      <a:endParaRPr/>
                    </a:p>
                  </a:txBody>
                  <a:tcPr marT="91425" marB="91425" marR="91425" marL="91425"/>
                </a:tc>
                <a:tc>
                  <a:txBody>
                    <a:bodyPr/>
                    <a:lstStyle/>
                    <a:p>
                      <a:pPr indent="0" lvl="0" marL="0" rtl="0" algn="ctr">
                        <a:spcBef>
                          <a:spcPts val="0"/>
                        </a:spcBef>
                        <a:spcAft>
                          <a:spcPts val="0"/>
                        </a:spcAft>
                        <a:buNone/>
                      </a:pPr>
                      <a:r>
                        <a:rPr lang="en"/>
                        <a:t>N</a:t>
                      </a:r>
                      <a:endParaRPr/>
                    </a:p>
                  </a:txBody>
                  <a:tcPr marT="91425" marB="91425" marR="91425" marL="91425"/>
                </a:tc>
                <a:tc>
                  <a:txBody>
                    <a:bodyPr/>
                    <a:lstStyle/>
                    <a:p>
                      <a:pPr indent="0" lvl="0" marL="0" rtl="0" algn="ctr">
                        <a:spcBef>
                          <a:spcPts val="0"/>
                        </a:spcBef>
                        <a:spcAft>
                          <a:spcPts val="0"/>
                        </a:spcAft>
                        <a:buNone/>
                      </a:pPr>
                      <a:r>
                        <a:rPr lang="en"/>
                        <a:t>Y</a:t>
                      </a:r>
                      <a:endParaRPr/>
                    </a:p>
                  </a:txBody>
                  <a:tcPr marT="91425" marB="91425" marR="91425" marL="91425"/>
                </a:tc>
                <a:tc>
                  <a:txBody>
                    <a:bodyPr/>
                    <a:lstStyle/>
                    <a:p>
                      <a:pPr indent="0" lvl="0" marL="0" rtl="0" algn="ctr">
                        <a:spcBef>
                          <a:spcPts val="0"/>
                        </a:spcBef>
                        <a:spcAft>
                          <a:spcPts val="0"/>
                        </a:spcAft>
                        <a:buNone/>
                      </a:pPr>
                      <a:r>
                        <a:rPr lang="en"/>
                        <a:t>Y</a:t>
                      </a:r>
                      <a:endParaRPr/>
                    </a:p>
                  </a:txBody>
                  <a:tcPr marT="91425" marB="91425" marR="91425" marL="91425"/>
                </a:tc>
              </a:tr>
            </a:tbl>
          </a:graphicData>
        </a:graphic>
      </p:graphicFrame>
      <p:sp>
        <p:nvSpPr>
          <p:cNvPr id="237" name="Google Shape;237;p46"/>
          <p:cNvSpPr txBox="1"/>
          <p:nvPr/>
        </p:nvSpPr>
        <p:spPr>
          <a:xfrm>
            <a:off x="267275" y="4464150"/>
            <a:ext cx="84555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0000FF"/>
                </a:solidFill>
                <a:latin typeface="Permanent Marker"/>
                <a:ea typeface="Permanent Marker"/>
                <a:cs typeface="Permanent Marker"/>
                <a:sym typeface="Permanent Marker"/>
              </a:rPr>
              <a:t>Connection to Module 2.5 - Word Embeddings</a:t>
            </a:r>
            <a:r>
              <a:rPr lang="en" sz="1100">
                <a:solidFill>
                  <a:schemeClr val="dk1"/>
                </a:solidFill>
              </a:rPr>
              <a:t> - Our feature vectors for pasta is similar to the </a:t>
            </a:r>
            <a:r>
              <a:rPr b="1" lang="en" sz="1100">
                <a:solidFill>
                  <a:schemeClr val="dk1"/>
                </a:solidFill>
                <a:latin typeface="Permanent Marker"/>
                <a:ea typeface="Permanent Marker"/>
                <a:cs typeface="Permanent Marker"/>
                <a:sym typeface="Permanent Marker"/>
              </a:rPr>
              <a:t>semantic space</a:t>
            </a:r>
            <a:r>
              <a:rPr lang="en" sz="1100">
                <a:solidFill>
                  <a:schemeClr val="dk1"/>
                </a:solidFill>
              </a:rPr>
              <a:t> of the word embedding vectors we interacted with in the demo. Since word embeddings have many features (300) the computer figures out the features.</a:t>
            </a:r>
            <a:endParaRPr/>
          </a:p>
        </p:txBody>
      </p:sp>
      <p:pic>
        <p:nvPicPr>
          <p:cNvPr id="238" name="Google Shape;238;p46"/>
          <p:cNvPicPr preferRelativeResize="0"/>
          <p:nvPr/>
        </p:nvPicPr>
        <p:blipFill rotWithShape="1">
          <a:blip r:embed="rId3">
            <a:alphaModFix/>
          </a:blip>
          <a:srcRect b="26531" l="0" r="0" t="25481"/>
          <a:stretch/>
        </p:blipFill>
        <p:spPr>
          <a:xfrm rot="-5400000">
            <a:off x="5882550" y="1521273"/>
            <a:ext cx="636575" cy="589426"/>
          </a:xfrm>
          <a:prstGeom prst="rect">
            <a:avLst/>
          </a:prstGeom>
          <a:noFill/>
          <a:ln>
            <a:noFill/>
          </a:ln>
        </p:spPr>
      </p:pic>
      <p:sp>
        <p:nvSpPr>
          <p:cNvPr id="239" name="Google Shape;239;p46"/>
          <p:cNvSpPr/>
          <p:nvPr/>
        </p:nvSpPr>
        <p:spPr>
          <a:xfrm>
            <a:off x="5807988" y="1469638"/>
            <a:ext cx="785700" cy="692700"/>
          </a:xfrm>
          <a:prstGeom prst="noSmoking">
            <a:avLst>
              <a:gd fmla="val 6974"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45" name="Google Shape;245;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6" name="Google Shape;246;p47"/>
          <p:cNvSpPr txBox="1"/>
          <p:nvPr>
            <p:ph type="title"/>
          </p:nvPr>
        </p:nvSpPr>
        <p:spPr>
          <a:xfrm>
            <a:off x="243550" y="885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this test set to see how good your features are at classifying a new piece of candy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2" name="Google Shape;252;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 Vector Description of Candy</a:t>
            </a:r>
            <a:endParaRPr/>
          </a:p>
        </p:txBody>
      </p:sp>
      <p:graphicFrame>
        <p:nvGraphicFramePr>
          <p:cNvPr id="253" name="Google Shape;253;p48"/>
          <p:cNvGraphicFramePr/>
          <p:nvPr/>
        </p:nvGraphicFramePr>
        <p:xfrm>
          <a:off x="311700" y="1017725"/>
          <a:ext cx="3000000" cy="3000000"/>
        </p:xfrm>
        <a:graphic>
          <a:graphicData uri="http://schemas.openxmlformats.org/drawingml/2006/table">
            <a:tbl>
              <a:tblPr>
                <a:noFill/>
                <a:tableStyleId>{D24B53F7-EC2A-47EB-9511-3FD6F6E82F80}</a:tableStyleId>
              </a:tblPr>
              <a:tblGrid>
                <a:gridCol w="1809750"/>
                <a:gridCol w="1809750"/>
                <a:gridCol w="1809750"/>
                <a:gridCol w="1809750"/>
              </a:tblGrid>
              <a:tr h="381000">
                <a:tc>
                  <a:txBody>
                    <a:bodyPr/>
                    <a:lstStyle/>
                    <a:p>
                      <a:pPr indent="0" lvl="0" marL="0" rtl="0" algn="ctr">
                        <a:spcBef>
                          <a:spcPts val="0"/>
                        </a:spcBef>
                        <a:spcAft>
                          <a:spcPts val="0"/>
                        </a:spcAft>
                        <a:buNone/>
                      </a:pPr>
                      <a:r>
                        <a:rPr b="1" lang="en"/>
                        <a:t>Candy</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n"/>
                        <a:t>Spaghetti</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n"/>
                        <a:t>Lasagne</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n"/>
                        <a:t>Rigatoni</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n"/>
                        <a:t>Ravioli</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 Set - Data Collection Sheet</a:t>
            </a:r>
            <a:endParaRPr/>
          </a:p>
        </p:txBody>
      </p:sp>
      <p:sp>
        <p:nvSpPr>
          <p:cNvPr id="259" name="Google Shape;259;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260" name="Google Shape;260;p49"/>
          <p:cNvGraphicFramePr/>
          <p:nvPr/>
        </p:nvGraphicFramePr>
        <p:xfrm>
          <a:off x="594525" y="1093925"/>
          <a:ext cx="3000000" cy="3000000"/>
        </p:xfrm>
        <a:graphic>
          <a:graphicData uri="http://schemas.openxmlformats.org/drawingml/2006/table">
            <a:tbl>
              <a:tblPr>
                <a:noFill/>
                <a:tableStyleId>{D24B53F7-EC2A-47EB-9511-3FD6F6E82F80}</a:tableStyleId>
              </a:tblPr>
              <a:tblGrid>
                <a:gridCol w="1809750"/>
                <a:gridCol w="1809750"/>
                <a:gridCol w="1809750"/>
              </a:tblGrid>
              <a:tr h="381000">
                <a:tc>
                  <a:txBody>
                    <a:bodyPr/>
                    <a:lstStyle/>
                    <a:p>
                      <a:pPr indent="0" lvl="0" marL="0" rtl="0" algn="ctr">
                        <a:spcBef>
                          <a:spcPts val="0"/>
                        </a:spcBef>
                        <a:spcAft>
                          <a:spcPts val="0"/>
                        </a:spcAft>
                        <a:buNone/>
                      </a:pPr>
                      <a:r>
                        <a:rPr b="1" lang="en"/>
                        <a:t>Candy</a:t>
                      </a:r>
                      <a:endParaRPr b="1"/>
                    </a:p>
                  </a:txBody>
                  <a:tcPr marT="91425" marB="91425" marR="91425" marL="91425"/>
                </a:tc>
                <a:tc>
                  <a:txBody>
                    <a:bodyPr/>
                    <a:lstStyle/>
                    <a:p>
                      <a:pPr indent="0" lvl="0" marL="0" rtl="0" algn="l">
                        <a:spcBef>
                          <a:spcPts val="0"/>
                        </a:spcBef>
                        <a:spcAft>
                          <a:spcPts val="0"/>
                        </a:spcAft>
                        <a:buNone/>
                      </a:pPr>
                      <a:r>
                        <a:rPr lang="en"/>
                        <a:t>Correctly classified </a:t>
                      </a:r>
                      <a:endParaRPr/>
                    </a:p>
                  </a:txBody>
                  <a:tcPr marT="91425" marB="91425" marR="91425" marL="91425"/>
                </a:tc>
                <a:tc>
                  <a:txBody>
                    <a:bodyPr/>
                    <a:lstStyle/>
                    <a:p>
                      <a:pPr indent="0" lvl="0" marL="0" rtl="0" algn="l">
                        <a:spcBef>
                          <a:spcPts val="0"/>
                        </a:spcBef>
                        <a:spcAft>
                          <a:spcPts val="0"/>
                        </a:spcAft>
                        <a:buNone/>
                      </a:pPr>
                      <a:r>
                        <a:rPr lang="en"/>
                        <a:t>Incorrectly classified</a:t>
                      </a:r>
                      <a:endParaRPr/>
                    </a:p>
                  </a:txBody>
                  <a:tcPr marT="91425" marB="91425" marR="91425" marL="91425"/>
                </a:tc>
              </a:tr>
              <a:tr h="381000">
                <a:tc>
                  <a:txBody>
                    <a:bodyPr/>
                    <a:lstStyle/>
                    <a:p>
                      <a:pPr indent="0" lvl="0" marL="0" rtl="0" algn="ctr">
                        <a:spcBef>
                          <a:spcPts val="0"/>
                        </a:spcBef>
                        <a:spcAft>
                          <a:spcPts val="0"/>
                        </a:spcAft>
                        <a:buNone/>
                      </a:pPr>
                      <a:r>
                        <a:rPr lang="en"/>
                        <a:t>Spaghetti</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n"/>
                        <a:t>Lasagne</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n"/>
                        <a:t>Rigatoni</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n"/>
                        <a:t>Ravioli</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Reflection</a:t>
            </a:r>
            <a:endParaRPr/>
          </a:p>
        </p:txBody>
      </p:sp>
      <p:sp>
        <p:nvSpPr>
          <p:cNvPr id="266" name="Google Shape;266;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well did your candy classifier do on this new test set? What candy did it classify incorrectly?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Were your features flexible enough to allow you to classify new candy? Why or why not?</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How would you change your features to allow them to better classify a wider range of candy?</a:t>
            </a:r>
            <a:endParaRPr/>
          </a:p>
        </p:txBody>
      </p:sp>
      <p:sp>
        <p:nvSpPr>
          <p:cNvPr id="267" name="Google Shape;267;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3" name="Google Shape;273;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 Vector Description of Pasta </a:t>
            </a:r>
            <a:endParaRPr sz="2133"/>
          </a:p>
          <a:p>
            <a:pPr indent="0" lvl="0" marL="0" rtl="0" algn="l">
              <a:spcBef>
                <a:spcPts val="0"/>
              </a:spcBef>
              <a:spcAft>
                <a:spcPts val="0"/>
              </a:spcAft>
              <a:buNone/>
            </a:pPr>
            <a:r>
              <a:rPr lang="en" sz="2133"/>
              <a:t>Add more columns to fit all your features &amp; more rows to fit all your pastas</a:t>
            </a:r>
            <a:endParaRPr sz="2133"/>
          </a:p>
        </p:txBody>
      </p:sp>
      <p:graphicFrame>
        <p:nvGraphicFramePr>
          <p:cNvPr id="274" name="Google Shape;274;p51"/>
          <p:cNvGraphicFramePr/>
          <p:nvPr/>
        </p:nvGraphicFramePr>
        <p:xfrm>
          <a:off x="410600" y="1452950"/>
          <a:ext cx="3000000" cy="3000000"/>
        </p:xfrm>
        <a:graphic>
          <a:graphicData uri="http://schemas.openxmlformats.org/drawingml/2006/table">
            <a:tbl>
              <a:tblPr>
                <a:noFill/>
                <a:tableStyleId>{D24B53F7-EC2A-47EB-9511-3FD6F6E82F80}</a:tableStyleId>
              </a:tblPr>
              <a:tblGrid>
                <a:gridCol w="1809750"/>
                <a:gridCol w="1809750"/>
                <a:gridCol w="1809750"/>
                <a:gridCol w="1809750"/>
              </a:tblGrid>
              <a:tr h="381000">
                <a:tc>
                  <a:txBody>
                    <a:bodyPr/>
                    <a:lstStyle/>
                    <a:p>
                      <a:pPr indent="0" lvl="0" marL="0" rtl="0" algn="ctr">
                        <a:spcBef>
                          <a:spcPts val="0"/>
                        </a:spcBef>
                        <a:spcAft>
                          <a:spcPts val="0"/>
                        </a:spcAft>
                        <a:buNone/>
                      </a:pPr>
                      <a:r>
                        <a:rPr b="1" lang="en"/>
                        <a:t>Pasta</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n"/>
                        <a:t>Spaghetti</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n"/>
                        <a:t>Lasagne</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n"/>
                        <a:t>Rigatoni</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n"/>
                        <a:t>Ravioli</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5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Takeaways</a:t>
            </a:r>
            <a:endParaRPr/>
          </a:p>
        </p:txBody>
      </p:sp>
      <p:sp>
        <p:nvSpPr>
          <p:cNvPr id="280" name="Google Shape;280;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If your data is in a feature vector table like this  then you don’t have to build the tree yourself</a:t>
            </a:r>
            <a:endParaRPr/>
          </a:p>
        </p:txBody>
      </p:sp>
      <p:sp>
        <p:nvSpPr>
          <p:cNvPr id="286" name="Google Shape;286;p53"/>
          <p:cNvSpPr txBox="1"/>
          <p:nvPr>
            <p:ph idx="1" type="body"/>
          </p:nvPr>
        </p:nvSpPr>
        <p:spPr>
          <a:xfrm>
            <a:off x="311700" y="1300150"/>
            <a:ext cx="8520600" cy="375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People don’t usually build decision trees by hand because for realistic tasks it can be hard.</a:t>
            </a:r>
            <a:endParaRPr sz="1600"/>
          </a:p>
          <a:p>
            <a:pPr indent="0" lvl="0" marL="0" rtl="0" algn="l">
              <a:spcBef>
                <a:spcPts val="1200"/>
              </a:spcBef>
              <a:spcAft>
                <a:spcPts val="0"/>
              </a:spcAft>
              <a:buNone/>
            </a:pPr>
            <a:r>
              <a:rPr lang="en" sz="1600"/>
              <a:t>For practical problems, people build a table that may have thousands of rows (examples) and dozens of columns (features). Each example is labeled with the correct decision (i.e., the class it belongs to).</a:t>
            </a:r>
            <a:endParaRPr sz="1600"/>
          </a:p>
          <a:p>
            <a:pPr indent="0" lvl="0" marL="0" rtl="0" algn="l">
              <a:spcBef>
                <a:spcPts val="1200"/>
              </a:spcBef>
              <a:spcAft>
                <a:spcPts val="0"/>
              </a:spcAft>
              <a:buNone/>
            </a:pPr>
            <a:r>
              <a:rPr lang="en" sz="1600"/>
              <a:t>Then they use a </a:t>
            </a:r>
            <a:r>
              <a:rPr b="1" lang="en" sz="1600"/>
              <a:t>machine learning</a:t>
            </a:r>
            <a:r>
              <a:rPr lang="en" sz="1600"/>
              <a:t> algorithm to create the decision tree.</a:t>
            </a:r>
            <a:endParaRPr sz="1600"/>
          </a:p>
          <a:p>
            <a:pPr indent="0" lvl="0" marL="0" rtl="0" algn="l">
              <a:spcBef>
                <a:spcPts val="1200"/>
              </a:spcBef>
              <a:spcAft>
                <a:spcPts val="1200"/>
              </a:spcAft>
              <a:buClr>
                <a:schemeClr val="dk1"/>
              </a:buClr>
              <a:buSzPts val="1100"/>
              <a:buFont typeface="Arial"/>
              <a:buNone/>
            </a:pPr>
            <a:r>
              <a:t/>
            </a:r>
            <a:endParaRPr sz="1600">
              <a:solidFill>
                <a:schemeClr val="dk1"/>
              </a:solidFill>
            </a:endParaRPr>
          </a:p>
        </p:txBody>
      </p:sp>
      <p:sp>
        <p:nvSpPr>
          <p:cNvPr id="287" name="Google Shape;287;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8" name="Google Shape;288;p53"/>
          <p:cNvSpPr txBox="1"/>
          <p:nvPr/>
        </p:nvSpPr>
        <p:spPr>
          <a:xfrm>
            <a:off x="247950" y="4324375"/>
            <a:ext cx="82725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rgbClr val="FF0000"/>
                </a:solidFill>
                <a:latin typeface="Permanent Marker"/>
                <a:ea typeface="Permanent Marker"/>
                <a:cs typeface="Permanent Marker"/>
                <a:sym typeface="Permanent Marker"/>
              </a:rPr>
              <a:t>Machine Learning </a:t>
            </a:r>
            <a:r>
              <a:rPr lang="en" sz="1800">
                <a:solidFill>
                  <a:schemeClr val="dk1"/>
                </a:solidFill>
              </a:rPr>
              <a:t>is a process for constructing a reasoner (such as a decision tree classifier) using training data and a learning algorithm.</a:t>
            </a:r>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2" name="Shape 292"/>
        <p:cNvGrpSpPr/>
        <p:nvPr/>
      </p:nvGrpSpPr>
      <p:grpSpPr>
        <a:xfrm>
          <a:off x="0" y="0"/>
          <a:ext cx="0" cy="0"/>
          <a:chOff x="0" y="0"/>
          <a:chExt cx="0" cy="0"/>
        </a:xfrm>
      </p:grpSpPr>
      <p:sp>
        <p:nvSpPr>
          <p:cNvPr id="293" name="Google Shape;293;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Candy</a:t>
            </a:r>
            <a:r>
              <a:rPr lang="en"/>
              <a:t> Land vs Mini-Akinator</a:t>
            </a:r>
            <a:endParaRPr/>
          </a:p>
        </p:txBody>
      </p:sp>
      <p:sp>
        <p:nvSpPr>
          <p:cNvPr id="294" name="Google Shape;294;p54"/>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b="1" lang="en" sz="1100">
                <a:solidFill>
                  <a:schemeClr val="dk1"/>
                </a:solidFill>
              </a:rPr>
              <a:t>Candy</a:t>
            </a:r>
            <a:r>
              <a:rPr b="1" lang="en" sz="1100">
                <a:solidFill>
                  <a:schemeClr val="dk1"/>
                </a:solidFill>
              </a:rPr>
              <a:t>land is a simulation of a machine learning algorithm</a:t>
            </a:r>
            <a:endParaRPr b="1"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We knew all the examples/classes  in advance</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We knew all the features in advance</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When we constructed the tree </a:t>
            </a: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lang="en" sz="1100">
                <a:solidFill>
                  <a:schemeClr val="dk1"/>
                </a:solidFill>
              </a:rPr>
              <a:t>We used node splitting process</a:t>
            </a: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lang="en" sz="1100">
                <a:solidFill>
                  <a:schemeClr val="dk1"/>
                </a:solidFill>
              </a:rPr>
              <a:t>We were selective about the features we chose in our tree</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Used an algorithm to build the tree</a:t>
            </a:r>
            <a:endParaRPr sz="1100">
              <a:solidFill>
                <a:schemeClr val="dk1"/>
              </a:solidFill>
            </a:endParaRPr>
          </a:p>
          <a:p>
            <a:pPr indent="0" lvl="0" marL="457200" rtl="0" algn="l">
              <a:lnSpc>
                <a:spcPct val="100000"/>
              </a:lnSpc>
              <a:spcBef>
                <a:spcPts val="0"/>
              </a:spcBef>
              <a:spcAft>
                <a:spcPts val="0"/>
              </a:spcAft>
              <a:buNone/>
            </a:pPr>
            <a:r>
              <a:t/>
            </a:r>
            <a:endParaRPr sz="1100">
              <a:solidFill>
                <a:schemeClr val="dk1"/>
              </a:solidFill>
            </a:endParaRPr>
          </a:p>
          <a:p>
            <a:pPr indent="0" lvl="0" marL="45720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rPr b="1" lang="en" sz="1100">
                <a:solidFill>
                  <a:schemeClr val="dk1"/>
                </a:solidFill>
              </a:rPr>
              <a:t>Take away</a:t>
            </a:r>
            <a:r>
              <a:rPr lang="en" sz="1100">
                <a:solidFill>
                  <a:schemeClr val="dk1"/>
                </a:solidFill>
              </a:rPr>
              <a:t> - The new way we build the tree in Pasta Land is what a machine learning algorithm will do for you.</a:t>
            </a:r>
            <a:endParaRPr sz="11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295" name="Google Shape;295;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6" name="Google Shape;296;p5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b="1" lang="en" sz="1100">
                <a:solidFill>
                  <a:schemeClr val="dk1"/>
                </a:solidFill>
              </a:rPr>
              <a:t>Mini-Akinator - simulation of creating and growing a decision tree</a:t>
            </a:r>
            <a:endParaRPr b="1"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We didn’t know the examples in advance </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We didn’t know all the features in advance</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Instead we added the examples one at a time and discovered the features as we went along</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When we constructed the tree </a:t>
            </a:r>
            <a:endParaRPr sz="1100">
              <a:solidFill>
                <a:schemeClr val="dk1"/>
              </a:solidFill>
            </a:endParaRPr>
          </a:p>
          <a:p>
            <a:pPr indent="-298450" lvl="1" marL="914400" rtl="0" algn="l">
              <a:lnSpc>
                <a:spcPct val="100000"/>
              </a:lnSpc>
              <a:spcBef>
                <a:spcPts val="0"/>
              </a:spcBef>
              <a:spcAft>
                <a:spcPts val="0"/>
              </a:spcAft>
              <a:buClr>
                <a:schemeClr val="dk1"/>
              </a:buClr>
              <a:buSzPts val="1100"/>
              <a:buChar char="-"/>
            </a:pPr>
            <a:r>
              <a:rPr lang="en" sz="1100">
                <a:solidFill>
                  <a:schemeClr val="dk1"/>
                </a:solidFill>
              </a:rPr>
              <a:t>We grew it step by step because we added a new example</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We couldn’t predict what to ask until we had another example</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We might have to ask a lot more questions using this process.</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rPr>
              <a:t>Take away</a:t>
            </a:r>
            <a:r>
              <a:rPr lang="en" sz="1100">
                <a:solidFill>
                  <a:schemeClr val="dk1"/>
                </a:solidFill>
              </a:rPr>
              <a:t> - We learned how to create and grow a decision tree and get some insight into how Akinator works.</a:t>
            </a:r>
            <a:endParaRPr sz="11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5"/>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Let’s look at some examples from the real-world</a:t>
            </a:r>
            <a:endParaRPr/>
          </a:p>
        </p:txBody>
      </p:sp>
      <p:sp>
        <p:nvSpPr>
          <p:cNvPr id="302" name="Google Shape;302;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00FF"/>
                </a:solidFill>
                <a:latin typeface="Alfa Slab One"/>
                <a:ea typeface="Alfa Slab One"/>
                <a:cs typeface="Alfa Slab One"/>
                <a:sym typeface="Alfa Slab One"/>
              </a:rPr>
              <a:t>Try It #2: </a:t>
            </a:r>
            <a:r>
              <a:rPr lang="en"/>
              <a:t>Think of a real-world example</a:t>
            </a:r>
            <a:endParaRPr/>
          </a:p>
        </p:txBody>
      </p:sp>
      <p:sp>
        <p:nvSpPr>
          <p:cNvPr id="308" name="Google Shape;308;p56"/>
          <p:cNvSpPr txBox="1"/>
          <p:nvPr>
            <p:ph idx="1" type="body"/>
          </p:nvPr>
        </p:nvSpPr>
        <p:spPr>
          <a:xfrm>
            <a:off x="311700" y="124682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a:t>Step 1: </a:t>
            </a:r>
            <a:r>
              <a:rPr lang="en"/>
              <a:t>Pick a situation in the real world where computers might make decisions</a:t>
            </a:r>
            <a:endParaRPr/>
          </a:p>
          <a:p>
            <a:pPr indent="0" lvl="0" marL="0" rtl="0" algn="l">
              <a:spcBef>
                <a:spcPts val="1200"/>
              </a:spcBef>
              <a:spcAft>
                <a:spcPts val="1200"/>
              </a:spcAft>
              <a:buNone/>
            </a:pPr>
            <a:r>
              <a:rPr b="1" lang="en"/>
              <a:t>Step 2: </a:t>
            </a:r>
            <a:r>
              <a:rPr lang="en"/>
              <a:t>Think about the attributes that would contribute to making good decisions </a:t>
            </a:r>
            <a:br>
              <a:rPr lang="en"/>
            </a:br>
            <a:br>
              <a:rPr lang="en"/>
            </a:br>
            <a:r>
              <a:rPr b="1" i="1" lang="en"/>
              <a:t>Step 3: </a:t>
            </a:r>
            <a:r>
              <a:rPr lang="en"/>
              <a:t>Reflection: Think about how your life is being affected by classifier systems (automated decision making). </a:t>
            </a:r>
            <a:endParaRPr/>
          </a:p>
        </p:txBody>
      </p:sp>
      <p:sp>
        <p:nvSpPr>
          <p:cNvPr id="309" name="Google Shape;309;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0" name="Google Shape;310;p56"/>
          <p:cNvSpPr txBox="1"/>
          <p:nvPr>
            <p:ph idx="2" type="body"/>
          </p:nvPr>
        </p:nvSpPr>
        <p:spPr>
          <a:xfrm>
            <a:off x="4832400" y="1152475"/>
            <a:ext cx="4188600" cy="34164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b="1" lang="en"/>
              <a:t>Examples</a:t>
            </a:r>
            <a:endParaRPr b="1"/>
          </a:p>
          <a:p>
            <a:pPr indent="-317500" lvl="0" marL="457200" rtl="0" algn="l">
              <a:spcBef>
                <a:spcPts val="1200"/>
              </a:spcBef>
              <a:spcAft>
                <a:spcPts val="0"/>
              </a:spcAft>
              <a:buSzPts val="1400"/>
              <a:buChar char="●"/>
            </a:pPr>
            <a:r>
              <a:rPr lang="en"/>
              <a:t>Classifying toys based on age. </a:t>
            </a:r>
            <a:br>
              <a:rPr lang="en"/>
            </a:br>
            <a:r>
              <a:rPr lang="en"/>
              <a:t>What kinds of features make a toy suitable?</a:t>
            </a:r>
            <a:endParaRPr/>
          </a:p>
          <a:p>
            <a:pPr indent="-317500" lvl="0" marL="457200" rtl="0" algn="l">
              <a:spcBef>
                <a:spcPts val="1000"/>
              </a:spcBef>
              <a:spcAft>
                <a:spcPts val="0"/>
              </a:spcAft>
              <a:buSzPts val="1400"/>
              <a:buChar char="●"/>
            </a:pPr>
            <a:r>
              <a:rPr lang="en"/>
              <a:t>Classify games, movies, and music</a:t>
            </a:r>
            <a:endParaRPr/>
          </a:p>
          <a:p>
            <a:pPr indent="-317500" lvl="0" marL="457200" rtl="0" algn="l">
              <a:spcBef>
                <a:spcPts val="1000"/>
              </a:spcBef>
              <a:spcAft>
                <a:spcPts val="0"/>
              </a:spcAft>
              <a:buSzPts val="1400"/>
              <a:buChar char="●"/>
            </a:pPr>
            <a:r>
              <a:rPr lang="en"/>
              <a:t>Reviewing loan applications. </a:t>
            </a:r>
            <a:br>
              <a:rPr lang="en"/>
            </a:br>
            <a:r>
              <a:rPr lang="en"/>
              <a:t>What kinds of things help us determine the strength of a loan application?</a:t>
            </a:r>
            <a:endParaRPr/>
          </a:p>
          <a:p>
            <a:pPr indent="-317500" lvl="0" marL="457200" rtl="0" algn="l">
              <a:spcBef>
                <a:spcPts val="1000"/>
              </a:spcBef>
              <a:spcAft>
                <a:spcPts val="0"/>
              </a:spcAft>
              <a:buSzPts val="1400"/>
              <a:buChar char="●"/>
            </a:pPr>
            <a:r>
              <a:rPr lang="en"/>
              <a:t>College applications.</a:t>
            </a:r>
            <a:br>
              <a:rPr lang="en"/>
            </a:br>
            <a:r>
              <a:rPr lang="en"/>
              <a:t>What kinds of things make for a strong college application?</a:t>
            </a:r>
            <a:endParaRPr/>
          </a:p>
          <a:p>
            <a:pPr indent="0" lvl="0" marL="0" rtl="0" algn="l">
              <a:spcBef>
                <a:spcPts val="10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7"/>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Computers don’t learn the way people do. </a:t>
            </a:r>
            <a:endParaRPr/>
          </a:p>
        </p:txBody>
      </p:sp>
      <p:sp>
        <p:nvSpPr>
          <p:cNvPr id="316" name="Google Shape;316;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8"/>
          <p:cNvSpPr txBox="1"/>
          <p:nvPr>
            <p:ph type="title"/>
          </p:nvPr>
        </p:nvSpPr>
        <p:spPr>
          <a:xfrm>
            <a:off x="311700" y="2150850"/>
            <a:ext cx="8744100" cy="8418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How do people learn?</a:t>
            </a:r>
            <a:endParaRPr/>
          </a:p>
        </p:txBody>
      </p:sp>
      <p:sp>
        <p:nvSpPr>
          <p:cNvPr id="322" name="Google Shape;322;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3" name="Google Shape;323;p58"/>
          <p:cNvSpPr/>
          <p:nvPr/>
        </p:nvSpPr>
        <p:spPr>
          <a:xfrm>
            <a:off x="678950" y="2866500"/>
            <a:ext cx="8376900" cy="288300"/>
          </a:xfrm>
          <a:prstGeom prst="rect">
            <a:avLst/>
          </a:prstGeom>
          <a:solidFill>
            <a:srgbClr val="FCE5CD"/>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t>Discussion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Ways people learn</a:t>
            </a:r>
            <a:endParaRPr/>
          </a:p>
        </p:txBody>
      </p:sp>
      <p:sp>
        <p:nvSpPr>
          <p:cNvPr id="329" name="Google Shape;329;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Being taught by someone (e.g., parent, teacher, sibling, friend)</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Asking questions</a:t>
            </a:r>
            <a:endParaRPr>
              <a:solidFill>
                <a:schemeClr val="dk1"/>
              </a:solidFill>
            </a:endParaRPr>
          </a:p>
          <a:p>
            <a:pPr indent="-342900" lvl="0" marL="457200" rtl="0" algn="l">
              <a:spcBef>
                <a:spcPts val="0"/>
              </a:spcBef>
              <a:spcAft>
                <a:spcPts val="0"/>
              </a:spcAft>
              <a:buSzPts val="1800"/>
              <a:buChar char="●"/>
            </a:pPr>
            <a:r>
              <a:rPr lang="en"/>
              <a:t>Observing others</a:t>
            </a:r>
            <a:endParaRPr/>
          </a:p>
          <a:p>
            <a:pPr indent="-342900" lvl="0" marL="457200" rtl="0" algn="l">
              <a:spcBef>
                <a:spcPts val="0"/>
              </a:spcBef>
              <a:spcAft>
                <a:spcPts val="0"/>
              </a:spcAft>
              <a:buClr>
                <a:schemeClr val="dk1"/>
              </a:buClr>
              <a:buSzPts val="1800"/>
              <a:buChar char="●"/>
            </a:pPr>
            <a:r>
              <a:rPr lang="en">
                <a:solidFill>
                  <a:schemeClr val="dk1"/>
                </a:solidFill>
              </a:rPr>
              <a:t>Reading</a:t>
            </a:r>
            <a:endParaRPr>
              <a:solidFill>
                <a:schemeClr val="dk1"/>
              </a:solidFill>
            </a:endParaRPr>
          </a:p>
          <a:p>
            <a:pPr indent="-342900" lvl="0" marL="457200" rtl="0" algn="l">
              <a:spcBef>
                <a:spcPts val="0"/>
              </a:spcBef>
              <a:spcAft>
                <a:spcPts val="0"/>
              </a:spcAft>
              <a:buSzPts val="1800"/>
              <a:buChar char="●"/>
            </a:pPr>
            <a:r>
              <a:rPr lang="en"/>
              <a:t>Trial and error</a:t>
            </a:r>
            <a:endParaRPr/>
          </a:p>
          <a:p>
            <a:pPr indent="-342900" lvl="0" marL="457200" rtl="0" algn="l">
              <a:spcBef>
                <a:spcPts val="0"/>
              </a:spcBef>
              <a:spcAft>
                <a:spcPts val="0"/>
              </a:spcAft>
              <a:buSzPts val="1800"/>
              <a:buChar char="●"/>
            </a:pPr>
            <a:r>
              <a:rPr lang="en">
                <a:solidFill>
                  <a:schemeClr val="dk1"/>
                </a:solidFill>
              </a:rPr>
              <a:t>Systematic experimentation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Everyday life experiences</a:t>
            </a:r>
            <a:endParaRPr>
              <a:solidFill>
                <a:schemeClr val="dk1"/>
              </a:solidFill>
            </a:endParaRPr>
          </a:p>
        </p:txBody>
      </p:sp>
      <p:sp>
        <p:nvSpPr>
          <p:cNvPr id="330" name="Google Shape;330;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1" name="Google Shape;331;p59"/>
          <p:cNvSpPr txBox="1"/>
          <p:nvPr/>
        </p:nvSpPr>
        <p:spPr>
          <a:xfrm>
            <a:off x="311700" y="4421250"/>
            <a:ext cx="718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Note: None of these are things that computers currently do well.</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Ways Computers Learn</a:t>
            </a:r>
            <a:endParaRPr/>
          </a:p>
        </p:txBody>
      </p:sp>
      <p:sp>
        <p:nvSpPr>
          <p:cNvPr id="337" name="Google Shape;337;p60"/>
          <p:cNvSpPr txBox="1"/>
          <p:nvPr>
            <p:ph idx="1" type="body"/>
          </p:nvPr>
        </p:nvSpPr>
        <p:spPr>
          <a:xfrm>
            <a:off x="311700" y="923875"/>
            <a:ext cx="8520600" cy="42195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Learning from labeled examples (like Candy Land and Teachable Machine)</a:t>
            </a:r>
            <a:endParaRPr/>
          </a:p>
          <a:p>
            <a:pPr indent="-317500" lvl="1" marL="914400" rtl="0" algn="l">
              <a:spcBef>
                <a:spcPts val="0"/>
              </a:spcBef>
              <a:spcAft>
                <a:spcPts val="0"/>
              </a:spcAft>
              <a:buSzPts val="1400"/>
              <a:buChar char="○"/>
            </a:pPr>
            <a:r>
              <a:rPr lang="en"/>
              <a:t>This is called </a:t>
            </a:r>
            <a:r>
              <a:rPr b="1" lang="en"/>
              <a:t>supervised learning</a:t>
            </a:r>
            <a:endParaRPr b="1"/>
          </a:p>
          <a:p>
            <a:pPr indent="-317500" lvl="1" marL="914400" rtl="0" algn="l">
              <a:spcBef>
                <a:spcPts val="0"/>
              </a:spcBef>
              <a:spcAft>
                <a:spcPts val="0"/>
              </a:spcAft>
              <a:buSzPts val="1400"/>
              <a:buChar char="○"/>
            </a:pPr>
            <a:r>
              <a:rPr lang="en"/>
              <a:t>We will only explore supervised learning in this unit</a:t>
            </a:r>
            <a:br>
              <a:rPr lang="en"/>
            </a:br>
            <a:endParaRPr/>
          </a:p>
          <a:p>
            <a:pPr indent="-342900" lvl="0" marL="457200" rtl="0" algn="l">
              <a:spcBef>
                <a:spcPts val="0"/>
              </a:spcBef>
              <a:spcAft>
                <a:spcPts val="0"/>
              </a:spcAft>
              <a:buSzPts val="1800"/>
              <a:buChar char="●"/>
            </a:pPr>
            <a:r>
              <a:rPr lang="en"/>
              <a:t>Finding clusters in data</a:t>
            </a:r>
            <a:endParaRPr/>
          </a:p>
          <a:p>
            <a:pPr indent="-317500" lvl="1" marL="914400" rtl="0" algn="l">
              <a:spcBef>
                <a:spcPts val="0"/>
              </a:spcBef>
              <a:spcAft>
                <a:spcPts val="0"/>
              </a:spcAft>
              <a:buSzPts val="1400"/>
              <a:buChar char="○"/>
            </a:pPr>
            <a:r>
              <a:rPr lang="en"/>
              <a:t>This is called </a:t>
            </a:r>
            <a:r>
              <a:rPr b="1" lang="en"/>
              <a:t>unsupervised learning</a:t>
            </a:r>
            <a:r>
              <a:rPr lang="en"/>
              <a:t> because the data does not come pre-labeled</a:t>
            </a:r>
            <a:endParaRPr/>
          </a:p>
          <a:p>
            <a:pPr indent="-317500" lvl="1" marL="914400" rtl="0" algn="l">
              <a:spcBef>
                <a:spcPts val="0"/>
              </a:spcBef>
              <a:spcAft>
                <a:spcPts val="0"/>
              </a:spcAft>
              <a:buSzPts val="1400"/>
              <a:buChar char="○"/>
            </a:pPr>
            <a:r>
              <a:rPr lang="en"/>
              <a:t>Example: examining data on plants collected from a forest and decided how many different species of plants there are in the forest</a:t>
            </a:r>
            <a:br>
              <a:rPr lang="en"/>
            </a:br>
            <a:endParaRPr/>
          </a:p>
          <a:p>
            <a:pPr indent="-342900" lvl="0" marL="457200" rtl="0" algn="l">
              <a:spcBef>
                <a:spcPts val="0"/>
              </a:spcBef>
              <a:spcAft>
                <a:spcPts val="0"/>
              </a:spcAft>
              <a:buSzPts val="1800"/>
              <a:buChar char="●"/>
            </a:pPr>
            <a:r>
              <a:rPr lang="en"/>
              <a:t>Learning from experience via trial and error</a:t>
            </a:r>
            <a:endParaRPr/>
          </a:p>
          <a:p>
            <a:pPr indent="-317500" lvl="1" marL="914400" rtl="0" algn="l">
              <a:spcBef>
                <a:spcPts val="0"/>
              </a:spcBef>
              <a:spcAft>
                <a:spcPts val="0"/>
              </a:spcAft>
              <a:buSzPts val="1400"/>
              <a:buChar char="○"/>
            </a:pPr>
            <a:r>
              <a:rPr lang="en"/>
              <a:t>This is called </a:t>
            </a:r>
            <a:r>
              <a:rPr b="1" lang="en"/>
              <a:t>reinforcement learning</a:t>
            </a:r>
            <a:endParaRPr b="1"/>
          </a:p>
          <a:p>
            <a:pPr indent="-317500" lvl="1" marL="914400" rtl="0" algn="l">
              <a:spcBef>
                <a:spcPts val="0"/>
              </a:spcBef>
              <a:spcAft>
                <a:spcPts val="0"/>
              </a:spcAft>
              <a:buSzPts val="1400"/>
              <a:buChar char="○"/>
            </a:pPr>
            <a:r>
              <a:rPr lang="en"/>
              <a:t>This is how computers learn good strategies for playing games</a:t>
            </a:r>
            <a:br>
              <a:rPr lang="en"/>
            </a:br>
            <a:endParaRPr/>
          </a:p>
          <a:p>
            <a:pPr indent="-342900" lvl="0" marL="457200" rtl="0" algn="l">
              <a:spcBef>
                <a:spcPts val="0"/>
              </a:spcBef>
              <a:spcAft>
                <a:spcPts val="0"/>
              </a:spcAft>
              <a:buSzPts val="1800"/>
              <a:buChar char="●"/>
            </a:pPr>
            <a:r>
              <a:rPr lang="en"/>
              <a:t>Learning by being told</a:t>
            </a:r>
            <a:endParaRPr/>
          </a:p>
          <a:p>
            <a:pPr indent="-317500" lvl="1" marL="914400" rtl="0" algn="l">
              <a:spcBef>
                <a:spcPts val="0"/>
              </a:spcBef>
              <a:spcAft>
                <a:spcPts val="0"/>
              </a:spcAft>
              <a:buSzPts val="1400"/>
              <a:buChar char="○"/>
            </a:pPr>
            <a:r>
              <a:rPr lang="en"/>
              <a:t>This is called </a:t>
            </a:r>
            <a:r>
              <a:rPr b="1" lang="en"/>
              <a:t>zero shot learning.</a:t>
            </a:r>
            <a:endParaRPr b="1"/>
          </a:p>
          <a:p>
            <a:pPr indent="-317500" lvl="1" marL="914400" rtl="0" algn="l">
              <a:spcBef>
                <a:spcPts val="0"/>
              </a:spcBef>
              <a:spcAft>
                <a:spcPts val="0"/>
              </a:spcAft>
              <a:buSzPts val="1400"/>
              <a:buChar char="○"/>
            </a:pPr>
            <a:r>
              <a:rPr lang="en"/>
              <a:t>Large language models like ChatGPT can learn a new task by being told </a:t>
            </a:r>
            <a:r>
              <a:rPr lang="en"/>
              <a:t>what</a:t>
            </a:r>
            <a:r>
              <a:rPr lang="en"/>
              <a:t> to do and they will follow those instructions.</a:t>
            </a:r>
            <a:endParaRPr/>
          </a:p>
        </p:txBody>
      </p:sp>
      <p:sp>
        <p:nvSpPr>
          <p:cNvPr id="338" name="Google Shape;338;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