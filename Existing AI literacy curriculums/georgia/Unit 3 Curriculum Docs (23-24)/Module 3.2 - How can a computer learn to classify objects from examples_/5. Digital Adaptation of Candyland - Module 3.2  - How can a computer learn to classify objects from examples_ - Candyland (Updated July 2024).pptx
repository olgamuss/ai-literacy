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  <p:sldMasterId id="214748367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</p:sldIdLst>
  <p:sldSz cy="5143500" cx="9144000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Permanent Marker"/>
      <p:regular r:id="rId36"/>
    </p:embeddedFont>
    <p:embeddedFont>
      <p:font typeface="Helvetica Neue"/>
      <p:regular r:id="rId37"/>
      <p:bold r:id="rId38"/>
      <p:italic r:id="rId39"/>
      <p:boldItalic r:id="rId40"/>
    </p:embeddedFont>
    <p:embeddedFont>
      <p:font typeface="Merriweather"/>
      <p:regular r:id="rId41"/>
      <p:bold r:id="rId42"/>
      <p:italic r:id="rId43"/>
      <p:boldItalic r:id="rId44"/>
    </p:embeddedFont>
    <p:embeddedFont>
      <p:font typeface="Alfa Slab One"/>
      <p:regular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6" roundtripDataSignature="AMtx7mg03vaoNGTPIW8OVzw38e3sgquJ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B69455-5F2D-4CC4-8F11-B92DD9410F8E}">
  <a:tblStyle styleId="{1DB69455-5F2D-4CC4-8F11-B92DD9410F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3FA0B68-F8CA-46D0-BF8E-318CD5E94C4B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boldItalic.fntdata"/><Relationship Id="rId20" Type="http://schemas.openxmlformats.org/officeDocument/2006/relationships/slide" Target="slides/slide12.xml"/><Relationship Id="rId42" Type="http://schemas.openxmlformats.org/officeDocument/2006/relationships/font" Target="fonts/Merriweather-bold.fntdata"/><Relationship Id="rId41" Type="http://schemas.openxmlformats.org/officeDocument/2006/relationships/font" Target="fonts/Merriweather-regular.fntdata"/><Relationship Id="rId22" Type="http://schemas.openxmlformats.org/officeDocument/2006/relationships/slide" Target="slides/slide14.xml"/><Relationship Id="rId44" Type="http://schemas.openxmlformats.org/officeDocument/2006/relationships/font" Target="fonts/Merriweather-boldItalic.fntdata"/><Relationship Id="rId21" Type="http://schemas.openxmlformats.org/officeDocument/2006/relationships/slide" Target="slides/slide13.xml"/><Relationship Id="rId43" Type="http://schemas.openxmlformats.org/officeDocument/2006/relationships/font" Target="fonts/Merriweather-italic.fntdata"/><Relationship Id="rId24" Type="http://schemas.openxmlformats.org/officeDocument/2006/relationships/slide" Target="slides/slide16.xml"/><Relationship Id="rId46" Type="http://customschemas.google.com/relationships/presentationmetadata" Target="metadata"/><Relationship Id="rId23" Type="http://schemas.openxmlformats.org/officeDocument/2006/relationships/slide" Target="slides/slide15.xml"/><Relationship Id="rId45" Type="http://schemas.openxmlformats.org/officeDocument/2006/relationships/font" Target="fonts/AlfaSlabOne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font" Target="fonts/Roboto-bold.fntdata"/><Relationship Id="rId10" Type="http://schemas.openxmlformats.org/officeDocument/2006/relationships/slide" Target="slides/slide2.xml"/><Relationship Id="rId32" Type="http://schemas.openxmlformats.org/officeDocument/2006/relationships/font" Target="fonts/Roboto-regular.fntdata"/><Relationship Id="rId13" Type="http://schemas.openxmlformats.org/officeDocument/2006/relationships/slide" Target="slides/slide5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4.xml"/><Relationship Id="rId34" Type="http://schemas.openxmlformats.org/officeDocument/2006/relationships/font" Target="fonts/Roboto-italic.fntdata"/><Relationship Id="rId15" Type="http://schemas.openxmlformats.org/officeDocument/2006/relationships/slide" Target="slides/slide7.xml"/><Relationship Id="rId37" Type="http://schemas.openxmlformats.org/officeDocument/2006/relationships/font" Target="fonts/HelveticaNeue-regular.fntdata"/><Relationship Id="rId14" Type="http://schemas.openxmlformats.org/officeDocument/2006/relationships/slide" Target="slides/slide6.xml"/><Relationship Id="rId36" Type="http://schemas.openxmlformats.org/officeDocument/2006/relationships/font" Target="fonts/PermanentMarker-regular.fntdata"/><Relationship Id="rId17" Type="http://schemas.openxmlformats.org/officeDocument/2006/relationships/slide" Target="slides/slide9.xml"/><Relationship Id="rId39" Type="http://schemas.openxmlformats.org/officeDocument/2006/relationships/font" Target="fonts/HelveticaNeue-italic.fntdata"/><Relationship Id="rId16" Type="http://schemas.openxmlformats.org/officeDocument/2006/relationships/slide" Target="slides/slide8.xml"/><Relationship Id="rId38" Type="http://schemas.openxmlformats.org/officeDocument/2006/relationships/font" Target="fonts/HelveticaNeue-bold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https://www.delish.com/uk/food-news/g31017969/pasta-shapes/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https://en.wikipedia.org/wiki/List_of_pasta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e835dc59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2e835dc59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e835dc5907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2e835dc5907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This is the same idea of the semantic space of the word embedding vectors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Except in the word embedding vector - the computer figures out the features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These features dont’ have to be binary, it might have a numerical value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Is the length &gt; of pasta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e82e11bb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2e82e11bb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This is the same idea of the semantic space of the word embedding vectors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Except in the word embedding vector - the computer figures out the features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These features dont’ have to be binary, it might have a numerical value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Is the length &gt; of pasta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This is the same idea of the semantic space of the word embedding vectors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Except in the word embedding vector - the computer figures out the features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These features dont’ have to be binary, it might have a numerical value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Is the length &gt; of pasta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This is the same idea of the semantic space of the word embedding vectors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Except in the word embedding vector - the computer figures out the features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These features dont’ have to be binary, it might have a numerical value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Is the length &gt; of pasta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Answer - </a:t>
            </a:r>
            <a:r>
              <a:rPr lang="en">
                <a:solidFill>
                  <a:schemeClr val="dk1"/>
                </a:solidFill>
              </a:rPr>
              <a:t>It solves a problem by asking a series of questions.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Note - Learning by being told has been added in April 27,2023 to accommodate the appearance of ChatGPT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5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5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5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5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5" name="Google Shape;65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6" name="Google Shape;66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0" name="Google Shape;70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1" name="Google Shape;7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" name="Google Shape;9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1" name="Google Shape;10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04" name="Google Shape;10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05" name="Google Shape;10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8" name="Google Shape;108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9" name="Google Shape;10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4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>
                <a:solidFill>
                  <a:srgbClr val="000000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13" name="Google Shape;113;p4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4" name="Google Shape;11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0" name="Google Shape;120;p4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1" name="Google Shape;121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4" name="Google Shape;12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8" name="Google Shape;128;p4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4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33" name="Google Shape;133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6" name="Google Shape;136;p4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" name="Google Shape;13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Relationship Id="rId8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06349"/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3.2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45340"/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How can a computer learn to classify objects from examples?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45" name="Google Shape;14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i="0" sz="2600" u="none" cap="none" strike="noStrike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p1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Developed for the AI4GA (Artificial Intelligence for Georgia) project funded by National Science Foundation awards DRL-2049029 and DRL-2048502.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Additional funding was provided by a gift from Google. </a:t>
            </a:r>
            <a:r>
              <a:rPr b="1" lang="en" sz="900">
                <a:highlight>
                  <a:srgbClr val="FFFFFF"/>
                </a:highlight>
              </a:rPr>
              <a:t>This work is licensed under the Creative Commons Attribution-NonCommercial-ShareAlike 4.0 International License. </a:t>
            </a:r>
            <a:r>
              <a:rPr b="1" lang="en" sz="900" u="sng">
                <a:solidFill>
                  <a:srgbClr val="0097A7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91475" y="1892475"/>
            <a:ext cx="5182650" cy="259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>
            <p:ph type="title"/>
          </p:nvPr>
        </p:nvSpPr>
        <p:spPr>
          <a:xfrm>
            <a:off x="311700" y="218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FF"/>
                </a:solidFill>
                <a:latin typeface="Alfa Slab One"/>
                <a:ea typeface="Alfa Slab One"/>
                <a:cs typeface="Alfa Slab One"/>
                <a:sym typeface="Alfa Slab One"/>
              </a:rPr>
              <a:t>Try It #1: </a:t>
            </a:r>
            <a:r>
              <a:rPr lang="en">
                <a:latin typeface="Alfa Slab One"/>
                <a:ea typeface="Alfa Slab One"/>
                <a:cs typeface="Alfa Slab One"/>
                <a:sym typeface="Alfa Slab One"/>
              </a:rPr>
              <a:t>Candy Land - Creating a Candy Classifier</a:t>
            </a:r>
            <a:endParaRPr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55" name="Google Shape;155;p2"/>
          <p:cNvSpPr txBox="1"/>
          <p:nvPr>
            <p:ph idx="1" type="body"/>
          </p:nvPr>
        </p:nvSpPr>
        <p:spPr>
          <a:xfrm>
            <a:off x="349500" y="1017725"/>
            <a:ext cx="8520600" cy="39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1" lang="en" sz="1200">
                <a:solidFill>
                  <a:schemeClr val="dk1"/>
                </a:solidFill>
              </a:rPr>
              <a:t>Setup: </a:t>
            </a:r>
            <a:r>
              <a:rPr lang="en" sz="1200">
                <a:solidFill>
                  <a:schemeClr val="dk1"/>
                </a:solidFill>
              </a:rPr>
              <a:t>(a) Get a handout for drawing your tree; (b) cut out pictures of candy that you can move around the nodes of your tree.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1"/>
                </a:solidFill>
              </a:rPr>
              <a:t>Step 1: </a:t>
            </a:r>
            <a:r>
              <a:rPr lang="en" sz="1200">
                <a:solidFill>
                  <a:schemeClr val="dk1"/>
                </a:solidFill>
              </a:rPr>
              <a:t>Propose a bunch of features to distinguish between the candy types,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 sz="1200">
                <a:solidFill>
                  <a:schemeClr val="dk1"/>
                </a:solidFill>
              </a:rPr>
              <a:t>Step 2: </a:t>
            </a:r>
            <a:r>
              <a:rPr lang="en" sz="1200"/>
              <a:t>Pick a feature that will split the candy into two roughly equal groups.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  Doing this every time will give you the smallest number of nodes.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  This is similar to how real machine learning algorithms decide which feature to use for the next node.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 sz="1200"/>
              <a:t>Step 3:</a:t>
            </a:r>
            <a:r>
              <a:rPr lang="en" sz="1200"/>
              <a:t> Take the features, build the decision tree. 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Make sure every one of your types of candy is a leaf.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You may not have enough features - if you end up with two types of candy on the same leaf.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 sz="1200"/>
              <a:t>Step 4:</a:t>
            </a:r>
            <a:r>
              <a:rPr lang="en" sz="1200"/>
              <a:t> Test this out and update the features and the tree.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 sz="1200"/>
              <a:t>Step 5:</a:t>
            </a:r>
            <a:r>
              <a:rPr lang="en" sz="1200"/>
              <a:t> Convert the tree into a table.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The columns are the features (red - replace question).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The rows are the leaves.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If the feature doesn’t apply, put N/A.</a:t>
            </a:r>
            <a:endParaRPr sz="1200"/>
          </a:p>
        </p:txBody>
      </p:sp>
      <p:sp>
        <p:nvSpPr>
          <p:cNvPr id="156" name="Google Shape;15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.</a:t>
            </a:r>
            <a:endParaRPr/>
          </a:p>
        </p:txBody>
      </p:sp>
      <p:sp>
        <p:nvSpPr>
          <p:cNvPr id="162" name="Google Shape;162;p3"/>
          <p:cNvSpPr txBox="1"/>
          <p:nvPr/>
        </p:nvSpPr>
        <p:spPr>
          <a:xfrm>
            <a:off x="811688" y="2263875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Gummy Worm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4125800" y="2392438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Reese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6055100" y="2747038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skittles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"/>
          <p:cNvSpPr txBox="1"/>
          <p:nvPr/>
        </p:nvSpPr>
        <p:spPr>
          <a:xfrm>
            <a:off x="951038" y="4601700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Mentos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5804363" y="4512013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Cadbury Egg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3448313" y="4201488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Hershey Bar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2671713" y="2392450"/>
            <a:ext cx="10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lollipop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400" y="972500"/>
            <a:ext cx="734200" cy="134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2150" y="953788"/>
            <a:ext cx="1145700" cy="138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25800" y="1023500"/>
            <a:ext cx="1389551" cy="12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13300" y="1023500"/>
            <a:ext cx="1575450" cy="16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52823" y="3147250"/>
            <a:ext cx="734200" cy="1364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6897" y="3064275"/>
            <a:ext cx="1631099" cy="1519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17975" y="3057587"/>
            <a:ext cx="1950576" cy="108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"/>
          <p:cNvSpPr txBox="1"/>
          <p:nvPr/>
        </p:nvSpPr>
        <p:spPr>
          <a:xfrm>
            <a:off x="344650" y="205050"/>
            <a:ext cx="59082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Candy Data Set</a:t>
            </a:r>
            <a:endParaRPr sz="3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2" name="Google Shape;18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7499" y="1330171"/>
            <a:ext cx="405126" cy="789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949" y="1231910"/>
            <a:ext cx="632188" cy="811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8297" y="1372020"/>
            <a:ext cx="766743" cy="705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75100" y="1155045"/>
            <a:ext cx="869320" cy="965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09384" y="1325230"/>
            <a:ext cx="405126" cy="799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48741" y="1192551"/>
            <a:ext cx="900027" cy="890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94467" y="1406533"/>
            <a:ext cx="1076312" cy="63684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9" name="Google Shape;189;p4"/>
          <p:cNvGraphicFramePr/>
          <p:nvPr/>
        </p:nvGraphicFramePr>
        <p:xfrm>
          <a:off x="135550" y="220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{1DB69455-5F2D-4CC4-8F11-B92DD9410F8E}</a:tableStyleId>
              </a:tblPr>
              <a:tblGrid>
                <a:gridCol w="1065925"/>
              </a:tblGrid>
              <a:tr h="41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Features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0" name="Google Shape;190;p4"/>
          <p:cNvSpPr txBox="1"/>
          <p:nvPr/>
        </p:nvSpPr>
        <p:spPr>
          <a:xfrm>
            <a:off x="0" y="0"/>
            <a:ext cx="62172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" sz="1800" u="none" cap="none" strike="noStrike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 feature 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property of a thing we are trying to describe.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Write features for the candies in our dataset.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191" name="Google Shape;191;p4"/>
          <p:cNvGraphicFramePr/>
          <p:nvPr/>
        </p:nvGraphicFramePr>
        <p:xfrm>
          <a:off x="1430950" y="220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{1DB69455-5F2D-4CC4-8F11-B92DD9410F8E}</a:tableStyleId>
              </a:tblPr>
              <a:tblGrid>
                <a:gridCol w="1065925"/>
              </a:tblGrid>
              <a:tr h="41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Features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2" name="Google Shape;192;p4"/>
          <p:cNvGraphicFramePr/>
          <p:nvPr/>
        </p:nvGraphicFramePr>
        <p:xfrm>
          <a:off x="2726350" y="220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{1DB69455-5F2D-4CC4-8F11-B92DD9410F8E}</a:tableStyleId>
              </a:tblPr>
              <a:tblGrid>
                <a:gridCol w="1065925"/>
              </a:tblGrid>
              <a:tr h="41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Features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3" name="Google Shape;193;p4"/>
          <p:cNvGraphicFramePr/>
          <p:nvPr/>
        </p:nvGraphicFramePr>
        <p:xfrm>
          <a:off x="4021750" y="220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{1DB69455-5F2D-4CC4-8F11-B92DD9410F8E}</a:tableStyleId>
              </a:tblPr>
              <a:tblGrid>
                <a:gridCol w="1065925"/>
              </a:tblGrid>
              <a:tr h="41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Features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4" name="Google Shape;194;p4"/>
          <p:cNvGraphicFramePr/>
          <p:nvPr/>
        </p:nvGraphicFramePr>
        <p:xfrm>
          <a:off x="5317150" y="220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{1DB69455-5F2D-4CC4-8F11-B92DD9410F8E}</a:tableStyleId>
              </a:tblPr>
              <a:tblGrid>
                <a:gridCol w="1065925"/>
              </a:tblGrid>
              <a:tr h="41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Features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5" name="Google Shape;195;p4"/>
          <p:cNvGraphicFramePr/>
          <p:nvPr/>
        </p:nvGraphicFramePr>
        <p:xfrm>
          <a:off x="6612550" y="220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{1DB69455-5F2D-4CC4-8F11-B92DD9410F8E}</a:tableStyleId>
              </a:tblPr>
              <a:tblGrid>
                <a:gridCol w="1065925"/>
              </a:tblGrid>
              <a:tr h="41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Features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6" name="Google Shape;196;p4"/>
          <p:cNvGraphicFramePr/>
          <p:nvPr/>
        </p:nvGraphicFramePr>
        <p:xfrm>
          <a:off x="7907950" y="220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{1DB69455-5F2D-4CC4-8F11-B92DD9410F8E}</a:tableStyleId>
              </a:tblPr>
              <a:tblGrid>
                <a:gridCol w="1065925"/>
              </a:tblGrid>
              <a:tr h="41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Features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e835dc5907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2" name="Google Shape;202;g2e835dc5907_0_0"/>
          <p:cNvSpPr/>
          <p:nvPr/>
        </p:nvSpPr>
        <p:spPr>
          <a:xfrm>
            <a:off x="18750" y="4342200"/>
            <a:ext cx="9106500" cy="80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Pick a feature </a:t>
            </a:r>
            <a:r>
              <a:rPr lang="en">
                <a:solidFill>
                  <a:schemeClr val="dk1"/>
                </a:solidFill>
              </a:rPr>
              <a:t>from your last slide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</a:t>
            </a:r>
            <a:r>
              <a:rPr lang="en">
                <a:solidFill>
                  <a:schemeClr val="dk1"/>
                </a:solidFill>
              </a:rPr>
              <a:t>roughly half of your candy shares.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Turn </a:t>
            </a:r>
            <a:r>
              <a:rPr lang="en">
                <a:solidFill>
                  <a:schemeClr val="dk1"/>
                </a:solidFill>
              </a:rPr>
              <a:t>that feature into question that can be answered with yes or no and write it in the red box.  This is the root node, the beginning of your decision tree.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g2e835dc590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4774" y="37508"/>
            <a:ext cx="405126" cy="789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2e835dc5907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774" y="26560"/>
            <a:ext cx="632188" cy="811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2e835dc5907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6022" y="2995"/>
            <a:ext cx="766743" cy="705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2e835dc5907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8900" y="-5"/>
            <a:ext cx="869320" cy="965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2e835dc5907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41947" y="32567"/>
            <a:ext cx="405126" cy="799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2e835dc5907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50066" y="37501"/>
            <a:ext cx="900027" cy="890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2e835dc5907_0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39292" y="37508"/>
            <a:ext cx="1076312" cy="63684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2e835dc5907_0_0"/>
          <p:cNvSpPr txBox="1"/>
          <p:nvPr/>
        </p:nvSpPr>
        <p:spPr>
          <a:xfrm>
            <a:off x="3801750" y="1207225"/>
            <a:ext cx="15405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613350" y="4245325"/>
            <a:ext cx="7917300" cy="811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FIll in your tree from the last slide. Then drag your candies to the end of the link that it belongs in.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Add two new feature questions to split your two groups of candies in half again.</a:t>
            </a:r>
            <a:endParaRPr/>
          </a:p>
        </p:txBody>
      </p:sp>
      <p:cxnSp>
        <p:nvCxnSpPr>
          <p:cNvPr id="217" name="Google Shape;217;p5"/>
          <p:cNvCxnSpPr>
            <a:stCxn id="218" idx="2"/>
            <a:endCxn id="219" idx="0"/>
          </p:cNvCxnSpPr>
          <p:nvPr/>
        </p:nvCxnSpPr>
        <p:spPr>
          <a:xfrm flipH="1" rot="-5400000">
            <a:off x="5073950" y="99635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20" name="Google Shape;220;p5"/>
          <p:cNvCxnSpPr>
            <a:stCxn id="221" idx="0"/>
            <a:endCxn id="218" idx="2"/>
          </p:cNvCxnSpPr>
          <p:nvPr/>
        </p:nvCxnSpPr>
        <p:spPr>
          <a:xfrm rot="-5400000">
            <a:off x="3303650" y="99645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8" name="Google Shape;218;p5"/>
          <p:cNvSpPr txBox="1"/>
          <p:nvPr/>
        </p:nvSpPr>
        <p:spPr>
          <a:xfrm>
            <a:off x="3742400" y="1191350"/>
            <a:ext cx="15405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5"/>
          <p:cNvSpPr txBox="1"/>
          <p:nvPr/>
        </p:nvSpPr>
        <p:spPr>
          <a:xfrm>
            <a:off x="1973300" y="22054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5"/>
          <p:cNvSpPr txBox="1"/>
          <p:nvPr/>
        </p:nvSpPr>
        <p:spPr>
          <a:xfrm>
            <a:off x="5513900" y="22054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2227875" y="1772038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6359150" y="1681388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4774" y="37508"/>
            <a:ext cx="405126" cy="789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774" y="26560"/>
            <a:ext cx="632188" cy="811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6022" y="2995"/>
            <a:ext cx="766743" cy="705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8900" y="-5"/>
            <a:ext cx="869320" cy="965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41947" y="32567"/>
            <a:ext cx="405126" cy="799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50066" y="37501"/>
            <a:ext cx="900027" cy="890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39292" y="37508"/>
            <a:ext cx="1076312" cy="636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6" name="Google Shape;236;p6"/>
          <p:cNvCxnSpPr>
            <a:stCxn id="237" idx="2"/>
            <a:endCxn id="238" idx="0"/>
          </p:cNvCxnSpPr>
          <p:nvPr/>
        </p:nvCxnSpPr>
        <p:spPr>
          <a:xfrm flipH="1" rot="-5400000">
            <a:off x="5197125" y="116050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39" name="Google Shape;239;p6"/>
          <p:cNvCxnSpPr>
            <a:stCxn id="240" idx="0"/>
            <a:endCxn id="237" idx="2"/>
          </p:cNvCxnSpPr>
          <p:nvPr/>
        </p:nvCxnSpPr>
        <p:spPr>
          <a:xfrm rot="-5400000">
            <a:off x="3426825" y="116060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41" name="Google Shape;241;p6"/>
          <p:cNvCxnSpPr>
            <a:stCxn id="240" idx="2"/>
            <a:endCxn id="242" idx="0"/>
          </p:cNvCxnSpPr>
          <p:nvPr/>
        </p:nvCxnSpPr>
        <p:spPr>
          <a:xfrm flipH="1" rot="-5400000">
            <a:off x="2945325" y="265610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43" name="Google Shape;243;p6"/>
          <p:cNvCxnSpPr>
            <a:stCxn id="244" idx="0"/>
            <a:endCxn id="240" idx="2"/>
          </p:cNvCxnSpPr>
          <p:nvPr/>
        </p:nvCxnSpPr>
        <p:spPr>
          <a:xfrm rot="-5400000">
            <a:off x="2100075" y="265610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45" name="Google Shape;245;p6"/>
          <p:cNvCxnSpPr>
            <a:stCxn id="238" idx="2"/>
            <a:endCxn id="246" idx="0"/>
          </p:cNvCxnSpPr>
          <p:nvPr/>
        </p:nvCxnSpPr>
        <p:spPr>
          <a:xfrm flipH="1" rot="-5400000">
            <a:off x="6485925" y="265610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47" name="Google Shape;247;p6"/>
          <p:cNvCxnSpPr>
            <a:stCxn id="248" idx="0"/>
            <a:endCxn id="238" idx="2"/>
          </p:cNvCxnSpPr>
          <p:nvPr/>
        </p:nvCxnSpPr>
        <p:spPr>
          <a:xfrm rot="-5400000">
            <a:off x="5640675" y="265610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7" name="Google Shape;237;p6"/>
          <p:cNvSpPr txBox="1"/>
          <p:nvPr/>
        </p:nvSpPr>
        <p:spPr>
          <a:xfrm>
            <a:off x="3865575" y="1355500"/>
            <a:ext cx="15405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2096475" y="236960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6"/>
          <p:cNvSpPr txBox="1"/>
          <p:nvPr/>
        </p:nvSpPr>
        <p:spPr>
          <a:xfrm>
            <a:off x="5637075" y="236960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6482325" y="342170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6"/>
          <p:cNvSpPr txBox="1"/>
          <p:nvPr/>
        </p:nvSpPr>
        <p:spPr>
          <a:xfrm>
            <a:off x="4791825" y="342170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2941725" y="342170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6"/>
          <p:cNvSpPr txBox="1"/>
          <p:nvPr/>
        </p:nvSpPr>
        <p:spPr>
          <a:xfrm>
            <a:off x="1251225" y="342170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6"/>
          <p:cNvSpPr txBox="1"/>
          <p:nvPr/>
        </p:nvSpPr>
        <p:spPr>
          <a:xfrm>
            <a:off x="2351050" y="1936188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1538550" y="287870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3787125" y="3021488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6"/>
          <p:cNvSpPr txBox="1"/>
          <p:nvPr/>
        </p:nvSpPr>
        <p:spPr>
          <a:xfrm>
            <a:off x="5012175" y="302150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6"/>
          <p:cNvSpPr txBox="1"/>
          <p:nvPr/>
        </p:nvSpPr>
        <p:spPr>
          <a:xfrm>
            <a:off x="7251525" y="3021488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6"/>
          <p:cNvSpPr txBox="1"/>
          <p:nvPr/>
        </p:nvSpPr>
        <p:spPr>
          <a:xfrm>
            <a:off x="6482325" y="1845538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4774" y="37508"/>
            <a:ext cx="405126" cy="789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774" y="26560"/>
            <a:ext cx="632188" cy="811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6022" y="2995"/>
            <a:ext cx="766743" cy="705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8900" y="-5"/>
            <a:ext cx="869320" cy="965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41947" y="32567"/>
            <a:ext cx="405126" cy="799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50066" y="37501"/>
            <a:ext cx="900027" cy="890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39292" y="37508"/>
            <a:ext cx="1076312" cy="63684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6"/>
          <p:cNvSpPr/>
          <p:nvPr/>
        </p:nvSpPr>
        <p:spPr>
          <a:xfrm>
            <a:off x="0" y="4167850"/>
            <a:ext cx="9144000" cy="96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FIll in your tree from the last slide. Then drag your candies to the end of the link that it belongs in.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Add four new feature questions to split your four groups of candies in half again. If a link only has one candy, do not add a feature question. Just leave it at the end of the link.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7" name="Google Shape;267;g2e835dc5907_0_514"/>
          <p:cNvCxnSpPr>
            <a:stCxn id="268" idx="0"/>
            <a:endCxn id="269" idx="2"/>
          </p:cNvCxnSpPr>
          <p:nvPr/>
        </p:nvCxnSpPr>
        <p:spPr>
          <a:xfrm rot="-5400000">
            <a:off x="3269250" y="845450"/>
            <a:ext cx="647700" cy="19581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70" name="Google Shape;270;g2e835dc5907_0_514"/>
          <p:cNvCxnSpPr>
            <a:stCxn id="268" idx="2"/>
            <a:endCxn id="271" idx="0"/>
          </p:cNvCxnSpPr>
          <p:nvPr/>
        </p:nvCxnSpPr>
        <p:spPr>
          <a:xfrm flipH="1" rot="-5400000">
            <a:off x="2642850" y="2383850"/>
            <a:ext cx="787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72" name="Google Shape;272;g2e835dc5907_0_514"/>
          <p:cNvCxnSpPr>
            <a:stCxn id="273" idx="0"/>
            <a:endCxn id="268" idx="2"/>
          </p:cNvCxnSpPr>
          <p:nvPr/>
        </p:nvCxnSpPr>
        <p:spPr>
          <a:xfrm rot="-5400000">
            <a:off x="1491275" y="2077550"/>
            <a:ext cx="787800" cy="145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74" name="Google Shape;274;g2e835dc5907_0_514"/>
          <p:cNvCxnSpPr>
            <a:stCxn id="275" idx="0"/>
            <a:endCxn id="273" idx="2"/>
          </p:cNvCxnSpPr>
          <p:nvPr/>
        </p:nvCxnSpPr>
        <p:spPr>
          <a:xfrm rot="-5400000">
            <a:off x="474900" y="3571250"/>
            <a:ext cx="787800" cy="574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76" name="Google Shape;276;g2e835dc5907_0_514"/>
          <p:cNvCxnSpPr>
            <a:stCxn id="277" idx="0"/>
            <a:endCxn id="273" idx="2"/>
          </p:cNvCxnSpPr>
          <p:nvPr/>
        </p:nvCxnSpPr>
        <p:spPr>
          <a:xfrm flipH="1" rot="5400000">
            <a:off x="1020675" y="3600350"/>
            <a:ext cx="787800" cy="516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9" name="Google Shape;269;g2e835dc5907_0_514"/>
          <p:cNvSpPr txBox="1"/>
          <p:nvPr/>
        </p:nvSpPr>
        <p:spPr>
          <a:xfrm>
            <a:off x="3801750" y="1134250"/>
            <a:ext cx="15405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g2e835dc5907_0_514"/>
          <p:cNvSpPr txBox="1"/>
          <p:nvPr/>
        </p:nvSpPr>
        <p:spPr>
          <a:xfrm>
            <a:off x="2108850" y="2148350"/>
            <a:ext cx="1010400" cy="264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g2e835dc5907_0_514"/>
          <p:cNvSpPr txBox="1"/>
          <p:nvPr/>
        </p:nvSpPr>
        <p:spPr>
          <a:xfrm>
            <a:off x="2954100" y="3200450"/>
            <a:ext cx="1010400" cy="264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g2e835dc5907_0_514"/>
          <p:cNvSpPr txBox="1"/>
          <p:nvPr/>
        </p:nvSpPr>
        <p:spPr>
          <a:xfrm>
            <a:off x="650975" y="3200450"/>
            <a:ext cx="1010400" cy="264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g2e835dc5907_0_514"/>
          <p:cNvSpPr txBox="1"/>
          <p:nvPr/>
        </p:nvSpPr>
        <p:spPr>
          <a:xfrm>
            <a:off x="1167675" y="4252550"/>
            <a:ext cx="1010400" cy="264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g2e835dc5907_0_514"/>
          <p:cNvSpPr txBox="1"/>
          <p:nvPr/>
        </p:nvSpPr>
        <p:spPr>
          <a:xfrm>
            <a:off x="76200" y="4252550"/>
            <a:ext cx="1010400" cy="264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g2e835dc5907_0_514"/>
          <p:cNvSpPr txBox="1"/>
          <p:nvPr/>
        </p:nvSpPr>
        <p:spPr>
          <a:xfrm>
            <a:off x="2178075" y="174815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2e835dc5907_0_514"/>
          <p:cNvSpPr txBox="1"/>
          <p:nvPr/>
        </p:nvSpPr>
        <p:spPr>
          <a:xfrm>
            <a:off x="650975" y="2793588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2e835dc5907_0_514"/>
          <p:cNvSpPr txBox="1"/>
          <p:nvPr/>
        </p:nvSpPr>
        <p:spPr>
          <a:xfrm>
            <a:off x="0" y="3711938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2e835dc5907_0_514"/>
          <p:cNvSpPr txBox="1"/>
          <p:nvPr/>
        </p:nvSpPr>
        <p:spPr>
          <a:xfrm>
            <a:off x="3426225" y="2793588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2e835dc5907_0_514"/>
          <p:cNvSpPr txBox="1"/>
          <p:nvPr/>
        </p:nvSpPr>
        <p:spPr>
          <a:xfrm>
            <a:off x="1616950" y="3787588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No</a:t>
            </a:r>
            <a:endParaRPr/>
          </a:p>
        </p:txBody>
      </p:sp>
      <p:cxnSp>
        <p:nvCxnSpPr>
          <p:cNvPr id="283" name="Google Shape;283;g2e835dc5907_0_514"/>
          <p:cNvCxnSpPr>
            <a:stCxn id="284" idx="0"/>
          </p:cNvCxnSpPr>
          <p:nvPr/>
        </p:nvCxnSpPr>
        <p:spPr>
          <a:xfrm rot="-5400000">
            <a:off x="2760900" y="3571250"/>
            <a:ext cx="787800" cy="574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85" name="Google Shape;285;g2e835dc5907_0_514"/>
          <p:cNvCxnSpPr>
            <a:stCxn id="286" idx="0"/>
          </p:cNvCxnSpPr>
          <p:nvPr/>
        </p:nvCxnSpPr>
        <p:spPr>
          <a:xfrm flipH="1" rot="5400000">
            <a:off x="3306675" y="3600350"/>
            <a:ext cx="787800" cy="516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86" name="Google Shape;286;g2e835dc5907_0_514"/>
          <p:cNvSpPr txBox="1"/>
          <p:nvPr/>
        </p:nvSpPr>
        <p:spPr>
          <a:xfrm>
            <a:off x="3453675" y="4252550"/>
            <a:ext cx="1010400" cy="264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g2e835dc5907_0_514"/>
          <p:cNvSpPr txBox="1"/>
          <p:nvPr/>
        </p:nvSpPr>
        <p:spPr>
          <a:xfrm>
            <a:off x="2362200" y="4252550"/>
            <a:ext cx="1010400" cy="264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g2e835dc5907_0_514"/>
          <p:cNvSpPr txBox="1"/>
          <p:nvPr/>
        </p:nvSpPr>
        <p:spPr>
          <a:xfrm>
            <a:off x="3930938" y="3839038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No</a:t>
            </a:r>
            <a:endParaRPr/>
          </a:p>
        </p:txBody>
      </p:sp>
      <p:cxnSp>
        <p:nvCxnSpPr>
          <p:cNvPr id="288" name="Google Shape;288;g2e835dc5907_0_514"/>
          <p:cNvCxnSpPr>
            <a:stCxn id="289" idx="0"/>
            <a:endCxn id="269" idx="2"/>
          </p:cNvCxnSpPr>
          <p:nvPr/>
        </p:nvCxnSpPr>
        <p:spPr>
          <a:xfrm flipH="1" rot="5400000">
            <a:off x="5479050" y="593750"/>
            <a:ext cx="647700" cy="24615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90" name="Google Shape;290;g2e835dc5907_0_514"/>
          <p:cNvCxnSpPr>
            <a:stCxn id="289" idx="2"/>
            <a:endCxn id="291" idx="0"/>
          </p:cNvCxnSpPr>
          <p:nvPr/>
        </p:nvCxnSpPr>
        <p:spPr>
          <a:xfrm flipH="1" rot="-5400000">
            <a:off x="7062450" y="2383850"/>
            <a:ext cx="787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92" name="Google Shape;292;g2e835dc5907_0_514"/>
          <p:cNvCxnSpPr>
            <a:stCxn id="293" idx="0"/>
            <a:endCxn id="289" idx="2"/>
          </p:cNvCxnSpPr>
          <p:nvPr/>
        </p:nvCxnSpPr>
        <p:spPr>
          <a:xfrm rot="-5400000">
            <a:off x="5910875" y="2077550"/>
            <a:ext cx="787800" cy="145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94" name="Google Shape;294;g2e835dc5907_0_514"/>
          <p:cNvCxnSpPr>
            <a:stCxn id="295" idx="0"/>
            <a:endCxn id="293" idx="2"/>
          </p:cNvCxnSpPr>
          <p:nvPr/>
        </p:nvCxnSpPr>
        <p:spPr>
          <a:xfrm rot="-5400000">
            <a:off x="4932600" y="3609350"/>
            <a:ext cx="787800" cy="498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96" name="Google Shape;296;g2e835dc5907_0_514"/>
          <p:cNvCxnSpPr>
            <a:stCxn id="297" idx="0"/>
            <a:endCxn id="293" idx="2"/>
          </p:cNvCxnSpPr>
          <p:nvPr/>
        </p:nvCxnSpPr>
        <p:spPr>
          <a:xfrm flipH="1" rot="5400000">
            <a:off x="5478375" y="3562250"/>
            <a:ext cx="787800" cy="592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89" name="Google Shape;289;g2e835dc5907_0_514"/>
          <p:cNvSpPr txBox="1"/>
          <p:nvPr/>
        </p:nvSpPr>
        <p:spPr>
          <a:xfrm>
            <a:off x="6528450" y="2148350"/>
            <a:ext cx="1010400" cy="264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" name="Google Shape;291;g2e835dc5907_0_514"/>
          <p:cNvSpPr txBox="1"/>
          <p:nvPr/>
        </p:nvSpPr>
        <p:spPr>
          <a:xfrm>
            <a:off x="7373700" y="3200450"/>
            <a:ext cx="1010400" cy="264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g2e835dc5907_0_514"/>
          <p:cNvSpPr txBox="1"/>
          <p:nvPr/>
        </p:nvSpPr>
        <p:spPr>
          <a:xfrm>
            <a:off x="5070575" y="3200450"/>
            <a:ext cx="1010400" cy="264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g2e835dc5907_0_514"/>
          <p:cNvSpPr txBox="1"/>
          <p:nvPr/>
        </p:nvSpPr>
        <p:spPr>
          <a:xfrm>
            <a:off x="5663475" y="4252550"/>
            <a:ext cx="1010400" cy="264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g2e835dc5907_0_514"/>
          <p:cNvSpPr txBox="1"/>
          <p:nvPr/>
        </p:nvSpPr>
        <p:spPr>
          <a:xfrm>
            <a:off x="4572000" y="4252550"/>
            <a:ext cx="1010400" cy="264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g2e835dc5907_0_514"/>
          <p:cNvSpPr txBox="1"/>
          <p:nvPr/>
        </p:nvSpPr>
        <p:spPr>
          <a:xfrm>
            <a:off x="7033763" y="174815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2e835dc5907_0_514"/>
          <p:cNvSpPr txBox="1"/>
          <p:nvPr/>
        </p:nvSpPr>
        <p:spPr>
          <a:xfrm>
            <a:off x="5142225" y="2793588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2e835dc5907_0_514"/>
          <p:cNvSpPr txBox="1"/>
          <p:nvPr/>
        </p:nvSpPr>
        <p:spPr>
          <a:xfrm>
            <a:off x="6200400" y="3839038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No</a:t>
            </a:r>
            <a:endParaRPr/>
          </a:p>
        </p:txBody>
      </p:sp>
      <p:cxnSp>
        <p:nvCxnSpPr>
          <p:cNvPr id="301" name="Google Shape;301;g2e835dc5907_0_514"/>
          <p:cNvCxnSpPr>
            <a:endCxn id="291" idx="2"/>
          </p:cNvCxnSpPr>
          <p:nvPr/>
        </p:nvCxnSpPr>
        <p:spPr>
          <a:xfrm rot="-5400000">
            <a:off x="7232400" y="3606050"/>
            <a:ext cx="787800" cy="505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02" name="Google Shape;302;g2e835dc5907_0_514"/>
          <p:cNvCxnSpPr>
            <a:stCxn id="303" idx="0"/>
            <a:endCxn id="291" idx="2"/>
          </p:cNvCxnSpPr>
          <p:nvPr/>
        </p:nvCxnSpPr>
        <p:spPr>
          <a:xfrm flipH="1" rot="5400000">
            <a:off x="7811025" y="3532700"/>
            <a:ext cx="787800" cy="651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3" name="Google Shape;303;g2e835dc5907_0_514"/>
          <p:cNvSpPr txBox="1"/>
          <p:nvPr/>
        </p:nvSpPr>
        <p:spPr>
          <a:xfrm>
            <a:off x="8025675" y="4252550"/>
            <a:ext cx="1010400" cy="264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g2e835dc5907_0_514"/>
          <p:cNvSpPr txBox="1"/>
          <p:nvPr/>
        </p:nvSpPr>
        <p:spPr>
          <a:xfrm>
            <a:off x="6934200" y="4252550"/>
            <a:ext cx="1010400" cy="264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g2e835dc5907_0_514"/>
          <p:cNvSpPr txBox="1"/>
          <p:nvPr/>
        </p:nvSpPr>
        <p:spPr>
          <a:xfrm>
            <a:off x="2452725" y="3787588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2e835dc5907_0_514"/>
          <p:cNvSpPr txBox="1"/>
          <p:nvPr/>
        </p:nvSpPr>
        <p:spPr>
          <a:xfrm>
            <a:off x="4636725" y="3839038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2e835dc5907_0_514"/>
          <p:cNvSpPr txBox="1"/>
          <p:nvPr/>
        </p:nvSpPr>
        <p:spPr>
          <a:xfrm>
            <a:off x="7845825" y="2869788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2e835dc5907_0_514"/>
          <p:cNvSpPr txBox="1"/>
          <p:nvPr/>
        </p:nvSpPr>
        <p:spPr>
          <a:xfrm>
            <a:off x="6971025" y="3860388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2e835dc5907_0_514"/>
          <p:cNvSpPr txBox="1"/>
          <p:nvPr/>
        </p:nvSpPr>
        <p:spPr>
          <a:xfrm>
            <a:off x="8531625" y="3860388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g2e835dc5907_0_5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4774" y="37508"/>
            <a:ext cx="405126" cy="789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g2e835dc5907_0_5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774" y="26560"/>
            <a:ext cx="632188" cy="811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2e835dc5907_0_5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6022" y="2995"/>
            <a:ext cx="766743" cy="705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g2e835dc5907_0_5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8900" y="-5"/>
            <a:ext cx="869320" cy="965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g2e835dc5907_0_5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41947" y="32567"/>
            <a:ext cx="405126" cy="799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g2e835dc5907_0_5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50066" y="37501"/>
            <a:ext cx="900027" cy="890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g2e835dc5907_0_5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39292" y="37508"/>
            <a:ext cx="1076312" cy="636846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2e835dc5907_0_514"/>
          <p:cNvSpPr/>
          <p:nvPr/>
        </p:nvSpPr>
        <p:spPr>
          <a:xfrm>
            <a:off x="0" y="4656238"/>
            <a:ext cx="9144000" cy="46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FIll in your tree from the last slide. Then drag your candies to the end of the link that it belongs in.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Now that we’ve created our classifier</a:t>
            </a:r>
            <a:endParaRPr/>
          </a:p>
        </p:txBody>
      </p:sp>
      <p:sp>
        <p:nvSpPr>
          <p:cNvPr id="324" name="Google Shape;324;p7"/>
          <p:cNvSpPr txBox="1"/>
          <p:nvPr>
            <p:ph idx="1" type="body"/>
          </p:nvPr>
        </p:nvSpPr>
        <p:spPr>
          <a:xfrm>
            <a:off x="311700" y="1073600"/>
            <a:ext cx="85206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We can describe candy using feature vectors.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 feature </a:t>
            </a:r>
            <a:r>
              <a:rPr lang="en">
                <a:solidFill>
                  <a:schemeClr val="dk1"/>
                </a:solidFill>
              </a:rPr>
              <a:t>is a property of a thing we are trying to describe.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A </a:t>
            </a:r>
            <a:r>
              <a:rPr lang="en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featurE Vector</a:t>
            </a:r>
            <a:r>
              <a:rPr lang="en"/>
              <a:t> is an ordered list of properties.</a:t>
            </a:r>
            <a:endParaRPr/>
          </a:p>
        </p:txBody>
      </p:sp>
      <p:graphicFrame>
        <p:nvGraphicFramePr>
          <p:cNvPr id="325" name="Google Shape;325;p7"/>
          <p:cNvGraphicFramePr/>
          <p:nvPr/>
        </p:nvGraphicFramePr>
        <p:xfrm>
          <a:off x="395550" y="30927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{C3FA0B68-F8CA-46D0-BF8E-318CD5E94C4B}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Candy</a:t>
                      </a:r>
                      <a:endParaRPr b="1"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Air Head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highlight>
                            <a:srgbClr val="FFFF00"/>
                          </a:highlight>
                        </a:rPr>
                        <a:t>Is is round?</a:t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highlight>
                            <a:srgbClr val="FFFF00"/>
                          </a:highlight>
                        </a:rPr>
                        <a:t>N</a:t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6" name="Google Shape;326;p7"/>
          <p:cNvSpPr txBox="1"/>
          <p:nvPr/>
        </p:nvSpPr>
        <p:spPr>
          <a:xfrm>
            <a:off x="311700" y="2631000"/>
            <a:ext cx="407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feature vector: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e82e11bb78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g2e82e11bb78_0_0"/>
          <p:cNvSpPr txBox="1"/>
          <p:nvPr>
            <p:ph type="title"/>
          </p:nvPr>
        </p:nvSpPr>
        <p:spPr>
          <a:xfrm>
            <a:off x="311700" y="1167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Feature Vector Description of Candy  Respond Yes or 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45856"/>
              <a:buNone/>
            </a:pPr>
            <a:r>
              <a:rPr lang="en" sz="2133">
                <a:solidFill>
                  <a:schemeClr val="dk1"/>
                </a:solidFill>
              </a:rPr>
              <a:t>		Feature	  Feature    Feature  Feature  Feature  Feature   Feature</a:t>
            </a:r>
            <a:endParaRPr/>
          </a:p>
        </p:txBody>
      </p:sp>
      <p:graphicFrame>
        <p:nvGraphicFramePr>
          <p:cNvPr id="333" name="Google Shape;333;g2e82e11bb78_0_0"/>
          <p:cNvGraphicFramePr/>
          <p:nvPr/>
        </p:nvGraphicFramePr>
        <p:xfrm>
          <a:off x="39925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{C3FA0B68-F8CA-46D0-BF8E-318CD5E94C4B}</a:tableStyleId>
              </a:tblPr>
              <a:tblGrid>
                <a:gridCol w="992975"/>
                <a:gridCol w="992975"/>
                <a:gridCol w="992975"/>
                <a:gridCol w="992975"/>
                <a:gridCol w="992975"/>
                <a:gridCol w="992975"/>
                <a:gridCol w="992975"/>
                <a:gridCol w="992975"/>
              </a:tblGrid>
              <a:tr h="49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Candy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9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9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9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 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9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9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9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9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"/>
          <p:cNvSpPr txBox="1"/>
          <p:nvPr>
            <p:ph type="title"/>
          </p:nvPr>
        </p:nvSpPr>
        <p:spPr>
          <a:xfrm>
            <a:off x="243550" y="885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Use this test set to see how effective your features are at classifying a new set of candies</a:t>
            </a:r>
            <a:endParaRPr/>
          </a:p>
        </p:txBody>
      </p:sp>
      <p:sp>
        <p:nvSpPr>
          <p:cNvPr id="339" name="Google Shape;33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11"/>
          <p:cNvSpPr txBox="1"/>
          <p:nvPr/>
        </p:nvSpPr>
        <p:spPr>
          <a:xfrm>
            <a:off x="2288163" y="2581675"/>
            <a:ext cx="11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Baby Ruth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1"/>
          <p:cNvSpPr txBox="1"/>
          <p:nvPr/>
        </p:nvSpPr>
        <p:spPr>
          <a:xfrm>
            <a:off x="125575" y="2516625"/>
            <a:ext cx="91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 &amp; 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1"/>
          <p:cNvSpPr txBox="1"/>
          <p:nvPr/>
        </p:nvSpPr>
        <p:spPr>
          <a:xfrm>
            <a:off x="4374188" y="2583075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Candy Canes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 txBox="1"/>
          <p:nvPr/>
        </p:nvSpPr>
        <p:spPr>
          <a:xfrm>
            <a:off x="207772" y="4291050"/>
            <a:ext cx="11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4" name="Google Shape;34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575" y="1489200"/>
            <a:ext cx="1357500" cy="83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3425" y="1174800"/>
            <a:ext cx="13575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7775" y="3183937"/>
            <a:ext cx="1193100" cy="83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5875" y="1283700"/>
            <a:ext cx="1514475" cy="114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94025" y="3012675"/>
            <a:ext cx="1514475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1"/>
          <p:cNvSpPr txBox="1"/>
          <p:nvPr/>
        </p:nvSpPr>
        <p:spPr>
          <a:xfrm>
            <a:off x="2134248" y="3952350"/>
            <a:ext cx="181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 Punch Straws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52113" y="3134238"/>
            <a:ext cx="1275267" cy="1202163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1"/>
          <p:cNvSpPr txBox="1"/>
          <p:nvPr/>
        </p:nvSpPr>
        <p:spPr>
          <a:xfrm>
            <a:off x="4593188" y="4121700"/>
            <a:ext cx="11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Whoppers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1"/>
          <p:cNvSpPr txBox="1"/>
          <p:nvPr/>
        </p:nvSpPr>
        <p:spPr>
          <a:xfrm>
            <a:off x="5592850" y="663125"/>
            <a:ext cx="2656800" cy="469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Pick 3 candies</a:t>
            </a:r>
            <a:endParaRPr b="1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Test Set - Data Collection Sheet</a:t>
            </a:r>
            <a:endParaRPr/>
          </a:p>
        </p:txBody>
      </p:sp>
      <p:sp>
        <p:nvSpPr>
          <p:cNvPr id="358" name="Google Shape;3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59" name="Google Shape;359;p12"/>
          <p:cNvGraphicFramePr/>
          <p:nvPr/>
        </p:nvGraphicFramePr>
        <p:xfrm>
          <a:off x="594525" y="109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{C3FA0B68-F8CA-46D0-BF8E-318CD5E94C4B}</a:tableStyleId>
              </a:tblPr>
              <a:tblGrid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Candy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Correctly classified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Incorrectly classified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5" name="Google Shape;36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856"/>
              <a:buNone/>
            </a:pPr>
            <a:r>
              <a:rPr lang="en"/>
              <a:t>Feature Vector Description of Candy </a:t>
            </a:r>
            <a:endParaRPr sz="2133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856"/>
              <a:buNone/>
            </a:pPr>
            <a:r>
              <a:rPr lang="en" sz="2133"/>
              <a:t>Add more columns to fit all your features &amp; more rows to fit all your candies</a:t>
            </a:r>
            <a:endParaRPr sz="2133"/>
          </a:p>
        </p:txBody>
      </p:sp>
      <p:graphicFrame>
        <p:nvGraphicFramePr>
          <p:cNvPr id="366" name="Google Shape;366;p13"/>
          <p:cNvGraphicFramePr/>
          <p:nvPr/>
        </p:nvGraphicFramePr>
        <p:xfrm>
          <a:off x="410600" y="145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{C3FA0B68-F8CA-46D0-BF8E-318CD5E94C4B}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Candy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Is it multicolor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Is it round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Is it a quadrilateral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M&amp;M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Candy canes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Candy corn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Runts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Sour punch straws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Baby ruths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Whoppers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2" name="Google Shape;37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856"/>
              <a:buNone/>
            </a:pPr>
            <a:r>
              <a:rPr lang="en"/>
              <a:t>Feature Vector Description of Candy </a:t>
            </a:r>
            <a:endParaRPr sz="2133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856"/>
              <a:buNone/>
            </a:pPr>
            <a:r>
              <a:rPr lang="en" sz="2133"/>
              <a:t>Add more columns to fit all your features &amp; more rows to fit all your candies</a:t>
            </a:r>
            <a:endParaRPr sz="2133"/>
          </a:p>
        </p:txBody>
      </p:sp>
      <p:graphicFrame>
        <p:nvGraphicFramePr>
          <p:cNvPr id="373" name="Google Shape;373;p14"/>
          <p:cNvGraphicFramePr/>
          <p:nvPr/>
        </p:nvGraphicFramePr>
        <p:xfrm>
          <a:off x="410600" y="145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{C3FA0B68-F8CA-46D0-BF8E-318CD5E94C4B}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Candy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Reflection</a:t>
            </a:r>
            <a:endParaRPr/>
          </a:p>
        </p:txBody>
      </p:sp>
      <p:sp>
        <p:nvSpPr>
          <p:cNvPr id="379" name="Google Shape;37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lang="en"/>
              <a:t>How well did your candy classifier do on this new test set? What candies did it classify incorrectly?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rPr lang="en"/>
              <a:t>Were your features flexible enough to allow you to classify new candy? Why or why not?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946"/>
              <a:buNone/>
            </a:pPr>
            <a:r>
              <a:rPr lang="en"/>
              <a:t>How would you change your features to allow them to better classify a wider range of candies?</a:t>
            </a:r>
            <a:endParaRPr/>
          </a:p>
        </p:txBody>
      </p:sp>
      <p:sp>
        <p:nvSpPr>
          <p:cNvPr id="380" name="Google Shape;38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Takeaways</a:t>
            </a:r>
            <a:endParaRPr/>
          </a:p>
        </p:txBody>
      </p:sp>
      <p:sp>
        <p:nvSpPr>
          <p:cNvPr id="386" name="Google Shape;38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If your data is in a feature vector table like this  then you don’t have to build the tree yourself</a:t>
            </a:r>
            <a:endParaRPr/>
          </a:p>
        </p:txBody>
      </p:sp>
      <p:sp>
        <p:nvSpPr>
          <p:cNvPr id="392" name="Google Shape;392;p17"/>
          <p:cNvSpPr txBox="1"/>
          <p:nvPr>
            <p:ph idx="1" type="body"/>
          </p:nvPr>
        </p:nvSpPr>
        <p:spPr>
          <a:xfrm>
            <a:off x="311700" y="1300150"/>
            <a:ext cx="8520600" cy="3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People don’t usually build decision trees by hand because for realistic tasks it can be hard.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For practical problems, people build a table that may have thousands of rows (examples) and dozens of columns (features). Each example is labeled with the correct decision (i.e., the class it belongs to).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Then they use a </a:t>
            </a:r>
            <a:r>
              <a:rPr b="1" lang="en" sz="1600"/>
              <a:t>machine learning</a:t>
            </a:r>
            <a:r>
              <a:rPr lang="en" sz="1600"/>
              <a:t> algorithm to create the decision tree.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93" name="Google Shape;3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4" name="Google Shape;394;p17"/>
          <p:cNvSpPr txBox="1"/>
          <p:nvPr/>
        </p:nvSpPr>
        <p:spPr>
          <a:xfrm>
            <a:off x="247950" y="4324375"/>
            <a:ext cx="82725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Machine Learning 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process for constructing a reasoner (such as a decision tree classifier) using training data and a learning algorithm.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Let’s look at some examples from the real-world</a:t>
            </a:r>
            <a:endParaRPr/>
          </a:p>
        </p:txBody>
      </p:sp>
      <p:sp>
        <p:nvSpPr>
          <p:cNvPr id="400" name="Google Shape;4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FF"/>
                </a:solidFill>
                <a:latin typeface="Alfa Slab One"/>
                <a:ea typeface="Alfa Slab One"/>
                <a:cs typeface="Alfa Slab One"/>
                <a:sym typeface="Alfa Slab One"/>
              </a:rPr>
              <a:t>Try It #2: </a:t>
            </a:r>
            <a:r>
              <a:rPr lang="en"/>
              <a:t>Think of a real-world example</a:t>
            </a:r>
            <a:endParaRPr/>
          </a:p>
        </p:txBody>
      </p:sp>
      <p:sp>
        <p:nvSpPr>
          <p:cNvPr id="406" name="Google Shape;406;p19"/>
          <p:cNvSpPr txBox="1"/>
          <p:nvPr>
            <p:ph idx="1" type="body"/>
          </p:nvPr>
        </p:nvSpPr>
        <p:spPr>
          <a:xfrm>
            <a:off x="311700" y="124682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1" lang="en"/>
              <a:t>Step 1: </a:t>
            </a:r>
            <a:r>
              <a:rPr lang="en"/>
              <a:t>Pick a situation in the real world where computers might make decisions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b="1" lang="en"/>
              <a:t>Step 2: </a:t>
            </a:r>
            <a:r>
              <a:rPr lang="en"/>
              <a:t>Think about the attributes that would contribute to making good decisions </a:t>
            </a:r>
            <a:br>
              <a:rPr lang="en"/>
            </a:br>
            <a:br>
              <a:rPr lang="en"/>
            </a:br>
            <a:r>
              <a:rPr b="1" i="1" lang="en"/>
              <a:t>Step 3: </a:t>
            </a:r>
            <a:r>
              <a:rPr lang="en"/>
              <a:t>Reflection: Think about how your life is being affected by classifier systems (automated decision making). </a:t>
            </a:r>
            <a:endParaRPr/>
          </a:p>
        </p:txBody>
      </p:sp>
      <p:sp>
        <p:nvSpPr>
          <p:cNvPr id="407" name="Google Shape;40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8" name="Google Shape;408;p19"/>
          <p:cNvSpPr txBox="1"/>
          <p:nvPr>
            <p:ph idx="2" type="body"/>
          </p:nvPr>
        </p:nvSpPr>
        <p:spPr>
          <a:xfrm>
            <a:off x="4832400" y="1152475"/>
            <a:ext cx="4188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Examples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Classifying toys based on age. </a:t>
            </a:r>
            <a:br>
              <a:rPr lang="en"/>
            </a:br>
            <a:r>
              <a:rPr lang="en"/>
              <a:t>What kinds of features make a toy suitable?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Classify games, movies, and music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Reviewing loan applications. </a:t>
            </a:r>
            <a:br>
              <a:rPr lang="en"/>
            </a:br>
            <a:r>
              <a:rPr lang="en"/>
              <a:t>What kinds of things help us determine the strength of a loan application?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College applications.</a:t>
            </a:r>
            <a:br>
              <a:rPr lang="en"/>
            </a:br>
            <a:r>
              <a:rPr lang="en"/>
              <a:t>What kinds of things make for a strong college application?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Computers don’t learn the way people do. </a:t>
            </a:r>
            <a:endParaRPr/>
          </a:p>
        </p:txBody>
      </p:sp>
      <p:sp>
        <p:nvSpPr>
          <p:cNvPr id="414" name="Google Shape;41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1"/>
          <p:cNvSpPr txBox="1"/>
          <p:nvPr>
            <p:ph type="title"/>
          </p:nvPr>
        </p:nvSpPr>
        <p:spPr>
          <a:xfrm>
            <a:off x="311700" y="2150850"/>
            <a:ext cx="87441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How do people learn?</a:t>
            </a:r>
            <a:endParaRPr/>
          </a:p>
        </p:txBody>
      </p:sp>
      <p:sp>
        <p:nvSpPr>
          <p:cNvPr id="420" name="Google Shape;42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1" name="Google Shape;421;p21"/>
          <p:cNvSpPr/>
          <p:nvPr/>
        </p:nvSpPr>
        <p:spPr>
          <a:xfrm>
            <a:off x="678950" y="2866500"/>
            <a:ext cx="8376900" cy="2883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Ways people learn</a:t>
            </a:r>
            <a:endParaRPr/>
          </a:p>
        </p:txBody>
      </p:sp>
      <p:sp>
        <p:nvSpPr>
          <p:cNvPr id="427" name="Google Shape;42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Being taught by someone (e.g., parent, teacher, sibling, friend)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Asking questions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Observing others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Reading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Trial and error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Systematic experimentation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Everyday life experiences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8" name="Google Shape;42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9" name="Google Shape;429;p22"/>
          <p:cNvSpPr txBox="1"/>
          <p:nvPr/>
        </p:nvSpPr>
        <p:spPr>
          <a:xfrm>
            <a:off x="311700" y="4421250"/>
            <a:ext cx="718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 None of these are things that computers currently do well.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Ways Computers Learn</a:t>
            </a:r>
            <a:endParaRPr/>
          </a:p>
        </p:txBody>
      </p:sp>
      <p:sp>
        <p:nvSpPr>
          <p:cNvPr id="435" name="Google Shape;435;p23"/>
          <p:cNvSpPr txBox="1"/>
          <p:nvPr>
            <p:ph idx="1" type="body"/>
          </p:nvPr>
        </p:nvSpPr>
        <p:spPr>
          <a:xfrm>
            <a:off x="311700" y="923875"/>
            <a:ext cx="8520600" cy="4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from labeled examples (like Pasta Land and Teachable Machine)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</a:t>
            </a:r>
            <a:r>
              <a:rPr b="1" lang="en"/>
              <a:t>supervised learning</a:t>
            </a:r>
            <a:endParaRPr b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will only explore supervised learning in this unit</a:t>
            </a:r>
            <a:br>
              <a:rPr lang="en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Finding clusters in data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</a:t>
            </a:r>
            <a:r>
              <a:rPr b="1" lang="en"/>
              <a:t>unsupervised learning</a:t>
            </a:r>
            <a:r>
              <a:rPr lang="en"/>
              <a:t> because the data does not come pre-labeled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examining data on plants collected from a forest and decided how many different species of plants there are in the forest</a:t>
            </a:r>
            <a:br>
              <a:rPr lang="en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from experience via trial and error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</a:t>
            </a:r>
            <a:r>
              <a:rPr b="1" lang="en"/>
              <a:t>reinforcement learning</a:t>
            </a:r>
            <a:endParaRPr b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how computers learn good strategies for playing games</a:t>
            </a:r>
            <a:br>
              <a:rPr lang="en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by being told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</a:t>
            </a:r>
            <a:r>
              <a:rPr b="1" lang="en"/>
              <a:t>zero shot learning.</a:t>
            </a:r>
            <a:endParaRPr b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Large language models like ChatGPT can learn a new task by being told what to do and they will follow those instructions.</a:t>
            </a:r>
            <a:endParaRPr/>
          </a:p>
        </p:txBody>
      </p:sp>
      <p:sp>
        <p:nvSpPr>
          <p:cNvPr id="436" name="Google Shape;4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