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y="5143500" cx="9144000"/>
  <p:notesSz cx="6858000" cy="9144000"/>
  <p:embeddedFontLst>
    <p:embeddedFont>
      <p:font typeface="Alfa Slab One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font" Target="fonts/AlfaSlabOne-regular.fntdata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eb9140d08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eb9140d08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eb9140d08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eb9140d08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b9140d08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b9140d08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b9140d08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b9140d08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b9140d08a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eb9140d08a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1" name="Google Shape;101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" name="Google Shape;10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1" name="Google Shape;12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4" name="Google Shape;1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3" name="Google Shape;13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" name="Google Shape;136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youtube.com/watch?v=T2qQGqZxkD0" TargetMode="External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eachablemachine.withgoogle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>
            <p:ph type="title"/>
          </p:nvPr>
        </p:nvSpPr>
        <p:spPr>
          <a:xfrm>
            <a:off x="311700" y="2684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Your Own Image Classifier</a:t>
            </a:r>
            <a:endParaRPr/>
          </a:p>
        </p:txBody>
      </p:sp>
      <p:sp>
        <p:nvSpPr>
          <p:cNvPr id="145" name="Google Shape;14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7"/>
          <p:cNvSpPr txBox="1"/>
          <p:nvPr/>
        </p:nvSpPr>
        <p:spPr>
          <a:xfrm>
            <a:off x="1191275" y="3560625"/>
            <a:ext cx="633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/>
              <a:t>Student Activity</a:t>
            </a:r>
            <a:endParaRPr i="1" sz="2100"/>
          </a:p>
        </p:txBody>
      </p:sp>
      <p:pic>
        <p:nvPicPr>
          <p:cNvPr id="147" name="Google Shape;14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900" y="689975"/>
            <a:ext cx="4762136" cy="192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eachable Machine 2.0 makes it fast and easy to create machine learning models for your projects, no coding required. Train a computer to recognize your images, sounds, &amp; poses, then export your model for your sites, apps, and more → https://g.co/teachablemachine" id="153" name="Google Shape;153;p38" title="Teachable Machine 2.0: Making AI easier for everyone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2275" y="517700"/>
            <a:ext cx="7600175" cy="427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Try It: </a:t>
            </a:r>
            <a:r>
              <a:rPr lang="en"/>
              <a:t>Thumbs up vs Peace sign Classifier</a:t>
            </a:r>
            <a:endParaRPr/>
          </a:p>
        </p:txBody>
      </p:sp>
      <p:sp>
        <p:nvSpPr>
          <p:cNvPr id="159" name="Google Shape;159;p39"/>
          <p:cNvSpPr txBox="1"/>
          <p:nvPr>
            <p:ph idx="1" type="body"/>
          </p:nvPr>
        </p:nvSpPr>
        <p:spPr>
          <a:xfrm>
            <a:off x="311700" y="1000075"/>
            <a:ext cx="8520600" cy="41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Train a classifier to identify peace sign, thumbs up, or neither of these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1: Open teachable machine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https://teachablemachine.withgoogle.com/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2: Watch the Getting Started video (scroll down on the page for video).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3: Create a </a:t>
            </a:r>
            <a:r>
              <a:rPr i="1" lang="en"/>
              <a:t>peace sign</a:t>
            </a:r>
            <a:r>
              <a:rPr lang="en"/>
              <a:t> class, and train it with peace sign gestures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4: Create a </a:t>
            </a:r>
            <a:r>
              <a:rPr i="1" lang="en"/>
              <a:t>thumbs up </a:t>
            </a:r>
            <a:r>
              <a:rPr lang="en"/>
              <a:t>class, and train it with thumbs up gestures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Step 5: Create a </a:t>
            </a:r>
            <a:r>
              <a:rPr i="1" lang="en">
                <a:solidFill>
                  <a:schemeClr val="dk1"/>
                </a:solidFill>
              </a:rPr>
              <a:t>none of the above </a:t>
            </a:r>
            <a:r>
              <a:rPr lang="en">
                <a:solidFill>
                  <a:schemeClr val="dk1"/>
                </a:solidFill>
              </a:rPr>
              <a:t>class, and train it with no hand gestures or no peace or thumbs up sign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6: Build model,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7: Test out model yourself and improve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8: Then have a friend test your model </a:t>
            </a:r>
            <a:r>
              <a:rPr lang="en">
                <a:solidFill>
                  <a:schemeClr val="dk1"/>
                </a:solidFill>
              </a:rPr>
              <a:t>and improve it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t/>
            </a:r>
            <a:endParaRPr/>
          </a:p>
        </p:txBody>
      </p:sp>
      <p:sp>
        <p:nvSpPr>
          <p:cNvPr id="160" name="Google Shape;16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Improve your Classifier</a:t>
            </a:r>
            <a:endParaRPr/>
          </a:p>
        </p:txBody>
      </p:sp>
      <p:sp>
        <p:nvSpPr>
          <p:cNvPr id="166" name="Google Shape;16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40"/>
          <p:cNvSpPr txBox="1"/>
          <p:nvPr/>
        </p:nvSpPr>
        <p:spPr>
          <a:xfrm>
            <a:off x="311700" y="1295550"/>
            <a:ext cx="8624100" cy="3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Reflection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How well does your classifier do? Does it classify the input correctly?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If your model doesn’t classify your test input correctly, check to see if you have any of the following issues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All your training images look the same: not enough variation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Not enough images (less than 30)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 test images don’t look like the training images: training set is not representative of the test set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You don’t have a null (“none of the above”) class where no gesture is being made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 differences between the two classes are very subtle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1"/>
          <p:cNvSpPr txBox="1"/>
          <p:nvPr>
            <p:ph type="title"/>
          </p:nvPr>
        </p:nvSpPr>
        <p:spPr>
          <a:xfrm>
            <a:off x="150813" y="74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latin typeface="Alfa Slab One"/>
                <a:ea typeface="Alfa Slab One"/>
                <a:cs typeface="Alfa Slab One"/>
                <a:sym typeface="Alfa Slab One"/>
              </a:rPr>
              <a:t>Teachable Machine Pipeline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73" name="Google Shape;173;p41"/>
          <p:cNvSpPr txBox="1"/>
          <p:nvPr/>
        </p:nvSpPr>
        <p:spPr>
          <a:xfrm>
            <a:off x="150925" y="136875"/>
            <a:ext cx="899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In Module 3.1, we used Code.org’s AI lab to create a dataset and trained a visual classifier for peace sign vs thumbs up</a:t>
            </a:r>
            <a:endParaRPr sz="1600">
              <a:solidFill>
                <a:srgbClr val="0000FF"/>
              </a:solidFill>
            </a:endParaRPr>
          </a:p>
        </p:txBody>
      </p:sp>
      <p:sp>
        <p:nvSpPr>
          <p:cNvPr id="174" name="Google Shape;174;p41"/>
          <p:cNvSpPr txBox="1"/>
          <p:nvPr>
            <p:ph idx="12" type="sldNum"/>
          </p:nvPr>
        </p:nvSpPr>
        <p:spPr>
          <a:xfrm>
            <a:off x="8472458" y="412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41"/>
          <p:cNvSpPr/>
          <p:nvPr/>
        </p:nvSpPr>
        <p:spPr>
          <a:xfrm>
            <a:off x="585000" y="2050484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Identify the question</a:t>
            </a:r>
            <a:endParaRPr sz="1300"/>
          </a:p>
        </p:txBody>
      </p:sp>
      <p:sp>
        <p:nvSpPr>
          <p:cNvPr id="176" name="Google Shape;176;p41"/>
          <p:cNvSpPr/>
          <p:nvPr/>
        </p:nvSpPr>
        <p:spPr>
          <a:xfrm>
            <a:off x="2489475" y="2082644"/>
            <a:ext cx="1319100" cy="779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the classes (labels)</a:t>
            </a:r>
            <a:endParaRPr/>
          </a:p>
        </p:txBody>
      </p:sp>
      <p:sp>
        <p:nvSpPr>
          <p:cNvPr id="177" name="Google Shape;177;p41"/>
          <p:cNvSpPr/>
          <p:nvPr/>
        </p:nvSpPr>
        <p:spPr>
          <a:xfrm>
            <a:off x="4110550" y="2056244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 your data for each class</a:t>
            </a:r>
            <a:endParaRPr/>
          </a:p>
        </p:txBody>
      </p:sp>
      <p:cxnSp>
        <p:nvCxnSpPr>
          <p:cNvPr id="178" name="Google Shape;178;p41"/>
          <p:cNvCxnSpPr>
            <a:stCxn id="175" idx="3"/>
            <a:endCxn id="176" idx="1"/>
          </p:cNvCxnSpPr>
          <p:nvPr/>
        </p:nvCxnSpPr>
        <p:spPr>
          <a:xfrm>
            <a:off x="2042400" y="2466584"/>
            <a:ext cx="4470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41"/>
          <p:cNvCxnSpPr>
            <a:stCxn id="176" idx="3"/>
            <a:endCxn id="177" idx="1"/>
          </p:cNvCxnSpPr>
          <p:nvPr/>
        </p:nvCxnSpPr>
        <p:spPr>
          <a:xfrm>
            <a:off x="3808575" y="2472344"/>
            <a:ext cx="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41"/>
          <p:cNvCxnSpPr>
            <a:stCxn id="177" idx="3"/>
            <a:endCxn id="181" idx="1"/>
          </p:cNvCxnSpPr>
          <p:nvPr/>
        </p:nvCxnSpPr>
        <p:spPr>
          <a:xfrm>
            <a:off x="5567950" y="2472344"/>
            <a:ext cx="27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41"/>
          <p:cNvCxnSpPr>
            <a:stCxn id="183" idx="1"/>
            <a:endCxn id="184" idx="3"/>
          </p:cNvCxnSpPr>
          <p:nvPr/>
        </p:nvCxnSpPr>
        <p:spPr>
          <a:xfrm>
            <a:off x="5790775" y="4104344"/>
            <a:ext cx="327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" name="Google Shape;184;p41"/>
          <p:cNvSpPr/>
          <p:nvPr/>
        </p:nvSpPr>
        <p:spPr>
          <a:xfrm>
            <a:off x="7607225" y="3688241"/>
            <a:ext cx="1457400" cy="83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Test the model</a:t>
            </a:r>
            <a:endParaRPr/>
          </a:p>
        </p:txBody>
      </p:sp>
      <p:sp>
        <p:nvSpPr>
          <p:cNvPr id="183" name="Google Shape;183;p41"/>
          <p:cNvSpPr/>
          <p:nvPr/>
        </p:nvSpPr>
        <p:spPr>
          <a:xfrm>
            <a:off x="5790775" y="3688244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Accuracy</a:t>
            </a:r>
            <a:endParaRPr/>
          </a:p>
        </p:txBody>
      </p:sp>
      <p:cxnSp>
        <p:nvCxnSpPr>
          <p:cNvPr id="185" name="Google Shape;185;p41"/>
          <p:cNvCxnSpPr>
            <a:stCxn id="183" idx="0"/>
            <a:endCxn id="177" idx="2"/>
          </p:cNvCxnSpPr>
          <p:nvPr/>
        </p:nvCxnSpPr>
        <p:spPr>
          <a:xfrm rot="10800000">
            <a:off x="4839175" y="2888444"/>
            <a:ext cx="1680300" cy="79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86" name="Google Shape;186;p41"/>
          <p:cNvSpPr txBox="1"/>
          <p:nvPr/>
        </p:nvSpPr>
        <p:spPr>
          <a:xfrm>
            <a:off x="4153500" y="3088250"/>
            <a:ext cx="14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accuracy low</a:t>
            </a:r>
            <a:endParaRPr/>
          </a:p>
        </p:txBody>
      </p:sp>
      <p:sp>
        <p:nvSpPr>
          <p:cNvPr id="187" name="Google Shape;187;p41"/>
          <p:cNvSpPr/>
          <p:nvPr/>
        </p:nvSpPr>
        <p:spPr>
          <a:xfrm>
            <a:off x="5869925" y="2076644"/>
            <a:ext cx="1457400" cy="83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Train a classifier</a:t>
            </a:r>
            <a:endParaRPr/>
          </a:p>
        </p:txBody>
      </p:sp>
      <p:cxnSp>
        <p:nvCxnSpPr>
          <p:cNvPr id="188" name="Google Shape;188;p41"/>
          <p:cNvCxnSpPr>
            <a:stCxn id="183" idx="1"/>
            <a:endCxn id="189" idx="3"/>
          </p:cNvCxnSpPr>
          <p:nvPr/>
        </p:nvCxnSpPr>
        <p:spPr>
          <a:xfrm rot="10800000">
            <a:off x="4486975" y="4104344"/>
            <a:ext cx="130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41"/>
          <p:cNvSpPr/>
          <p:nvPr/>
        </p:nvSpPr>
        <p:spPr>
          <a:xfrm>
            <a:off x="3029713" y="3688241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Test the model with users</a:t>
            </a:r>
            <a:endParaRPr/>
          </a:p>
        </p:txBody>
      </p:sp>
      <p:sp>
        <p:nvSpPr>
          <p:cNvPr id="190" name="Google Shape;190;p41"/>
          <p:cNvSpPr/>
          <p:nvPr/>
        </p:nvSpPr>
        <p:spPr>
          <a:xfrm>
            <a:off x="457225" y="3686507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Use the model in a system</a:t>
            </a:r>
            <a:endParaRPr/>
          </a:p>
        </p:txBody>
      </p:sp>
      <p:cxnSp>
        <p:nvCxnSpPr>
          <p:cNvPr id="191" name="Google Shape;191;p41"/>
          <p:cNvCxnSpPr>
            <a:stCxn id="189" idx="1"/>
            <a:endCxn id="190" idx="3"/>
          </p:cNvCxnSpPr>
          <p:nvPr/>
        </p:nvCxnSpPr>
        <p:spPr>
          <a:xfrm rot="10800000">
            <a:off x="1914613" y="4102541"/>
            <a:ext cx="11151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41"/>
          <p:cNvSpPr/>
          <p:nvPr/>
        </p:nvSpPr>
        <p:spPr>
          <a:xfrm>
            <a:off x="7607225" y="2055794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 test data</a:t>
            </a:r>
            <a:endParaRPr/>
          </a:p>
        </p:txBody>
      </p:sp>
      <p:cxnSp>
        <p:nvCxnSpPr>
          <p:cNvPr id="193" name="Google Shape;193;p41"/>
          <p:cNvCxnSpPr/>
          <p:nvPr/>
        </p:nvCxnSpPr>
        <p:spPr>
          <a:xfrm>
            <a:off x="7320550" y="2472344"/>
            <a:ext cx="27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41"/>
          <p:cNvCxnSpPr>
            <a:stCxn id="192" idx="2"/>
            <a:endCxn id="184" idx="0"/>
          </p:cNvCxnSpPr>
          <p:nvPr/>
        </p:nvCxnSpPr>
        <p:spPr>
          <a:xfrm>
            <a:off x="8335925" y="2887994"/>
            <a:ext cx="0" cy="8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p41"/>
          <p:cNvSpPr txBox="1"/>
          <p:nvPr/>
        </p:nvSpPr>
        <p:spPr>
          <a:xfrm>
            <a:off x="4739350" y="3742350"/>
            <a:ext cx="95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accuracy is high</a:t>
            </a:r>
            <a:endParaRPr/>
          </a:p>
        </p:txBody>
      </p:sp>
      <p:cxnSp>
        <p:nvCxnSpPr>
          <p:cNvPr id="196" name="Google Shape;196;p41"/>
          <p:cNvCxnSpPr>
            <a:endCxn id="177" idx="2"/>
          </p:cNvCxnSpPr>
          <p:nvPr/>
        </p:nvCxnSpPr>
        <p:spPr>
          <a:xfrm flipH="1" rot="10800000">
            <a:off x="3106150" y="2888444"/>
            <a:ext cx="1733100" cy="7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97" name="Google Shape;197;p41"/>
          <p:cNvSpPr txBox="1"/>
          <p:nvPr/>
        </p:nvSpPr>
        <p:spPr>
          <a:xfrm>
            <a:off x="2007657" y="3742350"/>
            <a:ext cx="95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accuracy is high</a:t>
            </a:r>
            <a:endParaRPr/>
          </a:p>
        </p:txBody>
      </p:sp>
      <p:sp>
        <p:nvSpPr>
          <p:cNvPr id="198" name="Google Shape;198;p41"/>
          <p:cNvSpPr txBox="1"/>
          <p:nvPr/>
        </p:nvSpPr>
        <p:spPr>
          <a:xfrm>
            <a:off x="589925" y="1748275"/>
            <a:ext cx="494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Build Dataset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99" name="Google Shape;199;p41"/>
          <p:cNvSpPr/>
          <p:nvPr/>
        </p:nvSpPr>
        <p:spPr>
          <a:xfrm>
            <a:off x="402725" y="1748275"/>
            <a:ext cx="5288400" cy="1214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1"/>
          <p:cNvSpPr/>
          <p:nvPr/>
        </p:nvSpPr>
        <p:spPr>
          <a:xfrm rot="-5400000">
            <a:off x="4595575" y="202625"/>
            <a:ext cx="2899800" cy="6038400"/>
          </a:xfrm>
          <a:prstGeom prst="corner">
            <a:avLst>
              <a:gd fmla="val 50000" name="adj1"/>
              <a:gd fmla="val 36903" name="adj2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1"/>
          <p:cNvSpPr txBox="1"/>
          <p:nvPr/>
        </p:nvSpPr>
        <p:spPr>
          <a:xfrm>
            <a:off x="7747600" y="1723188"/>
            <a:ext cx="13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Test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