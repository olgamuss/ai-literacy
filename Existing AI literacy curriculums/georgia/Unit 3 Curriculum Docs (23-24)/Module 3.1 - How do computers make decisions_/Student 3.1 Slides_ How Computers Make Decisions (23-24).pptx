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Permanent Marker"/>
      <p:regular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  <p:embeddedFont>
      <p:font typeface="Alfa Slab One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3.xml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slide" Target="slides/slide15.xml"/><Relationship Id="rId44" Type="http://schemas.openxmlformats.org/officeDocument/2006/relationships/font" Target="fonts/Merriweather-boldItalic.fntdata"/><Relationship Id="rId21" Type="http://schemas.openxmlformats.org/officeDocument/2006/relationships/slide" Target="slides/slide14.xml"/><Relationship Id="rId43" Type="http://schemas.openxmlformats.org/officeDocument/2006/relationships/font" Target="fonts/Merriweather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schemas.openxmlformats.org/officeDocument/2006/relationships/font" Target="fonts/AlfaSlabOn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7.xml"/><Relationship Id="rId36" Type="http://schemas.openxmlformats.org/officeDocument/2006/relationships/font" Target="fonts/PermanentMarker-regular.fntdata"/><Relationship Id="rId17" Type="http://schemas.openxmlformats.org/officeDocument/2006/relationships/slide" Target="slides/slide10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9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dd3e7156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dd3e7156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0d6163a1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0d6163a1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Notes - </a:t>
            </a:r>
            <a:r>
              <a:rPr lang="en" sz="1800">
                <a:solidFill>
                  <a:srgbClr val="0000FF"/>
                </a:solidFill>
              </a:rPr>
              <a:t>Learning goal - understand the kind of problems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Brainstorm - about reasoning 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Teach them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Char char="-"/>
            </a:pPr>
            <a:r>
              <a:rPr lang="en" sz="1800">
                <a:solidFill>
                  <a:srgbClr val="0000FF"/>
                </a:solidFill>
              </a:rPr>
              <a:t>Robot or not esq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-"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0d6163a1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0d6163a1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11b01e79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11b01e79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11b01e79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111b01e79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11b01e79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11b01e79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2f494a99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2f494a9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2ec821bd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2ec821bd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11b01e7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11b01e7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111b01e79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111b01e79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2ec821bd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2ec821bd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2d7fb6d7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2d7fb6d7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2ec821bd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12ec821bd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11b01e79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111b01e7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11b01e79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11b01e79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11b01e79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11b01e79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2ec821bd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2ec821bd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11b01e79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11b01e79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2ec821bd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2ec821bd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2ec821bd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2ec821bd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12ec821bd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12ec821bd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11b01e79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111b01e79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aa8c64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5aa8c64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5aa8c64f7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5aa8c64f7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aa8c64f7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5aa8c64f7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5aa8c64f7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5aa8c64f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aa8c64f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5aa8c64f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eb946ed58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eb946ed58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Relationship Id="rId4" Type="http://schemas.openxmlformats.org/officeDocument/2006/relationships/hyperlink" Target="http://www.freepik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hyperlink" Target="http://www.freepik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youtube.com/watch?v=T2qQGqZxkD0" TargetMode="External"/><Relationship Id="rId4" Type="http://schemas.openxmlformats.org/officeDocument/2006/relationships/image" Target="../media/image1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teachablemachine.withgoogle.com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/>
        </p:nvSpPr>
        <p:spPr>
          <a:xfrm>
            <a:off x="180475" y="2745150"/>
            <a:ext cx="9490800" cy="1591200"/>
          </a:xfrm>
          <a:prstGeom prst="rect">
            <a:avLst/>
          </a:prstGeom>
          <a:solidFill>
            <a:srgbClr val="FCE5CD">
              <a:alpha val="339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Unit 3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&amp;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Decision-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Making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5" name="Google Shape;145;p37"/>
          <p:cNvSpPr txBox="1"/>
          <p:nvPr>
            <p:ph type="ctrTitle"/>
          </p:nvPr>
        </p:nvSpPr>
        <p:spPr>
          <a:xfrm>
            <a:off x="2156750" y="733763"/>
            <a:ext cx="61155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3.1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computers make decisions?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6" name="Google Shape;1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7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37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This work is licensed under the Creative Commons.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0" name="Google Shape;1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0008" y="1709758"/>
            <a:ext cx="2781825" cy="27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Kinds of decisions computers can make</a:t>
            </a:r>
            <a:endParaRPr/>
          </a:p>
        </p:txBody>
      </p:sp>
      <p:sp>
        <p:nvSpPr>
          <p:cNvPr id="156" name="Google Shape;15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ecommendation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 and scheduling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algorithm that performs one of these decision-making tasks is called 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reasoner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can be multiple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reasoning algorithms</a:t>
            </a:r>
            <a:r>
              <a:rPr lang="en">
                <a:solidFill>
                  <a:schemeClr val="dk1"/>
                </a:solidFill>
              </a:rPr>
              <a:t> for the same task. For example, there are many classification algorithms, i.e., many types of reasoners that do classification.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classifier?</a:t>
            </a:r>
            <a:endParaRPr/>
          </a:p>
        </p:txBody>
      </p:sp>
      <p:sp>
        <p:nvSpPr>
          <p:cNvPr id="163" name="Google Shape;163;p39"/>
          <p:cNvSpPr txBox="1"/>
          <p:nvPr>
            <p:ph idx="1" type="body"/>
          </p:nvPr>
        </p:nvSpPr>
        <p:spPr>
          <a:xfrm>
            <a:off x="311700" y="712925"/>
            <a:ext cx="8520600" cy="43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7235" lvl="0" marL="457200" rtl="0" algn="l">
              <a:spcBef>
                <a:spcPts val="0"/>
              </a:spcBef>
              <a:spcAft>
                <a:spcPts val="0"/>
              </a:spcAft>
              <a:buSzPts val="2026"/>
              <a:buChar char="●"/>
            </a:pPr>
            <a:r>
              <a:rPr lang="en" sz="2025"/>
              <a:t>A </a:t>
            </a:r>
            <a:r>
              <a:rPr lang="en" sz="2025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classifier</a:t>
            </a:r>
            <a:r>
              <a:rPr lang="en" sz="2025"/>
              <a:t> is a reasoner that looks at an input and decides what category it fits in.</a:t>
            </a:r>
            <a:endParaRPr sz="2025"/>
          </a:p>
          <a:p>
            <a:pPr indent="-357235" lvl="0" marL="457200" rtl="0" algn="l">
              <a:spcBef>
                <a:spcPts val="0"/>
              </a:spcBef>
              <a:spcAft>
                <a:spcPts val="0"/>
              </a:spcAft>
              <a:buSzPts val="2026"/>
              <a:buChar char="●"/>
            </a:pPr>
            <a:r>
              <a:rPr lang="en" sz="2025"/>
              <a:t>The categories are called </a:t>
            </a:r>
            <a:r>
              <a:rPr lang="en" sz="2025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classes.</a:t>
            </a:r>
            <a:endParaRPr/>
          </a:p>
        </p:txBody>
      </p:sp>
      <p:sp>
        <p:nvSpPr>
          <p:cNvPr id="164" name="Google Shape;16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575" y="2285100"/>
            <a:ext cx="3279200" cy="18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Problems</a:t>
            </a:r>
            <a:endParaRPr/>
          </a:p>
        </p:txBody>
      </p:sp>
      <p:sp>
        <p:nvSpPr>
          <p:cNvPr id="171" name="Google Shape;17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predictor</a:t>
            </a:r>
            <a:r>
              <a:rPr lang="en">
                <a:solidFill>
                  <a:schemeClr val="dk1"/>
                </a:solidFill>
              </a:rPr>
              <a:t> is a reasoner that estimates a numerical value.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the predictions are about the present they’re just called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estimates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the predictions are about the future they are called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forecasts</a:t>
            </a:r>
            <a:r>
              <a:rPr lang="en">
                <a:solidFill>
                  <a:schemeClr val="dk1"/>
                </a:solidFill>
              </a:rPr>
              <a:t>.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425" y="2637500"/>
            <a:ext cx="4120100" cy="235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0"/>
          <p:cNvSpPr txBox="1"/>
          <p:nvPr/>
        </p:nvSpPr>
        <p:spPr>
          <a:xfrm>
            <a:off x="6062975" y="4745825"/>
            <a:ext cx="1431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Designed by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Freepik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Recommender Systems</a:t>
            </a:r>
            <a:endParaRPr/>
          </a:p>
        </p:txBody>
      </p:sp>
      <p:sp>
        <p:nvSpPr>
          <p:cNvPr id="180" name="Google Shape;180;p41"/>
          <p:cNvSpPr txBox="1"/>
          <p:nvPr>
            <p:ph idx="1" type="body"/>
          </p:nvPr>
        </p:nvSpPr>
        <p:spPr>
          <a:xfrm>
            <a:off x="311700" y="847675"/>
            <a:ext cx="7948800" cy="3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Recommender systems </a:t>
            </a:r>
            <a:r>
              <a:rPr lang="en"/>
              <a:t>suggest items from a large set based on knowledge about a person’s preferences and the preferences of others who resemble them: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this person liked in the past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who liked the same things this person liked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these other people liked that this person hasn’t seen yet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RECOMMEND those things to this person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Scheduling</a:t>
            </a:r>
            <a:endParaRPr/>
          </a:p>
        </p:txBody>
      </p:sp>
      <p:sp>
        <p:nvSpPr>
          <p:cNvPr id="187" name="Google Shape;187;p42"/>
          <p:cNvSpPr txBox="1"/>
          <p:nvPr>
            <p:ph idx="1" type="body"/>
          </p:nvPr>
        </p:nvSpPr>
        <p:spPr>
          <a:xfrm>
            <a:off x="311700" y="986098"/>
            <a:ext cx="863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plann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ers</a:t>
            </a:r>
            <a:r>
              <a:rPr lang="en"/>
              <a:t> and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schedulers</a:t>
            </a:r>
            <a:r>
              <a:rPr lang="en"/>
              <a:t> find efficient ways to accomplish complex tasks in time sensitive situations.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050" y="1894225"/>
            <a:ext cx="5207675" cy="297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2"/>
          <p:cNvSpPr txBox="1"/>
          <p:nvPr/>
        </p:nvSpPr>
        <p:spPr>
          <a:xfrm>
            <a:off x="6443975" y="4822025"/>
            <a:ext cx="1431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Designed by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Freepik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the Reasoner</a:t>
            </a:r>
            <a:endParaRPr/>
          </a:p>
        </p:txBody>
      </p:sp>
      <p:sp>
        <p:nvSpPr>
          <p:cNvPr id="196" name="Google Shape;19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43"/>
          <p:cNvSpPr txBox="1"/>
          <p:nvPr/>
        </p:nvSpPr>
        <p:spPr>
          <a:xfrm>
            <a:off x="754750" y="2879250"/>
            <a:ext cx="78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 Guess which kind of reasoner is used for each of 15 images</a:t>
            </a:r>
            <a:endParaRPr i="1" sz="1800"/>
          </a:p>
        </p:txBody>
      </p:sp>
      <p:sp>
        <p:nvSpPr>
          <p:cNvPr id="198" name="Google Shape;198;p43"/>
          <p:cNvSpPr txBox="1"/>
          <p:nvPr/>
        </p:nvSpPr>
        <p:spPr>
          <a:xfrm>
            <a:off x="1191275" y="284025"/>
            <a:ext cx="633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/>
              <a:t>Student Activity</a:t>
            </a:r>
            <a:endParaRPr i="1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YouTube</a:t>
            </a:r>
            <a:endParaRPr/>
          </a:p>
        </p:txBody>
      </p:sp>
      <p:sp>
        <p:nvSpPr>
          <p:cNvPr id="204" name="Google Shape;20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" name="Google Shape;2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200" y="184477"/>
            <a:ext cx="6843704" cy="495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Filters in Email</a:t>
            </a:r>
            <a:endParaRPr/>
          </a:p>
        </p:txBody>
      </p:sp>
      <p:sp>
        <p:nvSpPr>
          <p:cNvPr id="211" name="Google Shape;21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00" y="1069825"/>
            <a:ext cx="8520600" cy="35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/>
          <p:nvPr>
            <p:ph type="title"/>
          </p:nvPr>
        </p:nvSpPr>
        <p:spPr>
          <a:xfrm>
            <a:off x="311700" y="445025"/>
            <a:ext cx="870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 (ticket sales)</a:t>
            </a:r>
            <a:endParaRPr/>
          </a:p>
        </p:txBody>
      </p:sp>
      <p:sp>
        <p:nvSpPr>
          <p:cNvPr id="218" name="Google Shape;21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500" y="1017725"/>
            <a:ext cx="671000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Tesla Range before recharging</a:t>
            </a:r>
            <a:endParaRPr/>
          </a:p>
        </p:txBody>
      </p:sp>
      <p:sp>
        <p:nvSpPr>
          <p:cNvPr id="225" name="Google Shape;22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850" y="1128200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Handwriting Recognition</a:t>
            </a:r>
            <a:endParaRPr/>
          </a:p>
        </p:txBody>
      </p:sp>
      <p:sp>
        <p:nvSpPr>
          <p:cNvPr id="232" name="Google Shape;23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50" y="1613037"/>
            <a:ext cx="4222748" cy="245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8899" y="1176838"/>
            <a:ext cx="4440302" cy="3327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Delivery</a:t>
            </a:r>
            <a:endParaRPr/>
          </a:p>
        </p:txBody>
      </p:sp>
      <p:sp>
        <p:nvSpPr>
          <p:cNvPr id="240" name="Google Shape;24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550" y="1151975"/>
            <a:ext cx="573286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Advertisement</a:t>
            </a:r>
            <a:endParaRPr/>
          </a:p>
        </p:txBody>
      </p:sp>
      <p:sp>
        <p:nvSpPr>
          <p:cNvPr id="247" name="Google Shape;24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8" name="Google Shape;24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575" y="1156150"/>
            <a:ext cx="707234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Carmax</a:t>
            </a:r>
            <a:endParaRPr/>
          </a:p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5" name="Google Shape;2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574" y="503075"/>
            <a:ext cx="6071675" cy="455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Waze</a:t>
            </a:r>
            <a:endParaRPr/>
          </a:p>
        </p:txBody>
      </p:sp>
      <p:sp>
        <p:nvSpPr>
          <p:cNvPr id="261" name="Google Shape;26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52"/>
          <p:cNvPicPr preferRelativeResize="0"/>
          <p:nvPr/>
        </p:nvPicPr>
        <p:blipFill rotWithShape="1">
          <a:blip r:embed="rId3">
            <a:alphaModFix/>
          </a:blip>
          <a:srcRect b="0" l="10202" r="10645" t="6759"/>
          <a:stretch/>
        </p:blipFill>
        <p:spPr>
          <a:xfrm>
            <a:off x="1761400" y="551500"/>
            <a:ext cx="6098175" cy="40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 Plate Reader</a:t>
            </a:r>
            <a:endParaRPr/>
          </a:p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46512"/>
            <a:ext cx="4406525" cy="41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267200" cy="322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Tiktok Discover </a:t>
            </a:r>
            <a:endParaRPr/>
          </a:p>
        </p:txBody>
      </p:sp>
      <p:sp>
        <p:nvSpPr>
          <p:cNvPr id="276" name="Google Shape;27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7" name="Google Shape;27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525" y="76200"/>
            <a:ext cx="2484888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Tagging</a:t>
            </a:r>
            <a:endParaRPr/>
          </a:p>
        </p:txBody>
      </p:sp>
      <p:sp>
        <p:nvSpPr>
          <p:cNvPr id="283" name="Google Shape;28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17725"/>
            <a:ext cx="85344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Warehouses</a:t>
            </a:r>
            <a:endParaRPr/>
          </a:p>
        </p:txBody>
      </p:sp>
      <p:sp>
        <p:nvSpPr>
          <p:cNvPr id="291" name="Google Shape;29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75" y="1152474"/>
            <a:ext cx="6584394" cy="37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Hurricane Tracker</a:t>
            </a:r>
            <a:endParaRPr/>
          </a:p>
        </p:txBody>
      </p:sp>
      <p:sp>
        <p:nvSpPr>
          <p:cNvPr id="298" name="Google Shape;29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9" name="Google Shape;29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350" y="90175"/>
            <a:ext cx="3762719" cy="49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Sneaker Resale</a:t>
            </a:r>
            <a:endParaRPr/>
          </a:p>
        </p:txBody>
      </p:sp>
      <p:sp>
        <p:nvSpPr>
          <p:cNvPr id="305" name="Google Shape;30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6" name="Google Shape;30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25" y="1170125"/>
            <a:ext cx="370253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910" y="275600"/>
            <a:ext cx="3703556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250" y="2571762"/>
            <a:ext cx="3318323" cy="24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/>
          <p:nvPr>
            <p:ph type="title"/>
          </p:nvPr>
        </p:nvSpPr>
        <p:spPr>
          <a:xfrm>
            <a:off x="578975" y="2892425"/>
            <a:ext cx="8520600" cy="12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/>
              <a:t>Think about how your life is being affected by the decisions computers are making for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59"/>
          <p:cNvSpPr txBox="1"/>
          <p:nvPr/>
        </p:nvSpPr>
        <p:spPr>
          <a:xfrm>
            <a:off x="3174900" y="3864325"/>
            <a:ext cx="5969100" cy="400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Reflection &amp; Discussion</a:t>
            </a:r>
            <a:endParaRPr b="1"/>
          </a:p>
        </p:txBody>
      </p:sp>
      <p:pic>
        <p:nvPicPr>
          <p:cNvPr id="316" name="Google Shape;31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900" y="23250"/>
            <a:ext cx="3872901" cy="25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9"/>
          <p:cNvPicPr preferRelativeResize="0"/>
          <p:nvPr/>
        </p:nvPicPr>
        <p:blipFill rotWithShape="1">
          <a:blip r:embed="rId4">
            <a:alphaModFix/>
          </a:blip>
          <a:srcRect b="0" l="10787" r="9657" t="0"/>
          <a:stretch/>
        </p:blipFill>
        <p:spPr>
          <a:xfrm>
            <a:off x="4989100" y="55225"/>
            <a:ext cx="3814725" cy="251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0"/>
          <p:cNvSpPr txBox="1"/>
          <p:nvPr>
            <p:ph type="title"/>
          </p:nvPr>
        </p:nvSpPr>
        <p:spPr>
          <a:xfrm>
            <a:off x="311700" y="2684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Your Own Image Classifier</a:t>
            </a:r>
            <a:endParaRPr/>
          </a:p>
        </p:txBody>
      </p:sp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60"/>
          <p:cNvSpPr txBox="1"/>
          <p:nvPr/>
        </p:nvSpPr>
        <p:spPr>
          <a:xfrm>
            <a:off x="1191275" y="3560625"/>
            <a:ext cx="633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/>
              <a:t>Student Activity</a:t>
            </a:r>
            <a:endParaRPr i="1" sz="2100"/>
          </a:p>
        </p:txBody>
      </p:sp>
      <p:pic>
        <p:nvPicPr>
          <p:cNvPr id="325" name="Google Shape;32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900" y="689975"/>
            <a:ext cx="4762136" cy="19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eachable Machine 2.0 makes it fast and easy to create machine learning models for your projects, no coding required. Train a computer to recognize your images, sounds, &amp; poses, then export your model for your sites, apps, and more → https://g.co/teachablemachine" id="331" name="Google Shape;331;p61" title="Teachable Machine 2.0: Making AI easier for everyon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275" y="517700"/>
            <a:ext cx="7600175" cy="42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It: </a:t>
            </a:r>
            <a:r>
              <a:rPr lang="en"/>
              <a:t>Thumbs up vs Peace sign Classifier</a:t>
            </a:r>
            <a:endParaRPr/>
          </a:p>
        </p:txBody>
      </p:sp>
      <p:sp>
        <p:nvSpPr>
          <p:cNvPr id="337" name="Google Shape;337;p62"/>
          <p:cNvSpPr txBox="1"/>
          <p:nvPr>
            <p:ph idx="1" type="body"/>
          </p:nvPr>
        </p:nvSpPr>
        <p:spPr>
          <a:xfrm>
            <a:off x="311700" y="1000075"/>
            <a:ext cx="8520600" cy="41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Train a classifier to identify peace sign, thumbs up, or neither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1: Open teachable machine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https://teachablemachine.withgoogle.com/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Watch the Getting Started video (scroll down on the page for video).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Create a </a:t>
            </a:r>
            <a:r>
              <a:rPr i="1" lang="en"/>
              <a:t>peace sign</a:t>
            </a:r>
            <a:r>
              <a:rPr lang="en"/>
              <a:t> class, and train it with peace sign gestures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4: Create a </a:t>
            </a:r>
            <a:r>
              <a:rPr i="1" lang="en"/>
              <a:t>thumbs up </a:t>
            </a:r>
            <a:r>
              <a:rPr lang="en"/>
              <a:t>class, and train it with thumbs up gestures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5: Create a </a:t>
            </a:r>
            <a:r>
              <a:rPr i="1" lang="en">
                <a:solidFill>
                  <a:schemeClr val="dk1"/>
                </a:solidFill>
              </a:rPr>
              <a:t>none of the above </a:t>
            </a:r>
            <a:r>
              <a:rPr lang="en">
                <a:solidFill>
                  <a:schemeClr val="dk1"/>
                </a:solidFill>
              </a:rPr>
              <a:t>class, and train it with no hand gestures or no peace or thumbs up 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6: Build model,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7: Test out model yourself and improve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8: Then have a friend test your model </a:t>
            </a:r>
            <a:r>
              <a:rPr lang="en">
                <a:solidFill>
                  <a:schemeClr val="dk1"/>
                </a:solidFill>
              </a:rPr>
              <a:t>and improve it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</p:txBody>
      </p:sp>
      <p:sp>
        <p:nvSpPr>
          <p:cNvPr id="338" name="Google Shape;33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Improve your Classifier</a:t>
            </a:r>
            <a:endParaRPr/>
          </a:p>
        </p:txBody>
      </p:sp>
      <p:sp>
        <p:nvSpPr>
          <p:cNvPr id="344" name="Google Shape;34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63"/>
          <p:cNvSpPr txBox="1"/>
          <p:nvPr/>
        </p:nvSpPr>
        <p:spPr>
          <a:xfrm>
            <a:off x="311700" y="1295550"/>
            <a:ext cx="8624100" cy="3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Reflection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How well does your classifier do? Does it classify the input correctly?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If your model doesn’t classify your test input correctly, check to see if you have any of the following issues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All your training images look the same: not enough variation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Not enough images (less than 30)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test images don’t look like the training images: training set is not representative of the test set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 don’t have a null (“none of the above”) class where no gesture is being made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differences between the two classes are very subtle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4"/>
          <p:cNvSpPr txBox="1"/>
          <p:nvPr>
            <p:ph type="title"/>
          </p:nvPr>
        </p:nvSpPr>
        <p:spPr>
          <a:xfrm>
            <a:off x="150813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Teachable Machine Pipeline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351" name="Google Shape;351;p64"/>
          <p:cNvSpPr txBox="1"/>
          <p:nvPr/>
        </p:nvSpPr>
        <p:spPr>
          <a:xfrm>
            <a:off x="150925" y="136875"/>
            <a:ext cx="899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In Module 3.1, we created a dataset and trained a visual classifier for peace sign vs thumbs up</a:t>
            </a:r>
            <a:endParaRPr sz="1600">
              <a:solidFill>
                <a:srgbClr val="0000FF"/>
              </a:solidFill>
            </a:endParaRPr>
          </a:p>
        </p:txBody>
      </p:sp>
      <p:sp>
        <p:nvSpPr>
          <p:cNvPr id="352" name="Google Shape;352;p64"/>
          <p:cNvSpPr txBox="1"/>
          <p:nvPr>
            <p:ph idx="12" type="sldNum"/>
          </p:nvPr>
        </p:nvSpPr>
        <p:spPr>
          <a:xfrm>
            <a:off x="8472458" y="412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64"/>
          <p:cNvSpPr/>
          <p:nvPr/>
        </p:nvSpPr>
        <p:spPr>
          <a:xfrm>
            <a:off x="585000" y="205048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Identify the question</a:t>
            </a:r>
            <a:endParaRPr sz="1300"/>
          </a:p>
        </p:txBody>
      </p:sp>
      <p:sp>
        <p:nvSpPr>
          <p:cNvPr id="354" name="Google Shape;354;p64"/>
          <p:cNvSpPr/>
          <p:nvPr/>
        </p:nvSpPr>
        <p:spPr>
          <a:xfrm>
            <a:off x="2489475" y="2082644"/>
            <a:ext cx="1319100" cy="77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classes (labels)</a:t>
            </a:r>
            <a:endParaRPr/>
          </a:p>
        </p:txBody>
      </p:sp>
      <p:sp>
        <p:nvSpPr>
          <p:cNvPr id="355" name="Google Shape;355;p64"/>
          <p:cNvSpPr/>
          <p:nvPr/>
        </p:nvSpPr>
        <p:spPr>
          <a:xfrm>
            <a:off x="4110550" y="20562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your data for each class</a:t>
            </a:r>
            <a:endParaRPr/>
          </a:p>
        </p:txBody>
      </p:sp>
      <p:cxnSp>
        <p:nvCxnSpPr>
          <p:cNvPr id="356" name="Google Shape;356;p64"/>
          <p:cNvCxnSpPr>
            <a:stCxn id="353" idx="3"/>
            <a:endCxn id="354" idx="1"/>
          </p:cNvCxnSpPr>
          <p:nvPr/>
        </p:nvCxnSpPr>
        <p:spPr>
          <a:xfrm>
            <a:off x="2042400" y="2466584"/>
            <a:ext cx="4470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64"/>
          <p:cNvCxnSpPr>
            <a:stCxn id="354" idx="3"/>
            <a:endCxn id="355" idx="1"/>
          </p:cNvCxnSpPr>
          <p:nvPr/>
        </p:nvCxnSpPr>
        <p:spPr>
          <a:xfrm>
            <a:off x="3808575" y="2472344"/>
            <a:ext cx="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64"/>
          <p:cNvCxnSpPr>
            <a:stCxn id="355" idx="3"/>
            <a:endCxn id="359" idx="1"/>
          </p:cNvCxnSpPr>
          <p:nvPr/>
        </p:nvCxnSpPr>
        <p:spPr>
          <a:xfrm>
            <a:off x="5567950" y="2472344"/>
            <a:ext cx="2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64"/>
          <p:cNvCxnSpPr>
            <a:stCxn id="361" idx="1"/>
            <a:endCxn id="362" idx="3"/>
          </p:cNvCxnSpPr>
          <p:nvPr/>
        </p:nvCxnSpPr>
        <p:spPr>
          <a:xfrm>
            <a:off x="5790775" y="4104344"/>
            <a:ext cx="32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64"/>
          <p:cNvSpPr/>
          <p:nvPr/>
        </p:nvSpPr>
        <p:spPr>
          <a:xfrm>
            <a:off x="7607225" y="3688241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Test the model</a:t>
            </a:r>
            <a:endParaRPr/>
          </a:p>
        </p:txBody>
      </p:sp>
      <p:sp>
        <p:nvSpPr>
          <p:cNvPr id="361" name="Google Shape;361;p64"/>
          <p:cNvSpPr/>
          <p:nvPr/>
        </p:nvSpPr>
        <p:spPr>
          <a:xfrm>
            <a:off x="5790775" y="36882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Accuracy</a:t>
            </a:r>
            <a:endParaRPr/>
          </a:p>
        </p:txBody>
      </p:sp>
      <p:cxnSp>
        <p:nvCxnSpPr>
          <p:cNvPr id="363" name="Google Shape;363;p64"/>
          <p:cNvCxnSpPr>
            <a:stCxn id="361" idx="0"/>
            <a:endCxn id="355" idx="2"/>
          </p:cNvCxnSpPr>
          <p:nvPr/>
        </p:nvCxnSpPr>
        <p:spPr>
          <a:xfrm rot="10800000">
            <a:off x="4839175" y="2888444"/>
            <a:ext cx="1680300" cy="7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4" name="Google Shape;364;p64"/>
          <p:cNvSpPr txBox="1"/>
          <p:nvPr/>
        </p:nvSpPr>
        <p:spPr>
          <a:xfrm>
            <a:off x="4153500" y="3088250"/>
            <a:ext cx="14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low</a:t>
            </a:r>
            <a:endParaRPr/>
          </a:p>
        </p:txBody>
      </p:sp>
      <p:sp>
        <p:nvSpPr>
          <p:cNvPr id="365" name="Google Shape;365;p64"/>
          <p:cNvSpPr/>
          <p:nvPr/>
        </p:nvSpPr>
        <p:spPr>
          <a:xfrm>
            <a:off x="5869925" y="2076644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Train a classifier</a:t>
            </a:r>
            <a:endParaRPr/>
          </a:p>
        </p:txBody>
      </p:sp>
      <p:cxnSp>
        <p:nvCxnSpPr>
          <p:cNvPr id="366" name="Google Shape;366;p64"/>
          <p:cNvCxnSpPr>
            <a:stCxn id="361" idx="1"/>
            <a:endCxn id="367" idx="3"/>
          </p:cNvCxnSpPr>
          <p:nvPr/>
        </p:nvCxnSpPr>
        <p:spPr>
          <a:xfrm rot="10800000">
            <a:off x="4486975" y="4104344"/>
            <a:ext cx="130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64"/>
          <p:cNvSpPr/>
          <p:nvPr/>
        </p:nvSpPr>
        <p:spPr>
          <a:xfrm>
            <a:off x="3029713" y="3688241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Test the model with users</a:t>
            </a:r>
            <a:endParaRPr/>
          </a:p>
        </p:txBody>
      </p:sp>
      <p:sp>
        <p:nvSpPr>
          <p:cNvPr id="368" name="Google Shape;368;p64"/>
          <p:cNvSpPr/>
          <p:nvPr/>
        </p:nvSpPr>
        <p:spPr>
          <a:xfrm>
            <a:off x="457225" y="3686507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the model in a system</a:t>
            </a:r>
            <a:endParaRPr/>
          </a:p>
        </p:txBody>
      </p:sp>
      <p:cxnSp>
        <p:nvCxnSpPr>
          <p:cNvPr id="369" name="Google Shape;369;p64"/>
          <p:cNvCxnSpPr>
            <a:stCxn id="367" idx="1"/>
            <a:endCxn id="368" idx="3"/>
          </p:cNvCxnSpPr>
          <p:nvPr/>
        </p:nvCxnSpPr>
        <p:spPr>
          <a:xfrm rot="10800000">
            <a:off x="1914613" y="4102541"/>
            <a:ext cx="11151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64"/>
          <p:cNvSpPr/>
          <p:nvPr/>
        </p:nvSpPr>
        <p:spPr>
          <a:xfrm>
            <a:off x="7607225" y="205579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test data</a:t>
            </a:r>
            <a:endParaRPr/>
          </a:p>
        </p:txBody>
      </p:sp>
      <p:cxnSp>
        <p:nvCxnSpPr>
          <p:cNvPr id="371" name="Google Shape;371;p64"/>
          <p:cNvCxnSpPr/>
          <p:nvPr/>
        </p:nvCxnSpPr>
        <p:spPr>
          <a:xfrm>
            <a:off x="7320550" y="2472344"/>
            <a:ext cx="2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64"/>
          <p:cNvCxnSpPr>
            <a:stCxn id="370" idx="2"/>
            <a:endCxn id="362" idx="0"/>
          </p:cNvCxnSpPr>
          <p:nvPr/>
        </p:nvCxnSpPr>
        <p:spPr>
          <a:xfrm>
            <a:off x="8335925" y="2887994"/>
            <a:ext cx="0" cy="8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64"/>
          <p:cNvSpPr txBox="1"/>
          <p:nvPr/>
        </p:nvSpPr>
        <p:spPr>
          <a:xfrm>
            <a:off x="4739350" y="3742350"/>
            <a:ext cx="9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is high</a:t>
            </a:r>
            <a:endParaRPr/>
          </a:p>
        </p:txBody>
      </p:sp>
      <p:cxnSp>
        <p:nvCxnSpPr>
          <p:cNvPr id="374" name="Google Shape;374;p64"/>
          <p:cNvCxnSpPr>
            <a:endCxn id="355" idx="2"/>
          </p:cNvCxnSpPr>
          <p:nvPr/>
        </p:nvCxnSpPr>
        <p:spPr>
          <a:xfrm flipH="1" rot="10800000">
            <a:off x="3106150" y="2888444"/>
            <a:ext cx="1733100" cy="7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5" name="Google Shape;375;p64"/>
          <p:cNvSpPr txBox="1"/>
          <p:nvPr/>
        </p:nvSpPr>
        <p:spPr>
          <a:xfrm>
            <a:off x="2007657" y="3742350"/>
            <a:ext cx="9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is high</a:t>
            </a:r>
            <a:endParaRPr/>
          </a:p>
        </p:txBody>
      </p:sp>
      <p:sp>
        <p:nvSpPr>
          <p:cNvPr id="376" name="Google Shape;376;p64"/>
          <p:cNvSpPr txBox="1"/>
          <p:nvPr/>
        </p:nvSpPr>
        <p:spPr>
          <a:xfrm>
            <a:off x="589925" y="1748275"/>
            <a:ext cx="4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Build Dataset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77" name="Google Shape;377;p64"/>
          <p:cNvSpPr/>
          <p:nvPr/>
        </p:nvSpPr>
        <p:spPr>
          <a:xfrm>
            <a:off x="402725" y="1748275"/>
            <a:ext cx="5288400" cy="121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4"/>
          <p:cNvSpPr/>
          <p:nvPr/>
        </p:nvSpPr>
        <p:spPr>
          <a:xfrm rot="-5400000">
            <a:off x="4595575" y="202625"/>
            <a:ext cx="2899800" cy="6038400"/>
          </a:xfrm>
          <a:prstGeom prst="corner">
            <a:avLst>
              <a:gd fmla="val 50000" name="adj1"/>
              <a:gd fmla="val 36903" name="adj2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4"/>
          <p:cNvSpPr txBox="1"/>
          <p:nvPr/>
        </p:nvSpPr>
        <p:spPr>
          <a:xfrm>
            <a:off x="7747600" y="1723188"/>
            <a:ext cx="13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Test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80" name="Google Shape;380;p64"/>
          <p:cNvCxnSpPr/>
          <p:nvPr/>
        </p:nvCxnSpPr>
        <p:spPr>
          <a:xfrm>
            <a:off x="8326225" y="2903275"/>
            <a:ext cx="14100" cy="82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