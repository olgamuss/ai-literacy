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Permanent Marker"/>
      <p:regular r:id="rId34"/>
    </p:embeddedFont>
    <p:embeddedFont>
      <p:font typeface="Helvetica Neue"/>
      <p:regular r:id="rId35"/>
      <p:bold r:id="rId36"/>
      <p:italic r:id="rId37"/>
      <p:boldItalic r:id="rId38"/>
    </p:embeddedFont>
    <p:embeddedFont>
      <p:font typeface="Merriweather"/>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bold.fntdata"/><Relationship Id="rId20" Type="http://schemas.openxmlformats.org/officeDocument/2006/relationships/slide" Target="slides/slide14.xml"/><Relationship Id="rId42" Type="http://schemas.openxmlformats.org/officeDocument/2006/relationships/font" Target="fonts/Merriweather-boldItalic.fntdata"/><Relationship Id="rId41" Type="http://schemas.openxmlformats.org/officeDocument/2006/relationships/font" Target="fonts/Merriweather-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HelveticaNeue-regular.fntdata"/><Relationship Id="rId12" Type="http://schemas.openxmlformats.org/officeDocument/2006/relationships/slide" Target="slides/slide6.xml"/><Relationship Id="rId34" Type="http://schemas.openxmlformats.org/officeDocument/2006/relationships/font" Target="fonts/PermanentMarker-regular.fntdata"/><Relationship Id="rId15" Type="http://schemas.openxmlformats.org/officeDocument/2006/relationships/slide" Target="slides/slide9.xml"/><Relationship Id="rId37" Type="http://schemas.openxmlformats.org/officeDocument/2006/relationships/font" Target="fonts/HelveticaNeue-italic.fntdata"/><Relationship Id="rId14" Type="http://schemas.openxmlformats.org/officeDocument/2006/relationships/slide" Target="slides/slide8.xml"/><Relationship Id="rId36" Type="http://schemas.openxmlformats.org/officeDocument/2006/relationships/font" Target="fonts/HelveticaNeue-bold.fntdata"/><Relationship Id="rId17" Type="http://schemas.openxmlformats.org/officeDocument/2006/relationships/slide" Target="slides/slide11.xml"/><Relationship Id="rId39" Type="http://schemas.openxmlformats.org/officeDocument/2006/relationships/font" Target="fonts/Merriweather-regular.fntdata"/><Relationship Id="rId16" Type="http://schemas.openxmlformats.org/officeDocument/2006/relationships/slide" Target="slides/slide10.xml"/><Relationship Id="rId38" Type="http://schemas.openxmlformats.org/officeDocument/2006/relationships/font" Target="fonts/HelveticaNeue-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dd892cb6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dd892cb6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ea6fe516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ea6fe516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135be168d2_0_1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135be168d2_0_1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this a visual at some point:</a:t>
            </a:r>
            <a:endParaRPr/>
          </a:p>
          <a:p>
            <a:pPr indent="0" lvl="0" marL="0" rtl="0" algn="l">
              <a:spcBef>
                <a:spcPts val="0"/>
              </a:spcBef>
              <a:spcAft>
                <a:spcPts val="0"/>
              </a:spcAft>
              <a:buClr>
                <a:schemeClr val="dk1"/>
              </a:buClr>
              <a:buSzPts val="1100"/>
              <a:buFont typeface="Arial"/>
              <a:buNone/>
            </a:pPr>
            <a:r>
              <a:rPr lang="en" sz="1400">
                <a:solidFill>
                  <a:schemeClr val="dk1"/>
                </a:solidFill>
              </a:rPr>
              <a:t>Add picture of at vs dog 100x 100 pixels</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10,000 pixels</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RGB =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Decision tree would have to look at it one pixel at a time</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35be168d2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135be168d2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135be168d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135be168d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5dc7c13c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5dc7c13c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e8b5133e1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e8b5133e1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135be168d2_0_1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135be168d2_0_1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35be168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135be168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35be168d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135be168d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 this can potentially get really complicated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38452da00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138452da00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138452da0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138452da0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8defc1cb3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e8defc1cb3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Possible Activity for more participatory</a:t>
            </a:r>
            <a:endParaRPr b="1"/>
          </a:p>
          <a:p>
            <a:pPr indent="0" lvl="0" marL="0" rtl="0" algn="l">
              <a:spcBef>
                <a:spcPts val="0"/>
              </a:spcBef>
              <a:spcAft>
                <a:spcPts val="0"/>
              </a:spcAft>
              <a:buNone/>
            </a:pPr>
            <a:r>
              <a:rPr lang="en"/>
              <a:t>Students get a deck of cards with the dog pictures and what the experts will say</a:t>
            </a:r>
            <a:endParaRPr/>
          </a:p>
          <a:p>
            <a:pPr indent="0" lvl="0" marL="0" rtl="0" algn="l">
              <a:spcBef>
                <a:spcPts val="0"/>
              </a:spcBef>
              <a:spcAft>
                <a:spcPts val="0"/>
              </a:spcAft>
              <a:buNone/>
            </a:pPr>
            <a:r>
              <a:rPr lang="en"/>
              <a:t>Then they get to update their number of votes on their sheet.</a:t>
            </a:r>
            <a:endParaRPr/>
          </a:p>
          <a:p>
            <a:pPr indent="0" lvl="0" marL="0" rtl="0" algn="l">
              <a:spcBef>
                <a:spcPts val="0"/>
              </a:spcBef>
              <a:spcAft>
                <a:spcPts val="0"/>
              </a:spcAft>
              <a:buNone/>
            </a:pPr>
            <a:r>
              <a:rPr lang="en"/>
              <a:t>Class a a whole completes the tally.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Option1 - Classroom Context:</a:t>
            </a:r>
            <a:r>
              <a:rPr lang="en"/>
              <a:t> Each person gets to have a card for an expert. </a:t>
            </a:r>
            <a:endParaRPr/>
          </a:p>
          <a:p>
            <a:pPr indent="0" lvl="0" marL="0" rtl="0" algn="l">
              <a:spcBef>
                <a:spcPts val="0"/>
              </a:spcBef>
              <a:spcAft>
                <a:spcPts val="0"/>
              </a:spcAft>
              <a:buNone/>
            </a:pPr>
            <a:r>
              <a:rPr lang="en"/>
              <a:t>Need Prompting cards</a:t>
            </a:r>
            <a:endParaRPr/>
          </a:p>
          <a:p>
            <a:pPr indent="0" lvl="0" marL="0" rtl="0" algn="l">
              <a:spcBef>
                <a:spcPts val="0"/>
              </a:spcBef>
              <a:spcAft>
                <a:spcPts val="0"/>
              </a:spcAft>
              <a:buNone/>
            </a:pPr>
            <a:r>
              <a:rPr lang="en"/>
              <a:t>This is what the cards will look like.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Option 2 - Game</a:t>
            </a:r>
            <a:r>
              <a:rPr lang="en"/>
              <a:t> - Neural Networks invent their own experts..If you have enough experts…you can solve your problem.</a:t>
            </a:r>
            <a:endParaRPr/>
          </a:p>
          <a:p>
            <a:pPr indent="0" lvl="0" marL="0" rtl="0" algn="l">
              <a:spcBef>
                <a:spcPts val="0"/>
              </a:spcBef>
              <a:spcAft>
                <a:spcPts val="0"/>
              </a:spcAft>
              <a:buNone/>
            </a:pPr>
            <a:r>
              <a:rPr lang="en"/>
              <a:t>Pick a domain where they don’t have personal expertise (intutions) and have to rely on what the experts are saying. But we don’t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Which of these bacteria causes spoiled milk?</a:t>
            </a:r>
            <a:endParaRPr/>
          </a:p>
          <a:p>
            <a:pPr indent="0" lvl="0" marL="0" rtl="0" algn="l">
              <a:spcBef>
                <a:spcPts val="0"/>
              </a:spcBef>
              <a:spcAft>
                <a:spcPts val="0"/>
              </a:spcAft>
              <a:buNone/>
            </a:pPr>
            <a:r>
              <a:rPr lang="en"/>
              <a:t>Pictures of bacteria</a:t>
            </a:r>
            <a:endParaRPr/>
          </a:p>
          <a:p>
            <a:pPr indent="0" lvl="0" marL="0" rtl="0" algn="l">
              <a:spcBef>
                <a:spcPts val="0"/>
              </a:spcBef>
              <a:spcAft>
                <a:spcPts val="0"/>
              </a:spcAft>
              <a:buNone/>
            </a:pPr>
            <a:r>
              <a:rPr lang="en"/>
              <a:t>There are some features that cause spoiled milk</a:t>
            </a:r>
            <a:endParaRPr/>
          </a:p>
          <a:p>
            <a:pPr indent="0" lvl="0" marL="0" rtl="0" algn="l">
              <a:spcBef>
                <a:spcPts val="0"/>
              </a:spcBef>
              <a:spcAft>
                <a:spcPts val="0"/>
              </a:spcAft>
              <a:buNone/>
            </a:pPr>
            <a:r>
              <a:rPr lang="en"/>
              <a:t>You and your friends are building a detector that will do the right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your team is successful, you will be able to predict the label successfully …even though you can’t eyeball the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the end we can reveal what the experts are paying attention to.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Level II - no expert that is 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Learning Objective</a:t>
            </a:r>
            <a:endParaRPr/>
          </a:p>
          <a:p>
            <a:pPr indent="-298450" lvl="0" marL="457200" rtl="0" algn="l">
              <a:spcBef>
                <a:spcPts val="0"/>
              </a:spcBef>
              <a:spcAft>
                <a:spcPts val="0"/>
              </a:spcAft>
              <a:buSzPts val="1100"/>
              <a:buChar char="-"/>
            </a:pPr>
            <a:r>
              <a:rPr lang="en"/>
              <a:t>Using a procedure for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e8defc1cb3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e8defc1cb3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e8defc1cb3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e8defc1cb3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e8defc1cb3_1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e8defc1cb3_1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e8defc1cb3_1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e8defc1cb3_1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e8defc1cb3_1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e8defc1cb3_1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e8defc1cb3_1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e8defc1cb3_1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e8defc1cb3_1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e8defc1cb3_1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138452da00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138452da00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Nets are like a function</a:t>
            </a:r>
            <a:endParaRPr/>
          </a:p>
          <a:p>
            <a:pPr indent="0" lvl="0" marL="0" rtl="0" algn="l">
              <a:spcBef>
                <a:spcPts val="0"/>
              </a:spcBef>
              <a:spcAft>
                <a:spcPts val="0"/>
              </a:spcAft>
              <a:buNone/>
            </a:pPr>
            <a:r>
              <a:rPr lang="en"/>
              <a:t>X input -&gt; Y output</a:t>
            </a:r>
            <a:endParaRPr/>
          </a:p>
          <a:p>
            <a:pPr indent="0" lvl="0" marL="0" rtl="0" algn="l">
              <a:spcBef>
                <a:spcPts val="0"/>
              </a:spcBef>
              <a:spcAft>
                <a:spcPts val="0"/>
              </a:spcAft>
              <a:buNone/>
            </a:pPr>
            <a:r>
              <a:rPr lang="en"/>
              <a:t>Were inputs can map to a number of Y’s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e86d29a94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e86d29a94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add a neuron with a magnifying glass</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135be168d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1135be168d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Dave’s teaching videos</a:t>
            </a:r>
            <a:endParaRPr/>
          </a:p>
          <a:p>
            <a:pPr indent="0" lvl="0" marL="0" rtl="0" algn="l">
              <a:spcBef>
                <a:spcPts val="0"/>
              </a:spcBef>
              <a:spcAft>
                <a:spcPts val="0"/>
              </a:spcAft>
              <a:buNone/>
            </a:pPr>
            <a:r>
              <a:rPr lang="en"/>
              <a:t>Teacher note - as  a class do slides 30-37</a:t>
            </a:r>
            <a:endParaRPr/>
          </a:p>
          <a:p>
            <a:pPr indent="0" lvl="0" marL="0" rtl="0" algn="l">
              <a:spcBef>
                <a:spcPts val="0"/>
              </a:spcBef>
              <a:spcAft>
                <a:spcPts val="0"/>
              </a:spcAft>
              <a:buNone/>
            </a:pPr>
            <a:r>
              <a:rPr lang="en"/>
              <a:t>Student activity starts on 38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e8f457cc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2e8f457cc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1138452da00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1138452da00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135be168d2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135be168d2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135be168d2_0_1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1135be168d2_0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000000"/>
              </a:buClr>
              <a:buSzPts val="2800"/>
              <a:buNone/>
              <a:defRPr sz="2800">
                <a:solidFill>
                  <a:srgbClr val="000000"/>
                </a:solidFill>
              </a:defRPr>
            </a:lvl1pPr>
            <a:lvl2pPr lvl="1" algn="ctr">
              <a:lnSpc>
                <a:spcPct val="100000"/>
              </a:lnSpc>
              <a:spcBef>
                <a:spcPts val="0"/>
              </a:spcBef>
              <a:spcAft>
                <a:spcPts val="0"/>
              </a:spcAft>
              <a:buClr>
                <a:srgbClr val="000000"/>
              </a:buClr>
              <a:buSzPts val="2800"/>
              <a:buNone/>
              <a:defRPr sz="2800">
                <a:solidFill>
                  <a:srgbClr val="000000"/>
                </a:solidFill>
              </a:defRPr>
            </a:lvl2pPr>
            <a:lvl3pPr lvl="2" algn="ctr">
              <a:lnSpc>
                <a:spcPct val="100000"/>
              </a:lnSpc>
              <a:spcBef>
                <a:spcPts val="0"/>
              </a:spcBef>
              <a:spcAft>
                <a:spcPts val="0"/>
              </a:spcAft>
              <a:buClr>
                <a:srgbClr val="000000"/>
              </a:buClr>
              <a:buSzPts val="2800"/>
              <a:buNone/>
              <a:defRPr sz="2800">
                <a:solidFill>
                  <a:srgbClr val="000000"/>
                </a:solidFill>
              </a:defRPr>
            </a:lvl3pPr>
            <a:lvl4pPr lvl="3" algn="ctr">
              <a:lnSpc>
                <a:spcPct val="100000"/>
              </a:lnSpc>
              <a:spcBef>
                <a:spcPts val="0"/>
              </a:spcBef>
              <a:spcAft>
                <a:spcPts val="0"/>
              </a:spcAft>
              <a:buClr>
                <a:srgbClr val="000000"/>
              </a:buClr>
              <a:buSzPts val="2800"/>
              <a:buNone/>
              <a:defRPr sz="2800">
                <a:solidFill>
                  <a:srgbClr val="000000"/>
                </a:solidFill>
              </a:defRPr>
            </a:lvl4pPr>
            <a:lvl5pPr lvl="4" algn="ctr">
              <a:lnSpc>
                <a:spcPct val="100000"/>
              </a:lnSpc>
              <a:spcBef>
                <a:spcPts val="0"/>
              </a:spcBef>
              <a:spcAft>
                <a:spcPts val="0"/>
              </a:spcAft>
              <a:buClr>
                <a:srgbClr val="000000"/>
              </a:buClr>
              <a:buSzPts val="2800"/>
              <a:buNone/>
              <a:defRPr sz="2800">
                <a:solidFill>
                  <a:srgbClr val="000000"/>
                </a:solidFill>
              </a:defRPr>
            </a:lvl5pPr>
            <a:lvl6pPr lvl="5" algn="ctr">
              <a:lnSpc>
                <a:spcPct val="100000"/>
              </a:lnSpc>
              <a:spcBef>
                <a:spcPts val="0"/>
              </a:spcBef>
              <a:spcAft>
                <a:spcPts val="0"/>
              </a:spcAft>
              <a:buClr>
                <a:srgbClr val="000000"/>
              </a:buClr>
              <a:buSzPts val="2800"/>
              <a:buNone/>
              <a:defRPr sz="2800">
                <a:solidFill>
                  <a:srgbClr val="000000"/>
                </a:solidFill>
              </a:defRPr>
            </a:lvl6pPr>
            <a:lvl7pPr lvl="6" algn="ctr">
              <a:lnSpc>
                <a:spcPct val="100000"/>
              </a:lnSpc>
              <a:spcBef>
                <a:spcPts val="0"/>
              </a:spcBef>
              <a:spcAft>
                <a:spcPts val="0"/>
              </a:spcAft>
              <a:buClr>
                <a:srgbClr val="000000"/>
              </a:buClr>
              <a:buSzPts val="2800"/>
              <a:buNone/>
              <a:defRPr sz="2800">
                <a:solidFill>
                  <a:srgbClr val="000000"/>
                </a:solidFill>
              </a:defRPr>
            </a:lvl7pPr>
            <a:lvl8pPr lvl="7" algn="ctr">
              <a:lnSpc>
                <a:spcPct val="100000"/>
              </a:lnSpc>
              <a:spcBef>
                <a:spcPts val="0"/>
              </a:spcBef>
              <a:spcAft>
                <a:spcPts val="0"/>
              </a:spcAft>
              <a:buClr>
                <a:srgbClr val="000000"/>
              </a:buClr>
              <a:buSzPts val="2800"/>
              <a:buNone/>
              <a:defRPr sz="2800">
                <a:solidFill>
                  <a:srgbClr val="000000"/>
                </a:solidFill>
              </a:defRPr>
            </a:lvl8pPr>
            <a:lvl9pPr lvl="8" algn="ctr">
              <a:lnSpc>
                <a:spcPct val="100000"/>
              </a:lnSpc>
              <a:spcBef>
                <a:spcPts val="0"/>
              </a:spcBef>
              <a:spcAft>
                <a:spcPts val="0"/>
              </a:spcAft>
              <a:buClr>
                <a:srgbClr val="000000"/>
              </a:buClr>
              <a:buSzPts val="2800"/>
              <a:buNone/>
              <a:defRPr sz="2800">
                <a:solidFill>
                  <a:srgbClr val="000000"/>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00000"/>
              </a:buClr>
              <a:buSzPts val="2800"/>
              <a:buNone/>
              <a:defRPr>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000000"/>
              </a:buClr>
              <a:buSzPts val="1800"/>
              <a:buChar char="●"/>
              <a:defRPr>
                <a:solidFill>
                  <a:srgbClr val="000000"/>
                </a:solidFill>
              </a:defRPr>
            </a:lvl1pPr>
            <a:lvl2pPr indent="-317500" lvl="1" marL="914400">
              <a:spcBef>
                <a:spcPts val="0"/>
              </a:spcBef>
              <a:spcAft>
                <a:spcPts val="0"/>
              </a:spcAft>
              <a:buClr>
                <a:srgbClr val="000000"/>
              </a:buClr>
              <a:buSzPts val="1400"/>
              <a:buChar char="○"/>
              <a:defRPr>
                <a:solidFill>
                  <a:srgbClr val="000000"/>
                </a:solidFill>
              </a:defRPr>
            </a:lvl2pPr>
            <a:lvl3pPr indent="-317500" lvl="2" marL="1371600">
              <a:spcBef>
                <a:spcPts val="0"/>
              </a:spcBef>
              <a:spcAft>
                <a:spcPts val="0"/>
              </a:spcAft>
              <a:buClr>
                <a:srgbClr val="000000"/>
              </a:buClr>
              <a:buSzPts val="1400"/>
              <a:buChar char="■"/>
              <a:defRPr>
                <a:solidFill>
                  <a:srgbClr val="000000"/>
                </a:solidFill>
              </a:defRPr>
            </a:lvl3pPr>
            <a:lvl4pPr indent="-317500" lvl="3" marL="1828800">
              <a:spcBef>
                <a:spcPts val="0"/>
              </a:spcBef>
              <a:spcAft>
                <a:spcPts val="0"/>
              </a:spcAft>
              <a:buClr>
                <a:srgbClr val="000000"/>
              </a:buClr>
              <a:buSzPts val="1400"/>
              <a:buChar char="●"/>
              <a:defRPr>
                <a:solidFill>
                  <a:srgbClr val="000000"/>
                </a:solidFill>
              </a:defRPr>
            </a:lvl4pPr>
            <a:lvl5pPr indent="-317500" lvl="4" marL="2286000">
              <a:spcBef>
                <a:spcPts val="0"/>
              </a:spcBef>
              <a:spcAft>
                <a:spcPts val="0"/>
              </a:spcAft>
              <a:buClr>
                <a:srgbClr val="000000"/>
              </a:buClr>
              <a:buSzPts val="1400"/>
              <a:buChar char="○"/>
              <a:defRPr>
                <a:solidFill>
                  <a:srgbClr val="000000"/>
                </a:solidFill>
              </a:defRPr>
            </a:lvl5pPr>
            <a:lvl6pPr indent="-317500" lvl="5" marL="2743200">
              <a:spcBef>
                <a:spcPts val="0"/>
              </a:spcBef>
              <a:spcAft>
                <a:spcPts val="0"/>
              </a:spcAft>
              <a:buClr>
                <a:srgbClr val="000000"/>
              </a:buClr>
              <a:buSzPts val="1400"/>
              <a:buChar char="■"/>
              <a:defRPr>
                <a:solidFill>
                  <a:srgbClr val="000000"/>
                </a:solidFill>
              </a:defRPr>
            </a:lvl6pPr>
            <a:lvl7pPr indent="-317500" lvl="6" marL="3200400">
              <a:spcBef>
                <a:spcPts val="0"/>
              </a:spcBef>
              <a:spcAft>
                <a:spcPts val="0"/>
              </a:spcAft>
              <a:buClr>
                <a:srgbClr val="000000"/>
              </a:buClr>
              <a:buSzPts val="1400"/>
              <a:buChar char="●"/>
              <a:defRPr>
                <a:solidFill>
                  <a:srgbClr val="000000"/>
                </a:solidFill>
              </a:defRPr>
            </a:lvl7pPr>
            <a:lvl8pPr indent="-317500" lvl="7" marL="3657600">
              <a:spcBef>
                <a:spcPts val="0"/>
              </a:spcBef>
              <a:spcAft>
                <a:spcPts val="0"/>
              </a:spcAft>
              <a:buClr>
                <a:srgbClr val="000000"/>
              </a:buClr>
              <a:buSzPts val="1400"/>
              <a:buChar char="○"/>
              <a:defRPr>
                <a:solidFill>
                  <a:srgbClr val="000000"/>
                </a:solidFill>
              </a:defRPr>
            </a:lvl8pPr>
            <a:lvl9pPr indent="-317500" lvl="8" marL="411480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Char char="●"/>
              <a:defRPr sz="14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Char char="●"/>
              <a:defRPr sz="14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rgbClr val="000000"/>
              </a:buClr>
              <a:buSzPts val="1200"/>
              <a:buChar char="●"/>
              <a:defRPr sz="12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hyperlink" Target="https://creativecommons.org/licenses/by-nc-sa/4.0/" TargetMode="External"/><Relationship Id="rId6"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4qVRBYAdLAo" TargetMode="External"/><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youtu.be/JrXazCEACVo?si=8n6yE4n5JvesxACN" TargetMode="Externa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rEDzUT3ymw4" TargetMode="External"/><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2156750" y="733775"/>
            <a:ext cx="6987300" cy="1189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3.5</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Neural Networks</a:t>
            </a:r>
            <a:endParaRPr sz="2355">
              <a:solidFill>
                <a:schemeClr val="dk2"/>
              </a:solidFill>
              <a:latin typeface="Merriweather"/>
              <a:ea typeface="Merriweather"/>
              <a:cs typeface="Merriweather"/>
              <a:sym typeface="Merriweather"/>
            </a:endParaRPr>
          </a:p>
        </p:txBody>
      </p:sp>
      <p:pic>
        <p:nvPicPr>
          <p:cNvPr id="100" name="Google Shape;100;p25"/>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01" name="Google Shape;101;p25"/>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02" name="Google Shape;102;p2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03" name="Google Shape;103;p25"/>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lang="en" sz="900"/>
              <a:t>Additional funding was provided by a gift from Google. </a:t>
            </a:r>
            <a:r>
              <a:rPr b="1" lang="en" sz="900">
                <a:highlight>
                  <a:srgbClr val="FFFFFF"/>
                </a:highlight>
              </a:rPr>
              <a:t>This work is licensed under the Creative Commons Attribution-NonCommercial-ShareAlike 4.0 International License. </a:t>
            </a:r>
            <a:r>
              <a:rPr b="1" lang="en" sz="900" u="sng">
                <a:solidFill>
                  <a:srgbClr val="0097A7"/>
                </a:solidFill>
                <a:highlight>
                  <a:srgbClr val="FFFFFF"/>
                </a:highlight>
                <a:hlinkClick r:id="rId5">
                  <a:extLst>
                    <a:ext uri="{A12FA001-AC4F-418D-AE19-62706E023703}">
                      <ahyp:hlinkClr val="tx"/>
                    </a:ext>
                  </a:extLst>
                </a:hlinkClick>
              </a:rPr>
              <a:t>https://creativecommons.org/licenses/by-nc-sa/4.0/</a:t>
            </a:r>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04" name="Google Shape;104;p25"/>
          <p:cNvPicPr preferRelativeResize="0"/>
          <p:nvPr/>
        </p:nvPicPr>
        <p:blipFill>
          <a:blip r:embed="rId6">
            <a:alphaModFix/>
          </a:blip>
          <a:stretch>
            <a:fillRect/>
          </a:stretch>
        </p:blipFill>
        <p:spPr>
          <a:xfrm>
            <a:off x="4190846" y="1790350"/>
            <a:ext cx="2701225" cy="2701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6"/>
          <p:cNvSpPr txBox="1"/>
          <p:nvPr>
            <p:ph type="title"/>
          </p:nvPr>
        </p:nvSpPr>
        <p:spPr>
          <a:xfrm>
            <a:off x="334375" y="3574796"/>
            <a:ext cx="8520600" cy="154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440"/>
              <a:t>A lot of the AI applications you’ve used have neural networks inside of them.</a:t>
            </a:r>
            <a:endParaRPr sz="2440"/>
          </a:p>
          <a:p>
            <a:pPr indent="0" lvl="0" marL="0" rtl="0" algn="ctr">
              <a:spcBef>
                <a:spcPts val="0"/>
              </a:spcBef>
              <a:spcAft>
                <a:spcPts val="0"/>
              </a:spcAft>
              <a:buSzPts val="990"/>
              <a:buNone/>
            </a:pPr>
            <a:r>
              <a:t/>
            </a:r>
            <a:endParaRPr sz="1540"/>
          </a:p>
          <a:p>
            <a:pPr indent="0" lvl="0" marL="0" rtl="0" algn="ctr">
              <a:spcBef>
                <a:spcPts val="0"/>
              </a:spcBef>
              <a:spcAft>
                <a:spcPts val="0"/>
              </a:spcAft>
              <a:buSzPts val="990"/>
              <a:buNone/>
            </a:pPr>
            <a:r>
              <a:rPr lang="en" sz="2440"/>
              <a:t>This is the dominant technology today for many areas of AI.</a:t>
            </a:r>
            <a:endParaRPr sz="2440"/>
          </a:p>
        </p:txBody>
      </p:sp>
      <p:sp>
        <p:nvSpPr>
          <p:cNvPr id="110" name="Google Shape;11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1" name="Google Shape;111;p26"/>
          <p:cNvPicPr preferRelativeResize="0"/>
          <p:nvPr/>
        </p:nvPicPr>
        <p:blipFill>
          <a:blip r:embed="rId3">
            <a:alphaModFix/>
          </a:blip>
          <a:stretch>
            <a:fillRect/>
          </a:stretch>
        </p:blipFill>
        <p:spPr>
          <a:xfrm>
            <a:off x="6688900" y="-3"/>
            <a:ext cx="2412894" cy="1823850"/>
          </a:xfrm>
          <a:prstGeom prst="rect">
            <a:avLst/>
          </a:prstGeom>
          <a:noFill/>
          <a:ln>
            <a:noFill/>
          </a:ln>
        </p:spPr>
      </p:pic>
      <p:pic>
        <p:nvPicPr>
          <p:cNvPr id="112" name="Google Shape;112;p26"/>
          <p:cNvPicPr preferRelativeResize="0"/>
          <p:nvPr/>
        </p:nvPicPr>
        <p:blipFill>
          <a:blip r:embed="rId4">
            <a:alphaModFix/>
          </a:blip>
          <a:stretch>
            <a:fillRect/>
          </a:stretch>
        </p:blipFill>
        <p:spPr>
          <a:xfrm>
            <a:off x="2639925" y="0"/>
            <a:ext cx="3909499" cy="1823850"/>
          </a:xfrm>
          <a:prstGeom prst="rect">
            <a:avLst/>
          </a:prstGeom>
          <a:noFill/>
          <a:ln>
            <a:noFill/>
          </a:ln>
        </p:spPr>
      </p:pic>
      <p:pic>
        <p:nvPicPr>
          <p:cNvPr id="113" name="Google Shape;113;p26"/>
          <p:cNvPicPr preferRelativeResize="0"/>
          <p:nvPr/>
        </p:nvPicPr>
        <p:blipFill>
          <a:blip r:embed="rId5">
            <a:alphaModFix/>
          </a:blip>
          <a:stretch>
            <a:fillRect/>
          </a:stretch>
        </p:blipFill>
        <p:spPr>
          <a:xfrm>
            <a:off x="42200" y="72113"/>
            <a:ext cx="2519426" cy="1679625"/>
          </a:xfrm>
          <a:prstGeom prst="rect">
            <a:avLst/>
          </a:prstGeom>
          <a:noFill/>
          <a:ln>
            <a:noFill/>
          </a:ln>
        </p:spPr>
      </p:pic>
      <p:sp>
        <p:nvSpPr>
          <p:cNvPr id="114" name="Google Shape;114;p26"/>
          <p:cNvSpPr txBox="1"/>
          <p:nvPr/>
        </p:nvSpPr>
        <p:spPr>
          <a:xfrm>
            <a:off x="601050" y="1697625"/>
            <a:ext cx="205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Intelligent Assistants</a:t>
            </a:r>
            <a:endParaRPr/>
          </a:p>
        </p:txBody>
      </p:sp>
      <p:sp>
        <p:nvSpPr>
          <p:cNvPr id="115" name="Google Shape;115;p26"/>
          <p:cNvSpPr txBox="1"/>
          <p:nvPr/>
        </p:nvSpPr>
        <p:spPr>
          <a:xfrm>
            <a:off x="3572850" y="1773825"/>
            <a:ext cx="205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Face Detection</a:t>
            </a:r>
            <a:endParaRPr/>
          </a:p>
        </p:txBody>
      </p:sp>
      <p:sp>
        <p:nvSpPr>
          <p:cNvPr id="116" name="Google Shape;116;p26"/>
          <p:cNvSpPr txBox="1"/>
          <p:nvPr/>
        </p:nvSpPr>
        <p:spPr>
          <a:xfrm>
            <a:off x="6849450" y="1773825"/>
            <a:ext cx="205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License Plate Readers</a:t>
            </a:r>
            <a:endParaRPr/>
          </a:p>
        </p:txBody>
      </p:sp>
      <p:pic>
        <p:nvPicPr>
          <p:cNvPr id="117" name="Google Shape;117;p26"/>
          <p:cNvPicPr preferRelativeResize="0"/>
          <p:nvPr/>
        </p:nvPicPr>
        <p:blipFill>
          <a:blip r:embed="rId6">
            <a:alphaModFix/>
          </a:blip>
          <a:stretch>
            <a:fillRect/>
          </a:stretch>
        </p:blipFill>
        <p:spPr>
          <a:xfrm>
            <a:off x="1461450" y="2160700"/>
            <a:ext cx="2412900" cy="1351224"/>
          </a:xfrm>
          <a:prstGeom prst="rect">
            <a:avLst/>
          </a:prstGeom>
          <a:noFill/>
          <a:ln cap="flat" cmpd="sng" w="9525">
            <a:solidFill>
              <a:srgbClr val="000000"/>
            </a:solidFill>
            <a:prstDash val="solid"/>
            <a:round/>
            <a:headEnd len="sm" w="sm" type="none"/>
            <a:tailEnd len="sm" w="sm" type="none"/>
          </a:ln>
        </p:spPr>
      </p:pic>
      <p:pic>
        <p:nvPicPr>
          <p:cNvPr id="118" name="Google Shape;118;p26"/>
          <p:cNvPicPr preferRelativeResize="0"/>
          <p:nvPr/>
        </p:nvPicPr>
        <p:blipFill>
          <a:blip r:embed="rId7">
            <a:alphaModFix/>
          </a:blip>
          <a:stretch>
            <a:fillRect/>
          </a:stretch>
        </p:blipFill>
        <p:spPr>
          <a:xfrm>
            <a:off x="4726625" y="2115288"/>
            <a:ext cx="2563651" cy="1442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40"/>
              <a:t>Decision Trees vs. Neural N</a:t>
            </a:r>
            <a:r>
              <a:rPr lang="en" sz="2440"/>
              <a:t>etworks</a:t>
            </a:r>
            <a:endParaRPr sz="2440"/>
          </a:p>
        </p:txBody>
      </p:sp>
      <p:sp>
        <p:nvSpPr>
          <p:cNvPr id="124" name="Google Shape;12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Clr>
                <a:schemeClr val="dk1"/>
              </a:buClr>
              <a:buSzPts val="990"/>
              <a:buFont typeface="Arial"/>
              <a:buNone/>
            </a:pPr>
            <a:r>
              <a:rPr lang="en">
                <a:solidFill>
                  <a:schemeClr val="dk1"/>
                </a:solidFill>
              </a:rPr>
              <a:t>We learned how to build decision trees. They are useful for some types of problems.</a:t>
            </a:r>
            <a:endParaRPr>
              <a:solidFill>
                <a:schemeClr val="dk1"/>
              </a:solidFill>
            </a:endParaRPr>
          </a:p>
          <a:p>
            <a:pPr indent="-342900" lvl="0" marL="457200" rtl="0" algn="l">
              <a:lnSpc>
                <a:spcPct val="100000"/>
              </a:lnSpc>
              <a:spcBef>
                <a:spcPts val="1000"/>
              </a:spcBef>
              <a:spcAft>
                <a:spcPts val="0"/>
              </a:spcAft>
              <a:buClr>
                <a:schemeClr val="dk1"/>
              </a:buClr>
              <a:buSzPts val="1800"/>
              <a:buChar char="●"/>
            </a:pPr>
            <a:r>
              <a:rPr lang="en">
                <a:solidFill>
                  <a:schemeClr val="dk1"/>
                </a:solidFill>
              </a:rPr>
              <a:t>Decision trees require less data to train.</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
                <a:solidFill>
                  <a:schemeClr val="dk1"/>
                </a:solidFill>
              </a:rPr>
              <a:t>Decision trees can “explain” their conclusions in terms of features we understand.</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But for really hard problems, neural networks work better. Why?</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Decision trees depend on having a good feature set. What if we don’t?</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Neural networks can create their own features. This allows them to come up with sophisticated solutions to hard problems, such as understanding speech or images, that decision trees can’t handle.</a:t>
            </a:r>
            <a:endParaRPr/>
          </a:p>
        </p:txBody>
      </p:sp>
      <p:sp>
        <p:nvSpPr>
          <p:cNvPr id="125" name="Google Shape;12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Neural Networks</a:t>
            </a:r>
            <a:endParaRPr/>
          </a:p>
        </p:txBody>
      </p:sp>
      <p:pic>
        <p:nvPicPr>
          <p:cNvPr descr="Today we’re going to teach John Green Bot how to tell the difference between donuts and bagels using supervised learning! Supervised learning is the process of learning WITH training labels, and is the most widely used kind of learning with it comes to AI - helping with stuff like tagging photos on Facebook and filtering spam from your email. We’re going to start small today and show how just a single neuron (or perceptron) is constructed, and explain the differences between precision and recall. Next week, we'll build our first neural network. &#10;&#10;Read more about the perceptron and update rule here: https://jontysinai.github.io/jekyll/update/2017/11/11/the-perceptron.html&#10;&#10;Crash Course is produced in association with PBS Digital Studios. &#10;https://www.youtube.com/pbsdigitalstudios&#10;&#10;Crash Course is on Patreon! You can support us directly by signing up at http://www.patreon.com/crashcourse&#10;&#10;Thanks to the following patrons for their generous monthly contributions that help keep Crash Course free for everyone forever:&#10;&#10;Eric Prestemon, Sam Buck, Mark Brouwer, Timothy J Kwist, Brian Thomas Gossett, Haxiang N/A Liu, Jonathan Zbikowski, Siobhan Sabino, Zach Van Stanley, Bob Doye, Jennifer Killen, Nathan Catchings, Brandon Westmoreland, dorsey, Indika Siriwardena, Kenneth F Penttinen, Trevin Beattie, Erika &amp; Alexa Saur, Justin Zingsheim, Jessica Wode, Tom Trval, Jason Saslow, Nathan Taylor, Khaled El Shalakany, SR Foxley, Sam Ferguson, Yasenia Cruz, Eric Koslow, Caleb Weeks, Tim Curwick, David Noe, Shawn Arnold, William McGraw, Andrei Krishkevich, Rachel Bright, Jirat, Ian Dundore&#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10;&#10;#CrashCourse #ArtificialIntelligence #MachineLearning" id="131" name="Google Shape;131;p28" title="Supervised Learning: Crash Course AI #2">
            <a:hlinkClick r:id="rId3"/>
          </p:cNvPr>
          <p:cNvPicPr preferRelativeResize="0"/>
          <p:nvPr/>
        </p:nvPicPr>
        <p:blipFill>
          <a:blip r:embed="rId4">
            <a:alphaModFix/>
          </a:blip>
          <a:stretch>
            <a:fillRect/>
          </a:stretch>
        </p:blipFill>
        <p:spPr>
          <a:xfrm>
            <a:off x="2352725" y="1403600"/>
            <a:ext cx="4572000" cy="3429000"/>
          </a:xfrm>
          <a:prstGeom prst="rect">
            <a:avLst/>
          </a:prstGeom>
          <a:noFill/>
          <a:ln>
            <a:noFill/>
          </a:ln>
        </p:spPr>
      </p:pic>
      <p:sp>
        <p:nvSpPr>
          <p:cNvPr id="132" name="Google Shape;132;p28"/>
          <p:cNvSpPr txBox="1"/>
          <p:nvPr/>
        </p:nvSpPr>
        <p:spPr>
          <a:xfrm>
            <a:off x="474025" y="2865350"/>
            <a:ext cx="96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Cue this and add URL</a:t>
            </a:r>
            <a:endParaRPr/>
          </a:p>
        </p:txBody>
      </p:sp>
      <p:sp>
        <p:nvSpPr>
          <p:cNvPr id="133" name="Google Shape;13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neural network?</a:t>
            </a:r>
            <a:endParaRPr/>
          </a:p>
        </p:txBody>
      </p:sp>
      <p:sp>
        <p:nvSpPr>
          <p:cNvPr id="139" name="Google Shape;139;p29"/>
          <p:cNvSpPr txBox="1"/>
          <p:nvPr>
            <p:ph idx="1" type="body"/>
          </p:nvPr>
        </p:nvSpPr>
        <p:spPr>
          <a:xfrm>
            <a:off x="311700" y="1152475"/>
            <a:ext cx="8520600" cy="3904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large, complex mathematical function that maps inputs to outputs.</a:t>
            </a:r>
            <a:endParaRPr/>
          </a:p>
          <a:p>
            <a:pPr indent="-317500" lvl="1" marL="914400" rtl="0" algn="l">
              <a:spcBef>
                <a:spcPts val="0"/>
              </a:spcBef>
              <a:spcAft>
                <a:spcPts val="0"/>
              </a:spcAft>
              <a:buSzPts val="1400"/>
              <a:buChar char="○"/>
            </a:pPr>
            <a:r>
              <a:rPr lang="en"/>
              <a:t>Because the function is so complex, the network can do sophisticated things.</a:t>
            </a:r>
            <a:br>
              <a:rPr lang="en"/>
            </a:br>
            <a:endParaRPr/>
          </a:p>
          <a:p>
            <a:pPr indent="-342900" lvl="0" marL="457200" rtl="0" algn="l">
              <a:spcBef>
                <a:spcPts val="0"/>
              </a:spcBef>
              <a:spcAft>
                <a:spcPts val="0"/>
              </a:spcAft>
              <a:buSzPts val="1800"/>
              <a:buChar char="●"/>
            </a:pPr>
            <a:r>
              <a:rPr lang="en"/>
              <a:t>Each layer is composed of many simple functions, called “units” or “neurons”.</a:t>
            </a:r>
            <a:br>
              <a:rPr lang="en"/>
            </a:br>
            <a:br>
              <a:rPr lang="en"/>
            </a:br>
            <a:br>
              <a:rPr lang="en"/>
            </a:br>
            <a:br>
              <a:rPr lang="en"/>
            </a:br>
            <a:br>
              <a:rPr lang="en"/>
            </a:br>
            <a:br>
              <a:rPr lang="en"/>
            </a:br>
            <a:br>
              <a:rPr lang="en"/>
            </a:br>
            <a:endParaRPr/>
          </a:p>
          <a:p>
            <a:pPr indent="-342900" lvl="0" marL="457200" rtl="0" algn="l">
              <a:spcBef>
                <a:spcPts val="0"/>
              </a:spcBef>
              <a:spcAft>
                <a:spcPts val="0"/>
              </a:spcAft>
              <a:buSzPts val="1800"/>
              <a:buChar char="●"/>
            </a:pPr>
            <a:r>
              <a:rPr lang="en"/>
              <a:t>Each unit takes multiple numbers as input and produces a number as output.</a:t>
            </a:r>
            <a:endParaRPr/>
          </a:p>
        </p:txBody>
      </p:sp>
      <p:sp>
        <p:nvSpPr>
          <p:cNvPr id="140" name="Google Shape;14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1" name="Google Shape;141;p29"/>
          <p:cNvPicPr preferRelativeResize="0"/>
          <p:nvPr/>
        </p:nvPicPr>
        <p:blipFill>
          <a:blip r:embed="rId3">
            <a:alphaModFix/>
          </a:blip>
          <a:stretch>
            <a:fillRect/>
          </a:stretch>
        </p:blipFill>
        <p:spPr>
          <a:xfrm>
            <a:off x="2571751" y="2726552"/>
            <a:ext cx="2911599" cy="1392725"/>
          </a:xfrm>
          <a:prstGeom prst="rect">
            <a:avLst/>
          </a:prstGeom>
          <a:noFill/>
          <a:ln>
            <a:noFill/>
          </a:ln>
        </p:spPr>
      </p:pic>
      <p:sp>
        <p:nvSpPr>
          <p:cNvPr id="142" name="Google Shape;142;p29"/>
          <p:cNvSpPr txBox="1"/>
          <p:nvPr/>
        </p:nvSpPr>
        <p:spPr>
          <a:xfrm>
            <a:off x="4340300" y="2493475"/>
            <a:ext cx="61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units</a:t>
            </a:r>
            <a:endParaRPr>
              <a:solidFill>
                <a:srgbClr val="980000"/>
              </a:solidFill>
            </a:endParaRPr>
          </a:p>
        </p:txBody>
      </p:sp>
      <p:sp>
        <p:nvSpPr>
          <p:cNvPr id="143" name="Google Shape;143;p29"/>
          <p:cNvSpPr/>
          <p:nvPr/>
        </p:nvSpPr>
        <p:spPr>
          <a:xfrm>
            <a:off x="3719525" y="2563791"/>
            <a:ext cx="666750" cy="162600"/>
          </a:xfrm>
          <a:custGeom>
            <a:rect b="b" l="l" r="r" t="t"/>
            <a:pathLst>
              <a:path extrusionOk="0" h="6504" w="26670">
                <a:moveTo>
                  <a:pt x="26670" y="6224"/>
                </a:moveTo>
                <a:cubicBezTo>
                  <a:pt x="24956" y="6192"/>
                  <a:pt x="19622" y="6986"/>
                  <a:pt x="16383" y="6033"/>
                </a:cubicBezTo>
                <a:cubicBezTo>
                  <a:pt x="13145" y="5081"/>
                  <a:pt x="9589" y="1398"/>
                  <a:pt x="7239" y="509"/>
                </a:cubicBezTo>
                <a:cubicBezTo>
                  <a:pt x="4890" y="-380"/>
                  <a:pt x="3493" y="32"/>
                  <a:pt x="2286" y="699"/>
                </a:cubicBezTo>
                <a:cubicBezTo>
                  <a:pt x="1080" y="1366"/>
                  <a:pt x="381" y="3874"/>
                  <a:pt x="0" y="4509"/>
                </a:cubicBezTo>
              </a:path>
            </a:pathLst>
          </a:custGeom>
          <a:noFill/>
          <a:ln cap="flat" cmpd="sng" w="9525">
            <a:solidFill>
              <a:srgbClr val="980000"/>
            </a:solidFill>
            <a:prstDash val="solid"/>
            <a:round/>
            <a:headEnd len="med" w="med" type="none"/>
            <a:tailEnd len="med" w="med" type="triangle"/>
          </a:ln>
        </p:spPr>
      </p:sp>
      <p:sp>
        <p:nvSpPr>
          <p:cNvPr id="144" name="Google Shape;144;p29"/>
          <p:cNvSpPr/>
          <p:nvPr/>
        </p:nvSpPr>
        <p:spPr>
          <a:xfrm>
            <a:off x="4838700" y="2700834"/>
            <a:ext cx="269750" cy="275750"/>
          </a:xfrm>
          <a:custGeom>
            <a:rect b="b" l="l" r="r" t="t"/>
            <a:pathLst>
              <a:path extrusionOk="0" h="11030" w="10790">
                <a:moveTo>
                  <a:pt x="0" y="552"/>
                </a:moveTo>
                <a:cubicBezTo>
                  <a:pt x="1365" y="489"/>
                  <a:pt x="6446" y="-337"/>
                  <a:pt x="8192" y="171"/>
                </a:cubicBezTo>
                <a:cubicBezTo>
                  <a:pt x="9938" y="679"/>
                  <a:pt x="11399" y="1790"/>
                  <a:pt x="10478" y="3600"/>
                </a:cubicBezTo>
                <a:cubicBezTo>
                  <a:pt x="9557" y="5410"/>
                  <a:pt x="3969" y="9792"/>
                  <a:pt x="2667" y="11030"/>
                </a:cubicBezTo>
              </a:path>
            </a:pathLst>
          </a:custGeom>
          <a:noFill/>
          <a:ln cap="flat" cmpd="sng" w="9525">
            <a:solidFill>
              <a:srgbClr val="980000"/>
            </a:solidFill>
            <a:prstDash val="solid"/>
            <a:round/>
            <a:headEnd len="med" w="med" type="none"/>
            <a:tailEnd len="med" w="med" type="triangle"/>
          </a:ln>
        </p:spPr>
      </p:sp>
      <p:sp>
        <p:nvSpPr>
          <p:cNvPr id="145" name="Google Shape;145;p29"/>
          <p:cNvSpPr txBox="1"/>
          <p:nvPr/>
        </p:nvSpPr>
        <p:spPr>
          <a:xfrm>
            <a:off x="4433900" y="4019550"/>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weighted connections</a:t>
            </a:r>
            <a:endParaRPr>
              <a:solidFill>
                <a:srgbClr val="38761D"/>
              </a:solidFill>
            </a:endParaRPr>
          </a:p>
        </p:txBody>
      </p:sp>
      <p:sp>
        <p:nvSpPr>
          <p:cNvPr id="146" name="Google Shape;146;p29"/>
          <p:cNvSpPr/>
          <p:nvPr/>
        </p:nvSpPr>
        <p:spPr>
          <a:xfrm>
            <a:off x="4214825" y="3886200"/>
            <a:ext cx="271450" cy="370300"/>
          </a:xfrm>
          <a:custGeom>
            <a:rect b="b" l="l" r="r" t="t"/>
            <a:pathLst>
              <a:path extrusionOk="0" h="14812" w="10858">
                <a:moveTo>
                  <a:pt x="10858" y="14478"/>
                </a:moveTo>
                <a:cubicBezTo>
                  <a:pt x="10191" y="14510"/>
                  <a:pt x="8065" y="14955"/>
                  <a:pt x="6858" y="14669"/>
                </a:cubicBezTo>
                <a:cubicBezTo>
                  <a:pt x="5652" y="14383"/>
                  <a:pt x="4762" y="15209"/>
                  <a:pt x="3619" y="12764"/>
                </a:cubicBezTo>
                <a:cubicBezTo>
                  <a:pt x="2476" y="10319"/>
                  <a:pt x="603" y="2127"/>
                  <a:pt x="0" y="0"/>
                </a:cubicBezTo>
              </a:path>
            </a:pathLst>
          </a:custGeom>
          <a:noFill/>
          <a:ln cap="flat" cmpd="sng" w="9525">
            <a:solidFill>
              <a:srgbClr val="38761D"/>
            </a:solidFill>
            <a:prstDash val="solid"/>
            <a:round/>
            <a:headEnd len="med" w="med" type="none"/>
            <a:tailEnd len="med" w="med" type="triangle"/>
          </a:ln>
        </p:spPr>
      </p:sp>
      <p:sp>
        <p:nvSpPr>
          <p:cNvPr id="147" name="Google Shape;147;p29"/>
          <p:cNvSpPr/>
          <p:nvPr/>
        </p:nvSpPr>
        <p:spPr>
          <a:xfrm>
            <a:off x="3157550" y="3967175"/>
            <a:ext cx="1345775" cy="293450"/>
          </a:xfrm>
          <a:custGeom>
            <a:rect b="b" l="l" r="r" t="t"/>
            <a:pathLst>
              <a:path extrusionOk="0" h="11738" w="53831">
                <a:moveTo>
                  <a:pt x="53149" y="11239"/>
                </a:moveTo>
                <a:cubicBezTo>
                  <a:pt x="52482" y="11271"/>
                  <a:pt x="56960" y="11525"/>
                  <a:pt x="49149" y="11430"/>
                </a:cubicBezTo>
                <a:cubicBezTo>
                  <a:pt x="41339" y="11335"/>
                  <a:pt x="14478" y="12573"/>
                  <a:pt x="6286" y="10668"/>
                </a:cubicBezTo>
                <a:cubicBezTo>
                  <a:pt x="-1905" y="8763"/>
                  <a:pt x="1048" y="1778"/>
                  <a:pt x="0" y="0"/>
                </a:cubicBezTo>
              </a:path>
            </a:pathLst>
          </a:custGeom>
          <a:noFill/>
          <a:ln cap="flat" cmpd="sng" w="9525">
            <a:solidFill>
              <a:srgbClr val="38761D"/>
            </a:solidFill>
            <a:prstDash val="solid"/>
            <a:round/>
            <a:headEnd len="med" w="med" type="none"/>
            <a:tailEnd len="med" w="med" type="triangle"/>
          </a:ln>
        </p:spPr>
      </p:sp>
      <p:sp>
        <p:nvSpPr>
          <p:cNvPr id="148" name="Google Shape;148;p29"/>
          <p:cNvSpPr txBox="1"/>
          <p:nvPr/>
        </p:nvSpPr>
        <p:spPr>
          <a:xfrm>
            <a:off x="5448313" y="2986750"/>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49" name="Google Shape;149;p29"/>
          <p:cNvSpPr txBox="1"/>
          <p:nvPr/>
        </p:nvSpPr>
        <p:spPr>
          <a:xfrm>
            <a:off x="5448313" y="3463000"/>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50" name="Google Shape;150;p29"/>
          <p:cNvSpPr txBox="1"/>
          <p:nvPr/>
        </p:nvSpPr>
        <p:spPr>
          <a:xfrm>
            <a:off x="1747106" y="2749719"/>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51" name="Google Shape;151;p29"/>
          <p:cNvSpPr txBox="1"/>
          <p:nvPr/>
        </p:nvSpPr>
        <p:spPr>
          <a:xfrm>
            <a:off x="1747106" y="3222365"/>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52" name="Google Shape;152;p29"/>
          <p:cNvSpPr txBox="1"/>
          <p:nvPr/>
        </p:nvSpPr>
        <p:spPr>
          <a:xfrm>
            <a:off x="1747106" y="3710457"/>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human brain contains roughly 86 billion neurons wired together in intricate patterns. This is the inspiration for artificial neural networks.</a:t>
            </a:r>
            <a:br>
              <a:rPr lang="en"/>
            </a:br>
            <a:endParaRPr/>
          </a:p>
          <a:p>
            <a:pPr indent="-342900" lvl="0" marL="457200" rtl="0" algn="l">
              <a:spcBef>
                <a:spcPts val="0"/>
              </a:spcBef>
              <a:spcAft>
                <a:spcPts val="0"/>
              </a:spcAft>
              <a:buSzPts val="1800"/>
              <a:buChar char="●"/>
            </a:pPr>
            <a:r>
              <a:rPr lang="en"/>
              <a:t>But biological neurons are more complex than artificial neurons, and real brain wiring is more complex than artificial neural networks.</a:t>
            </a:r>
            <a:endParaRPr/>
          </a:p>
        </p:txBody>
      </p:sp>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are they called “neural” networks?</a:t>
            </a:r>
            <a:endParaRPr/>
          </a:p>
        </p:txBody>
      </p:sp>
      <p:sp>
        <p:nvSpPr>
          <p:cNvPr id="159" name="Google Shape;15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0" name="Google Shape;160;p30"/>
          <p:cNvPicPr preferRelativeResize="0"/>
          <p:nvPr/>
        </p:nvPicPr>
        <p:blipFill rotWithShape="1">
          <a:blip r:embed="rId3">
            <a:alphaModFix/>
          </a:blip>
          <a:srcRect b="0" l="0" r="48657" t="0"/>
          <a:stretch/>
        </p:blipFill>
        <p:spPr>
          <a:xfrm>
            <a:off x="1161675" y="2931725"/>
            <a:ext cx="2531176" cy="2125101"/>
          </a:xfrm>
          <a:prstGeom prst="rect">
            <a:avLst/>
          </a:prstGeom>
          <a:noFill/>
          <a:ln>
            <a:noFill/>
          </a:ln>
        </p:spPr>
      </p:pic>
      <p:pic>
        <p:nvPicPr>
          <p:cNvPr id="161" name="Google Shape;161;p30"/>
          <p:cNvPicPr preferRelativeResize="0"/>
          <p:nvPr/>
        </p:nvPicPr>
        <p:blipFill rotWithShape="1">
          <a:blip r:embed="rId3">
            <a:alphaModFix/>
          </a:blip>
          <a:srcRect b="18520" l="57947" r="0" t="0"/>
          <a:stretch/>
        </p:blipFill>
        <p:spPr>
          <a:xfrm>
            <a:off x="4937500" y="3030625"/>
            <a:ext cx="2073126" cy="1731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a:t>
            </a:r>
            <a:r>
              <a:rPr lang="en"/>
              <a:t>Neural Networks work?</a:t>
            </a:r>
            <a:endParaRPr/>
          </a:p>
        </p:txBody>
      </p:sp>
      <p:sp>
        <p:nvSpPr>
          <p:cNvPr id="167" name="Google Shape;167;p31"/>
          <p:cNvSpPr txBox="1"/>
          <p:nvPr/>
        </p:nvSpPr>
        <p:spPr>
          <a:xfrm>
            <a:off x="474025" y="2865350"/>
            <a:ext cx="96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Cue this and add URL</a:t>
            </a:r>
            <a:endParaRPr/>
          </a:p>
        </p:txBody>
      </p:sp>
      <p:sp>
        <p:nvSpPr>
          <p:cNvPr id="168" name="Google Shape;16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9" name="Google Shape;169;p31">
            <a:hlinkClick r:id="rId3"/>
          </p:cNvPr>
          <p:cNvPicPr preferRelativeResize="0"/>
          <p:nvPr/>
        </p:nvPicPr>
        <p:blipFill>
          <a:blip r:embed="rId4">
            <a:alphaModFix/>
          </a:blip>
          <a:stretch>
            <a:fillRect/>
          </a:stretch>
        </p:blipFill>
        <p:spPr>
          <a:xfrm>
            <a:off x="1499400" y="1144675"/>
            <a:ext cx="5315800" cy="3102650"/>
          </a:xfrm>
          <a:prstGeom prst="rect">
            <a:avLst/>
          </a:prstGeom>
          <a:noFill/>
          <a:ln>
            <a:noFill/>
          </a:ln>
        </p:spPr>
      </p:pic>
      <p:sp>
        <p:nvSpPr>
          <p:cNvPr id="170" name="Google Shape;170;p31"/>
          <p:cNvSpPr txBox="1"/>
          <p:nvPr/>
        </p:nvSpPr>
        <p:spPr>
          <a:xfrm>
            <a:off x="7158950" y="1089925"/>
            <a:ext cx="1985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 sz="1800">
                <a:solidFill>
                  <a:srgbClr val="FF0000"/>
                </a:solidFill>
              </a:rPr>
              <a:t>[Video Option 1]</a:t>
            </a:r>
            <a:endParaRPr b="1" i="1" sz="1800">
              <a:solidFill>
                <a:srgbClr val="FF0000"/>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Networks in a Minute</a:t>
            </a:r>
            <a:endParaRPr/>
          </a:p>
        </p:txBody>
      </p:sp>
      <p:pic>
        <p:nvPicPr>
          <p:cNvPr descr="Artificial Neural Networks explained in a minute.&#10;&#10;As you might have already guessed, there are a lot of things that didn't fit into this one-minute explanation. You can read my accompanying blogpost for some more details on things I might have left out: https://arztsamuel.github.io/en/blogs/2018/EiaM-NeuralNetworks.html&#10;&#10;If you like these kind of videos and would like to see more technical topics explained in a minute, let me know by pressing the like button.&#10;&#10;Don't miss any future videos, by subscribing to my channel.&#10;Follow me on Twitter: https://twitter.com/SamuelArzt&#10;&#10;Interested in this series? You can find more information about it on my website: https://arztsamuel.github.io/en/projects/youtube/explained/explained.html&#10;&#10;This video was recorded with a potato.&#10;&#10;Background Music: Drops of H2O ( The Filtered Water Treatment ) by J.Lang (c) copyright 2012 Licensed under a Creative Commons Attribution (3.0) license. http://dig.ccmixter.org/files/djlang59/37792 Ft: Airtone&#10;&#10;#NeuralNetworks #MachineLearning #Tutorial" id="176" name="Google Shape;176;p32" title="Explained In A Minute: Neural Networks">
            <a:hlinkClick r:id="rId3"/>
          </p:cNvPr>
          <p:cNvPicPr preferRelativeResize="0"/>
          <p:nvPr/>
        </p:nvPicPr>
        <p:blipFill>
          <a:blip r:embed="rId4">
            <a:alphaModFix/>
          </a:blip>
          <a:stretch>
            <a:fillRect/>
          </a:stretch>
        </p:blipFill>
        <p:spPr>
          <a:xfrm>
            <a:off x="1765500" y="1170125"/>
            <a:ext cx="4572000" cy="3429000"/>
          </a:xfrm>
          <a:prstGeom prst="rect">
            <a:avLst/>
          </a:prstGeom>
          <a:noFill/>
          <a:ln>
            <a:noFill/>
          </a:ln>
        </p:spPr>
      </p:pic>
      <p:sp>
        <p:nvSpPr>
          <p:cNvPr id="177" name="Google Shape;17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32"/>
          <p:cNvSpPr txBox="1"/>
          <p:nvPr/>
        </p:nvSpPr>
        <p:spPr>
          <a:xfrm>
            <a:off x="952100" y="4599125"/>
            <a:ext cx="6304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URL (time)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9" name="Google Shape;179;p32"/>
          <p:cNvSpPr txBox="1"/>
          <p:nvPr/>
        </p:nvSpPr>
        <p:spPr>
          <a:xfrm>
            <a:off x="7375375" y="1268150"/>
            <a:ext cx="636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80" name="Google Shape;180;p32"/>
          <p:cNvSpPr txBox="1"/>
          <p:nvPr/>
        </p:nvSpPr>
        <p:spPr>
          <a:xfrm>
            <a:off x="6586025" y="864500"/>
            <a:ext cx="243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800">
                <a:solidFill>
                  <a:srgbClr val="FF0000"/>
                </a:solidFill>
              </a:rPr>
              <a:t>[Video Option 2]</a:t>
            </a:r>
            <a:endParaRPr b="1" i="1" sz="18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Networks Are Organized In Layers</a:t>
            </a:r>
            <a:endParaRPr/>
          </a:p>
        </p:txBody>
      </p:sp>
      <p:sp>
        <p:nvSpPr>
          <p:cNvPr id="186" name="Google Shape;18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7" name="Google Shape;187;p33"/>
          <p:cNvPicPr preferRelativeResize="0"/>
          <p:nvPr/>
        </p:nvPicPr>
        <p:blipFill>
          <a:blip r:embed="rId3">
            <a:alphaModFix/>
          </a:blip>
          <a:stretch>
            <a:fillRect/>
          </a:stretch>
        </p:blipFill>
        <p:spPr>
          <a:xfrm>
            <a:off x="1212525" y="1126203"/>
            <a:ext cx="6425526" cy="3073550"/>
          </a:xfrm>
          <a:prstGeom prst="rect">
            <a:avLst/>
          </a:prstGeom>
          <a:noFill/>
          <a:ln>
            <a:noFill/>
          </a:ln>
        </p:spPr>
      </p:pic>
      <p:sp>
        <p:nvSpPr>
          <p:cNvPr id="188" name="Google Shape;188;p33"/>
          <p:cNvSpPr txBox="1"/>
          <p:nvPr/>
        </p:nvSpPr>
        <p:spPr>
          <a:xfrm>
            <a:off x="812975"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Input</a:t>
            </a:r>
            <a:br>
              <a:rPr b="1" lang="en">
                <a:solidFill>
                  <a:srgbClr val="980000"/>
                </a:solidFill>
              </a:rPr>
            </a:br>
            <a:r>
              <a:rPr b="1" lang="en">
                <a:solidFill>
                  <a:srgbClr val="980000"/>
                </a:solidFill>
              </a:rPr>
              <a:t>Layer</a:t>
            </a:r>
            <a:endParaRPr b="1">
              <a:solidFill>
                <a:srgbClr val="980000"/>
              </a:solidFill>
            </a:endParaRPr>
          </a:p>
        </p:txBody>
      </p:sp>
      <p:sp>
        <p:nvSpPr>
          <p:cNvPr id="189" name="Google Shape;189;p33"/>
          <p:cNvSpPr txBox="1"/>
          <p:nvPr/>
        </p:nvSpPr>
        <p:spPr>
          <a:xfrm>
            <a:off x="3060360"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Hidden</a:t>
            </a:r>
            <a:br>
              <a:rPr b="1" lang="en">
                <a:solidFill>
                  <a:srgbClr val="980000"/>
                </a:solidFill>
              </a:rPr>
            </a:br>
            <a:r>
              <a:rPr b="1" lang="en">
                <a:solidFill>
                  <a:srgbClr val="980000"/>
                </a:solidFill>
              </a:rPr>
              <a:t>Layer</a:t>
            </a:r>
            <a:endParaRPr b="1">
              <a:solidFill>
                <a:srgbClr val="980000"/>
              </a:solidFill>
            </a:endParaRPr>
          </a:p>
        </p:txBody>
      </p:sp>
      <p:sp>
        <p:nvSpPr>
          <p:cNvPr id="190" name="Google Shape;190;p33"/>
          <p:cNvSpPr txBox="1"/>
          <p:nvPr/>
        </p:nvSpPr>
        <p:spPr>
          <a:xfrm>
            <a:off x="5422560"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Output</a:t>
            </a:r>
            <a:br>
              <a:rPr b="1" lang="en">
                <a:solidFill>
                  <a:srgbClr val="980000"/>
                </a:solidFill>
              </a:rPr>
            </a:br>
            <a:r>
              <a:rPr b="1" lang="en">
                <a:solidFill>
                  <a:srgbClr val="980000"/>
                </a:solidFill>
              </a:rPr>
              <a:t>Layer</a:t>
            </a:r>
            <a:endParaRPr b="1">
              <a:solidFill>
                <a:srgbClr val="98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Deep Neural Networks Have Many Layers</a:t>
            </a:r>
            <a:endParaRPr/>
          </a:p>
        </p:txBody>
      </p:sp>
      <p:sp>
        <p:nvSpPr>
          <p:cNvPr id="196" name="Google Shape;19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7" name="Google Shape;197;p34"/>
          <p:cNvPicPr preferRelativeResize="0"/>
          <p:nvPr/>
        </p:nvPicPr>
        <p:blipFill rotWithShape="1">
          <a:blip r:embed="rId3">
            <a:alphaModFix/>
          </a:blip>
          <a:srcRect b="0" l="0" r="0" t="11676"/>
          <a:stretch/>
        </p:blipFill>
        <p:spPr>
          <a:xfrm>
            <a:off x="1135600" y="1257125"/>
            <a:ext cx="6538120" cy="3467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Let’s focus on how one neuron learns</a:t>
            </a:r>
            <a:endParaRPr sz="1800"/>
          </a:p>
          <a:p>
            <a:pPr indent="0" lvl="0" marL="0" rtl="0" algn="ctr">
              <a:spcBef>
                <a:spcPts val="0"/>
              </a:spcBef>
              <a:spcAft>
                <a:spcPts val="0"/>
              </a:spcAft>
              <a:buNone/>
            </a:pPr>
            <a:r>
              <a:t/>
            </a:r>
            <a:endParaRPr/>
          </a:p>
        </p:txBody>
      </p:sp>
      <p:sp>
        <p:nvSpPr>
          <p:cNvPr id="203" name="Google Shape;20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to predict if you should pet an animal</a:t>
            </a:r>
            <a:endParaRPr/>
          </a:p>
        </p:txBody>
      </p:sp>
      <p:sp>
        <p:nvSpPr>
          <p:cNvPr id="209" name="Google Shape;20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36"/>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6"/>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6"/>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6"/>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6"/>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6"/>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6"/>
          <p:cNvSpPr txBox="1"/>
          <p:nvPr/>
        </p:nvSpPr>
        <p:spPr>
          <a:xfrm>
            <a:off x="3884800" y="1340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18" name="Google Shape;218;p36"/>
          <p:cNvSpPr txBox="1"/>
          <p:nvPr/>
        </p:nvSpPr>
        <p:spPr>
          <a:xfrm>
            <a:off x="3884800" y="1874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19" name="Google Shape;219;p36"/>
          <p:cNvSpPr txBox="1"/>
          <p:nvPr/>
        </p:nvSpPr>
        <p:spPr>
          <a:xfrm>
            <a:off x="3884800" y="24076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0" name="Google Shape;220;p36"/>
          <p:cNvSpPr txBox="1"/>
          <p:nvPr/>
        </p:nvSpPr>
        <p:spPr>
          <a:xfrm>
            <a:off x="3884800" y="29410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1" name="Google Shape;221;p36"/>
          <p:cNvSpPr txBox="1"/>
          <p:nvPr/>
        </p:nvSpPr>
        <p:spPr>
          <a:xfrm>
            <a:off x="3884800" y="34744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2" name="Google Shape;222;p36"/>
          <p:cNvSpPr txBox="1"/>
          <p:nvPr/>
        </p:nvSpPr>
        <p:spPr>
          <a:xfrm>
            <a:off x="3884800" y="4007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3" name="Google Shape;223;p36"/>
          <p:cNvSpPr txBox="1"/>
          <p:nvPr/>
        </p:nvSpPr>
        <p:spPr>
          <a:xfrm>
            <a:off x="3884800" y="4541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4" name="Google Shape;224;p36"/>
          <p:cNvSpPr txBox="1"/>
          <p:nvPr/>
        </p:nvSpPr>
        <p:spPr>
          <a:xfrm>
            <a:off x="5422375" y="1201750"/>
            <a:ext cx="3409800" cy="3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Start with a bunch of “experts”. This is our input layer.</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Some experts are good for predicting pettibility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But which are accurate?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Every expert starts out with 1 vote.</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dk1"/>
                </a:solidFill>
              </a:rPr>
              <a:t>Should I pet this tiger? (1)</a:t>
            </a:r>
            <a:endParaRPr/>
          </a:p>
        </p:txBody>
      </p:sp>
      <p:sp>
        <p:nvSpPr>
          <p:cNvPr id="230" name="Google Shape;230;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7"/>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txBox="1"/>
          <p:nvPr/>
        </p:nvSpPr>
        <p:spPr>
          <a:xfrm>
            <a:off x="3884800" y="1340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39" name="Google Shape;239;p37"/>
          <p:cNvSpPr txBox="1"/>
          <p:nvPr/>
        </p:nvSpPr>
        <p:spPr>
          <a:xfrm>
            <a:off x="3884800" y="1874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0" name="Google Shape;240;p37"/>
          <p:cNvSpPr txBox="1"/>
          <p:nvPr/>
        </p:nvSpPr>
        <p:spPr>
          <a:xfrm>
            <a:off x="3884800" y="24076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1" name="Google Shape;241;p37"/>
          <p:cNvSpPr txBox="1"/>
          <p:nvPr/>
        </p:nvSpPr>
        <p:spPr>
          <a:xfrm>
            <a:off x="3884800" y="29410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2" name="Google Shape;242;p37"/>
          <p:cNvSpPr txBox="1"/>
          <p:nvPr/>
        </p:nvSpPr>
        <p:spPr>
          <a:xfrm>
            <a:off x="3884800" y="34744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3" name="Google Shape;243;p37"/>
          <p:cNvSpPr txBox="1"/>
          <p:nvPr/>
        </p:nvSpPr>
        <p:spPr>
          <a:xfrm>
            <a:off x="3884800" y="4007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4" name="Google Shape;244;p37"/>
          <p:cNvSpPr txBox="1"/>
          <p:nvPr/>
        </p:nvSpPr>
        <p:spPr>
          <a:xfrm>
            <a:off x="3884800" y="4541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5" name="Google Shape;245;p37"/>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46" name="Google Shape;246;p37"/>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47" name="Google Shape;247;p37"/>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48" name="Google Shape;248;p37"/>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49" name="Google Shape;249;p37"/>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YES</a:t>
            </a:r>
            <a:endParaRPr/>
          </a:p>
        </p:txBody>
      </p:sp>
      <p:sp>
        <p:nvSpPr>
          <p:cNvPr id="250" name="Google Shape;250;p37"/>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251" name="Google Shape;251;p37"/>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252" name="Google Shape;252;p37"/>
          <p:cNvSpPr txBox="1"/>
          <p:nvPr/>
        </p:nvSpPr>
        <p:spPr>
          <a:xfrm>
            <a:off x="6635275" y="1564750"/>
            <a:ext cx="23859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4 votes      3 votes</a:t>
            </a:r>
            <a:endParaRPr sz="1800"/>
          </a:p>
        </p:txBody>
      </p:sp>
      <p:pic>
        <p:nvPicPr>
          <p:cNvPr id="253" name="Google Shape;253;p37"/>
          <p:cNvPicPr preferRelativeResize="0"/>
          <p:nvPr/>
        </p:nvPicPr>
        <p:blipFill>
          <a:blip r:embed="rId3">
            <a:alphaModFix/>
          </a:blip>
          <a:stretch>
            <a:fillRect/>
          </a:stretch>
        </p:blipFill>
        <p:spPr>
          <a:xfrm>
            <a:off x="468150" y="1340874"/>
            <a:ext cx="2112976" cy="3177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dk1"/>
                </a:solidFill>
              </a:rPr>
              <a:t>Should I pet this tiger? (1)</a:t>
            </a:r>
            <a:endParaRPr/>
          </a:p>
        </p:txBody>
      </p:sp>
      <p:sp>
        <p:nvSpPr>
          <p:cNvPr id="259" name="Google Shape;25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0" name="Google Shape;260;p38"/>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8"/>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8"/>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8"/>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8"/>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8"/>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8"/>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8"/>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268" name="Google Shape;268;p38"/>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69" name="Google Shape;269;p38"/>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70" name="Google Shape;270;p38"/>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71" name="Google Shape;271;p38"/>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272" name="Google Shape;272;p38"/>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0.9 votes</a:t>
            </a:r>
            <a:endParaRPr/>
          </a:p>
        </p:txBody>
      </p:sp>
      <p:sp>
        <p:nvSpPr>
          <p:cNvPr id="273" name="Google Shape;273;p38"/>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274" name="Google Shape;274;p38"/>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5" name="Google Shape;275;p38"/>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6" name="Google Shape;276;p38"/>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7" name="Google Shape;277;p38"/>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8" name="Google Shape;278;p38"/>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FF0000"/>
                </a:solidFill>
              </a:rPr>
              <a:t>YES</a:t>
            </a:r>
            <a:endParaRPr>
              <a:solidFill>
                <a:srgbClr val="FF0000"/>
              </a:solidFill>
            </a:endParaRPr>
          </a:p>
          <a:p>
            <a:pPr indent="0" lvl="0" marL="0" rtl="0" algn="ctr">
              <a:spcBef>
                <a:spcPts val="0"/>
              </a:spcBef>
              <a:spcAft>
                <a:spcPts val="0"/>
              </a:spcAft>
              <a:buNone/>
            </a:pPr>
            <a:r>
              <a:t/>
            </a:r>
            <a:endParaRPr>
              <a:solidFill>
                <a:srgbClr val="00BB00"/>
              </a:solidFill>
            </a:endParaRPr>
          </a:p>
        </p:txBody>
      </p:sp>
      <p:sp>
        <p:nvSpPr>
          <p:cNvPr id="279" name="Google Shape;279;p38"/>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280" name="Google Shape;280;p38"/>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281" name="Google Shape;281;p38"/>
          <p:cNvSpPr txBox="1"/>
          <p:nvPr/>
        </p:nvSpPr>
        <p:spPr>
          <a:xfrm>
            <a:off x="856425" y="4522200"/>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No!</a:t>
            </a:r>
            <a:endParaRPr b="1"/>
          </a:p>
        </p:txBody>
      </p:sp>
      <p:sp>
        <p:nvSpPr>
          <p:cNvPr id="282" name="Google Shape;282;p38"/>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b="1" lang="en">
                <a:solidFill>
                  <a:srgbClr val="38761D"/>
                </a:solidFill>
              </a:rPr>
              <a:t>correctly.</a:t>
            </a:r>
            <a:r>
              <a:rPr lang="en"/>
              <a:t> Subtract votes from the ones who got it </a:t>
            </a:r>
            <a:r>
              <a:rPr b="1" lang="en">
                <a:solidFill>
                  <a:srgbClr val="FF0000"/>
                </a:solidFill>
              </a:rPr>
              <a:t>wrong</a:t>
            </a:r>
            <a:r>
              <a:rPr lang="en"/>
              <a:t>.</a:t>
            </a:r>
            <a:endParaRPr/>
          </a:p>
        </p:txBody>
      </p:sp>
      <p:pic>
        <p:nvPicPr>
          <p:cNvPr id="283" name="Google Shape;283;p38"/>
          <p:cNvPicPr preferRelativeResize="0"/>
          <p:nvPr/>
        </p:nvPicPr>
        <p:blipFill rotWithShape="1">
          <a:blip r:embed="rId3">
            <a:alphaModFix/>
          </a:blip>
          <a:srcRect b="18843" l="12420" r="14730" t="16909"/>
          <a:stretch/>
        </p:blipFill>
        <p:spPr>
          <a:xfrm>
            <a:off x="5911900" y="3508178"/>
            <a:ext cx="320040" cy="288036"/>
          </a:xfrm>
          <a:prstGeom prst="rect">
            <a:avLst/>
          </a:prstGeom>
          <a:noFill/>
          <a:ln>
            <a:noFill/>
          </a:ln>
        </p:spPr>
      </p:pic>
      <p:pic>
        <p:nvPicPr>
          <p:cNvPr id="284" name="Google Shape;284;p38"/>
          <p:cNvPicPr preferRelativeResize="0"/>
          <p:nvPr/>
        </p:nvPicPr>
        <p:blipFill>
          <a:blip r:embed="rId4">
            <a:alphaModFix/>
          </a:blip>
          <a:stretch>
            <a:fillRect/>
          </a:stretch>
        </p:blipFill>
        <p:spPr>
          <a:xfrm>
            <a:off x="5915174" y="1338949"/>
            <a:ext cx="274320" cy="274320"/>
          </a:xfrm>
          <a:prstGeom prst="rect">
            <a:avLst/>
          </a:prstGeom>
          <a:noFill/>
          <a:ln>
            <a:noFill/>
          </a:ln>
        </p:spPr>
      </p:pic>
      <p:pic>
        <p:nvPicPr>
          <p:cNvPr id="285" name="Google Shape;285;p38"/>
          <p:cNvPicPr preferRelativeResize="0"/>
          <p:nvPr/>
        </p:nvPicPr>
        <p:blipFill>
          <a:blip r:embed="rId4">
            <a:alphaModFix/>
          </a:blip>
          <a:stretch>
            <a:fillRect/>
          </a:stretch>
        </p:blipFill>
        <p:spPr>
          <a:xfrm>
            <a:off x="5915174" y="1872349"/>
            <a:ext cx="274320" cy="274320"/>
          </a:xfrm>
          <a:prstGeom prst="rect">
            <a:avLst/>
          </a:prstGeom>
          <a:noFill/>
          <a:ln>
            <a:noFill/>
          </a:ln>
        </p:spPr>
      </p:pic>
      <p:pic>
        <p:nvPicPr>
          <p:cNvPr id="286" name="Google Shape;286;p38"/>
          <p:cNvPicPr preferRelativeResize="0"/>
          <p:nvPr/>
        </p:nvPicPr>
        <p:blipFill>
          <a:blip r:embed="rId4">
            <a:alphaModFix/>
          </a:blip>
          <a:stretch>
            <a:fillRect/>
          </a:stretch>
        </p:blipFill>
        <p:spPr>
          <a:xfrm>
            <a:off x="5915174" y="2345234"/>
            <a:ext cx="274320" cy="274320"/>
          </a:xfrm>
          <a:prstGeom prst="rect">
            <a:avLst/>
          </a:prstGeom>
          <a:noFill/>
          <a:ln>
            <a:noFill/>
          </a:ln>
        </p:spPr>
      </p:pic>
      <p:pic>
        <p:nvPicPr>
          <p:cNvPr id="287" name="Google Shape;287;p38"/>
          <p:cNvPicPr preferRelativeResize="0"/>
          <p:nvPr/>
        </p:nvPicPr>
        <p:blipFill>
          <a:blip r:embed="rId4">
            <a:alphaModFix/>
          </a:blip>
          <a:stretch>
            <a:fillRect/>
          </a:stretch>
        </p:blipFill>
        <p:spPr>
          <a:xfrm>
            <a:off x="5915174" y="2894318"/>
            <a:ext cx="274320" cy="274320"/>
          </a:xfrm>
          <a:prstGeom prst="rect">
            <a:avLst/>
          </a:prstGeom>
          <a:noFill/>
          <a:ln>
            <a:noFill/>
          </a:ln>
        </p:spPr>
      </p:pic>
      <p:pic>
        <p:nvPicPr>
          <p:cNvPr id="288" name="Google Shape;288;p38"/>
          <p:cNvPicPr preferRelativeResize="0"/>
          <p:nvPr/>
        </p:nvPicPr>
        <p:blipFill rotWithShape="1">
          <a:blip r:embed="rId3">
            <a:alphaModFix/>
          </a:blip>
          <a:srcRect b="18843" l="12420" r="14730" t="16909"/>
          <a:stretch/>
        </p:blipFill>
        <p:spPr>
          <a:xfrm>
            <a:off x="5911900" y="4041578"/>
            <a:ext cx="320040" cy="288036"/>
          </a:xfrm>
          <a:prstGeom prst="rect">
            <a:avLst/>
          </a:prstGeom>
          <a:noFill/>
          <a:ln>
            <a:noFill/>
          </a:ln>
        </p:spPr>
      </p:pic>
      <p:pic>
        <p:nvPicPr>
          <p:cNvPr id="289" name="Google Shape;289;p38"/>
          <p:cNvPicPr preferRelativeResize="0"/>
          <p:nvPr/>
        </p:nvPicPr>
        <p:blipFill rotWithShape="1">
          <a:blip r:embed="rId3">
            <a:alphaModFix/>
          </a:blip>
          <a:srcRect b="18843" l="12420" r="14730" t="16909"/>
          <a:stretch/>
        </p:blipFill>
        <p:spPr>
          <a:xfrm>
            <a:off x="5911900" y="4574978"/>
            <a:ext cx="320040" cy="288036"/>
          </a:xfrm>
          <a:prstGeom prst="rect">
            <a:avLst/>
          </a:prstGeom>
          <a:noFill/>
          <a:ln>
            <a:noFill/>
          </a:ln>
        </p:spPr>
      </p:pic>
      <p:pic>
        <p:nvPicPr>
          <p:cNvPr id="290" name="Google Shape;290;p38"/>
          <p:cNvPicPr preferRelativeResize="0"/>
          <p:nvPr/>
        </p:nvPicPr>
        <p:blipFill>
          <a:blip r:embed="rId5">
            <a:alphaModFix/>
          </a:blip>
          <a:stretch>
            <a:fillRect/>
          </a:stretch>
        </p:blipFill>
        <p:spPr>
          <a:xfrm>
            <a:off x="459462" y="1340874"/>
            <a:ext cx="2112976" cy="3177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dk1"/>
                </a:solidFill>
              </a:rPr>
              <a:t>Should I pet this Panda Bear? (1)</a:t>
            </a:r>
            <a:endParaRPr/>
          </a:p>
        </p:txBody>
      </p:sp>
      <p:sp>
        <p:nvSpPr>
          <p:cNvPr id="296" name="Google Shape;29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39"/>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9"/>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9"/>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9"/>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9"/>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9"/>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9"/>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9"/>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305" name="Google Shape;305;p39"/>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06" name="Google Shape;306;p39"/>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07" name="Google Shape;307;p39"/>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08" name="Google Shape;308;p39"/>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309" name="Google Shape;309;p39"/>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0.9 votes</a:t>
            </a:r>
            <a:endParaRPr/>
          </a:p>
        </p:txBody>
      </p:sp>
      <p:sp>
        <p:nvSpPr>
          <p:cNvPr id="310" name="Google Shape;310;p39"/>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311" name="Google Shape;311;p39"/>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12" name="Google Shape;312;p39"/>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13" name="Google Shape;313;p39"/>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14" name="Google Shape;314;p39"/>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15" name="Google Shape;315;p39"/>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a:p>
            <a:pPr indent="0" lvl="0" marL="0" rtl="0" algn="ctr">
              <a:spcBef>
                <a:spcPts val="0"/>
              </a:spcBef>
              <a:spcAft>
                <a:spcPts val="0"/>
              </a:spcAft>
              <a:buNone/>
            </a:pPr>
            <a:r>
              <a:t/>
            </a:r>
            <a:endParaRPr/>
          </a:p>
        </p:txBody>
      </p:sp>
      <p:sp>
        <p:nvSpPr>
          <p:cNvPr id="316" name="Google Shape;316;p39"/>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17" name="Google Shape;317;p39"/>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18" name="Google Shape;318;p39"/>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4.0 votes      3.1 votes</a:t>
            </a:r>
            <a:endParaRPr sz="1800"/>
          </a:p>
        </p:txBody>
      </p:sp>
      <p:pic>
        <p:nvPicPr>
          <p:cNvPr id="319" name="Google Shape;319;p39"/>
          <p:cNvPicPr preferRelativeResize="0"/>
          <p:nvPr/>
        </p:nvPicPr>
        <p:blipFill>
          <a:blip r:embed="rId3">
            <a:alphaModFix/>
          </a:blip>
          <a:stretch>
            <a:fillRect/>
          </a:stretch>
        </p:blipFill>
        <p:spPr>
          <a:xfrm>
            <a:off x="627450" y="1974125"/>
            <a:ext cx="1651200" cy="1424150"/>
          </a:xfrm>
          <a:prstGeom prst="rect">
            <a:avLst/>
          </a:prstGeom>
          <a:noFill/>
          <a:ln>
            <a:noFill/>
          </a:ln>
        </p:spPr>
      </p:pic>
      <p:pic>
        <p:nvPicPr>
          <p:cNvPr id="320" name="Google Shape;320;p39"/>
          <p:cNvPicPr preferRelativeResize="0"/>
          <p:nvPr/>
        </p:nvPicPr>
        <p:blipFill>
          <a:blip r:embed="rId4">
            <a:alphaModFix/>
          </a:blip>
          <a:stretch>
            <a:fillRect/>
          </a:stretch>
        </p:blipFill>
        <p:spPr>
          <a:xfrm>
            <a:off x="448923" y="1234925"/>
            <a:ext cx="2213401" cy="330634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dk1"/>
                </a:solidFill>
              </a:rPr>
              <a:t>Should I pet this Panda Bear? (1)</a:t>
            </a:r>
            <a:endParaRPr/>
          </a:p>
        </p:txBody>
      </p:sp>
      <p:sp>
        <p:nvSpPr>
          <p:cNvPr id="326" name="Google Shape;32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0"/>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0"/>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0"/>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0"/>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0"/>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0"/>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0"/>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0"/>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1.0 votes</a:t>
            </a:r>
            <a:endParaRPr/>
          </a:p>
        </p:txBody>
      </p:sp>
      <p:sp>
        <p:nvSpPr>
          <p:cNvPr id="335" name="Google Shape;335;p40"/>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36" name="Google Shape;336;p40"/>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37" name="Google Shape;337;p40"/>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38" name="Google Shape;338;p40"/>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39" name="Google Shape;339;p40"/>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 votes</a:t>
            </a:r>
            <a:endParaRPr/>
          </a:p>
        </p:txBody>
      </p:sp>
      <p:sp>
        <p:nvSpPr>
          <p:cNvPr id="340" name="Google Shape;340;p40"/>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341" name="Google Shape;341;p40"/>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2" name="Google Shape;342;p40"/>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3" name="Google Shape;343;p40"/>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344" name="Google Shape;344;p40"/>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345" name="Google Shape;345;p40"/>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346" name="Google Shape;346;p40"/>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7" name="Google Shape;347;p40"/>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8" name="Google Shape;348;p40"/>
          <p:cNvSpPr txBox="1"/>
          <p:nvPr/>
        </p:nvSpPr>
        <p:spPr>
          <a:xfrm>
            <a:off x="716400" y="4552075"/>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No</a:t>
            </a:r>
            <a:r>
              <a:rPr b="1" lang="en"/>
              <a:t>!</a:t>
            </a:r>
            <a:endParaRPr b="1"/>
          </a:p>
        </p:txBody>
      </p:sp>
      <p:sp>
        <p:nvSpPr>
          <p:cNvPr id="349" name="Google Shape;349;p40"/>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350" name="Google Shape;350;p40"/>
          <p:cNvPicPr preferRelativeResize="0"/>
          <p:nvPr/>
        </p:nvPicPr>
        <p:blipFill>
          <a:blip r:embed="rId3">
            <a:alphaModFix/>
          </a:blip>
          <a:stretch>
            <a:fillRect/>
          </a:stretch>
        </p:blipFill>
        <p:spPr>
          <a:xfrm>
            <a:off x="5915174" y="3500704"/>
            <a:ext cx="274320" cy="274519"/>
          </a:xfrm>
          <a:prstGeom prst="rect">
            <a:avLst/>
          </a:prstGeom>
          <a:noFill/>
          <a:ln>
            <a:noFill/>
          </a:ln>
        </p:spPr>
      </p:pic>
      <p:pic>
        <p:nvPicPr>
          <p:cNvPr id="351" name="Google Shape;351;p40"/>
          <p:cNvPicPr preferRelativeResize="0"/>
          <p:nvPr/>
        </p:nvPicPr>
        <p:blipFill rotWithShape="1">
          <a:blip r:embed="rId4">
            <a:alphaModFix/>
          </a:blip>
          <a:srcRect b="18843" l="12420" r="14730" t="16909"/>
          <a:stretch/>
        </p:blipFill>
        <p:spPr>
          <a:xfrm>
            <a:off x="5837625" y="1404900"/>
            <a:ext cx="320040" cy="282702"/>
          </a:xfrm>
          <a:prstGeom prst="rect">
            <a:avLst/>
          </a:prstGeom>
          <a:noFill/>
          <a:ln>
            <a:noFill/>
          </a:ln>
        </p:spPr>
      </p:pic>
      <p:pic>
        <p:nvPicPr>
          <p:cNvPr id="352" name="Google Shape;352;p40"/>
          <p:cNvPicPr preferRelativeResize="0"/>
          <p:nvPr/>
        </p:nvPicPr>
        <p:blipFill>
          <a:blip r:embed="rId3">
            <a:alphaModFix/>
          </a:blip>
          <a:stretch>
            <a:fillRect/>
          </a:stretch>
        </p:blipFill>
        <p:spPr>
          <a:xfrm>
            <a:off x="5915174" y="2405749"/>
            <a:ext cx="274320" cy="274519"/>
          </a:xfrm>
          <a:prstGeom prst="rect">
            <a:avLst/>
          </a:prstGeom>
          <a:noFill/>
          <a:ln>
            <a:noFill/>
          </a:ln>
        </p:spPr>
      </p:pic>
      <p:pic>
        <p:nvPicPr>
          <p:cNvPr id="353" name="Google Shape;353;p40"/>
          <p:cNvPicPr preferRelativeResize="0"/>
          <p:nvPr/>
        </p:nvPicPr>
        <p:blipFill>
          <a:blip r:embed="rId3">
            <a:alphaModFix/>
          </a:blip>
          <a:stretch>
            <a:fillRect/>
          </a:stretch>
        </p:blipFill>
        <p:spPr>
          <a:xfrm>
            <a:off x="5915174" y="2953227"/>
            <a:ext cx="274320" cy="274519"/>
          </a:xfrm>
          <a:prstGeom prst="rect">
            <a:avLst/>
          </a:prstGeom>
          <a:noFill/>
          <a:ln>
            <a:noFill/>
          </a:ln>
        </p:spPr>
      </p:pic>
      <p:pic>
        <p:nvPicPr>
          <p:cNvPr id="354" name="Google Shape;354;p40"/>
          <p:cNvPicPr preferRelativeResize="0"/>
          <p:nvPr/>
        </p:nvPicPr>
        <p:blipFill rotWithShape="1">
          <a:blip r:embed="rId4">
            <a:alphaModFix/>
          </a:blip>
          <a:srcRect b="18843" l="12420" r="14730" t="16909"/>
          <a:stretch/>
        </p:blipFill>
        <p:spPr>
          <a:xfrm>
            <a:off x="5837625" y="1938300"/>
            <a:ext cx="320040" cy="282702"/>
          </a:xfrm>
          <a:prstGeom prst="rect">
            <a:avLst/>
          </a:prstGeom>
          <a:noFill/>
          <a:ln>
            <a:noFill/>
          </a:ln>
        </p:spPr>
      </p:pic>
      <p:pic>
        <p:nvPicPr>
          <p:cNvPr id="355" name="Google Shape;355;p40"/>
          <p:cNvPicPr preferRelativeResize="0"/>
          <p:nvPr/>
        </p:nvPicPr>
        <p:blipFill rotWithShape="1">
          <a:blip r:embed="rId4">
            <a:alphaModFix/>
          </a:blip>
          <a:srcRect b="18843" l="12420" r="14730" t="16909"/>
          <a:stretch/>
        </p:blipFill>
        <p:spPr>
          <a:xfrm>
            <a:off x="5837625" y="4074122"/>
            <a:ext cx="320040" cy="282702"/>
          </a:xfrm>
          <a:prstGeom prst="rect">
            <a:avLst/>
          </a:prstGeom>
          <a:noFill/>
          <a:ln>
            <a:noFill/>
          </a:ln>
        </p:spPr>
      </p:pic>
      <p:pic>
        <p:nvPicPr>
          <p:cNvPr id="356" name="Google Shape;356;p40"/>
          <p:cNvPicPr preferRelativeResize="0"/>
          <p:nvPr/>
        </p:nvPicPr>
        <p:blipFill rotWithShape="1">
          <a:blip r:embed="rId4">
            <a:alphaModFix/>
          </a:blip>
          <a:srcRect b="18843" l="12420" r="14730" t="16909"/>
          <a:stretch/>
        </p:blipFill>
        <p:spPr>
          <a:xfrm>
            <a:off x="5837625" y="4607522"/>
            <a:ext cx="320040" cy="282702"/>
          </a:xfrm>
          <a:prstGeom prst="rect">
            <a:avLst/>
          </a:prstGeom>
          <a:noFill/>
          <a:ln>
            <a:noFill/>
          </a:ln>
        </p:spPr>
      </p:pic>
      <p:pic>
        <p:nvPicPr>
          <p:cNvPr id="357" name="Google Shape;357;p40"/>
          <p:cNvPicPr preferRelativeResize="0"/>
          <p:nvPr/>
        </p:nvPicPr>
        <p:blipFill>
          <a:blip r:embed="rId5">
            <a:alphaModFix/>
          </a:blip>
          <a:stretch>
            <a:fillRect/>
          </a:stretch>
        </p:blipFill>
        <p:spPr>
          <a:xfrm>
            <a:off x="447448" y="1234925"/>
            <a:ext cx="2213401" cy="33063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dk1"/>
                </a:solidFill>
              </a:rPr>
              <a:t>Should I pet this cool Raccoon? (1)</a:t>
            </a:r>
            <a:endParaRPr/>
          </a:p>
        </p:txBody>
      </p:sp>
      <p:sp>
        <p:nvSpPr>
          <p:cNvPr id="363" name="Google Shape;36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41"/>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1"/>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1"/>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1"/>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1"/>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1"/>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1"/>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1"/>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1.0 votes</a:t>
            </a:r>
            <a:endParaRPr/>
          </a:p>
        </p:txBody>
      </p:sp>
      <p:sp>
        <p:nvSpPr>
          <p:cNvPr id="372" name="Google Shape;372;p41"/>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73" name="Google Shape;373;p41"/>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74" name="Google Shape;374;p41"/>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75" name="Google Shape;375;p41"/>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76" name="Google Shape;376;p41"/>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 votes</a:t>
            </a:r>
            <a:endParaRPr/>
          </a:p>
        </p:txBody>
      </p:sp>
      <p:sp>
        <p:nvSpPr>
          <p:cNvPr id="377" name="Google Shape;377;p41"/>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378" name="Google Shape;378;p41"/>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79" name="Google Shape;379;p41"/>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80" name="Google Shape;380;p41"/>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81" name="Google Shape;381;p41"/>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82" name="Google Shape;382;p41"/>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a:p>
            <a:pPr indent="0" lvl="0" marL="0" rtl="0" algn="ctr">
              <a:spcBef>
                <a:spcPts val="0"/>
              </a:spcBef>
              <a:spcAft>
                <a:spcPts val="0"/>
              </a:spcAft>
              <a:buNone/>
            </a:pPr>
            <a:r>
              <a:t/>
            </a:r>
            <a:endParaRPr/>
          </a:p>
        </p:txBody>
      </p:sp>
      <p:sp>
        <p:nvSpPr>
          <p:cNvPr id="383" name="Google Shape;383;p41"/>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84" name="Google Shape;384;p41"/>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85" name="Google Shape;385;p41"/>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5.2 votes      1.8 votes</a:t>
            </a:r>
            <a:endParaRPr sz="1800"/>
          </a:p>
        </p:txBody>
      </p:sp>
      <p:pic>
        <p:nvPicPr>
          <p:cNvPr id="386" name="Google Shape;386;p41"/>
          <p:cNvPicPr preferRelativeResize="0"/>
          <p:nvPr/>
        </p:nvPicPr>
        <p:blipFill>
          <a:blip r:embed="rId3">
            <a:alphaModFix/>
          </a:blip>
          <a:stretch>
            <a:fillRect/>
          </a:stretch>
        </p:blipFill>
        <p:spPr>
          <a:xfrm>
            <a:off x="311700" y="1217225"/>
            <a:ext cx="2556749" cy="2978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dk1"/>
                </a:solidFill>
              </a:rPr>
              <a:t>Should I pet this cool Raccoon? (1)</a:t>
            </a:r>
            <a:endParaRPr/>
          </a:p>
        </p:txBody>
      </p:sp>
      <p:sp>
        <p:nvSpPr>
          <p:cNvPr id="392" name="Google Shape;39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2"/>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2"/>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2"/>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2"/>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2"/>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2"/>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2"/>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401" name="Google Shape;401;p42"/>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02" name="Google Shape;402;p42"/>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03" name="Google Shape;403;p42"/>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04" name="Google Shape;404;p42"/>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405" name="Google Shape;405;p42"/>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0.7 votes</a:t>
            </a:r>
            <a:endParaRPr/>
          </a:p>
        </p:txBody>
      </p:sp>
      <p:sp>
        <p:nvSpPr>
          <p:cNvPr id="406" name="Google Shape;406;p42"/>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07" name="Google Shape;407;p42"/>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08" name="Google Shape;408;p42"/>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409" name="Google Shape;409;p42"/>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10" name="Google Shape;410;p42"/>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11" name="Google Shape;411;p42"/>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412" name="Google Shape;412;p42"/>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413" name="Google Shape;413;p42"/>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14" name="Google Shape;414;p42"/>
          <p:cNvSpPr txBox="1"/>
          <p:nvPr/>
        </p:nvSpPr>
        <p:spPr>
          <a:xfrm>
            <a:off x="849150" y="4322050"/>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No!</a:t>
            </a:r>
            <a:endParaRPr b="1"/>
          </a:p>
        </p:txBody>
      </p:sp>
      <p:sp>
        <p:nvSpPr>
          <p:cNvPr id="415" name="Google Shape;415;p42"/>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416" name="Google Shape;416;p42"/>
          <p:cNvPicPr preferRelativeResize="0"/>
          <p:nvPr/>
        </p:nvPicPr>
        <p:blipFill>
          <a:blip r:embed="rId3">
            <a:alphaModFix/>
          </a:blip>
          <a:stretch>
            <a:fillRect/>
          </a:stretch>
        </p:blipFill>
        <p:spPr>
          <a:xfrm>
            <a:off x="5915174" y="3504813"/>
            <a:ext cx="274320" cy="274573"/>
          </a:xfrm>
          <a:prstGeom prst="rect">
            <a:avLst/>
          </a:prstGeom>
          <a:noFill/>
          <a:ln>
            <a:noFill/>
          </a:ln>
        </p:spPr>
      </p:pic>
      <p:pic>
        <p:nvPicPr>
          <p:cNvPr id="417" name="Google Shape;417;p42"/>
          <p:cNvPicPr preferRelativeResize="0"/>
          <p:nvPr/>
        </p:nvPicPr>
        <p:blipFill rotWithShape="1">
          <a:blip r:embed="rId4">
            <a:alphaModFix/>
          </a:blip>
          <a:srcRect b="18843" l="12420" r="14730" t="16909"/>
          <a:stretch/>
        </p:blipFill>
        <p:spPr>
          <a:xfrm>
            <a:off x="5835700" y="4039356"/>
            <a:ext cx="320040" cy="282702"/>
          </a:xfrm>
          <a:prstGeom prst="rect">
            <a:avLst/>
          </a:prstGeom>
          <a:noFill/>
          <a:ln>
            <a:noFill/>
          </a:ln>
        </p:spPr>
      </p:pic>
      <p:pic>
        <p:nvPicPr>
          <p:cNvPr id="418" name="Google Shape;418;p42"/>
          <p:cNvPicPr preferRelativeResize="0"/>
          <p:nvPr/>
        </p:nvPicPr>
        <p:blipFill>
          <a:blip r:embed="rId3">
            <a:alphaModFix/>
          </a:blip>
          <a:stretch>
            <a:fillRect/>
          </a:stretch>
        </p:blipFill>
        <p:spPr>
          <a:xfrm>
            <a:off x="5915174" y="2409732"/>
            <a:ext cx="274320" cy="274573"/>
          </a:xfrm>
          <a:prstGeom prst="rect">
            <a:avLst/>
          </a:prstGeom>
          <a:noFill/>
          <a:ln>
            <a:noFill/>
          </a:ln>
        </p:spPr>
      </p:pic>
      <p:pic>
        <p:nvPicPr>
          <p:cNvPr id="419" name="Google Shape;419;p42"/>
          <p:cNvPicPr preferRelativeResize="0"/>
          <p:nvPr/>
        </p:nvPicPr>
        <p:blipFill>
          <a:blip r:embed="rId3">
            <a:alphaModFix/>
          </a:blip>
          <a:stretch>
            <a:fillRect/>
          </a:stretch>
        </p:blipFill>
        <p:spPr>
          <a:xfrm>
            <a:off x="5915174" y="2957272"/>
            <a:ext cx="274320" cy="274573"/>
          </a:xfrm>
          <a:prstGeom prst="rect">
            <a:avLst/>
          </a:prstGeom>
          <a:noFill/>
          <a:ln>
            <a:noFill/>
          </a:ln>
        </p:spPr>
      </p:pic>
      <p:pic>
        <p:nvPicPr>
          <p:cNvPr id="420" name="Google Shape;420;p42"/>
          <p:cNvPicPr preferRelativeResize="0"/>
          <p:nvPr/>
        </p:nvPicPr>
        <p:blipFill rotWithShape="1">
          <a:blip r:embed="rId4">
            <a:alphaModFix/>
          </a:blip>
          <a:srcRect b="18843" l="12420" r="14730" t="16909"/>
          <a:stretch/>
        </p:blipFill>
        <p:spPr>
          <a:xfrm>
            <a:off x="5837625" y="1893469"/>
            <a:ext cx="320040" cy="282702"/>
          </a:xfrm>
          <a:prstGeom prst="rect">
            <a:avLst/>
          </a:prstGeom>
          <a:noFill/>
          <a:ln>
            <a:noFill/>
          </a:ln>
        </p:spPr>
      </p:pic>
      <p:pic>
        <p:nvPicPr>
          <p:cNvPr id="421" name="Google Shape;421;p42"/>
          <p:cNvPicPr preferRelativeResize="0"/>
          <p:nvPr/>
        </p:nvPicPr>
        <p:blipFill>
          <a:blip r:embed="rId3">
            <a:alphaModFix/>
          </a:blip>
          <a:stretch>
            <a:fillRect/>
          </a:stretch>
        </p:blipFill>
        <p:spPr>
          <a:xfrm>
            <a:off x="5915174" y="4546449"/>
            <a:ext cx="274320" cy="274573"/>
          </a:xfrm>
          <a:prstGeom prst="rect">
            <a:avLst/>
          </a:prstGeom>
          <a:noFill/>
          <a:ln>
            <a:noFill/>
          </a:ln>
        </p:spPr>
      </p:pic>
      <p:pic>
        <p:nvPicPr>
          <p:cNvPr id="422" name="Google Shape;422;p42"/>
          <p:cNvPicPr preferRelativeResize="0"/>
          <p:nvPr/>
        </p:nvPicPr>
        <p:blipFill>
          <a:blip r:embed="rId3">
            <a:alphaModFix/>
          </a:blip>
          <a:stretch>
            <a:fillRect/>
          </a:stretch>
        </p:blipFill>
        <p:spPr>
          <a:xfrm>
            <a:off x="5915174" y="1338949"/>
            <a:ext cx="274320" cy="274573"/>
          </a:xfrm>
          <a:prstGeom prst="rect">
            <a:avLst/>
          </a:prstGeom>
          <a:noFill/>
          <a:ln>
            <a:noFill/>
          </a:ln>
        </p:spPr>
      </p:pic>
      <p:pic>
        <p:nvPicPr>
          <p:cNvPr id="423" name="Google Shape;423;p42"/>
          <p:cNvPicPr preferRelativeResize="0"/>
          <p:nvPr/>
        </p:nvPicPr>
        <p:blipFill>
          <a:blip r:embed="rId5">
            <a:alphaModFix/>
          </a:blip>
          <a:stretch>
            <a:fillRect/>
          </a:stretch>
        </p:blipFill>
        <p:spPr>
          <a:xfrm>
            <a:off x="291350" y="1237559"/>
            <a:ext cx="2587400" cy="301391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3"/>
          <p:cNvSpPr txBox="1"/>
          <p:nvPr>
            <p:ph type="title"/>
          </p:nvPr>
        </p:nvSpPr>
        <p:spPr>
          <a:xfrm>
            <a:off x="311700" y="483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dk1"/>
                </a:solidFill>
              </a:rPr>
              <a:t>Should I pet this dog? (1)</a:t>
            </a:r>
            <a:endParaRPr/>
          </a:p>
        </p:txBody>
      </p:sp>
      <p:sp>
        <p:nvSpPr>
          <p:cNvPr id="429" name="Google Shape;429;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43"/>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3"/>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3"/>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3"/>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3"/>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3"/>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3"/>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3"/>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438" name="Google Shape;438;p43"/>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39" name="Google Shape;439;p43"/>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40" name="Google Shape;440;p43"/>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41" name="Google Shape;441;p43"/>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442" name="Google Shape;442;p43"/>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0.7 votes</a:t>
            </a:r>
            <a:endParaRPr/>
          </a:p>
        </p:txBody>
      </p:sp>
      <p:sp>
        <p:nvSpPr>
          <p:cNvPr id="443" name="Google Shape;443;p43"/>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44" name="Google Shape;444;p43"/>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45" name="Google Shape;445;p43"/>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446" name="Google Shape;446;p43"/>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47" name="Google Shape;447;p43"/>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48" name="Google Shape;448;p43"/>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a:p>
            <a:pPr indent="0" lvl="0" marL="0" rtl="0" algn="ctr">
              <a:spcBef>
                <a:spcPts val="0"/>
              </a:spcBef>
              <a:spcAft>
                <a:spcPts val="0"/>
              </a:spcAft>
              <a:buNone/>
            </a:pPr>
            <a:r>
              <a:t/>
            </a:r>
            <a:endParaRPr/>
          </a:p>
        </p:txBody>
      </p:sp>
      <p:sp>
        <p:nvSpPr>
          <p:cNvPr id="449" name="Google Shape;449;p43"/>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450" name="Google Shape;450;p43"/>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451" name="Google Shape;451;p43"/>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2.5 votes      4.8 votes</a:t>
            </a:r>
            <a:endParaRPr sz="1800"/>
          </a:p>
        </p:txBody>
      </p:sp>
      <p:pic>
        <p:nvPicPr>
          <p:cNvPr id="452" name="Google Shape;452;p43"/>
          <p:cNvPicPr preferRelativeResize="0"/>
          <p:nvPr/>
        </p:nvPicPr>
        <p:blipFill>
          <a:blip r:embed="rId3">
            <a:alphaModFix/>
          </a:blip>
          <a:stretch>
            <a:fillRect/>
          </a:stretch>
        </p:blipFill>
        <p:spPr>
          <a:xfrm>
            <a:off x="139675" y="1644650"/>
            <a:ext cx="2880174" cy="191964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Should</a:t>
            </a:r>
            <a:r>
              <a:rPr lang="en">
                <a:solidFill>
                  <a:schemeClr val="dk1"/>
                </a:solidFill>
              </a:rPr>
              <a:t> I pet this dog?</a:t>
            </a:r>
            <a:r>
              <a:rPr lang="en">
                <a:solidFill>
                  <a:schemeClr val="dk1"/>
                </a:solidFill>
              </a:rPr>
              <a:t> (1)</a:t>
            </a:r>
            <a:endParaRPr/>
          </a:p>
        </p:txBody>
      </p:sp>
      <p:sp>
        <p:nvSpPr>
          <p:cNvPr id="458" name="Google Shape;458;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44"/>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4"/>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4"/>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4"/>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4"/>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4"/>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4"/>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4"/>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 votes</a:t>
            </a:r>
            <a:endParaRPr/>
          </a:p>
        </p:txBody>
      </p:sp>
      <p:sp>
        <p:nvSpPr>
          <p:cNvPr id="467" name="Google Shape;467;p44"/>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468" name="Google Shape;468;p44"/>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1.4 votes</a:t>
            </a:r>
            <a:endParaRPr>
              <a:solidFill>
                <a:schemeClr val="dk1"/>
              </a:solidFill>
            </a:endParaRPr>
          </a:p>
          <a:p>
            <a:pPr indent="0" lvl="0" marL="0" rtl="0" algn="l">
              <a:spcBef>
                <a:spcPts val="0"/>
              </a:spcBef>
              <a:spcAft>
                <a:spcPts val="0"/>
              </a:spcAft>
              <a:buNone/>
            </a:pPr>
            <a:r>
              <a:t/>
            </a:r>
            <a:endParaRPr/>
          </a:p>
        </p:txBody>
      </p:sp>
      <p:sp>
        <p:nvSpPr>
          <p:cNvPr id="469" name="Google Shape;469;p44"/>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1.4 votes</a:t>
            </a:r>
            <a:endParaRPr>
              <a:solidFill>
                <a:schemeClr val="dk1"/>
              </a:solidFill>
            </a:endParaRPr>
          </a:p>
          <a:p>
            <a:pPr indent="0" lvl="0" marL="0" rtl="0" algn="l">
              <a:spcBef>
                <a:spcPts val="0"/>
              </a:spcBef>
              <a:spcAft>
                <a:spcPts val="0"/>
              </a:spcAft>
              <a:buNone/>
            </a:pPr>
            <a:r>
              <a:t/>
            </a:r>
            <a:endParaRPr/>
          </a:p>
        </p:txBody>
      </p:sp>
      <p:sp>
        <p:nvSpPr>
          <p:cNvPr id="470" name="Google Shape;470;p44"/>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471" name="Google Shape;471;p44"/>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0.6 votes</a:t>
            </a:r>
            <a:endParaRPr/>
          </a:p>
        </p:txBody>
      </p:sp>
      <p:sp>
        <p:nvSpPr>
          <p:cNvPr id="472" name="Google Shape;472;p44"/>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473" name="Google Shape;473;p44"/>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74" name="Google Shape;474;p44"/>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75" name="Google Shape;475;p44"/>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76" name="Google Shape;476;p44"/>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77" name="Google Shape;477;p44"/>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478" name="Google Shape;478;p44"/>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79" name="Google Shape;479;p44"/>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80" name="Google Shape;480;p44"/>
          <p:cNvSpPr txBox="1"/>
          <p:nvPr/>
        </p:nvSpPr>
        <p:spPr>
          <a:xfrm>
            <a:off x="843038" y="3734475"/>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Yes</a:t>
            </a:r>
            <a:r>
              <a:rPr b="1" lang="en"/>
              <a:t>!</a:t>
            </a:r>
            <a:endParaRPr b="1"/>
          </a:p>
        </p:txBody>
      </p:sp>
      <p:sp>
        <p:nvSpPr>
          <p:cNvPr id="481" name="Google Shape;481;p44"/>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482" name="Google Shape;482;p44"/>
          <p:cNvPicPr preferRelativeResize="0"/>
          <p:nvPr/>
        </p:nvPicPr>
        <p:blipFill>
          <a:blip r:embed="rId3">
            <a:alphaModFix/>
          </a:blip>
          <a:stretch>
            <a:fillRect/>
          </a:stretch>
        </p:blipFill>
        <p:spPr>
          <a:xfrm>
            <a:off x="5915174" y="3459906"/>
            <a:ext cx="274320" cy="274559"/>
          </a:xfrm>
          <a:prstGeom prst="rect">
            <a:avLst/>
          </a:prstGeom>
          <a:noFill/>
          <a:ln>
            <a:noFill/>
          </a:ln>
        </p:spPr>
      </p:pic>
      <p:pic>
        <p:nvPicPr>
          <p:cNvPr id="483" name="Google Shape;483;p44"/>
          <p:cNvPicPr preferRelativeResize="0"/>
          <p:nvPr/>
        </p:nvPicPr>
        <p:blipFill rotWithShape="1">
          <a:blip r:embed="rId4">
            <a:alphaModFix/>
          </a:blip>
          <a:srcRect b="18843" l="12420" r="14730" t="16909"/>
          <a:stretch/>
        </p:blipFill>
        <p:spPr>
          <a:xfrm>
            <a:off x="5899182" y="4056143"/>
            <a:ext cx="318921" cy="283207"/>
          </a:xfrm>
          <a:prstGeom prst="rect">
            <a:avLst/>
          </a:prstGeom>
          <a:noFill/>
          <a:ln>
            <a:noFill/>
          </a:ln>
        </p:spPr>
      </p:pic>
      <p:pic>
        <p:nvPicPr>
          <p:cNvPr id="484" name="Google Shape;484;p44"/>
          <p:cNvPicPr preferRelativeResize="0"/>
          <p:nvPr/>
        </p:nvPicPr>
        <p:blipFill>
          <a:blip r:embed="rId3">
            <a:alphaModFix/>
          </a:blip>
          <a:stretch>
            <a:fillRect/>
          </a:stretch>
        </p:blipFill>
        <p:spPr>
          <a:xfrm>
            <a:off x="5915174" y="2441059"/>
            <a:ext cx="274320" cy="274559"/>
          </a:xfrm>
          <a:prstGeom prst="rect">
            <a:avLst/>
          </a:prstGeom>
          <a:noFill/>
          <a:ln>
            <a:noFill/>
          </a:ln>
        </p:spPr>
      </p:pic>
      <p:pic>
        <p:nvPicPr>
          <p:cNvPr id="485" name="Google Shape;485;p44"/>
          <p:cNvPicPr preferRelativeResize="0"/>
          <p:nvPr/>
        </p:nvPicPr>
        <p:blipFill>
          <a:blip r:embed="rId3">
            <a:alphaModFix/>
          </a:blip>
          <a:stretch>
            <a:fillRect/>
          </a:stretch>
        </p:blipFill>
        <p:spPr>
          <a:xfrm>
            <a:off x="5915174" y="2912382"/>
            <a:ext cx="274320" cy="274559"/>
          </a:xfrm>
          <a:prstGeom prst="rect">
            <a:avLst/>
          </a:prstGeom>
          <a:noFill/>
          <a:ln>
            <a:noFill/>
          </a:ln>
        </p:spPr>
      </p:pic>
      <p:pic>
        <p:nvPicPr>
          <p:cNvPr id="486" name="Google Shape;486;p44"/>
          <p:cNvPicPr preferRelativeResize="0"/>
          <p:nvPr/>
        </p:nvPicPr>
        <p:blipFill rotWithShape="1">
          <a:blip r:embed="rId4">
            <a:alphaModFix/>
          </a:blip>
          <a:srcRect b="18843" l="12420" r="14730" t="16909"/>
          <a:stretch/>
        </p:blipFill>
        <p:spPr>
          <a:xfrm>
            <a:off x="5899182" y="1925688"/>
            <a:ext cx="318921" cy="283208"/>
          </a:xfrm>
          <a:prstGeom prst="rect">
            <a:avLst/>
          </a:prstGeom>
          <a:noFill/>
          <a:ln>
            <a:noFill/>
          </a:ln>
        </p:spPr>
      </p:pic>
      <p:pic>
        <p:nvPicPr>
          <p:cNvPr id="487" name="Google Shape;487;p44"/>
          <p:cNvPicPr preferRelativeResize="0"/>
          <p:nvPr/>
        </p:nvPicPr>
        <p:blipFill>
          <a:blip r:embed="rId3">
            <a:alphaModFix/>
          </a:blip>
          <a:stretch>
            <a:fillRect/>
          </a:stretch>
        </p:blipFill>
        <p:spPr>
          <a:xfrm>
            <a:off x="5915174" y="1338949"/>
            <a:ext cx="274320" cy="274559"/>
          </a:xfrm>
          <a:prstGeom prst="rect">
            <a:avLst/>
          </a:prstGeom>
          <a:noFill/>
          <a:ln>
            <a:noFill/>
          </a:ln>
        </p:spPr>
      </p:pic>
      <p:pic>
        <p:nvPicPr>
          <p:cNvPr id="488" name="Google Shape;488;p44"/>
          <p:cNvPicPr preferRelativeResize="0"/>
          <p:nvPr/>
        </p:nvPicPr>
        <p:blipFill rotWithShape="1">
          <a:blip r:embed="rId4">
            <a:alphaModFix/>
          </a:blip>
          <a:srcRect b="18843" l="12420" r="14730" t="16909"/>
          <a:stretch/>
        </p:blipFill>
        <p:spPr>
          <a:xfrm>
            <a:off x="5899182" y="4565323"/>
            <a:ext cx="318921" cy="283207"/>
          </a:xfrm>
          <a:prstGeom prst="rect">
            <a:avLst/>
          </a:prstGeom>
          <a:noFill/>
          <a:ln>
            <a:noFill/>
          </a:ln>
        </p:spPr>
      </p:pic>
      <p:pic>
        <p:nvPicPr>
          <p:cNvPr id="489" name="Google Shape;489;p44"/>
          <p:cNvPicPr preferRelativeResize="0"/>
          <p:nvPr/>
        </p:nvPicPr>
        <p:blipFill>
          <a:blip r:embed="rId5">
            <a:alphaModFix/>
          </a:blip>
          <a:stretch>
            <a:fillRect/>
          </a:stretch>
        </p:blipFill>
        <p:spPr>
          <a:xfrm>
            <a:off x="138850" y="1734475"/>
            <a:ext cx="2880174" cy="19196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Turning </a:t>
            </a:r>
            <a:r>
              <a:rPr lang="en"/>
              <a:t>our pettable animal predictor into a neural network</a:t>
            </a:r>
            <a:endParaRPr/>
          </a:p>
        </p:txBody>
      </p:sp>
      <p:sp>
        <p:nvSpPr>
          <p:cNvPr id="495" name="Google Shape;49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45"/>
          <p:cNvSpPr/>
          <p:nvPr/>
        </p:nvSpPr>
        <p:spPr>
          <a:xfrm>
            <a:off x="18895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5"/>
          <p:cNvSpPr/>
          <p:nvPr/>
        </p:nvSpPr>
        <p:spPr>
          <a:xfrm>
            <a:off x="18895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5"/>
          <p:cNvSpPr/>
          <p:nvPr/>
        </p:nvSpPr>
        <p:spPr>
          <a:xfrm>
            <a:off x="18895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5"/>
          <p:cNvSpPr/>
          <p:nvPr/>
        </p:nvSpPr>
        <p:spPr>
          <a:xfrm>
            <a:off x="18895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5"/>
          <p:cNvSpPr/>
          <p:nvPr/>
        </p:nvSpPr>
        <p:spPr>
          <a:xfrm>
            <a:off x="18895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5"/>
          <p:cNvSpPr/>
          <p:nvPr/>
        </p:nvSpPr>
        <p:spPr>
          <a:xfrm>
            <a:off x="18895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5"/>
          <p:cNvSpPr/>
          <p:nvPr/>
        </p:nvSpPr>
        <p:spPr>
          <a:xfrm>
            <a:off x="18895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5"/>
          <p:cNvSpPr/>
          <p:nvPr/>
        </p:nvSpPr>
        <p:spPr>
          <a:xfrm>
            <a:off x="4656725" y="2451175"/>
            <a:ext cx="1373400" cy="1373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0"/>
              <a:t>Σ</a:t>
            </a:r>
            <a:r>
              <a:rPr baseline="30000" lang="en" sz="3600"/>
              <a:t>&gt;</a:t>
            </a:r>
            <a:r>
              <a:rPr b="1" baseline="30000" lang="en" sz="3600">
                <a:solidFill>
                  <a:srgbClr val="980000"/>
                </a:solidFill>
              </a:rPr>
              <a:t>0</a:t>
            </a:r>
            <a:endParaRPr b="1" baseline="30000" sz="3600">
              <a:solidFill>
                <a:srgbClr val="980000"/>
              </a:solidFill>
            </a:endParaRPr>
          </a:p>
        </p:txBody>
      </p:sp>
      <p:cxnSp>
        <p:nvCxnSpPr>
          <p:cNvPr id="504" name="Google Shape;504;p45"/>
          <p:cNvCxnSpPr>
            <a:stCxn id="496" idx="6"/>
            <a:endCxn id="503" idx="2"/>
          </p:cNvCxnSpPr>
          <p:nvPr/>
        </p:nvCxnSpPr>
        <p:spPr>
          <a:xfrm>
            <a:off x="2283175" y="1537675"/>
            <a:ext cx="2373600" cy="1600200"/>
          </a:xfrm>
          <a:prstGeom prst="straightConnector1">
            <a:avLst/>
          </a:prstGeom>
          <a:noFill/>
          <a:ln cap="flat" cmpd="sng" w="9525">
            <a:solidFill>
              <a:srgbClr val="000000"/>
            </a:solidFill>
            <a:prstDash val="solid"/>
            <a:round/>
            <a:headEnd len="med" w="med" type="none"/>
            <a:tailEnd len="med" w="med" type="triangle"/>
          </a:ln>
        </p:spPr>
      </p:cxnSp>
      <p:cxnSp>
        <p:nvCxnSpPr>
          <p:cNvPr id="505" name="Google Shape;505;p45"/>
          <p:cNvCxnSpPr>
            <a:stCxn id="497" idx="6"/>
            <a:endCxn id="503" idx="2"/>
          </p:cNvCxnSpPr>
          <p:nvPr/>
        </p:nvCxnSpPr>
        <p:spPr>
          <a:xfrm>
            <a:off x="2283175" y="2071075"/>
            <a:ext cx="2373600" cy="1066800"/>
          </a:xfrm>
          <a:prstGeom prst="straightConnector1">
            <a:avLst/>
          </a:prstGeom>
          <a:noFill/>
          <a:ln cap="flat" cmpd="sng" w="9525">
            <a:solidFill>
              <a:srgbClr val="000000"/>
            </a:solidFill>
            <a:prstDash val="solid"/>
            <a:round/>
            <a:headEnd len="med" w="med" type="none"/>
            <a:tailEnd len="med" w="med" type="triangle"/>
          </a:ln>
        </p:spPr>
      </p:cxnSp>
      <p:cxnSp>
        <p:nvCxnSpPr>
          <p:cNvPr id="506" name="Google Shape;506;p45"/>
          <p:cNvCxnSpPr>
            <a:stCxn id="498" idx="6"/>
            <a:endCxn id="503" idx="2"/>
          </p:cNvCxnSpPr>
          <p:nvPr/>
        </p:nvCxnSpPr>
        <p:spPr>
          <a:xfrm>
            <a:off x="2283175" y="2604475"/>
            <a:ext cx="2373600" cy="533400"/>
          </a:xfrm>
          <a:prstGeom prst="straightConnector1">
            <a:avLst/>
          </a:prstGeom>
          <a:noFill/>
          <a:ln cap="flat" cmpd="sng" w="9525">
            <a:solidFill>
              <a:srgbClr val="000000"/>
            </a:solidFill>
            <a:prstDash val="solid"/>
            <a:round/>
            <a:headEnd len="med" w="med" type="none"/>
            <a:tailEnd len="med" w="med" type="triangle"/>
          </a:ln>
        </p:spPr>
      </p:cxnSp>
      <p:cxnSp>
        <p:nvCxnSpPr>
          <p:cNvPr id="507" name="Google Shape;507;p45"/>
          <p:cNvCxnSpPr>
            <a:stCxn id="499" idx="6"/>
            <a:endCxn id="503" idx="2"/>
          </p:cNvCxnSpPr>
          <p:nvPr/>
        </p:nvCxnSpPr>
        <p:spPr>
          <a:xfrm>
            <a:off x="2283175" y="3137875"/>
            <a:ext cx="2373600" cy="0"/>
          </a:xfrm>
          <a:prstGeom prst="straightConnector1">
            <a:avLst/>
          </a:prstGeom>
          <a:noFill/>
          <a:ln cap="flat" cmpd="sng" w="9525">
            <a:solidFill>
              <a:srgbClr val="000000"/>
            </a:solidFill>
            <a:prstDash val="solid"/>
            <a:round/>
            <a:headEnd len="med" w="med" type="none"/>
            <a:tailEnd len="med" w="med" type="triangle"/>
          </a:ln>
        </p:spPr>
      </p:cxnSp>
      <p:cxnSp>
        <p:nvCxnSpPr>
          <p:cNvPr id="508" name="Google Shape;508;p45"/>
          <p:cNvCxnSpPr>
            <a:stCxn id="500" idx="6"/>
            <a:endCxn id="503" idx="2"/>
          </p:cNvCxnSpPr>
          <p:nvPr/>
        </p:nvCxnSpPr>
        <p:spPr>
          <a:xfrm flipH="1" rot="10800000">
            <a:off x="2283175" y="3137875"/>
            <a:ext cx="2373600" cy="533400"/>
          </a:xfrm>
          <a:prstGeom prst="straightConnector1">
            <a:avLst/>
          </a:prstGeom>
          <a:noFill/>
          <a:ln cap="flat" cmpd="sng" w="9525">
            <a:solidFill>
              <a:srgbClr val="000000"/>
            </a:solidFill>
            <a:prstDash val="solid"/>
            <a:round/>
            <a:headEnd len="med" w="med" type="none"/>
            <a:tailEnd len="med" w="med" type="triangle"/>
          </a:ln>
        </p:spPr>
      </p:cxnSp>
      <p:cxnSp>
        <p:nvCxnSpPr>
          <p:cNvPr id="509" name="Google Shape;509;p45"/>
          <p:cNvCxnSpPr>
            <a:stCxn id="501" idx="6"/>
            <a:endCxn id="503" idx="2"/>
          </p:cNvCxnSpPr>
          <p:nvPr/>
        </p:nvCxnSpPr>
        <p:spPr>
          <a:xfrm flipH="1" rot="10800000">
            <a:off x="2283175" y="3137875"/>
            <a:ext cx="2373600" cy="1066800"/>
          </a:xfrm>
          <a:prstGeom prst="straightConnector1">
            <a:avLst/>
          </a:prstGeom>
          <a:noFill/>
          <a:ln cap="flat" cmpd="sng" w="9525">
            <a:solidFill>
              <a:srgbClr val="000000"/>
            </a:solidFill>
            <a:prstDash val="solid"/>
            <a:round/>
            <a:headEnd len="med" w="med" type="none"/>
            <a:tailEnd len="med" w="med" type="triangle"/>
          </a:ln>
        </p:spPr>
      </p:cxnSp>
      <p:cxnSp>
        <p:nvCxnSpPr>
          <p:cNvPr id="510" name="Google Shape;510;p45"/>
          <p:cNvCxnSpPr>
            <a:stCxn id="502" idx="6"/>
            <a:endCxn id="503" idx="2"/>
          </p:cNvCxnSpPr>
          <p:nvPr/>
        </p:nvCxnSpPr>
        <p:spPr>
          <a:xfrm flipH="1" rot="10800000">
            <a:off x="2283175" y="3137875"/>
            <a:ext cx="2373600" cy="1600200"/>
          </a:xfrm>
          <a:prstGeom prst="straightConnector1">
            <a:avLst/>
          </a:prstGeom>
          <a:noFill/>
          <a:ln cap="flat" cmpd="sng" w="9525">
            <a:solidFill>
              <a:srgbClr val="000000"/>
            </a:solidFill>
            <a:prstDash val="solid"/>
            <a:round/>
            <a:headEnd len="med" w="med" type="none"/>
            <a:tailEnd len="med" w="med" type="triangle"/>
          </a:ln>
        </p:spPr>
      </p:cxnSp>
      <p:cxnSp>
        <p:nvCxnSpPr>
          <p:cNvPr id="511" name="Google Shape;511;p45"/>
          <p:cNvCxnSpPr>
            <a:stCxn id="503" idx="6"/>
          </p:cNvCxnSpPr>
          <p:nvPr/>
        </p:nvCxnSpPr>
        <p:spPr>
          <a:xfrm>
            <a:off x="6030125" y="3137875"/>
            <a:ext cx="802200" cy="0"/>
          </a:xfrm>
          <a:prstGeom prst="straightConnector1">
            <a:avLst/>
          </a:prstGeom>
          <a:noFill/>
          <a:ln cap="flat" cmpd="sng" w="28575">
            <a:solidFill>
              <a:srgbClr val="000000"/>
            </a:solidFill>
            <a:prstDash val="solid"/>
            <a:round/>
            <a:headEnd len="med" w="med" type="none"/>
            <a:tailEnd len="med" w="med" type="triangle"/>
          </a:ln>
        </p:spPr>
      </p:cxnSp>
      <p:sp>
        <p:nvSpPr>
          <p:cNvPr id="512" name="Google Shape;512;p45"/>
          <p:cNvSpPr txBox="1"/>
          <p:nvPr/>
        </p:nvSpPr>
        <p:spPr>
          <a:xfrm>
            <a:off x="2590675" y="14793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a:t>
            </a:r>
            <a:endParaRPr/>
          </a:p>
        </p:txBody>
      </p:sp>
      <p:sp>
        <p:nvSpPr>
          <p:cNvPr id="513" name="Google Shape;513;p45"/>
          <p:cNvSpPr txBox="1"/>
          <p:nvPr/>
        </p:nvSpPr>
        <p:spPr>
          <a:xfrm>
            <a:off x="2590675" y="40701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a:t>
            </a:r>
            <a:endParaRPr/>
          </a:p>
        </p:txBody>
      </p:sp>
      <p:sp>
        <p:nvSpPr>
          <p:cNvPr id="514" name="Google Shape;514;p45"/>
          <p:cNvSpPr txBox="1"/>
          <p:nvPr/>
        </p:nvSpPr>
        <p:spPr>
          <a:xfrm>
            <a:off x="2590675" y="28509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1.4</a:t>
            </a:r>
            <a:endParaRPr/>
          </a:p>
        </p:txBody>
      </p:sp>
      <p:sp>
        <p:nvSpPr>
          <p:cNvPr id="515" name="Google Shape;515;p45"/>
          <p:cNvSpPr txBox="1"/>
          <p:nvPr/>
        </p:nvSpPr>
        <p:spPr>
          <a:xfrm>
            <a:off x="2590675" y="20127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a:t>
            </a:r>
            <a:endParaRPr/>
          </a:p>
        </p:txBody>
      </p:sp>
      <p:sp>
        <p:nvSpPr>
          <p:cNvPr id="516" name="Google Shape;516;p45"/>
          <p:cNvSpPr txBox="1"/>
          <p:nvPr/>
        </p:nvSpPr>
        <p:spPr>
          <a:xfrm>
            <a:off x="2590675" y="23937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1.4</a:t>
            </a:r>
            <a:endParaRPr/>
          </a:p>
        </p:txBody>
      </p:sp>
      <p:sp>
        <p:nvSpPr>
          <p:cNvPr id="517" name="Google Shape;517;p45"/>
          <p:cNvSpPr txBox="1"/>
          <p:nvPr/>
        </p:nvSpPr>
        <p:spPr>
          <a:xfrm>
            <a:off x="2590675" y="321772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a:t>
            </a:r>
            <a:endParaRPr/>
          </a:p>
        </p:txBody>
      </p:sp>
      <p:sp>
        <p:nvSpPr>
          <p:cNvPr id="518" name="Google Shape;518;p45"/>
          <p:cNvSpPr txBox="1"/>
          <p:nvPr/>
        </p:nvSpPr>
        <p:spPr>
          <a:xfrm>
            <a:off x="2590675" y="36129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519" name="Google Shape;519;p45"/>
          <p:cNvSpPr txBox="1"/>
          <p:nvPr/>
        </p:nvSpPr>
        <p:spPr>
          <a:xfrm>
            <a:off x="97575" y="2057400"/>
            <a:ext cx="1484700" cy="24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experts supply inputs</a:t>
            </a:r>
            <a:br>
              <a:rPr lang="en" sz="1800"/>
            </a:br>
            <a:r>
              <a:rPr lang="en" sz="1800"/>
              <a:t>x</a:t>
            </a:r>
            <a:r>
              <a:rPr baseline="-25000" lang="en" sz="1800"/>
              <a:t>i</a:t>
            </a:r>
            <a:r>
              <a:rPr lang="en" sz="1800"/>
              <a:t> = +1 </a:t>
            </a:r>
            <a:endParaRPr sz="1800"/>
          </a:p>
          <a:p>
            <a:pPr indent="0" lvl="0" marL="0" rtl="0" algn="l">
              <a:spcBef>
                <a:spcPts val="0"/>
              </a:spcBef>
              <a:spcAft>
                <a:spcPts val="0"/>
              </a:spcAft>
              <a:buNone/>
            </a:pPr>
            <a:r>
              <a:rPr lang="en" sz="1800"/>
              <a:t>for “yes” or -1 for “no”</a:t>
            </a:r>
            <a:endParaRPr sz="1800"/>
          </a:p>
        </p:txBody>
      </p:sp>
      <p:sp>
        <p:nvSpPr>
          <p:cNvPr id="520" name="Google Shape;520;p45"/>
          <p:cNvSpPr txBox="1"/>
          <p:nvPr/>
        </p:nvSpPr>
        <p:spPr>
          <a:xfrm>
            <a:off x="3568675" y="1277700"/>
            <a:ext cx="5452500" cy="73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Weight </a:t>
            </a:r>
            <a:r>
              <a:rPr lang="en" sz="1800">
                <a:solidFill>
                  <a:schemeClr val="dk1"/>
                </a:solidFill>
              </a:rPr>
              <a:t>= w</a:t>
            </a:r>
            <a:r>
              <a:rPr baseline="-25000" lang="en" sz="1800">
                <a:solidFill>
                  <a:schemeClr val="dk1"/>
                </a:solidFill>
              </a:rPr>
              <a:t>i</a:t>
            </a:r>
            <a:r>
              <a:rPr lang="en" sz="1800">
                <a:solidFill>
                  <a:schemeClr val="dk1"/>
                </a:solidFill>
              </a:rPr>
              <a:t> (</a:t>
            </a:r>
            <a:r>
              <a:rPr lang="en" sz="1800">
                <a:solidFill>
                  <a:schemeClr val="dk1"/>
                </a:solidFill>
              </a:rPr>
              <a:t>the number of votes that expert gets)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 sz="1800">
                <a:solidFill>
                  <a:schemeClr val="dk1"/>
                </a:solidFill>
              </a:rPr>
              <a:t>Inputs </a:t>
            </a:r>
            <a:r>
              <a:rPr lang="en" sz="1800">
                <a:solidFill>
                  <a:schemeClr val="dk1"/>
                </a:solidFill>
              </a:rPr>
              <a:t>= </a:t>
            </a:r>
            <a:r>
              <a:rPr lang="en" sz="1800">
                <a:solidFill>
                  <a:schemeClr val="dk1"/>
                </a:solidFill>
              </a:rPr>
              <a:t>x</a:t>
            </a:r>
            <a:r>
              <a:rPr baseline="-25000" lang="en" sz="1800">
                <a:solidFill>
                  <a:schemeClr val="dk1"/>
                </a:solidFill>
              </a:rPr>
              <a:t>i</a:t>
            </a:r>
            <a:r>
              <a:rPr lang="en" sz="1800">
                <a:solidFill>
                  <a:schemeClr val="dk1"/>
                </a:solidFill>
              </a:rPr>
              <a:t> </a:t>
            </a:r>
            <a:endParaRPr sz="1800"/>
          </a:p>
        </p:txBody>
      </p:sp>
      <p:sp>
        <p:nvSpPr>
          <p:cNvPr id="521" name="Google Shape;521;p45"/>
          <p:cNvSpPr txBox="1"/>
          <p:nvPr/>
        </p:nvSpPr>
        <p:spPr>
          <a:xfrm>
            <a:off x="4694225" y="3993950"/>
            <a:ext cx="3778200" cy="1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“Activation” a = </a:t>
            </a:r>
            <a:r>
              <a:rPr lang="en" sz="2400"/>
              <a:t>Σ</a:t>
            </a:r>
            <a:r>
              <a:rPr lang="en" sz="1800"/>
              <a:t> w</a:t>
            </a:r>
            <a:r>
              <a:rPr baseline="-25000" lang="en" sz="1800"/>
              <a:t>i</a:t>
            </a:r>
            <a:r>
              <a:rPr lang="en" sz="1800"/>
              <a:t>x</a:t>
            </a:r>
            <a:r>
              <a:rPr baseline="-25000" lang="en" sz="1800"/>
              <a:t>i</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a &gt; 0 means “animal is pettable”</a:t>
            </a:r>
            <a:endParaRPr sz="1800"/>
          </a:p>
        </p:txBody>
      </p:sp>
      <p:sp>
        <p:nvSpPr>
          <p:cNvPr id="522" name="Google Shape;522;p45"/>
          <p:cNvSpPr txBox="1"/>
          <p:nvPr/>
        </p:nvSpPr>
        <p:spPr>
          <a:xfrm>
            <a:off x="5844025" y="2272675"/>
            <a:ext cx="17661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“neuron”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Let’s look at </a:t>
            </a:r>
            <a:endParaRPr/>
          </a:p>
          <a:p>
            <a:pPr indent="0" lvl="0" marL="0" rtl="0" algn="ctr">
              <a:spcBef>
                <a:spcPts val="0"/>
              </a:spcBef>
              <a:spcAft>
                <a:spcPts val="0"/>
              </a:spcAft>
              <a:buNone/>
            </a:pPr>
            <a:r>
              <a:rPr lang="en"/>
              <a:t>how the neuron computes its answer</a:t>
            </a:r>
            <a:endParaRPr/>
          </a:p>
        </p:txBody>
      </p:sp>
      <p:sp>
        <p:nvSpPr>
          <p:cNvPr id="528" name="Google Shape;528;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534" name="Google Shape;53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5" name="Google Shape;535;p47"/>
          <p:cNvSpPr/>
          <p:nvPr/>
        </p:nvSpPr>
        <p:spPr>
          <a:xfrm>
            <a:off x="3654000" y="2437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536" name="Google Shape;536;p47"/>
          <p:cNvSpPr/>
          <p:nvPr/>
        </p:nvSpPr>
        <p:spPr>
          <a:xfrm>
            <a:off x="2395150" y="2437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7"/>
          <p:cNvSpPr/>
          <p:nvPr/>
        </p:nvSpPr>
        <p:spPr>
          <a:xfrm>
            <a:off x="2395150" y="3199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8" name="Google Shape;538;p47"/>
          <p:cNvCxnSpPr>
            <a:stCxn id="536" idx="6"/>
          </p:cNvCxnSpPr>
          <p:nvPr/>
        </p:nvCxnSpPr>
        <p:spPr>
          <a:xfrm>
            <a:off x="2611450" y="25455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539" name="Google Shape;539;p47"/>
          <p:cNvCxnSpPr/>
          <p:nvPr/>
        </p:nvCxnSpPr>
        <p:spPr>
          <a:xfrm flipH="1" rot="10800000">
            <a:off x="2611450" y="30783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540" name="Google Shape;540;p47"/>
          <p:cNvSpPr txBox="1"/>
          <p:nvPr/>
        </p:nvSpPr>
        <p:spPr>
          <a:xfrm>
            <a:off x="2057903" y="2291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541" name="Google Shape;541;p47"/>
          <p:cNvSpPr txBox="1"/>
          <p:nvPr/>
        </p:nvSpPr>
        <p:spPr>
          <a:xfrm>
            <a:off x="2057903" y="3053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542" name="Google Shape;542;p47"/>
          <p:cNvSpPr txBox="1"/>
          <p:nvPr/>
        </p:nvSpPr>
        <p:spPr>
          <a:xfrm>
            <a:off x="2896103" y="30845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543" name="Google Shape;543;p47"/>
          <p:cNvSpPr txBox="1"/>
          <p:nvPr/>
        </p:nvSpPr>
        <p:spPr>
          <a:xfrm>
            <a:off x="2896103" y="2291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544" name="Google Shape;544;p47"/>
          <p:cNvSpPr txBox="1"/>
          <p:nvPr/>
        </p:nvSpPr>
        <p:spPr>
          <a:xfrm>
            <a:off x="5006800" y="27238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a:t>
            </a:r>
            <a:endParaRPr/>
          </a:p>
        </p:txBody>
      </p:sp>
      <p:cxnSp>
        <p:nvCxnSpPr>
          <p:cNvPr id="545" name="Google Shape;545;p47"/>
          <p:cNvCxnSpPr>
            <a:stCxn id="535" idx="6"/>
            <a:endCxn id="544" idx="1"/>
          </p:cNvCxnSpPr>
          <p:nvPr/>
        </p:nvCxnSpPr>
        <p:spPr>
          <a:xfrm>
            <a:off x="4627200" y="2923975"/>
            <a:ext cx="379500" cy="0"/>
          </a:xfrm>
          <a:prstGeom prst="straightConnector1">
            <a:avLst/>
          </a:prstGeom>
          <a:noFill/>
          <a:ln cap="flat" cmpd="sng" w="9525">
            <a:solidFill>
              <a:schemeClr val="dk2"/>
            </a:solidFill>
            <a:prstDash val="solid"/>
            <a:round/>
            <a:headEnd len="med" w="med" type="none"/>
            <a:tailEnd len="med" w="med" type="triangle"/>
          </a:ln>
        </p:spPr>
      </p:cxnSp>
      <p:sp>
        <p:nvSpPr>
          <p:cNvPr id="546" name="Google Shape;546;p47"/>
          <p:cNvSpPr txBox="1"/>
          <p:nvPr/>
        </p:nvSpPr>
        <p:spPr>
          <a:xfrm>
            <a:off x="3082500" y="3897000"/>
            <a:ext cx="400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p:txBody>
      </p:sp>
      <p:sp>
        <p:nvSpPr>
          <p:cNvPr id="547" name="Google Shape;547;p47"/>
          <p:cNvSpPr txBox="1"/>
          <p:nvPr/>
        </p:nvSpPr>
        <p:spPr>
          <a:xfrm>
            <a:off x="166915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Inputs</a:t>
            </a:r>
            <a:endParaRPr/>
          </a:p>
        </p:txBody>
      </p:sp>
      <p:sp>
        <p:nvSpPr>
          <p:cNvPr id="548" name="Google Shape;548;p47"/>
          <p:cNvSpPr txBox="1"/>
          <p:nvPr/>
        </p:nvSpPr>
        <p:spPr>
          <a:xfrm>
            <a:off x="258355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Weights</a:t>
            </a:r>
            <a:endParaRPr/>
          </a:p>
        </p:txBody>
      </p:sp>
      <p:sp>
        <p:nvSpPr>
          <p:cNvPr id="549" name="Google Shape;549;p47"/>
          <p:cNvSpPr txBox="1"/>
          <p:nvPr/>
        </p:nvSpPr>
        <p:spPr>
          <a:xfrm>
            <a:off x="3579900" y="1891475"/>
            <a:ext cx="108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Summation</a:t>
            </a:r>
            <a:endParaRPr/>
          </a:p>
        </p:txBody>
      </p:sp>
      <p:sp>
        <p:nvSpPr>
          <p:cNvPr id="550" name="Google Shape;550;p47"/>
          <p:cNvSpPr txBox="1"/>
          <p:nvPr/>
        </p:nvSpPr>
        <p:spPr>
          <a:xfrm>
            <a:off x="472290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Output</a:t>
            </a:r>
            <a:endParaRPr/>
          </a:p>
        </p:txBody>
      </p:sp>
      <p:sp>
        <p:nvSpPr>
          <p:cNvPr id="551" name="Google Shape;551;p47"/>
          <p:cNvSpPr txBox="1"/>
          <p:nvPr/>
        </p:nvSpPr>
        <p:spPr>
          <a:xfrm>
            <a:off x="456175" y="1143000"/>
            <a:ext cx="645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Each input x</a:t>
            </a:r>
            <a:r>
              <a:rPr baseline="-25000" lang="en"/>
              <a:t>i</a:t>
            </a:r>
            <a:r>
              <a:rPr lang="en"/>
              <a:t> is multiplied by the corresponding weight w</a:t>
            </a:r>
            <a:r>
              <a:rPr baseline="-25000" lang="en"/>
              <a:t>i</a:t>
            </a:r>
            <a:r>
              <a:rPr lang="en"/>
              <a:t>. Sum </a:t>
            </a:r>
            <a:r>
              <a:rPr lang="en" sz="1200">
                <a:solidFill>
                  <a:schemeClr val="dk1"/>
                </a:solidFill>
              </a:rPr>
              <a:t>∑ </a:t>
            </a:r>
            <a:r>
              <a:rPr lang="en" sz="100"/>
              <a:t> </a:t>
            </a:r>
            <a:r>
              <a:rPr lang="en"/>
              <a:t>the results.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linear </a:t>
            </a:r>
            <a:r>
              <a:rPr lang="en" u="sng"/>
              <a:t>threshold</a:t>
            </a:r>
            <a:r>
              <a:rPr lang="en"/>
              <a:t> unit produces</a:t>
            </a:r>
            <a:endParaRPr/>
          </a:p>
          <a:p>
            <a:pPr indent="0" lvl="0" marL="0" rtl="0" algn="l">
              <a:spcBef>
                <a:spcPts val="0"/>
              </a:spcBef>
              <a:spcAft>
                <a:spcPts val="0"/>
              </a:spcAft>
              <a:buNone/>
            </a:pPr>
            <a:r>
              <a:rPr lang="en"/>
              <a:t>a binary output</a:t>
            </a:r>
            <a:endParaRPr/>
          </a:p>
        </p:txBody>
      </p:sp>
      <p:sp>
        <p:nvSpPr>
          <p:cNvPr id="557" name="Google Shape;55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8" name="Google Shape;558;p48"/>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559" name="Google Shape;559;p48"/>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8"/>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1" name="Google Shape;561;p48"/>
          <p:cNvCxnSpPr>
            <a:stCxn id="559"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562" name="Google Shape;562;p48"/>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563" name="Google Shape;563;p48"/>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564" name="Google Shape;564;p48"/>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565" name="Google Shape;565;p48"/>
          <p:cNvSpPr txBox="1"/>
          <p:nvPr/>
        </p:nvSpPr>
        <p:spPr>
          <a:xfrm>
            <a:off x="2972303" y="28559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566" name="Google Shape;566;p48"/>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567" name="Google Shape;567;p48"/>
          <p:cNvSpPr txBox="1"/>
          <p:nvPr/>
        </p:nvSpPr>
        <p:spPr>
          <a:xfrm>
            <a:off x="5083000" y="2495275"/>
            <a:ext cx="20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0</a:t>
            </a:r>
            <a:r>
              <a:rPr lang="en"/>
              <a:t> for “no” or </a:t>
            </a:r>
            <a:r>
              <a:rPr b="1" lang="en">
                <a:solidFill>
                  <a:srgbClr val="980000"/>
                </a:solidFill>
              </a:rPr>
              <a:t>1</a:t>
            </a:r>
            <a:r>
              <a:rPr lang="en"/>
              <a:t> for “yes”</a:t>
            </a:r>
            <a:endParaRPr/>
          </a:p>
        </p:txBody>
      </p:sp>
      <p:cxnSp>
        <p:nvCxnSpPr>
          <p:cNvPr id="568" name="Google Shape;568;p48"/>
          <p:cNvCxnSpPr>
            <a:stCxn id="558" idx="6"/>
            <a:endCxn id="567"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sp>
        <p:nvSpPr>
          <p:cNvPr id="569" name="Google Shape;569;p48"/>
          <p:cNvSpPr txBox="1"/>
          <p:nvPr/>
        </p:nvSpPr>
        <p:spPr>
          <a:xfrm>
            <a:off x="3158700" y="3439800"/>
            <a:ext cx="5427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  =  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a:t>
            </a:r>
            <a:r>
              <a:rPr i="1" lang="en"/>
              <a:t> </a:t>
            </a:r>
            <a:r>
              <a:rPr i="1" lang="en">
                <a:solidFill>
                  <a:srgbClr val="FF0000"/>
                </a:solidFill>
                <a:latin typeface="Permanent Marker"/>
                <a:ea typeface="Permanent Marker"/>
                <a:cs typeface="Permanent Marker"/>
                <a:sym typeface="Permanent Marker"/>
              </a:rPr>
              <a:t>activation </a:t>
            </a:r>
            <a:r>
              <a:rPr lang="en">
                <a:solidFill>
                  <a:schemeClr val="dk1"/>
                </a:solidFill>
              </a:rPr>
              <a:t>-  equation or formula</a:t>
            </a:r>
            <a:endParaRPr i="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  =  </a:t>
            </a:r>
            <a:endParaRPr/>
          </a:p>
        </p:txBody>
      </p:sp>
      <p:sp>
        <p:nvSpPr>
          <p:cNvPr id="570" name="Google Shape;570;p48"/>
          <p:cNvSpPr txBox="1"/>
          <p:nvPr/>
        </p:nvSpPr>
        <p:spPr>
          <a:xfrm>
            <a:off x="3861475" y="3909881"/>
            <a:ext cx="12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  if a &gt; 0</a:t>
            </a:r>
            <a:endParaRPr/>
          </a:p>
        </p:txBody>
      </p:sp>
      <p:sp>
        <p:nvSpPr>
          <p:cNvPr id="571" name="Google Shape;571;p48"/>
          <p:cNvSpPr txBox="1"/>
          <p:nvPr/>
        </p:nvSpPr>
        <p:spPr>
          <a:xfrm>
            <a:off x="3861475" y="4290881"/>
            <a:ext cx="12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0  if a ≤ 0</a:t>
            </a:r>
            <a:endParaRPr/>
          </a:p>
        </p:txBody>
      </p:sp>
      <p:sp>
        <p:nvSpPr>
          <p:cNvPr id="572" name="Google Shape;572;p48"/>
          <p:cNvSpPr/>
          <p:nvPr/>
        </p:nvSpPr>
        <p:spPr>
          <a:xfrm>
            <a:off x="3745650" y="4063319"/>
            <a:ext cx="115800" cy="486600"/>
          </a:xfrm>
          <a:prstGeom prst="lef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3" name="Google Shape;573;p48"/>
          <p:cNvPicPr preferRelativeResize="0"/>
          <p:nvPr/>
        </p:nvPicPr>
        <p:blipFill>
          <a:blip r:embed="rId3">
            <a:alphaModFix/>
          </a:blip>
          <a:stretch>
            <a:fillRect/>
          </a:stretch>
        </p:blipFill>
        <p:spPr>
          <a:xfrm>
            <a:off x="6941725" y="644251"/>
            <a:ext cx="1890575" cy="1119421"/>
          </a:xfrm>
          <a:prstGeom prst="rect">
            <a:avLst/>
          </a:prstGeom>
          <a:noFill/>
          <a:ln>
            <a:noFill/>
          </a:ln>
        </p:spPr>
      </p:pic>
      <p:sp>
        <p:nvSpPr>
          <p:cNvPr id="574" name="Google Shape;574;p48"/>
          <p:cNvSpPr txBox="1"/>
          <p:nvPr/>
        </p:nvSpPr>
        <p:spPr>
          <a:xfrm>
            <a:off x="6862250" y="115325"/>
            <a:ext cx="1970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Remember the Perceptron….</a:t>
            </a:r>
            <a:endParaRPr/>
          </a:p>
        </p:txBody>
      </p:sp>
      <p:sp>
        <p:nvSpPr>
          <p:cNvPr id="575" name="Google Shape;575;p48"/>
          <p:cNvSpPr txBox="1"/>
          <p:nvPr/>
        </p:nvSpPr>
        <p:spPr>
          <a:xfrm>
            <a:off x="5245225" y="4106525"/>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Binary outputs </a:t>
            </a:r>
            <a:r>
              <a:rPr lang="en">
                <a:solidFill>
                  <a:schemeClr val="dk1"/>
                </a:solidFill>
              </a:rPr>
              <a:t>-  0 or 1</a:t>
            </a:r>
            <a:r>
              <a:rPr lang="en">
                <a:solidFill>
                  <a:srgbClr val="FF0000"/>
                </a:solidFill>
                <a:latin typeface="Permanent Marker"/>
                <a:ea typeface="Permanent Marker"/>
                <a:cs typeface="Permanent Marker"/>
                <a:sym typeface="Permanent Marker"/>
              </a:rPr>
              <a:t> </a:t>
            </a:r>
            <a:endParaRPr>
              <a:solidFill>
                <a:srgbClr val="FF0000"/>
              </a:solidFill>
              <a:latin typeface="Permanent Marker"/>
              <a:ea typeface="Permanent Marker"/>
              <a:cs typeface="Permanent Marker"/>
              <a:sym typeface="Permanent Mark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9" name="Shape 579"/>
        <p:cNvGrpSpPr/>
        <p:nvPr/>
      </p:nvGrpSpPr>
      <p:grpSpPr>
        <a:xfrm>
          <a:off x="0" y="0"/>
          <a:ext cx="0" cy="0"/>
          <a:chOff x="0" y="0"/>
          <a:chExt cx="0" cy="0"/>
        </a:xfrm>
      </p:grpSpPr>
      <p:sp>
        <p:nvSpPr>
          <p:cNvPr id="580" name="Google Shape;580;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1" name="Google Shape;581;p49"/>
          <p:cNvSpPr txBox="1"/>
          <p:nvPr/>
        </p:nvSpPr>
        <p:spPr>
          <a:xfrm>
            <a:off x="2091825" y="1115375"/>
            <a:ext cx="76500" cy="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82" name="Google Shape;582;p49"/>
          <p:cNvSpPr txBox="1"/>
          <p:nvPr/>
        </p:nvSpPr>
        <p:spPr>
          <a:xfrm>
            <a:off x="311700" y="988100"/>
            <a:ext cx="8709300" cy="7131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 sz="3600">
                <a:solidFill>
                  <a:schemeClr val="dk1"/>
                </a:solidFill>
              </a:rPr>
              <a:t>Lesson Extras - </a:t>
            </a:r>
            <a:r>
              <a:rPr lang="en" sz="3600">
                <a:solidFill>
                  <a:schemeClr val="dk1"/>
                </a:solidFill>
              </a:rPr>
              <a:t>Teacher Takeaways</a:t>
            </a:r>
            <a:endParaRPr sz="3600">
              <a:solidFill>
                <a:schemeClr val="dk1"/>
              </a:solidFill>
            </a:endParaRPr>
          </a:p>
          <a:p>
            <a:pPr indent="457200" lvl="0" marL="457200" rtl="0" algn="l">
              <a:spcBef>
                <a:spcPts val="0"/>
              </a:spcBef>
              <a:spcAft>
                <a:spcPts val="0"/>
              </a:spcAft>
              <a:buClr>
                <a:schemeClr val="dk1"/>
              </a:buClr>
              <a:buSzPts val="1100"/>
              <a:buFont typeface="Arial"/>
              <a:buNone/>
            </a:pPr>
            <a:r>
              <a:t/>
            </a:r>
            <a:endParaRPr sz="3600">
              <a:solidFill>
                <a:schemeClr val="dk1"/>
              </a:solidFill>
            </a:endParaRPr>
          </a:p>
          <a:p>
            <a:pPr indent="0" lvl="0" marL="0" rtl="0" algn="l">
              <a:spcBef>
                <a:spcPts val="0"/>
              </a:spcBef>
              <a:spcAft>
                <a:spcPts val="0"/>
              </a:spcAft>
              <a:buNone/>
            </a:pPr>
            <a:r>
              <a:t/>
            </a:r>
            <a:endParaRPr b="1" sz="36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6" name="Shape 586"/>
        <p:cNvGrpSpPr/>
        <p:nvPr/>
      </p:nvGrpSpPr>
      <p:grpSpPr>
        <a:xfrm>
          <a:off x="0" y="0"/>
          <a:ext cx="0" cy="0"/>
          <a:chOff x="0" y="0"/>
          <a:chExt cx="0" cy="0"/>
        </a:xfrm>
      </p:grpSpPr>
      <p:sp>
        <p:nvSpPr>
          <p:cNvPr id="587" name="Google Shape;58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Algorithms</a:t>
            </a:r>
            <a:endParaRPr/>
          </a:p>
        </p:txBody>
      </p:sp>
      <p:sp>
        <p:nvSpPr>
          <p:cNvPr id="588" name="Google Shape;588;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Building neural nets by hand requires careful attention to the weights.</a:t>
            </a:r>
            <a:endParaRPr/>
          </a:p>
          <a:p>
            <a:pPr indent="-317500" lvl="1" marL="914400" rtl="0" algn="l">
              <a:spcBef>
                <a:spcPts val="0"/>
              </a:spcBef>
              <a:spcAft>
                <a:spcPts val="0"/>
              </a:spcAft>
              <a:buSzPts val="1400"/>
              <a:buChar char="○"/>
            </a:pPr>
            <a:r>
              <a:rPr lang="en"/>
              <a:t>Only feasible for small networks.</a:t>
            </a:r>
            <a:br>
              <a:rPr lang="en"/>
            </a:br>
            <a:endParaRPr/>
          </a:p>
          <a:p>
            <a:pPr indent="-342900" lvl="0" marL="457200" rtl="0" algn="l">
              <a:spcBef>
                <a:spcPts val="0"/>
              </a:spcBef>
              <a:spcAft>
                <a:spcPts val="0"/>
              </a:spcAft>
              <a:buSzPts val="1800"/>
              <a:buChar char="●"/>
            </a:pPr>
            <a:r>
              <a:rPr lang="en"/>
              <a:t>What we need is a </a:t>
            </a:r>
            <a:r>
              <a:rPr b="1" lang="en"/>
              <a:t>learning algorithm</a:t>
            </a:r>
            <a:r>
              <a:rPr lang="en"/>
              <a:t> that can set the weights for us.</a:t>
            </a:r>
            <a:br>
              <a:rPr lang="en"/>
            </a:br>
            <a:endParaRPr/>
          </a:p>
          <a:p>
            <a:pPr indent="-342900" lvl="0" marL="457200" rtl="0" algn="l">
              <a:spcBef>
                <a:spcPts val="0"/>
              </a:spcBef>
              <a:spcAft>
                <a:spcPts val="0"/>
              </a:spcAft>
              <a:buSzPts val="1800"/>
              <a:buChar char="●"/>
            </a:pPr>
            <a:r>
              <a:rPr lang="en"/>
              <a:t>All we have to do is show it some training data so it knows what output we want to produce for each input.</a:t>
            </a:r>
            <a:br>
              <a:rPr lang="en"/>
            </a:br>
            <a:endParaRPr/>
          </a:p>
          <a:p>
            <a:pPr indent="-342900" lvl="0" marL="457200" rtl="0" algn="l">
              <a:spcBef>
                <a:spcPts val="0"/>
              </a:spcBef>
              <a:spcAft>
                <a:spcPts val="0"/>
              </a:spcAft>
              <a:buSzPts val="1800"/>
              <a:buChar char="●"/>
            </a:pPr>
            <a:r>
              <a:rPr lang="en"/>
              <a:t>The “should I pet this animal” network was trained using a very simple learning algorithm...</a:t>
            </a:r>
            <a:endParaRPr/>
          </a:p>
        </p:txBody>
      </p:sp>
      <p:sp>
        <p:nvSpPr>
          <p:cNvPr id="589" name="Google Shape;58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Relationship between Big Ideas 2 and 3</a:t>
            </a:r>
            <a:endParaRPr/>
          </a:p>
        </p:txBody>
      </p:sp>
      <p:sp>
        <p:nvSpPr>
          <p:cNvPr id="595" name="Google Shape;595;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pettible animal predicting neural network is doing </a:t>
            </a:r>
            <a:r>
              <a:rPr b="1" lang="en"/>
              <a:t>reasoning.</a:t>
            </a:r>
            <a:endParaRPr/>
          </a:p>
          <a:p>
            <a:pPr indent="-317500" lvl="1" marL="914400" rtl="0" algn="l">
              <a:spcBef>
                <a:spcPts val="0"/>
              </a:spcBef>
              <a:spcAft>
                <a:spcPts val="0"/>
              </a:spcAft>
              <a:buSzPts val="1400"/>
              <a:buChar char="○"/>
            </a:pPr>
            <a:r>
              <a:rPr lang="en"/>
              <a:t>It’s solving a classification problem.</a:t>
            </a:r>
            <a:br>
              <a:rPr lang="en"/>
            </a:br>
            <a:endParaRPr/>
          </a:p>
          <a:p>
            <a:pPr indent="-342900" lvl="0" marL="457200" rtl="0" algn="l">
              <a:spcBef>
                <a:spcPts val="0"/>
              </a:spcBef>
              <a:spcAft>
                <a:spcPts val="0"/>
              </a:spcAft>
              <a:buSzPts val="1800"/>
              <a:buChar char="●"/>
            </a:pPr>
            <a:r>
              <a:rPr lang="en"/>
              <a:t>The </a:t>
            </a:r>
            <a:r>
              <a:rPr b="1" lang="en"/>
              <a:t>input</a:t>
            </a:r>
            <a:r>
              <a:rPr lang="en"/>
              <a:t> </a:t>
            </a:r>
            <a:r>
              <a:rPr b="1" lang="en"/>
              <a:t>representation</a:t>
            </a:r>
            <a:r>
              <a:rPr lang="en"/>
              <a:t> used by the network is a feature vector.</a:t>
            </a:r>
            <a:endParaRPr/>
          </a:p>
          <a:p>
            <a:pPr indent="-317500" lvl="1" marL="914400" rtl="0" algn="l">
              <a:spcBef>
                <a:spcPts val="0"/>
              </a:spcBef>
              <a:spcAft>
                <a:spcPts val="0"/>
              </a:spcAft>
              <a:buSzPts val="1400"/>
              <a:buChar char="○"/>
            </a:pPr>
            <a:r>
              <a:rPr lang="en"/>
              <a:t>Each expert contributes one feature.</a:t>
            </a:r>
            <a:endParaRPr/>
          </a:p>
          <a:p>
            <a:pPr indent="-317500" lvl="1" marL="914400" rtl="0" algn="l">
              <a:spcBef>
                <a:spcPts val="0"/>
              </a:spcBef>
              <a:spcAft>
                <a:spcPts val="0"/>
              </a:spcAft>
              <a:buSzPts val="1400"/>
              <a:buChar char="○"/>
            </a:pPr>
            <a:r>
              <a:rPr lang="en"/>
              <a:t>The features could be binary (-1/+1) or real values from -1 to +1.</a:t>
            </a:r>
            <a:br>
              <a:rPr lang="en"/>
            </a:br>
            <a:endParaRPr/>
          </a:p>
          <a:p>
            <a:pPr indent="-342900" lvl="0" marL="457200" rtl="0" algn="l">
              <a:spcBef>
                <a:spcPts val="0"/>
              </a:spcBef>
              <a:spcAft>
                <a:spcPts val="0"/>
              </a:spcAft>
              <a:buSzPts val="1800"/>
              <a:buChar char="●"/>
            </a:pPr>
            <a:r>
              <a:rPr lang="en"/>
              <a:t>Another important representation is the </a:t>
            </a:r>
            <a:r>
              <a:rPr b="1" lang="en"/>
              <a:t>weight vector</a:t>
            </a:r>
            <a:r>
              <a:rPr lang="en"/>
              <a:t>.</a:t>
            </a:r>
            <a:br>
              <a:rPr lang="en"/>
            </a:br>
            <a:endParaRPr/>
          </a:p>
          <a:p>
            <a:pPr indent="-342900" lvl="0" marL="457200" rtl="0" algn="l">
              <a:spcBef>
                <a:spcPts val="0"/>
              </a:spcBef>
              <a:spcAft>
                <a:spcPts val="0"/>
              </a:spcAft>
              <a:buSzPts val="1800"/>
              <a:buChar char="●"/>
            </a:pPr>
            <a:r>
              <a:rPr lang="en"/>
              <a:t>The learning algorithm adjusts the weight vector so as to </a:t>
            </a:r>
            <a:r>
              <a:rPr b="1" lang="en"/>
              <a:t>improve the performance</a:t>
            </a:r>
            <a:r>
              <a:rPr lang="en"/>
              <a:t> of the reasoner. Once learning is complete, using the network to classify new dog images is reasoning (Module 3.1).</a:t>
            </a:r>
            <a:endParaRPr/>
          </a:p>
        </p:txBody>
      </p:sp>
      <p:sp>
        <p:nvSpPr>
          <p:cNvPr id="596" name="Google Shape;59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