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y="5143500" cx="9144000"/>
  <p:notesSz cx="6858000" cy="9144000"/>
  <p:embeddedFontLst>
    <p:embeddedFont>
      <p:font typeface="Permanent Marker"/>
      <p:regular r:id="rId60"/>
    </p:embeddedFont>
    <p:embeddedFont>
      <p:font typeface="Helvetica Neue"/>
      <p:regular r:id="rId61"/>
      <p:bold r:id="rId62"/>
      <p:italic r:id="rId63"/>
      <p:boldItalic r:id="rId64"/>
    </p:embeddedFont>
    <p:embeddedFont>
      <p:font typeface="Merriweather"/>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795A68-CF16-44FF-B4EF-B4ADABBD89F0}">
  <a:tblStyle styleId="{A6795A68-CF16-44FF-B4EF-B4ADABBD89F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2568D71-D2B9-491D-BD23-BBBF9B4F9A23}"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HelveticaNeue-bold.fntdata"/><Relationship Id="rId61" Type="http://schemas.openxmlformats.org/officeDocument/2006/relationships/font" Target="fonts/HelveticaNeue-regular.fntdata"/><Relationship Id="rId20" Type="http://schemas.openxmlformats.org/officeDocument/2006/relationships/slide" Target="slides/slide13.xml"/><Relationship Id="rId64" Type="http://schemas.openxmlformats.org/officeDocument/2006/relationships/font" Target="fonts/HelveticaNeue-boldItalic.fntdata"/><Relationship Id="rId63" Type="http://schemas.openxmlformats.org/officeDocument/2006/relationships/font" Target="fonts/HelveticaNeue-italic.fntdata"/><Relationship Id="rId22" Type="http://schemas.openxmlformats.org/officeDocument/2006/relationships/slide" Target="slides/slide15.xml"/><Relationship Id="rId66" Type="http://schemas.openxmlformats.org/officeDocument/2006/relationships/font" Target="fonts/Merriweather-bold.fntdata"/><Relationship Id="rId21" Type="http://schemas.openxmlformats.org/officeDocument/2006/relationships/slide" Target="slides/slide14.xml"/><Relationship Id="rId65" Type="http://schemas.openxmlformats.org/officeDocument/2006/relationships/font" Target="fonts/Merriweather-regular.fntdata"/><Relationship Id="rId24" Type="http://schemas.openxmlformats.org/officeDocument/2006/relationships/slide" Target="slides/slide17.xml"/><Relationship Id="rId68" Type="http://schemas.openxmlformats.org/officeDocument/2006/relationships/font" Target="fonts/Merriweather-boldItalic.fntdata"/><Relationship Id="rId23" Type="http://schemas.openxmlformats.org/officeDocument/2006/relationships/slide" Target="slides/slide16.xml"/><Relationship Id="rId67" Type="http://schemas.openxmlformats.org/officeDocument/2006/relationships/font" Target="fonts/Merriweather-italic.fntdata"/><Relationship Id="rId60" Type="http://schemas.openxmlformats.org/officeDocument/2006/relationships/font" Target="fonts/PermanentMarker-regular.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dd892cb6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dd892cb6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135be168d2_0_1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135be168d2_0_1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135be168d2_0_1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135be168d2_0_1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135be168d2_0_1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135be168d2_0_1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this a visual at some point:</a:t>
            </a:r>
            <a:endParaRPr/>
          </a:p>
          <a:p>
            <a:pPr indent="0" lvl="0" marL="0" rtl="0" algn="l">
              <a:spcBef>
                <a:spcPts val="0"/>
              </a:spcBef>
              <a:spcAft>
                <a:spcPts val="0"/>
              </a:spcAft>
              <a:buClr>
                <a:schemeClr val="dk1"/>
              </a:buClr>
              <a:buSzPts val="1100"/>
              <a:buFont typeface="Arial"/>
              <a:buNone/>
            </a:pPr>
            <a:r>
              <a:rPr lang="en" sz="1400">
                <a:solidFill>
                  <a:schemeClr val="dk1"/>
                </a:solidFill>
              </a:rPr>
              <a:t>Add picture of at vs dog 100x 100 pixels</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10,000 pixels</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RGB =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Decision tree would have to look at it one pixel at a time</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5dc7c13c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5dc7c13c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138452da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138452da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135be168d2_0_1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135be168d2_0_1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35be168d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135be168d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135be168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135be168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135be168d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135be168d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 this can potentially get really complicated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38452da00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138452da00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38452da0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38452da0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138452da0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138452da0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Possible Activity for more participatory</a:t>
            </a:r>
            <a:endParaRPr b="1"/>
          </a:p>
          <a:p>
            <a:pPr indent="0" lvl="0" marL="0" rtl="0" algn="l">
              <a:spcBef>
                <a:spcPts val="0"/>
              </a:spcBef>
              <a:spcAft>
                <a:spcPts val="0"/>
              </a:spcAft>
              <a:buNone/>
            </a:pPr>
            <a:r>
              <a:rPr lang="en"/>
              <a:t>Students get a deck of cards with the dog pictures and what the experts will say</a:t>
            </a:r>
            <a:endParaRPr/>
          </a:p>
          <a:p>
            <a:pPr indent="0" lvl="0" marL="0" rtl="0" algn="l">
              <a:spcBef>
                <a:spcPts val="0"/>
              </a:spcBef>
              <a:spcAft>
                <a:spcPts val="0"/>
              </a:spcAft>
              <a:buNone/>
            </a:pPr>
            <a:r>
              <a:rPr lang="en"/>
              <a:t>Then they get to update their number of votes on their sheet.</a:t>
            </a:r>
            <a:endParaRPr/>
          </a:p>
          <a:p>
            <a:pPr indent="0" lvl="0" marL="0" rtl="0" algn="l">
              <a:spcBef>
                <a:spcPts val="0"/>
              </a:spcBef>
              <a:spcAft>
                <a:spcPts val="0"/>
              </a:spcAft>
              <a:buNone/>
            </a:pPr>
            <a:r>
              <a:rPr lang="en"/>
              <a:t>Class a a whole completes the tally.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Option1 - Classroom Context:</a:t>
            </a:r>
            <a:r>
              <a:rPr lang="en"/>
              <a:t> Each person gets to have a card for an expert. </a:t>
            </a:r>
            <a:endParaRPr/>
          </a:p>
          <a:p>
            <a:pPr indent="0" lvl="0" marL="0" rtl="0" algn="l">
              <a:spcBef>
                <a:spcPts val="0"/>
              </a:spcBef>
              <a:spcAft>
                <a:spcPts val="0"/>
              </a:spcAft>
              <a:buNone/>
            </a:pPr>
            <a:r>
              <a:rPr lang="en"/>
              <a:t>Need Prompting cards</a:t>
            </a:r>
            <a:endParaRPr/>
          </a:p>
          <a:p>
            <a:pPr indent="0" lvl="0" marL="0" rtl="0" algn="l">
              <a:spcBef>
                <a:spcPts val="0"/>
              </a:spcBef>
              <a:spcAft>
                <a:spcPts val="0"/>
              </a:spcAft>
              <a:buNone/>
            </a:pPr>
            <a:r>
              <a:rPr lang="en"/>
              <a:t>This is what the cards will look like.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Option 2 - Game</a:t>
            </a:r>
            <a:r>
              <a:rPr lang="en"/>
              <a:t> - Neural Networks invent their own experts..If you have enough experts…you can solve your problem.</a:t>
            </a:r>
            <a:endParaRPr/>
          </a:p>
          <a:p>
            <a:pPr indent="0" lvl="0" marL="0" rtl="0" algn="l">
              <a:spcBef>
                <a:spcPts val="0"/>
              </a:spcBef>
              <a:spcAft>
                <a:spcPts val="0"/>
              </a:spcAft>
              <a:buNone/>
            </a:pPr>
            <a:r>
              <a:rPr lang="en"/>
              <a:t>Pick a domain where they don’t have personal expertise (intutions) and have to rely on what the experts are saying. But we don’t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Which of these bacteria causes spoiled milk?</a:t>
            </a:r>
            <a:endParaRPr/>
          </a:p>
          <a:p>
            <a:pPr indent="0" lvl="0" marL="0" rtl="0" algn="l">
              <a:spcBef>
                <a:spcPts val="0"/>
              </a:spcBef>
              <a:spcAft>
                <a:spcPts val="0"/>
              </a:spcAft>
              <a:buNone/>
            </a:pPr>
            <a:r>
              <a:rPr lang="en"/>
              <a:t>Pictures of bacteria</a:t>
            </a:r>
            <a:endParaRPr/>
          </a:p>
          <a:p>
            <a:pPr indent="0" lvl="0" marL="0" rtl="0" algn="l">
              <a:spcBef>
                <a:spcPts val="0"/>
              </a:spcBef>
              <a:spcAft>
                <a:spcPts val="0"/>
              </a:spcAft>
              <a:buNone/>
            </a:pPr>
            <a:r>
              <a:rPr lang="en"/>
              <a:t>There are some features that cause spoiled milk</a:t>
            </a:r>
            <a:endParaRPr/>
          </a:p>
          <a:p>
            <a:pPr indent="0" lvl="0" marL="0" rtl="0" algn="l">
              <a:spcBef>
                <a:spcPts val="0"/>
              </a:spcBef>
              <a:spcAft>
                <a:spcPts val="0"/>
              </a:spcAft>
              <a:buNone/>
            </a:pPr>
            <a:r>
              <a:rPr lang="en"/>
              <a:t>You and your friends are building a detector that will do the right things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your team is successful, you will be able to predict the </a:t>
            </a:r>
            <a:r>
              <a:rPr lang="en"/>
              <a:t>label</a:t>
            </a:r>
            <a:r>
              <a:rPr lang="en"/>
              <a:t> successfully …even though you can’t eyeball the </a:t>
            </a:r>
            <a:r>
              <a:rPr lang="en"/>
              <a:t>input</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the end we can reveal what the experts are paying attention to.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Level II - no expert that is 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Learning Objective</a:t>
            </a:r>
            <a:endParaRPr/>
          </a:p>
          <a:p>
            <a:pPr indent="-298450" lvl="0" marL="457200" rtl="0" algn="l">
              <a:spcBef>
                <a:spcPts val="0"/>
              </a:spcBef>
              <a:spcAft>
                <a:spcPts val="0"/>
              </a:spcAft>
              <a:buSzPts val="1100"/>
              <a:buChar char="-"/>
            </a:pPr>
            <a:r>
              <a:rPr lang="en"/>
              <a:t>Using a procedure for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138452da0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138452da0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138452da0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138452da0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138452da0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138452da0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138452da0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138452da0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138452da00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138452da00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138452da00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138452da00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138452da00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138452da00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138452da00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138452da00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Neural Nets are like a function</a:t>
            </a:r>
            <a:endParaRPr/>
          </a:p>
          <a:p>
            <a:pPr indent="0" lvl="0" marL="0" rtl="0" algn="l">
              <a:spcBef>
                <a:spcPts val="0"/>
              </a:spcBef>
              <a:spcAft>
                <a:spcPts val="0"/>
              </a:spcAft>
              <a:buNone/>
            </a:pPr>
            <a:r>
              <a:rPr lang="en"/>
              <a:t>X input -&gt; Y output</a:t>
            </a:r>
            <a:endParaRPr/>
          </a:p>
          <a:p>
            <a:pPr indent="0" lvl="0" marL="0" rtl="0" algn="l">
              <a:spcBef>
                <a:spcPts val="0"/>
              </a:spcBef>
              <a:spcAft>
                <a:spcPts val="0"/>
              </a:spcAft>
              <a:buNone/>
            </a:pPr>
            <a:r>
              <a:rPr lang="en"/>
              <a:t>Were inputs can map to a number of Y’s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925f53be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925f53be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138452da00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138452da00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add a neuron with a magnifying glass</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135be168d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135be168d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Dave’s teaching videos</a:t>
            </a:r>
            <a:endParaRPr/>
          </a:p>
          <a:p>
            <a:pPr indent="0" lvl="0" marL="0" rtl="0" algn="l">
              <a:spcBef>
                <a:spcPts val="0"/>
              </a:spcBef>
              <a:spcAft>
                <a:spcPts val="0"/>
              </a:spcAft>
              <a:buNone/>
            </a:pPr>
            <a:r>
              <a:rPr lang="en"/>
              <a:t>Teacher note - as  a class do slides 30-37</a:t>
            </a:r>
            <a:endParaRPr/>
          </a:p>
          <a:p>
            <a:pPr indent="0" lvl="0" marL="0" rtl="0" algn="l">
              <a:spcBef>
                <a:spcPts val="0"/>
              </a:spcBef>
              <a:spcAft>
                <a:spcPts val="0"/>
              </a:spcAft>
              <a:buNone/>
            </a:pPr>
            <a:r>
              <a:rPr lang="en"/>
              <a:t>Student activity starts on 38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1135be168d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1135be168d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135be168d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135be168d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135be168d2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1135be168d2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135be168d2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135be168d2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144f0f69f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1144f0f69f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135be168d2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1135be168d2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1135be168d2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1135be168d2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 Create student slides /activity sheets for them to work with</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135be168d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1135be168d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11384547e8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11384547e8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1135be168d2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1135be168d2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1138452da00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1138452da00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1144f2b046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1144f2b046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1138452da00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1138452da00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1135be168d2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1135be168d2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1135be168d2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1135be168d2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TO DO:  Revision </a:t>
            </a:r>
            <a:r>
              <a:rPr lang="en"/>
              <a:t>-  Add graphics to make this visual … also revise with strategiies</a:t>
            </a:r>
            <a:endParaRPr/>
          </a:p>
          <a:p>
            <a:pPr indent="0" lvl="0" marL="0" rtl="0" algn="l">
              <a:spcBef>
                <a:spcPts val="0"/>
              </a:spcBef>
              <a:spcAft>
                <a:spcPts val="0"/>
              </a:spcAft>
              <a:buNone/>
            </a:pPr>
            <a:r>
              <a:rPr lang="en"/>
              <a:t>Strategy - start with 1 for all weights</a:t>
            </a:r>
            <a:endParaRPr/>
          </a:p>
          <a:p>
            <a:pPr indent="0" lvl="0" marL="0" rtl="0" algn="l">
              <a:spcBef>
                <a:spcPts val="0"/>
              </a:spcBef>
              <a:spcAft>
                <a:spcPts val="0"/>
              </a:spcAft>
              <a:buClr>
                <a:schemeClr val="dk1"/>
              </a:buClr>
              <a:buSzPts val="1100"/>
              <a:buFont typeface="Arial"/>
              <a:buNone/>
            </a:pPr>
            <a:r>
              <a:rPr lang="en">
                <a:solidFill>
                  <a:schemeClr val="dk1"/>
                </a:solidFill>
              </a:rPr>
              <a:t>Strategy - Veto - instant negative weights </a:t>
            </a:r>
            <a:endParaRPr/>
          </a:p>
          <a:p>
            <a:pPr indent="0" lvl="0" marL="0" rtl="0" algn="l">
              <a:spcBef>
                <a:spcPts val="0"/>
              </a:spcBef>
              <a:spcAft>
                <a:spcPts val="0"/>
              </a:spcAft>
              <a:buNone/>
            </a:pPr>
            <a:r>
              <a:rPr lang="en"/>
              <a:t>Strategy - What is the case where I can go - Input: 101 needs to be </a:t>
            </a:r>
            <a:r>
              <a:rPr lang="en"/>
              <a:t>above</a:t>
            </a:r>
            <a:r>
              <a:rPr lang="en"/>
              <a:t> threshold. Otherwise, not threshold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Artist - some of them are tall and some of the are short, some with drinks, and some with tickets.</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1135be168d2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1135be168d2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25dc7c13ce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25dc7c13ce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1144f2b046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1144f2b046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1135be168d2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1135be168d2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1135be168d2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1135be168d2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1135be168d2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1135be168d2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1135be168d2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1135be168d2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1135be168d2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1135be168d2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1138452da00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1138452da00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1135be168d2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1135be168d2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1135be168d2_0_1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1135be168d2_0_1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1135be168d2_0_1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1135be168d2_0_1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25dc7c13ce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25dc7c13ce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000000"/>
              </a:buClr>
              <a:buSzPts val="2800"/>
              <a:buNone/>
              <a:defRPr sz="2800">
                <a:solidFill>
                  <a:srgbClr val="000000"/>
                </a:solidFill>
              </a:defRPr>
            </a:lvl1pPr>
            <a:lvl2pPr lvl="1" algn="ctr">
              <a:lnSpc>
                <a:spcPct val="100000"/>
              </a:lnSpc>
              <a:spcBef>
                <a:spcPts val="0"/>
              </a:spcBef>
              <a:spcAft>
                <a:spcPts val="0"/>
              </a:spcAft>
              <a:buClr>
                <a:srgbClr val="000000"/>
              </a:buClr>
              <a:buSzPts val="2800"/>
              <a:buNone/>
              <a:defRPr sz="2800">
                <a:solidFill>
                  <a:srgbClr val="000000"/>
                </a:solidFill>
              </a:defRPr>
            </a:lvl2pPr>
            <a:lvl3pPr lvl="2" algn="ctr">
              <a:lnSpc>
                <a:spcPct val="100000"/>
              </a:lnSpc>
              <a:spcBef>
                <a:spcPts val="0"/>
              </a:spcBef>
              <a:spcAft>
                <a:spcPts val="0"/>
              </a:spcAft>
              <a:buClr>
                <a:srgbClr val="000000"/>
              </a:buClr>
              <a:buSzPts val="2800"/>
              <a:buNone/>
              <a:defRPr sz="2800">
                <a:solidFill>
                  <a:srgbClr val="000000"/>
                </a:solidFill>
              </a:defRPr>
            </a:lvl3pPr>
            <a:lvl4pPr lvl="3" algn="ctr">
              <a:lnSpc>
                <a:spcPct val="100000"/>
              </a:lnSpc>
              <a:spcBef>
                <a:spcPts val="0"/>
              </a:spcBef>
              <a:spcAft>
                <a:spcPts val="0"/>
              </a:spcAft>
              <a:buClr>
                <a:srgbClr val="000000"/>
              </a:buClr>
              <a:buSzPts val="2800"/>
              <a:buNone/>
              <a:defRPr sz="2800">
                <a:solidFill>
                  <a:srgbClr val="000000"/>
                </a:solidFill>
              </a:defRPr>
            </a:lvl4pPr>
            <a:lvl5pPr lvl="4" algn="ctr">
              <a:lnSpc>
                <a:spcPct val="100000"/>
              </a:lnSpc>
              <a:spcBef>
                <a:spcPts val="0"/>
              </a:spcBef>
              <a:spcAft>
                <a:spcPts val="0"/>
              </a:spcAft>
              <a:buClr>
                <a:srgbClr val="000000"/>
              </a:buClr>
              <a:buSzPts val="2800"/>
              <a:buNone/>
              <a:defRPr sz="2800">
                <a:solidFill>
                  <a:srgbClr val="000000"/>
                </a:solidFill>
              </a:defRPr>
            </a:lvl5pPr>
            <a:lvl6pPr lvl="5" algn="ctr">
              <a:lnSpc>
                <a:spcPct val="100000"/>
              </a:lnSpc>
              <a:spcBef>
                <a:spcPts val="0"/>
              </a:spcBef>
              <a:spcAft>
                <a:spcPts val="0"/>
              </a:spcAft>
              <a:buClr>
                <a:srgbClr val="000000"/>
              </a:buClr>
              <a:buSzPts val="2800"/>
              <a:buNone/>
              <a:defRPr sz="2800">
                <a:solidFill>
                  <a:srgbClr val="000000"/>
                </a:solidFill>
              </a:defRPr>
            </a:lvl6pPr>
            <a:lvl7pPr lvl="6" algn="ctr">
              <a:lnSpc>
                <a:spcPct val="100000"/>
              </a:lnSpc>
              <a:spcBef>
                <a:spcPts val="0"/>
              </a:spcBef>
              <a:spcAft>
                <a:spcPts val="0"/>
              </a:spcAft>
              <a:buClr>
                <a:srgbClr val="000000"/>
              </a:buClr>
              <a:buSzPts val="2800"/>
              <a:buNone/>
              <a:defRPr sz="2800">
                <a:solidFill>
                  <a:srgbClr val="000000"/>
                </a:solidFill>
              </a:defRPr>
            </a:lvl7pPr>
            <a:lvl8pPr lvl="7" algn="ctr">
              <a:lnSpc>
                <a:spcPct val="100000"/>
              </a:lnSpc>
              <a:spcBef>
                <a:spcPts val="0"/>
              </a:spcBef>
              <a:spcAft>
                <a:spcPts val="0"/>
              </a:spcAft>
              <a:buClr>
                <a:srgbClr val="000000"/>
              </a:buClr>
              <a:buSzPts val="2800"/>
              <a:buNone/>
              <a:defRPr sz="2800">
                <a:solidFill>
                  <a:srgbClr val="000000"/>
                </a:solidFill>
              </a:defRPr>
            </a:lvl8pPr>
            <a:lvl9pPr lvl="8" algn="ctr">
              <a:lnSpc>
                <a:spcPct val="100000"/>
              </a:lnSpc>
              <a:spcBef>
                <a:spcPts val="0"/>
              </a:spcBef>
              <a:spcAft>
                <a:spcPts val="0"/>
              </a:spcAft>
              <a:buClr>
                <a:srgbClr val="000000"/>
              </a:buClr>
              <a:buSzPts val="2800"/>
              <a:buNone/>
              <a:defRPr sz="2800">
                <a:solidFill>
                  <a:srgbClr val="000000"/>
                </a:solidFill>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00000"/>
              </a:buClr>
              <a:buSzPts val="2800"/>
              <a:buNone/>
              <a:defRPr>
                <a:solidFill>
                  <a:srgbClr val="00000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000000"/>
              </a:buClr>
              <a:buSzPts val="1800"/>
              <a:buChar char="●"/>
              <a:defRPr>
                <a:solidFill>
                  <a:srgbClr val="000000"/>
                </a:solidFill>
              </a:defRPr>
            </a:lvl1pPr>
            <a:lvl2pPr indent="-317500" lvl="1" marL="914400">
              <a:spcBef>
                <a:spcPts val="0"/>
              </a:spcBef>
              <a:spcAft>
                <a:spcPts val="0"/>
              </a:spcAft>
              <a:buClr>
                <a:srgbClr val="000000"/>
              </a:buClr>
              <a:buSzPts val="1400"/>
              <a:buChar char="○"/>
              <a:defRPr>
                <a:solidFill>
                  <a:srgbClr val="000000"/>
                </a:solidFill>
              </a:defRPr>
            </a:lvl2pPr>
            <a:lvl3pPr indent="-317500" lvl="2" marL="1371600">
              <a:spcBef>
                <a:spcPts val="0"/>
              </a:spcBef>
              <a:spcAft>
                <a:spcPts val="0"/>
              </a:spcAft>
              <a:buClr>
                <a:srgbClr val="000000"/>
              </a:buClr>
              <a:buSzPts val="1400"/>
              <a:buChar char="■"/>
              <a:defRPr>
                <a:solidFill>
                  <a:srgbClr val="000000"/>
                </a:solidFill>
              </a:defRPr>
            </a:lvl3pPr>
            <a:lvl4pPr indent="-317500" lvl="3" marL="1828800">
              <a:spcBef>
                <a:spcPts val="0"/>
              </a:spcBef>
              <a:spcAft>
                <a:spcPts val="0"/>
              </a:spcAft>
              <a:buClr>
                <a:srgbClr val="000000"/>
              </a:buClr>
              <a:buSzPts val="1400"/>
              <a:buChar char="●"/>
              <a:defRPr>
                <a:solidFill>
                  <a:srgbClr val="000000"/>
                </a:solidFill>
              </a:defRPr>
            </a:lvl4pPr>
            <a:lvl5pPr indent="-317500" lvl="4" marL="2286000">
              <a:spcBef>
                <a:spcPts val="0"/>
              </a:spcBef>
              <a:spcAft>
                <a:spcPts val="0"/>
              </a:spcAft>
              <a:buClr>
                <a:srgbClr val="000000"/>
              </a:buClr>
              <a:buSzPts val="1400"/>
              <a:buChar char="○"/>
              <a:defRPr>
                <a:solidFill>
                  <a:srgbClr val="000000"/>
                </a:solidFill>
              </a:defRPr>
            </a:lvl5pPr>
            <a:lvl6pPr indent="-317500" lvl="5" marL="2743200">
              <a:spcBef>
                <a:spcPts val="0"/>
              </a:spcBef>
              <a:spcAft>
                <a:spcPts val="0"/>
              </a:spcAft>
              <a:buClr>
                <a:srgbClr val="000000"/>
              </a:buClr>
              <a:buSzPts val="1400"/>
              <a:buChar char="■"/>
              <a:defRPr>
                <a:solidFill>
                  <a:srgbClr val="000000"/>
                </a:solidFill>
              </a:defRPr>
            </a:lvl6pPr>
            <a:lvl7pPr indent="-317500" lvl="6" marL="3200400">
              <a:spcBef>
                <a:spcPts val="0"/>
              </a:spcBef>
              <a:spcAft>
                <a:spcPts val="0"/>
              </a:spcAft>
              <a:buClr>
                <a:srgbClr val="000000"/>
              </a:buClr>
              <a:buSzPts val="1400"/>
              <a:buChar char="●"/>
              <a:defRPr>
                <a:solidFill>
                  <a:srgbClr val="000000"/>
                </a:solidFill>
              </a:defRPr>
            </a:lvl7pPr>
            <a:lvl8pPr indent="-317500" lvl="7" marL="3657600">
              <a:spcBef>
                <a:spcPts val="0"/>
              </a:spcBef>
              <a:spcAft>
                <a:spcPts val="0"/>
              </a:spcAft>
              <a:buClr>
                <a:srgbClr val="000000"/>
              </a:buClr>
              <a:buSzPts val="1400"/>
              <a:buChar char="○"/>
              <a:defRPr>
                <a:solidFill>
                  <a:srgbClr val="000000"/>
                </a:solidFill>
              </a:defRPr>
            </a:lvl8pPr>
            <a:lvl9pPr indent="-317500" lvl="8" marL="4114800">
              <a:spcBef>
                <a:spcPts val="0"/>
              </a:spcBef>
              <a:spcAft>
                <a:spcPts val="0"/>
              </a:spcAft>
              <a:buClr>
                <a:srgbClr val="000000"/>
              </a:buClr>
              <a:buSzPts val="1400"/>
              <a:buChar char="■"/>
              <a:defRPr>
                <a:solidFill>
                  <a:srgbClr val="000000"/>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Char char="●"/>
              <a:defRPr sz="1400">
                <a:solidFill>
                  <a:srgbClr val="000000"/>
                </a:solidFill>
              </a:defRPr>
            </a:lvl1pPr>
            <a:lvl2pPr indent="-304800" lvl="1" marL="914400">
              <a:spcBef>
                <a:spcPts val="0"/>
              </a:spcBef>
              <a:spcAft>
                <a:spcPts val="0"/>
              </a:spcAft>
              <a:buClr>
                <a:srgbClr val="000000"/>
              </a:buClr>
              <a:buSzPts val="1200"/>
              <a:buChar char="○"/>
              <a:defRPr sz="1200">
                <a:solidFill>
                  <a:srgbClr val="000000"/>
                </a:solidFill>
              </a:defRPr>
            </a:lvl2pPr>
            <a:lvl3pPr indent="-304800" lvl="2" marL="1371600">
              <a:spcBef>
                <a:spcPts val="0"/>
              </a:spcBef>
              <a:spcAft>
                <a:spcPts val="0"/>
              </a:spcAft>
              <a:buClr>
                <a:srgbClr val="000000"/>
              </a:buClr>
              <a:buSzPts val="1200"/>
              <a:buChar char="■"/>
              <a:defRPr sz="1200">
                <a:solidFill>
                  <a:srgbClr val="000000"/>
                </a:solidFill>
              </a:defRPr>
            </a:lvl3pPr>
            <a:lvl4pPr indent="-304800" lvl="3" marL="1828800">
              <a:spcBef>
                <a:spcPts val="0"/>
              </a:spcBef>
              <a:spcAft>
                <a:spcPts val="0"/>
              </a:spcAft>
              <a:buClr>
                <a:srgbClr val="000000"/>
              </a:buClr>
              <a:buSzPts val="1200"/>
              <a:buChar char="●"/>
              <a:defRPr sz="12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304800" lvl="5" marL="2743200">
              <a:spcBef>
                <a:spcPts val="0"/>
              </a:spcBef>
              <a:spcAft>
                <a:spcPts val="0"/>
              </a:spcAft>
              <a:buClr>
                <a:srgbClr val="000000"/>
              </a:buClr>
              <a:buSzPts val="1200"/>
              <a:buChar char="■"/>
              <a:defRPr sz="1200">
                <a:solidFill>
                  <a:srgbClr val="000000"/>
                </a:solidFill>
              </a:defRPr>
            </a:lvl6pPr>
            <a:lvl7pPr indent="-304800" lvl="6" marL="3200400">
              <a:spcBef>
                <a:spcPts val="0"/>
              </a:spcBef>
              <a:spcAft>
                <a:spcPts val="0"/>
              </a:spcAft>
              <a:buClr>
                <a:srgbClr val="000000"/>
              </a:buClr>
              <a:buSzPts val="1200"/>
              <a:buChar char="●"/>
              <a:defRPr sz="1200">
                <a:solidFill>
                  <a:srgbClr val="000000"/>
                </a:solidFill>
              </a:defRPr>
            </a:lvl7pPr>
            <a:lvl8pPr indent="-304800" lvl="7" marL="3657600">
              <a:spcBef>
                <a:spcPts val="0"/>
              </a:spcBef>
              <a:spcAft>
                <a:spcPts val="0"/>
              </a:spcAft>
              <a:buClr>
                <a:srgbClr val="000000"/>
              </a:buClr>
              <a:buSzPts val="1200"/>
              <a:buChar char="○"/>
              <a:defRPr sz="1200">
                <a:solidFill>
                  <a:srgbClr val="000000"/>
                </a:solidFill>
              </a:defRPr>
            </a:lvl8pPr>
            <a:lvl9pPr indent="-304800" lvl="8" marL="4114800">
              <a:spcBef>
                <a:spcPts val="0"/>
              </a:spcBef>
              <a:spcAft>
                <a:spcPts val="0"/>
              </a:spcAft>
              <a:buClr>
                <a:srgbClr val="000000"/>
              </a:buClr>
              <a:buSzPts val="1200"/>
              <a:buChar char="■"/>
              <a:defRPr sz="1200">
                <a:solidFill>
                  <a:srgbClr val="000000"/>
                </a:solidFill>
              </a:defRPr>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Char char="●"/>
              <a:defRPr sz="1400">
                <a:solidFill>
                  <a:srgbClr val="000000"/>
                </a:solidFill>
              </a:defRPr>
            </a:lvl1pPr>
            <a:lvl2pPr indent="-304800" lvl="1" marL="914400">
              <a:spcBef>
                <a:spcPts val="0"/>
              </a:spcBef>
              <a:spcAft>
                <a:spcPts val="0"/>
              </a:spcAft>
              <a:buClr>
                <a:srgbClr val="000000"/>
              </a:buClr>
              <a:buSzPts val="1200"/>
              <a:buChar char="○"/>
              <a:defRPr sz="1200">
                <a:solidFill>
                  <a:srgbClr val="000000"/>
                </a:solidFill>
              </a:defRPr>
            </a:lvl2pPr>
            <a:lvl3pPr indent="-304800" lvl="2" marL="1371600">
              <a:spcBef>
                <a:spcPts val="0"/>
              </a:spcBef>
              <a:spcAft>
                <a:spcPts val="0"/>
              </a:spcAft>
              <a:buClr>
                <a:srgbClr val="000000"/>
              </a:buClr>
              <a:buSzPts val="1200"/>
              <a:buChar char="■"/>
              <a:defRPr sz="1200">
                <a:solidFill>
                  <a:srgbClr val="000000"/>
                </a:solidFill>
              </a:defRPr>
            </a:lvl3pPr>
            <a:lvl4pPr indent="-304800" lvl="3" marL="1828800">
              <a:spcBef>
                <a:spcPts val="0"/>
              </a:spcBef>
              <a:spcAft>
                <a:spcPts val="0"/>
              </a:spcAft>
              <a:buClr>
                <a:srgbClr val="000000"/>
              </a:buClr>
              <a:buSzPts val="1200"/>
              <a:buChar char="●"/>
              <a:defRPr sz="12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304800" lvl="5" marL="2743200">
              <a:spcBef>
                <a:spcPts val="0"/>
              </a:spcBef>
              <a:spcAft>
                <a:spcPts val="0"/>
              </a:spcAft>
              <a:buClr>
                <a:srgbClr val="000000"/>
              </a:buClr>
              <a:buSzPts val="1200"/>
              <a:buChar char="■"/>
              <a:defRPr sz="1200">
                <a:solidFill>
                  <a:srgbClr val="000000"/>
                </a:solidFill>
              </a:defRPr>
            </a:lvl6pPr>
            <a:lvl7pPr indent="-304800" lvl="6" marL="3200400">
              <a:spcBef>
                <a:spcPts val="0"/>
              </a:spcBef>
              <a:spcAft>
                <a:spcPts val="0"/>
              </a:spcAft>
              <a:buClr>
                <a:srgbClr val="000000"/>
              </a:buClr>
              <a:buSzPts val="1200"/>
              <a:buChar char="●"/>
              <a:defRPr sz="1200">
                <a:solidFill>
                  <a:srgbClr val="000000"/>
                </a:solidFill>
              </a:defRPr>
            </a:lvl7pPr>
            <a:lvl8pPr indent="-304800" lvl="7" marL="3657600">
              <a:spcBef>
                <a:spcPts val="0"/>
              </a:spcBef>
              <a:spcAft>
                <a:spcPts val="0"/>
              </a:spcAft>
              <a:buClr>
                <a:srgbClr val="000000"/>
              </a:buClr>
              <a:buSzPts val="1200"/>
              <a:buChar char="○"/>
              <a:defRPr sz="1200">
                <a:solidFill>
                  <a:srgbClr val="000000"/>
                </a:solidFill>
              </a:defRPr>
            </a:lvl8pPr>
            <a:lvl9pPr indent="-304800" lvl="8" marL="4114800">
              <a:spcBef>
                <a:spcPts val="0"/>
              </a:spcBef>
              <a:spcAft>
                <a:spcPts val="0"/>
              </a:spcAft>
              <a:buClr>
                <a:srgbClr val="000000"/>
              </a:buClr>
              <a:buSzPts val="1200"/>
              <a:buChar char="■"/>
              <a:defRPr sz="1200">
                <a:solidFill>
                  <a:srgbClr val="000000"/>
                </a:solidFill>
              </a:defRPr>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rgbClr val="000000"/>
              </a:buClr>
              <a:buSzPts val="1200"/>
              <a:buChar char="●"/>
              <a:defRPr sz="1200">
                <a:solidFill>
                  <a:srgbClr val="000000"/>
                </a:solidFill>
              </a:defRPr>
            </a:lvl1pPr>
            <a:lvl2pPr indent="-304800" lvl="1" marL="914400">
              <a:spcBef>
                <a:spcPts val="0"/>
              </a:spcBef>
              <a:spcAft>
                <a:spcPts val="0"/>
              </a:spcAft>
              <a:buClr>
                <a:srgbClr val="000000"/>
              </a:buClr>
              <a:buSzPts val="1200"/>
              <a:buChar char="○"/>
              <a:defRPr sz="1200">
                <a:solidFill>
                  <a:srgbClr val="000000"/>
                </a:solidFill>
              </a:defRPr>
            </a:lvl2pPr>
            <a:lvl3pPr indent="-304800" lvl="2" marL="1371600">
              <a:spcBef>
                <a:spcPts val="0"/>
              </a:spcBef>
              <a:spcAft>
                <a:spcPts val="0"/>
              </a:spcAft>
              <a:buClr>
                <a:srgbClr val="000000"/>
              </a:buClr>
              <a:buSzPts val="1200"/>
              <a:buChar char="■"/>
              <a:defRPr sz="1200">
                <a:solidFill>
                  <a:srgbClr val="000000"/>
                </a:solidFill>
              </a:defRPr>
            </a:lvl3pPr>
            <a:lvl4pPr indent="-304800" lvl="3" marL="1828800">
              <a:spcBef>
                <a:spcPts val="0"/>
              </a:spcBef>
              <a:spcAft>
                <a:spcPts val="0"/>
              </a:spcAft>
              <a:buClr>
                <a:srgbClr val="000000"/>
              </a:buClr>
              <a:buSzPts val="1200"/>
              <a:buChar char="●"/>
              <a:defRPr sz="12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304800" lvl="5" marL="2743200">
              <a:spcBef>
                <a:spcPts val="0"/>
              </a:spcBef>
              <a:spcAft>
                <a:spcPts val="0"/>
              </a:spcAft>
              <a:buClr>
                <a:srgbClr val="000000"/>
              </a:buClr>
              <a:buSzPts val="1200"/>
              <a:buChar char="■"/>
              <a:defRPr sz="1200">
                <a:solidFill>
                  <a:srgbClr val="000000"/>
                </a:solidFill>
              </a:defRPr>
            </a:lvl6pPr>
            <a:lvl7pPr indent="-304800" lvl="6" marL="3200400">
              <a:spcBef>
                <a:spcPts val="0"/>
              </a:spcBef>
              <a:spcAft>
                <a:spcPts val="0"/>
              </a:spcAft>
              <a:buClr>
                <a:srgbClr val="000000"/>
              </a:buClr>
              <a:buSzPts val="1200"/>
              <a:buChar char="●"/>
              <a:defRPr sz="1200">
                <a:solidFill>
                  <a:srgbClr val="000000"/>
                </a:solidFill>
              </a:defRPr>
            </a:lvl7pPr>
            <a:lvl8pPr indent="-304800" lvl="7" marL="3657600">
              <a:spcBef>
                <a:spcPts val="0"/>
              </a:spcBef>
              <a:spcAft>
                <a:spcPts val="0"/>
              </a:spcAft>
              <a:buClr>
                <a:srgbClr val="000000"/>
              </a:buClr>
              <a:buSzPts val="1200"/>
              <a:buChar char="○"/>
              <a:defRPr sz="1200">
                <a:solidFill>
                  <a:srgbClr val="000000"/>
                </a:solidFill>
              </a:defRPr>
            </a:lvl8pPr>
            <a:lvl9pPr indent="-304800" lvl="8" marL="4114800">
              <a:spcBef>
                <a:spcPts val="0"/>
              </a:spcBef>
              <a:spcAft>
                <a:spcPts val="0"/>
              </a:spcAft>
              <a:buClr>
                <a:srgbClr val="000000"/>
              </a:buClr>
              <a:buSzPts val="1200"/>
              <a:buChar char="■"/>
              <a:defRPr sz="1200">
                <a:solidFill>
                  <a:srgbClr val="000000"/>
                </a:solidFill>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creativecommons.org/licenses/by-nc-sa/4.0/" TargetMode="External"/><Relationship Id="rId6"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4qVRBYAdLAo" TargetMode="External"/><Relationship Id="rId4"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www.youtube.com/watch?v=rEDzUT3ymw4" TargetMode="Externa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4.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2156750" y="733775"/>
            <a:ext cx="6987300" cy="1189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3.5</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Neural Networks</a:t>
            </a:r>
            <a:endParaRPr sz="2355">
              <a:solidFill>
                <a:schemeClr val="dk2"/>
              </a:solidFill>
              <a:latin typeface="Merriweather"/>
              <a:ea typeface="Merriweather"/>
              <a:cs typeface="Merriweather"/>
              <a:sym typeface="Merriweather"/>
            </a:endParaRPr>
          </a:p>
        </p:txBody>
      </p:sp>
      <p:pic>
        <p:nvPicPr>
          <p:cNvPr id="100" name="Google Shape;100;p25"/>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01" name="Google Shape;101;p25"/>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02" name="Google Shape;102;p25"/>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03" name="Google Shape;103;p25"/>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04" name="Google Shape;104;p25"/>
          <p:cNvPicPr preferRelativeResize="0"/>
          <p:nvPr/>
        </p:nvPicPr>
        <p:blipFill>
          <a:blip r:embed="rId6">
            <a:alphaModFix/>
          </a:blip>
          <a:stretch>
            <a:fillRect/>
          </a:stretch>
        </p:blipFill>
        <p:spPr>
          <a:xfrm>
            <a:off x="4190846" y="1790350"/>
            <a:ext cx="2701225" cy="2701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6"/>
          <p:cNvSpPr txBox="1"/>
          <p:nvPr>
            <p:ph type="title"/>
          </p:nvPr>
        </p:nvSpPr>
        <p:spPr>
          <a:xfrm>
            <a:off x="334375" y="1902588"/>
            <a:ext cx="8520600" cy="215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440"/>
              <a:t>A lot of the AI applications you’ve used have neural networks inside of them.</a:t>
            </a:r>
            <a:endParaRPr sz="2440"/>
          </a:p>
          <a:p>
            <a:pPr indent="0" lvl="0" marL="0" rtl="0" algn="ctr">
              <a:spcBef>
                <a:spcPts val="0"/>
              </a:spcBef>
              <a:spcAft>
                <a:spcPts val="0"/>
              </a:spcAft>
              <a:buSzPts val="990"/>
              <a:buNone/>
            </a:pPr>
            <a:r>
              <a:t/>
            </a:r>
            <a:endParaRPr sz="2440"/>
          </a:p>
          <a:p>
            <a:pPr indent="0" lvl="0" marL="0" rtl="0" algn="ctr">
              <a:spcBef>
                <a:spcPts val="0"/>
              </a:spcBef>
              <a:spcAft>
                <a:spcPts val="0"/>
              </a:spcAft>
              <a:buSzPts val="990"/>
              <a:buNone/>
            </a:pPr>
            <a:r>
              <a:rPr lang="en" sz="2440"/>
              <a:t>This is the dominant technology today for many areas of AI.</a:t>
            </a:r>
            <a:endParaRPr sz="2440"/>
          </a:p>
        </p:txBody>
      </p:sp>
      <p:sp>
        <p:nvSpPr>
          <p:cNvPr id="110" name="Google Shape;11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11" name="Google Shape;111;p26"/>
          <p:cNvPicPr preferRelativeResize="0"/>
          <p:nvPr/>
        </p:nvPicPr>
        <p:blipFill>
          <a:blip r:embed="rId3">
            <a:alphaModFix/>
          </a:blip>
          <a:stretch>
            <a:fillRect/>
          </a:stretch>
        </p:blipFill>
        <p:spPr>
          <a:xfrm>
            <a:off x="6688900" y="-3"/>
            <a:ext cx="2412894" cy="1823850"/>
          </a:xfrm>
          <a:prstGeom prst="rect">
            <a:avLst/>
          </a:prstGeom>
          <a:noFill/>
          <a:ln>
            <a:noFill/>
          </a:ln>
        </p:spPr>
      </p:pic>
      <p:pic>
        <p:nvPicPr>
          <p:cNvPr id="112" name="Google Shape;112;p26"/>
          <p:cNvPicPr preferRelativeResize="0"/>
          <p:nvPr/>
        </p:nvPicPr>
        <p:blipFill>
          <a:blip r:embed="rId4">
            <a:alphaModFix/>
          </a:blip>
          <a:stretch>
            <a:fillRect/>
          </a:stretch>
        </p:blipFill>
        <p:spPr>
          <a:xfrm>
            <a:off x="2639925" y="0"/>
            <a:ext cx="3909499" cy="1823850"/>
          </a:xfrm>
          <a:prstGeom prst="rect">
            <a:avLst/>
          </a:prstGeom>
          <a:noFill/>
          <a:ln>
            <a:noFill/>
          </a:ln>
        </p:spPr>
      </p:pic>
      <p:pic>
        <p:nvPicPr>
          <p:cNvPr id="113" name="Google Shape;113;p26"/>
          <p:cNvPicPr preferRelativeResize="0"/>
          <p:nvPr/>
        </p:nvPicPr>
        <p:blipFill>
          <a:blip r:embed="rId5">
            <a:alphaModFix/>
          </a:blip>
          <a:stretch>
            <a:fillRect/>
          </a:stretch>
        </p:blipFill>
        <p:spPr>
          <a:xfrm>
            <a:off x="42200" y="72113"/>
            <a:ext cx="2519426" cy="1679625"/>
          </a:xfrm>
          <a:prstGeom prst="rect">
            <a:avLst/>
          </a:prstGeom>
          <a:noFill/>
          <a:ln>
            <a:noFill/>
          </a:ln>
        </p:spPr>
      </p:pic>
      <p:pic>
        <p:nvPicPr>
          <p:cNvPr id="114" name="Google Shape;114;p26"/>
          <p:cNvPicPr preferRelativeResize="0"/>
          <p:nvPr/>
        </p:nvPicPr>
        <p:blipFill rotWithShape="1">
          <a:blip r:embed="rId6">
            <a:alphaModFix/>
          </a:blip>
          <a:srcRect b="12583" l="0" r="0" t="8177"/>
          <a:stretch/>
        </p:blipFill>
        <p:spPr>
          <a:xfrm>
            <a:off x="2882450" y="3783488"/>
            <a:ext cx="3424459" cy="14542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Only in the last 15 years have neural nets become</a:t>
            </a:r>
            <a:r>
              <a:rPr lang="en"/>
              <a:t> good enough to have practical uses…. Let’s look at where they started</a:t>
            </a:r>
            <a:endParaRPr/>
          </a:p>
        </p:txBody>
      </p:sp>
      <p:pic>
        <p:nvPicPr>
          <p:cNvPr descr="Today we’re going to teach John Green Bot how to tell the difference between donuts and bagels using supervised learning! Supervised learning is the process of learning WITH training labels, and is the most widely used kind of learning with it comes to AI - helping with stuff like tagging photos on Facebook and filtering spam from your email. We’re going to start small today and show how just a single neuron (or perceptron) is constructed, and explain the differences between precision and recall. Next week, we'll build our first neural network. &#10;&#10;Read more about the perceptron and update rule here: https://jontysinai.github.io/jekyll/update/2017/11/11/the-perceptron.html&#10;&#10;Crash Course is produced in association with PBS Digital Studios. &#10;https://www.youtube.com/pbsdigitalstudios&#10;&#10;Crash Course is on Patreon! You can support us directly by signing up at http://www.patreon.com/crashcourse&#10;&#10;Thanks to the following patrons for their generous monthly contributions that help keep Crash Course free for everyone forever:&#10;&#10;Eric Prestemon, Sam Buck, Mark Brouwer, Timothy J Kwist, Brian Thomas Gossett, Haxiang N/A Liu, Jonathan Zbikowski, Siobhan Sabino, Zach Van Stanley, Bob Doye, Jennifer Killen, Nathan Catchings, Brandon Westmoreland, dorsey, Indika Siriwardena, Kenneth F Penttinen, Trevin Beattie, Erika &amp; Alexa Saur, Justin Zingsheim, Jessica Wode, Tom Trval, Jason Saslow, Nathan Taylor, Khaled El Shalakany, SR Foxley, Sam Ferguson, Yasenia Cruz, Eric Koslow, Caleb Weeks, Tim Curwick, David Noe, Shawn Arnold, William McGraw, Andrei Krishkevich, Rachel Bright, Jirat, Ian Dundore&#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10;&#10;#CrashCourse #ArtificialIntelligence #MachineLearning" id="120" name="Google Shape;120;p27" title="Supervised Learning: Crash Course AI #2">
            <a:hlinkClick r:id="rId3"/>
          </p:cNvPr>
          <p:cNvPicPr preferRelativeResize="0"/>
          <p:nvPr/>
        </p:nvPicPr>
        <p:blipFill>
          <a:blip r:embed="rId4">
            <a:alphaModFix/>
          </a:blip>
          <a:stretch>
            <a:fillRect/>
          </a:stretch>
        </p:blipFill>
        <p:spPr>
          <a:xfrm>
            <a:off x="2352725" y="1403600"/>
            <a:ext cx="4572000" cy="3429000"/>
          </a:xfrm>
          <a:prstGeom prst="rect">
            <a:avLst/>
          </a:prstGeom>
          <a:noFill/>
          <a:ln>
            <a:noFill/>
          </a:ln>
        </p:spPr>
      </p:pic>
      <p:sp>
        <p:nvSpPr>
          <p:cNvPr id="121" name="Google Shape;121;p27"/>
          <p:cNvSpPr txBox="1"/>
          <p:nvPr/>
        </p:nvSpPr>
        <p:spPr>
          <a:xfrm>
            <a:off x="474025" y="2865350"/>
            <a:ext cx="962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Cue this and add URL</a:t>
            </a:r>
            <a:endParaRPr/>
          </a:p>
        </p:txBody>
      </p:sp>
      <p:sp>
        <p:nvSpPr>
          <p:cNvPr id="122" name="Google Shape;122;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40"/>
              <a:t>Decision Trees vs. Neural N</a:t>
            </a:r>
            <a:r>
              <a:rPr lang="en" sz="2440"/>
              <a:t>etworks</a:t>
            </a:r>
            <a:endParaRPr sz="2440"/>
          </a:p>
        </p:txBody>
      </p:sp>
      <p:sp>
        <p:nvSpPr>
          <p:cNvPr id="128" name="Google Shape;12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Clr>
                <a:schemeClr val="dk1"/>
              </a:buClr>
              <a:buSzPts val="990"/>
              <a:buFont typeface="Arial"/>
              <a:buNone/>
            </a:pPr>
            <a:r>
              <a:rPr lang="en">
                <a:solidFill>
                  <a:schemeClr val="dk1"/>
                </a:solidFill>
              </a:rPr>
              <a:t>We learned how to build decision trees. They are useful for some types of problems.</a:t>
            </a:r>
            <a:endParaRPr>
              <a:solidFill>
                <a:schemeClr val="dk1"/>
              </a:solidFill>
            </a:endParaRPr>
          </a:p>
          <a:p>
            <a:pPr indent="-342900" lvl="0" marL="457200" rtl="0" algn="l">
              <a:lnSpc>
                <a:spcPct val="100000"/>
              </a:lnSpc>
              <a:spcBef>
                <a:spcPts val="1000"/>
              </a:spcBef>
              <a:spcAft>
                <a:spcPts val="0"/>
              </a:spcAft>
              <a:buClr>
                <a:schemeClr val="dk1"/>
              </a:buClr>
              <a:buSzPts val="1800"/>
              <a:buChar char="●"/>
            </a:pPr>
            <a:r>
              <a:rPr lang="en">
                <a:solidFill>
                  <a:schemeClr val="dk1"/>
                </a:solidFill>
              </a:rPr>
              <a:t>Decision trees require less data to train.</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lang="en">
                <a:solidFill>
                  <a:schemeClr val="dk1"/>
                </a:solidFill>
              </a:rPr>
              <a:t>Decision trees can “explain” their conclusions in terms of features we understand.</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rPr lang="en">
                <a:solidFill>
                  <a:schemeClr val="dk1"/>
                </a:solidFill>
              </a:rPr>
              <a:t>But for really hard problems, neural networks work better. Why?</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rPr lang="en">
                <a:solidFill>
                  <a:schemeClr val="dk1"/>
                </a:solidFill>
              </a:rPr>
              <a:t>Decision trees depend on having a good feature set. What if we don’t?</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990"/>
              <a:buFont typeface="Arial"/>
              <a:buNone/>
            </a:pPr>
            <a:r>
              <a:rPr lang="en">
                <a:solidFill>
                  <a:schemeClr val="dk1"/>
                </a:solidFill>
              </a:rPr>
              <a:t>Neural networks can create their own features. This allows them to come up with sophisticated solutions to hard problems, such as understanding speech or images, that decision trees can’t handle.</a:t>
            </a:r>
            <a:endParaRPr/>
          </a:p>
        </p:txBody>
      </p:sp>
      <p:sp>
        <p:nvSpPr>
          <p:cNvPr id="129" name="Google Shape;12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human brain contains roughly 86 billion neurons wired together in intricate patterns. This is the inspiration for artificial neural networks.</a:t>
            </a:r>
            <a:br>
              <a:rPr lang="en"/>
            </a:br>
            <a:endParaRPr/>
          </a:p>
          <a:p>
            <a:pPr indent="-342900" lvl="0" marL="457200" rtl="0" algn="l">
              <a:spcBef>
                <a:spcPts val="0"/>
              </a:spcBef>
              <a:spcAft>
                <a:spcPts val="0"/>
              </a:spcAft>
              <a:buSzPts val="1800"/>
              <a:buChar char="●"/>
            </a:pPr>
            <a:r>
              <a:rPr lang="en"/>
              <a:t>But biological neurons are more complex than artificial neurons, and real brain wiring is more complex than artificial neural networks.</a:t>
            </a:r>
            <a:endParaRPr/>
          </a:p>
        </p:txBody>
      </p:sp>
      <p:sp>
        <p:nvSpPr>
          <p:cNvPr id="135" name="Google Shape;13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are they called “neural” networks?</a:t>
            </a:r>
            <a:endParaRPr/>
          </a:p>
        </p:txBody>
      </p:sp>
      <p:sp>
        <p:nvSpPr>
          <p:cNvPr id="136" name="Google Shape;13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37" name="Google Shape;137;p29"/>
          <p:cNvPicPr preferRelativeResize="0"/>
          <p:nvPr/>
        </p:nvPicPr>
        <p:blipFill rotWithShape="1">
          <a:blip r:embed="rId3">
            <a:alphaModFix/>
          </a:blip>
          <a:srcRect b="0" l="0" r="48657" t="0"/>
          <a:stretch/>
        </p:blipFill>
        <p:spPr>
          <a:xfrm>
            <a:off x="1161675" y="2931725"/>
            <a:ext cx="2531176" cy="2125101"/>
          </a:xfrm>
          <a:prstGeom prst="rect">
            <a:avLst/>
          </a:prstGeom>
          <a:noFill/>
          <a:ln>
            <a:noFill/>
          </a:ln>
        </p:spPr>
      </p:pic>
      <p:pic>
        <p:nvPicPr>
          <p:cNvPr id="138" name="Google Shape;138;p29"/>
          <p:cNvPicPr preferRelativeResize="0"/>
          <p:nvPr/>
        </p:nvPicPr>
        <p:blipFill rotWithShape="1">
          <a:blip r:embed="rId3">
            <a:alphaModFix/>
          </a:blip>
          <a:srcRect b="18520" l="57947" r="0" t="0"/>
          <a:stretch/>
        </p:blipFill>
        <p:spPr>
          <a:xfrm>
            <a:off x="4937500" y="3030625"/>
            <a:ext cx="2073126" cy="1731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Beware the “hype” around neural networks</a:t>
            </a:r>
            <a:endParaRPr/>
          </a:p>
        </p:txBody>
      </p:sp>
      <p:sp>
        <p:nvSpPr>
          <p:cNvPr id="144" name="Google Shape;14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30"/>
          <p:cNvSpPr txBox="1"/>
          <p:nvPr>
            <p:ph idx="1" type="body"/>
          </p:nvPr>
        </p:nvSpPr>
        <p:spPr>
          <a:xfrm>
            <a:off x="311700" y="1152475"/>
            <a:ext cx="6970800" cy="168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Historically, neural networks were inspired by by ideas about how neurons in the brain might work.</a:t>
            </a:r>
            <a:endParaRPr/>
          </a:p>
          <a:p>
            <a:pPr indent="-342900" lvl="0" marL="457200" rtl="0" algn="l">
              <a:spcBef>
                <a:spcPts val="0"/>
              </a:spcBef>
              <a:spcAft>
                <a:spcPts val="0"/>
              </a:spcAft>
              <a:buSzPts val="1800"/>
              <a:buChar char="●"/>
            </a:pPr>
            <a:r>
              <a:rPr lang="en"/>
              <a:t>But we don’t actually know how our brains reason, learn, imagine, etc. So…</a:t>
            </a:r>
            <a:endParaRPr/>
          </a:p>
        </p:txBody>
      </p:sp>
      <p:pic>
        <p:nvPicPr>
          <p:cNvPr id="146" name="Google Shape;146;p30"/>
          <p:cNvPicPr preferRelativeResize="0"/>
          <p:nvPr/>
        </p:nvPicPr>
        <p:blipFill>
          <a:blip r:embed="rId3">
            <a:alphaModFix/>
          </a:blip>
          <a:stretch>
            <a:fillRect/>
          </a:stretch>
        </p:blipFill>
        <p:spPr>
          <a:xfrm rot="5400000">
            <a:off x="3407988" y="3158988"/>
            <a:ext cx="1914600" cy="1281375"/>
          </a:xfrm>
          <a:prstGeom prst="rect">
            <a:avLst/>
          </a:prstGeom>
          <a:noFill/>
          <a:ln>
            <a:noFill/>
          </a:ln>
        </p:spPr>
      </p:pic>
      <p:pic>
        <p:nvPicPr>
          <p:cNvPr id="147" name="Google Shape;147;p30"/>
          <p:cNvPicPr preferRelativeResize="0"/>
          <p:nvPr/>
        </p:nvPicPr>
        <p:blipFill rotWithShape="1">
          <a:blip r:embed="rId4">
            <a:alphaModFix/>
          </a:blip>
          <a:srcRect b="0" l="19967" r="0" t="0"/>
          <a:stretch/>
        </p:blipFill>
        <p:spPr>
          <a:xfrm>
            <a:off x="454500" y="2842375"/>
            <a:ext cx="3151800" cy="2205448"/>
          </a:xfrm>
          <a:prstGeom prst="rect">
            <a:avLst/>
          </a:prstGeom>
          <a:noFill/>
          <a:ln>
            <a:noFill/>
          </a:ln>
        </p:spPr>
      </p:pic>
      <p:sp>
        <p:nvSpPr>
          <p:cNvPr id="148" name="Google Shape;148;p30"/>
          <p:cNvSpPr txBox="1"/>
          <p:nvPr/>
        </p:nvSpPr>
        <p:spPr>
          <a:xfrm>
            <a:off x="5124275" y="2571750"/>
            <a:ext cx="3151800" cy="182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rPr>
              <a:t>Anyone who tells you that neural nets “work the way the brain does” is wrong. They have bought the hype.</a:t>
            </a:r>
            <a:endParaRPr sz="1800">
              <a:solidFill>
                <a:schemeClr val="dk1"/>
              </a:solidFill>
            </a:endParaRPr>
          </a:p>
          <a:p>
            <a:pPr indent="0" lvl="0" marL="0" rtl="0" algn="l">
              <a:spcBef>
                <a:spcPts val="1200"/>
              </a:spcBef>
              <a:spcAft>
                <a:spcPts val="0"/>
              </a:spcAft>
              <a:buNone/>
            </a:pPr>
            <a:r>
              <a:t/>
            </a:r>
            <a:endParaRPr/>
          </a:p>
        </p:txBody>
      </p:sp>
      <p:sp>
        <p:nvSpPr>
          <p:cNvPr id="149" name="Google Shape;149;p30"/>
          <p:cNvSpPr txBox="1"/>
          <p:nvPr/>
        </p:nvSpPr>
        <p:spPr>
          <a:xfrm>
            <a:off x="5320650" y="4341050"/>
            <a:ext cx="315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ermanent Marker"/>
                <a:ea typeface="Permanent Marker"/>
                <a:cs typeface="Permanent Marker"/>
                <a:sym typeface="Permanent Marker"/>
              </a:rPr>
              <a:t>Don’t buy the hype.</a:t>
            </a:r>
            <a:endParaRPr sz="1800">
              <a:latin typeface="Permanent Marker"/>
              <a:ea typeface="Permanent Marker"/>
              <a:cs typeface="Permanent Marker"/>
              <a:sym typeface="Permanent Mark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Neural Networks in a Minute</a:t>
            </a:r>
            <a:endParaRPr/>
          </a:p>
        </p:txBody>
      </p:sp>
      <p:pic>
        <p:nvPicPr>
          <p:cNvPr descr="Artificial Neural Networks explained in a minute.&#10;&#10;As you might have already guessed, there are a lot of things that didn't fit into this one-minute explanation. You can read my accompanying blogpost for some more details on things I might have left out: https://arztsamuel.github.io/en/blogs/2018/EiaM-NeuralNetworks.html&#10;&#10;If you like these kind of videos and would like to see more technical topics explained in a minute, let me know by pressing the like button.&#10;&#10;Don't miss any future videos, by subscribing to my channel.&#10;Follow me on Twitter: https://twitter.com/SamuelArzt&#10;&#10;Interested in this series? You can find more information about it on my website: https://arztsamuel.github.io/en/projects/youtube/explained/explained.html&#10;&#10;This video was recorded with a potato.&#10;&#10;Background Music: Drops of H2O ( The Filtered Water Treatment ) by J.Lang (c) copyright 2012 Licensed under a Creative Commons Attribution (3.0) license. http://dig.ccmixter.org/files/djlang59/37792 Ft: Airtone&#10;&#10;#NeuralNetworks #MachineLearning #Tutorial" id="155" name="Google Shape;155;p31" title="Explained In A Minute: Neural Networks">
            <a:hlinkClick r:id="rId3"/>
          </p:cNvPr>
          <p:cNvPicPr preferRelativeResize="0"/>
          <p:nvPr/>
        </p:nvPicPr>
        <p:blipFill>
          <a:blip r:embed="rId4">
            <a:alphaModFix/>
          </a:blip>
          <a:stretch>
            <a:fillRect/>
          </a:stretch>
        </p:blipFill>
        <p:spPr>
          <a:xfrm>
            <a:off x="1765500" y="1170125"/>
            <a:ext cx="4572000" cy="3429000"/>
          </a:xfrm>
          <a:prstGeom prst="rect">
            <a:avLst/>
          </a:prstGeom>
          <a:noFill/>
          <a:ln>
            <a:noFill/>
          </a:ln>
        </p:spPr>
      </p:pic>
      <p:sp>
        <p:nvSpPr>
          <p:cNvPr id="156" name="Google Shape;156;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31"/>
          <p:cNvSpPr txBox="1"/>
          <p:nvPr/>
        </p:nvSpPr>
        <p:spPr>
          <a:xfrm>
            <a:off x="952100" y="4599125"/>
            <a:ext cx="6304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URL (time)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neural network?</a:t>
            </a:r>
            <a:endParaRPr/>
          </a:p>
        </p:txBody>
      </p:sp>
      <p:sp>
        <p:nvSpPr>
          <p:cNvPr id="163" name="Google Shape;163;p32"/>
          <p:cNvSpPr txBox="1"/>
          <p:nvPr>
            <p:ph idx="1" type="body"/>
          </p:nvPr>
        </p:nvSpPr>
        <p:spPr>
          <a:xfrm>
            <a:off x="311700" y="1152475"/>
            <a:ext cx="8520600" cy="3904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large, complex mathematical function that maps inputs to outputs.</a:t>
            </a:r>
            <a:endParaRPr/>
          </a:p>
          <a:p>
            <a:pPr indent="-317500" lvl="1" marL="914400" rtl="0" algn="l">
              <a:spcBef>
                <a:spcPts val="0"/>
              </a:spcBef>
              <a:spcAft>
                <a:spcPts val="0"/>
              </a:spcAft>
              <a:buSzPts val="1400"/>
              <a:buChar char="○"/>
            </a:pPr>
            <a:r>
              <a:rPr lang="en"/>
              <a:t>Because the function is so complex, the network can do sophisticated things.</a:t>
            </a:r>
            <a:br>
              <a:rPr lang="en"/>
            </a:br>
            <a:endParaRPr/>
          </a:p>
          <a:p>
            <a:pPr indent="-342900" lvl="0" marL="457200" rtl="0" algn="l">
              <a:spcBef>
                <a:spcPts val="0"/>
              </a:spcBef>
              <a:spcAft>
                <a:spcPts val="0"/>
              </a:spcAft>
              <a:buSzPts val="1800"/>
              <a:buChar char="●"/>
            </a:pPr>
            <a:r>
              <a:rPr lang="en"/>
              <a:t>Each layer is composed of many simple functions, called “units” or “neurons”.</a:t>
            </a:r>
            <a:br>
              <a:rPr lang="en"/>
            </a:br>
            <a:br>
              <a:rPr lang="en"/>
            </a:br>
            <a:br>
              <a:rPr lang="en"/>
            </a:br>
            <a:br>
              <a:rPr lang="en"/>
            </a:br>
            <a:br>
              <a:rPr lang="en"/>
            </a:br>
            <a:br>
              <a:rPr lang="en"/>
            </a:br>
            <a:br>
              <a:rPr lang="en"/>
            </a:br>
            <a:endParaRPr/>
          </a:p>
          <a:p>
            <a:pPr indent="-342900" lvl="0" marL="457200" rtl="0" algn="l">
              <a:spcBef>
                <a:spcPts val="0"/>
              </a:spcBef>
              <a:spcAft>
                <a:spcPts val="0"/>
              </a:spcAft>
              <a:buSzPts val="1800"/>
              <a:buChar char="●"/>
            </a:pPr>
            <a:r>
              <a:rPr lang="en"/>
              <a:t>Each unit takes multiple numbers as input and produces a number as output.</a:t>
            </a:r>
            <a:endParaRPr/>
          </a:p>
        </p:txBody>
      </p:sp>
      <p:sp>
        <p:nvSpPr>
          <p:cNvPr id="164" name="Google Shape;16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5" name="Google Shape;165;p32"/>
          <p:cNvPicPr preferRelativeResize="0"/>
          <p:nvPr/>
        </p:nvPicPr>
        <p:blipFill>
          <a:blip r:embed="rId3">
            <a:alphaModFix/>
          </a:blip>
          <a:stretch>
            <a:fillRect/>
          </a:stretch>
        </p:blipFill>
        <p:spPr>
          <a:xfrm>
            <a:off x="2571751" y="2726552"/>
            <a:ext cx="2911599" cy="1392725"/>
          </a:xfrm>
          <a:prstGeom prst="rect">
            <a:avLst/>
          </a:prstGeom>
          <a:noFill/>
          <a:ln>
            <a:noFill/>
          </a:ln>
        </p:spPr>
      </p:pic>
      <p:sp>
        <p:nvSpPr>
          <p:cNvPr id="166" name="Google Shape;166;p32"/>
          <p:cNvSpPr txBox="1"/>
          <p:nvPr/>
        </p:nvSpPr>
        <p:spPr>
          <a:xfrm>
            <a:off x="4340300" y="2493475"/>
            <a:ext cx="61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units</a:t>
            </a:r>
            <a:endParaRPr>
              <a:solidFill>
                <a:srgbClr val="980000"/>
              </a:solidFill>
            </a:endParaRPr>
          </a:p>
        </p:txBody>
      </p:sp>
      <p:sp>
        <p:nvSpPr>
          <p:cNvPr id="167" name="Google Shape;167;p32"/>
          <p:cNvSpPr/>
          <p:nvPr/>
        </p:nvSpPr>
        <p:spPr>
          <a:xfrm>
            <a:off x="3719525" y="2563791"/>
            <a:ext cx="666750" cy="162600"/>
          </a:xfrm>
          <a:custGeom>
            <a:rect b="b" l="l" r="r" t="t"/>
            <a:pathLst>
              <a:path extrusionOk="0" h="6504" w="26670">
                <a:moveTo>
                  <a:pt x="26670" y="6224"/>
                </a:moveTo>
                <a:cubicBezTo>
                  <a:pt x="24956" y="6192"/>
                  <a:pt x="19622" y="6986"/>
                  <a:pt x="16383" y="6033"/>
                </a:cubicBezTo>
                <a:cubicBezTo>
                  <a:pt x="13145" y="5081"/>
                  <a:pt x="9589" y="1398"/>
                  <a:pt x="7239" y="509"/>
                </a:cubicBezTo>
                <a:cubicBezTo>
                  <a:pt x="4890" y="-380"/>
                  <a:pt x="3493" y="32"/>
                  <a:pt x="2286" y="699"/>
                </a:cubicBezTo>
                <a:cubicBezTo>
                  <a:pt x="1080" y="1366"/>
                  <a:pt x="381" y="3874"/>
                  <a:pt x="0" y="4509"/>
                </a:cubicBezTo>
              </a:path>
            </a:pathLst>
          </a:custGeom>
          <a:noFill/>
          <a:ln cap="flat" cmpd="sng" w="9525">
            <a:solidFill>
              <a:srgbClr val="980000"/>
            </a:solidFill>
            <a:prstDash val="solid"/>
            <a:round/>
            <a:headEnd len="med" w="med" type="none"/>
            <a:tailEnd len="med" w="med" type="triangle"/>
          </a:ln>
        </p:spPr>
      </p:sp>
      <p:sp>
        <p:nvSpPr>
          <p:cNvPr id="168" name="Google Shape;168;p32"/>
          <p:cNvSpPr/>
          <p:nvPr/>
        </p:nvSpPr>
        <p:spPr>
          <a:xfrm>
            <a:off x="4838700" y="2700834"/>
            <a:ext cx="269750" cy="275750"/>
          </a:xfrm>
          <a:custGeom>
            <a:rect b="b" l="l" r="r" t="t"/>
            <a:pathLst>
              <a:path extrusionOk="0" h="11030" w="10790">
                <a:moveTo>
                  <a:pt x="0" y="552"/>
                </a:moveTo>
                <a:cubicBezTo>
                  <a:pt x="1365" y="489"/>
                  <a:pt x="6446" y="-337"/>
                  <a:pt x="8192" y="171"/>
                </a:cubicBezTo>
                <a:cubicBezTo>
                  <a:pt x="9938" y="679"/>
                  <a:pt x="11399" y="1790"/>
                  <a:pt x="10478" y="3600"/>
                </a:cubicBezTo>
                <a:cubicBezTo>
                  <a:pt x="9557" y="5410"/>
                  <a:pt x="3969" y="9792"/>
                  <a:pt x="2667" y="11030"/>
                </a:cubicBezTo>
              </a:path>
            </a:pathLst>
          </a:custGeom>
          <a:noFill/>
          <a:ln cap="flat" cmpd="sng" w="9525">
            <a:solidFill>
              <a:srgbClr val="980000"/>
            </a:solidFill>
            <a:prstDash val="solid"/>
            <a:round/>
            <a:headEnd len="med" w="med" type="none"/>
            <a:tailEnd len="med" w="med" type="triangle"/>
          </a:ln>
        </p:spPr>
      </p:sp>
      <p:sp>
        <p:nvSpPr>
          <p:cNvPr id="169" name="Google Shape;169;p32"/>
          <p:cNvSpPr txBox="1"/>
          <p:nvPr/>
        </p:nvSpPr>
        <p:spPr>
          <a:xfrm>
            <a:off x="4433900" y="4019550"/>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weighted connections</a:t>
            </a:r>
            <a:endParaRPr>
              <a:solidFill>
                <a:srgbClr val="38761D"/>
              </a:solidFill>
            </a:endParaRPr>
          </a:p>
        </p:txBody>
      </p:sp>
      <p:sp>
        <p:nvSpPr>
          <p:cNvPr id="170" name="Google Shape;170;p32"/>
          <p:cNvSpPr/>
          <p:nvPr/>
        </p:nvSpPr>
        <p:spPr>
          <a:xfrm>
            <a:off x="4214825" y="3886200"/>
            <a:ext cx="271450" cy="370300"/>
          </a:xfrm>
          <a:custGeom>
            <a:rect b="b" l="l" r="r" t="t"/>
            <a:pathLst>
              <a:path extrusionOk="0" h="14812" w="10858">
                <a:moveTo>
                  <a:pt x="10858" y="14478"/>
                </a:moveTo>
                <a:cubicBezTo>
                  <a:pt x="10191" y="14510"/>
                  <a:pt x="8065" y="14955"/>
                  <a:pt x="6858" y="14669"/>
                </a:cubicBezTo>
                <a:cubicBezTo>
                  <a:pt x="5652" y="14383"/>
                  <a:pt x="4762" y="15209"/>
                  <a:pt x="3619" y="12764"/>
                </a:cubicBezTo>
                <a:cubicBezTo>
                  <a:pt x="2476" y="10319"/>
                  <a:pt x="603" y="2127"/>
                  <a:pt x="0" y="0"/>
                </a:cubicBezTo>
              </a:path>
            </a:pathLst>
          </a:custGeom>
          <a:noFill/>
          <a:ln cap="flat" cmpd="sng" w="9525">
            <a:solidFill>
              <a:srgbClr val="38761D"/>
            </a:solidFill>
            <a:prstDash val="solid"/>
            <a:round/>
            <a:headEnd len="med" w="med" type="none"/>
            <a:tailEnd len="med" w="med" type="triangle"/>
          </a:ln>
        </p:spPr>
      </p:sp>
      <p:sp>
        <p:nvSpPr>
          <p:cNvPr id="171" name="Google Shape;171;p32"/>
          <p:cNvSpPr/>
          <p:nvPr/>
        </p:nvSpPr>
        <p:spPr>
          <a:xfrm>
            <a:off x="3157550" y="3967175"/>
            <a:ext cx="1345775" cy="293450"/>
          </a:xfrm>
          <a:custGeom>
            <a:rect b="b" l="l" r="r" t="t"/>
            <a:pathLst>
              <a:path extrusionOk="0" h="11738" w="53831">
                <a:moveTo>
                  <a:pt x="53149" y="11239"/>
                </a:moveTo>
                <a:cubicBezTo>
                  <a:pt x="52482" y="11271"/>
                  <a:pt x="56960" y="11525"/>
                  <a:pt x="49149" y="11430"/>
                </a:cubicBezTo>
                <a:cubicBezTo>
                  <a:pt x="41339" y="11335"/>
                  <a:pt x="14478" y="12573"/>
                  <a:pt x="6286" y="10668"/>
                </a:cubicBezTo>
                <a:cubicBezTo>
                  <a:pt x="-1905" y="8763"/>
                  <a:pt x="1048" y="1778"/>
                  <a:pt x="0" y="0"/>
                </a:cubicBezTo>
              </a:path>
            </a:pathLst>
          </a:custGeom>
          <a:noFill/>
          <a:ln cap="flat" cmpd="sng" w="9525">
            <a:solidFill>
              <a:srgbClr val="38761D"/>
            </a:solidFill>
            <a:prstDash val="solid"/>
            <a:round/>
            <a:headEnd len="med" w="med" type="none"/>
            <a:tailEnd len="med" w="med" type="triangle"/>
          </a:ln>
        </p:spPr>
      </p:sp>
      <p:sp>
        <p:nvSpPr>
          <p:cNvPr id="172" name="Google Shape;172;p32"/>
          <p:cNvSpPr txBox="1"/>
          <p:nvPr/>
        </p:nvSpPr>
        <p:spPr>
          <a:xfrm>
            <a:off x="5448313" y="2986750"/>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73" name="Google Shape;173;p32"/>
          <p:cNvSpPr txBox="1"/>
          <p:nvPr/>
        </p:nvSpPr>
        <p:spPr>
          <a:xfrm>
            <a:off x="5448313" y="3463000"/>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74" name="Google Shape;174;p32"/>
          <p:cNvSpPr txBox="1"/>
          <p:nvPr/>
        </p:nvSpPr>
        <p:spPr>
          <a:xfrm>
            <a:off x="1747106" y="2749719"/>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75" name="Google Shape;175;p32"/>
          <p:cNvSpPr txBox="1"/>
          <p:nvPr/>
        </p:nvSpPr>
        <p:spPr>
          <a:xfrm>
            <a:off x="1747106" y="3222365"/>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
        <p:nvSpPr>
          <p:cNvPr id="176" name="Google Shape;176;p32"/>
          <p:cNvSpPr txBox="1"/>
          <p:nvPr/>
        </p:nvSpPr>
        <p:spPr>
          <a:xfrm>
            <a:off x="1747106" y="3710457"/>
            <a:ext cx="8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 number</a:t>
            </a:r>
            <a:endParaRPr sz="120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Neural Networks Are Organized In Layers</a:t>
            </a:r>
            <a:endParaRPr/>
          </a:p>
        </p:txBody>
      </p:sp>
      <p:sp>
        <p:nvSpPr>
          <p:cNvPr id="182" name="Google Shape;182;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3" name="Google Shape;183;p33"/>
          <p:cNvPicPr preferRelativeResize="0"/>
          <p:nvPr/>
        </p:nvPicPr>
        <p:blipFill>
          <a:blip r:embed="rId3">
            <a:alphaModFix/>
          </a:blip>
          <a:stretch>
            <a:fillRect/>
          </a:stretch>
        </p:blipFill>
        <p:spPr>
          <a:xfrm>
            <a:off x="1212525" y="1126203"/>
            <a:ext cx="6425526" cy="3073550"/>
          </a:xfrm>
          <a:prstGeom prst="rect">
            <a:avLst/>
          </a:prstGeom>
          <a:noFill/>
          <a:ln>
            <a:noFill/>
          </a:ln>
        </p:spPr>
      </p:pic>
      <p:sp>
        <p:nvSpPr>
          <p:cNvPr id="184" name="Google Shape;184;p33"/>
          <p:cNvSpPr txBox="1"/>
          <p:nvPr/>
        </p:nvSpPr>
        <p:spPr>
          <a:xfrm>
            <a:off x="812975" y="4088550"/>
            <a:ext cx="132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rPr>
              <a:t>Input</a:t>
            </a:r>
            <a:br>
              <a:rPr b="1" lang="en">
                <a:solidFill>
                  <a:srgbClr val="980000"/>
                </a:solidFill>
              </a:rPr>
            </a:br>
            <a:r>
              <a:rPr b="1" lang="en">
                <a:solidFill>
                  <a:srgbClr val="980000"/>
                </a:solidFill>
              </a:rPr>
              <a:t>Layer</a:t>
            </a:r>
            <a:endParaRPr b="1">
              <a:solidFill>
                <a:srgbClr val="980000"/>
              </a:solidFill>
            </a:endParaRPr>
          </a:p>
        </p:txBody>
      </p:sp>
      <p:sp>
        <p:nvSpPr>
          <p:cNvPr id="185" name="Google Shape;185;p33"/>
          <p:cNvSpPr txBox="1"/>
          <p:nvPr/>
        </p:nvSpPr>
        <p:spPr>
          <a:xfrm>
            <a:off x="3060360" y="4088550"/>
            <a:ext cx="132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rPr>
              <a:t>Hidden</a:t>
            </a:r>
            <a:br>
              <a:rPr b="1" lang="en">
                <a:solidFill>
                  <a:srgbClr val="980000"/>
                </a:solidFill>
              </a:rPr>
            </a:br>
            <a:r>
              <a:rPr b="1" lang="en">
                <a:solidFill>
                  <a:srgbClr val="980000"/>
                </a:solidFill>
              </a:rPr>
              <a:t>Layer</a:t>
            </a:r>
            <a:endParaRPr b="1">
              <a:solidFill>
                <a:srgbClr val="980000"/>
              </a:solidFill>
            </a:endParaRPr>
          </a:p>
        </p:txBody>
      </p:sp>
      <p:sp>
        <p:nvSpPr>
          <p:cNvPr id="186" name="Google Shape;186;p33"/>
          <p:cNvSpPr txBox="1"/>
          <p:nvPr/>
        </p:nvSpPr>
        <p:spPr>
          <a:xfrm>
            <a:off x="5422560" y="4088550"/>
            <a:ext cx="132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rPr>
              <a:t>Output</a:t>
            </a:r>
            <a:br>
              <a:rPr b="1" lang="en">
                <a:solidFill>
                  <a:srgbClr val="980000"/>
                </a:solidFill>
              </a:rPr>
            </a:br>
            <a:r>
              <a:rPr b="1" lang="en">
                <a:solidFill>
                  <a:srgbClr val="980000"/>
                </a:solidFill>
              </a:rPr>
              <a:t>Layer</a:t>
            </a:r>
            <a:endParaRPr b="1">
              <a:solidFill>
                <a:srgbClr val="98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Deep Neural Networks Have Many Layers</a:t>
            </a:r>
            <a:endParaRPr/>
          </a:p>
        </p:txBody>
      </p:sp>
      <p:sp>
        <p:nvSpPr>
          <p:cNvPr id="192" name="Google Shape;19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3" name="Google Shape;193;p34"/>
          <p:cNvPicPr preferRelativeResize="0"/>
          <p:nvPr/>
        </p:nvPicPr>
        <p:blipFill rotWithShape="1">
          <a:blip r:embed="rId3">
            <a:alphaModFix/>
          </a:blip>
          <a:srcRect b="0" l="0" r="0" t="11676"/>
          <a:stretch/>
        </p:blipFill>
        <p:spPr>
          <a:xfrm>
            <a:off x="1135600" y="1257125"/>
            <a:ext cx="6538120" cy="3467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Let’s focus on how one neuron learns</a:t>
            </a:r>
            <a:endParaRPr/>
          </a:p>
        </p:txBody>
      </p:sp>
      <p:sp>
        <p:nvSpPr>
          <p:cNvPr id="199" name="Google Shape;19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to predict dog bites</a:t>
            </a:r>
            <a:endParaRPr/>
          </a:p>
        </p:txBody>
      </p:sp>
      <p:sp>
        <p:nvSpPr>
          <p:cNvPr id="205" name="Google Shape;20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36"/>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6"/>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6"/>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6"/>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6"/>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6"/>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6"/>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6"/>
          <p:cNvSpPr txBox="1"/>
          <p:nvPr/>
        </p:nvSpPr>
        <p:spPr>
          <a:xfrm>
            <a:off x="3884800" y="1340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14" name="Google Shape;214;p36"/>
          <p:cNvSpPr txBox="1"/>
          <p:nvPr/>
        </p:nvSpPr>
        <p:spPr>
          <a:xfrm>
            <a:off x="3884800" y="1874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15" name="Google Shape;215;p36"/>
          <p:cNvSpPr txBox="1"/>
          <p:nvPr/>
        </p:nvSpPr>
        <p:spPr>
          <a:xfrm>
            <a:off x="3884800" y="24076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16" name="Google Shape;216;p36"/>
          <p:cNvSpPr txBox="1"/>
          <p:nvPr/>
        </p:nvSpPr>
        <p:spPr>
          <a:xfrm>
            <a:off x="3884800" y="29410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17" name="Google Shape;217;p36"/>
          <p:cNvSpPr txBox="1"/>
          <p:nvPr/>
        </p:nvSpPr>
        <p:spPr>
          <a:xfrm>
            <a:off x="3884800" y="34744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18" name="Google Shape;218;p36"/>
          <p:cNvSpPr txBox="1"/>
          <p:nvPr/>
        </p:nvSpPr>
        <p:spPr>
          <a:xfrm>
            <a:off x="3884800" y="4007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19" name="Google Shape;219;p36"/>
          <p:cNvSpPr txBox="1"/>
          <p:nvPr/>
        </p:nvSpPr>
        <p:spPr>
          <a:xfrm>
            <a:off x="3884800" y="4541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20" name="Google Shape;220;p36"/>
          <p:cNvSpPr txBox="1"/>
          <p:nvPr/>
        </p:nvSpPr>
        <p:spPr>
          <a:xfrm>
            <a:off x="5422375" y="1201750"/>
            <a:ext cx="3409800" cy="37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Start with a bunch of “experts”. This is our input layer.</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Some experts are good for predicting dog bites.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But which are the good ones?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Every expert starts out with 1 vote.</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(1)</a:t>
            </a:r>
            <a:endParaRPr/>
          </a:p>
        </p:txBody>
      </p:sp>
      <p:sp>
        <p:nvSpPr>
          <p:cNvPr id="226" name="Google Shape;226;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7" name="Google Shape;227;p37"/>
          <p:cNvPicPr preferRelativeResize="0"/>
          <p:nvPr/>
        </p:nvPicPr>
        <p:blipFill>
          <a:blip r:embed="rId3">
            <a:alphaModFix/>
          </a:blip>
          <a:stretch>
            <a:fillRect/>
          </a:stretch>
        </p:blipFill>
        <p:spPr>
          <a:xfrm>
            <a:off x="438178" y="1973500"/>
            <a:ext cx="2002751" cy="1336375"/>
          </a:xfrm>
          <a:prstGeom prst="rect">
            <a:avLst/>
          </a:prstGeom>
          <a:noFill/>
          <a:ln>
            <a:noFill/>
          </a:ln>
        </p:spPr>
      </p:pic>
      <p:sp>
        <p:nvSpPr>
          <p:cNvPr id="228" name="Google Shape;228;p37"/>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7"/>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7"/>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7"/>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7"/>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7"/>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7"/>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7"/>
          <p:cNvSpPr txBox="1"/>
          <p:nvPr/>
        </p:nvSpPr>
        <p:spPr>
          <a:xfrm>
            <a:off x="3884800" y="1340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36" name="Google Shape;236;p37"/>
          <p:cNvSpPr txBox="1"/>
          <p:nvPr/>
        </p:nvSpPr>
        <p:spPr>
          <a:xfrm>
            <a:off x="3884800" y="1874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37" name="Google Shape;237;p37"/>
          <p:cNvSpPr txBox="1"/>
          <p:nvPr/>
        </p:nvSpPr>
        <p:spPr>
          <a:xfrm>
            <a:off x="3884800" y="24076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38" name="Google Shape;238;p37"/>
          <p:cNvSpPr txBox="1"/>
          <p:nvPr/>
        </p:nvSpPr>
        <p:spPr>
          <a:xfrm>
            <a:off x="3884800" y="29410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39" name="Google Shape;239;p37"/>
          <p:cNvSpPr txBox="1"/>
          <p:nvPr/>
        </p:nvSpPr>
        <p:spPr>
          <a:xfrm>
            <a:off x="3884800" y="34744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0" name="Google Shape;240;p37"/>
          <p:cNvSpPr txBox="1"/>
          <p:nvPr/>
        </p:nvSpPr>
        <p:spPr>
          <a:xfrm>
            <a:off x="3884800" y="40078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1" name="Google Shape;241;p37"/>
          <p:cNvSpPr txBox="1"/>
          <p:nvPr/>
        </p:nvSpPr>
        <p:spPr>
          <a:xfrm>
            <a:off x="3884800" y="4541275"/>
            <a:ext cx="807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vote</a:t>
            </a:r>
            <a:endParaRPr/>
          </a:p>
        </p:txBody>
      </p:sp>
      <p:sp>
        <p:nvSpPr>
          <p:cNvPr id="242" name="Google Shape;242;p37"/>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43" name="Google Shape;243;p37"/>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44" name="Google Shape;244;p37"/>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45" name="Google Shape;245;p37"/>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246" name="Google Shape;246;p37"/>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YES</a:t>
            </a:r>
            <a:endParaRPr/>
          </a:p>
        </p:txBody>
      </p:sp>
      <p:sp>
        <p:nvSpPr>
          <p:cNvPr id="247" name="Google Shape;247;p37"/>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248" name="Google Shape;248;p37"/>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249" name="Google Shape;249;p37"/>
          <p:cNvSpPr txBox="1"/>
          <p:nvPr/>
        </p:nvSpPr>
        <p:spPr>
          <a:xfrm>
            <a:off x="6635275" y="1564750"/>
            <a:ext cx="23859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4 votes      3 votes</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(1)</a:t>
            </a:r>
            <a:endParaRPr/>
          </a:p>
        </p:txBody>
      </p:sp>
      <p:sp>
        <p:nvSpPr>
          <p:cNvPr id="255" name="Google Shape;25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56" name="Google Shape;256;p38"/>
          <p:cNvPicPr preferRelativeResize="0"/>
          <p:nvPr/>
        </p:nvPicPr>
        <p:blipFill>
          <a:blip r:embed="rId3">
            <a:alphaModFix/>
          </a:blip>
          <a:stretch>
            <a:fillRect/>
          </a:stretch>
        </p:blipFill>
        <p:spPr>
          <a:xfrm>
            <a:off x="438178" y="1973500"/>
            <a:ext cx="2002751" cy="1336375"/>
          </a:xfrm>
          <a:prstGeom prst="rect">
            <a:avLst/>
          </a:prstGeom>
          <a:noFill/>
          <a:ln>
            <a:noFill/>
          </a:ln>
        </p:spPr>
      </p:pic>
      <p:sp>
        <p:nvSpPr>
          <p:cNvPr id="257" name="Google Shape;257;p38"/>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8"/>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8"/>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8"/>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8"/>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8"/>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8"/>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8"/>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265" name="Google Shape;265;p38"/>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266" name="Google Shape;266;p38"/>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267" name="Google Shape;267;p38"/>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268" name="Google Shape;268;p38"/>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269" name="Google Shape;269;p38"/>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0.9 votes</a:t>
            </a:r>
            <a:endParaRPr/>
          </a:p>
        </p:txBody>
      </p:sp>
      <p:sp>
        <p:nvSpPr>
          <p:cNvPr id="270" name="Google Shape;270;p38"/>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271" name="Google Shape;271;p38"/>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72" name="Google Shape;272;p38"/>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73" name="Google Shape;273;p38"/>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74" name="Google Shape;274;p38"/>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275" name="Google Shape;275;p38"/>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rgbClr val="FF0000"/>
                </a:solidFill>
              </a:rPr>
              <a:t>YES</a:t>
            </a:r>
            <a:endParaRPr>
              <a:solidFill>
                <a:srgbClr val="FF0000"/>
              </a:solidFill>
            </a:endParaRPr>
          </a:p>
          <a:p>
            <a:pPr indent="0" lvl="0" marL="0" rtl="0" algn="ctr">
              <a:spcBef>
                <a:spcPts val="0"/>
              </a:spcBef>
              <a:spcAft>
                <a:spcPts val="0"/>
              </a:spcAft>
              <a:buNone/>
            </a:pPr>
            <a:r>
              <a:t/>
            </a:r>
            <a:endParaRPr>
              <a:solidFill>
                <a:srgbClr val="00BB00"/>
              </a:solidFill>
            </a:endParaRPr>
          </a:p>
        </p:txBody>
      </p:sp>
      <p:sp>
        <p:nvSpPr>
          <p:cNvPr id="276" name="Google Shape;276;p38"/>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277" name="Google Shape;277;p38"/>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278" name="Google Shape;278;p38"/>
          <p:cNvSpPr txBox="1"/>
          <p:nvPr/>
        </p:nvSpPr>
        <p:spPr>
          <a:xfrm>
            <a:off x="703650" y="3474475"/>
            <a:ext cx="1471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Doesn’t bite.</a:t>
            </a:r>
            <a:endParaRPr b="1"/>
          </a:p>
        </p:txBody>
      </p:sp>
      <p:sp>
        <p:nvSpPr>
          <p:cNvPr id="279" name="Google Shape;279;p38"/>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b="1" lang="en">
                <a:solidFill>
                  <a:srgbClr val="38761D"/>
                </a:solidFill>
              </a:rPr>
              <a:t>correctly.</a:t>
            </a:r>
            <a:r>
              <a:rPr lang="en"/>
              <a:t> Subtract votes from the ones who got it </a:t>
            </a:r>
            <a:r>
              <a:rPr b="1" lang="en">
                <a:solidFill>
                  <a:srgbClr val="FF0000"/>
                </a:solidFill>
              </a:rPr>
              <a:t>wrong</a:t>
            </a:r>
            <a:r>
              <a:rPr lang="en"/>
              <a:t>.</a:t>
            </a:r>
            <a:endParaRPr/>
          </a:p>
        </p:txBody>
      </p:sp>
      <p:pic>
        <p:nvPicPr>
          <p:cNvPr id="280" name="Google Shape;280;p38"/>
          <p:cNvPicPr preferRelativeResize="0"/>
          <p:nvPr/>
        </p:nvPicPr>
        <p:blipFill rotWithShape="1">
          <a:blip r:embed="rId4">
            <a:alphaModFix/>
          </a:blip>
          <a:srcRect b="18843" l="12420" r="14730" t="16909"/>
          <a:stretch/>
        </p:blipFill>
        <p:spPr>
          <a:xfrm>
            <a:off x="5911900" y="3508178"/>
            <a:ext cx="320040" cy="288036"/>
          </a:xfrm>
          <a:prstGeom prst="rect">
            <a:avLst/>
          </a:prstGeom>
          <a:noFill/>
          <a:ln>
            <a:noFill/>
          </a:ln>
        </p:spPr>
      </p:pic>
      <p:pic>
        <p:nvPicPr>
          <p:cNvPr id="281" name="Google Shape;281;p38"/>
          <p:cNvPicPr preferRelativeResize="0"/>
          <p:nvPr/>
        </p:nvPicPr>
        <p:blipFill>
          <a:blip r:embed="rId5">
            <a:alphaModFix/>
          </a:blip>
          <a:stretch>
            <a:fillRect/>
          </a:stretch>
        </p:blipFill>
        <p:spPr>
          <a:xfrm>
            <a:off x="5915174" y="1338949"/>
            <a:ext cx="274320" cy="274320"/>
          </a:xfrm>
          <a:prstGeom prst="rect">
            <a:avLst/>
          </a:prstGeom>
          <a:noFill/>
          <a:ln>
            <a:noFill/>
          </a:ln>
        </p:spPr>
      </p:pic>
      <p:pic>
        <p:nvPicPr>
          <p:cNvPr id="282" name="Google Shape;282;p38"/>
          <p:cNvPicPr preferRelativeResize="0"/>
          <p:nvPr/>
        </p:nvPicPr>
        <p:blipFill>
          <a:blip r:embed="rId5">
            <a:alphaModFix/>
          </a:blip>
          <a:stretch>
            <a:fillRect/>
          </a:stretch>
        </p:blipFill>
        <p:spPr>
          <a:xfrm>
            <a:off x="5915174" y="1872349"/>
            <a:ext cx="274320" cy="274320"/>
          </a:xfrm>
          <a:prstGeom prst="rect">
            <a:avLst/>
          </a:prstGeom>
          <a:noFill/>
          <a:ln>
            <a:noFill/>
          </a:ln>
        </p:spPr>
      </p:pic>
      <p:pic>
        <p:nvPicPr>
          <p:cNvPr id="283" name="Google Shape;283;p38"/>
          <p:cNvPicPr preferRelativeResize="0"/>
          <p:nvPr/>
        </p:nvPicPr>
        <p:blipFill>
          <a:blip r:embed="rId5">
            <a:alphaModFix/>
          </a:blip>
          <a:stretch>
            <a:fillRect/>
          </a:stretch>
        </p:blipFill>
        <p:spPr>
          <a:xfrm>
            <a:off x="5915174" y="2345234"/>
            <a:ext cx="274320" cy="274320"/>
          </a:xfrm>
          <a:prstGeom prst="rect">
            <a:avLst/>
          </a:prstGeom>
          <a:noFill/>
          <a:ln>
            <a:noFill/>
          </a:ln>
        </p:spPr>
      </p:pic>
      <p:pic>
        <p:nvPicPr>
          <p:cNvPr id="284" name="Google Shape;284;p38"/>
          <p:cNvPicPr preferRelativeResize="0"/>
          <p:nvPr/>
        </p:nvPicPr>
        <p:blipFill>
          <a:blip r:embed="rId5">
            <a:alphaModFix/>
          </a:blip>
          <a:stretch>
            <a:fillRect/>
          </a:stretch>
        </p:blipFill>
        <p:spPr>
          <a:xfrm>
            <a:off x="5915174" y="2894318"/>
            <a:ext cx="274320" cy="274320"/>
          </a:xfrm>
          <a:prstGeom prst="rect">
            <a:avLst/>
          </a:prstGeom>
          <a:noFill/>
          <a:ln>
            <a:noFill/>
          </a:ln>
        </p:spPr>
      </p:pic>
      <p:pic>
        <p:nvPicPr>
          <p:cNvPr id="285" name="Google Shape;285;p38"/>
          <p:cNvPicPr preferRelativeResize="0"/>
          <p:nvPr/>
        </p:nvPicPr>
        <p:blipFill rotWithShape="1">
          <a:blip r:embed="rId4">
            <a:alphaModFix/>
          </a:blip>
          <a:srcRect b="18843" l="12420" r="14730" t="16909"/>
          <a:stretch/>
        </p:blipFill>
        <p:spPr>
          <a:xfrm>
            <a:off x="5911900" y="4041578"/>
            <a:ext cx="320040" cy="288036"/>
          </a:xfrm>
          <a:prstGeom prst="rect">
            <a:avLst/>
          </a:prstGeom>
          <a:noFill/>
          <a:ln>
            <a:noFill/>
          </a:ln>
        </p:spPr>
      </p:pic>
      <p:pic>
        <p:nvPicPr>
          <p:cNvPr id="286" name="Google Shape;286;p38"/>
          <p:cNvPicPr preferRelativeResize="0"/>
          <p:nvPr/>
        </p:nvPicPr>
        <p:blipFill rotWithShape="1">
          <a:blip r:embed="rId4">
            <a:alphaModFix/>
          </a:blip>
          <a:srcRect b="18843" l="12420" r="14730" t="16909"/>
          <a:stretch/>
        </p:blipFill>
        <p:spPr>
          <a:xfrm>
            <a:off x="5911900" y="4574978"/>
            <a:ext cx="320040" cy="28803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(2)</a:t>
            </a:r>
            <a:endParaRPr/>
          </a:p>
        </p:txBody>
      </p:sp>
      <p:sp>
        <p:nvSpPr>
          <p:cNvPr id="292" name="Google Shape;292;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3" name="Google Shape;293;p39"/>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9"/>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9"/>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9"/>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9"/>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9"/>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9"/>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9"/>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301" name="Google Shape;301;p39"/>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302" name="Google Shape;302;p39"/>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303" name="Google Shape;303;p39"/>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304" name="Google Shape;304;p39"/>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305" name="Google Shape;305;p39"/>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0.9 votes</a:t>
            </a:r>
            <a:endParaRPr/>
          </a:p>
        </p:txBody>
      </p:sp>
      <p:sp>
        <p:nvSpPr>
          <p:cNvPr id="306" name="Google Shape;306;p39"/>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307" name="Google Shape;307;p39"/>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08" name="Google Shape;308;p39"/>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09" name="Google Shape;309;p39"/>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10" name="Google Shape;310;p39"/>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11" name="Google Shape;311;p39"/>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a:p>
            <a:pPr indent="0" lvl="0" marL="0" rtl="0" algn="ctr">
              <a:spcBef>
                <a:spcPts val="0"/>
              </a:spcBef>
              <a:spcAft>
                <a:spcPts val="0"/>
              </a:spcAft>
              <a:buNone/>
            </a:pPr>
            <a:r>
              <a:t/>
            </a:r>
            <a:endParaRPr/>
          </a:p>
        </p:txBody>
      </p:sp>
      <p:sp>
        <p:nvSpPr>
          <p:cNvPr id="312" name="Google Shape;312;p39"/>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13" name="Google Shape;313;p39"/>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14" name="Google Shape;314;p39"/>
          <p:cNvSpPr txBox="1"/>
          <p:nvPr/>
        </p:nvSpPr>
        <p:spPr>
          <a:xfrm>
            <a:off x="6537825" y="1564750"/>
            <a:ext cx="24834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4.0 votes      3.1 votes</a:t>
            </a:r>
            <a:endParaRPr sz="1800"/>
          </a:p>
        </p:txBody>
      </p:sp>
      <p:pic>
        <p:nvPicPr>
          <p:cNvPr id="315" name="Google Shape;315;p39"/>
          <p:cNvPicPr preferRelativeResize="0"/>
          <p:nvPr/>
        </p:nvPicPr>
        <p:blipFill>
          <a:blip r:embed="rId3">
            <a:alphaModFix/>
          </a:blip>
          <a:stretch>
            <a:fillRect/>
          </a:stretch>
        </p:blipFill>
        <p:spPr>
          <a:xfrm>
            <a:off x="627450" y="1974125"/>
            <a:ext cx="1651200" cy="1424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(2)</a:t>
            </a:r>
            <a:endParaRPr/>
          </a:p>
        </p:txBody>
      </p:sp>
      <p:sp>
        <p:nvSpPr>
          <p:cNvPr id="321" name="Google Shape;32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40"/>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0"/>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0"/>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0"/>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0"/>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0"/>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0"/>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0"/>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1.0 votes</a:t>
            </a:r>
            <a:endParaRPr/>
          </a:p>
        </p:txBody>
      </p:sp>
      <p:sp>
        <p:nvSpPr>
          <p:cNvPr id="330" name="Google Shape;330;p40"/>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31" name="Google Shape;331;p40"/>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32" name="Google Shape;332;p40"/>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33" name="Google Shape;333;p40"/>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34" name="Google Shape;334;p40"/>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 votes</a:t>
            </a:r>
            <a:endParaRPr/>
          </a:p>
        </p:txBody>
      </p:sp>
      <p:sp>
        <p:nvSpPr>
          <p:cNvPr id="335" name="Google Shape;335;p40"/>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336" name="Google Shape;336;p40"/>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37" name="Google Shape;337;p40"/>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38" name="Google Shape;338;p40"/>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339" name="Google Shape;339;p40"/>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340" name="Google Shape;340;p40"/>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a:p>
            <a:pPr indent="0" lvl="0" marL="0" rtl="0" algn="ctr">
              <a:spcBef>
                <a:spcPts val="0"/>
              </a:spcBef>
              <a:spcAft>
                <a:spcPts val="0"/>
              </a:spcAft>
              <a:buNone/>
            </a:pPr>
            <a:r>
              <a:t/>
            </a:r>
            <a:endParaRPr>
              <a:solidFill>
                <a:srgbClr val="00BB00"/>
              </a:solidFill>
            </a:endParaRPr>
          </a:p>
        </p:txBody>
      </p:sp>
      <p:sp>
        <p:nvSpPr>
          <p:cNvPr id="341" name="Google Shape;341;p40"/>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42" name="Google Shape;342;p40"/>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343" name="Google Shape;343;p40"/>
          <p:cNvSpPr txBox="1"/>
          <p:nvPr/>
        </p:nvSpPr>
        <p:spPr>
          <a:xfrm>
            <a:off x="703650" y="3474475"/>
            <a:ext cx="147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Does bite!</a:t>
            </a:r>
            <a:endParaRPr b="1"/>
          </a:p>
        </p:txBody>
      </p:sp>
      <p:pic>
        <p:nvPicPr>
          <p:cNvPr id="344" name="Google Shape;344;p40"/>
          <p:cNvPicPr preferRelativeResize="0"/>
          <p:nvPr/>
        </p:nvPicPr>
        <p:blipFill>
          <a:blip r:embed="rId3">
            <a:alphaModFix/>
          </a:blip>
          <a:stretch>
            <a:fillRect/>
          </a:stretch>
        </p:blipFill>
        <p:spPr>
          <a:xfrm>
            <a:off x="627450" y="1974125"/>
            <a:ext cx="1651200" cy="1424150"/>
          </a:xfrm>
          <a:prstGeom prst="rect">
            <a:avLst/>
          </a:prstGeom>
          <a:noFill/>
          <a:ln>
            <a:noFill/>
          </a:ln>
        </p:spPr>
      </p:pic>
      <p:sp>
        <p:nvSpPr>
          <p:cNvPr id="345" name="Google Shape;345;p40"/>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lang="en">
                <a:solidFill>
                  <a:srgbClr val="00BB00"/>
                </a:solidFill>
              </a:rPr>
              <a:t>correctly</a:t>
            </a:r>
            <a:r>
              <a:rPr lang="en"/>
              <a:t>. Subtract votes from the ones who got it </a:t>
            </a:r>
            <a:r>
              <a:rPr lang="en">
                <a:solidFill>
                  <a:srgbClr val="FF0000"/>
                </a:solidFill>
              </a:rPr>
              <a:t>wrong</a:t>
            </a:r>
            <a:r>
              <a:rPr lang="en"/>
              <a:t>.</a:t>
            </a:r>
            <a:endParaRPr/>
          </a:p>
        </p:txBody>
      </p:sp>
      <p:pic>
        <p:nvPicPr>
          <p:cNvPr id="346" name="Google Shape;346;p40"/>
          <p:cNvPicPr preferRelativeResize="0"/>
          <p:nvPr/>
        </p:nvPicPr>
        <p:blipFill>
          <a:blip r:embed="rId4">
            <a:alphaModFix/>
          </a:blip>
          <a:stretch>
            <a:fillRect/>
          </a:stretch>
        </p:blipFill>
        <p:spPr>
          <a:xfrm>
            <a:off x="5915174" y="3500704"/>
            <a:ext cx="274320" cy="274519"/>
          </a:xfrm>
          <a:prstGeom prst="rect">
            <a:avLst/>
          </a:prstGeom>
          <a:noFill/>
          <a:ln>
            <a:noFill/>
          </a:ln>
        </p:spPr>
      </p:pic>
      <p:pic>
        <p:nvPicPr>
          <p:cNvPr id="347" name="Google Shape;347;p40"/>
          <p:cNvPicPr preferRelativeResize="0"/>
          <p:nvPr/>
        </p:nvPicPr>
        <p:blipFill rotWithShape="1">
          <a:blip r:embed="rId5">
            <a:alphaModFix/>
          </a:blip>
          <a:srcRect b="18843" l="12420" r="14730" t="16909"/>
          <a:stretch/>
        </p:blipFill>
        <p:spPr>
          <a:xfrm>
            <a:off x="5837625" y="1404900"/>
            <a:ext cx="320040" cy="282702"/>
          </a:xfrm>
          <a:prstGeom prst="rect">
            <a:avLst/>
          </a:prstGeom>
          <a:noFill/>
          <a:ln>
            <a:noFill/>
          </a:ln>
        </p:spPr>
      </p:pic>
      <p:pic>
        <p:nvPicPr>
          <p:cNvPr id="348" name="Google Shape;348;p40"/>
          <p:cNvPicPr preferRelativeResize="0"/>
          <p:nvPr/>
        </p:nvPicPr>
        <p:blipFill>
          <a:blip r:embed="rId4">
            <a:alphaModFix/>
          </a:blip>
          <a:stretch>
            <a:fillRect/>
          </a:stretch>
        </p:blipFill>
        <p:spPr>
          <a:xfrm>
            <a:off x="5915174" y="2405749"/>
            <a:ext cx="274320" cy="274519"/>
          </a:xfrm>
          <a:prstGeom prst="rect">
            <a:avLst/>
          </a:prstGeom>
          <a:noFill/>
          <a:ln>
            <a:noFill/>
          </a:ln>
        </p:spPr>
      </p:pic>
      <p:pic>
        <p:nvPicPr>
          <p:cNvPr id="349" name="Google Shape;349;p40"/>
          <p:cNvPicPr preferRelativeResize="0"/>
          <p:nvPr/>
        </p:nvPicPr>
        <p:blipFill>
          <a:blip r:embed="rId4">
            <a:alphaModFix/>
          </a:blip>
          <a:stretch>
            <a:fillRect/>
          </a:stretch>
        </p:blipFill>
        <p:spPr>
          <a:xfrm>
            <a:off x="5915174" y="2953227"/>
            <a:ext cx="274320" cy="274519"/>
          </a:xfrm>
          <a:prstGeom prst="rect">
            <a:avLst/>
          </a:prstGeom>
          <a:noFill/>
          <a:ln>
            <a:noFill/>
          </a:ln>
        </p:spPr>
      </p:pic>
      <p:pic>
        <p:nvPicPr>
          <p:cNvPr id="350" name="Google Shape;350;p40"/>
          <p:cNvPicPr preferRelativeResize="0"/>
          <p:nvPr/>
        </p:nvPicPr>
        <p:blipFill rotWithShape="1">
          <a:blip r:embed="rId5">
            <a:alphaModFix/>
          </a:blip>
          <a:srcRect b="18843" l="12420" r="14730" t="16909"/>
          <a:stretch/>
        </p:blipFill>
        <p:spPr>
          <a:xfrm>
            <a:off x="5837625" y="1938300"/>
            <a:ext cx="320040" cy="282702"/>
          </a:xfrm>
          <a:prstGeom prst="rect">
            <a:avLst/>
          </a:prstGeom>
          <a:noFill/>
          <a:ln>
            <a:noFill/>
          </a:ln>
        </p:spPr>
      </p:pic>
      <p:pic>
        <p:nvPicPr>
          <p:cNvPr id="351" name="Google Shape;351;p40"/>
          <p:cNvPicPr preferRelativeResize="0"/>
          <p:nvPr/>
        </p:nvPicPr>
        <p:blipFill rotWithShape="1">
          <a:blip r:embed="rId5">
            <a:alphaModFix/>
          </a:blip>
          <a:srcRect b="18843" l="12420" r="14730" t="16909"/>
          <a:stretch/>
        </p:blipFill>
        <p:spPr>
          <a:xfrm>
            <a:off x="5837625" y="4074122"/>
            <a:ext cx="320040" cy="282702"/>
          </a:xfrm>
          <a:prstGeom prst="rect">
            <a:avLst/>
          </a:prstGeom>
          <a:noFill/>
          <a:ln>
            <a:noFill/>
          </a:ln>
        </p:spPr>
      </p:pic>
      <p:pic>
        <p:nvPicPr>
          <p:cNvPr id="352" name="Google Shape;352;p40"/>
          <p:cNvPicPr preferRelativeResize="0"/>
          <p:nvPr/>
        </p:nvPicPr>
        <p:blipFill rotWithShape="1">
          <a:blip r:embed="rId5">
            <a:alphaModFix/>
          </a:blip>
          <a:srcRect b="18843" l="12420" r="14730" t="16909"/>
          <a:stretch/>
        </p:blipFill>
        <p:spPr>
          <a:xfrm>
            <a:off x="5837625" y="4607522"/>
            <a:ext cx="320040" cy="2827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(3)</a:t>
            </a:r>
            <a:endParaRPr/>
          </a:p>
        </p:txBody>
      </p:sp>
      <p:sp>
        <p:nvSpPr>
          <p:cNvPr id="358" name="Google Shape;35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41"/>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1"/>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1"/>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1"/>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1"/>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1"/>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1"/>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1"/>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1.0 votes</a:t>
            </a:r>
            <a:endParaRPr/>
          </a:p>
        </p:txBody>
      </p:sp>
      <p:sp>
        <p:nvSpPr>
          <p:cNvPr id="367" name="Google Shape;367;p41"/>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68" name="Google Shape;368;p41"/>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69" name="Google Shape;369;p41"/>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370" name="Google Shape;370;p41"/>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1.0 votes</a:t>
            </a:r>
            <a:endParaRPr>
              <a:solidFill>
                <a:schemeClr val="dk1"/>
              </a:solidFill>
            </a:endParaRPr>
          </a:p>
          <a:p>
            <a:pPr indent="0" lvl="0" marL="0" rtl="0" algn="l">
              <a:spcBef>
                <a:spcPts val="0"/>
              </a:spcBef>
              <a:spcAft>
                <a:spcPts val="0"/>
              </a:spcAft>
              <a:buNone/>
            </a:pPr>
            <a:r>
              <a:t/>
            </a:r>
            <a:endParaRPr/>
          </a:p>
        </p:txBody>
      </p:sp>
      <p:sp>
        <p:nvSpPr>
          <p:cNvPr id="371" name="Google Shape;371;p41"/>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 votes</a:t>
            </a:r>
            <a:endParaRPr/>
          </a:p>
        </p:txBody>
      </p:sp>
      <p:sp>
        <p:nvSpPr>
          <p:cNvPr id="372" name="Google Shape;372;p41"/>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373" name="Google Shape;373;p41"/>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74" name="Google Shape;374;p41"/>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75" name="Google Shape;375;p41"/>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76" name="Google Shape;376;p41"/>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77" name="Google Shape;377;p41"/>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a:p>
            <a:pPr indent="0" lvl="0" marL="0" rtl="0" algn="ctr">
              <a:spcBef>
                <a:spcPts val="0"/>
              </a:spcBef>
              <a:spcAft>
                <a:spcPts val="0"/>
              </a:spcAft>
              <a:buNone/>
            </a:pPr>
            <a:r>
              <a:t/>
            </a:r>
            <a:endParaRPr/>
          </a:p>
        </p:txBody>
      </p:sp>
      <p:sp>
        <p:nvSpPr>
          <p:cNvPr id="378" name="Google Shape;378;p41"/>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379" name="Google Shape;379;p41"/>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380" name="Google Shape;380;p41"/>
          <p:cNvSpPr txBox="1"/>
          <p:nvPr/>
        </p:nvSpPr>
        <p:spPr>
          <a:xfrm>
            <a:off x="6537825" y="1564750"/>
            <a:ext cx="24834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5.2 votes      1.8 votes</a:t>
            </a:r>
            <a:endParaRPr sz="1800"/>
          </a:p>
        </p:txBody>
      </p:sp>
      <p:pic>
        <p:nvPicPr>
          <p:cNvPr id="381" name="Google Shape;381;p41"/>
          <p:cNvPicPr preferRelativeResize="0"/>
          <p:nvPr/>
        </p:nvPicPr>
        <p:blipFill>
          <a:blip r:embed="rId3">
            <a:alphaModFix/>
          </a:blip>
          <a:stretch>
            <a:fillRect/>
          </a:stretch>
        </p:blipFill>
        <p:spPr>
          <a:xfrm>
            <a:off x="703652" y="1578972"/>
            <a:ext cx="1600325" cy="18955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(3)</a:t>
            </a:r>
            <a:endParaRPr/>
          </a:p>
        </p:txBody>
      </p:sp>
      <p:sp>
        <p:nvSpPr>
          <p:cNvPr id="387" name="Google Shape;38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8" name="Google Shape;388;p42"/>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2"/>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2"/>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2"/>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2"/>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2"/>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2"/>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2"/>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396" name="Google Shape;396;p42"/>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397" name="Google Shape;397;p42"/>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398" name="Google Shape;398;p42"/>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399" name="Google Shape;399;p42"/>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400" name="Google Shape;400;p42"/>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0.7 votes</a:t>
            </a:r>
            <a:endParaRPr/>
          </a:p>
        </p:txBody>
      </p:sp>
      <p:sp>
        <p:nvSpPr>
          <p:cNvPr id="401" name="Google Shape;401;p42"/>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02" name="Google Shape;402;p42"/>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03" name="Google Shape;403;p42"/>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404" name="Google Shape;404;p42"/>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05" name="Google Shape;405;p42"/>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06" name="Google Shape;406;p42"/>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a:p>
            <a:pPr indent="0" lvl="0" marL="0" rtl="0" algn="ctr">
              <a:spcBef>
                <a:spcPts val="0"/>
              </a:spcBef>
              <a:spcAft>
                <a:spcPts val="0"/>
              </a:spcAft>
              <a:buNone/>
            </a:pPr>
            <a:r>
              <a:t/>
            </a:r>
            <a:endParaRPr>
              <a:solidFill>
                <a:srgbClr val="00BB00"/>
              </a:solidFill>
            </a:endParaRPr>
          </a:p>
        </p:txBody>
      </p:sp>
      <p:sp>
        <p:nvSpPr>
          <p:cNvPr id="407" name="Google Shape;407;p42"/>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YES</a:t>
            </a:r>
            <a:endParaRPr>
              <a:solidFill>
                <a:srgbClr val="FF0000"/>
              </a:solidFill>
            </a:endParaRPr>
          </a:p>
        </p:txBody>
      </p:sp>
      <p:sp>
        <p:nvSpPr>
          <p:cNvPr id="408" name="Google Shape;408;p42"/>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NO</a:t>
            </a:r>
            <a:endParaRPr>
              <a:solidFill>
                <a:srgbClr val="00BB00"/>
              </a:solidFill>
            </a:endParaRPr>
          </a:p>
        </p:txBody>
      </p:sp>
      <p:sp>
        <p:nvSpPr>
          <p:cNvPr id="409" name="Google Shape;409;p42"/>
          <p:cNvSpPr txBox="1"/>
          <p:nvPr/>
        </p:nvSpPr>
        <p:spPr>
          <a:xfrm>
            <a:off x="703650" y="3474475"/>
            <a:ext cx="147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Doesn’t bite</a:t>
            </a:r>
            <a:endParaRPr b="1"/>
          </a:p>
        </p:txBody>
      </p:sp>
      <p:pic>
        <p:nvPicPr>
          <p:cNvPr id="410" name="Google Shape;410;p42"/>
          <p:cNvPicPr preferRelativeResize="0"/>
          <p:nvPr/>
        </p:nvPicPr>
        <p:blipFill>
          <a:blip r:embed="rId3">
            <a:alphaModFix/>
          </a:blip>
          <a:stretch>
            <a:fillRect/>
          </a:stretch>
        </p:blipFill>
        <p:spPr>
          <a:xfrm>
            <a:off x="703652" y="1578972"/>
            <a:ext cx="1600325" cy="1895503"/>
          </a:xfrm>
          <a:prstGeom prst="rect">
            <a:avLst/>
          </a:prstGeom>
          <a:noFill/>
          <a:ln>
            <a:noFill/>
          </a:ln>
        </p:spPr>
      </p:pic>
      <p:sp>
        <p:nvSpPr>
          <p:cNvPr id="411" name="Google Shape;411;p42"/>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lang="en">
                <a:solidFill>
                  <a:srgbClr val="00BB00"/>
                </a:solidFill>
              </a:rPr>
              <a:t>correctly</a:t>
            </a:r>
            <a:r>
              <a:rPr lang="en"/>
              <a:t>. Subtract votes from the ones who got it </a:t>
            </a:r>
            <a:r>
              <a:rPr lang="en">
                <a:solidFill>
                  <a:srgbClr val="FF0000"/>
                </a:solidFill>
              </a:rPr>
              <a:t>wrong</a:t>
            </a:r>
            <a:r>
              <a:rPr lang="en"/>
              <a:t>.</a:t>
            </a:r>
            <a:endParaRPr/>
          </a:p>
        </p:txBody>
      </p:sp>
      <p:pic>
        <p:nvPicPr>
          <p:cNvPr id="412" name="Google Shape;412;p42"/>
          <p:cNvPicPr preferRelativeResize="0"/>
          <p:nvPr/>
        </p:nvPicPr>
        <p:blipFill>
          <a:blip r:embed="rId4">
            <a:alphaModFix/>
          </a:blip>
          <a:stretch>
            <a:fillRect/>
          </a:stretch>
        </p:blipFill>
        <p:spPr>
          <a:xfrm>
            <a:off x="5915174" y="3504813"/>
            <a:ext cx="274320" cy="274573"/>
          </a:xfrm>
          <a:prstGeom prst="rect">
            <a:avLst/>
          </a:prstGeom>
          <a:noFill/>
          <a:ln>
            <a:noFill/>
          </a:ln>
        </p:spPr>
      </p:pic>
      <p:pic>
        <p:nvPicPr>
          <p:cNvPr id="413" name="Google Shape;413;p42"/>
          <p:cNvPicPr preferRelativeResize="0"/>
          <p:nvPr/>
        </p:nvPicPr>
        <p:blipFill rotWithShape="1">
          <a:blip r:embed="rId5">
            <a:alphaModFix/>
          </a:blip>
          <a:srcRect b="18843" l="12420" r="14730" t="16909"/>
          <a:stretch/>
        </p:blipFill>
        <p:spPr>
          <a:xfrm>
            <a:off x="5835700" y="4039356"/>
            <a:ext cx="320040" cy="282702"/>
          </a:xfrm>
          <a:prstGeom prst="rect">
            <a:avLst/>
          </a:prstGeom>
          <a:noFill/>
          <a:ln>
            <a:noFill/>
          </a:ln>
        </p:spPr>
      </p:pic>
      <p:pic>
        <p:nvPicPr>
          <p:cNvPr id="414" name="Google Shape;414;p42"/>
          <p:cNvPicPr preferRelativeResize="0"/>
          <p:nvPr/>
        </p:nvPicPr>
        <p:blipFill>
          <a:blip r:embed="rId4">
            <a:alphaModFix/>
          </a:blip>
          <a:stretch>
            <a:fillRect/>
          </a:stretch>
        </p:blipFill>
        <p:spPr>
          <a:xfrm>
            <a:off x="5915174" y="2409732"/>
            <a:ext cx="274320" cy="274573"/>
          </a:xfrm>
          <a:prstGeom prst="rect">
            <a:avLst/>
          </a:prstGeom>
          <a:noFill/>
          <a:ln>
            <a:noFill/>
          </a:ln>
        </p:spPr>
      </p:pic>
      <p:pic>
        <p:nvPicPr>
          <p:cNvPr id="415" name="Google Shape;415;p42"/>
          <p:cNvPicPr preferRelativeResize="0"/>
          <p:nvPr/>
        </p:nvPicPr>
        <p:blipFill>
          <a:blip r:embed="rId4">
            <a:alphaModFix/>
          </a:blip>
          <a:stretch>
            <a:fillRect/>
          </a:stretch>
        </p:blipFill>
        <p:spPr>
          <a:xfrm>
            <a:off x="5915174" y="2957272"/>
            <a:ext cx="274320" cy="274573"/>
          </a:xfrm>
          <a:prstGeom prst="rect">
            <a:avLst/>
          </a:prstGeom>
          <a:noFill/>
          <a:ln>
            <a:noFill/>
          </a:ln>
        </p:spPr>
      </p:pic>
      <p:pic>
        <p:nvPicPr>
          <p:cNvPr id="416" name="Google Shape;416;p42"/>
          <p:cNvPicPr preferRelativeResize="0"/>
          <p:nvPr/>
        </p:nvPicPr>
        <p:blipFill rotWithShape="1">
          <a:blip r:embed="rId5">
            <a:alphaModFix/>
          </a:blip>
          <a:srcRect b="18843" l="12420" r="14730" t="16909"/>
          <a:stretch/>
        </p:blipFill>
        <p:spPr>
          <a:xfrm>
            <a:off x="5837625" y="1893469"/>
            <a:ext cx="320040" cy="282702"/>
          </a:xfrm>
          <a:prstGeom prst="rect">
            <a:avLst/>
          </a:prstGeom>
          <a:noFill/>
          <a:ln>
            <a:noFill/>
          </a:ln>
        </p:spPr>
      </p:pic>
      <p:pic>
        <p:nvPicPr>
          <p:cNvPr id="417" name="Google Shape;417;p42"/>
          <p:cNvPicPr preferRelativeResize="0"/>
          <p:nvPr/>
        </p:nvPicPr>
        <p:blipFill>
          <a:blip r:embed="rId4">
            <a:alphaModFix/>
          </a:blip>
          <a:stretch>
            <a:fillRect/>
          </a:stretch>
        </p:blipFill>
        <p:spPr>
          <a:xfrm>
            <a:off x="5915174" y="4546449"/>
            <a:ext cx="274320" cy="274573"/>
          </a:xfrm>
          <a:prstGeom prst="rect">
            <a:avLst/>
          </a:prstGeom>
          <a:noFill/>
          <a:ln>
            <a:noFill/>
          </a:ln>
        </p:spPr>
      </p:pic>
      <p:pic>
        <p:nvPicPr>
          <p:cNvPr id="418" name="Google Shape;418;p42"/>
          <p:cNvPicPr preferRelativeResize="0"/>
          <p:nvPr/>
        </p:nvPicPr>
        <p:blipFill>
          <a:blip r:embed="rId4">
            <a:alphaModFix/>
          </a:blip>
          <a:stretch>
            <a:fillRect/>
          </a:stretch>
        </p:blipFill>
        <p:spPr>
          <a:xfrm>
            <a:off x="5915174" y="1338949"/>
            <a:ext cx="274320" cy="2745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(4)</a:t>
            </a:r>
            <a:endParaRPr/>
          </a:p>
        </p:txBody>
      </p:sp>
      <p:sp>
        <p:nvSpPr>
          <p:cNvPr id="424" name="Google Shape;424;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43"/>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3"/>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3"/>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3"/>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3"/>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3"/>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3"/>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3"/>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1.1 votes</a:t>
            </a:r>
            <a:endParaRPr/>
          </a:p>
        </p:txBody>
      </p:sp>
      <p:sp>
        <p:nvSpPr>
          <p:cNvPr id="433" name="Google Shape;433;p43"/>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34" name="Google Shape;434;p43"/>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435" name="Google Shape;435;p43"/>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1.3 votes</a:t>
            </a:r>
            <a:endParaRPr>
              <a:solidFill>
                <a:schemeClr val="dk1"/>
              </a:solidFill>
            </a:endParaRPr>
          </a:p>
          <a:p>
            <a:pPr indent="0" lvl="0" marL="0" rtl="0" algn="l">
              <a:spcBef>
                <a:spcPts val="0"/>
              </a:spcBef>
              <a:spcAft>
                <a:spcPts val="0"/>
              </a:spcAft>
              <a:buNone/>
            </a:pPr>
            <a:r>
              <a:t/>
            </a:r>
            <a:endParaRPr/>
          </a:p>
        </p:txBody>
      </p:sp>
      <p:sp>
        <p:nvSpPr>
          <p:cNvPr id="436" name="Google Shape;436;p43"/>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1.1 votes</a:t>
            </a:r>
            <a:endParaRPr>
              <a:solidFill>
                <a:schemeClr val="dk1"/>
              </a:solidFill>
            </a:endParaRPr>
          </a:p>
          <a:p>
            <a:pPr indent="0" lvl="0" marL="0" rtl="0" algn="l">
              <a:spcBef>
                <a:spcPts val="0"/>
              </a:spcBef>
              <a:spcAft>
                <a:spcPts val="0"/>
              </a:spcAft>
              <a:buNone/>
            </a:pPr>
            <a:r>
              <a:t/>
            </a:r>
            <a:endParaRPr/>
          </a:p>
        </p:txBody>
      </p:sp>
      <p:sp>
        <p:nvSpPr>
          <p:cNvPr id="437" name="Google Shape;437;p43"/>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0.7 votes</a:t>
            </a:r>
            <a:endParaRPr/>
          </a:p>
        </p:txBody>
      </p:sp>
      <p:sp>
        <p:nvSpPr>
          <p:cNvPr id="438" name="Google Shape;438;p43"/>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0.9 votes</a:t>
            </a:r>
            <a:endParaRPr>
              <a:solidFill>
                <a:schemeClr val="dk1"/>
              </a:solidFill>
            </a:endParaRPr>
          </a:p>
          <a:p>
            <a:pPr indent="0" lvl="0" marL="0" rtl="0" algn="l">
              <a:spcBef>
                <a:spcPts val="0"/>
              </a:spcBef>
              <a:spcAft>
                <a:spcPts val="0"/>
              </a:spcAft>
              <a:buNone/>
            </a:pPr>
            <a:r>
              <a:t/>
            </a:r>
            <a:endParaRPr/>
          </a:p>
        </p:txBody>
      </p:sp>
      <p:sp>
        <p:nvSpPr>
          <p:cNvPr id="439" name="Google Shape;439;p43"/>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440" name="Google Shape;440;p43"/>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441" name="Google Shape;441;p43"/>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442" name="Google Shape;442;p43"/>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p:txBody>
      </p:sp>
      <p:sp>
        <p:nvSpPr>
          <p:cNvPr id="443" name="Google Shape;443;p43"/>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YES</a:t>
            </a:r>
            <a:endParaRPr/>
          </a:p>
          <a:p>
            <a:pPr indent="0" lvl="0" marL="0" rtl="0" algn="ctr">
              <a:spcBef>
                <a:spcPts val="0"/>
              </a:spcBef>
              <a:spcAft>
                <a:spcPts val="0"/>
              </a:spcAft>
              <a:buNone/>
            </a:pPr>
            <a:r>
              <a:t/>
            </a:r>
            <a:endParaRPr/>
          </a:p>
        </p:txBody>
      </p:sp>
      <p:sp>
        <p:nvSpPr>
          <p:cNvPr id="444" name="Google Shape;444;p43"/>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sp>
        <p:nvSpPr>
          <p:cNvPr id="445" name="Google Shape;445;p43"/>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NO</a:t>
            </a:r>
            <a:endParaRPr/>
          </a:p>
        </p:txBody>
      </p:sp>
      <p:pic>
        <p:nvPicPr>
          <p:cNvPr id="446" name="Google Shape;446;p43"/>
          <p:cNvPicPr preferRelativeResize="0"/>
          <p:nvPr/>
        </p:nvPicPr>
        <p:blipFill rotWithShape="1">
          <a:blip r:embed="rId3">
            <a:alphaModFix/>
          </a:blip>
          <a:srcRect b="0" l="11537" r="14174" t="0"/>
          <a:stretch/>
        </p:blipFill>
        <p:spPr>
          <a:xfrm>
            <a:off x="299713" y="1438650"/>
            <a:ext cx="2279668" cy="2035825"/>
          </a:xfrm>
          <a:prstGeom prst="rect">
            <a:avLst/>
          </a:prstGeom>
          <a:noFill/>
          <a:ln>
            <a:noFill/>
          </a:ln>
        </p:spPr>
      </p:pic>
      <p:sp>
        <p:nvSpPr>
          <p:cNvPr id="447" name="Google Shape;447;p43"/>
          <p:cNvSpPr txBox="1"/>
          <p:nvPr/>
        </p:nvSpPr>
        <p:spPr>
          <a:xfrm>
            <a:off x="6537825" y="1564750"/>
            <a:ext cx="2483400" cy="15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t>Tally</a:t>
            </a:r>
            <a:endParaRPr sz="30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u="sng"/>
              <a:t>No</a:t>
            </a:r>
            <a:r>
              <a:rPr lang="en" sz="1800"/>
              <a:t>	               </a:t>
            </a:r>
            <a:r>
              <a:rPr lang="en" sz="1800" u="sng"/>
              <a:t>Yes</a:t>
            </a:r>
            <a:endParaRPr sz="1800"/>
          </a:p>
          <a:p>
            <a:pPr indent="0" lvl="0" marL="0" rtl="0" algn="ctr">
              <a:spcBef>
                <a:spcPts val="0"/>
              </a:spcBef>
              <a:spcAft>
                <a:spcPts val="0"/>
              </a:spcAft>
              <a:buNone/>
            </a:pPr>
            <a:r>
              <a:rPr lang="en" sz="1800"/>
              <a:t>2.5 votes      4.8 votes</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this dog going to bite me? (4)</a:t>
            </a:r>
            <a:endParaRPr/>
          </a:p>
        </p:txBody>
      </p:sp>
      <p:sp>
        <p:nvSpPr>
          <p:cNvPr id="453" name="Google Shape;453;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4" name="Google Shape;454;p44"/>
          <p:cNvSpPr/>
          <p:nvPr/>
        </p:nvSpPr>
        <p:spPr>
          <a:xfrm>
            <a:off x="31849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4"/>
          <p:cNvSpPr/>
          <p:nvPr/>
        </p:nvSpPr>
        <p:spPr>
          <a:xfrm>
            <a:off x="31849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4"/>
          <p:cNvSpPr/>
          <p:nvPr/>
        </p:nvSpPr>
        <p:spPr>
          <a:xfrm>
            <a:off x="31849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4"/>
          <p:cNvSpPr/>
          <p:nvPr/>
        </p:nvSpPr>
        <p:spPr>
          <a:xfrm>
            <a:off x="31849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4"/>
          <p:cNvSpPr/>
          <p:nvPr/>
        </p:nvSpPr>
        <p:spPr>
          <a:xfrm>
            <a:off x="31849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4"/>
          <p:cNvSpPr/>
          <p:nvPr/>
        </p:nvSpPr>
        <p:spPr>
          <a:xfrm>
            <a:off x="31849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4"/>
          <p:cNvSpPr/>
          <p:nvPr/>
        </p:nvSpPr>
        <p:spPr>
          <a:xfrm>
            <a:off x="31849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4"/>
          <p:cNvSpPr txBox="1"/>
          <p:nvPr/>
        </p:nvSpPr>
        <p:spPr>
          <a:xfrm>
            <a:off x="3884800" y="1340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1.2 votes</a:t>
            </a:r>
            <a:endParaRPr/>
          </a:p>
        </p:txBody>
      </p:sp>
      <p:sp>
        <p:nvSpPr>
          <p:cNvPr id="462" name="Google Shape;462;p44"/>
          <p:cNvSpPr txBox="1"/>
          <p:nvPr/>
        </p:nvSpPr>
        <p:spPr>
          <a:xfrm>
            <a:off x="3884800" y="1874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463" name="Google Shape;463;p44"/>
          <p:cNvSpPr txBox="1"/>
          <p:nvPr/>
        </p:nvSpPr>
        <p:spPr>
          <a:xfrm>
            <a:off x="3884800" y="24076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1.4 votes</a:t>
            </a:r>
            <a:endParaRPr>
              <a:solidFill>
                <a:schemeClr val="dk1"/>
              </a:solidFill>
            </a:endParaRPr>
          </a:p>
          <a:p>
            <a:pPr indent="0" lvl="0" marL="0" rtl="0" algn="l">
              <a:spcBef>
                <a:spcPts val="0"/>
              </a:spcBef>
              <a:spcAft>
                <a:spcPts val="0"/>
              </a:spcAft>
              <a:buNone/>
            </a:pPr>
            <a:r>
              <a:t/>
            </a:r>
            <a:endParaRPr/>
          </a:p>
        </p:txBody>
      </p:sp>
      <p:sp>
        <p:nvSpPr>
          <p:cNvPr id="464" name="Google Shape;464;p44"/>
          <p:cNvSpPr txBox="1"/>
          <p:nvPr/>
        </p:nvSpPr>
        <p:spPr>
          <a:xfrm>
            <a:off x="3884800" y="29410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1.4 votes</a:t>
            </a:r>
            <a:endParaRPr>
              <a:solidFill>
                <a:schemeClr val="dk1"/>
              </a:solidFill>
            </a:endParaRPr>
          </a:p>
          <a:p>
            <a:pPr indent="0" lvl="0" marL="0" rtl="0" algn="l">
              <a:spcBef>
                <a:spcPts val="0"/>
              </a:spcBef>
              <a:spcAft>
                <a:spcPts val="0"/>
              </a:spcAft>
              <a:buNone/>
            </a:pPr>
            <a:r>
              <a:t/>
            </a:r>
            <a:endParaRPr/>
          </a:p>
        </p:txBody>
      </p:sp>
      <p:sp>
        <p:nvSpPr>
          <p:cNvPr id="465" name="Google Shape;465;p44"/>
          <p:cNvSpPr txBox="1"/>
          <p:nvPr/>
        </p:nvSpPr>
        <p:spPr>
          <a:xfrm>
            <a:off x="3884800" y="34744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1.2 votes</a:t>
            </a:r>
            <a:endParaRPr>
              <a:solidFill>
                <a:schemeClr val="dk1"/>
              </a:solidFill>
            </a:endParaRPr>
          </a:p>
          <a:p>
            <a:pPr indent="0" lvl="0" marL="0" rtl="0" algn="l">
              <a:spcBef>
                <a:spcPts val="0"/>
              </a:spcBef>
              <a:spcAft>
                <a:spcPts val="0"/>
              </a:spcAft>
              <a:buNone/>
            </a:pPr>
            <a:r>
              <a:t/>
            </a:r>
            <a:endParaRPr/>
          </a:p>
        </p:txBody>
      </p:sp>
      <p:sp>
        <p:nvSpPr>
          <p:cNvPr id="466" name="Google Shape;466;p44"/>
          <p:cNvSpPr txBox="1"/>
          <p:nvPr/>
        </p:nvSpPr>
        <p:spPr>
          <a:xfrm>
            <a:off x="3884800" y="40078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0.6 votes</a:t>
            </a:r>
            <a:endParaRPr/>
          </a:p>
        </p:txBody>
      </p:sp>
      <p:sp>
        <p:nvSpPr>
          <p:cNvPr id="467" name="Google Shape;467;p44"/>
          <p:cNvSpPr txBox="1"/>
          <p:nvPr/>
        </p:nvSpPr>
        <p:spPr>
          <a:xfrm>
            <a:off x="3884800" y="4541275"/>
            <a:ext cx="1072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0.8 votes</a:t>
            </a:r>
            <a:endParaRPr>
              <a:solidFill>
                <a:schemeClr val="dk1"/>
              </a:solidFill>
            </a:endParaRPr>
          </a:p>
          <a:p>
            <a:pPr indent="0" lvl="0" marL="0" rtl="0" algn="l">
              <a:spcBef>
                <a:spcPts val="0"/>
              </a:spcBef>
              <a:spcAft>
                <a:spcPts val="0"/>
              </a:spcAft>
              <a:buNone/>
            </a:pPr>
            <a:r>
              <a:t/>
            </a:r>
            <a:endParaRPr/>
          </a:p>
        </p:txBody>
      </p:sp>
      <p:sp>
        <p:nvSpPr>
          <p:cNvPr id="468" name="Google Shape;468;p44"/>
          <p:cNvSpPr txBox="1"/>
          <p:nvPr/>
        </p:nvSpPr>
        <p:spPr>
          <a:xfrm>
            <a:off x="5104000" y="1340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469" name="Google Shape;469;p44"/>
          <p:cNvSpPr txBox="1"/>
          <p:nvPr/>
        </p:nvSpPr>
        <p:spPr>
          <a:xfrm>
            <a:off x="5104000" y="1874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470" name="Google Shape;470;p44"/>
          <p:cNvSpPr txBox="1"/>
          <p:nvPr/>
        </p:nvSpPr>
        <p:spPr>
          <a:xfrm>
            <a:off x="5104000" y="24076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471" name="Google Shape;471;p44"/>
          <p:cNvSpPr txBox="1"/>
          <p:nvPr/>
        </p:nvSpPr>
        <p:spPr>
          <a:xfrm>
            <a:off x="5104000" y="29410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p:txBody>
      </p:sp>
      <p:sp>
        <p:nvSpPr>
          <p:cNvPr id="472" name="Google Shape;472;p44"/>
          <p:cNvSpPr txBox="1"/>
          <p:nvPr/>
        </p:nvSpPr>
        <p:spPr>
          <a:xfrm>
            <a:off x="5104000" y="34744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BB00"/>
                </a:solidFill>
              </a:rPr>
              <a:t>YES</a:t>
            </a:r>
            <a:endParaRPr>
              <a:solidFill>
                <a:srgbClr val="00BB00"/>
              </a:solidFill>
            </a:endParaRPr>
          </a:p>
          <a:p>
            <a:pPr indent="0" lvl="0" marL="0" rtl="0" algn="ctr">
              <a:spcBef>
                <a:spcPts val="0"/>
              </a:spcBef>
              <a:spcAft>
                <a:spcPts val="0"/>
              </a:spcAft>
              <a:buNone/>
            </a:pPr>
            <a:r>
              <a:t/>
            </a:r>
            <a:endParaRPr>
              <a:solidFill>
                <a:srgbClr val="00BB00"/>
              </a:solidFill>
            </a:endParaRPr>
          </a:p>
        </p:txBody>
      </p:sp>
      <p:sp>
        <p:nvSpPr>
          <p:cNvPr id="473" name="Google Shape;473;p44"/>
          <p:cNvSpPr txBox="1"/>
          <p:nvPr/>
        </p:nvSpPr>
        <p:spPr>
          <a:xfrm>
            <a:off x="5104000" y="40078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474" name="Google Shape;474;p44"/>
          <p:cNvSpPr txBox="1"/>
          <p:nvPr/>
        </p:nvSpPr>
        <p:spPr>
          <a:xfrm>
            <a:off x="5104000" y="4541275"/>
            <a:ext cx="807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NO</a:t>
            </a:r>
            <a:endParaRPr>
              <a:solidFill>
                <a:srgbClr val="FF0000"/>
              </a:solidFill>
            </a:endParaRPr>
          </a:p>
        </p:txBody>
      </p:sp>
      <p:sp>
        <p:nvSpPr>
          <p:cNvPr id="475" name="Google Shape;475;p44"/>
          <p:cNvSpPr txBox="1"/>
          <p:nvPr/>
        </p:nvSpPr>
        <p:spPr>
          <a:xfrm>
            <a:off x="703650" y="3474475"/>
            <a:ext cx="147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Does bite!</a:t>
            </a:r>
            <a:endParaRPr b="1"/>
          </a:p>
        </p:txBody>
      </p:sp>
      <p:sp>
        <p:nvSpPr>
          <p:cNvPr id="476" name="Google Shape;476;p44"/>
          <p:cNvSpPr txBox="1"/>
          <p:nvPr/>
        </p:nvSpPr>
        <p:spPr>
          <a:xfrm>
            <a:off x="6563150" y="1936225"/>
            <a:ext cx="1998600" cy="13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Give more votes to the experts who answered </a:t>
            </a:r>
            <a:r>
              <a:rPr lang="en">
                <a:solidFill>
                  <a:srgbClr val="00BB00"/>
                </a:solidFill>
              </a:rPr>
              <a:t>correctly</a:t>
            </a:r>
            <a:r>
              <a:rPr lang="en"/>
              <a:t>. Subtract votes from the ones who got it </a:t>
            </a:r>
            <a:r>
              <a:rPr lang="en">
                <a:solidFill>
                  <a:srgbClr val="FF0000"/>
                </a:solidFill>
              </a:rPr>
              <a:t>wrong</a:t>
            </a:r>
            <a:r>
              <a:rPr lang="en"/>
              <a:t>.</a:t>
            </a:r>
            <a:endParaRPr/>
          </a:p>
        </p:txBody>
      </p:sp>
      <p:pic>
        <p:nvPicPr>
          <p:cNvPr id="477" name="Google Shape;477;p44"/>
          <p:cNvPicPr preferRelativeResize="0"/>
          <p:nvPr/>
        </p:nvPicPr>
        <p:blipFill rotWithShape="1">
          <a:blip r:embed="rId3">
            <a:alphaModFix/>
          </a:blip>
          <a:srcRect b="0" l="11537" r="14174" t="0"/>
          <a:stretch/>
        </p:blipFill>
        <p:spPr>
          <a:xfrm>
            <a:off x="299713" y="1438650"/>
            <a:ext cx="2279668" cy="2035825"/>
          </a:xfrm>
          <a:prstGeom prst="rect">
            <a:avLst/>
          </a:prstGeom>
          <a:noFill/>
          <a:ln>
            <a:noFill/>
          </a:ln>
        </p:spPr>
      </p:pic>
      <p:pic>
        <p:nvPicPr>
          <p:cNvPr id="478" name="Google Shape;478;p44"/>
          <p:cNvPicPr preferRelativeResize="0"/>
          <p:nvPr/>
        </p:nvPicPr>
        <p:blipFill>
          <a:blip r:embed="rId4">
            <a:alphaModFix/>
          </a:blip>
          <a:stretch>
            <a:fillRect/>
          </a:stretch>
        </p:blipFill>
        <p:spPr>
          <a:xfrm>
            <a:off x="5915174" y="3459906"/>
            <a:ext cx="274320" cy="274559"/>
          </a:xfrm>
          <a:prstGeom prst="rect">
            <a:avLst/>
          </a:prstGeom>
          <a:noFill/>
          <a:ln>
            <a:noFill/>
          </a:ln>
        </p:spPr>
      </p:pic>
      <p:pic>
        <p:nvPicPr>
          <p:cNvPr id="479" name="Google Shape;479;p44"/>
          <p:cNvPicPr preferRelativeResize="0"/>
          <p:nvPr/>
        </p:nvPicPr>
        <p:blipFill rotWithShape="1">
          <a:blip r:embed="rId5">
            <a:alphaModFix/>
          </a:blip>
          <a:srcRect b="18843" l="12420" r="14730" t="16909"/>
          <a:stretch/>
        </p:blipFill>
        <p:spPr>
          <a:xfrm>
            <a:off x="5899182" y="4056143"/>
            <a:ext cx="318921" cy="283207"/>
          </a:xfrm>
          <a:prstGeom prst="rect">
            <a:avLst/>
          </a:prstGeom>
          <a:noFill/>
          <a:ln>
            <a:noFill/>
          </a:ln>
        </p:spPr>
      </p:pic>
      <p:pic>
        <p:nvPicPr>
          <p:cNvPr id="480" name="Google Shape;480;p44"/>
          <p:cNvPicPr preferRelativeResize="0"/>
          <p:nvPr/>
        </p:nvPicPr>
        <p:blipFill>
          <a:blip r:embed="rId4">
            <a:alphaModFix/>
          </a:blip>
          <a:stretch>
            <a:fillRect/>
          </a:stretch>
        </p:blipFill>
        <p:spPr>
          <a:xfrm>
            <a:off x="5915174" y="2441059"/>
            <a:ext cx="274320" cy="274559"/>
          </a:xfrm>
          <a:prstGeom prst="rect">
            <a:avLst/>
          </a:prstGeom>
          <a:noFill/>
          <a:ln>
            <a:noFill/>
          </a:ln>
        </p:spPr>
      </p:pic>
      <p:pic>
        <p:nvPicPr>
          <p:cNvPr id="481" name="Google Shape;481;p44"/>
          <p:cNvPicPr preferRelativeResize="0"/>
          <p:nvPr/>
        </p:nvPicPr>
        <p:blipFill>
          <a:blip r:embed="rId4">
            <a:alphaModFix/>
          </a:blip>
          <a:stretch>
            <a:fillRect/>
          </a:stretch>
        </p:blipFill>
        <p:spPr>
          <a:xfrm>
            <a:off x="5915174" y="2912382"/>
            <a:ext cx="274320" cy="274559"/>
          </a:xfrm>
          <a:prstGeom prst="rect">
            <a:avLst/>
          </a:prstGeom>
          <a:noFill/>
          <a:ln>
            <a:noFill/>
          </a:ln>
        </p:spPr>
      </p:pic>
      <p:pic>
        <p:nvPicPr>
          <p:cNvPr id="482" name="Google Shape;482;p44"/>
          <p:cNvPicPr preferRelativeResize="0"/>
          <p:nvPr/>
        </p:nvPicPr>
        <p:blipFill rotWithShape="1">
          <a:blip r:embed="rId5">
            <a:alphaModFix/>
          </a:blip>
          <a:srcRect b="18843" l="12420" r="14730" t="16909"/>
          <a:stretch/>
        </p:blipFill>
        <p:spPr>
          <a:xfrm>
            <a:off x="5899182" y="1925688"/>
            <a:ext cx="318921" cy="283208"/>
          </a:xfrm>
          <a:prstGeom prst="rect">
            <a:avLst/>
          </a:prstGeom>
          <a:noFill/>
          <a:ln>
            <a:noFill/>
          </a:ln>
        </p:spPr>
      </p:pic>
      <p:pic>
        <p:nvPicPr>
          <p:cNvPr id="483" name="Google Shape;483;p44"/>
          <p:cNvPicPr preferRelativeResize="0"/>
          <p:nvPr/>
        </p:nvPicPr>
        <p:blipFill>
          <a:blip r:embed="rId4">
            <a:alphaModFix/>
          </a:blip>
          <a:stretch>
            <a:fillRect/>
          </a:stretch>
        </p:blipFill>
        <p:spPr>
          <a:xfrm>
            <a:off x="5915174" y="1338949"/>
            <a:ext cx="274320" cy="274559"/>
          </a:xfrm>
          <a:prstGeom prst="rect">
            <a:avLst/>
          </a:prstGeom>
          <a:noFill/>
          <a:ln>
            <a:noFill/>
          </a:ln>
        </p:spPr>
      </p:pic>
      <p:pic>
        <p:nvPicPr>
          <p:cNvPr id="484" name="Google Shape;484;p44"/>
          <p:cNvPicPr preferRelativeResize="0"/>
          <p:nvPr/>
        </p:nvPicPr>
        <p:blipFill rotWithShape="1">
          <a:blip r:embed="rId5">
            <a:alphaModFix/>
          </a:blip>
          <a:srcRect b="18843" l="12420" r="14730" t="16909"/>
          <a:stretch/>
        </p:blipFill>
        <p:spPr>
          <a:xfrm>
            <a:off x="5899182" y="4565323"/>
            <a:ext cx="318921" cy="28320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Turning </a:t>
            </a:r>
            <a:r>
              <a:rPr lang="en"/>
              <a:t>our dog bite predictor into a neural network</a:t>
            </a:r>
            <a:endParaRPr/>
          </a:p>
        </p:txBody>
      </p:sp>
      <p:sp>
        <p:nvSpPr>
          <p:cNvPr id="490" name="Google Shape;490;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1" name="Google Shape;491;p45"/>
          <p:cNvSpPr/>
          <p:nvPr/>
        </p:nvSpPr>
        <p:spPr>
          <a:xfrm>
            <a:off x="1889575" y="1340875"/>
            <a:ext cx="393600" cy="393600"/>
          </a:xfrm>
          <a:prstGeom prst="smileyFace">
            <a:avLst>
              <a:gd fmla="val 4653"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5"/>
          <p:cNvSpPr/>
          <p:nvPr/>
        </p:nvSpPr>
        <p:spPr>
          <a:xfrm>
            <a:off x="1889575" y="1874275"/>
            <a:ext cx="393600" cy="393600"/>
          </a:xfrm>
          <a:prstGeom prst="smileyFace">
            <a:avLst>
              <a:gd fmla="val 4653"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5"/>
          <p:cNvSpPr/>
          <p:nvPr/>
        </p:nvSpPr>
        <p:spPr>
          <a:xfrm>
            <a:off x="1889575" y="2407675"/>
            <a:ext cx="393600" cy="393600"/>
          </a:xfrm>
          <a:prstGeom prst="smileyFace">
            <a:avLst>
              <a:gd fmla="val 4653"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5"/>
          <p:cNvSpPr/>
          <p:nvPr/>
        </p:nvSpPr>
        <p:spPr>
          <a:xfrm>
            <a:off x="1889575" y="2941075"/>
            <a:ext cx="393600" cy="3936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5"/>
          <p:cNvSpPr/>
          <p:nvPr/>
        </p:nvSpPr>
        <p:spPr>
          <a:xfrm>
            <a:off x="1889575" y="3474475"/>
            <a:ext cx="393600" cy="3936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5"/>
          <p:cNvSpPr/>
          <p:nvPr/>
        </p:nvSpPr>
        <p:spPr>
          <a:xfrm>
            <a:off x="1889575" y="4007875"/>
            <a:ext cx="393600" cy="393600"/>
          </a:xfrm>
          <a:prstGeom prst="smileyFace">
            <a:avLst>
              <a:gd fmla="val 4653" name="adj"/>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5"/>
          <p:cNvSpPr/>
          <p:nvPr/>
        </p:nvSpPr>
        <p:spPr>
          <a:xfrm>
            <a:off x="1889575" y="4541275"/>
            <a:ext cx="393600" cy="3936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5"/>
          <p:cNvSpPr/>
          <p:nvPr/>
        </p:nvSpPr>
        <p:spPr>
          <a:xfrm>
            <a:off x="4656725" y="2451175"/>
            <a:ext cx="1373400" cy="1373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0"/>
              <a:t>Σ</a:t>
            </a:r>
            <a:r>
              <a:rPr baseline="30000" lang="en" sz="3600"/>
              <a:t>&gt;</a:t>
            </a:r>
            <a:r>
              <a:rPr b="1" baseline="30000" lang="en" sz="3600">
                <a:solidFill>
                  <a:srgbClr val="980000"/>
                </a:solidFill>
              </a:rPr>
              <a:t>0</a:t>
            </a:r>
            <a:endParaRPr b="1" baseline="30000" sz="3600">
              <a:solidFill>
                <a:srgbClr val="980000"/>
              </a:solidFill>
            </a:endParaRPr>
          </a:p>
        </p:txBody>
      </p:sp>
      <p:cxnSp>
        <p:nvCxnSpPr>
          <p:cNvPr id="499" name="Google Shape;499;p45"/>
          <p:cNvCxnSpPr>
            <a:stCxn id="491" idx="6"/>
            <a:endCxn id="498" idx="2"/>
          </p:cNvCxnSpPr>
          <p:nvPr/>
        </p:nvCxnSpPr>
        <p:spPr>
          <a:xfrm>
            <a:off x="2283175" y="1537675"/>
            <a:ext cx="2373600" cy="1600200"/>
          </a:xfrm>
          <a:prstGeom prst="straightConnector1">
            <a:avLst/>
          </a:prstGeom>
          <a:noFill/>
          <a:ln cap="flat" cmpd="sng" w="9525">
            <a:solidFill>
              <a:srgbClr val="000000"/>
            </a:solidFill>
            <a:prstDash val="solid"/>
            <a:round/>
            <a:headEnd len="med" w="med" type="none"/>
            <a:tailEnd len="med" w="med" type="triangle"/>
          </a:ln>
        </p:spPr>
      </p:cxnSp>
      <p:cxnSp>
        <p:nvCxnSpPr>
          <p:cNvPr id="500" name="Google Shape;500;p45"/>
          <p:cNvCxnSpPr>
            <a:stCxn id="492" idx="6"/>
            <a:endCxn id="498" idx="2"/>
          </p:cNvCxnSpPr>
          <p:nvPr/>
        </p:nvCxnSpPr>
        <p:spPr>
          <a:xfrm>
            <a:off x="2283175" y="2071075"/>
            <a:ext cx="2373600" cy="1066800"/>
          </a:xfrm>
          <a:prstGeom prst="straightConnector1">
            <a:avLst/>
          </a:prstGeom>
          <a:noFill/>
          <a:ln cap="flat" cmpd="sng" w="9525">
            <a:solidFill>
              <a:srgbClr val="000000"/>
            </a:solidFill>
            <a:prstDash val="solid"/>
            <a:round/>
            <a:headEnd len="med" w="med" type="none"/>
            <a:tailEnd len="med" w="med" type="triangle"/>
          </a:ln>
        </p:spPr>
      </p:cxnSp>
      <p:cxnSp>
        <p:nvCxnSpPr>
          <p:cNvPr id="501" name="Google Shape;501;p45"/>
          <p:cNvCxnSpPr>
            <a:stCxn id="493" idx="6"/>
            <a:endCxn id="498" idx="2"/>
          </p:cNvCxnSpPr>
          <p:nvPr/>
        </p:nvCxnSpPr>
        <p:spPr>
          <a:xfrm>
            <a:off x="2283175" y="2604475"/>
            <a:ext cx="2373600" cy="533400"/>
          </a:xfrm>
          <a:prstGeom prst="straightConnector1">
            <a:avLst/>
          </a:prstGeom>
          <a:noFill/>
          <a:ln cap="flat" cmpd="sng" w="9525">
            <a:solidFill>
              <a:srgbClr val="000000"/>
            </a:solidFill>
            <a:prstDash val="solid"/>
            <a:round/>
            <a:headEnd len="med" w="med" type="none"/>
            <a:tailEnd len="med" w="med" type="triangle"/>
          </a:ln>
        </p:spPr>
      </p:cxnSp>
      <p:cxnSp>
        <p:nvCxnSpPr>
          <p:cNvPr id="502" name="Google Shape;502;p45"/>
          <p:cNvCxnSpPr>
            <a:stCxn id="494" idx="6"/>
            <a:endCxn id="498" idx="2"/>
          </p:cNvCxnSpPr>
          <p:nvPr/>
        </p:nvCxnSpPr>
        <p:spPr>
          <a:xfrm>
            <a:off x="2283175" y="3137875"/>
            <a:ext cx="2373600" cy="0"/>
          </a:xfrm>
          <a:prstGeom prst="straightConnector1">
            <a:avLst/>
          </a:prstGeom>
          <a:noFill/>
          <a:ln cap="flat" cmpd="sng" w="9525">
            <a:solidFill>
              <a:srgbClr val="000000"/>
            </a:solidFill>
            <a:prstDash val="solid"/>
            <a:round/>
            <a:headEnd len="med" w="med" type="none"/>
            <a:tailEnd len="med" w="med" type="triangle"/>
          </a:ln>
        </p:spPr>
      </p:cxnSp>
      <p:cxnSp>
        <p:nvCxnSpPr>
          <p:cNvPr id="503" name="Google Shape;503;p45"/>
          <p:cNvCxnSpPr>
            <a:stCxn id="495" idx="6"/>
            <a:endCxn id="498" idx="2"/>
          </p:cNvCxnSpPr>
          <p:nvPr/>
        </p:nvCxnSpPr>
        <p:spPr>
          <a:xfrm flipH="1" rot="10800000">
            <a:off x="2283175" y="3137875"/>
            <a:ext cx="2373600" cy="533400"/>
          </a:xfrm>
          <a:prstGeom prst="straightConnector1">
            <a:avLst/>
          </a:prstGeom>
          <a:noFill/>
          <a:ln cap="flat" cmpd="sng" w="9525">
            <a:solidFill>
              <a:srgbClr val="000000"/>
            </a:solidFill>
            <a:prstDash val="solid"/>
            <a:round/>
            <a:headEnd len="med" w="med" type="none"/>
            <a:tailEnd len="med" w="med" type="triangle"/>
          </a:ln>
        </p:spPr>
      </p:cxnSp>
      <p:cxnSp>
        <p:nvCxnSpPr>
          <p:cNvPr id="504" name="Google Shape;504;p45"/>
          <p:cNvCxnSpPr>
            <a:stCxn id="496" idx="6"/>
            <a:endCxn id="498" idx="2"/>
          </p:cNvCxnSpPr>
          <p:nvPr/>
        </p:nvCxnSpPr>
        <p:spPr>
          <a:xfrm flipH="1" rot="10800000">
            <a:off x="2283175" y="3137875"/>
            <a:ext cx="2373600" cy="1066800"/>
          </a:xfrm>
          <a:prstGeom prst="straightConnector1">
            <a:avLst/>
          </a:prstGeom>
          <a:noFill/>
          <a:ln cap="flat" cmpd="sng" w="9525">
            <a:solidFill>
              <a:srgbClr val="000000"/>
            </a:solidFill>
            <a:prstDash val="solid"/>
            <a:round/>
            <a:headEnd len="med" w="med" type="none"/>
            <a:tailEnd len="med" w="med" type="triangle"/>
          </a:ln>
        </p:spPr>
      </p:cxnSp>
      <p:cxnSp>
        <p:nvCxnSpPr>
          <p:cNvPr id="505" name="Google Shape;505;p45"/>
          <p:cNvCxnSpPr>
            <a:stCxn id="497" idx="6"/>
            <a:endCxn id="498" idx="2"/>
          </p:cNvCxnSpPr>
          <p:nvPr/>
        </p:nvCxnSpPr>
        <p:spPr>
          <a:xfrm flipH="1" rot="10800000">
            <a:off x="2283175" y="3137875"/>
            <a:ext cx="2373600" cy="1600200"/>
          </a:xfrm>
          <a:prstGeom prst="straightConnector1">
            <a:avLst/>
          </a:prstGeom>
          <a:noFill/>
          <a:ln cap="flat" cmpd="sng" w="9525">
            <a:solidFill>
              <a:srgbClr val="000000"/>
            </a:solidFill>
            <a:prstDash val="solid"/>
            <a:round/>
            <a:headEnd len="med" w="med" type="none"/>
            <a:tailEnd len="med" w="med" type="triangle"/>
          </a:ln>
        </p:spPr>
      </p:cxnSp>
      <p:cxnSp>
        <p:nvCxnSpPr>
          <p:cNvPr id="506" name="Google Shape;506;p45"/>
          <p:cNvCxnSpPr>
            <a:stCxn id="498" idx="6"/>
          </p:cNvCxnSpPr>
          <p:nvPr/>
        </p:nvCxnSpPr>
        <p:spPr>
          <a:xfrm>
            <a:off x="6030125" y="3137875"/>
            <a:ext cx="802200" cy="0"/>
          </a:xfrm>
          <a:prstGeom prst="straightConnector1">
            <a:avLst/>
          </a:prstGeom>
          <a:noFill/>
          <a:ln cap="flat" cmpd="sng" w="28575">
            <a:solidFill>
              <a:srgbClr val="000000"/>
            </a:solidFill>
            <a:prstDash val="solid"/>
            <a:round/>
            <a:headEnd len="med" w="med" type="none"/>
            <a:tailEnd len="med" w="med" type="triangle"/>
          </a:ln>
        </p:spPr>
      </p:cxnSp>
      <p:sp>
        <p:nvSpPr>
          <p:cNvPr id="507" name="Google Shape;507;p45"/>
          <p:cNvSpPr txBox="1"/>
          <p:nvPr/>
        </p:nvSpPr>
        <p:spPr>
          <a:xfrm>
            <a:off x="2590675" y="14793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1.2</a:t>
            </a:r>
            <a:endParaRPr/>
          </a:p>
        </p:txBody>
      </p:sp>
      <p:sp>
        <p:nvSpPr>
          <p:cNvPr id="508" name="Google Shape;508;p45"/>
          <p:cNvSpPr txBox="1"/>
          <p:nvPr/>
        </p:nvSpPr>
        <p:spPr>
          <a:xfrm>
            <a:off x="2590675" y="40701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a:t>
            </a:r>
            <a:endParaRPr/>
          </a:p>
        </p:txBody>
      </p:sp>
      <p:sp>
        <p:nvSpPr>
          <p:cNvPr id="509" name="Google Shape;509;p45"/>
          <p:cNvSpPr txBox="1"/>
          <p:nvPr/>
        </p:nvSpPr>
        <p:spPr>
          <a:xfrm>
            <a:off x="2590675" y="28509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1.4</a:t>
            </a:r>
            <a:endParaRPr/>
          </a:p>
        </p:txBody>
      </p:sp>
      <p:sp>
        <p:nvSpPr>
          <p:cNvPr id="510" name="Google Shape;510;p45"/>
          <p:cNvSpPr txBox="1"/>
          <p:nvPr/>
        </p:nvSpPr>
        <p:spPr>
          <a:xfrm>
            <a:off x="2590675" y="20127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0.8</a:t>
            </a:r>
            <a:endParaRPr/>
          </a:p>
        </p:txBody>
      </p:sp>
      <p:sp>
        <p:nvSpPr>
          <p:cNvPr id="511" name="Google Shape;511;p45"/>
          <p:cNvSpPr txBox="1"/>
          <p:nvPr/>
        </p:nvSpPr>
        <p:spPr>
          <a:xfrm>
            <a:off x="2590675" y="23937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1.4</a:t>
            </a:r>
            <a:endParaRPr/>
          </a:p>
        </p:txBody>
      </p:sp>
      <p:sp>
        <p:nvSpPr>
          <p:cNvPr id="512" name="Google Shape;512;p45"/>
          <p:cNvSpPr txBox="1"/>
          <p:nvPr/>
        </p:nvSpPr>
        <p:spPr>
          <a:xfrm>
            <a:off x="2590675" y="321772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1.2</a:t>
            </a:r>
            <a:endParaRPr/>
          </a:p>
        </p:txBody>
      </p:sp>
      <p:sp>
        <p:nvSpPr>
          <p:cNvPr id="513" name="Google Shape;513;p45"/>
          <p:cNvSpPr txBox="1"/>
          <p:nvPr/>
        </p:nvSpPr>
        <p:spPr>
          <a:xfrm>
            <a:off x="2590675" y="3612950"/>
            <a:ext cx="464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514" name="Google Shape;514;p45"/>
          <p:cNvSpPr txBox="1"/>
          <p:nvPr/>
        </p:nvSpPr>
        <p:spPr>
          <a:xfrm>
            <a:off x="97575" y="2057400"/>
            <a:ext cx="1484700" cy="24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experts supply inputs</a:t>
            </a:r>
            <a:br>
              <a:rPr lang="en" sz="1800"/>
            </a:br>
            <a:r>
              <a:rPr lang="en" sz="1800"/>
              <a:t>x</a:t>
            </a:r>
            <a:r>
              <a:rPr baseline="-25000" lang="en" sz="1800"/>
              <a:t>i</a:t>
            </a:r>
            <a:r>
              <a:rPr lang="en" sz="1800"/>
              <a:t> = +1 </a:t>
            </a:r>
            <a:endParaRPr sz="1800"/>
          </a:p>
          <a:p>
            <a:pPr indent="0" lvl="0" marL="0" rtl="0" algn="l">
              <a:spcBef>
                <a:spcPts val="0"/>
              </a:spcBef>
              <a:spcAft>
                <a:spcPts val="0"/>
              </a:spcAft>
              <a:buNone/>
            </a:pPr>
            <a:r>
              <a:rPr lang="en" sz="1800"/>
              <a:t>for “yes” or -1 for “no”</a:t>
            </a:r>
            <a:endParaRPr sz="1800"/>
          </a:p>
        </p:txBody>
      </p:sp>
      <p:sp>
        <p:nvSpPr>
          <p:cNvPr id="515" name="Google Shape;515;p45"/>
          <p:cNvSpPr txBox="1"/>
          <p:nvPr/>
        </p:nvSpPr>
        <p:spPr>
          <a:xfrm>
            <a:off x="3181000" y="1277700"/>
            <a:ext cx="5651400" cy="73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w</a:t>
            </a:r>
            <a:r>
              <a:rPr baseline="-25000" lang="en" sz="1800"/>
              <a:t>i</a:t>
            </a:r>
            <a:r>
              <a:rPr lang="en" sz="1800"/>
              <a:t> are the weights on inputs x</a:t>
            </a:r>
            <a:r>
              <a:rPr baseline="-25000" lang="en" sz="1800"/>
              <a:t>i</a:t>
            </a:r>
            <a:r>
              <a:rPr lang="en" sz="1800"/>
              <a:t> (“weight” = the number of votes that expert gets)</a:t>
            </a:r>
            <a:endParaRPr sz="1800"/>
          </a:p>
        </p:txBody>
      </p:sp>
      <p:sp>
        <p:nvSpPr>
          <p:cNvPr id="516" name="Google Shape;516;p45"/>
          <p:cNvSpPr txBox="1"/>
          <p:nvPr/>
        </p:nvSpPr>
        <p:spPr>
          <a:xfrm>
            <a:off x="4694225" y="3993950"/>
            <a:ext cx="3778200" cy="10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“Activation” a = </a:t>
            </a:r>
            <a:r>
              <a:rPr lang="en" sz="2400"/>
              <a:t>Σ</a:t>
            </a:r>
            <a:r>
              <a:rPr lang="en" sz="1800"/>
              <a:t> w</a:t>
            </a:r>
            <a:r>
              <a:rPr baseline="-25000" lang="en" sz="1800"/>
              <a:t>i</a:t>
            </a:r>
            <a:r>
              <a:rPr lang="en" sz="1800"/>
              <a:t>x</a:t>
            </a:r>
            <a:r>
              <a:rPr baseline="-25000" lang="en" sz="1800"/>
              <a:t>i</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a &gt; 0 means “dog will bite”</a:t>
            </a:r>
            <a:endParaRPr sz="1800"/>
          </a:p>
        </p:txBody>
      </p:sp>
      <p:sp>
        <p:nvSpPr>
          <p:cNvPr id="517" name="Google Shape;517;p45"/>
          <p:cNvSpPr txBox="1"/>
          <p:nvPr/>
        </p:nvSpPr>
        <p:spPr>
          <a:xfrm>
            <a:off x="5716725" y="2196825"/>
            <a:ext cx="17661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“neuron”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521" name="Shape 521"/>
        <p:cNvGrpSpPr/>
        <p:nvPr/>
      </p:nvGrpSpPr>
      <p:grpSpPr>
        <a:xfrm>
          <a:off x="0" y="0"/>
          <a:ext cx="0" cy="0"/>
          <a:chOff x="0" y="0"/>
          <a:chExt cx="0" cy="0"/>
        </a:xfrm>
      </p:grpSpPr>
      <p:sp>
        <p:nvSpPr>
          <p:cNvPr id="522" name="Google Shape;52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Connections (FIX THIS) </a:t>
            </a:r>
            <a:endParaRPr/>
          </a:p>
        </p:txBody>
      </p:sp>
      <p:sp>
        <p:nvSpPr>
          <p:cNvPr id="523" name="Google Shape;523;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Votes are weights </a:t>
            </a:r>
            <a:endParaRPr/>
          </a:p>
          <a:p>
            <a:pPr indent="0" lvl="0" marL="0" rtl="0" algn="l">
              <a:spcBef>
                <a:spcPts val="1200"/>
              </a:spcBef>
              <a:spcAft>
                <a:spcPts val="0"/>
              </a:spcAft>
              <a:buNone/>
            </a:pPr>
            <a:r>
              <a:rPr lang="en"/>
              <a:t>Experts are </a:t>
            </a:r>
            <a:endParaRPr/>
          </a:p>
          <a:p>
            <a:pPr indent="457200" lvl="0" marL="0" rtl="0" algn="l">
              <a:spcBef>
                <a:spcPts val="1200"/>
              </a:spcBef>
              <a:spcAft>
                <a:spcPts val="0"/>
              </a:spcAft>
              <a:buNone/>
            </a:pPr>
            <a:r>
              <a:rPr lang="en"/>
              <a:t>inputs </a:t>
            </a:r>
            <a:endParaRPr/>
          </a:p>
          <a:p>
            <a:pPr indent="0" lvl="0" marL="457200" rtl="0" algn="l">
              <a:spcBef>
                <a:spcPts val="1200"/>
              </a:spcBef>
              <a:spcAft>
                <a:spcPts val="0"/>
              </a:spcAft>
              <a:buNone/>
            </a:pPr>
            <a:r>
              <a:rPr lang="en"/>
              <a:t>Features</a:t>
            </a:r>
            <a:endParaRPr/>
          </a:p>
          <a:p>
            <a:pPr indent="0" lvl="0" marL="457200" rtl="0" algn="l">
              <a:spcBef>
                <a:spcPts val="1200"/>
              </a:spcBef>
              <a:spcAft>
                <a:spcPts val="0"/>
              </a:spcAft>
              <a:buNone/>
            </a:pPr>
            <a:r>
              <a:t/>
            </a:r>
            <a:endParaRPr/>
          </a:p>
          <a:p>
            <a:pPr indent="0" lvl="0" marL="0" rtl="0" algn="l">
              <a:spcBef>
                <a:spcPts val="1200"/>
              </a:spcBef>
              <a:spcAft>
                <a:spcPts val="0"/>
              </a:spcAft>
              <a:buNone/>
            </a:pPr>
            <a:r>
              <a:rPr lang="en"/>
              <a:t>Also connect back to other examples and bigger pictures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524" name="Google Shape;524;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Let’s look at </a:t>
            </a:r>
            <a:endParaRPr/>
          </a:p>
          <a:p>
            <a:pPr indent="0" lvl="0" marL="0" rtl="0" algn="ctr">
              <a:spcBef>
                <a:spcPts val="0"/>
              </a:spcBef>
              <a:spcAft>
                <a:spcPts val="0"/>
              </a:spcAft>
              <a:buNone/>
            </a:pPr>
            <a:r>
              <a:rPr lang="en"/>
              <a:t>how the neuron computes its answer</a:t>
            </a:r>
            <a:endParaRPr/>
          </a:p>
        </p:txBody>
      </p:sp>
      <p:sp>
        <p:nvSpPr>
          <p:cNvPr id="530" name="Google Shape;530;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536" name="Google Shape;536;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7" name="Google Shape;537;p48"/>
          <p:cNvSpPr/>
          <p:nvPr/>
        </p:nvSpPr>
        <p:spPr>
          <a:xfrm>
            <a:off x="3654000" y="2437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538" name="Google Shape;538;p48"/>
          <p:cNvSpPr/>
          <p:nvPr/>
        </p:nvSpPr>
        <p:spPr>
          <a:xfrm>
            <a:off x="2395150" y="2437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8"/>
          <p:cNvSpPr/>
          <p:nvPr/>
        </p:nvSpPr>
        <p:spPr>
          <a:xfrm>
            <a:off x="2395150" y="3199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0" name="Google Shape;540;p48"/>
          <p:cNvCxnSpPr>
            <a:stCxn id="538" idx="6"/>
          </p:cNvCxnSpPr>
          <p:nvPr/>
        </p:nvCxnSpPr>
        <p:spPr>
          <a:xfrm>
            <a:off x="2611450" y="25455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541" name="Google Shape;541;p48"/>
          <p:cNvCxnSpPr/>
          <p:nvPr/>
        </p:nvCxnSpPr>
        <p:spPr>
          <a:xfrm flipH="1" rot="10800000">
            <a:off x="2611450" y="30783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542" name="Google Shape;542;p48"/>
          <p:cNvSpPr txBox="1"/>
          <p:nvPr/>
        </p:nvSpPr>
        <p:spPr>
          <a:xfrm>
            <a:off x="2057903" y="2291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543" name="Google Shape;543;p48"/>
          <p:cNvSpPr txBox="1"/>
          <p:nvPr/>
        </p:nvSpPr>
        <p:spPr>
          <a:xfrm>
            <a:off x="2057903" y="3053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544" name="Google Shape;544;p48"/>
          <p:cNvSpPr txBox="1"/>
          <p:nvPr/>
        </p:nvSpPr>
        <p:spPr>
          <a:xfrm>
            <a:off x="2896103" y="30845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545" name="Google Shape;545;p48"/>
          <p:cNvSpPr txBox="1"/>
          <p:nvPr/>
        </p:nvSpPr>
        <p:spPr>
          <a:xfrm>
            <a:off x="2896103" y="2291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546" name="Google Shape;546;p48"/>
          <p:cNvSpPr txBox="1"/>
          <p:nvPr/>
        </p:nvSpPr>
        <p:spPr>
          <a:xfrm>
            <a:off x="5006800" y="27238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a:t>
            </a:r>
            <a:endParaRPr/>
          </a:p>
        </p:txBody>
      </p:sp>
      <p:cxnSp>
        <p:nvCxnSpPr>
          <p:cNvPr id="547" name="Google Shape;547;p48"/>
          <p:cNvCxnSpPr>
            <a:stCxn id="537" idx="6"/>
            <a:endCxn id="546" idx="1"/>
          </p:cNvCxnSpPr>
          <p:nvPr/>
        </p:nvCxnSpPr>
        <p:spPr>
          <a:xfrm>
            <a:off x="4627200" y="2923975"/>
            <a:ext cx="379500" cy="0"/>
          </a:xfrm>
          <a:prstGeom prst="straightConnector1">
            <a:avLst/>
          </a:prstGeom>
          <a:noFill/>
          <a:ln cap="flat" cmpd="sng" w="9525">
            <a:solidFill>
              <a:schemeClr val="dk2"/>
            </a:solidFill>
            <a:prstDash val="solid"/>
            <a:round/>
            <a:headEnd len="med" w="med" type="none"/>
            <a:tailEnd len="med" w="med" type="triangle"/>
          </a:ln>
        </p:spPr>
      </p:cxnSp>
      <p:sp>
        <p:nvSpPr>
          <p:cNvPr id="548" name="Google Shape;548;p48"/>
          <p:cNvSpPr txBox="1"/>
          <p:nvPr/>
        </p:nvSpPr>
        <p:spPr>
          <a:xfrm>
            <a:off x="3082500" y="3897000"/>
            <a:ext cx="400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p:txBody>
      </p:sp>
      <p:sp>
        <p:nvSpPr>
          <p:cNvPr id="549" name="Google Shape;549;p48"/>
          <p:cNvSpPr txBox="1"/>
          <p:nvPr/>
        </p:nvSpPr>
        <p:spPr>
          <a:xfrm>
            <a:off x="1669150" y="1891475"/>
            <a:ext cx="94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Inputs</a:t>
            </a:r>
            <a:endParaRPr/>
          </a:p>
        </p:txBody>
      </p:sp>
      <p:sp>
        <p:nvSpPr>
          <p:cNvPr id="550" name="Google Shape;550;p48"/>
          <p:cNvSpPr txBox="1"/>
          <p:nvPr/>
        </p:nvSpPr>
        <p:spPr>
          <a:xfrm>
            <a:off x="2583550" y="1891475"/>
            <a:ext cx="94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Weights</a:t>
            </a:r>
            <a:endParaRPr/>
          </a:p>
        </p:txBody>
      </p:sp>
      <p:sp>
        <p:nvSpPr>
          <p:cNvPr id="551" name="Google Shape;551;p48"/>
          <p:cNvSpPr txBox="1"/>
          <p:nvPr/>
        </p:nvSpPr>
        <p:spPr>
          <a:xfrm>
            <a:off x="3579900" y="1891475"/>
            <a:ext cx="108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Summation</a:t>
            </a:r>
            <a:endParaRPr/>
          </a:p>
        </p:txBody>
      </p:sp>
      <p:sp>
        <p:nvSpPr>
          <p:cNvPr id="552" name="Google Shape;552;p48"/>
          <p:cNvSpPr txBox="1"/>
          <p:nvPr/>
        </p:nvSpPr>
        <p:spPr>
          <a:xfrm>
            <a:off x="4722900" y="1891475"/>
            <a:ext cx="94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Output</a:t>
            </a:r>
            <a:endParaRPr/>
          </a:p>
        </p:txBody>
      </p:sp>
      <p:sp>
        <p:nvSpPr>
          <p:cNvPr id="553" name="Google Shape;553;p48"/>
          <p:cNvSpPr txBox="1"/>
          <p:nvPr/>
        </p:nvSpPr>
        <p:spPr>
          <a:xfrm>
            <a:off x="456175" y="1143000"/>
            <a:ext cx="645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Each input x</a:t>
            </a:r>
            <a:r>
              <a:rPr baseline="-25000" lang="en"/>
              <a:t>i</a:t>
            </a:r>
            <a:r>
              <a:rPr lang="en"/>
              <a:t> is multiplied by the corresponding weight w</a:t>
            </a:r>
            <a:r>
              <a:rPr baseline="-25000" lang="en"/>
              <a:t>i</a:t>
            </a:r>
            <a:r>
              <a:rPr lang="en"/>
              <a:t>. Sum the results.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559" name="Google Shape;55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60" name="Google Shape;560;p49"/>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561" name="Google Shape;561;p49"/>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9"/>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3" name="Google Shape;563;p49"/>
          <p:cNvCxnSpPr>
            <a:stCxn id="561"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564" name="Google Shape;564;p49"/>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565" name="Google Shape;565;p49"/>
          <p:cNvSpPr txBox="1"/>
          <p:nvPr/>
        </p:nvSpPr>
        <p:spPr>
          <a:xfrm>
            <a:off x="21341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566" name="Google Shape;566;p49"/>
          <p:cNvSpPr txBox="1"/>
          <p:nvPr/>
        </p:nvSpPr>
        <p:spPr>
          <a:xfrm>
            <a:off x="21341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567" name="Google Shape;567;p49"/>
          <p:cNvSpPr txBox="1"/>
          <p:nvPr/>
        </p:nvSpPr>
        <p:spPr>
          <a:xfrm>
            <a:off x="2972303" y="28791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-2</a:t>
            </a:r>
            <a:endParaRPr baseline="-25000">
              <a:solidFill>
                <a:srgbClr val="980000"/>
              </a:solidFill>
            </a:endParaRPr>
          </a:p>
        </p:txBody>
      </p:sp>
      <p:sp>
        <p:nvSpPr>
          <p:cNvPr id="568" name="Google Shape;568;p49"/>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5</a:t>
            </a:r>
            <a:endParaRPr baseline="-25000">
              <a:solidFill>
                <a:srgbClr val="980000"/>
              </a:solidFill>
            </a:endParaRPr>
          </a:p>
        </p:txBody>
      </p:sp>
      <p:sp>
        <p:nvSpPr>
          <p:cNvPr id="569" name="Google Shape;569;p49"/>
          <p:cNvSpPr txBox="1"/>
          <p:nvPr/>
        </p:nvSpPr>
        <p:spPr>
          <a:xfrm>
            <a:off x="5083000" y="24952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a:t>
            </a:r>
            <a:endParaRPr/>
          </a:p>
        </p:txBody>
      </p:sp>
      <p:cxnSp>
        <p:nvCxnSpPr>
          <p:cNvPr id="570" name="Google Shape;570;p49"/>
          <p:cNvCxnSpPr>
            <a:stCxn id="560" idx="6"/>
            <a:endCxn id="569" idx="1"/>
          </p:cNvCxnSpPr>
          <p:nvPr/>
        </p:nvCxnSpPr>
        <p:spPr>
          <a:xfrm>
            <a:off x="4703400" y="2695375"/>
            <a:ext cx="379500" cy="0"/>
          </a:xfrm>
          <a:prstGeom prst="straightConnector1">
            <a:avLst/>
          </a:prstGeom>
          <a:noFill/>
          <a:ln cap="flat" cmpd="sng" w="9525">
            <a:solidFill>
              <a:schemeClr val="dk2"/>
            </a:solidFill>
            <a:prstDash val="solid"/>
            <a:round/>
            <a:headEnd len="med" w="med" type="none"/>
            <a:tailEnd len="med" w="med" type="triangle"/>
          </a:ln>
        </p:spPr>
      </p:cxnSp>
      <p:sp>
        <p:nvSpPr>
          <p:cNvPr id="571" name="Google Shape;571;p49"/>
          <p:cNvSpPr txBox="1"/>
          <p:nvPr/>
        </p:nvSpPr>
        <p:spPr>
          <a:xfrm>
            <a:off x="3158700" y="3668400"/>
            <a:ext cx="4008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0000FF"/>
                </a:solidFill>
              </a:rPr>
              <a:t>2  × </a:t>
            </a:r>
            <a:r>
              <a:rPr lang="en">
                <a:solidFill>
                  <a:srgbClr val="980000"/>
                </a:solidFill>
              </a:rPr>
              <a:t>5</a:t>
            </a:r>
            <a:r>
              <a:rPr lang="en">
                <a:solidFill>
                  <a:srgbClr val="0000FF"/>
                </a:solidFill>
              </a:rPr>
              <a:t>   +   3 ×  </a:t>
            </a:r>
            <a:r>
              <a:rPr lang="en">
                <a:solidFill>
                  <a:srgbClr val="980000"/>
                </a:solidFill>
              </a:rPr>
              <a:t>-2</a:t>
            </a:r>
            <a:r>
              <a:rPr lang="en">
                <a:solidFill>
                  <a:srgbClr val="0000FF"/>
                </a:solidFill>
              </a:rPr>
              <a:t>  =  </a:t>
            </a:r>
            <a:r>
              <a:rPr lang="en"/>
              <a:t>4</a:t>
            </a:r>
            <a:endParaRPr/>
          </a:p>
        </p:txBody>
      </p:sp>
      <p:graphicFrame>
        <p:nvGraphicFramePr>
          <p:cNvPr id="572" name="Google Shape;572;p49"/>
          <p:cNvGraphicFramePr/>
          <p:nvPr/>
        </p:nvGraphicFramePr>
        <p:xfrm>
          <a:off x="558625" y="1572925"/>
          <a:ext cx="3000000" cy="3000000"/>
        </p:xfrm>
        <a:graphic>
          <a:graphicData uri="http://schemas.openxmlformats.org/drawingml/2006/table">
            <a:tbl>
              <a:tblPr>
                <a:noFill/>
                <a:tableStyleId>{A6795A68-CF16-44FF-B4EF-B4ADABBD89F0}</a:tableStyleId>
              </a:tblPr>
              <a:tblGrid>
                <a:gridCol w="590800"/>
                <a:gridCol w="590800"/>
              </a:tblGrid>
              <a:tr h="482175">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073763"/>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073763"/>
                    </a:solidFill>
                  </a:tcPr>
                </a:tc>
              </a:tr>
              <a:tr h="482175">
                <a:tc>
                  <a:txBody>
                    <a:bodyPr/>
                    <a:lstStyle/>
                    <a:p>
                      <a:pPr indent="0" lvl="0" marL="0" rtl="0" algn="ctr">
                        <a:spcBef>
                          <a:spcPts val="0"/>
                        </a:spcBef>
                        <a:spcAft>
                          <a:spcPts val="0"/>
                        </a:spcAft>
                        <a:buNone/>
                      </a:pPr>
                      <a:r>
                        <a:rPr b="1" lang="en"/>
                        <a:t>2</a:t>
                      </a:r>
                      <a:endParaRPr b="1"/>
                    </a:p>
                  </a:txBody>
                  <a:tcPr marT="91425" marB="91425" marR="91425" marL="91425">
                    <a:solidFill>
                      <a:srgbClr val="C9DAF8"/>
                    </a:solidFill>
                  </a:tcPr>
                </a:tc>
                <a:tc>
                  <a:txBody>
                    <a:bodyPr/>
                    <a:lstStyle/>
                    <a:p>
                      <a:pPr indent="0" lvl="0" marL="0" rtl="0" algn="ctr">
                        <a:spcBef>
                          <a:spcPts val="0"/>
                        </a:spcBef>
                        <a:spcAft>
                          <a:spcPts val="0"/>
                        </a:spcAft>
                        <a:buNone/>
                      </a:pPr>
                      <a:r>
                        <a:rPr b="1" lang="en"/>
                        <a:t>3</a:t>
                      </a:r>
                      <a:endParaRPr b="1"/>
                    </a:p>
                  </a:txBody>
                  <a:tcPr marT="91425" marB="91425" marR="91425" marL="91425">
                    <a:solidFill>
                      <a:srgbClr val="C9DAF8"/>
                    </a:solidFill>
                  </a:tcPr>
                </a:tc>
              </a:tr>
              <a:tr h="482175">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r>
              <a:tr h="482175">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r>
            </a:tbl>
          </a:graphicData>
        </a:graphic>
      </p:graphicFrame>
      <p:sp>
        <p:nvSpPr>
          <p:cNvPr id="573" name="Google Shape;573;p49"/>
          <p:cNvSpPr txBox="1"/>
          <p:nvPr/>
        </p:nvSpPr>
        <p:spPr>
          <a:xfrm>
            <a:off x="2891475" y="1207875"/>
            <a:ext cx="178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varying inputs</a:t>
            </a:r>
            <a:endParaRPr>
              <a:solidFill>
                <a:srgbClr val="38761D"/>
              </a:solidFill>
            </a:endParaRPr>
          </a:p>
        </p:txBody>
      </p:sp>
      <p:sp>
        <p:nvSpPr>
          <p:cNvPr id="574" name="Google Shape;574;p49"/>
          <p:cNvSpPr txBox="1"/>
          <p:nvPr/>
        </p:nvSpPr>
        <p:spPr>
          <a:xfrm>
            <a:off x="3348675" y="1581152"/>
            <a:ext cx="178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fixed weights</a:t>
            </a:r>
            <a:endParaRPr>
              <a:solidFill>
                <a:srgbClr val="38761D"/>
              </a:solidFill>
            </a:endParaRPr>
          </a:p>
        </p:txBody>
      </p:sp>
      <p:sp>
        <p:nvSpPr>
          <p:cNvPr id="575" name="Google Shape;575;p49"/>
          <p:cNvSpPr/>
          <p:nvPr/>
        </p:nvSpPr>
        <p:spPr>
          <a:xfrm>
            <a:off x="2276475" y="1438275"/>
            <a:ext cx="681050" cy="685800"/>
          </a:xfrm>
          <a:custGeom>
            <a:rect b="b" l="l" r="r" t="t"/>
            <a:pathLst>
              <a:path extrusionOk="0" h="27432" w="27242">
                <a:moveTo>
                  <a:pt x="27242" y="0"/>
                </a:moveTo>
                <a:cubicBezTo>
                  <a:pt x="24226" y="889"/>
                  <a:pt x="13462" y="2953"/>
                  <a:pt x="9144" y="5334"/>
                </a:cubicBezTo>
                <a:cubicBezTo>
                  <a:pt x="4826" y="7715"/>
                  <a:pt x="2858" y="10605"/>
                  <a:pt x="1334" y="14288"/>
                </a:cubicBezTo>
                <a:cubicBezTo>
                  <a:pt x="-190" y="17971"/>
                  <a:pt x="222" y="25241"/>
                  <a:pt x="0" y="27432"/>
                </a:cubicBezTo>
              </a:path>
            </a:pathLst>
          </a:custGeom>
          <a:noFill/>
          <a:ln cap="flat" cmpd="sng" w="9525">
            <a:solidFill>
              <a:srgbClr val="38761D"/>
            </a:solidFill>
            <a:prstDash val="solid"/>
            <a:round/>
            <a:headEnd len="med" w="med" type="none"/>
            <a:tailEnd len="med" w="med" type="triangle"/>
          </a:ln>
        </p:spPr>
      </p:sp>
      <p:sp>
        <p:nvSpPr>
          <p:cNvPr id="576" name="Google Shape;576;p49"/>
          <p:cNvSpPr/>
          <p:nvPr/>
        </p:nvSpPr>
        <p:spPr>
          <a:xfrm>
            <a:off x="3102293" y="1790700"/>
            <a:ext cx="326700" cy="338150"/>
          </a:xfrm>
          <a:custGeom>
            <a:rect b="b" l="l" r="r" t="t"/>
            <a:pathLst>
              <a:path extrusionOk="0" h="13526" w="13068">
                <a:moveTo>
                  <a:pt x="13068" y="0"/>
                </a:moveTo>
                <a:cubicBezTo>
                  <a:pt x="11481" y="603"/>
                  <a:pt x="5670" y="2350"/>
                  <a:pt x="3543" y="3620"/>
                </a:cubicBezTo>
                <a:cubicBezTo>
                  <a:pt x="1416" y="4890"/>
                  <a:pt x="877" y="5969"/>
                  <a:pt x="305" y="7620"/>
                </a:cubicBezTo>
                <a:cubicBezTo>
                  <a:pt x="-266" y="9271"/>
                  <a:pt x="146" y="12542"/>
                  <a:pt x="114" y="13526"/>
                </a:cubicBezTo>
              </a:path>
            </a:pathLst>
          </a:custGeom>
          <a:noFill/>
          <a:ln cap="flat" cmpd="sng" w="9525">
            <a:solidFill>
              <a:srgbClr val="38761D"/>
            </a:solidFill>
            <a:prstDash val="solid"/>
            <a:round/>
            <a:headEnd len="med" w="med" type="none"/>
            <a:tailEnd len="med" w="med" type="triangle"/>
          </a:ln>
        </p:spPr>
      </p:sp>
      <p:sp>
        <p:nvSpPr>
          <p:cNvPr id="577" name="Google Shape;577;p49"/>
          <p:cNvSpPr txBox="1"/>
          <p:nvPr/>
        </p:nvSpPr>
        <p:spPr>
          <a:xfrm>
            <a:off x="483800" y="4163175"/>
            <a:ext cx="202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Permanent Marker"/>
                <a:ea typeface="Permanent Marker"/>
                <a:cs typeface="Permanent Marker"/>
                <a:sym typeface="Permanent Marker"/>
              </a:rPr>
              <a:t>Integer or whole number inputs</a:t>
            </a:r>
            <a:endParaRPr>
              <a:solidFill>
                <a:srgbClr val="FF0000"/>
              </a:solidFill>
              <a:latin typeface="Permanent Marker"/>
              <a:ea typeface="Permanent Marker"/>
              <a:cs typeface="Permanent Marker"/>
              <a:sym typeface="Permanent Mark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583" name="Google Shape;583;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4" name="Google Shape;584;p50"/>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585" name="Google Shape;585;p50"/>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0"/>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7" name="Google Shape;587;p50"/>
          <p:cNvCxnSpPr>
            <a:stCxn id="585"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588" name="Google Shape;588;p50"/>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589" name="Google Shape;589;p50"/>
          <p:cNvSpPr txBox="1"/>
          <p:nvPr/>
        </p:nvSpPr>
        <p:spPr>
          <a:xfrm>
            <a:off x="21341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590" name="Google Shape;590;p50"/>
          <p:cNvSpPr txBox="1"/>
          <p:nvPr/>
        </p:nvSpPr>
        <p:spPr>
          <a:xfrm>
            <a:off x="21341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591" name="Google Shape;591;p50"/>
          <p:cNvSpPr txBox="1"/>
          <p:nvPr/>
        </p:nvSpPr>
        <p:spPr>
          <a:xfrm>
            <a:off x="2972303" y="28791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-2</a:t>
            </a:r>
            <a:endParaRPr baseline="-25000">
              <a:solidFill>
                <a:srgbClr val="980000"/>
              </a:solidFill>
            </a:endParaRPr>
          </a:p>
        </p:txBody>
      </p:sp>
      <p:sp>
        <p:nvSpPr>
          <p:cNvPr id="592" name="Google Shape;592;p50"/>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5</a:t>
            </a:r>
            <a:endParaRPr baseline="-25000">
              <a:solidFill>
                <a:srgbClr val="980000"/>
              </a:solidFill>
            </a:endParaRPr>
          </a:p>
        </p:txBody>
      </p:sp>
      <p:sp>
        <p:nvSpPr>
          <p:cNvPr id="593" name="Google Shape;593;p50"/>
          <p:cNvSpPr txBox="1"/>
          <p:nvPr/>
        </p:nvSpPr>
        <p:spPr>
          <a:xfrm>
            <a:off x="5083000" y="24952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-3</a:t>
            </a:r>
            <a:endParaRPr/>
          </a:p>
        </p:txBody>
      </p:sp>
      <p:cxnSp>
        <p:nvCxnSpPr>
          <p:cNvPr id="594" name="Google Shape;594;p50"/>
          <p:cNvCxnSpPr>
            <a:stCxn id="584" idx="6"/>
            <a:endCxn id="593" idx="1"/>
          </p:cNvCxnSpPr>
          <p:nvPr/>
        </p:nvCxnSpPr>
        <p:spPr>
          <a:xfrm>
            <a:off x="4703400" y="2695375"/>
            <a:ext cx="379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595" name="Google Shape;595;p50"/>
          <p:cNvGraphicFramePr/>
          <p:nvPr/>
        </p:nvGraphicFramePr>
        <p:xfrm>
          <a:off x="558625" y="1572925"/>
          <a:ext cx="3000000" cy="3000000"/>
        </p:xfrm>
        <a:graphic>
          <a:graphicData uri="http://schemas.openxmlformats.org/drawingml/2006/table">
            <a:tbl>
              <a:tblPr>
                <a:noFill/>
                <a:tableStyleId>{A6795A68-CF16-44FF-B4EF-B4ADABBD89F0}</a:tableStyleId>
              </a:tblPr>
              <a:tblGrid>
                <a:gridCol w="590800"/>
                <a:gridCol w="590800"/>
              </a:tblGrid>
              <a:tr h="482175">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r>
              <a:tr h="482175">
                <a:tc>
                  <a:txBody>
                    <a:bodyPr/>
                    <a:lstStyle/>
                    <a:p>
                      <a:pPr indent="0" lvl="0" marL="0" rtl="0" algn="ctr">
                        <a:spcBef>
                          <a:spcPts val="0"/>
                        </a:spcBef>
                        <a:spcAft>
                          <a:spcPts val="0"/>
                        </a:spcAft>
                        <a:buNone/>
                      </a:pPr>
                      <a:r>
                        <a:rPr b="1" lang="en"/>
                        <a:t>1</a:t>
                      </a:r>
                      <a:endParaRPr b="1"/>
                    </a:p>
                  </a:txBody>
                  <a:tcPr marT="91425" marB="91425" marR="91425" marL="91425">
                    <a:solidFill>
                      <a:srgbClr val="C9DAF8"/>
                    </a:solidFill>
                  </a:tcPr>
                </a:tc>
                <a:tc>
                  <a:txBody>
                    <a:bodyPr/>
                    <a:lstStyle/>
                    <a:p>
                      <a:pPr indent="0" lvl="0" marL="0" rtl="0" algn="ctr">
                        <a:spcBef>
                          <a:spcPts val="0"/>
                        </a:spcBef>
                        <a:spcAft>
                          <a:spcPts val="0"/>
                        </a:spcAft>
                        <a:buNone/>
                      </a:pPr>
                      <a:r>
                        <a:rPr b="1" lang="en"/>
                        <a:t>4</a:t>
                      </a:r>
                      <a:endParaRPr b="1"/>
                    </a:p>
                  </a:txBody>
                  <a:tcPr marT="91425" marB="91425" marR="91425" marL="91425">
                    <a:solidFill>
                      <a:srgbClr val="C9DAF8"/>
                    </a:solidFill>
                  </a:tcPr>
                </a:tc>
              </a:tr>
              <a:tr h="482175">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r>
            </a:tbl>
          </a:graphicData>
        </a:graphic>
      </p:graphicFrame>
      <p:sp>
        <p:nvSpPr>
          <p:cNvPr id="596" name="Google Shape;596;p50"/>
          <p:cNvSpPr txBox="1"/>
          <p:nvPr/>
        </p:nvSpPr>
        <p:spPr>
          <a:xfrm>
            <a:off x="3158700" y="3668400"/>
            <a:ext cx="4008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0000FF"/>
                </a:solidFill>
              </a:rPr>
              <a:t>1  × </a:t>
            </a:r>
            <a:r>
              <a:rPr lang="en">
                <a:solidFill>
                  <a:srgbClr val="980000"/>
                </a:solidFill>
              </a:rPr>
              <a:t>__</a:t>
            </a:r>
            <a:r>
              <a:rPr lang="en">
                <a:solidFill>
                  <a:srgbClr val="0000FF"/>
                </a:solidFill>
              </a:rPr>
              <a:t>  +   4 × ___  =</a:t>
            </a:r>
            <a:r>
              <a:rPr lang="en">
                <a:solidFill>
                  <a:schemeClr val="dk1"/>
                </a:solidFill>
              </a:rPr>
              <a:t>  ___</a:t>
            </a:r>
            <a:endParaRPr/>
          </a:p>
        </p:txBody>
      </p:sp>
      <p:sp>
        <p:nvSpPr>
          <p:cNvPr id="597" name="Google Shape;597;p50"/>
          <p:cNvSpPr txBox="1"/>
          <p:nvPr/>
        </p:nvSpPr>
        <p:spPr>
          <a:xfrm>
            <a:off x="2350200" y="4659925"/>
            <a:ext cx="470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Enter the missing weights and solve the problem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603" name="Google Shape;60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04" name="Google Shape;604;p51"/>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605" name="Google Shape;605;p51"/>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51"/>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7" name="Google Shape;607;p51"/>
          <p:cNvCxnSpPr>
            <a:stCxn id="605"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608" name="Google Shape;608;p51"/>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609" name="Google Shape;609;p51"/>
          <p:cNvSpPr txBox="1"/>
          <p:nvPr/>
        </p:nvSpPr>
        <p:spPr>
          <a:xfrm>
            <a:off x="21341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610" name="Google Shape;610;p51"/>
          <p:cNvSpPr txBox="1"/>
          <p:nvPr/>
        </p:nvSpPr>
        <p:spPr>
          <a:xfrm>
            <a:off x="21341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611" name="Google Shape;611;p51"/>
          <p:cNvSpPr txBox="1"/>
          <p:nvPr/>
        </p:nvSpPr>
        <p:spPr>
          <a:xfrm>
            <a:off x="2972303" y="28791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-2</a:t>
            </a:r>
            <a:endParaRPr baseline="-25000">
              <a:solidFill>
                <a:srgbClr val="980000"/>
              </a:solidFill>
            </a:endParaRPr>
          </a:p>
        </p:txBody>
      </p:sp>
      <p:sp>
        <p:nvSpPr>
          <p:cNvPr id="612" name="Google Shape;612;p51"/>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5</a:t>
            </a:r>
            <a:endParaRPr baseline="-25000">
              <a:solidFill>
                <a:srgbClr val="980000"/>
              </a:solidFill>
            </a:endParaRPr>
          </a:p>
        </p:txBody>
      </p:sp>
      <p:sp>
        <p:nvSpPr>
          <p:cNvPr id="613" name="Google Shape;613;p51"/>
          <p:cNvSpPr txBox="1"/>
          <p:nvPr/>
        </p:nvSpPr>
        <p:spPr>
          <a:xfrm>
            <a:off x="5083000" y="24952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19</a:t>
            </a:r>
            <a:endParaRPr/>
          </a:p>
        </p:txBody>
      </p:sp>
      <p:cxnSp>
        <p:nvCxnSpPr>
          <p:cNvPr id="614" name="Google Shape;614;p51"/>
          <p:cNvCxnSpPr>
            <a:stCxn id="604" idx="6"/>
            <a:endCxn id="613" idx="1"/>
          </p:cNvCxnSpPr>
          <p:nvPr/>
        </p:nvCxnSpPr>
        <p:spPr>
          <a:xfrm>
            <a:off x="4703400" y="2695375"/>
            <a:ext cx="379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615" name="Google Shape;615;p51"/>
          <p:cNvGraphicFramePr/>
          <p:nvPr/>
        </p:nvGraphicFramePr>
        <p:xfrm>
          <a:off x="558625" y="1572925"/>
          <a:ext cx="3000000" cy="3000000"/>
        </p:xfrm>
        <a:graphic>
          <a:graphicData uri="http://schemas.openxmlformats.org/drawingml/2006/table">
            <a:tbl>
              <a:tblPr>
                <a:noFill/>
                <a:tableStyleId>{A6795A68-CF16-44FF-B4EF-B4ADABBD89F0}</a:tableStyleId>
              </a:tblPr>
              <a:tblGrid>
                <a:gridCol w="590800"/>
                <a:gridCol w="590800"/>
              </a:tblGrid>
              <a:tr h="482175">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r>
              <a:tr h="482175">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r>
              <a:tr h="482175">
                <a:tc>
                  <a:txBody>
                    <a:bodyPr/>
                    <a:lstStyle/>
                    <a:p>
                      <a:pPr indent="0" lvl="0" marL="0" rtl="0" algn="ctr">
                        <a:spcBef>
                          <a:spcPts val="0"/>
                        </a:spcBef>
                        <a:spcAft>
                          <a:spcPts val="0"/>
                        </a:spcAft>
                        <a:buNone/>
                      </a:pPr>
                      <a:r>
                        <a:rPr b="1" lang="en"/>
                        <a:t>3</a:t>
                      </a:r>
                      <a:endParaRPr b="1"/>
                    </a:p>
                  </a:txBody>
                  <a:tcPr marT="91425" marB="91425" marR="91425" marL="91425">
                    <a:solidFill>
                      <a:srgbClr val="C9DAF8"/>
                    </a:solidFill>
                  </a:tcPr>
                </a:tc>
                <a:tc>
                  <a:txBody>
                    <a:bodyPr/>
                    <a:lstStyle/>
                    <a:p>
                      <a:pPr indent="0" lvl="0" marL="0" rtl="0" algn="ctr">
                        <a:spcBef>
                          <a:spcPts val="0"/>
                        </a:spcBef>
                        <a:spcAft>
                          <a:spcPts val="0"/>
                        </a:spcAft>
                        <a:buNone/>
                      </a:pPr>
                      <a:r>
                        <a:rPr b="1" lang="en"/>
                        <a:t>-2</a:t>
                      </a:r>
                      <a:endParaRPr b="1"/>
                    </a:p>
                  </a:txBody>
                  <a:tcPr marT="91425" marB="91425" marR="91425" marL="91425">
                    <a:solidFill>
                      <a:srgbClr val="C9DAF8"/>
                    </a:solidFill>
                  </a:tcPr>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r>
            </a:tbl>
          </a:graphicData>
        </a:graphic>
      </p:graphicFrame>
      <p:sp>
        <p:nvSpPr>
          <p:cNvPr id="616" name="Google Shape;616;p51"/>
          <p:cNvSpPr txBox="1"/>
          <p:nvPr/>
        </p:nvSpPr>
        <p:spPr>
          <a:xfrm>
            <a:off x="3158700" y="3668400"/>
            <a:ext cx="4008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0000FF"/>
                </a:solidFill>
              </a:rPr>
              <a:t>_</a:t>
            </a:r>
            <a:r>
              <a:rPr lang="en">
                <a:solidFill>
                  <a:srgbClr val="0000FF"/>
                </a:solidFill>
              </a:rPr>
              <a:t>  × </a:t>
            </a:r>
            <a:r>
              <a:rPr lang="en">
                <a:solidFill>
                  <a:srgbClr val="980000"/>
                </a:solidFill>
              </a:rPr>
              <a:t>5</a:t>
            </a:r>
            <a:r>
              <a:rPr lang="en">
                <a:solidFill>
                  <a:srgbClr val="0000FF"/>
                </a:solidFill>
              </a:rPr>
              <a:t>   +  ___ × </a:t>
            </a:r>
            <a:r>
              <a:rPr lang="en">
                <a:solidFill>
                  <a:srgbClr val="980000"/>
                </a:solidFill>
              </a:rPr>
              <a:t>-2</a:t>
            </a:r>
            <a:r>
              <a:rPr lang="en">
                <a:solidFill>
                  <a:srgbClr val="0000FF"/>
                </a:solidFill>
              </a:rPr>
              <a:t>  = </a:t>
            </a:r>
            <a:r>
              <a:rPr lang="en">
                <a:solidFill>
                  <a:schemeClr val="dk1"/>
                </a:solidFill>
              </a:rPr>
              <a:t> ___</a:t>
            </a:r>
            <a:endParaRPr/>
          </a:p>
        </p:txBody>
      </p:sp>
      <p:sp>
        <p:nvSpPr>
          <p:cNvPr id="617" name="Google Shape;617;p51"/>
          <p:cNvSpPr txBox="1"/>
          <p:nvPr/>
        </p:nvSpPr>
        <p:spPr>
          <a:xfrm>
            <a:off x="2350200" y="4507525"/>
            <a:ext cx="5265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Enter the missing input values highlighted in blue in the table</a:t>
            </a:r>
            <a:br>
              <a:rPr lang="en"/>
            </a:br>
            <a:r>
              <a:rPr lang="en"/>
              <a:t> and solve the problem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simplest possible unit: the linear unit</a:t>
            </a:r>
            <a:endParaRPr/>
          </a:p>
        </p:txBody>
      </p:sp>
      <p:sp>
        <p:nvSpPr>
          <p:cNvPr id="623" name="Google Shape;623;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24" name="Google Shape;624;p52"/>
          <p:cNvSpPr/>
          <p:nvPr/>
        </p:nvSpPr>
        <p:spPr>
          <a:xfrm>
            <a:off x="3730200" y="19801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endParaRPr sz="3000"/>
          </a:p>
        </p:txBody>
      </p:sp>
      <p:sp>
        <p:nvSpPr>
          <p:cNvPr id="625" name="Google Shape;625;p52"/>
          <p:cNvSpPr/>
          <p:nvPr/>
        </p:nvSpPr>
        <p:spPr>
          <a:xfrm>
            <a:off x="2471350" y="19801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52"/>
          <p:cNvSpPr/>
          <p:nvPr/>
        </p:nvSpPr>
        <p:spPr>
          <a:xfrm>
            <a:off x="2471350" y="27421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7" name="Google Shape;627;p52"/>
          <p:cNvCxnSpPr>
            <a:stCxn id="625" idx="6"/>
          </p:cNvCxnSpPr>
          <p:nvPr/>
        </p:nvCxnSpPr>
        <p:spPr>
          <a:xfrm>
            <a:off x="2687650" y="20883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628" name="Google Shape;628;p52"/>
          <p:cNvCxnSpPr/>
          <p:nvPr/>
        </p:nvCxnSpPr>
        <p:spPr>
          <a:xfrm flipH="1" rot="10800000">
            <a:off x="2687650" y="26211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629" name="Google Shape;629;p52"/>
          <p:cNvSpPr txBox="1"/>
          <p:nvPr/>
        </p:nvSpPr>
        <p:spPr>
          <a:xfrm>
            <a:off x="2134103" y="1834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630" name="Google Shape;630;p52"/>
          <p:cNvSpPr txBox="1"/>
          <p:nvPr/>
        </p:nvSpPr>
        <p:spPr>
          <a:xfrm>
            <a:off x="2134103" y="2596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631" name="Google Shape;631;p52"/>
          <p:cNvSpPr txBox="1"/>
          <p:nvPr/>
        </p:nvSpPr>
        <p:spPr>
          <a:xfrm>
            <a:off x="2972303" y="26505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-2</a:t>
            </a:r>
            <a:endParaRPr baseline="-25000">
              <a:solidFill>
                <a:srgbClr val="980000"/>
              </a:solidFill>
            </a:endParaRPr>
          </a:p>
        </p:txBody>
      </p:sp>
      <p:sp>
        <p:nvSpPr>
          <p:cNvPr id="632" name="Google Shape;632;p52"/>
          <p:cNvSpPr txBox="1"/>
          <p:nvPr/>
        </p:nvSpPr>
        <p:spPr>
          <a:xfrm>
            <a:off x="2972303" y="1834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5</a:t>
            </a:r>
            <a:endParaRPr baseline="-25000">
              <a:solidFill>
                <a:srgbClr val="980000"/>
              </a:solidFill>
            </a:endParaRPr>
          </a:p>
        </p:txBody>
      </p:sp>
      <p:sp>
        <p:nvSpPr>
          <p:cNvPr id="633" name="Google Shape;633;p52"/>
          <p:cNvSpPr txBox="1"/>
          <p:nvPr/>
        </p:nvSpPr>
        <p:spPr>
          <a:xfrm>
            <a:off x="5083000" y="2266675"/>
            <a:ext cx="5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0</a:t>
            </a:r>
            <a:endParaRPr/>
          </a:p>
        </p:txBody>
      </p:sp>
      <p:cxnSp>
        <p:nvCxnSpPr>
          <p:cNvPr id="634" name="Google Shape;634;p52"/>
          <p:cNvCxnSpPr>
            <a:stCxn id="624" idx="6"/>
            <a:endCxn id="633" idx="1"/>
          </p:cNvCxnSpPr>
          <p:nvPr/>
        </p:nvCxnSpPr>
        <p:spPr>
          <a:xfrm>
            <a:off x="4703400" y="2466775"/>
            <a:ext cx="379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635" name="Google Shape;635;p52"/>
          <p:cNvGraphicFramePr/>
          <p:nvPr/>
        </p:nvGraphicFramePr>
        <p:xfrm>
          <a:off x="558625" y="1572925"/>
          <a:ext cx="3000000" cy="3000000"/>
        </p:xfrm>
        <a:graphic>
          <a:graphicData uri="http://schemas.openxmlformats.org/drawingml/2006/table">
            <a:tbl>
              <a:tblPr>
                <a:noFill/>
                <a:tableStyleId>{A6795A68-CF16-44FF-B4EF-B4ADABBD89F0}</a:tableStyleId>
              </a:tblPr>
              <a:tblGrid>
                <a:gridCol w="590800"/>
                <a:gridCol w="590800"/>
              </a:tblGrid>
              <a:tr h="482175">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48217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r>
              <a:tr h="482175">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r>
              <a:tr h="482175">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82175">
                <a:tc>
                  <a:txBody>
                    <a:bodyPr/>
                    <a:lstStyle/>
                    <a:p>
                      <a:pPr indent="0" lvl="0" marL="0" rtl="0" algn="ctr">
                        <a:spcBef>
                          <a:spcPts val="0"/>
                        </a:spcBef>
                        <a:spcAft>
                          <a:spcPts val="0"/>
                        </a:spcAft>
                        <a:buNone/>
                      </a:pPr>
                      <a:r>
                        <a:rPr b="1" lang="en"/>
                        <a:t>-2</a:t>
                      </a:r>
                      <a:endParaRPr b="1"/>
                    </a:p>
                  </a:txBody>
                  <a:tcPr marT="91425" marB="91425" marR="91425" marL="91425">
                    <a:solidFill>
                      <a:srgbClr val="C9DAF8"/>
                    </a:solidFill>
                  </a:tcPr>
                </a:tc>
                <a:tc>
                  <a:txBody>
                    <a:bodyPr/>
                    <a:lstStyle/>
                    <a:p>
                      <a:pPr indent="0" lvl="0" marL="0" rtl="0" algn="ctr">
                        <a:spcBef>
                          <a:spcPts val="0"/>
                        </a:spcBef>
                        <a:spcAft>
                          <a:spcPts val="0"/>
                        </a:spcAft>
                        <a:buNone/>
                      </a:pPr>
                      <a:r>
                        <a:rPr b="1" lang="en"/>
                        <a:t>-5</a:t>
                      </a:r>
                      <a:endParaRPr b="1"/>
                    </a:p>
                  </a:txBody>
                  <a:tcPr marT="91425" marB="91425" marR="91425" marL="91425">
                    <a:solidFill>
                      <a:srgbClr val="C9DAF8"/>
                    </a:solidFill>
                  </a:tcPr>
                </a:tc>
              </a:tr>
            </a:tbl>
          </a:graphicData>
        </a:graphic>
      </p:graphicFrame>
      <p:sp>
        <p:nvSpPr>
          <p:cNvPr id="636" name="Google Shape;636;p52"/>
          <p:cNvSpPr txBox="1"/>
          <p:nvPr/>
        </p:nvSpPr>
        <p:spPr>
          <a:xfrm>
            <a:off x="3158700" y="3439800"/>
            <a:ext cx="4008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  y</a:t>
            </a:r>
            <a:endParaRPr/>
          </a:p>
          <a:p>
            <a:pPr indent="0" lvl="0" marL="0" rtl="0" algn="l">
              <a:spcBef>
                <a:spcPts val="0"/>
              </a:spcBef>
              <a:spcAft>
                <a:spcPts val="0"/>
              </a:spcAft>
              <a:buNone/>
            </a:pPr>
            <a:br>
              <a:rPr lang="en"/>
            </a:br>
            <a:r>
              <a:rPr lang="en">
                <a:solidFill>
                  <a:srgbClr val="0000FF"/>
                </a:solidFill>
              </a:rPr>
              <a:t>__</a:t>
            </a:r>
            <a:r>
              <a:rPr lang="en">
                <a:solidFill>
                  <a:srgbClr val="0000FF"/>
                </a:solidFill>
              </a:rPr>
              <a:t>  × __   +  </a:t>
            </a:r>
            <a:r>
              <a:rPr lang="en">
                <a:solidFill>
                  <a:srgbClr val="0000FF"/>
                </a:solidFill>
              </a:rPr>
              <a:t>__  × __</a:t>
            </a:r>
            <a:r>
              <a:rPr lang="en">
                <a:solidFill>
                  <a:srgbClr val="0000FF"/>
                </a:solidFill>
              </a:rPr>
              <a:t>  =</a:t>
            </a:r>
            <a:r>
              <a:rPr lang="en">
                <a:solidFill>
                  <a:schemeClr val="dk1"/>
                </a:solidFill>
              </a:rPr>
              <a:t>  ___</a:t>
            </a:r>
            <a:endParaRPr/>
          </a:p>
        </p:txBody>
      </p:sp>
      <p:sp>
        <p:nvSpPr>
          <p:cNvPr id="637" name="Google Shape;637;p52"/>
          <p:cNvSpPr txBox="1"/>
          <p:nvPr/>
        </p:nvSpPr>
        <p:spPr>
          <a:xfrm>
            <a:off x="2350200" y="4278925"/>
            <a:ext cx="5265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Enter the missing input values highlighted in blue in the table</a:t>
            </a:r>
            <a:endParaRPr/>
          </a:p>
          <a:p>
            <a:pPr indent="0" lvl="0" marL="0" rtl="0" algn="l">
              <a:spcBef>
                <a:spcPts val="0"/>
              </a:spcBef>
              <a:spcAft>
                <a:spcPts val="0"/>
              </a:spcAft>
              <a:buNone/>
            </a:pPr>
            <a:r>
              <a:rPr lang="en"/>
              <a:t>Enter the missing weights from the diagram,  and </a:t>
            </a:r>
            <a:br>
              <a:rPr lang="en"/>
            </a:br>
            <a:r>
              <a:rPr lang="en"/>
              <a:t>solve the problem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Linear Threshold Unit</a:t>
            </a:r>
            <a:endParaRPr/>
          </a:p>
        </p:txBody>
      </p:sp>
      <p:sp>
        <p:nvSpPr>
          <p:cNvPr id="643" name="Google Shape;643;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linear </a:t>
            </a:r>
            <a:r>
              <a:rPr lang="en" u="sng"/>
              <a:t>threshold</a:t>
            </a:r>
            <a:r>
              <a:rPr lang="en"/>
              <a:t> unit produces</a:t>
            </a:r>
            <a:endParaRPr/>
          </a:p>
          <a:p>
            <a:pPr indent="0" lvl="0" marL="0" rtl="0" algn="l">
              <a:spcBef>
                <a:spcPts val="0"/>
              </a:spcBef>
              <a:spcAft>
                <a:spcPts val="0"/>
              </a:spcAft>
              <a:buNone/>
            </a:pPr>
            <a:r>
              <a:rPr lang="en"/>
              <a:t>a binary output</a:t>
            </a:r>
            <a:endParaRPr/>
          </a:p>
        </p:txBody>
      </p:sp>
      <p:sp>
        <p:nvSpPr>
          <p:cNvPr id="649" name="Google Shape;649;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0" name="Google Shape;650;p54"/>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651" name="Google Shape;651;p54"/>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54"/>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3" name="Google Shape;653;p54"/>
          <p:cNvCxnSpPr>
            <a:stCxn id="651"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654" name="Google Shape;654;p54"/>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655" name="Google Shape;655;p54"/>
          <p:cNvSpPr txBox="1"/>
          <p:nvPr/>
        </p:nvSpPr>
        <p:spPr>
          <a:xfrm>
            <a:off x="21341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656" name="Google Shape;656;p54"/>
          <p:cNvSpPr txBox="1"/>
          <p:nvPr/>
        </p:nvSpPr>
        <p:spPr>
          <a:xfrm>
            <a:off x="21341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657" name="Google Shape;657;p54"/>
          <p:cNvSpPr txBox="1"/>
          <p:nvPr/>
        </p:nvSpPr>
        <p:spPr>
          <a:xfrm>
            <a:off x="2972303" y="28559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658" name="Google Shape;658;p54"/>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659" name="Google Shape;659;p54"/>
          <p:cNvSpPr txBox="1"/>
          <p:nvPr/>
        </p:nvSpPr>
        <p:spPr>
          <a:xfrm>
            <a:off x="5083000" y="2495275"/>
            <a:ext cx="208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80000"/>
                </a:solidFill>
              </a:rPr>
              <a:t>0</a:t>
            </a:r>
            <a:r>
              <a:rPr lang="en"/>
              <a:t> for “no” or </a:t>
            </a:r>
            <a:r>
              <a:rPr b="1" lang="en">
                <a:solidFill>
                  <a:srgbClr val="980000"/>
                </a:solidFill>
              </a:rPr>
              <a:t>1</a:t>
            </a:r>
            <a:r>
              <a:rPr lang="en"/>
              <a:t> for “yes”</a:t>
            </a:r>
            <a:endParaRPr/>
          </a:p>
        </p:txBody>
      </p:sp>
      <p:cxnSp>
        <p:nvCxnSpPr>
          <p:cNvPr id="660" name="Google Shape;660;p54"/>
          <p:cNvCxnSpPr>
            <a:stCxn id="650" idx="6"/>
            <a:endCxn id="659" idx="1"/>
          </p:cNvCxnSpPr>
          <p:nvPr/>
        </p:nvCxnSpPr>
        <p:spPr>
          <a:xfrm>
            <a:off x="4703400" y="2695375"/>
            <a:ext cx="379500" cy="0"/>
          </a:xfrm>
          <a:prstGeom prst="straightConnector1">
            <a:avLst/>
          </a:prstGeom>
          <a:noFill/>
          <a:ln cap="flat" cmpd="sng" w="9525">
            <a:solidFill>
              <a:schemeClr val="dk2"/>
            </a:solidFill>
            <a:prstDash val="solid"/>
            <a:round/>
            <a:headEnd len="med" w="med" type="none"/>
            <a:tailEnd len="med" w="med" type="triangle"/>
          </a:ln>
        </p:spPr>
      </p:cxnSp>
      <p:sp>
        <p:nvSpPr>
          <p:cNvPr id="661" name="Google Shape;661;p54"/>
          <p:cNvSpPr txBox="1"/>
          <p:nvPr/>
        </p:nvSpPr>
        <p:spPr>
          <a:xfrm>
            <a:off x="3158700" y="3439800"/>
            <a:ext cx="5427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  =  x</a:t>
            </a:r>
            <a:r>
              <a:rPr baseline="-25000" lang="en"/>
              <a:t>1</a:t>
            </a:r>
            <a:r>
              <a:rPr lang="en"/>
              <a:t> × w</a:t>
            </a:r>
            <a:r>
              <a:rPr baseline="-25000" lang="en"/>
              <a:t>1</a:t>
            </a:r>
            <a:r>
              <a:rPr lang="en"/>
              <a:t>  +  x</a:t>
            </a:r>
            <a:r>
              <a:rPr baseline="-25000" lang="en"/>
              <a:t>2</a:t>
            </a:r>
            <a:r>
              <a:rPr lang="en"/>
              <a:t> </a:t>
            </a:r>
            <a:r>
              <a:rPr lang="en">
                <a:solidFill>
                  <a:schemeClr val="dk1"/>
                </a:solidFill>
              </a:rPr>
              <a:t>×</a:t>
            </a:r>
            <a:r>
              <a:rPr lang="en"/>
              <a:t> w</a:t>
            </a:r>
            <a:r>
              <a:rPr baseline="-25000" lang="en"/>
              <a:t>2</a:t>
            </a:r>
            <a:r>
              <a:rPr lang="en"/>
              <a:t>       </a:t>
            </a:r>
            <a:r>
              <a:rPr i="1" lang="en"/>
              <a:t> </a:t>
            </a:r>
            <a:r>
              <a:rPr i="1" lang="en">
                <a:solidFill>
                  <a:srgbClr val="FF0000"/>
                </a:solidFill>
                <a:latin typeface="Permanent Marker"/>
                <a:ea typeface="Permanent Marker"/>
                <a:cs typeface="Permanent Marker"/>
                <a:sym typeface="Permanent Marker"/>
              </a:rPr>
              <a:t>activation </a:t>
            </a:r>
            <a:r>
              <a:rPr lang="en">
                <a:solidFill>
                  <a:schemeClr val="dk1"/>
                </a:solidFill>
              </a:rPr>
              <a:t>-  equation or formula</a:t>
            </a:r>
            <a:endParaRPr i="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  =  </a:t>
            </a:r>
            <a:endParaRPr/>
          </a:p>
        </p:txBody>
      </p:sp>
      <p:sp>
        <p:nvSpPr>
          <p:cNvPr id="662" name="Google Shape;662;p54"/>
          <p:cNvSpPr txBox="1"/>
          <p:nvPr/>
        </p:nvSpPr>
        <p:spPr>
          <a:xfrm>
            <a:off x="3861475" y="3909881"/>
            <a:ext cx="122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  if a &gt; 0</a:t>
            </a:r>
            <a:endParaRPr/>
          </a:p>
        </p:txBody>
      </p:sp>
      <p:sp>
        <p:nvSpPr>
          <p:cNvPr id="663" name="Google Shape;663;p54"/>
          <p:cNvSpPr txBox="1"/>
          <p:nvPr/>
        </p:nvSpPr>
        <p:spPr>
          <a:xfrm>
            <a:off x="3861475" y="4290881"/>
            <a:ext cx="122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0  if a ≤ 0</a:t>
            </a:r>
            <a:endParaRPr/>
          </a:p>
        </p:txBody>
      </p:sp>
      <p:sp>
        <p:nvSpPr>
          <p:cNvPr id="664" name="Google Shape;664;p54"/>
          <p:cNvSpPr/>
          <p:nvPr/>
        </p:nvSpPr>
        <p:spPr>
          <a:xfrm>
            <a:off x="3745650" y="4063319"/>
            <a:ext cx="115800" cy="486600"/>
          </a:xfrm>
          <a:prstGeom prst="lef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5" name="Google Shape;665;p54"/>
          <p:cNvPicPr preferRelativeResize="0"/>
          <p:nvPr/>
        </p:nvPicPr>
        <p:blipFill>
          <a:blip r:embed="rId3">
            <a:alphaModFix/>
          </a:blip>
          <a:stretch>
            <a:fillRect/>
          </a:stretch>
        </p:blipFill>
        <p:spPr>
          <a:xfrm>
            <a:off x="6941725" y="644251"/>
            <a:ext cx="1890575" cy="1119421"/>
          </a:xfrm>
          <a:prstGeom prst="rect">
            <a:avLst/>
          </a:prstGeom>
          <a:noFill/>
          <a:ln>
            <a:noFill/>
          </a:ln>
        </p:spPr>
      </p:pic>
      <p:sp>
        <p:nvSpPr>
          <p:cNvPr id="666" name="Google Shape;666;p54"/>
          <p:cNvSpPr txBox="1"/>
          <p:nvPr/>
        </p:nvSpPr>
        <p:spPr>
          <a:xfrm>
            <a:off x="6862250" y="115325"/>
            <a:ext cx="1970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Remember the Perceptron….</a:t>
            </a:r>
            <a:endParaRPr/>
          </a:p>
        </p:txBody>
      </p:sp>
      <p:sp>
        <p:nvSpPr>
          <p:cNvPr id="667" name="Google Shape;667;p54"/>
          <p:cNvSpPr txBox="1"/>
          <p:nvPr/>
        </p:nvSpPr>
        <p:spPr>
          <a:xfrm>
            <a:off x="5245225" y="4106525"/>
            <a:ext cx="342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Permanent Marker"/>
                <a:ea typeface="Permanent Marker"/>
                <a:cs typeface="Permanent Marker"/>
                <a:sym typeface="Permanent Marker"/>
              </a:rPr>
              <a:t>Binary outputs </a:t>
            </a:r>
            <a:r>
              <a:rPr lang="en">
                <a:solidFill>
                  <a:schemeClr val="dk1"/>
                </a:solidFill>
              </a:rPr>
              <a:t>-  0 or 1</a:t>
            </a:r>
            <a:r>
              <a:rPr lang="en">
                <a:solidFill>
                  <a:srgbClr val="FF0000"/>
                </a:solidFill>
                <a:latin typeface="Permanent Marker"/>
                <a:ea typeface="Permanent Marker"/>
                <a:cs typeface="Permanent Marker"/>
                <a:sym typeface="Permanent Marker"/>
              </a:rPr>
              <a:t> </a:t>
            </a:r>
            <a:endParaRPr>
              <a:solidFill>
                <a:srgbClr val="FF0000"/>
              </a:solidFill>
              <a:latin typeface="Permanent Marker"/>
              <a:ea typeface="Permanent Marker"/>
              <a:cs typeface="Permanent Marker"/>
              <a:sym typeface="Permanent Marke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Should I wear boots today?</a:t>
            </a:r>
            <a:endParaRPr/>
          </a:p>
        </p:txBody>
      </p:sp>
      <p:sp>
        <p:nvSpPr>
          <p:cNvPr id="673" name="Google Shape;673;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674" name="Google Shape;674;p55"/>
          <p:cNvGraphicFramePr/>
          <p:nvPr/>
        </p:nvGraphicFramePr>
        <p:xfrm>
          <a:off x="1727875" y="3085575"/>
          <a:ext cx="3000000" cy="3000000"/>
        </p:xfrm>
        <a:graphic>
          <a:graphicData uri="http://schemas.openxmlformats.org/drawingml/2006/table">
            <a:tbl>
              <a:tblPr>
                <a:noFill/>
                <a:tableStyleId>{E2568D71-D2B9-491D-BD23-BBBF9B4F9A23}</a:tableStyleId>
              </a:tblPr>
              <a:tblGrid>
                <a:gridCol w="898950"/>
                <a:gridCol w="1063575"/>
                <a:gridCol w="742075"/>
                <a:gridCol w="1400925"/>
              </a:tblGrid>
              <a:tr h="12700">
                <a:tc>
                  <a:txBody>
                    <a:bodyPr/>
                    <a:lstStyle/>
                    <a:p>
                      <a:pPr indent="0" lvl="0" marL="0" rtl="0" algn="l">
                        <a:spcBef>
                          <a:spcPts val="0"/>
                        </a:spcBef>
                        <a:spcAft>
                          <a:spcPts val="0"/>
                        </a:spcAft>
                        <a:buNone/>
                      </a:pPr>
                      <a:r>
                        <a:rPr lang="en" sz="1100"/>
                        <a:t>Raining?</a:t>
                      </a:r>
                      <a:endParaRPr sz="1100"/>
                    </a:p>
                  </a:txBody>
                  <a:tcPr marT="63500" marB="63500" marR="63500" marL="63500"/>
                </a:tc>
                <a:tc>
                  <a:txBody>
                    <a:bodyPr/>
                    <a:lstStyle/>
                    <a:p>
                      <a:pPr indent="0" lvl="0" marL="0" rtl="0" algn="l">
                        <a:spcBef>
                          <a:spcPts val="0"/>
                        </a:spcBef>
                        <a:spcAft>
                          <a:spcPts val="0"/>
                        </a:spcAft>
                        <a:buNone/>
                      </a:pPr>
                      <a:r>
                        <a:rPr lang="en" sz="1100"/>
                        <a:t>Snowing?</a:t>
                      </a:r>
                      <a:endParaRPr sz="1100"/>
                    </a:p>
                  </a:txBody>
                  <a:tcPr marT="63500" marB="63500" marR="63500" marL="63500"/>
                </a:tc>
                <a:tc>
                  <a:txBody>
                    <a:bodyPr/>
                    <a:lstStyle/>
                    <a:p>
                      <a:pPr indent="0" lvl="0" marL="0" rtl="0" algn="l">
                        <a:spcBef>
                          <a:spcPts val="0"/>
                        </a:spcBef>
                        <a:spcAft>
                          <a:spcPts val="0"/>
                        </a:spcAft>
                        <a:buNone/>
                      </a:pPr>
                      <a:r>
                        <a:rPr lang="en" sz="1100"/>
                        <a:t>Sum</a:t>
                      </a:r>
                      <a:endParaRPr sz="1100"/>
                    </a:p>
                  </a:txBody>
                  <a:tcPr marT="63500" marB="63500" marR="63500" marL="63500"/>
                </a:tc>
                <a:tc>
                  <a:txBody>
                    <a:bodyPr/>
                    <a:lstStyle/>
                    <a:p>
                      <a:pPr indent="0" lvl="0" marL="0" rtl="0" algn="l">
                        <a:spcBef>
                          <a:spcPts val="0"/>
                        </a:spcBef>
                        <a:spcAft>
                          <a:spcPts val="0"/>
                        </a:spcAft>
                        <a:buNone/>
                      </a:pPr>
                      <a:r>
                        <a:rPr lang="en" sz="1100"/>
                        <a:t>Output: Wear Boots</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0</a:t>
                      </a:r>
                      <a:endParaRPr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b="1" lang="en" sz="1100"/>
                        <a:t>1</a:t>
                      </a:r>
                      <a:endParaRPr b="1"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b="1" lang="en" sz="1100"/>
                        <a:t>1</a:t>
                      </a:r>
                      <a:endParaRPr b="1"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b="1" lang="en" sz="1100"/>
                        <a:t>2</a:t>
                      </a:r>
                      <a:endParaRPr b="1"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bl>
          </a:graphicData>
        </a:graphic>
      </p:graphicFrame>
      <p:sp>
        <p:nvSpPr>
          <p:cNvPr id="675" name="Google Shape;675;p55"/>
          <p:cNvSpPr/>
          <p:nvPr/>
        </p:nvSpPr>
        <p:spPr>
          <a:xfrm>
            <a:off x="3730200" y="15991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676" name="Google Shape;676;p55"/>
          <p:cNvSpPr/>
          <p:nvPr/>
        </p:nvSpPr>
        <p:spPr>
          <a:xfrm>
            <a:off x="2471350" y="15991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55"/>
          <p:cNvSpPr/>
          <p:nvPr/>
        </p:nvSpPr>
        <p:spPr>
          <a:xfrm>
            <a:off x="2471350" y="23611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8" name="Google Shape;678;p55"/>
          <p:cNvCxnSpPr>
            <a:stCxn id="676" idx="6"/>
          </p:cNvCxnSpPr>
          <p:nvPr/>
        </p:nvCxnSpPr>
        <p:spPr>
          <a:xfrm>
            <a:off x="2687650" y="1707325"/>
            <a:ext cx="1050300" cy="193200"/>
          </a:xfrm>
          <a:prstGeom prst="straightConnector1">
            <a:avLst/>
          </a:prstGeom>
          <a:noFill/>
          <a:ln cap="flat" cmpd="sng" w="9525">
            <a:solidFill>
              <a:schemeClr val="dk1"/>
            </a:solidFill>
            <a:prstDash val="solid"/>
            <a:round/>
            <a:headEnd len="med" w="med" type="none"/>
            <a:tailEnd len="med" w="med" type="triangle"/>
          </a:ln>
        </p:spPr>
      </p:cxnSp>
      <p:sp>
        <p:nvSpPr>
          <p:cNvPr id="679" name="Google Shape;679;p55"/>
          <p:cNvSpPr txBox="1"/>
          <p:nvPr/>
        </p:nvSpPr>
        <p:spPr>
          <a:xfrm>
            <a:off x="2972303" y="229269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cxnSp>
        <p:nvCxnSpPr>
          <p:cNvPr id="680" name="Google Shape;680;p55"/>
          <p:cNvCxnSpPr/>
          <p:nvPr/>
        </p:nvCxnSpPr>
        <p:spPr>
          <a:xfrm flipH="1" rot="10800000">
            <a:off x="2687650" y="2240125"/>
            <a:ext cx="1089000" cy="229200"/>
          </a:xfrm>
          <a:prstGeom prst="straightConnector1">
            <a:avLst/>
          </a:prstGeom>
          <a:noFill/>
          <a:ln cap="flat" cmpd="sng" w="9525">
            <a:solidFill>
              <a:schemeClr val="dk1"/>
            </a:solidFill>
            <a:prstDash val="solid"/>
            <a:round/>
            <a:headEnd len="med" w="med" type="none"/>
            <a:tailEnd len="med" w="med" type="triangle"/>
          </a:ln>
        </p:spPr>
      </p:cxnSp>
      <p:sp>
        <p:nvSpPr>
          <p:cNvPr id="681" name="Google Shape;681;p55"/>
          <p:cNvSpPr txBox="1"/>
          <p:nvPr/>
        </p:nvSpPr>
        <p:spPr>
          <a:xfrm>
            <a:off x="1357178" y="1484367"/>
            <a:ext cx="1124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raining</a:t>
            </a:r>
            <a:endParaRPr baseline="-25000"/>
          </a:p>
        </p:txBody>
      </p:sp>
      <p:sp>
        <p:nvSpPr>
          <p:cNvPr id="682" name="Google Shape;682;p55"/>
          <p:cNvSpPr txBox="1"/>
          <p:nvPr/>
        </p:nvSpPr>
        <p:spPr>
          <a:xfrm>
            <a:off x="1505971" y="2215475"/>
            <a:ext cx="10065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snowing</a:t>
            </a:r>
            <a:endParaRPr baseline="-25000"/>
          </a:p>
        </p:txBody>
      </p:sp>
      <p:sp>
        <p:nvSpPr>
          <p:cNvPr id="683" name="Google Shape;683;p55"/>
          <p:cNvSpPr txBox="1"/>
          <p:nvPr/>
        </p:nvSpPr>
        <p:spPr>
          <a:xfrm>
            <a:off x="2972303" y="1453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684" name="Google Shape;684;p55"/>
          <p:cNvSpPr txBox="1"/>
          <p:nvPr/>
        </p:nvSpPr>
        <p:spPr>
          <a:xfrm>
            <a:off x="5083000" y="1771890"/>
            <a:ext cx="87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wear boots</a:t>
            </a:r>
            <a:endParaRPr/>
          </a:p>
        </p:txBody>
      </p:sp>
      <p:cxnSp>
        <p:nvCxnSpPr>
          <p:cNvPr id="685" name="Google Shape;685;p55"/>
          <p:cNvCxnSpPr>
            <a:stCxn id="675" idx="6"/>
            <a:endCxn id="684" idx="1"/>
          </p:cNvCxnSpPr>
          <p:nvPr/>
        </p:nvCxnSpPr>
        <p:spPr>
          <a:xfrm flipH="1" rot="10800000">
            <a:off x="4703400" y="2079775"/>
            <a:ext cx="379500" cy="6000"/>
          </a:xfrm>
          <a:prstGeom prst="straightConnector1">
            <a:avLst/>
          </a:prstGeom>
          <a:noFill/>
          <a:ln cap="flat" cmpd="sng" w="9525">
            <a:solidFill>
              <a:schemeClr val="dk1"/>
            </a:solidFill>
            <a:prstDash val="solid"/>
            <a:round/>
            <a:headEnd len="med" w="med" type="none"/>
            <a:tailEnd len="med" w="med" type="triangle"/>
          </a:ln>
        </p:spPr>
      </p:cxnSp>
      <p:sp>
        <p:nvSpPr>
          <p:cNvPr id="686" name="Google Shape;686;p55"/>
          <p:cNvSpPr txBox="1"/>
          <p:nvPr/>
        </p:nvSpPr>
        <p:spPr>
          <a:xfrm>
            <a:off x="393375" y="4659925"/>
            <a:ext cx="710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Permanent Marker"/>
                <a:ea typeface="Permanent Marker"/>
                <a:cs typeface="Permanent Marker"/>
                <a:sym typeface="Permanent Marker"/>
              </a:rPr>
              <a:t>Binary </a:t>
            </a:r>
            <a:r>
              <a:rPr lang="en">
                <a:solidFill>
                  <a:srgbClr val="FF0000"/>
                </a:solidFill>
                <a:latin typeface="Permanent Marker"/>
                <a:ea typeface="Permanent Marker"/>
                <a:cs typeface="Permanent Marker"/>
                <a:sym typeface="Permanent Marker"/>
              </a:rPr>
              <a:t>inputs </a:t>
            </a:r>
            <a:r>
              <a:rPr lang="en">
                <a:solidFill>
                  <a:schemeClr val="dk1"/>
                </a:solidFill>
                <a:latin typeface="Permanent Marker"/>
                <a:ea typeface="Permanent Marker"/>
                <a:cs typeface="Permanent Marker"/>
                <a:sym typeface="Permanent Marker"/>
              </a:rPr>
              <a:t>- </a:t>
            </a:r>
            <a:r>
              <a:rPr lang="en">
                <a:solidFill>
                  <a:schemeClr val="dk1"/>
                </a:solidFill>
              </a:rPr>
              <a:t>the input value can only be either yes (1) or no (0).</a:t>
            </a:r>
            <a:endParaRPr>
              <a:solidFill>
                <a:schemeClr val="dk1"/>
              </a:solidFill>
            </a:endParaRPr>
          </a:p>
        </p:txBody>
      </p:sp>
      <p:sp>
        <p:nvSpPr>
          <p:cNvPr id="687" name="Google Shape;687;p55"/>
          <p:cNvSpPr txBox="1"/>
          <p:nvPr/>
        </p:nvSpPr>
        <p:spPr>
          <a:xfrm>
            <a:off x="5972100" y="2916500"/>
            <a:ext cx="3171900" cy="207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Use the values in the table to update the sum and output columns. </a:t>
            </a:r>
            <a:endParaRPr b="1"/>
          </a:p>
          <a:p>
            <a:pPr indent="0" lvl="0" marL="0" rtl="0" algn="l">
              <a:spcBef>
                <a:spcPts val="0"/>
              </a:spcBef>
              <a:spcAft>
                <a:spcPts val="0"/>
              </a:spcAft>
              <a:buNone/>
            </a:pPr>
            <a:r>
              <a:rPr lang="en"/>
              <a:t>Note: this unit has a threshold for the sum to be greater than 0 to trigger wear boots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Possible Answers:</a:t>
            </a:r>
            <a:endParaRPr/>
          </a:p>
          <a:p>
            <a:pPr indent="0" lvl="0" marL="0" rtl="0" algn="l">
              <a:spcBef>
                <a:spcPts val="0"/>
              </a:spcBef>
              <a:spcAft>
                <a:spcPts val="0"/>
              </a:spcAft>
              <a:buClr>
                <a:schemeClr val="dk1"/>
              </a:buClr>
              <a:buSzPts val="1100"/>
              <a:buFont typeface="Arial"/>
              <a:buNone/>
            </a:pPr>
            <a:r>
              <a:rPr lang="en" sz="1100">
                <a:solidFill>
                  <a:srgbClr val="980000"/>
                </a:solidFill>
              </a:rPr>
              <a:t>1 (Yes) or  </a:t>
            </a:r>
            <a:r>
              <a:rPr lang="en" sz="1100">
                <a:solidFill>
                  <a:schemeClr val="dk1"/>
                </a:solidFill>
              </a:rPr>
              <a:t>0 (No)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I make a PBJ sandwich?</a:t>
            </a:r>
            <a:endParaRPr/>
          </a:p>
        </p:txBody>
      </p:sp>
      <p:sp>
        <p:nvSpPr>
          <p:cNvPr id="693" name="Google Shape;693;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Must have peanut butter, jelly, and bread.</a:t>
            </a:r>
            <a:endParaRPr/>
          </a:p>
        </p:txBody>
      </p:sp>
      <p:sp>
        <p:nvSpPr>
          <p:cNvPr id="694" name="Google Shape;694;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695" name="Google Shape;695;p56"/>
          <p:cNvGraphicFramePr/>
          <p:nvPr/>
        </p:nvGraphicFramePr>
        <p:xfrm>
          <a:off x="5450350" y="1711375"/>
          <a:ext cx="3000000" cy="3000000"/>
        </p:xfrm>
        <a:graphic>
          <a:graphicData uri="http://schemas.openxmlformats.org/drawingml/2006/table">
            <a:tbl>
              <a:tblPr>
                <a:noFill/>
                <a:tableStyleId>{E2568D71-D2B9-491D-BD23-BBBF9B4F9A23}</a:tableStyleId>
              </a:tblPr>
              <a:tblGrid>
                <a:gridCol w="694450"/>
                <a:gridCol w="640400"/>
                <a:gridCol w="586325"/>
                <a:gridCol w="416425"/>
                <a:gridCol w="879825"/>
              </a:tblGrid>
              <a:tr h="12700">
                <a:tc>
                  <a:txBody>
                    <a:bodyPr/>
                    <a:lstStyle/>
                    <a:p>
                      <a:pPr indent="0" lvl="0" marL="0" rtl="0" algn="l">
                        <a:spcBef>
                          <a:spcPts val="0"/>
                        </a:spcBef>
                        <a:spcAft>
                          <a:spcPts val="0"/>
                        </a:spcAft>
                        <a:buNone/>
                      </a:pPr>
                      <a:r>
                        <a:rPr lang="en" sz="1100"/>
                        <a:t>Peanut</a:t>
                      </a:r>
                      <a:endParaRPr sz="1100"/>
                    </a:p>
                    <a:p>
                      <a:pPr indent="0" lvl="0" marL="0" rtl="0" algn="l">
                        <a:spcBef>
                          <a:spcPts val="0"/>
                        </a:spcBef>
                        <a:spcAft>
                          <a:spcPts val="0"/>
                        </a:spcAft>
                        <a:buNone/>
                      </a:pPr>
                      <a:r>
                        <a:rPr lang="en" sz="1100"/>
                        <a:t>butter</a:t>
                      </a:r>
                      <a:endParaRPr sz="1100"/>
                    </a:p>
                  </a:txBody>
                  <a:tcPr marT="63500" marB="63500" marR="63500" marL="63500"/>
                </a:tc>
                <a:tc>
                  <a:txBody>
                    <a:bodyPr/>
                    <a:lstStyle/>
                    <a:p>
                      <a:pPr indent="0" lvl="0" marL="0" rtl="0" algn="l">
                        <a:spcBef>
                          <a:spcPts val="0"/>
                        </a:spcBef>
                        <a:spcAft>
                          <a:spcPts val="0"/>
                        </a:spcAft>
                        <a:buNone/>
                      </a:pPr>
                      <a:r>
                        <a:rPr lang="en" sz="1100"/>
                        <a:t>Jelly</a:t>
                      </a:r>
                      <a:endParaRPr sz="1100"/>
                    </a:p>
                  </a:txBody>
                  <a:tcPr marT="63500" marB="63500" marR="63500" marL="63500"/>
                </a:tc>
                <a:tc>
                  <a:txBody>
                    <a:bodyPr/>
                    <a:lstStyle/>
                    <a:p>
                      <a:pPr indent="0" lvl="0" marL="0" rtl="0" algn="l">
                        <a:spcBef>
                          <a:spcPts val="0"/>
                        </a:spcBef>
                        <a:spcAft>
                          <a:spcPts val="0"/>
                        </a:spcAft>
                        <a:buNone/>
                      </a:pPr>
                      <a:r>
                        <a:rPr lang="en" sz="1100"/>
                        <a:t>Bread</a:t>
                      </a:r>
                      <a:endParaRPr sz="1100"/>
                    </a:p>
                  </a:txBody>
                  <a:tcPr marT="63500" marB="63500" marR="63500" marL="63500"/>
                </a:tc>
                <a:tc>
                  <a:txBody>
                    <a:bodyPr/>
                    <a:lstStyle/>
                    <a:p>
                      <a:pPr indent="0" lvl="0" marL="0" rtl="0" algn="l">
                        <a:spcBef>
                          <a:spcPts val="0"/>
                        </a:spcBef>
                        <a:spcAft>
                          <a:spcPts val="0"/>
                        </a:spcAft>
                        <a:buNone/>
                      </a:pPr>
                      <a:r>
                        <a:rPr lang="en" sz="1100"/>
                        <a:t>Sum</a:t>
                      </a:r>
                      <a:endParaRPr sz="1100"/>
                    </a:p>
                  </a:txBody>
                  <a:tcPr marT="63500" marB="63500" marR="63500" marL="63500"/>
                </a:tc>
                <a:tc>
                  <a:txBody>
                    <a:bodyPr/>
                    <a:lstStyle/>
                    <a:p>
                      <a:pPr indent="0" lvl="0" marL="0" rtl="0" algn="l">
                        <a:spcBef>
                          <a:spcPts val="0"/>
                        </a:spcBef>
                        <a:spcAft>
                          <a:spcPts val="0"/>
                        </a:spcAft>
                        <a:buNone/>
                      </a:pPr>
                      <a:r>
                        <a:rPr lang="en" sz="1100"/>
                        <a:t>Output: Sandwich</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rPr lang="en" sz="1100"/>
                        <a:t>0</a:t>
                      </a:r>
                      <a:endParaRPr sz="1100"/>
                    </a:p>
                  </a:txBody>
                  <a:tcPr marT="63500" marB="63500" marR="63500" marL="63500"/>
                </a:tc>
                <a:tc>
                  <a:txBody>
                    <a:bodyPr/>
                    <a:lstStyle/>
                    <a:p>
                      <a:pPr indent="0" lvl="0" marL="0" rtl="0" algn="l">
                        <a:spcBef>
                          <a:spcPts val="0"/>
                        </a:spcBef>
                        <a:spcAft>
                          <a:spcPts val="0"/>
                        </a:spcAft>
                        <a:buClr>
                          <a:schemeClr val="dk1"/>
                        </a:buClr>
                        <a:buSzPts val="1100"/>
                        <a:buFont typeface="Arial"/>
                        <a:buNone/>
                      </a:pPr>
                      <a:r>
                        <a:rPr lang="en" sz="1100">
                          <a:solidFill>
                            <a:schemeClr val="dk1"/>
                          </a:solidFill>
                        </a:rPr>
                        <a:t>0 (No)</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rPr lang="en" sz="1100"/>
                        <a:t>1</a:t>
                      </a:r>
                      <a:endParaRPr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ctr">
                        <a:spcBef>
                          <a:spcPts val="0"/>
                        </a:spcBef>
                        <a:spcAft>
                          <a:spcPts val="0"/>
                        </a:spcAft>
                        <a:buNone/>
                      </a:pPr>
                      <a:r>
                        <a:rPr lang="en" sz="1100"/>
                        <a:t>2</a:t>
                      </a:r>
                      <a:endParaRPr sz="1100"/>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c>
                  <a:txBody>
                    <a:bodyPr/>
                    <a:lstStyle/>
                    <a:p>
                      <a:pPr indent="0" lvl="0" marL="0" rtl="0" algn="l">
                        <a:spcBef>
                          <a:spcPts val="0"/>
                        </a:spcBef>
                        <a:spcAft>
                          <a:spcPts val="0"/>
                        </a:spcAft>
                        <a:buNone/>
                      </a:pPr>
                      <a:r>
                        <a:t/>
                      </a:r>
                      <a:endParaRPr/>
                    </a:p>
                  </a:txBody>
                  <a:tcPr marT="63500" marB="63500" marR="63500" marL="63500"/>
                </a:tc>
              </a:tr>
            </a:tbl>
          </a:graphicData>
        </a:graphic>
      </p:graphicFrame>
      <p:sp>
        <p:nvSpPr>
          <p:cNvPr id="696" name="Google Shape;696;p56"/>
          <p:cNvSpPr/>
          <p:nvPr/>
        </p:nvSpPr>
        <p:spPr>
          <a:xfrm>
            <a:off x="2815800" y="2437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2</a:t>
            </a:r>
            <a:endParaRPr b="1" sz="1600">
              <a:solidFill>
                <a:srgbClr val="980000"/>
              </a:solidFill>
            </a:endParaRPr>
          </a:p>
        </p:txBody>
      </p:sp>
      <p:sp>
        <p:nvSpPr>
          <p:cNvPr id="697" name="Google Shape;697;p56"/>
          <p:cNvSpPr/>
          <p:nvPr/>
        </p:nvSpPr>
        <p:spPr>
          <a:xfrm>
            <a:off x="1556950" y="2284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56"/>
          <p:cNvSpPr/>
          <p:nvPr/>
        </p:nvSpPr>
        <p:spPr>
          <a:xfrm>
            <a:off x="1556950" y="2855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9" name="Google Shape;699;p56"/>
          <p:cNvCxnSpPr/>
          <p:nvPr/>
        </p:nvCxnSpPr>
        <p:spPr>
          <a:xfrm>
            <a:off x="1773250" y="2393125"/>
            <a:ext cx="1068900" cy="356400"/>
          </a:xfrm>
          <a:prstGeom prst="straightConnector1">
            <a:avLst/>
          </a:prstGeom>
          <a:noFill/>
          <a:ln cap="flat" cmpd="sng" w="9525">
            <a:solidFill>
              <a:schemeClr val="dk1"/>
            </a:solidFill>
            <a:prstDash val="solid"/>
            <a:round/>
            <a:headEnd len="med" w="med" type="none"/>
            <a:tailEnd len="med" w="med" type="triangle"/>
          </a:ln>
        </p:spPr>
      </p:cxnSp>
      <p:cxnSp>
        <p:nvCxnSpPr>
          <p:cNvPr id="700" name="Google Shape;700;p56"/>
          <p:cNvCxnSpPr>
            <a:stCxn id="698" idx="6"/>
          </p:cNvCxnSpPr>
          <p:nvPr/>
        </p:nvCxnSpPr>
        <p:spPr>
          <a:xfrm flipH="1" rot="10800000">
            <a:off x="1773250" y="2924210"/>
            <a:ext cx="1042500" cy="39900"/>
          </a:xfrm>
          <a:prstGeom prst="straightConnector1">
            <a:avLst/>
          </a:prstGeom>
          <a:noFill/>
          <a:ln cap="flat" cmpd="sng" w="9525">
            <a:solidFill>
              <a:schemeClr val="dk1"/>
            </a:solidFill>
            <a:prstDash val="solid"/>
            <a:round/>
            <a:headEnd len="med" w="med" type="none"/>
            <a:tailEnd len="med" w="med" type="triangle"/>
          </a:ln>
        </p:spPr>
      </p:cxnSp>
      <p:sp>
        <p:nvSpPr>
          <p:cNvPr id="701" name="Google Shape;701;p56"/>
          <p:cNvSpPr txBox="1"/>
          <p:nvPr/>
        </p:nvSpPr>
        <p:spPr>
          <a:xfrm>
            <a:off x="84949" y="21701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peanut butter</a:t>
            </a:r>
            <a:endParaRPr baseline="-25000"/>
          </a:p>
        </p:txBody>
      </p:sp>
      <p:sp>
        <p:nvSpPr>
          <p:cNvPr id="702" name="Google Shape;702;p56"/>
          <p:cNvSpPr txBox="1"/>
          <p:nvPr/>
        </p:nvSpPr>
        <p:spPr>
          <a:xfrm>
            <a:off x="568402" y="2747845"/>
            <a:ext cx="10065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jelly</a:t>
            </a:r>
            <a:endParaRPr baseline="-25000"/>
          </a:p>
        </p:txBody>
      </p:sp>
      <p:sp>
        <p:nvSpPr>
          <p:cNvPr id="703" name="Google Shape;703;p56"/>
          <p:cNvSpPr txBox="1"/>
          <p:nvPr/>
        </p:nvSpPr>
        <p:spPr>
          <a:xfrm>
            <a:off x="2057903" y="3045941"/>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04" name="Google Shape;704;p56"/>
          <p:cNvSpPr txBox="1"/>
          <p:nvPr/>
        </p:nvSpPr>
        <p:spPr>
          <a:xfrm>
            <a:off x="2057903" y="2215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05" name="Google Shape;705;p56"/>
          <p:cNvSpPr txBox="1"/>
          <p:nvPr/>
        </p:nvSpPr>
        <p:spPr>
          <a:xfrm>
            <a:off x="4168600" y="2610100"/>
            <a:ext cx="106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make sandwich</a:t>
            </a:r>
            <a:endParaRPr/>
          </a:p>
        </p:txBody>
      </p:sp>
      <p:cxnSp>
        <p:nvCxnSpPr>
          <p:cNvPr id="706" name="Google Shape;706;p56"/>
          <p:cNvCxnSpPr>
            <a:stCxn id="696" idx="6"/>
            <a:endCxn id="705" idx="1"/>
          </p:cNvCxnSpPr>
          <p:nvPr/>
        </p:nvCxnSpPr>
        <p:spPr>
          <a:xfrm flipH="1" rot="10800000">
            <a:off x="3789000" y="2917975"/>
            <a:ext cx="379500" cy="6000"/>
          </a:xfrm>
          <a:prstGeom prst="straightConnector1">
            <a:avLst/>
          </a:prstGeom>
          <a:noFill/>
          <a:ln cap="flat" cmpd="sng" w="9525">
            <a:solidFill>
              <a:schemeClr val="dk1"/>
            </a:solidFill>
            <a:prstDash val="solid"/>
            <a:round/>
            <a:headEnd len="med" w="med" type="none"/>
            <a:tailEnd len="med" w="med" type="triangle"/>
          </a:ln>
        </p:spPr>
      </p:cxnSp>
      <p:sp>
        <p:nvSpPr>
          <p:cNvPr id="707" name="Google Shape;707;p56"/>
          <p:cNvSpPr/>
          <p:nvPr/>
        </p:nvSpPr>
        <p:spPr>
          <a:xfrm>
            <a:off x="1556950" y="33893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8" name="Google Shape;708;p56"/>
          <p:cNvCxnSpPr>
            <a:stCxn id="707" idx="6"/>
          </p:cNvCxnSpPr>
          <p:nvPr/>
        </p:nvCxnSpPr>
        <p:spPr>
          <a:xfrm flipH="1" rot="10800000">
            <a:off x="1773250" y="3120110"/>
            <a:ext cx="1099800" cy="377400"/>
          </a:xfrm>
          <a:prstGeom prst="straightConnector1">
            <a:avLst/>
          </a:prstGeom>
          <a:noFill/>
          <a:ln cap="flat" cmpd="sng" w="9525">
            <a:solidFill>
              <a:schemeClr val="dk1"/>
            </a:solidFill>
            <a:prstDash val="solid"/>
            <a:round/>
            <a:headEnd len="med" w="med" type="none"/>
            <a:tailEnd len="med" w="med" type="triangle"/>
          </a:ln>
        </p:spPr>
      </p:cxnSp>
      <p:sp>
        <p:nvSpPr>
          <p:cNvPr id="709" name="Google Shape;709;p56"/>
          <p:cNvSpPr txBox="1"/>
          <p:nvPr/>
        </p:nvSpPr>
        <p:spPr>
          <a:xfrm>
            <a:off x="568402" y="3281245"/>
            <a:ext cx="10065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bread</a:t>
            </a:r>
            <a:endParaRPr baseline="-25000"/>
          </a:p>
        </p:txBody>
      </p:sp>
      <p:sp>
        <p:nvSpPr>
          <p:cNvPr id="710" name="Google Shape;710;p56"/>
          <p:cNvSpPr txBox="1"/>
          <p:nvPr/>
        </p:nvSpPr>
        <p:spPr>
          <a:xfrm>
            <a:off x="2057903" y="2641772"/>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11" name="Google Shape;711;p56"/>
          <p:cNvSpPr txBox="1"/>
          <p:nvPr/>
        </p:nvSpPr>
        <p:spPr>
          <a:xfrm>
            <a:off x="5309425" y="494075"/>
            <a:ext cx="3824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Use the values in the table to update the </a:t>
            </a:r>
            <a:endParaRPr b="1"/>
          </a:p>
          <a:p>
            <a:pPr indent="0" lvl="0" marL="0" rtl="0" algn="l">
              <a:spcBef>
                <a:spcPts val="0"/>
              </a:spcBef>
              <a:spcAft>
                <a:spcPts val="0"/>
              </a:spcAft>
              <a:buNone/>
            </a:pPr>
            <a:r>
              <a:rPr b="1" lang="en"/>
              <a:t>Sum and output columns. </a:t>
            </a:r>
            <a:endParaRPr b="1"/>
          </a:p>
          <a:p>
            <a:pPr indent="0" lvl="0" marL="0" rtl="0" algn="l">
              <a:spcBef>
                <a:spcPts val="0"/>
              </a:spcBef>
              <a:spcAft>
                <a:spcPts val="0"/>
              </a:spcAft>
              <a:buNone/>
            </a:pPr>
            <a:r>
              <a:rPr lang="en"/>
              <a:t>Note: </a:t>
            </a:r>
            <a:r>
              <a:rPr lang="en"/>
              <a:t>this unit has a threshold for the sum to be greater than 2 to trigger make a sandwich</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5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Unequal Weights</a:t>
            </a:r>
            <a:endParaRPr/>
          </a:p>
        </p:txBody>
      </p:sp>
      <p:sp>
        <p:nvSpPr>
          <p:cNvPr id="717" name="Google Shape;717;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Does John get to eat dessert tonight?</a:t>
            </a:r>
            <a:endParaRPr/>
          </a:p>
        </p:txBody>
      </p:sp>
      <p:sp>
        <p:nvSpPr>
          <p:cNvPr id="723" name="Google Shape;723;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If he ate his vegetables, finished his milk, and cleared the table, then yes.</a:t>
            </a:r>
            <a:br>
              <a:rPr lang="en"/>
            </a:br>
            <a:r>
              <a:rPr lang="en"/>
              <a:t>But if the dessert is healthy (fruit, not cake or ice cream), he can always have it.</a:t>
            </a:r>
            <a:endParaRPr/>
          </a:p>
        </p:txBody>
      </p:sp>
      <p:sp>
        <p:nvSpPr>
          <p:cNvPr id="724" name="Google Shape;724;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725" name="Google Shape;725;p58"/>
          <p:cNvGraphicFramePr/>
          <p:nvPr/>
        </p:nvGraphicFramePr>
        <p:xfrm>
          <a:off x="5087375" y="2036800"/>
          <a:ext cx="3000000" cy="3000000"/>
        </p:xfrm>
        <a:graphic>
          <a:graphicData uri="http://schemas.openxmlformats.org/drawingml/2006/table">
            <a:tbl>
              <a:tblPr>
                <a:noFill/>
                <a:tableStyleId>{E2568D71-D2B9-491D-BD23-BBBF9B4F9A23}</a:tableStyleId>
              </a:tblPr>
              <a:tblGrid>
                <a:gridCol w="619900"/>
                <a:gridCol w="867025"/>
                <a:gridCol w="673950"/>
                <a:gridCol w="673950"/>
                <a:gridCol w="442275"/>
                <a:gridCol w="565850"/>
              </a:tblGrid>
              <a:tr h="12700">
                <a:tc>
                  <a:txBody>
                    <a:bodyPr/>
                    <a:lstStyle/>
                    <a:p>
                      <a:pPr indent="0" lvl="0" marL="0" rtl="0" algn="l">
                        <a:spcBef>
                          <a:spcPts val="0"/>
                        </a:spcBef>
                        <a:spcAft>
                          <a:spcPts val="0"/>
                        </a:spcAft>
                        <a:buNone/>
                      </a:pPr>
                      <a:r>
                        <a:rPr lang="en" sz="1100"/>
                        <a:t>Healthy Dessert</a:t>
                      </a:r>
                      <a:endParaRPr sz="1100"/>
                    </a:p>
                  </a:txBody>
                  <a:tcPr marT="63500" marB="63500" marR="63500" marL="63500"/>
                </a:tc>
                <a:tc>
                  <a:txBody>
                    <a:bodyPr/>
                    <a:lstStyle/>
                    <a:p>
                      <a:pPr indent="0" lvl="0" marL="0" rtl="0" algn="l">
                        <a:spcBef>
                          <a:spcPts val="0"/>
                        </a:spcBef>
                        <a:spcAft>
                          <a:spcPts val="0"/>
                        </a:spcAft>
                        <a:buNone/>
                      </a:pPr>
                      <a:r>
                        <a:rPr lang="en" sz="1100"/>
                        <a:t>Ate Vegetables</a:t>
                      </a:r>
                      <a:endParaRPr sz="1100"/>
                    </a:p>
                  </a:txBody>
                  <a:tcPr marT="63500" marB="63500" marR="63500" marL="63500"/>
                </a:tc>
                <a:tc>
                  <a:txBody>
                    <a:bodyPr/>
                    <a:lstStyle/>
                    <a:p>
                      <a:pPr indent="0" lvl="0" marL="0" rtl="0" algn="l">
                        <a:spcBef>
                          <a:spcPts val="0"/>
                        </a:spcBef>
                        <a:spcAft>
                          <a:spcPts val="0"/>
                        </a:spcAft>
                        <a:buNone/>
                      </a:pPr>
                      <a:r>
                        <a:rPr lang="en" sz="1100"/>
                        <a:t>Finished</a:t>
                      </a:r>
                      <a:endParaRPr sz="1100"/>
                    </a:p>
                    <a:p>
                      <a:pPr indent="0" lvl="0" marL="0" rtl="0" algn="l">
                        <a:spcBef>
                          <a:spcPts val="0"/>
                        </a:spcBef>
                        <a:spcAft>
                          <a:spcPts val="0"/>
                        </a:spcAft>
                        <a:buNone/>
                      </a:pPr>
                      <a:r>
                        <a:rPr lang="en" sz="1100"/>
                        <a:t>Milk</a:t>
                      </a:r>
                      <a:endParaRPr sz="1100"/>
                    </a:p>
                  </a:txBody>
                  <a:tcPr marT="63500" marB="63500" marR="63500" marL="63500"/>
                </a:tc>
                <a:tc>
                  <a:txBody>
                    <a:bodyPr/>
                    <a:lstStyle/>
                    <a:p>
                      <a:pPr indent="0" lvl="0" marL="0" rtl="0" algn="l">
                        <a:spcBef>
                          <a:spcPts val="0"/>
                        </a:spcBef>
                        <a:spcAft>
                          <a:spcPts val="0"/>
                        </a:spcAft>
                        <a:buNone/>
                      </a:pPr>
                      <a:r>
                        <a:rPr lang="en" sz="1100"/>
                        <a:t>Cleared</a:t>
                      </a:r>
                      <a:endParaRPr sz="1100"/>
                    </a:p>
                    <a:p>
                      <a:pPr indent="0" lvl="0" marL="0" rtl="0" algn="l">
                        <a:spcBef>
                          <a:spcPts val="0"/>
                        </a:spcBef>
                        <a:spcAft>
                          <a:spcPts val="0"/>
                        </a:spcAft>
                        <a:buNone/>
                      </a:pPr>
                      <a:r>
                        <a:rPr lang="en" sz="1100"/>
                        <a:t>Table</a:t>
                      </a:r>
                      <a:endParaRPr sz="1100"/>
                    </a:p>
                  </a:txBody>
                  <a:tcPr marT="63500" marB="63500" marR="63500" marL="63500"/>
                </a:tc>
                <a:tc>
                  <a:txBody>
                    <a:bodyPr/>
                    <a:lstStyle/>
                    <a:p>
                      <a:pPr indent="0" lvl="0" marL="0" rtl="0" algn="l">
                        <a:spcBef>
                          <a:spcPts val="0"/>
                        </a:spcBef>
                        <a:spcAft>
                          <a:spcPts val="0"/>
                        </a:spcAft>
                        <a:buNone/>
                      </a:pPr>
                      <a:r>
                        <a:rPr lang="en" sz="1100"/>
                        <a:t>Sum</a:t>
                      </a:r>
                      <a:endParaRPr sz="1100"/>
                    </a:p>
                  </a:txBody>
                  <a:tcPr marT="63500" marB="63500" marR="63500" marL="63500"/>
                </a:tc>
                <a:tc>
                  <a:txBody>
                    <a:bodyPr/>
                    <a:lstStyle/>
                    <a:p>
                      <a:pPr indent="0" lvl="0" marL="0" rtl="0" algn="l">
                        <a:spcBef>
                          <a:spcPts val="0"/>
                        </a:spcBef>
                        <a:spcAft>
                          <a:spcPts val="0"/>
                        </a:spcAft>
                        <a:buNone/>
                      </a:pPr>
                      <a:r>
                        <a:rPr lang="en" sz="1100"/>
                        <a:t>Output</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rPr lang="en" sz="1100"/>
                        <a:t>0</a:t>
                      </a:r>
                      <a:endParaRPr sz="1100"/>
                    </a:p>
                  </a:txBody>
                  <a:tcPr marT="63500" marB="63500" marR="63500" marL="63500"/>
                </a:tc>
                <a:tc>
                  <a:txBody>
                    <a:bodyPr/>
                    <a:lstStyle/>
                    <a:p>
                      <a:pPr indent="0" lvl="0" marL="0" rtl="0" algn="ctr">
                        <a:spcBef>
                          <a:spcPts val="0"/>
                        </a:spcBef>
                        <a:spcAft>
                          <a:spcPts val="0"/>
                        </a:spcAft>
                        <a:buNone/>
                      </a:pPr>
                      <a:r>
                        <a:rPr lang="en" sz="1100"/>
                        <a:t>0</a:t>
                      </a:r>
                      <a:endParaRPr sz="1100"/>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r>
                        <a:rPr lang="en" sz="1100"/>
                        <a:t>)</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a:t>
                      </a:r>
                      <a:r>
                        <a:rPr b="1" lang="en" sz="1100">
                          <a:solidFill>
                            <a:srgbClr val="980000"/>
                          </a:solidFill>
                        </a:rPr>
                        <a:t>1</a:t>
                      </a:r>
                      <a:r>
                        <a:rPr lang="en" sz="1100">
                          <a:solidFill>
                            <a:srgbClr val="980000"/>
                          </a:solidFill>
                        </a:rPr>
                        <a:t>)</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bl>
          </a:graphicData>
        </a:graphic>
      </p:graphicFrame>
      <p:sp>
        <p:nvSpPr>
          <p:cNvPr id="726" name="Google Shape;726;p58"/>
          <p:cNvSpPr/>
          <p:nvPr/>
        </p:nvSpPr>
        <p:spPr>
          <a:xfrm>
            <a:off x="2815800" y="28945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2</a:t>
            </a:r>
            <a:endParaRPr b="1" sz="1600">
              <a:solidFill>
                <a:srgbClr val="980000"/>
              </a:solidFill>
            </a:endParaRPr>
          </a:p>
        </p:txBody>
      </p:sp>
      <p:sp>
        <p:nvSpPr>
          <p:cNvPr id="727" name="Google Shape;727;p58"/>
          <p:cNvSpPr/>
          <p:nvPr/>
        </p:nvSpPr>
        <p:spPr>
          <a:xfrm>
            <a:off x="1556950" y="28945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58"/>
          <p:cNvSpPr/>
          <p:nvPr/>
        </p:nvSpPr>
        <p:spPr>
          <a:xfrm>
            <a:off x="1556950" y="34655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9" name="Google Shape;729;p58"/>
          <p:cNvCxnSpPr/>
          <p:nvPr/>
        </p:nvCxnSpPr>
        <p:spPr>
          <a:xfrm>
            <a:off x="1773250" y="3002725"/>
            <a:ext cx="1032000" cy="254700"/>
          </a:xfrm>
          <a:prstGeom prst="straightConnector1">
            <a:avLst/>
          </a:prstGeom>
          <a:noFill/>
          <a:ln cap="flat" cmpd="sng" w="9525">
            <a:solidFill>
              <a:schemeClr val="dk1"/>
            </a:solidFill>
            <a:prstDash val="solid"/>
            <a:round/>
            <a:headEnd len="med" w="med" type="none"/>
            <a:tailEnd len="med" w="med" type="triangle"/>
          </a:ln>
        </p:spPr>
      </p:cxnSp>
      <p:cxnSp>
        <p:nvCxnSpPr>
          <p:cNvPr id="730" name="Google Shape;730;p58"/>
          <p:cNvCxnSpPr>
            <a:stCxn id="728" idx="6"/>
          </p:cNvCxnSpPr>
          <p:nvPr/>
        </p:nvCxnSpPr>
        <p:spPr>
          <a:xfrm flipH="1" rot="10800000">
            <a:off x="1773250" y="3476510"/>
            <a:ext cx="1060500" cy="97200"/>
          </a:xfrm>
          <a:prstGeom prst="straightConnector1">
            <a:avLst/>
          </a:prstGeom>
          <a:noFill/>
          <a:ln cap="flat" cmpd="sng" w="9525">
            <a:solidFill>
              <a:schemeClr val="dk1"/>
            </a:solidFill>
            <a:prstDash val="solid"/>
            <a:round/>
            <a:headEnd len="med" w="med" type="none"/>
            <a:tailEnd len="med" w="med" type="triangle"/>
          </a:ln>
        </p:spPr>
      </p:cxnSp>
      <p:sp>
        <p:nvSpPr>
          <p:cNvPr id="731" name="Google Shape;731;p58"/>
          <p:cNvSpPr txBox="1"/>
          <p:nvPr/>
        </p:nvSpPr>
        <p:spPr>
          <a:xfrm>
            <a:off x="84949" y="27797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ate veggies</a:t>
            </a:r>
            <a:endParaRPr baseline="-25000"/>
          </a:p>
        </p:txBody>
      </p:sp>
      <p:sp>
        <p:nvSpPr>
          <p:cNvPr id="732" name="Google Shape;732;p58"/>
          <p:cNvSpPr txBox="1"/>
          <p:nvPr/>
        </p:nvSpPr>
        <p:spPr>
          <a:xfrm>
            <a:off x="223974" y="3357450"/>
            <a:ext cx="13509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finished milk</a:t>
            </a:r>
            <a:endParaRPr baseline="-25000"/>
          </a:p>
        </p:txBody>
      </p:sp>
      <p:sp>
        <p:nvSpPr>
          <p:cNvPr id="733" name="Google Shape;733;p58"/>
          <p:cNvSpPr txBox="1"/>
          <p:nvPr/>
        </p:nvSpPr>
        <p:spPr>
          <a:xfrm>
            <a:off x="2057903" y="3655541"/>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34" name="Google Shape;734;p58"/>
          <p:cNvSpPr txBox="1"/>
          <p:nvPr/>
        </p:nvSpPr>
        <p:spPr>
          <a:xfrm>
            <a:off x="20579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35" name="Google Shape;735;p58"/>
          <p:cNvSpPr txBox="1"/>
          <p:nvPr/>
        </p:nvSpPr>
        <p:spPr>
          <a:xfrm>
            <a:off x="4168600" y="3067300"/>
            <a:ext cx="106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gets</a:t>
            </a:r>
            <a:br>
              <a:rPr lang="en"/>
            </a:br>
            <a:r>
              <a:rPr lang="en"/>
              <a:t>dessert</a:t>
            </a:r>
            <a:endParaRPr/>
          </a:p>
        </p:txBody>
      </p:sp>
      <p:cxnSp>
        <p:nvCxnSpPr>
          <p:cNvPr id="736" name="Google Shape;736;p58"/>
          <p:cNvCxnSpPr>
            <a:stCxn id="726" idx="6"/>
            <a:endCxn id="735" idx="1"/>
          </p:cNvCxnSpPr>
          <p:nvPr/>
        </p:nvCxnSpPr>
        <p:spPr>
          <a:xfrm flipH="1" rot="10800000">
            <a:off x="3789000" y="3375175"/>
            <a:ext cx="379500" cy="6000"/>
          </a:xfrm>
          <a:prstGeom prst="straightConnector1">
            <a:avLst/>
          </a:prstGeom>
          <a:noFill/>
          <a:ln cap="flat" cmpd="sng" w="9525">
            <a:solidFill>
              <a:schemeClr val="dk1"/>
            </a:solidFill>
            <a:prstDash val="solid"/>
            <a:round/>
            <a:headEnd len="med" w="med" type="none"/>
            <a:tailEnd len="med" w="med" type="triangle"/>
          </a:ln>
        </p:spPr>
      </p:cxnSp>
      <p:sp>
        <p:nvSpPr>
          <p:cNvPr id="737" name="Google Shape;737;p58"/>
          <p:cNvSpPr/>
          <p:nvPr/>
        </p:nvSpPr>
        <p:spPr>
          <a:xfrm>
            <a:off x="1556950" y="3998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8" name="Google Shape;738;p58"/>
          <p:cNvCxnSpPr>
            <a:stCxn id="737" idx="6"/>
            <a:endCxn id="726" idx="3"/>
          </p:cNvCxnSpPr>
          <p:nvPr/>
        </p:nvCxnSpPr>
        <p:spPr>
          <a:xfrm flipH="1" rot="10800000">
            <a:off x="1773250" y="3725210"/>
            <a:ext cx="1185000" cy="381900"/>
          </a:xfrm>
          <a:prstGeom prst="straightConnector1">
            <a:avLst/>
          </a:prstGeom>
          <a:noFill/>
          <a:ln cap="flat" cmpd="sng" w="9525">
            <a:solidFill>
              <a:schemeClr val="dk1"/>
            </a:solidFill>
            <a:prstDash val="solid"/>
            <a:round/>
            <a:headEnd len="med" w="med" type="none"/>
            <a:tailEnd len="med" w="med" type="triangle"/>
          </a:ln>
        </p:spPr>
      </p:cxnSp>
      <p:sp>
        <p:nvSpPr>
          <p:cNvPr id="739" name="Google Shape;739;p58"/>
          <p:cNvSpPr txBox="1"/>
          <p:nvPr/>
        </p:nvSpPr>
        <p:spPr>
          <a:xfrm>
            <a:off x="193074" y="3890850"/>
            <a:ext cx="13818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cleared table</a:t>
            </a:r>
            <a:endParaRPr baseline="-25000"/>
          </a:p>
        </p:txBody>
      </p:sp>
      <p:sp>
        <p:nvSpPr>
          <p:cNvPr id="740" name="Google Shape;740;p58"/>
          <p:cNvSpPr txBox="1"/>
          <p:nvPr/>
        </p:nvSpPr>
        <p:spPr>
          <a:xfrm>
            <a:off x="2057903" y="3251372"/>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41" name="Google Shape;741;p58"/>
          <p:cNvSpPr/>
          <p:nvPr/>
        </p:nvSpPr>
        <p:spPr>
          <a:xfrm>
            <a:off x="1556950" y="2437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2" name="Google Shape;742;p58"/>
          <p:cNvCxnSpPr>
            <a:endCxn id="726" idx="1"/>
          </p:cNvCxnSpPr>
          <p:nvPr/>
        </p:nvCxnSpPr>
        <p:spPr>
          <a:xfrm>
            <a:off x="1773322" y="2545397"/>
            <a:ext cx="1185000" cy="491700"/>
          </a:xfrm>
          <a:prstGeom prst="straightConnector1">
            <a:avLst/>
          </a:prstGeom>
          <a:noFill/>
          <a:ln cap="flat" cmpd="sng" w="9525">
            <a:solidFill>
              <a:schemeClr val="dk1"/>
            </a:solidFill>
            <a:prstDash val="solid"/>
            <a:round/>
            <a:headEnd len="med" w="med" type="none"/>
            <a:tailEnd len="med" w="med" type="triangle"/>
          </a:ln>
        </p:spPr>
      </p:cxnSp>
      <p:sp>
        <p:nvSpPr>
          <p:cNvPr id="743" name="Google Shape;743;p58"/>
          <p:cNvSpPr txBox="1"/>
          <p:nvPr/>
        </p:nvSpPr>
        <p:spPr>
          <a:xfrm>
            <a:off x="84949" y="23225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healthy dessert </a:t>
            </a:r>
            <a:endParaRPr baseline="-25000"/>
          </a:p>
        </p:txBody>
      </p:sp>
      <p:sp>
        <p:nvSpPr>
          <p:cNvPr id="744" name="Google Shape;744;p58"/>
          <p:cNvSpPr txBox="1"/>
          <p:nvPr/>
        </p:nvSpPr>
        <p:spPr>
          <a:xfrm>
            <a:off x="2057903" y="23678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baseline="-25000"/>
          </a:p>
        </p:txBody>
      </p:sp>
      <p:sp>
        <p:nvSpPr>
          <p:cNvPr id="745" name="Google Shape;745;p58"/>
          <p:cNvSpPr txBox="1"/>
          <p:nvPr/>
        </p:nvSpPr>
        <p:spPr>
          <a:xfrm>
            <a:off x="1393725" y="4409775"/>
            <a:ext cx="7078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Use the values in the table to update the sum and output columns. </a:t>
            </a:r>
            <a:endParaRPr b="1"/>
          </a:p>
          <a:p>
            <a:pPr indent="0" lvl="0" marL="0" rtl="0" algn="l">
              <a:spcBef>
                <a:spcPts val="0"/>
              </a:spcBef>
              <a:spcAft>
                <a:spcPts val="0"/>
              </a:spcAft>
              <a:buNone/>
            </a:pPr>
            <a:r>
              <a:rPr lang="en"/>
              <a:t>Note: this unit has a threshold for the sum to be greater than 2 to trigger gets dessert.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5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Negative weights</a:t>
            </a:r>
            <a:endParaRPr/>
          </a:p>
        </p:txBody>
      </p:sp>
      <p:sp>
        <p:nvSpPr>
          <p:cNvPr id="751" name="Google Shape;751;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Negative weights: can Lucy buy garden supplies?</a:t>
            </a:r>
            <a:endParaRPr/>
          </a:p>
        </p:txBody>
      </p:sp>
      <p:sp>
        <p:nvSpPr>
          <p:cNvPr id="757" name="Google Shape;757;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She can buy supplies if the store is open and she has money, unless her car is out of gas or has a flat tire.</a:t>
            </a:r>
            <a:endParaRPr/>
          </a:p>
        </p:txBody>
      </p:sp>
      <p:sp>
        <p:nvSpPr>
          <p:cNvPr id="758" name="Google Shape;758;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759" name="Google Shape;759;p60"/>
          <p:cNvGraphicFramePr/>
          <p:nvPr/>
        </p:nvGraphicFramePr>
        <p:xfrm>
          <a:off x="5550750" y="2121750"/>
          <a:ext cx="3000000" cy="3000000"/>
        </p:xfrm>
        <a:graphic>
          <a:graphicData uri="http://schemas.openxmlformats.org/drawingml/2006/table">
            <a:tbl>
              <a:tblPr>
                <a:noFill/>
                <a:tableStyleId>{E2568D71-D2B9-491D-BD23-BBBF9B4F9A23}</a:tableStyleId>
              </a:tblPr>
              <a:tblGrid>
                <a:gridCol w="581275"/>
                <a:gridCol w="573550"/>
                <a:gridCol w="596750"/>
                <a:gridCol w="635325"/>
                <a:gridCol w="426850"/>
                <a:gridCol w="550375"/>
              </a:tblGrid>
              <a:tr h="12700">
                <a:tc>
                  <a:txBody>
                    <a:bodyPr/>
                    <a:lstStyle/>
                    <a:p>
                      <a:pPr indent="0" lvl="0" marL="0" rtl="0" algn="l">
                        <a:spcBef>
                          <a:spcPts val="0"/>
                        </a:spcBef>
                        <a:spcAft>
                          <a:spcPts val="0"/>
                        </a:spcAft>
                        <a:buNone/>
                      </a:pPr>
                      <a:r>
                        <a:rPr lang="en" sz="1100"/>
                        <a:t>Store</a:t>
                      </a:r>
                      <a:endParaRPr sz="1100"/>
                    </a:p>
                    <a:p>
                      <a:pPr indent="0" lvl="0" marL="0" rtl="0" algn="l">
                        <a:spcBef>
                          <a:spcPts val="0"/>
                        </a:spcBef>
                        <a:spcAft>
                          <a:spcPts val="0"/>
                        </a:spcAft>
                        <a:buNone/>
                      </a:pPr>
                      <a:r>
                        <a:rPr lang="en" sz="1100"/>
                        <a:t>open</a:t>
                      </a:r>
                      <a:endParaRPr sz="1100"/>
                    </a:p>
                  </a:txBody>
                  <a:tcPr marT="63500" marB="63500" marR="63500" marL="63500"/>
                </a:tc>
                <a:tc>
                  <a:txBody>
                    <a:bodyPr/>
                    <a:lstStyle/>
                    <a:p>
                      <a:pPr indent="0" lvl="0" marL="0" rtl="0" algn="l">
                        <a:spcBef>
                          <a:spcPts val="0"/>
                        </a:spcBef>
                        <a:spcAft>
                          <a:spcPts val="0"/>
                        </a:spcAft>
                        <a:buNone/>
                      </a:pPr>
                      <a:r>
                        <a:rPr lang="en" sz="1100"/>
                        <a:t>Have</a:t>
                      </a:r>
                      <a:endParaRPr sz="1100"/>
                    </a:p>
                    <a:p>
                      <a:pPr indent="0" lvl="0" marL="0" rtl="0" algn="l">
                        <a:spcBef>
                          <a:spcPts val="0"/>
                        </a:spcBef>
                        <a:spcAft>
                          <a:spcPts val="0"/>
                        </a:spcAft>
                        <a:buNone/>
                      </a:pPr>
                      <a:r>
                        <a:rPr lang="en" sz="1100"/>
                        <a:t>money</a:t>
                      </a:r>
                      <a:endParaRPr sz="1100"/>
                    </a:p>
                  </a:txBody>
                  <a:tcPr marT="63500" marB="63500" marR="63500" marL="63500"/>
                </a:tc>
                <a:tc>
                  <a:txBody>
                    <a:bodyPr/>
                    <a:lstStyle/>
                    <a:p>
                      <a:pPr indent="0" lvl="0" marL="0" rtl="0" algn="l">
                        <a:spcBef>
                          <a:spcPts val="0"/>
                        </a:spcBef>
                        <a:spcAft>
                          <a:spcPts val="0"/>
                        </a:spcAft>
                        <a:buNone/>
                      </a:pPr>
                      <a:r>
                        <a:rPr lang="en" sz="1100"/>
                        <a:t>Out of</a:t>
                      </a:r>
                      <a:endParaRPr sz="1100"/>
                    </a:p>
                    <a:p>
                      <a:pPr indent="0" lvl="0" marL="0" rtl="0" algn="l">
                        <a:spcBef>
                          <a:spcPts val="0"/>
                        </a:spcBef>
                        <a:spcAft>
                          <a:spcPts val="0"/>
                        </a:spcAft>
                        <a:buNone/>
                      </a:pPr>
                      <a:r>
                        <a:rPr lang="en" sz="1100"/>
                        <a:t>gas</a:t>
                      </a:r>
                      <a:endParaRPr sz="1100"/>
                    </a:p>
                  </a:txBody>
                  <a:tcPr marT="63500" marB="63500" marR="63500" marL="63500"/>
                </a:tc>
                <a:tc>
                  <a:txBody>
                    <a:bodyPr/>
                    <a:lstStyle/>
                    <a:p>
                      <a:pPr indent="0" lvl="0" marL="0" rtl="0" algn="l">
                        <a:spcBef>
                          <a:spcPts val="0"/>
                        </a:spcBef>
                        <a:spcAft>
                          <a:spcPts val="0"/>
                        </a:spcAft>
                        <a:buNone/>
                      </a:pPr>
                      <a:r>
                        <a:rPr lang="en" sz="1100"/>
                        <a:t>Flat</a:t>
                      </a:r>
                      <a:endParaRPr sz="1100"/>
                    </a:p>
                    <a:p>
                      <a:pPr indent="0" lvl="0" marL="0" rtl="0" algn="l">
                        <a:spcBef>
                          <a:spcPts val="0"/>
                        </a:spcBef>
                        <a:spcAft>
                          <a:spcPts val="0"/>
                        </a:spcAft>
                        <a:buNone/>
                      </a:pPr>
                      <a:r>
                        <a:rPr lang="en" sz="1100"/>
                        <a:t>tire</a:t>
                      </a:r>
                      <a:endParaRPr sz="1100"/>
                    </a:p>
                  </a:txBody>
                  <a:tcPr marT="63500" marB="63500" marR="63500" marL="63500"/>
                </a:tc>
                <a:tc>
                  <a:txBody>
                    <a:bodyPr/>
                    <a:lstStyle/>
                    <a:p>
                      <a:pPr indent="0" lvl="0" marL="0" rtl="0" algn="ctr">
                        <a:spcBef>
                          <a:spcPts val="0"/>
                        </a:spcBef>
                        <a:spcAft>
                          <a:spcPts val="0"/>
                        </a:spcAft>
                        <a:buNone/>
                      </a:pPr>
                      <a:r>
                        <a:rPr lang="en" sz="1100"/>
                        <a:t>Sum</a:t>
                      </a:r>
                      <a:endParaRPr sz="1100"/>
                    </a:p>
                  </a:txBody>
                  <a:tcPr marT="63500" marB="63500" marR="63500" marL="63500"/>
                </a:tc>
                <a:tc>
                  <a:txBody>
                    <a:bodyPr/>
                    <a:lstStyle/>
                    <a:p>
                      <a:pPr indent="0" lvl="0" marL="0" rtl="0" algn="ctr">
                        <a:spcBef>
                          <a:spcPts val="0"/>
                        </a:spcBef>
                        <a:spcAft>
                          <a:spcPts val="0"/>
                        </a:spcAft>
                        <a:buNone/>
                      </a:pPr>
                      <a:r>
                        <a:rPr lang="en" sz="1100"/>
                        <a:t>Output</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solidFill>
                            <a:srgbClr val="980000"/>
                          </a:solidFill>
                        </a:rPr>
                        <a:t>Yes (1)</a:t>
                      </a:r>
                      <a:endParaRPr sz="1100">
                        <a:solidFill>
                          <a:srgbClr val="980000"/>
                        </a:solidFill>
                      </a:endParaRPr>
                    </a:p>
                  </a:txBody>
                  <a:tcPr marT="63500" marB="63500" marR="63500" marL="63500"/>
                </a:tc>
                <a:tc>
                  <a:txBody>
                    <a:bodyPr/>
                    <a:lstStyle/>
                    <a:p>
                      <a:pPr indent="0" lvl="0" marL="0" rtl="0" algn="l">
                        <a:spcBef>
                          <a:spcPts val="0"/>
                        </a:spcBef>
                        <a:spcAft>
                          <a:spcPts val="0"/>
                        </a:spcAft>
                        <a:buNone/>
                      </a:pPr>
                      <a:r>
                        <a:rPr lang="en" sz="1100"/>
                        <a:t>No (0)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r>
            </a:tbl>
          </a:graphicData>
        </a:graphic>
      </p:graphicFrame>
      <p:sp>
        <p:nvSpPr>
          <p:cNvPr id="760" name="Google Shape;760;p60"/>
          <p:cNvSpPr/>
          <p:nvPr/>
        </p:nvSpPr>
        <p:spPr>
          <a:xfrm>
            <a:off x="2815800" y="28945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1</a:t>
            </a:r>
            <a:endParaRPr b="1" sz="1600">
              <a:solidFill>
                <a:srgbClr val="980000"/>
              </a:solidFill>
            </a:endParaRPr>
          </a:p>
        </p:txBody>
      </p:sp>
      <p:sp>
        <p:nvSpPr>
          <p:cNvPr id="761" name="Google Shape;761;p60"/>
          <p:cNvSpPr/>
          <p:nvPr/>
        </p:nvSpPr>
        <p:spPr>
          <a:xfrm>
            <a:off x="1556950" y="28945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60"/>
          <p:cNvSpPr/>
          <p:nvPr/>
        </p:nvSpPr>
        <p:spPr>
          <a:xfrm>
            <a:off x="1556950" y="34655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3" name="Google Shape;763;p60"/>
          <p:cNvCxnSpPr/>
          <p:nvPr/>
        </p:nvCxnSpPr>
        <p:spPr>
          <a:xfrm>
            <a:off x="1773250" y="3002725"/>
            <a:ext cx="1032000" cy="254700"/>
          </a:xfrm>
          <a:prstGeom prst="straightConnector1">
            <a:avLst/>
          </a:prstGeom>
          <a:noFill/>
          <a:ln cap="flat" cmpd="sng" w="9525">
            <a:solidFill>
              <a:schemeClr val="dk1"/>
            </a:solidFill>
            <a:prstDash val="solid"/>
            <a:round/>
            <a:headEnd len="med" w="med" type="none"/>
            <a:tailEnd len="med" w="med" type="triangle"/>
          </a:ln>
        </p:spPr>
      </p:cxnSp>
      <p:cxnSp>
        <p:nvCxnSpPr>
          <p:cNvPr id="764" name="Google Shape;764;p60"/>
          <p:cNvCxnSpPr>
            <a:stCxn id="762" idx="6"/>
          </p:cNvCxnSpPr>
          <p:nvPr/>
        </p:nvCxnSpPr>
        <p:spPr>
          <a:xfrm flipH="1" rot="10800000">
            <a:off x="1773250" y="3476510"/>
            <a:ext cx="1060500" cy="97200"/>
          </a:xfrm>
          <a:prstGeom prst="straightConnector1">
            <a:avLst/>
          </a:prstGeom>
          <a:noFill/>
          <a:ln cap="flat" cmpd="sng" w="9525">
            <a:solidFill>
              <a:schemeClr val="dk1"/>
            </a:solidFill>
            <a:prstDash val="solid"/>
            <a:round/>
            <a:headEnd len="med" w="med" type="none"/>
            <a:tailEnd len="med" w="med" type="triangle"/>
          </a:ln>
        </p:spPr>
      </p:cxnSp>
      <p:sp>
        <p:nvSpPr>
          <p:cNvPr id="765" name="Google Shape;765;p60"/>
          <p:cNvSpPr txBox="1"/>
          <p:nvPr/>
        </p:nvSpPr>
        <p:spPr>
          <a:xfrm>
            <a:off x="84949" y="27797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has money</a:t>
            </a:r>
            <a:endParaRPr baseline="-25000"/>
          </a:p>
        </p:txBody>
      </p:sp>
      <p:sp>
        <p:nvSpPr>
          <p:cNvPr id="766" name="Google Shape;766;p60"/>
          <p:cNvSpPr txBox="1"/>
          <p:nvPr/>
        </p:nvSpPr>
        <p:spPr>
          <a:xfrm>
            <a:off x="223974" y="3357450"/>
            <a:ext cx="13509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out of gas</a:t>
            </a:r>
            <a:endParaRPr baseline="-25000"/>
          </a:p>
        </p:txBody>
      </p:sp>
      <p:sp>
        <p:nvSpPr>
          <p:cNvPr id="767" name="Google Shape;767;p60"/>
          <p:cNvSpPr txBox="1"/>
          <p:nvPr/>
        </p:nvSpPr>
        <p:spPr>
          <a:xfrm>
            <a:off x="2057903" y="3655541"/>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baseline="-25000"/>
          </a:p>
        </p:txBody>
      </p:sp>
      <p:sp>
        <p:nvSpPr>
          <p:cNvPr id="768" name="Google Shape;768;p60"/>
          <p:cNvSpPr txBox="1"/>
          <p:nvPr/>
        </p:nvSpPr>
        <p:spPr>
          <a:xfrm>
            <a:off x="2057903" y="2825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69" name="Google Shape;769;p60"/>
          <p:cNvSpPr txBox="1"/>
          <p:nvPr/>
        </p:nvSpPr>
        <p:spPr>
          <a:xfrm>
            <a:off x="4168600" y="3067300"/>
            <a:ext cx="106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buy supplies</a:t>
            </a:r>
            <a:endParaRPr/>
          </a:p>
        </p:txBody>
      </p:sp>
      <p:cxnSp>
        <p:nvCxnSpPr>
          <p:cNvPr id="770" name="Google Shape;770;p60"/>
          <p:cNvCxnSpPr>
            <a:stCxn id="760" idx="6"/>
            <a:endCxn id="769" idx="1"/>
          </p:cNvCxnSpPr>
          <p:nvPr/>
        </p:nvCxnSpPr>
        <p:spPr>
          <a:xfrm flipH="1" rot="10800000">
            <a:off x="3789000" y="3375175"/>
            <a:ext cx="379500" cy="6000"/>
          </a:xfrm>
          <a:prstGeom prst="straightConnector1">
            <a:avLst/>
          </a:prstGeom>
          <a:noFill/>
          <a:ln cap="flat" cmpd="sng" w="9525">
            <a:solidFill>
              <a:schemeClr val="dk1"/>
            </a:solidFill>
            <a:prstDash val="solid"/>
            <a:round/>
            <a:headEnd len="med" w="med" type="none"/>
            <a:tailEnd len="med" w="med" type="triangle"/>
          </a:ln>
        </p:spPr>
      </p:cxnSp>
      <p:sp>
        <p:nvSpPr>
          <p:cNvPr id="771" name="Google Shape;771;p60"/>
          <p:cNvSpPr/>
          <p:nvPr/>
        </p:nvSpPr>
        <p:spPr>
          <a:xfrm>
            <a:off x="1556950" y="3998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2" name="Google Shape;772;p60"/>
          <p:cNvCxnSpPr>
            <a:stCxn id="771" idx="6"/>
            <a:endCxn id="760" idx="3"/>
          </p:cNvCxnSpPr>
          <p:nvPr/>
        </p:nvCxnSpPr>
        <p:spPr>
          <a:xfrm flipH="1" rot="10800000">
            <a:off x="1773250" y="3725210"/>
            <a:ext cx="1185000" cy="381900"/>
          </a:xfrm>
          <a:prstGeom prst="straightConnector1">
            <a:avLst/>
          </a:prstGeom>
          <a:noFill/>
          <a:ln cap="flat" cmpd="sng" w="9525">
            <a:solidFill>
              <a:schemeClr val="dk1"/>
            </a:solidFill>
            <a:prstDash val="solid"/>
            <a:round/>
            <a:headEnd len="med" w="med" type="none"/>
            <a:tailEnd len="med" w="med" type="triangle"/>
          </a:ln>
        </p:spPr>
      </p:cxnSp>
      <p:sp>
        <p:nvSpPr>
          <p:cNvPr id="773" name="Google Shape;773;p60"/>
          <p:cNvSpPr txBox="1"/>
          <p:nvPr/>
        </p:nvSpPr>
        <p:spPr>
          <a:xfrm>
            <a:off x="193074" y="3890850"/>
            <a:ext cx="13818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flat tire</a:t>
            </a:r>
            <a:endParaRPr baseline="-25000"/>
          </a:p>
        </p:txBody>
      </p:sp>
      <p:sp>
        <p:nvSpPr>
          <p:cNvPr id="774" name="Google Shape;774;p60"/>
          <p:cNvSpPr txBox="1"/>
          <p:nvPr/>
        </p:nvSpPr>
        <p:spPr>
          <a:xfrm>
            <a:off x="2057903" y="3251372"/>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baseline="-25000"/>
          </a:p>
        </p:txBody>
      </p:sp>
      <p:sp>
        <p:nvSpPr>
          <p:cNvPr id="775" name="Google Shape;775;p60"/>
          <p:cNvSpPr/>
          <p:nvPr/>
        </p:nvSpPr>
        <p:spPr>
          <a:xfrm>
            <a:off x="1556950" y="2437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6" name="Google Shape;776;p60"/>
          <p:cNvCxnSpPr>
            <a:endCxn id="760" idx="1"/>
          </p:cNvCxnSpPr>
          <p:nvPr/>
        </p:nvCxnSpPr>
        <p:spPr>
          <a:xfrm>
            <a:off x="1773322" y="2545397"/>
            <a:ext cx="1185000" cy="491700"/>
          </a:xfrm>
          <a:prstGeom prst="straightConnector1">
            <a:avLst/>
          </a:prstGeom>
          <a:noFill/>
          <a:ln cap="flat" cmpd="sng" w="9525">
            <a:solidFill>
              <a:schemeClr val="dk1"/>
            </a:solidFill>
            <a:prstDash val="solid"/>
            <a:round/>
            <a:headEnd len="med" w="med" type="none"/>
            <a:tailEnd len="med" w="med" type="triangle"/>
          </a:ln>
        </p:spPr>
      </p:cxnSp>
      <p:sp>
        <p:nvSpPr>
          <p:cNvPr id="777" name="Google Shape;777;p60"/>
          <p:cNvSpPr txBox="1"/>
          <p:nvPr/>
        </p:nvSpPr>
        <p:spPr>
          <a:xfrm>
            <a:off x="84949" y="23225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store is open</a:t>
            </a:r>
            <a:endParaRPr baseline="-25000"/>
          </a:p>
        </p:txBody>
      </p:sp>
      <p:sp>
        <p:nvSpPr>
          <p:cNvPr id="778" name="Google Shape;778;p60"/>
          <p:cNvSpPr txBox="1"/>
          <p:nvPr/>
        </p:nvSpPr>
        <p:spPr>
          <a:xfrm>
            <a:off x="2057903" y="23678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779" name="Google Shape;779;p60"/>
          <p:cNvSpPr txBox="1"/>
          <p:nvPr/>
        </p:nvSpPr>
        <p:spPr>
          <a:xfrm>
            <a:off x="1393725" y="4409775"/>
            <a:ext cx="7627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Use the values in the table to update the sum and output columns. </a:t>
            </a:r>
            <a:endParaRPr b="1"/>
          </a:p>
          <a:p>
            <a:pPr indent="0" lvl="0" marL="0" rtl="0" algn="l">
              <a:spcBef>
                <a:spcPts val="0"/>
              </a:spcBef>
              <a:spcAft>
                <a:spcPts val="0"/>
              </a:spcAft>
              <a:buNone/>
            </a:pPr>
            <a:r>
              <a:rPr lang="en"/>
              <a:t>Note: this unit has a threshold for the sum to be greater than 1 to trigger can buy supplies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Numbers as inputs</a:t>
            </a:r>
            <a:endParaRPr/>
          </a:p>
        </p:txBody>
      </p:sp>
      <p:sp>
        <p:nvSpPr>
          <p:cNvPr id="785" name="Google Shape;785;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Integer instead of binary inputs: Can we go on a class trip?</a:t>
            </a:r>
            <a:endParaRPr/>
          </a:p>
        </p:txBody>
      </p:sp>
      <p:sp>
        <p:nvSpPr>
          <p:cNvPr id="791" name="Google Shape;791;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number of adults must exceed the number of children.</a:t>
            </a:r>
            <a:br>
              <a:rPr lang="en"/>
            </a:br>
            <a:r>
              <a:rPr lang="en"/>
              <a:t>Inputs to the network are integers.</a:t>
            </a:r>
            <a:endParaRPr/>
          </a:p>
        </p:txBody>
      </p:sp>
      <p:sp>
        <p:nvSpPr>
          <p:cNvPr id="792" name="Google Shape;792;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3" name="Google Shape;793;p62"/>
          <p:cNvSpPr/>
          <p:nvPr/>
        </p:nvSpPr>
        <p:spPr>
          <a:xfrm>
            <a:off x="2471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62"/>
          <p:cNvSpPr/>
          <p:nvPr/>
        </p:nvSpPr>
        <p:spPr>
          <a:xfrm>
            <a:off x="2471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5" name="Google Shape;795;p62"/>
          <p:cNvCxnSpPr>
            <a:stCxn id="793" idx="6"/>
          </p:cNvCxnSpPr>
          <p:nvPr/>
        </p:nvCxnSpPr>
        <p:spPr>
          <a:xfrm>
            <a:off x="2687650" y="23169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796" name="Google Shape;796;p62"/>
          <p:cNvCxnSpPr/>
          <p:nvPr/>
        </p:nvCxnSpPr>
        <p:spPr>
          <a:xfrm flipH="1" rot="10800000">
            <a:off x="2687650" y="28497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797" name="Google Shape;797;p62"/>
          <p:cNvSpPr txBox="1"/>
          <p:nvPr/>
        </p:nvSpPr>
        <p:spPr>
          <a:xfrm>
            <a:off x="1498245" y="2093967"/>
            <a:ext cx="1014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 adults</a:t>
            </a:r>
            <a:endParaRPr baseline="-25000"/>
          </a:p>
        </p:txBody>
      </p:sp>
      <p:sp>
        <p:nvSpPr>
          <p:cNvPr id="798" name="Google Shape;798;p62"/>
          <p:cNvSpPr txBox="1"/>
          <p:nvPr/>
        </p:nvSpPr>
        <p:spPr>
          <a:xfrm>
            <a:off x="1266576" y="2863690"/>
            <a:ext cx="12459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 children</a:t>
            </a:r>
            <a:endParaRPr baseline="-25000"/>
          </a:p>
        </p:txBody>
      </p:sp>
      <p:sp>
        <p:nvSpPr>
          <p:cNvPr id="799" name="Google Shape;799;p62"/>
          <p:cNvSpPr txBox="1"/>
          <p:nvPr/>
        </p:nvSpPr>
        <p:spPr>
          <a:xfrm>
            <a:off x="2964580" y="28791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800" name="Google Shape;800;p62"/>
          <p:cNvSpPr txBox="1"/>
          <p:nvPr/>
        </p:nvSpPr>
        <p:spPr>
          <a:xfrm>
            <a:off x="2972303" y="20630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801" name="Google Shape;801;p62"/>
          <p:cNvSpPr txBox="1"/>
          <p:nvPr/>
        </p:nvSpPr>
        <p:spPr>
          <a:xfrm>
            <a:off x="5083000" y="2495275"/>
            <a:ext cx="80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go</a:t>
            </a:r>
            <a:endParaRPr/>
          </a:p>
        </p:txBody>
      </p:sp>
      <p:cxnSp>
        <p:nvCxnSpPr>
          <p:cNvPr id="802" name="Google Shape;802;p62"/>
          <p:cNvCxnSpPr>
            <a:stCxn id="803" idx="6"/>
            <a:endCxn id="801" idx="1"/>
          </p:cNvCxnSpPr>
          <p:nvPr/>
        </p:nvCxnSpPr>
        <p:spPr>
          <a:xfrm>
            <a:off x="4703500" y="2695375"/>
            <a:ext cx="379500" cy="0"/>
          </a:xfrm>
          <a:prstGeom prst="straightConnector1">
            <a:avLst/>
          </a:prstGeom>
          <a:noFill/>
          <a:ln cap="flat" cmpd="sng" w="9525">
            <a:solidFill>
              <a:schemeClr val="dk2"/>
            </a:solidFill>
            <a:prstDash val="solid"/>
            <a:round/>
            <a:headEnd len="med" w="med" type="none"/>
            <a:tailEnd len="med" w="med" type="triangle"/>
          </a:ln>
        </p:spPr>
      </p:cxnSp>
      <p:sp>
        <p:nvSpPr>
          <p:cNvPr id="804" name="Google Shape;804;p62"/>
          <p:cNvSpPr/>
          <p:nvPr/>
        </p:nvSpPr>
        <p:spPr>
          <a:xfrm>
            <a:off x="3730200" y="2208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graphicFrame>
        <p:nvGraphicFramePr>
          <p:cNvPr id="805" name="Google Shape;805;p62"/>
          <p:cNvGraphicFramePr/>
          <p:nvPr/>
        </p:nvGraphicFramePr>
        <p:xfrm>
          <a:off x="6529650" y="1997000"/>
          <a:ext cx="3000000" cy="3000000"/>
        </p:xfrm>
        <a:graphic>
          <a:graphicData uri="http://schemas.openxmlformats.org/drawingml/2006/table">
            <a:tbl>
              <a:tblPr>
                <a:noFill/>
                <a:tableStyleId>{E2568D71-D2B9-491D-BD23-BBBF9B4F9A23}</a:tableStyleId>
              </a:tblPr>
              <a:tblGrid>
                <a:gridCol w="581275"/>
                <a:gridCol w="573550"/>
                <a:gridCol w="426850"/>
                <a:gridCol w="550375"/>
              </a:tblGrid>
              <a:tr h="12700">
                <a:tc>
                  <a:txBody>
                    <a:bodyPr/>
                    <a:lstStyle/>
                    <a:p>
                      <a:pPr indent="0" lvl="0" marL="0" rtl="0" algn="l">
                        <a:spcBef>
                          <a:spcPts val="0"/>
                        </a:spcBef>
                        <a:spcAft>
                          <a:spcPts val="0"/>
                        </a:spcAft>
                        <a:buNone/>
                      </a:pPr>
                      <a:r>
                        <a:rPr lang="en" sz="1100"/>
                        <a:t># of Adults</a:t>
                      </a:r>
                      <a:endParaRPr sz="1100"/>
                    </a:p>
                  </a:txBody>
                  <a:tcPr marT="63500" marB="63500" marR="63500" marL="63500">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 of Children</a:t>
                      </a:r>
                      <a:endParaRPr sz="1100"/>
                    </a:p>
                  </a:txBody>
                  <a:tcPr marT="63500" marB="63500" marR="63500" marL="63500">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100"/>
                        <a:t>Sum</a:t>
                      </a:r>
                      <a:endParaRPr sz="1100"/>
                    </a:p>
                  </a:txBody>
                  <a:tcPr marT="63500" marB="63500" marR="63500" marL="63500"/>
                </a:tc>
                <a:tc>
                  <a:txBody>
                    <a:bodyPr/>
                    <a:lstStyle/>
                    <a:p>
                      <a:pPr indent="0" lvl="0" marL="0" rtl="0" algn="ctr">
                        <a:spcBef>
                          <a:spcPts val="0"/>
                        </a:spcBef>
                        <a:spcAft>
                          <a:spcPts val="0"/>
                        </a:spcAft>
                        <a:buNone/>
                      </a:pPr>
                      <a:r>
                        <a:rPr lang="en" sz="1100"/>
                        <a:t>Output</a:t>
                      </a:r>
                      <a:endParaRPr sz="1100"/>
                    </a:p>
                  </a:txBody>
                  <a:tcPr marT="63500" marB="63500" marR="63500" marL="63500"/>
                </a:tc>
              </a:tr>
              <a:tr h="12700">
                <a:tc>
                  <a:txBody>
                    <a:bodyPr/>
                    <a:lstStyle/>
                    <a:p>
                      <a:pPr indent="0" lvl="0" marL="0" rtl="0" algn="l">
                        <a:spcBef>
                          <a:spcPts val="0"/>
                        </a:spcBef>
                        <a:spcAft>
                          <a:spcPts val="0"/>
                        </a:spcAft>
                        <a:buNone/>
                      </a:pPr>
                      <a:r>
                        <a:rPr lang="en"/>
                        <a:t>1</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a:t>2</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a:t>3</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a:t>5</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ctr">
                        <a:spcBef>
                          <a:spcPts val="0"/>
                        </a:spcBef>
                        <a:spcAft>
                          <a:spcPts val="0"/>
                        </a:spcAft>
                        <a:buNone/>
                      </a:pPr>
                      <a:r>
                        <a:t/>
                      </a:r>
                      <a:endParaRPr sz="1100"/>
                    </a:p>
                  </a:txBody>
                  <a:tcPr marT="63500" marB="63500" marR="63500" marL="63500"/>
                </a:tc>
              </a:tr>
              <a:tr h="12700">
                <a:tc>
                  <a:txBody>
                    <a:bodyPr/>
                    <a:lstStyle/>
                    <a:p>
                      <a:pPr indent="0" lvl="0" marL="0" rtl="0" algn="l">
                        <a:spcBef>
                          <a:spcPts val="0"/>
                        </a:spcBef>
                        <a:spcAft>
                          <a:spcPts val="0"/>
                        </a:spcAft>
                        <a:buNone/>
                      </a:pPr>
                      <a:r>
                        <a:rPr lang="en"/>
                        <a:t>7</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ctr">
                        <a:spcBef>
                          <a:spcPts val="0"/>
                        </a:spcBef>
                        <a:spcAft>
                          <a:spcPts val="0"/>
                        </a:spcAft>
                        <a:buNone/>
                      </a:pPr>
                      <a:r>
                        <a:t/>
                      </a:r>
                      <a:endParaRPr sz="1100"/>
                    </a:p>
                  </a:txBody>
                  <a:tcPr marT="63500" marB="63500" marR="63500" marL="63500"/>
                </a:tc>
              </a:tr>
            </a:tbl>
          </a:graphicData>
        </a:graphic>
      </p:graphicFrame>
      <p:sp>
        <p:nvSpPr>
          <p:cNvPr id="806" name="Google Shape;806;p62"/>
          <p:cNvSpPr txBox="1"/>
          <p:nvPr/>
        </p:nvSpPr>
        <p:spPr>
          <a:xfrm>
            <a:off x="500625" y="4409775"/>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Use the values in the table and weights in the diagram to update the sum and output columns. </a:t>
            </a:r>
            <a:endParaRPr b="1"/>
          </a:p>
          <a:p>
            <a:pPr indent="0" lvl="0" marL="0" rtl="0" algn="l">
              <a:spcBef>
                <a:spcPts val="0"/>
              </a:spcBef>
              <a:spcAft>
                <a:spcPts val="0"/>
              </a:spcAft>
              <a:buNone/>
            </a:pPr>
            <a:r>
              <a:rPr lang="en"/>
              <a:t>Note: this unit has a threshold for the sum to be greater than 0 to trigger can go</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Exercise: Can I go on this roller coaster?</a:t>
            </a:r>
            <a:endParaRPr/>
          </a:p>
        </p:txBody>
      </p:sp>
      <p:sp>
        <p:nvSpPr>
          <p:cNvPr id="812" name="Google Shape;812;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You can go on the roller coaster if you have a ticket, are tall enough, and are not carrying any drink with you.</a:t>
            </a:r>
            <a:endParaRPr/>
          </a:p>
        </p:txBody>
      </p:sp>
      <p:sp>
        <p:nvSpPr>
          <p:cNvPr id="813" name="Google Shape;813;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14" name="Google Shape;814;p63"/>
          <p:cNvSpPr/>
          <p:nvPr/>
        </p:nvSpPr>
        <p:spPr>
          <a:xfrm>
            <a:off x="2815800" y="2437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a:solidFill>
                  <a:srgbClr val="980000"/>
                </a:solidFill>
              </a:rPr>
              <a:t>?</a:t>
            </a:r>
            <a:endParaRPr b="1">
              <a:solidFill>
                <a:srgbClr val="980000"/>
              </a:solidFill>
            </a:endParaRPr>
          </a:p>
        </p:txBody>
      </p:sp>
      <p:sp>
        <p:nvSpPr>
          <p:cNvPr id="815" name="Google Shape;815;p63"/>
          <p:cNvSpPr/>
          <p:nvPr/>
        </p:nvSpPr>
        <p:spPr>
          <a:xfrm>
            <a:off x="1556950" y="2284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3"/>
          <p:cNvSpPr/>
          <p:nvPr/>
        </p:nvSpPr>
        <p:spPr>
          <a:xfrm>
            <a:off x="1556950" y="2855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7" name="Google Shape;817;p63"/>
          <p:cNvCxnSpPr/>
          <p:nvPr/>
        </p:nvCxnSpPr>
        <p:spPr>
          <a:xfrm>
            <a:off x="1773250" y="2393125"/>
            <a:ext cx="1068900" cy="356400"/>
          </a:xfrm>
          <a:prstGeom prst="straightConnector1">
            <a:avLst/>
          </a:prstGeom>
          <a:noFill/>
          <a:ln cap="flat" cmpd="sng" w="9525">
            <a:solidFill>
              <a:schemeClr val="dk1"/>
            </a:solidFill>
            <a:prstDash val="solid"/>
            <a:round/>
            <a:headEnd len="med" w="med" type="none"/>
            <a:tailEnd len="med" w="med" type="triangle"/>
          </a:ln>
        </p:spPr>
      </p:cxnSp>
      <p:cxnSp>
        <p:nvCxnSpPr>
          <p:cNvPr id="818" name="Google Shape;818;p63"/>
          <p:cNvCxnSpPr>
            <a:stCxn id="816" idx="6"/>
          </p:cNvCxnSpPr>
          <p:nvPr/>
        </p:nvCxnSpPr>
        <p:spPr>
          <a:xfrm flipH="1" rot="10800000">
            <a:off x="1773250" y="2924210"/>
            <a:ext cx="1042500" cy="39900"/>
          </a:xfrm>
          <a:prstGeom prst="straightConnector1">
            <a:avLst/>
          </a:prstGeom>
          <a:noFill/>
          <a:ln cap="flat" cmpd="sng" w="9525">
            <a:solidFill>
              <a:schemeClr val="dk1"/>
            </a:solidFill>
            <a:prstDash val="solid"/>
            <a:round/>
            <a:headEnd len="med" w="med" type="none"/>
            <a:tailEnd len="med" w="med" type="triangle"/>
          </a:ln>
        </p:spPr>
      </p:cxnSp>
      <p:sp>
        <p:nvSpPr>
          <p:cNvPr id="819" name="Google Shape;819;p63"/>
          <p:cNvSpPr txBox="1"/>
          <p:nvPr/>
        </p:nvSpPr>
        <p:spPr>
          <a:xfrm>
            <a:off x="84949" y="2170175"/>
            <a:ext cx="1482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have ticket</a:t>
            </a:r>
            <a:endParaRPr baseline="-25000"/>
          </a:p>
        </p:txBody>
      </p:sp>
      <p:sp>
        <p:nvSpPr>
          <p:cNvPr id="820" name="Google Shape;820;p63"/>
          <p:cNvSpPr txBox="1"/>
          <p:nvPr/>
        </p:nvSpPr>
        <p:spPr>
          <a:xfrm>
            <a:off x="311700" y="2747850"/>
            <a:ext cx="1263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carrying drink</a:t>
            </a:r>
            <a:endParaRPr baseline="-25000"/>
          </a:p>
        </p:txBody>
      </p:sp>
      <p:sp>
        <p:nvSpPr>
          <p:cNvPr id="821" name="Google Shape;821;p63"/>
          <p:cNvSpPr txBox="1"/>
          <p:nvPr/>
        </p:nvSpPr>
        <p:spPr>
          <a:xfrm>
            <a:off x="2057903" y="2968711"/>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3</a:t>
            </a:r>
            <a:endParaRPr baseline="-25000"/>
          </a:p>
        </p:txBody>
      </p:sp>
      <p:sp>
        <p:nvSpPr>
          <p:cNvPr id="822" name="Google Shape;822;p63"/>
          <p:cNvSpPr txBox="1"/>
          <p:nvPr/>
        </p:nvSpPr>
        <p:spPr>
          <a:xfrm>
            <a:off x="2057903" y="2215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823" name="Google Shape;823;p63"/>
          <p:cNvSpPr txBox="1"/>
          <p:nvPr/>
        </p:nvSpPr>
        <p:spPr>
          <a:xfrm>
            <a:off x="4168600" y="2610100"/>
            <a:ext cx="106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go</a:t>
            </a:r>
            <a:br>
              <a:rPr lang="en"/>
            </a:br>
            <a:r>
              <a:rPr lang="en"/>
              <a:t>on ride</a:t>
            </a:r>
            <a:endParaRPr/>
          </a:p>
        </p:txBody>
      </p:sp>
      <p:cxnSp>
        <p:nvCxnSpPr>
          <p:cNvPr id="824" name="Google Shape;824;p63"/>
          <p:cNvCxnSpPr>
            <a:stCxn id="814" idx="6"/>
            <a:endCxn id="823" idx="1"/>
          </p:cNvCxnSpPr>
          <p:nvPr/>
        </p:nvCxnSpPr>
        <p:spPr>
          <a:xfrm flipH="1" rot="10800000">
            <a:off x="3789000" y="2917975"/>
            <a:ext cx="379500" cy="6000"/>
          </a:xfrm>
          <a:prstGeom prst="straightConnector1">
            <a:avLst/>
          </a:prstGeom>
          <a:noFill/>
          <a:ln cap="flat" cmpd="sng" w="9525">
            <a:solidFill>
              <a:schemeClr val="dk1"/>
            </a:solidFill>
            <a:prstDash val="solid"/>
            <a:round/>
            <a:headEnd len="med" w="med" type="none"/>
            <a:tailEnd len="med" w="med" type="triangle"/>
          </a:ln>
        </p:spPr>
      </p:cxnSp>
      <p:sp>
        <p:nvSpPr>
          <p:cNvPr id="825" name="Google Shape;825;p63"/>
          <p:cNvSpPr/>
          <p:nvPr/>
        </p:nvSpPr>
        <p:spPr>
          <a:xfrm>
            <a:off x="1556950" y="33893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6" name="Google Shape;826;p63"/>
          <p:cNvCxnSpPr>
            <a:stCxn id="825" idx="6"/>
          </p:cNvCxnSpPr>
          <p:nvPr/>
        </p:nvCxnSpPr>
        <p:spPr>
          <a:xfrm flipH="1" rot="10800000">
            <a:off x="1773250" y="3120110"/>
            <a:ext cx="1099800" cy="377400"/>
          </a:xfrm>
          <a:prstGeom prst="straightConnector1">
            <a:avLst/>
          </a:prstGeom>
          <a:noFill/>
          <a:ln cap="flat" cmpd="sng" w="9525">
            <a:solidFill>
              <a:schemeClr val="dk1"/>
            </a:solidFill>
            <a:prstDash val="solid"/>
            <a:round/>
            <a:headEnd len="med" w="med" type="none"/>
            <a:tailEnd len="med" w="med" type="triangle"/>
          </a:ln>
        </p:spPr>
      </p:cxnSp>
      <p:sp>
        <p:nvSpPr>
          <p:cNvPr id="827" name="Google Shape;827;p63"/>
          <p:cNvSpPr txBox="1"/>
          <p:nvPr/>
        </p:nvSpPr>
        <p:spPr>
          <a:xfrm>
            <a:off x="362975" y="3281250"/>
            <a:ext cx="1212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tall enough</a:t>
            </a:r>
            <a:endParaRPr baseline="-25000"/>
          </a:p>
        </p:txBody>
      </p:sp>
      <p:sp>
        <p:nvSpPr>
          <p:cNvPr id="828" name="Google Shape;828;p63"/>
          <p:cNvSpPr txBox="1"/>
          <p:nvPr/>
        </p:nvSpPr>
        <p:spPr>
          <a:xfrm>
            <a:off x="2057903" y="2603157"/>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829" name="Google Shape;829;p63"/>
          <p:cNvSpPr txBox="1"/>
          <p:nvPr/>
        </p:nvSpPr>
        <p:spPr>
          <a:xfrm>
            <a:off x="1410325" y="4185850"/>
            <a:ext cx="6702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What should the values of w</a:t>
            </a:r>
            <a:r>
              <a:rPr baseline="-25000" lang="en">
                <a:solidFill>
                  <a:srgbClr val="980000"/>
                </a:solidFill>
              </a:rPr>
              <a:t>1</a:t>
            </a:r>
            <a:r>
              <a:rPr lang="en">
                <a:solidFill>
                  <a:srgbClr val="980000"/>
                </a:solidFill>
              </a:rPr>
              <a:t>, w</a:t>
            </a:r>
            <a:r>
              <a:rPr baseline="-25000" lang="en">
                <a:solidFill>
                  <a:srgbClr val="980000"/>
                </a:solidFill>
              </a:rPr>
              <a:t>2</a:t>
            </a:r>
            <a:r>
              <a:rPr lang="en">
                <a:solidFill>
                  <a:srgbClr val="980000"/>
                </a:solidFill>
              </a:rPr>
              <a:t>, w</a:t>
            </a:r>
            <a:r>
              <a:rPr baseline="-25000" lang="en">
                <a:solidFill>
                  <a:srgbClr val="980000"/>
                </a:solidFill>
              </a:rPr>
              <a:t>3</a:t>
            </a:r>
            <a:r>
              <a:rPr lang="en">
                <a:solidFill>
                  <a:srgbClr val="980000"/>
                </a:solidFill>
              </a:rPr>
              <a:t>, and the threshold be?</a:t>
            </a:r>
            <a:endParaRPr>
              <a:solidFill>
                <a:srgbClr val="980000"/>
              </a:solidFill>
            </a:endParaRPr>
          </a:p>
          <a:p>
            <a:pPr indent="0" lvl="0" marL="0" rtl="0" algn="l">
              <a:spcBef>
                <a:spcPts val="0"/>
              </a:spcBef>
              <a:spcAft>
                <a:spcPts val="0"/>
              </a:spcAft>
              <a:buNone/>
            </a:pPr>
            <a:r>
              <a:t/>
            </a:r>
            <a:endParaRPr>
              <a:solidFill>
                <a:srgbClr val="980000"/>
              </a:solidFill>
            </a:endParaRPr>
          </a:p>
          <a:p>
            <a:pPr indent="0" lvl="0" marL="0" rtl="0" algn="l">
              <a:spcBef>
                <a:spcPts val="0"/>
              </a:spcBef>
              <a:spcAft>
                <a:spcPts val="0"/>
              </a:spcAft>
              <a:buNone/>
            </a:pPr>
            <a:r>
              <a:rPr i="1" lang="en">
                <a:solidFill>
                  <a:schemeClr val="dk1"/>
                </a:solidFill>
              </a:rPr>
              <a:t>Hint: Choose numbers positive or </a:t>
            </a:r>
            <a:r>
              <a:rPr i="1" lang="en">
                <a:solidFill>
                  <a:schemeClr val="dk1"/>
                </a:solidFill>
              </a:rPr>
              <a:t>negative</a:t>
            </a:r>
            <a:r>
              <a:rPr i="1" lang="en">
                <a:solidFill>
                  <a:schemeClr val="dk1"/>
                </a:solidFill>
              </a:rPr>
              <a:t> for the weights and threshold values</a:t>
            </a:r>
            <a:endParaRPr i="1">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Draw a neural network to answer this question:</a:t>
            </a:r>
            <a:endParaRPr b="1"/>
          </a:p>
          <a:p>
            <a:pPr indent="0" lvl="0" marL="0" rtl="0" algn="l">
              <a:spcBef>
                <a:spcPts val="0"/>
              </a:spcBef>
              <a:spcAft>
                <a:spcPts val="0"/>
              </a:spcAft>
              <a:buNone/>
            </a:pPr>
            <a:r>
              <a:rPr lang="en"/>
              <a:t>Exercise: Should we break for lunch?</a:t>
            </a:r>
            <a:endParaRPr/>
          </a:p>
        </p:txBody>
      </p:sp>
      <p:sp>
        <p:nvSpPr>
          <p:cNvPr id="835" name="Google Shape;835;p64"/>
          <p:cNvSpPr txBox="1"/>
          <p:nvPr>
            <p:ph idx="1" type="body"/>
          </p:nvPr>
        </p:nvSpPr>
        <p:spPr>
          <a:xfrm>
            <a:off x="311700" y="1360550"/>
            <a:ext cx="8520600" cy="3208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There are 5 team members (</a:t>
            </a:r>
            <a:r>
              <a:rPr lang="en">
                <a:solidFill>
                  <a:schemeClr val="dk1"/>
                </a:solidFill>
              </a:rPr>
              <a:t>x</a:t>
            </a:r>
            <a:r>
              <a:rPr baseline="-25000" lang="en">
                <a:solidFill>
                  <a:schemeClr val="dk1"/>
                </a:solidFill>
              </a:rPr>
              <a:t>1</a:t>
            </a:r>
            <a:r>
              <a:rPr lang="en">
                <a:solidFill>
                  <a:schemeClr val="dk1"/>
                </a:solidFill>
              </a:rPr>
              <a:t> </a:t>
            </a:r>
            <a:r>
              <a:rPr lang="en">
                <a:solidFill>
                  <a:schemeClr val="dk1"/>
                </a:solidFill>
              </a:rPr>
              <a:t>x</a:t>
            </a:r>
            <a:r>
              <a:rPr baseline="-25000" lang="en">
                <a:solidFill>
                  <a:schemeClr val="dk1"/>
                </a:solidFill>
              </a:rPr>
              <a:t>2</a:t>
            </a:r>
            <a:r>
              <a:rPr lang="en">
                <a:solidFill>
                  <a:schemeClr val="dk1"/>
                </a:solidFill>
              </a:rPr>
              <a:t>, </a:t>
            </a:r>
            <a:r>
              <a:rPr lang="en">
                <a:solidFill>
                  <a:schemeClr val="dk1"/>
                </a:solidFill>
              </a:rPr>
              <a:t>x</a:t>
            </a:r>
            <a:r>
              <a:rPr baseline="-25000" lang="en">
                <a:solidFill>
                  <a:schemeClr val="dk1"/>
                </a:solidFill>
              </a:rPr>
              <a:t>3</a:t>
            </a:r>
            <a:r>
              <a:rPr lang="en">
                <a:solidFill>
                  <a:schemeClr val="dk1"/>
                </a:solidFill>
              </a:rPr>
              <a:t>, </a:t>
            </a:r>
            <a:r>
              <a:rPr lang="en">
                <a:solidFill>
                  <a:schemeClr val="dk1"/>
                </a:solidFill>
              </a:rPr>
              <a:t>x</a:t>
            </a:r>
            <a:r>
              <a:rPr baseline="-25000" lang="en">
                <a:solidFill>
                  <a:schemeClr val="dk1"/>
                </a:solidFill>
              </a:rPr>
              <a:t>4</a:t>
            </a:r>
            <a:r>
              <a:rPr lang="en">
                <a:solidFill>
                  <a:schemeClr val="dk1"/>
                </a:solidFill>
              </a:rPr>
              <a:t>, x</a:t>
            </a:r>
            <a:r>
              <a:rPr baseline="-25000" lang="en">
                <a:solidFill>
                  <a:schemeClr val="dk1"/>
                </a:solidFill>
              </a:rPr>
              <a:t>5</a:t>
            </a:r>
            <a:r>
              <a:rPr lang="en">
                <a:solidFill>
                  <a:schemeClr val="dk1"/>
                </a:solidFill>
              </a:rPr>
              <a:t>)</a:t>
            </a:r>
            <a:endParaRPr>
              <a:solidFill>
                <a:schemeClr val="dk1"/>
              </a:solidFill>
            </a:endParaRPr>
          </a:p>
          <a:p>
            <a:pPr indent="0" lvl="0" marL="0" rtl="0" algn="l">
              <a:spcBef>
                <a:spcPts val="1200"/>
              </a:spcBef>
              <a:spcAft>
                <a:spcPts val="0"/>
              </a:spcAft>
              <a:buNone/>
            </a:pPr>
            <a:r>
              <a:rPr lang="en"/>
              <a:t>An </a:t>
            </a:r>
            <a:r>
              <a:rPr lang="en"/>
              <a:t>Input </a:t>
            </a:r>
            <a:r>
              <a:rPr lang="en"/>
              <a:t>x</a:t>
            </a:r>
            <a:r>
              <a:rPr baseline="-25000" lang="en"/>
              <a:t>i</a:t>
            </a:r>
            <a:r>
              <a:rPr lang="en"/>
              <a:t> </a:t>
            </a:r>
            <a:r>
              <a:rPr lang="en"/>
              <a:t>is 1 when team member i is hungry; otherwise it’s 0.</a:t>
            </a:r>
            <a:endParaRPr/>
          </a:p>
          <a:p>
            <a:pPr indent="0" lvl="0" marL="0" rtl="0" algn="l">
              <a:spcBef>
                <a:spcPts val="1200"/>
              </a:spcBef>
              <a:spcAft>
                <a:spcPts val="0"/>
              </a:spcAft>
              <a:buNone/>
            </a:pPr>
            <a:r>
              <a:rPr lang="en"/>
              <a:t>Break when more than half of the team is hungry.</a:t>
            </a:r>
            <a:endParaRPr/>
          </a:p>
          <a:p>
            <a:pPr indent="0" lvl="0" marL="0" rtl="0" algn="l">
              <a:spcBef>
                <a:spcPts val="1200"/>
              </a:spcBef>
              <a:spcAft>
                <a:spcPts val="1200"/>
              </a:spcAft>
              <a:buNone/>
            </a:pPr>
            <a:r>
              <a:rPr lang="en"/>
              <a:t>What should the neural network look like?</a:t>
            </a:r>
            <a:endParaRPr/>
          </a:p>
        </p:txBody>
      </p:sp>
      <p:sp>
        <p:nvSpPr>
          <p:cNvPr id="836" name="Google Shape;836;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Negative threshold: can I buy milk?</a:t>
            </a:r>
            <a:endParaRPr/>
          </a:p>
        </p:txBody>
      </p:sp>
      <p:sp>
        <p:nvSpPr>
          <p:cNvPr id="842" name="Google Shape;842;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If the supermarket is closed, buy at the bodega.</a:t>
            </a:r>
            <a:br>
              <a:rPr lang="en"/>
            </a:br>
            <a:r>
              <a:rPr lang="en"/>
              <a:t>If the bodega is closed, buy at the supermarket.</a:t>
            </a:r>
            <a:br>
              <a:rPr lang="en"/>
            </a:br>
            <a:r>
              <a:rPr lang="en"/>
              <a:t>If both are closed, cannot buy milk.</a:t>
            </a:r>
            <a:endParaRPr/>
          </a:p>
        </p:txBody>
      </p:sp>
      <p:sp>
        <p:nvSpPr>
          <p:cNvPr id="843" name="Google Shape;84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44" name="Google Shape;844;p65"/>
          <p:cNvSpPr/>
          <p:nvPr/>
        </p:nvSpPr>
        <p:spPr>
          <a:xfrm>
            <a:off x="5863800" y="2588875"/>
            <a:ext cx="1050300" cy="1050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500"/>
              <a:t>&gt;</a:t>
            </a:r>
            <a:r>
              <a:rPr b="1" lang="en" sz="1500">
                <a:solidFill>
                  <a:srgbClr val="980000"/>
                </a:solidFill>
              </a:rPr>
              <a:t>?</a:t>
            </a:r>
            <a:endParaRPr b="1" sz="1500">
              <a:solidFill>
                <a:srgbClr val="980000"/>
              </a:solidFill>
            </a:endParaRPr>
          </a:p>
        </p:txBody>
      </p:sp>
      <p:sp>
        <p:nvSpPr>
          <p:cNvPr id="845" name="Google Shape;845;p65"/>
          <p:cNvSpPr/>
          <p:nvPr/>
        </p:nvSpPr>
        <p:spPr>
          <a:xfrm>
            <a:off x="4604950" y="2665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65"/>
          <p:cNvSpPr/>
          <p:nvPr/>
        </p:nvSpPr>
        <p:spPr>
          <a:xfrm>
            <a:off x="4604950" y="3427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65"/>
          <p:cNvSpPr txBox="1"/>
          <p:nvPr/>
        </p:nvSpPr>
        <p:spPr>
          <a:xfrm>
            <a:off x="2905268" y="2490413"/>
            <a:ext cx="17514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supermarket</a:t>
            </a:r>
            <a:br>
              <a:rPr lang="en"/>
            </a:br>
            <a:r>
              <a:rPr lang="en"/>
              <a:t>closed</a:t>
            </a:r>
            <a:endParaRPr/>
          </a:p>
        </p:txBody>
      </p:sp>
      <p:cxnSp>
        <p:nvCxnSpPr>
          <p:cNvPr id="848" name="Google Shape;848;p65"/>
          <p:cNvCxnSpPr>
            <a:stCxn id="845" idx="6"/>
          </p:cNvCxnSpPr>
          <p:nvPr/>
        </p:nvCxnSpPr>
        <p:spPr>
          <a:xfrm>
            <a:off x="4821250" y="27741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849" name="Google Shape;849;p65"/>
          <p:cNvCxnSpPr/>
          <p:nvPr/>
        </p:nvCxnSpPr>
        <p:spPr>
          <a:xfrm flipH="1" rot="10800000">
            <a:off x="4821250" y="33069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850" name="Google Shape;850;p65"/>
          <p:cNvSpPr txBox="1"/>
          <p:nvPr/>
        </p:nvSpPr>
        <p:spPr>
          <a:xfrm>
            <a:off x="5105903" y="33131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851" name="Google Shape;851;p65"/>
          <p:cNvSpPr txBox="1"/>
          <p:nvPr/>
        </p:nvSpPr>
        <p:spPr>
          <a:xfrm>
            <a:off x="5105903" y="25202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852" name="Google Shape;852;p65"/>
          <p:cNvSpPr txBox="1"/>
          <p:nvPr/>
        </p:nvSpPr>
        <p:spPr>
          <a:xfrm>
            <a:off x="7216600" y="2800075"/>
            <a:ext cx="892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can buy milk</a:t>
            </a:r>
            <a:endParaRPr/>
          </a:p>
        </p:txBody>
      </p:sp>
      <p:cxnSp>
        <p:nvCxnSpPr>
          <p:cNvPr id="853" name="Google Shape;853;p65"/>
          <p:cNvCxnSpPr>
            <a:stCxn id="844" idx="6"/>
            <a:endCxn id="852" idx="1"/>
          </p:cNvCxnSpPr>
          <p:nvPr/>
        </p:nvCxnSpPr>
        <p:spPr>
          <a:xfrm flipH="1" rot="10800000">
            <a:off x="6914100" y="3108025"/>
            <a:ext cx="302400" cy="600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854" name="Google Shape;854;p65"/>
          <p:cNvGraphicFramePr/>
          <p:nvPr/>
        </p:nvGraphicFramePr>
        <p:xfrm>
          <a:off x="196575" y="2665975"/>
          <a:ext cx="3000000" cy="3000000"/>
        </p:xfrm>
        <a:graphic>
          <a:graphicData uri="http://schemas.openxmlformats.org/drawingml/2006/table">
            <a:tbl>
              <a:tblPr>
                <a:noFill/>
                <a:tableStyleId>{A6795A68-CF16-44FF-B4EF-B4ADABBD89F0}</a:tableStyleId>
              </a:tblPr>
              <a:tblGrid>
                <a:gridCol w="750800"/>
                <a:gridCol w="784675"/>
                <a:gridCol w="627675"/>
                <a:gridCol w="1013775"/>
              </a:tblGrid>
              <a:tr h="381000">
                <a:tc>
                  <a:txBody>
                    <a:bodyPr/>
                    <a:lstStyle/>
                    <a:p>
                      <a:pPr indent="0" lvl="0" marL="0" rtl="0" algn="ctr">
                        <a:spcBef>
                          <a:spcPts val="0"/>
                        </a:spcBef>
                        <a:spcAft>
                          <a:spcPts val="0"/>
                        </a:spcAft>
                        <a:buNone/>
                      </a:pPr>
                      <a:r>
                        <a:rPr lang="en">
                          <a:solidFill>
                            <a:srgbClr val="FFFFFF"/>
                          </a:solidFill>
                        </a:rPr>
                        <a:t>super closed</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bodega closed</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Sum</a:t>
                      </a:r>
                      <a:endParaRPr>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Output</a:t>
                      </a:r>
                      <a:endParaRPr baseline="-25000">
                        <a:solidFill>
                          <a:srgbClr val="FFFFFF"/>
                        </a:solidFill>
                      </a:endParaRPr>
                    </a:p>
                  </a:txBody>
                  <a:tcPr marT="91425" marB="91425" marR="91425" marL="91425">
                    <a:solidFill>
                      <a:srgbClr val="1C4587"/>
                    </a:solidFill>
                  </a:tcPr>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a:solidFill>
                            <a:srgbClr val="980000"/>
                          </a:solidFill>
                        </a:rPr>
                        <a:t>1</a:t>
                      </a:r>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bl>
          </a:graphicData>
        </a:graphic>
      </p:graphicFrame>
      <p:sp>
        <p:nvSpPr>
          <p:cNvPr id="855" name="Google Shape;855;p65"/>
          <p:cNvSpPr txBox="1"/>
          <p:nvPr/>
        </p:nvSpPr>
        <p:spPr>
          <a:xfrm>
            <a:off x="4834575" y="4116350"/>
            <a:ext cx="349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80000"/>
                </a:solidFill>
              </a:rPr>
              <a:t>What should the threshold be?</a:t>
            </a:r>
            <a:endParaRPr b="1">
              <a:solidFill>
                <a:srgbClr val="980000"/>
              </a:solidFill>
            </a:endParaRPr>
          </a:p>
        </p:txBody>
      </p:sp>
      <p:sp>
        <p:nvSpPr>
          <p:cNvPr id="856" name="Google Shape;856;p65"/>
          <p:cNvSpPr txBox="1"/>
          <p:nvPr/>
        </p:nvSpPr>
        <p:spPr>
          <a:xfrm>
            <a:off x="2905268" y="3260136"/>
            <a:ext cx="17514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bodega</a:t>
            </a:r>
            <a:br>
              <a:rPr lang="en"/>
            </a:br>
            <a:r>
              <a:rPr lang="en"/>
              <a:t>closed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6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Challenge Questions</a:t>
            </a:r>
            <a:endParaRPr/>
          </a:p>
        </p:txBody>
      </p:sp>
      <p:sp>
        <p:nvSpPr>
          <p:cNvPr id="862" name="Google Shape;862;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“Mismatch” Function (Exclusive OR)</a:t>
            </a:r>
            <a:endParaRPr/>
          </a:p>
        </p:txBody>
      </p:sp>
      <p:sp>
        <p:nvSpPr>
          <p:cNvPr id="868" name="Google Shape;868;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“Mismatch” outputs a 1 when its two inputs disagree: exactly one of them is a 1.</a:t>
            </a:r>
            <a:endParaRPr/>
          </a:p>
          <a:p>
            <a:pPr indent="0" lvl="0" marL="0" rtl="0" algn="l">
              <a:spcBef>
                <a:spcPts val="1200"/>
              </a:spcBef>
              <a:spcAft>
                <a:spcPts val="0"/>
              </a:spcAft>
              <a:buNone/>
            </a:pPr>
            <a:r>
              <a:rPr lang="en"/>
              <a:t>The technical name is “exclusive OR”, or “XOR”.</a:t>
            </a:r>
            <a:endParaRPr/>
          </a:p>
          <a:p>
            <a:pPr indent="0" lvl="0" marL="0" rtl="0" algn="l">
              <a:spcBef>
                <a:spcPts val="1200"/>
              </a:spcBef>
              <a:spcAft>
                <a:spcPts val="1200"/>
              </a:spcAft>
              <a:buNone/>
            </a:pPr>
            <a:r>
              <a:rPr lang="en"/>
              <a:t>Can we compute XOR using a single linear threshold unit?</a:t>
            </a:r>
            <a:endParaRPr/>
          </a:p>
        </p:txBody>
      </p:sp>
      <p:sp>
        <p:nvSpPr>
          <p:cNvPr id="869" name="Google Shape;869;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870" name="Google Shape;870;p67"/>
          <p:cNvGraphicFramePr/>
          <p:nvPr/>
        </p:nvGraphicFramePr>
        <p:xfrm>
          <a:off x="435075" y="2800350"/>
          <a:ext cx="3000000" cy="3000000"/>
        </p:xfrm>
        <a:graphic>
          <a:graphicData uri="http://schemas.openxmlformats.org/drawingml/2006/table">
            <a:tbl>
              <a:tblPr>
                <a:noFill/>
                <a:tableStyleId>{A6795A68-CF16-44FF-B4EF-B4ADABBD89F0}</a:tableStyleId>
              </a:tblPr>
              <a:tblGrid>
                <a:gridCol w="428175"/>
                <a:gridCol w="397325"/>
                <a:gridCol w="1138725"/>
              </a:tblGrid>
              <a:tr h="381000">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r>
                        <a:rPr lang="en">
                          <a:solidFill>
                            <a:srgbClr val="FFFFFF"/>
                          </a:solidFill>
                        </a:rPr>
                        <a:t> XOR 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bl>
          </a:graphicData>
        </a:graphic>
      </p:graphicFrame>
      <p:sp>
        <p:nvSpPr>
          <p:cNvPr id="871" name="Google Shape;871;p67"/>
          <p:cNvSpPr/>
          <p:nvPr/>
        </p:nvSpPr>
        <p:spPr>
          <a:xfrm>
            <a:off x="5025600" y="3199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lang="en" sz="1600">
                <a:solidFill>
                  <a:srgbClr val="980000"/>
                </a:solidFill>
              </a:rPr>
              <a:t>?</a:t>
            </a:r>
            <a:endParaRPr sz="1600">
              <a:solidFill>
                <a:srgbClr val="980000"/>
              </a:solidFill>
            </a:endParaRPr>
          </a:p>
        </p:txBody>
      </p:sp>
      <p:sp>
        <p:nvSpPr>
          <p:cNvPr id="872" name="Google Shape;872;p67"/>
          <p:cNvSpPr/>
          <p:nvPr/>
        </p:nvSpPr>
        <p:spPr>
          <a:xfrm>
            <a:off x="3766750" y="3199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67"/>
          <p:cNvSpPr/>
          <p:nvPr/>
        </p:nvSpPr>
        <p:spPr>
          <a:xfrm>
            <a:off x="3766750" y="39613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4" name="Google Shape;874;p67"/>
          <p:cNvCxnSpPr>
            <a:stCxn id="872" idx="6"/>
          </p:cNvCxnSpPr>
          <p:nvPr/>
        </p:nvCxnSpPr>
        <p:spPr>
          <a:xfrm>
            <a:off x="3983050" y="3307525"/>
            <a:ext cx="1050300" cy="193200"/>
          </a:xfrm>
          <a:prstGeom prst="straightConnector1">
            <a:avLst/>
          </a:prstGeom>
          <a:noFill/>
          <a:ln cap="flat" cmpd="sng" w="9525">
            <a:solidFill>
              <a:schemeClr val="dk2"/>
            </a:solidFill>
            <a:prstDash val="solid"/>
            <a:round/>
            <a:headEnd len="med" w="med" type="none"/>
            <a:tailEnd len="med" w="med" type="triangle"/>
          </a:ln>
        </p:spPr>
      </p:cxnSp>
      <p:cxnSp>
        <p:nvCxnSpPr>
          <p:cNvPr id="875" name="Google Shape;875;p67"/>
          <p:cNvCxnSpPr/>
          <p:nvPr/>
        </p:nvCxnSpPr>
        <p:spPr>
          <a:xfrm flipH="1" rot="10800000">
            <a:off x="3983050" y="3840325"/>
            <a:ext cx="1089000" cy="229200"/>
          </a:xfrm>
          <a:prstGeom prst="straightConnector1">
            <a:avLst/>
          </a:prstGeom>
          <a:noFill/>
          <a:ln cap="flat" cmpd="sng" w="9525">
            <a:solidFill>
              <a:schemeClr val="dk2"/>
            </a:solidFill>
            <a:prstDash val="solid"/>
            <a:round/>
            <a:headEnd len="med" w="med" type="none"/>
            <a:tailEnd len="med" w="med" type="triangle"/>
          </a:ln>
        </p:spPr>
      </p:cxnSp>
      <p:sp>
        <p:nvSpPr>
          <p:cNvPr id="876" name="Google Shape;876;p67"/>
          <p:cNvSpPr txBox="1"/>
          <p:nvPr/>
        </p:nvSpPr>
        <p:spPr>
          <a:xfrm>
            <a:off x="3429503" y="3053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endParaRPr baseline="-25000"/>
          </a:p>
        </p:txBody>
      </p:sp>
      <p:sp>
        <p:nvSpPr>
          <p:cNvPr id="877" name="Google Shape;877;p67"/>
          <p:cNvSpPr txBox="1"/>
          <p:nvPr/>
        </p:nvSpPr>
        <p:spPr>
          <a:xfrm>
            <a:off x="3429503" y="3815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2</a:t>
            </a:r>
            <a:endParaRPr baseline="-25000"/>
          </a:p>
        </p:txBody>
      </p:sp>
      <p:sp>
        <p:nvSpPr>
          <p:cNvPr id="878" name="Google Shape;878;p67"/>
          <p:cNvSpPr txBox="1"/>
          <p:nvPr/>
        </p:nvSpPr>
        <p:spPr>
          <a:xfrm>
            <a:off x="4267703" y="38465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w</a:t>
            </a:r>
            <a:r>
              <a:rPr baseline="-25000" lang="en">
                <a:solidFill>
                  <a:srgbClr val="980000"/>
                </a:solidFill>
              </a:rPr>
              <a:t>2</a:t>
            </a:r>
            <a:endParaRPr baseline="-25000">
              <a:solidFill>
                <a:srgbClr val="980000"/>
              </a:solidFill>
            </a:endParaRPr>
          </a:p>
        </p:txBody>
      </p:sp>
      <p:sp>
        <p:nvSpPr>
          <p:cNvPr id="879" name="Google Shape;879;p67"/>
          <p:cNvSpPr txBox="1"/>
          <p:nvPr/>
        </p:nvSpPr>
        <p:spPr>
          <a:xfrm>
            <a:off x="4267703" y="3053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w</a:t>
            </a:r>
            <a:r>
              <a:rPr baseline="-25000" lang="en">
                <a:solidFill>
                  <a:srgbClr val="980000"/>
                </a:solidFill>
              </a:rPr>
              <a:t>1</a:t>
            </a:r>
            <a:endParaRPr baseline="-25000">
              <a:solidFill>
                <a:srgbClr val="980000"/>
              </a:solidFill>
            </a:endParaRPr>
          </a:p>
        </p:txBody>
      </p:sp>
      <p:sp>
        <p:nvSpPr>
          <p:cNvPr id="880" name="Google Shape;880;p67"/>
          <p:cNvSpPr txBox="1"/>
          <p:nvPr/>
        </p:nvSpPr>
        <p:spPr>
          <a:xfrm>
            <a:off x="6378400" y="3485875"/>
            <a:ext cx="169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a:t>
            </a:r>
            <a:r>
              <a:rPr baseline="-25000" lang="en"/>
              <a:t>1</a:t>
            </a:r>
            <a:r>
              <a:rPr lang="en"/>
              <a:t> XOR x</a:t>
            </a:r>
            <a:r>
              <a:rPr baseline="-25000" lang="en"/>
              <a:t>2</a:t>
            </a:r>
            <a:endParaRPr baseline="-25000"/>
          </a:p>
        </p:txBody>
      </p:sp>
      <p:cxnSp>
        <p:nvCxnSpPr>
          <p:cNvPr id="881" name="Google Shape;881;p67"/>
          <p:cNvCxnSpPr>
            <a:stCxn id="871" idx="6"/>
            <a:endCxn id="880" idx="1"/>
          </p:cNvCxnSpPr>
          <p:nvPr/>
        </p:nvCxnSpPr>
        <p:spPr>
          <a:xfrm>
            <a:off x="5998800" y="3685975"/>
            <a:ext cx="3795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“Mismatch” Function (Exclusive OR)</a:t>
            </a:r>
            <a:endParaRPr/>
          </a:p>
        </p:txBody>
      </p:sp>
      <p:sp>
        <p:nvSpPr>
          <p:cNvPr id="887" name="Google Shape;887;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“Mismatch” outputs a 1 when its two inputs disagree: exactly one of them is a 1.</a:t>
            </a:r>
            <a:endParaRPr/>
          </a:p>
          <a:p>
            <a:pPr indent="0" lvl="0" marL="0" rtl="0" algn="l">
              <a:spcBef>
                <a:spcPts val="1200"/>
              </a:spcBef>
              <a:spcAft>
                <a:spcPts val="0"/>
              </a:spcAft>
              <a:buNone/>
            </a:pPr>
            <a:r>
              <a:rPr lang="en"/>
              <a:t>The technical name is “exclusive OR”, or “XOR”.</a:t>
            </a:r>
            <a:endParaRPr/>
          </a:p>
          <a:p>
            <a:pPr indent="0" lvl="0" marL="0" rtl="0" algn="l">
              <a:spcBef>
                <a:spcPts val="1200"/>
              </a:spcBef>
              <a:spcAft>
                <a:spcPts val="1200"/>
              </a:spcAft>
              <a:buNone/>
            </a:pPr>
            <a:r>
              <a:rPr lang="en"/>
              <a:t>Can we compute XOR using a single linear threshold unit?</a:t>
            </a:r>
            <a:endParaRPr/>
          </a:p>
        </p:txBody>
      </p:sp>
      <p:sp>
        <p:nvSpPr>
          <p:cNvPr id="888" name="Google Shape;888;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889" name="Google Shape;889;p68"/>
          <p:cNvGraphicFramePr/>
          <p:nvPr/>
        </p:nvGraphicFramePr>
        <p:xfrm>
          <a:off x="435075" y="2800350"/>
          <a:ext cx="3000000" cy="3000000"/>
        </p:xfrm>
        <a:graphic>
          <a:graphicData uri="http://schemas.openxmlformats.org/drawingml/2006/table">
            <a:tbl>
              <a:tblPr>
                <a:noFill/>
                <a:tableStyleId>{A6795A68-CF16-44FF-B4EF-B4ADABBD89F0}</a:tableStyleId>
              </a:tblPr>
              <a:tblGrid>
                <a:gridCol w="428175"/>
                <a:gridCol w="397325"/>
                <a:gridCol w="1138725"/>
              </a:tblGrid>
              <a:tr h="381000">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r>
                        <a:rPr lang="en">
                          <a:solidFill>
                            <a:srgbClr val="FFFFFF"/>
                          </a:solidFill>
                        </a:rPr>
                        <a:t> XOR 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bl>
          </a:graphicData>
        </a:graphic>
      </p:graphicFrame>
      <p:sp>
        <p:nvSpPr>
          <p:cNvPr id="890" name="Google Shape;890;p68"/>
          <p:cNvSpPr txBox="1"/>
          <p:nvPr/>
        </p:nvSpPr>
        <p:spPr>
          <a:xfrm>
            <a:off x="3434150" y="2556825"/>
            <a:ext cx="46029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600">
                <a:solidFill>
                  <a:srgbClr val="980000"/>
                </a:solidFill>
              </a:rPr>
              <a:t>  No!</a:t>
            </a:r>
            <a:endParaRPr sz="1600">
              <a:solidFill>
                <a:srgbClr val="980000"/>
              </a:solidFill>
            </a:endParaRPr>
          </a:p>
          <a:p>
            <a:pPr indent="0" lvl="0" marL="0" rtl="0" algn="l">
              <a:spcBef>
                <a:spcPts val="0"/>
              </a:spcBef>
              <a:spcAft>
                <a:spcPts val="0"/>
              </a:spcAft>
              <a:buNone/>
            </a:pPr>
            <a:r>
              <a:rPr lang="en" sz="1600">
                <a:solidFill>
                  <a:srgbClr val="980000"/>
                </a:solidFill>
              </a:rPr>
              <a:t>We can prove mathematically that XOR cannot be computed by a single linear threshold unit.</a:t>
            </a:r>
            <a:endParaRPr sz="1600">
              <a:solidFill>
                <a:srgbClr val="980000"/>
              </a:solidFill>
            </a:endParaRPr>
          </a:p>
          <a:p>
            <a:pPr indent="0" lvl="0" marL="0" rtl="0" algn="l">
              <a:spcBef>
                <a:spcPts val="0"/>
              </a:spcBef>
              <a:spcAft>
                <a:spcPts val="0"/>
              </a:spcAft>
              <a:buNone/>
            </a:pPr>
            <a:r>
              <a:rPr lang="en" sz="1600">
                <a:solidFill>
                  <a:srgbClr val="980000"/>
                </a:solidFill>
              </a:rPr>
              <a:t>…  But we can compute XOR using hidden units.</a:t>
            </a:r>
            <a:endParaRPr sz="1600">
              <a:solidFill>
                <a:srgbClr val="98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Mismatch Solution 1</a:t>
            </a:r>
            <a:endParaRPr/>
          </a:p>
        </p:txBody>
      </p:sp>
      <p:sp>
        <p:nvSpPr>
          <p:cNvPr id="896" name="Google Shape;896;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97" name="Google Shape;897;p69"/>
          <p:cNvSpPr/>
          <p:nvPr/>
        </p:nvSpPr>
        <p:spPr>
          <a:xfrm>
            <a:off x="3233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69"/>
          <p:cNvSpPr/>
          <p:nvPr/>
        </p:nvSpPr>
        <p:spPr>
          <a:xfrm>
            <a:off x="3233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9" name="Google Shape;899;p69"/>
          <p:cNvCxnSpPr>
            <a:stCxn id="897" idx="6"/>
            <a:endCxn id="900" idx="2"/>
          </p:cNvCxnSpPr>
          <p:nvPr/>
        </p:nvCxnSpPr>
        <p:spPr>
          <a:xfrm flipH="1" rot="10800000">
            <a:off x="3449650" y="1933225"/>
            <a:ext cx="1042500" cy="383700"/>
          </a:xfrm>
          <a:prstGeom prst="straightConnector1">
            <a:avLst/>
          </a:prstGeom>
          <a:noFill/>
          <a:ln cap="flat" cmpd="sng" w="9525">
            <a:solidFill>
              <a:srgbClr val="000000"/>
            </a:solidFill>
            <a:prstDash val="solid"/>
            <a:round/>
            <a:headEnd len="med" w="med" type="none"/>
            <a:tailEnd len="med" w="med" type="triangle"/>
          </a:ln>
        </p:spPr>
      </p:cxnSp>
      <p:cxnSp>
        <p:nvCxnSpPr>
          <p:cNvPr id="901" name="Google Shape;901;p69"/>
          <p:cNvCxnSpPr>
            <a:stCxn id="898" idx="6"/>
            <a:endCxn id="900" idx="2"/>
          </p:cNvCxnSpPr>
          <p:nvPr/>
        </p:nvCxnSpPr>
        <p:spPr>
          <a:xfrm flipH="1" rot="10800000">
            <a:off x="3449650" y="1933525"/>
            <a:ext cx="1042500" cy="1145400"/>
          </a:xfrm>
          <a:prstGeom prst="straightConnector1">
            <a:avLst/>
          </a:prstGeom>
          <a:noFill/>
          <a:ln cap="flat" cmpd="sng" w="9525">
            <a:solidFill>
              <a:srgbClr val="000000"/>
            </a:solidFill>
            <a:prstDash val="solid"/>
            <a:round/>
            <a:headEnd len="med" w="med" type="none"/>
            <a:tailEnd len="med" w="med" type="triangle"/>
          </a:ln>
        </p:spPr>
      </p:cxnSp>
      <p:sp>
        <p:nvSpPr>
          <p:cNvPr id="902" name="Google Shape;902;p69"/>
          <p:cNvSpPr txBox="1"/>
          <p:nvPr/>
        </p:nvSpPr>
        <p:spPr>
          <a:xfrm>
            <a:off x="2762148" y="2093975"/>
            <a:ext cx="512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1</a:t>
            </a:r>
            <a:endParaRPr baseline="-25000"/>
          </a:p>
        </p:txBody>
      </p:sp>
      <p:sp>
        <p:nvSpPr>
          <p:cNvPr id="903" name="Google Shape;903;p69"/>
          <p:cNvSpPr txBox="1"/>
          <p:nvPr/>
        </p:nvSpPr>
        <p:spPr>
          <a:xfrm>
            <a:off x="2762251" y="2863700"/>
            <a:ext cx="512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2</a:t>
            </a:r>
            <a:endParaRPr baseline="-25000"/>
          </a:p>
        </p:txBody>
      </p:sp>
      <p:sp>
        <p:nvSpPr>
          <p:cNvPr id="904" name="Google Shape;904;p69"/>
          <p:cNvSpPr txBox="1"/>
          <p:nvPr/>
        </p:nvSpPr>
        <p:spPr>
          <a:xfrm>
            <a:off x="3955180" y="26505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05" name="Google Shape;905;p69"/>
          <p:cNvSpPr txBox="1"/>
          <p:nvPr/>
        </p:nvSpPr>
        <p:spPr>
          <a:xfrm>
            <a:off x="3734303" y="1834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00" name="Google Shape;900;p69"/>
          <p:cNvSpPr/>
          <p:nvPr/>
        </p:nvSpPr>
        <p:spPr>
          <a:xfrm>
            <a:off x="4492200" y="1446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906" name="Google Shape;906;p69"/>
          <p:cNvSpPr/>
          <p:nvPr/>
        </p:nvSpPr>
        <p:spPr>
          <a:xfrm>
            <a:off x="4492200" y="2818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cxnSp>
        <p:nvCxnSpPr>
          <p:cNvPr id="907" name="Google Shape;907;p69"/>
          <p:cNvCxnSpPr>
            <a:stCxn id="897" idx="6"/>
            <a:endCxn id="906" idx="2"/>
          </p:cNvCxnSpPr>
          <p:nvPr/>
        </p:nvCxnSpPr>
        <p:spPr>
          <a:xfrm>
            <a:off x="3449650" y="2316925"/>
            <a:ext cx="1042500" cy="988200"/>
          </a:xfrm>
          <a:prstGeom prst="straightConnector1">
            <a:avLst/>
          </a:prstGeom>
          <a:noFill/>
          <a:ln cap="flat" cmpd="sng" w="9525">
            <a:solidFill>
              <a:srgbClr val="000000"/>
            </a:solidFill>
            <a:prstDash val="solid"/>
            <a:round/>
            <a:headEnd len="med" w="med" type="none"/>
            <a:tailEnd len="med" w="med" type="triangle"/>
          </a:ln>
        </p:spPr>
      </p:cxnSp>
      <p:cxnSp>
        <p:nvCxnSpPr>
          <p:cNvPr id="908" name="Google Shape;908;p69"/>
          <p:cNvCxnSpPr>
            <a:stCxn id="898" idx="6"/>
            <a:endCxn id="906" idx="2"/>
          </p:cNvCxnSpPr>
          <p:nvPr/>
        </p:nvCxnSpPr>
        <p:spPr>
          <a:xfrm>
            <a:off x="3449650" y="3078925"/>
            <a:ext cx="1042500" cy="226200"/>
          </a:xfrm>
          <a:prstGeom prst="straightConnector1">
            <a:avLst/>
          </a:prstGeom>
          <a:noFill/>
          <a:ln cap="flat" cmpd="sng" w="9525">
            <a:solidFill>
              <a:srgbClr val="000000"/>
            </a:solidFill>
            <a:prstDash val="solid"/>
            <a:round/>
            <a:headEnd len="med" w="med" type="none"/>
            <a:tailEnd len="med" w="med" type="triangle"/>
          </a:ln>
        </p:spPr>
      </p:cxnSp>
      <p:sp>
        <p:nvSpPr>
          <p:cNvPr id="909" name="Google Shape;909;p69"/>
          <p:cNvSpPr txBox="1"/>
          <p:nvPr/>
        </p:nvSpPr>
        <p:spPr>
          <a:xfrm>
            <a:off x="4036142" y="2131413"/>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10" name="Google Shape;910;p69"/>
          <p:cNvSpPr txBox="1"/>
          <p:nvPr/>
        </p:nvSpPr>
        <p:spPr>
          <a:xfrm>
            <a:off x="3734303" y="2886977"/>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11" name="Google Shape;911;p69"/>
          <p:cNvSpPr/>
          <p:nvPr/>
        </p:nvSpPr>
        <p:spPr>
          <a:xfrm>
            <a:off x="6321000" y="2085150"/>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cxnSp>
        <p:nvCxnSpPr>
          <p:cNvPr id="912" name="Google Shape;912;p69"/>
          <p:cNvCxnSpPr>
            <a:stCxn id="900" idx="6"/>
            <a:endCxn id="911" idx="2"/>
          </p:cNvCxnSpPr>
          <p:nvPr/>
        </p:nvCxnSpPr>
        <p:spPr>
          <a:xfrm>
            <a:off x="5465400" y="1933375"/>
            <a:ext cx="855600" cy="638400"/>
          </a:xfrm>
          <a:prstGeom prst="straightConnector1">
            <a:avLst/>
          </a:prstGeom>
          <a:noFill/>
          <a:ln cap="flat" cmpd="sng" w="9525">
            <a:solidFill>
              <a:srgbClr val="000000"/>
            </a:solidFill>
            <a:prstDash val="solid"/>
            <a:round/>
            <a:headEnd len="med" w="med" type="none"/>
            <a:tailEnd len="med" w="med" type="triangle"/>
          </a:ln>
        </p:spPr>
      </p:cxnSp>
      <p:cxnSp>
        <p:nvCxnSpPr>
          <p:cNvPr id="913" name="Google Shape;913;p69"/>
          <p:cNvCxnSpPr>
            <a:stCxn id="906" idx="6"/>
            <a:endCxn id="911" idx="2"/>
          </p:cNvCxnSpPr>
          <p:nvPr/>
        </p:nvCxnSpPr>
        <p:spPr>
          <a:xfrm flipH="1" rot="10800000">
            <a:off x="5465400" y="2571775"/>
            <a:ext cx="855600" cy="733200"/>
          </a:xfrm>
          <a:prstGeom prst="straightConnector1">
            <a:avLst/>
          </a:prstGeom>
          <a:noFill/>
          <a:ln cap="flat" cmpd="sng" w="9525">
            <a:solidFill>
              <a:srgbClr val="000000"/>
            </a:solidFill>
            <a:prstDash val="solid"/>
            <a:round/>
            <a:headEnd len="med" w="med" type="none"/>
            <a:tailEnd len="med" w="med" type="triangle"/>
          </a:ln>
        </p:spPr>
      </p:cxnSp>
      <p:cxnSp>
        <p:nvCxnSpPr>
          <p:cNvPr id="914" name="Google Shape;914;p69"/>
          <p:cNvCxnSpPr>
            <a:stCxn id="911" idx="6"/>
          </p:cNvCxnSpPr>
          <p:nvPr/>
        </p:nvCxnSpPr>
        <p:spPr>
          <a:xfrm>
            <a:off x="7294200" y="2571750"/>
            <a:ext cx="440100" cy="0"/>
          </a:xfrm>
          <a:prstGeom prst="straightConnector1">
            <a:avLst/>
          </a:prstGeom>
          <a:noFill/>
          <a:ln cap="flat" cmpd="sng" w="9525">
            <a:solidFill>
              <a:srgbClr val="000000"/>
            </a:solidFill>
            <a:prstDash val="solid"/>
            <a:round/>
            <a:headEnd len="med" w="med" type="none"/>
            <a:tailEnd len="med" w="med" type="triangle"/>
          </a:ln>
        </p:spPr>
      </p:cxnSp>
      <p:sp>
        <p:nvSpPr>
          <p:cNvPr id="915" name="Google Shape;915;p69"/>
          <p:cNvSpPr txBox="1"/>
          <p:nvPr/>
        </p:nvSpPr>
        <p:spPr>
          <a:xfrm>
            <a:off x="5715503" y="1910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16" name="Google Shape;916;p69"/>
          <p:cNvSpPr txBox="1"/>
          <p:nvPr/>
        </p:nvSpPr>
        <p:spPr>
          <a:xfrm>
            <a:off x="5715503" y="29012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graphicFrame>
        <p:nvGraphicFramePr>
          <p:cNvPr id="917" name="Google Shape;917;p69"/>
          <p:cNvGraphicFramePr/>
          <p:nvPr/>
        </p:nvGraphicFramePr>
        <p:xfrm>
          <a:off x="435075" y="1504950"/>
          <a:ext cx="3000000" cy="3000000"/>
        </p:xfrm>
        <a:graphic>
          <a:graphicData uri="http://schemas.openxmlformats.org/drawingml/2006/table">
            <a:tbl>
              <a:tblPr>
                <a:noFill/>
                <a:tableStyleId>{A6795A68-CF16-44FF-B4EF-B4ADABBD89F0}</a:tableStyleId>
              </a:tblPr>
              <a:tblGrid>
                <a:gridCol w="428175"/>
                <a:gridCol w="397325"/>
                <a:gridCol w="1138725"/>
              </a:tblGrid>
              <a:tr h="381000">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r>
                        <a:rPr lang="en">
                          <a:solidFill>
                            <a:srgbClr val="FFFFFF"/>
                          </a:solidFill>
                        </a:rPr>
                        <a:t> XOR 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bl>
          </a:graphicData>
        </a:graphic>
      </p:graphicFrame>
      <p:sp>
        <p:nvSpPr>
          <p:cNvPr id="918" name="Google Shape;918;p69"/>
          <p:cNvSpPr txBox="1"/>
          <p:nvPr/>
        </p:nvSpPr>
        <p:spPr>
          <a:xfrm>
            <a:off x="5035375" y="1153675"/>
            <a:ext cx="118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1</a:t>
            </a:r>
            <a:r>
              <a:rPr i="1" lang="en" sz="1200">
                <a:solidFill>
                  <a:srgbClr val="38761D"/>
                </a:solidFill>
              </a:rPr>
              <a:t> and not x</a:t>
            </a:r>
            <a:r>
              <a:rPr baseline="-25000" i="1" lang="en" sz="1200">
                <a:solidFill>
                  <a:srgbClr val="38761D"/>
                </a:solidFill>
              </a:rPr>
              <a:t>2</a:t>
            </a:r>
            <a:r>
              <a:rPr i="1" lang="en" sz="1200">
                <a:solidFill>
                  <a:srgbClr val="38761D"/>
                </a:solidFill>
              </a:rPr>
              <a:t>”</a:t>
            </a:r>
            <a:endParaRPr i="1" sz="1200">
              <a:solidFill>
                <a:srgbClr val="38761D"/>
              </a:solidFill>
            </a:endParaRPr>
          </a:p>
        </p:txBody>
      </p:sp>
      <p:sp>
        <p:nvSpPr>
          <p:cNvPr id="919" name="Google Shape;919;p69"/>
          <p:cNvSpPr txBox="1"/>
          <p:nvPr/>
        </p:nvSpPr>
        <p:spPr>
          <a:xfrm>
            <a:off x="5035375" y="3668275"/>
            <a:ext cx="118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2</a:t>
            </a:r>
            <a:r>
              <a:rPr i="1" lang="en" sz="1200">
                <a:solidFill>
                  <a:srgbClr val="38761D"/>
                </a:solidFill>
              </a:rPr>
              <a:t> and not x</a:t>
            </a:r>
            <a:r>
              <a:rPr baseline="-25000" i="1" lang="en" sz="1200">
                <a:solidFill>
                  <a:srgbClr val="38761D"/>
                </a:solidFill>
              </a:rPr>
              <a:t>1</a:t>
            </a:r>
            <a:r>
              <a:rPr i="1" lang="en" sz="1200">
                <a:solidFill>
                  <a:srgbClr val="38761D"/>
                </a:solidFill>
              </a:rPr>
              <a:t>”</a:t>
            </a:r>
            <a:endParaRPr i="1" sz="1200">
              <a:solidFill>
                <a:srgbClr val="38761D"/>
              </a:solidFill>
            </a:endParaRPr>
          </a:p>
        </p:txBody>
      </p:sp>
      <p:sp>
        <p:nvSpPr>
          <p:cNvPr id="920" name="Google Shape;920;p69"/>
          <p:cNvSpPr txBox="1"/>
          <p:nvPr/>
        </p:nvSpPr>
        <p:spPr>
          <a:xfrm>
            <a:off x="6940375" y="2906275"/>
            <a:ext cx="1561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1</a:t>
            </a:r>
            <a:r>
              <a:rPr i="1" lang="en" sz="1200">
                <a:solidFill>
                  <a:srgbClr val="38761D"/>
                </a:solidFill>
              </a:rPr>
              <a:t> and not x</a:t>
            </a:r>
            <a:r>
              <a:rPr baseline="-25000" i="1" lang="en" sz="1200">
                <a:solidFill>
                  <a:srgbClr val="38761D"/>
                </a:solidFill>
              </a:rPr>
              <a:t>2</a:t>
            </a:r>
            <a:r>
              <a:rPr i="1" lang="en" sz="1200">
                <a:solidFill>
                  <a:srgbClr val="38761D"/>
                </a:solidFill>
              </a:rPr>
              <a:t>) or</a:t>
            </a:r>
            <a:br>
              <a:rPr i="1" lang="en" sz="1200">
                <a:solidFill>
                  <a:srgbClr val="38761D"/>
                </a:solidFill>
              </a:rPr>
            </a:br>
            <a:r>
              <a:rPr i="1" lang="en" sz="1200">
                <a:solidFill>
                  <a:srgbClr val="38761D"/>
                </a:solidFill>
              </a:rPr>
              <a:t> (x</a:t>
            </a:r>
            <a:r>
              <a:rPr baseline="-25000" i="1" lang="en" sz="1200">
                <a:solidFill>
                  <a:srgbClr val="38761D"/>
                </a:solidFill>
              </a:rPr>
              <a:t>2</a:t>
            </a:r>
            <a:r>
              <a:rPr i="1" lang="en" sz="1200">
                <a:solidFill>
                  <a:srgbClr val="38761D"/>
                </a:solidFill>
              </a:rPr>
              <a:t> and not x</a:t>
            </a:r>
            <a:r>
              <a:rPr baseline="-25000" i="1" lang="en" sz="1200">
                <a:solidFill>
                  <a:srgbClr val="38761D"/>
                </a:solidFill>
              </a:rPr>
              <a:t>1</a:t>
            </a:r>
            <a:r>
              <a:rPr i="1" lang="en" sz="1200">
                <a:solidFill>
                  <a:srgbClr val="38761D"/>
                </a:solidFill>
              </a:rPr>
              <a:t>)”</a:t>
            </a:r>
            <a:endParaRPr i="1" sz="1200">
              <a:solidFill>
                <a:srgbClr val="38761D"/>
              </a:solidFill>
            </a:endParaRPr>
          </a:p>
        </p:txBody>
      </p:sp>
      <p:sp>
        <p:nvSpPr>
          <p:cNvPr id="921" name="Google Shape;921;p69"/>
          <p:cNvSpPr txBox="1"/>
          <p:nvPr/>
        </p:nvSpPr>
        <p:spPr>
          <a:xfrm>
            <a:off x="4434525" y="4087500"/>
            <a:ext cx="461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80000"/>
                </a:solidFill>
              </a:rPr>
              <a:t>Hidden Units                  Output Unit</a:t>
            </a:r>
            <a:endParaRPr b="1">
              <a:solidFill>
                <a:srgbClr val="98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Mismatch Solution 2</a:t>
            </a:r>
            <a:endParaRPr/>
          </a:p>
        </p:txBody>
      </p:sp>
      <p:sp>
        <p:nvSpPr>
          <p:cNvPr id="927" name="Google Shape;927;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28" name="Google Shape;928;p70"/>
          <p:cNvSpPr/>
          <p:nvPr/>
        </p:nvSpPr>
        <p:spPr>
          <a:xfrm>
            <a:off x="3233350" y="2208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0"/>
          <p:cNvSpPr/>
          <p:nvPr/>
        </p:nvSpPr>
        <p:spPr>
          <a:xfrm>
            <a:off x="3233350" y="29707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0" name="Google Shape;930;p70"/>
          <p:cNvCxnSpPr>
            <a:stCxn id="928" idx="6"/>
            <a:endCxn id="931" idx="2"/>
          </p:cNvCxnSpPr>
          <p:nvPr/>
        </p:nvCxnSpPr>
        <p:spPr>
          <a:xfrm flipH="1" rot="10800000">
            <a:off x="3449650" y="1933225"/>
            <a:ext cx="1042500" cy="383700"/>
          </a:xfrm>
          <a:prstGeom prst="straightConnector1">
            <a:avLst/>
          </a:prstGeom>
          <a:noFill/>
          <a:ln cap="flat" cmpd="sng" w="9525">
            <a:solidFill>
              <a:srgbClr val="000000"/>
            </a:solidFill>
            <a:prstDash val="solid"/>
            <a:round/>
            <a:headEnd len="med" w="med" type="none"/>
            <a:tailEnd len="med" w="med" type="triangle"/>
          </a:ln>
        </p:spPr>
      </p:cxnSp>
      <p:cxnSp>
        <p:nvCxnSpPr>
          <p:cNvPr id="932" name="Google Shape;932;p70"/>
          <p:cNvCxnSpPr>
            <a:stCxn id="929" idx="6"/>
            <a:endCxn id="931" idx="2"/>
          </p:cNvCxnSpPr>
          <p:nvPr/>
        </p:nvCxnSpPr>
        <p:spPr>
          <a:xfrm flipH="1" rot="10800000">
            <a:off x="3449650" y="1933525"/>
            <a:ext cx="1042500" cy="1145400"/>
          </a:xfrm>
          <a:prstGeom prst="straightConnector1">
            <a:avLst/>
          </a:prstGeom>
          <a:noFill/>
          <a:ln cap="flat" cmpd="sng" w="9525">
            <a:solidFill>
              <a:srgbClr val="000000"/>
            </a:solidFill>
            <a:prstDash val="solid"/>
            <a:round/>
            <a:headEnd len="med" w="med" type="none"/>
            <a:tailEnd len="med" w="med" type="triangle"/>
          </a:ln>
        </p:spPr>
      </p:cxnSp>
      <p:sp>
        <p:nvSpPr>
          <p:cNvPr id="933" name="Google Shape;933;p70"/>
          <p:cNvSpPr txBox="1"/>
          <p:nvPr/>
        </p:nvSpPr>
        <p:spPr>
          <a:xfrm>
            <a:off x="2762148" y="2093975"/>
            <a:ext cx="512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1</a:t>
            </a:r>
            <a:endParaRPr baseline="-25000"/>
          </a:p>
        </p:txBody>
      </p:sp>
      <p:sp>
        <p:nvSpPr>
          <p:cNvPr id="934" name="Google Shape;934;p70"/>
          <p:cNvSpPr txBox="1"/>
          <p:nvPr/>
        </p:nvSpPr>
        <p:spPr>
          <a:xfrm>
            <a:off x="2762251" y="2863700"/>
            <a:ext cx="512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2</a:t>
            </a:r>
            <a:endParaRPr baseline="-25000"/>
          </a:p>
        </p:txBody>
      </p:sp>
      <p:sp>
        <p:nvSpPr>
          <p:cNvPr id="935" name="Google Shape;935;p70"/>
          <p:cNvSpPr txBox="1"/>
          <p:nvPr/>
        </p:nvSpPr>
        <p:spPr>
          <a:xfrm>
            <a:off x="4031380" y="2650525"/>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36" name="Google Shape;936;p70"/>
          <p:cNvSpPr txBox="1"/>
          <p:nvPr/>
        </p:nvSpPr>
        <p:spPr>
          <a:xfrm>
            <a:off x="3734303" y="1834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31" name="Google Shape;931;p70"/>
          <p:cNvSpPr/>
          <p:nvPr/>
        </p:nvSpPr>
        <p:spPr>
          <a:xfrm>
            <a:off x="4492200" y="14467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937" name="Google Shape;937;p70"/>
          <p:cNvSpPr/>
          <p:nvPr/>
        </p:nvSpPr>
        <p:spPr>
          <a:xfrm>
            <a:off x="4492200" y="2818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1</a:t>
            </a:r>
            <a:endParaRPr b="1" sz="1600">
              <a:solidFill>
                <a:srgbClr val="980000"/>
              </a:solidFill>
            </a:endParaRPr>
          </a:p>
        </p:txBody>
      </p:sp>
      <p:cxnSp>
        <p:nvCxnSpPr>
          <p:cNvPr id="938" name="Google Shape;938;p70"/>
          <p:cNvCxnSpPr>
            <a:stCxn id="928" idx="6"/>
            <a:endCxn id="937" idx="2"/>
          </p:cNvCxnSpPr>
          <p:nvPr/>
        </p:nvCxnSpPr>
        <p:spPr>
          <a:xfrm>
            <a:off x="3449650" y="2316925"/>
            <a:ext cx="1042500" cy="988200"/>
          </a:xfrm>
          <a:prstGeom prst="straightConnector1">
            <a:avLst/>
          </a:prstGeom>
          <a:noFill/>
          <a:ln cap="flat" cmpd="sng" w="9525">
            <a:solidFill>
              <a:srgbClr val="000000"/>
            </a:solidFill>
            <a:prstDash val="solid"/>
            <a:round/>
            <a:headEnd len="med" w="med" type="none"/>
            <a:tailEnd len="med" w="med" type="triangle"/>
          </a:ln>
        </p:spPr>
      </p:cxnSp>
      <p:cxnSp>
        <p:nvCxnSpPr>
          <p:cNvPr id="939" name="Google Shape;939;p70"/>
          <p:cNvCxnSpPr>
            <a:stCxn id="929" idx="6"/>
            <a:endCxn id="937" idx="2"/>
          </p:cNvCxnSpPr>
          <p:nvPr/>
        </p:nvCxnSpPr>
        <p:spPr>
          <a:xfrm>
            <a:off x="3449650" y="3078925"/>
            <a:ext cx="1042500" cy="226200"/>
          </a:xfrm>
          <a:prstGeom prst="straightConnector1">
            <a:avLst/>
          </a:prstGeom>
          <a:noFill/>
          <a:ln cap="flat" cmpd="sng" w="9525">
            <a:solidFill>
              <a:srgbClr val="000000"/>
            </a:solidFill>
            <a:prstDash val="solid"/>
            <a:round/>
            <a:headEnd len="med" w="med" type="none"/>
            <a:tailEnd len="med" w="med" type="triangle"/>
          </a:ln>
        </p:spPr>
      </p:cxnSp>
      <p:sp>
        <p:nvSpPr>
          <p:cNvPr id="940" name="Google Shape;940;p70"/>
          <p:cNvSpPr txBox="1"/>
          <p:nvPr/>
        </p:nvSpPr>
        <p:spPr>
          <a:xfrm>
            <a:off x="4112342" y="2131413"/>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41" name="Google Shape;941;p70"/>
          <p:cNvSpPr txBox="1"/>
          <p:nvPr/>
        </p:nvSpPr>
        <p:spPr>
          <a:xfrm>
            <a:off x="3734303" y="2886977"/>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42" name="Google Shape;942;p70"/>
          <p:cNvSpPr/>
          <p:nvPr/>
        </p:nvSpPr>
        <p:spPr>
          <a:xfrm>
            <a:off x="6321000" y="2085150"/>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cxnSp>
        <p:nvCxnSpPr>
          <p:cNvPr id="943" name="Google Shape;943;p70"/>
          <p:cNvCxnSpPr>
            <a:stCxn id="931" idx="6"/>
            <a:endCxn id="942" idx="2"/>
          </p:cNvCxnSpPr>
          <p:nvPr/>
        </p:nvCxnSpPr>
        <p:spPr>
          <a:xfrm>
            <a:off x="5465400" y="1933375"/>
            <a:ext cx="855600" cy="638400"/>
          </a:xfrm>
          <a:prstGeom prst="straightConnector1">
            <a:avLst/>
          </a:prstGeom>
          <a:noFill/>
          <a:ln cap="flat" cmpd="sng" w="9525">
            <a:solidFill>
              <a:srgbClr val="000000"/>
            </a:solidFill>
            <a:prstDash val="solid"/>
            <a:round/>
            <a:headEnd len="med" w="med" type="none"/>
            <a:tailEnd len="med" w="med" type="triangle"/>
          </a:ln>
        </p:spPr>
      </p:cxnSp>
      <p:cxnSp>
        <p:nvCxnSpPr>
          <p:cNvPr id="944" name="Google Shape;944;p70"/>
          <p:cNvCxnSpPr>
            <a:stCxn id="937" idx="6"/>
            <a:endCxn id="942" idx="2"/>
          </p:cNvCxnSpPr>
          <p:nvPr/>
        </p:nvCxnSpPr>
        <p:spPr>
          <a:xfrm flipH="1" rot="10800000">
            <a:off x="5465400" y="2571775"/>
            <a:ext cx="855600" cy="733200"/>
          </a:xfrm>
          <a:prstGeom prst="straightConnector1">
            <a:avLst/>
          </a:prstGeom>
          <a:noFill/>
          <a:ln cap="flat" cmpd="sng" w="9525">
            <a:solidFill>
              <a:srgbClr val="000000"/>
            </a:solidFill>
            <a:prstDash val="solid"/>
            <a:round/>
            <a:headEnd len="med" w="med" type="none"/>
            <a:tailEnd len="med" w="med" type="triangle"/>
          </a:ln>
        </p:spPr>
      </p:cxnSp>
      <p:cxnSp>
        <p:nvCxnSpPr>
          <p:cNvPr id="945" name="Google Shape;945;p70"/>
          <p:cNvCxnSpPr>
            <a:stCxn id="942" idx="6"/>
          </p:cNvCxnSpPr>
          <p:nvPr/>
        </p:nvCxnSpPr>
        <p:spPr>
          <a:xfrm>
            <a:off x="7294200" y="2571750"/>
            <a:ext cx="440100" cy="0"/>
          </a:xfrm>
          <a:prstGeom prst="straightConnector1">
            <a:avLst/>
          </a:prstGeom>
          <a:noFill/>
          <a:ln cap="flat" cmpd="sng" w="9525">
            <a:solidFill>
              <a:srgbClr val="000000"/>
            </a:solidFill>
            <a:prstDash val="solid"/>
            <a:round/>
            <a:headEnd len="med" w="med" type="none"/>
            <a:tailEnd len="med" w="med" type="triangle"/>
          </a:ln>
        </p:spPr>
      </p:cxnSp>
      <p:sp>
        <p:nvSpPr>
          <p:cNvPr id="946" name="Google Shape;946;p70"/>
          <p:cNvSpPr txBox="1"/>
          <p:nvPr/>
        </p:nvSpPr>
        <p:spPr>
          <a:xfrm>
            <a:off x="5715503" y="19106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sp>
        <p:nvSpPr>
          <p:cNvPr id="947" name="Google Shape;947;p70"/>
          <p:cNvSpPr txBox="1"/>
          <p:nvPr/>
        </p:nvSpPr>
        <p:spPr>
          <a:xfrm>
            <a:off x="5715503" y="2855956"/>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baseline="-25000"/>
          </a:p>
        </p:txBody>
      </p:sp>
      <p:graphicFrame>
        <p:nvGraphicFramePr>
          <p:cNvPr id="948" name="Google Shape;948;p70"/>
          <p:cNvGraphicFramePr/>
          <p:nvPr/>
        </p:nvGraphicFramePr>
        <p:xfrm>
          <a:off x="435075" y="1504950"/>
          <a:ext cx="3000000" cy="3000000"/>
        </p:xfrm>
        <a:graphic>
          <a:graphicData uri="http://schemas.openxmlformats.org/drawingml/2006/table">
            <a:tbl>
              <a:tblPr>
                <a:noFill/>
                <a:tableStyleId>{A6795A68-CF16-44FF-B4EF-B4ADABBD89F0}</a:tableStyleId>
              </a:tblPr>
              <a:tblGrid>
                <a:gridCol w="428175"/>
                <a:gridCol w="397325"/>
                <a:gridCol w="1138725"/>
              </a:tblGrid>
              <a:tr h="381000">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c>
                  <a:txBody>
                    <a:bodyPr/>
                    <a:lstStyle/>
                    <a:p>
                      <a:pPr indent="0" lvl="0" marL="0" rtl="0" algn="ctr">
                        <a:spcBef>
                          <a:spcPts val="0"/>
                        </a:spcBef>
                        <a:spcAft>
                          <a:spcPts val="0"/>
                        </a:spcAft>
                        <a:buNone/>
                      </a:pPr>
                      <a:r>
                        <a:rPr lang="en">
                          <a:solidFill>
                            <a:srgbClr val="FFFFFF"/>
                          </a:solidFill>
                        </a:rPr>
                        <a:t>x</a:t>
                      </a:r>
                      <a:r>
                        <a:rPr baseline="-25000" lang="en">
                          <a:solidFill>
                            <a:srgbClr val="FFFFFF"/>
                          </a:solidFill>
                        </a:rPr>
                        <a:t>1</a:t>
                      </a:r>
                      <a:r>
                        <a:rPr lang="en">
                          <a:solidFill>
                            <a:srgbClr val="FFFFFF"/>
                          </a:solidFill>
                        </a:rPr>
                        <a:t> XOR x</a:t>
                      </a:r>
                      <a:r>
                        <a:rPr baseline="-25000" lang="en">
                          <a:solidFill>
                            <a:srgbClr val="FFFFFF"/>
                          </a:solidFill>
                        </a:rPr>
                        <a:t>2</a:t>
                      </a:r>
                      <a:endParaRPr baseline="-25000">
                        <a:solidFill>
                          <a:srgbClr val="FFFFFF"/>
                        </a:solidFill>
                      </a:endParaRPr>
                    </a:p>
                  </a:txBody>
                  <a:tcPr marT="91425" marB="91425" marR="91425" marL="91425">
                    <a:solidFill>
                      <a:srgbClr val="1C4587"/>
                    </a:solidFill>
                  </a:tcPr>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b="1" lang="en">
                          <a:solidFill>
                            <a:srgbClr val="980000"/>
                          </a:solidFill>
                        </a:rPr>
                        <a:t>1</a:t>
                      </a:r>
                      <a:endParaRPr b="1">
                        <a:solidFill>
                          <a:srgbClr val="980000"/>
                        </a:solidFill>
                      </a:endParaRPr>
                    </a:p>
                  </a:txBody>
                  <a:tcPr marT="91425" marB="91425" marR="91425" marL="91425"/>
                </a:tc>
              </a:tr>
              <a:tr h="381000">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solidFill>
                            <a:srgbClr val="980000"/>
                          </a:solidFill>
                        </a:rPr>
                        <a:t>1</a:t>
                      </a:r>
                      <a:endParaRPr>
                        <a:solidFill>
                          <a:srgbClr val="980000"/>
                        </a:solidFill>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bl>
          </a:graphicData>
        </a:graphic>
      </p:graphicFrame>
      <p:sp>
        <p:nvSpPr>
          <p:cNvPr id="949" name="Google Shape;949;p70"/>
          <p:cNvSpPr txBox="1"/>
          <p:nvPr/>
        </p:nvSpPr>
        <p:spPr>
          <a:xfrm>
            <a:off x="5035375" y="1153675"/>
            <a:ext cx="118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1</a:t>
            </a:r>
            <a:r>
              <a:rPr i="1" lang="en" sz="1200">
                <a:solidFill>
                  <a:srgbClr val="38761D"/>
                </a:solidFill>
              </a:rPr>
              <a:t> or x</a:t>
            </a:r>
            <a:r>
              <a:rPr baseline="-25000" i="1" lang="en" sz="1200">
                <a:solidFill>
                  <a:srgbClr val="38761D"/>
                </a:solidFill>
              </a:rPr>
              <a:t>2</a:t>
            </a:r>
            <a:r>
              <a:rPr i="1" lang="en" sz="1200">
                <a:solidFill>
                  <a:srgbClr val="38761D"/>
                </a:solidFill>
              </a:rPr>
              <a:t>”</a:t>
            </a:r>
            <a:endParaRPr i="1" sz="1200">
              <a:solidFill>
                <a:srgbClr val="38761D"/>
              </a:solidFill>
            </a:endParaRPr>
          </a:p>
        </p:txBody>
      </p:sp>
      <p:sp>
        <p:nvSpPr>
          <p:cNvPr id="950" name="Google Shape;950;p70"/>
          <p:cNvSpPr txBox="1"/>
          <p:nvPr/>
        </p:nvSpPr>
        <p:spPr>
          <a:xfrm>
            <a:off x="5035375" y="3668275"/>
            <a:ext cx="118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1</a:t>
            </a:r>
            <a:r>
              <a:rPr i="1" lang="en" sz="1200">
                <a:solidFill>
                  <a:srgbClr val="38761D"/>
                </a:solidFill>
              </a:rPr>
              <a:t> and x</a:t>
            </a:r>
            <a:r>
              <a:rPr baseline="-25000" i="1" lang="en" sz="1200">
                <a:solidFill>
                  <a:srgbClr val="38761D"/>
                </a:solidFill>
              </a:rPr>
              <a:t>2</a:t>
            </a:r>
            <a:r>
              <a:rPr i="1" lang="en" sz="1200">
                <a:solidFill>
                  <a:srgbClr val="38761D"/>
                </a:solidFill>
              </a:rPr>
              <a:t>”</a:t>
            </a:r>
            <a:endParaRPr i="1" sz="1200">
              <a:solidFill>
                <a:srgbClr val="38761D"/>
              </a:solidFill>
            </a:endParaRPr>
          </a:p>
        </p:txBody>
      </p:sp>
      <p:sp>
        <p:nvSpPr>
          <p:cNvPr id="951" name="Google Shape;951;p70"/>
          <p:cNvSpPr txBox="1"/>
          <p:nvPr/>
        </p:nvSpPr>
        <p:spPr>
          <a:xfrm>
            <a:off x="6940375" y="2906275"/>
            <a:ext cx="1561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38761D"/>
                </a:solidFill>
              </a:rPr>
              <a:t>“(x</a:t>
            </a:r>
            <a:r>
              <a:rPr baseline="-25000" i="1" lang="en" sz="1200">
                <a:solidFill>
                  <a:srgbClr val="38761D"/>
                </a:solidFill>
              </a:rPr>
              <a:t>1</a:t>
            </a:r>
            <a:r>
              <a:rPr i="1" lang="en" sz="1200">
                <a:solidFill>
                  <a:srgbClr val="38761D"/>
                </a:solidFill>
              </a:rPr>
              <a:t> or x</a:t>
            </a:r>
            <a:r>
              <a:rPr baseline="-25000" i="1" lang="en" sz="1200">
                <a:solidFill>
                  <a:srgbClr val="38761D"/>
                </a:solidFill>
              </a:rPr>
              <a:t>2</a:t>
            </a:r>
            <a:r>
              <a:rPr i="1" lang="en" sz="1200">
                <a:solidFill>
                  <a:srgbClr val="38761D"/>
                </a:solidFill>
              </a:rPr>
              <a:t>) and not</a:t>
            </a:r>
            <a:br>
              <a:rPr i="1" lang="en" sz="1200">
                <a:solidFill>
                  <a:srgbClr val="38761D"/>
                </a:solidFill>
              </a:rPr>
            </a:br>
            <a:r>
              <a:rPr i="1" lang="en" sz="1200">
                <a:solidFill>
                  <a:srgbClr val="38761D"/>
                </a:solidFill>
              </a:rPr>
              <a:t> (x</a:t>
            </a:r>
            <a:r>
              <a:rPr baseline="-25000" i="1" lang="en" sz="1200">
                <a:solidFill>
                  <a:srgbClr val="38761D"/>
                </a:solidFill>
              </a:rPr>
              <a:t>1</a:t>
            </a:r>
            <a:r>
              <a:rPr i="1" lang="en" sz="1200">
                <a:solidFill>
                  <a:srgbClr val="38761D"/>
                </a:solidFill>
              </a:rPr>
              <a:t> and x</a:t>
            </a:r>
            <a:r>
              <a:rPr baseline="-25000" i="1" lang="en" sz="1200">
                <a:solidFill>
                  <a:srgbClr val="38761D"/>
                </a:solidFill>
              </a:rPr>
              <a:t>2</a:t>
            </a:r>
            <a:r>
              <a:rPr i="1" lang="en" sz="1200">
                <a:solidFill>
                  <a:srgbClr val="38761D"/>
                </a:solidFill>
              </a:rPr>
              <a:t>)”</a:t>
            </a:r>
            <a:endParaRPr i="1" sz="1200">
              <a:solidFill>
                <a:srgbClr val="38761D"/>
              </a:solidFill>
            </a:endParaRPr>
          </a:p>
        </p:txBody>
      </p:sp>
      <p:sp>
        <p:nvSpPr>
          <p:cNvPr id="952" name="Google Shape;952;p70"/>
          <p:cNvSpPr txBox="1"/>
          <p:nvPr/>
        </p:nvSpPr>
        <p:spPr>
          <a:xfrm>
            <a:off x="4434525" y="4087500"/>
            <a:ext cx="461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80000"/>
                </a:solidFill>
              </a:rPr>
              <a:t>Hidden Units                  Output Unit</a:t>
            </a:r>
            <a:endParaRPr b="1">
              <a:solidFill>
                <a:srgbClr val="98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 tip: replace thresholds with bias connections</a:t>
            </a:r>
            <a:endParaRPr/>
          </a:p>
        </p:txBody>
      </p:sp>
      <p:sp>
        <p:nvSpPr>
          <p:cNvPr id="958" name="Google Shape;958;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can replace the threshold </a:t>
            </a:r>
            <a:r>
              <a:rPr b="1" lang="en"/>
              <a:t>t</a:t>
            </a:r>
            <a:r>
              <a:rPr lang="en"/>
              <a:t> with a bias connection with weight </a:t>
            </a:r>
            <a:r>
              <a:rPr b="1" lang="en"/>
              <a:t>w</a:t>
            </a:r>
            <a:r>
              <a:rPr b="1" baseline="-25000" lang="en"/>
              <a:t>0</a:t>
            </a:r>
            <a:r>
              <a:rPr b="1" lang="en"/>
              <a:t> = -t</a:t>
            </a:r>
            <a:r>
              <a:rPr lang="en"/>
              <a:t>. This lets us fix the threshold at 0 for all units. Now our units only have one type of parameter (the weight vector) instead of two types, which simplifies things.</a:t>
            </a:r>
            <a:endParaRPr/>
          </a:p>
        </p:txBody>
      </p:sp>
      <p:sp>
        <p:nvSpPr>
          <p:cNvPr id="959" name="Google Shape;959;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60" name="Google Shape;960;p71"/>
          <p:cNvSpPr/>
          <p:nvPr/>
        </p:nvSpPr>
        <p:spPr>
          <a:xfrm>
            <a:off x="1977600" y="2818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t</a:t>
            </a:r>
            <a:endParaRPr b="1" sz="1600">
              <a:solidFill>
                <a:srgbClr val="980000"/>
              </a:solidFill>
            </a:endParaRPr>
          </a:p>
        </p:txBody>
      </p:sp>
      <p:sp>
        <p:nvSpPr>
          <p:cNvPr id="961" name="Google Shape;961;p71"/>
          <p:cNvSpPr/>
          <p:nvPr/>
        </p:nvSpPr>
        <p:spPr>
          <a:xfrm>
            <a:off x="871150" y="2665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71"/>
          <p:cNvSpPr/>
          <p:nvPr/>
        </p:nvSpPr>
        <p:spPr>
          <a:xfrm>
            <a:off x="871150" y="3236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3" name="Google Shape;963;p71"/>
          <p:cNvCxnSpPr/>
          <p:nvPr/>
        </p:nvCxnSpPr>
        <p:spPr>
          <a:xfrm>
            <a:off x="935050" y="2774125"/>
            <a:ext cx="1068900" cy="356400"/>
          </a:xfrm>
          <a:prstGeom prst="straightConnector1">
            <a:avLst/>
          </a:prstGeom>
          <a:noFill/>
          <a:ln cap="flat" cmpd="sng" w="9525">
            <a:solidFill>
              <a:schemeClr val="dk1"/>
            </a:solidFill>
            <a:prstDash val="solid"/>
            <a:round/>
            <a:headEnd len="med" w="med" type="none"/>
            <a:tailEnd len="med" w="med" type="triangle"/>
          </a:ln>
        </p:spPr>
      </p:cxnSp>
      <p:cxnSp>
        <p:nvCxnSpPr>
          <p:cNvPr id="964" name="Google Shape;964;p71"/>
          <p:cNvCxnSpPr>
            <a:stCxn id="962" idx="6"/>
            <a:endCxn id="960" idx="2"/>
          </p:cNvCxnSpPr>
          <p:nvPr/>
        </p:nvCxnSpPr>
        <p:spPr>
          <a:xfrm flipH="1" rot="10800000">
            <a:off x="1087450" y="3304910"/>
            <a:ext cx="890100" cy="40200"/>
          </a:xfrm>
          <a:prstGeom prst="straightConnector1">
            <a:avLst/>
          </a:prstGeom>
          <a:noFill/>
          <a:ln cap="flat" cmpd="sng" w="9525">
            <a:solidFill>
              <a:schemeClr val="dk1"/>
            </a:solidFill>
            <a:prstDash val="solid"/>
            <a:round/>
            <a:headEnd len="med" w="med" type="none"/>
            <a:tailEnd len="med" w="med" type="triangle"/>
          </a:ln>
        </p:spPr>
      </p:cxnSp>
      <p:sp>
        <p:nvSpPr>
          <p:cNvPr id="965" name="Google Shape;965;p71"/>
          <p:cNvSpPr txBox="1"/>
          <p:nvPr/>
        </p:nvSpPr>
        <p:spPr>
          <a:xfrm>
            <a:off x="503149" y="2551175"/>
            <a:ext cx="378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1</a:t>
            </a:r>
            <a:endParaRPr baseline="-25000"/>
          </a:p>
        </p:txBody>
      </p:sp>
      <p:sp>
        <p:nvSpPr>
          <p:cNvPr id="966" name="Google Shape;966;p71"/>
          <p:cNvSpPr txBox="1"/>
          <p:nvPr/>
        </p:nvSpPr>
        <p:spPr>
          <a:xfrm>
            <a:off x="510600" y="3128850"/>
            <a:ext cx="378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2</a:t>
            </a:r>
            <a:endParaRPr baseline="-25000"/>
          </a:p>
        </p:txBody>
      </p:sp>
      <p:sp>
        <p:nvSpPr>
          <p:cNvPr id="967" name="Google Shape;967;p71"/>
          <p:cNvSpPr txBox="1"/>
          <p:nvPr/>
        </p:nvSpPr>
        <p:spPr>
          <a:xfrm>
            <a:off x="1219703" y="3372880"/>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3</a:t>
            </a:r>
            <a:endParaRPr baseline="-25000"/>
          </a:p>
        </p:txBody>
      </p:sp>
      <p:sp>
        <p:nvSpPr>
          <p:cNvPr id="968" name="Google Shape;968;p71"/>
          <p:cNvSpPr txBox="1"/>
          <p:nvPr/>
        </p:nvSpPr>
        <p:spPr>
          <a:xfrm>
            <a:off x="1219703" y="2596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969" name="Google Shape;969;p71"/>
          <p:cNvSpPr txBox="1"/>
          <p:nvPr/>
        </p:nvSpPr>
        <p:spPr>
          <a:xfrm>
            <a:off x="3330400" y="3089450"/>
            <a:ext cx="26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a:t>
            </a:r>
            <a:endParaRPr/>
          </a:p>
        </p:txBody>
      </p:sp>
      <p:cxnSp>
        <p:nvCxnSpPr>
          <p:cNvPr id="970" name="Google Shape;970;p71"/>
          <p:cNvCxnSpPr>
            <a:stCxn id="960" idx="6"/>
            <a:endCxn id="969" idx="1"/>
          </p:cNvCxnSpPr>
          <p:nvPr/>
        </p:nvCxnSpPr>
        <p:spPr>
          <a:xfrm flipH="1" rot="10800000">
            <a:off x="2950800" y="3289675"/>
            <a:ext cx="379500" cy="15300"/>
          </a:xfrm>
          <a:prstGeom prst="straightConnector1">
            <a:avLst/>
          </a:prstGeom>
          <a:noFill/>
          <a:ln cap="flat" cmpd="sng" w="9525">
            <a:solidFill>
              <a:schemeClr val="dk1"/>
            </a:solidFill>
            <a:prstDash val="solid"/>
            <a:round/>
            <a:headEnd len="med" w="med" type="none"/>
            <a:tailEnd len="med" w="med" type="triangle"/>
          </a:ln>
        </p:spPr>
      </p:cxnSp>
      <p:sp>
        <p:nvSpPr>
          <p:cNvPr id="971" name="Google Shape;971;p71"/>
          <p:cNvSpPr/>
          <p:nvPr/>
        </p:nvSpPr>
        <p:spPr>
          <a:xfrm>
            <a:off x="871150" y="37703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2" name="Google Shape;972;p71"/>
          <p:cNvCxnSpPr>
            <a:stCxn id="971" idx="6"/>
          </p:cNvCxnSpPr>
          <p:nvPr/>
        </p:nvCxnSpPr>
        <p:spPr>
          <a:xfrm flipH="1" rot="10800000">
            <a:off x="1087450" y="3539810"/>
            <a:ext cx="893100" cy="338700"/>
          </a:xfrm>
          <a:prstGeom prst="straightConnector1">
            <a:avLst/>
          </a:prstGeom>
          <a:noFill/>
          <a:ln cap="flat" cmpd="sng" w="9525">
            <a:solidFill>
              <a:schemeClr val="dk1"/>
            </a:solidFill>
            <a:prstDash val="solid"/>
            <a:round/>
            <a:headEnd len="med" w="med" type="none"/>
            <a:tailEnd len="med" w="med" type="triangle"/>
          </a:ln>
        </p:spPr>
      </p:cxnSp>
      <p:sp>
        <p:nvSpPr>
          <p:cNvPr id="973" name="Google Shape;973;p71"/>
          <p:cNvSpPr txBox="1"/>
          <p:nvPr/>
        </p:nvSpPr>
        <p:spPr>
          <a:xfrm>
            <a:off x="503150" y="3662250"/>
            <a:ext cx="386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3</a:t>
            </a:r>
            <a:endParaRPr baseline="-25000"/>
          </a:p>
        </p:txBody>
      </p:sp>
      <p:sp>
        <p:nvSpPr>
          <p:cNvPr id="974" name="Google Shape;974;p71"/>
          <p:cNvSpPr txBox="1"/>
          <p:nvPr/>
        </p:nvSpPr>
        <p:spPr>
          <a:xfrm>
            <a:off x="1219703" y="297643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975" name="Google Shape;975;p71"/>
          <p:cNvSpPr/>
          <p:nvPr/>
        </p:nvSpPr>
        <p:spPr>
          <a:xfrm>
            <a:off x="6930600" y="2818375"/>
            <a:ext cx="973200" cy="97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a:t>
            </a:r>
            <a:r>
              <a:rPr lang="en" sz="1600"/>
              <a:t>&gt;</a:t>
            </a:r>
            <a:r>
              <a:rPr b="1" lang="en" sz="1600">
                <a:solidFill>
                  <a:srgbClr val="980000"/>
                </a:solidFill>
              </a:rPr>
              <a:t>0</a:t>
            </a:r>
            <a:endParaRPr b="1" sz="1600">
              <a:solidFill>
                <a:srgbClr val="980000"/>
              </a:solidFill>
            </a:endParaRPr>
          </a:p>
        </p:txBody>
      </p:sp>
      <p:sp>
        <p:nvSpPr>
          <p:cNvPr id="976" name="Google Shape;976;p71"/>
          <p:cNvSpPr/>
          <p:nvPr/>
        </p:nvSpPr>
        <p:spPr>
          <a:xfrm>
            <a:off x="5824150" y="2665975"/>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71"/>
          <p:cNvSpPr/>
          <p:nvPr/>
        </p:nvSpPr>
        <p:spPr>
          <a:xfrm>
            <a:off x="5824150" y="32369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8" name="Google Shape;978;p71"/>
          <p:cNvCxnSpPr/>
          <p:nvPr/>
        </p:nvCxnSpPr>
        <p:spPr>
          <a:xfrm>
            <a:off x="5888050" y="2774125"/>
            <a:ext cx="1068900" cy="356400"/>
          </a:xfrm>
          <a:prstGeom prst="straightConnector1">
            <a:avLst/>
          </a:prstGeom>
          <a:noFill/>
          <a:ln cap="flat" cmpd="sng" w="9525">
            <a:solidFill>
              <a:schemeClr val="dk1"/>
            </a:solidFill>
            <a:prstDash val="solid"/>
            <a:round/>
            <a:headEnd len="med" w="med" type="none"/>
            <a:tailEnd len="med" w="med" type="triangle"/>
          </a:ln>
        </p:spPr>
      </p:cxnSp>
      <p:cxnSp>
        <p:nvCxnSpPr>
          <p:cNvPr id="979" name="Google Shape;979;p71"/>
          <p:cNvCxnSpPr>
            <a:stCxn id="977" idx="6"/>
            <a:endCxn id="975" idx="2"/>
          </p:cNvCxnSpPr>
          <p:nvPr/>
        </p:nvCxnSpPr>
        <p:spPr>
          <a:xfrm flipH="1" rot="10800000">
            <a:off x="6040450" y="3304910"/>
            <a:ext cx="890100" cy="40200"/>
          </a:xfrm>
          <a:prstGeom prst="straightConnector1">
            <a:avLst/>
          </a:prstGeom>
          <a:noFill/>
          <a:ln cap="flat" cmpd="sng" w="9525">
            <a:solidFill>
              <a:schemeClr val="dk1"/>
            </a:solidFill>
            <a:prstDash val="solid"/>
            <a:round/>
            <a:headEnd len="med" w="med" type="none"/>
            <a:tailEnd len="med" w="med" type="triangle"/>
          </a:ln>
        </p:spPr>
      </p:cxnSp>
      <p:sp>
        <p:nvSpPr>
          <p:cNvPr id="980" name="Google Shape;980;p71"/>
          <p:cNvSpPr txBox="1"/>
          <p:nvPr/>
        </p:nvSpPr>
        <p:spPr>
          <a:xfrm>
            <a:off x="5456149" y="2551175"/>
            <a:ext cx="378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1</a:t>
            </a:r>
            <a:endParaRPr baseline="-25000"/>
          </a:p>
        </p:txBody>
      </p:sp>
      <p:sp>
        <p:nvSpPr>
          <p:cNvPr id="981" name="Google Shape;981;p71"/>
          <p:cNvSpPr txBox="1"/>
          <p:nvPr/>
        </p:nvSpPr>
        <p:spPr>
          <a:xfrm>
            <a:off x="5463600" y="3128850"/>
            <a:ext cx="378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2</a:t>
            </a:r>
            <a:endParaRPr baseline="-25000"/>
          </a:p>
        </p:txBody>
      </p:sp>
      <p:sp>
        <p:nvSpPr>
          <p:cNvPr id="982" name="Google Shape;982;p71"/>
          <p:cNvSpPr txBox="1"/>
          <p:nvPr/>
        </p:nvSpPr>
        <p:spPr>
          <a:xfrm>
            <a:off x="6172703" y="3372880"/>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3</a:t>
            </a:r>
            <a:endParaRPr baseline="-25000"/>
          </a:p>
        </p:txBody>
      </p:sp>
      <p:sp>
        <p:nvSpPr>
          <p:cNvPr id="983" name="Google Shape;983;p71"/>
          <p:cNvSpPr txBox="1"/>
          <p:nvPr/>
        </p:nvSpPr>
        <p:spPr>
          <a:xfrm>
            <a:off x="6172703" y="259646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1</a:t>
            </a:r>
            <a:endParaRPr baseline="-25000"/>
          </a:p>
        </p:txBody>
      </p:sp>
      <p:sp>
        <p:nvSpPr>
          <p:cNvPr id="984" name="Google Shape;984;p71"/>
          <p:cNvSpPr txBox="1"/>
          <p:nvPr/>
        </p:nvSpPr>
        <p:spPr>
          <a:xfrm>
            <a:off x="8283400" y="3089450"/>
            <a:ext cx="26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a:t>
            </a:r>
            <a:endParaRPr/>
          </a:p>
        </p:txBody>
      </p:sp>
      <p:cxnSp>
        <p:nvCxnSpPr>
          <p:cNvPr id="985" name="Google Shape;985;p71"/>
          <p:cNvCxnSpPr>
            <a:stCxn id="975" idx="6"/>
            <a:endCxn id="984" idx="1"/>
          </p:cNvCxnSpPr>
          <p:nvPr/>
        </p:nvCxnSpPr>
        <p:spPr>
          <a:xfrm flipH="1" rot="10800000">
            <a:off x="7903800" y="3289675"/>
            <a:ext cx="379500" cy="15300"/>
          </a:xfrm>
          <a:prstGeom prst="straightConnector1">
            <a:avLst/>
          </a:prstGeom>
          <a:noFill/>
          <a:ln cap="flat" cmpd="sng" w="9525">
            <a:solidFill>
              <a:schemeClr val="dk1"/>
            </a:solidFill>
            <a:prstDash val="solid"/>
            <a:round/>
            <a:headEnd len="med" w="med" type="none"/>
            <a:tailEnd len="med" w="med" type="triangle"/>
          </a:ln>
        </p:spPr>
      </p:cxnSp>
      <p:sp>
        <p:nvSpPr>
          <p:cNvPr id="986" name="Google Shape;986;p71"/>
          <p:cNvSpPr/>
          <p:nvPr/>
        </p:nvSpPr>
        <p:spPr>
          <a:xfrm>
            <a:off x="5824150" y="37703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7" name="Google Shape;987;p71"/>
          <p:cNvCxnSpPr>
            <a:stCxn id="986" idx="6"/>
          </p:cNvCxnSpPr>
          <p:nvPr/>
        </p:nvCxnSpPr>
        <p:spPr>
          <a:xfrm flipH="1" rot="10800000">
            <a:off x="6040450" y="3539810"/>
            <a:ext cx="893100" cy="338700"/>
          </a:xfrm>
          <a:prstGeom prst="straightConnector1">
            <a:avLst/>
          </a:prstGeom>
          <a:noFill/>
          <a:ln cap="flat" cmpd="sng" w="9525">
            <a:solidFill>
              <a:schemeClr val="dk1"/>
            </a:solidFill>
            <a:prstDash val="solid"/>
            <a:round/>
            <a:headEnd len="med" w="med" type="none"/>
            <a:tailEnd len="med" w="med" type="triangle"/>
          </a:ln>
        </p:spPr>
      </p:cxnSp>
      <p:sp>
        <p:nvSpPr>
          <p:cNvPr id="988" name="Google Shape;988;p71"/>
          <p:cNvSpPr txBox="1"/>
          <p:nvPr/>
        </p:nvSpPr>
        <p:spPr>
          <a:xfrm>
            <a:off x="5456150" y="3662250"/>
            <a:ext cx="386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x</a:t>
            </a:r>
            <a:r>
              <a:rPr baseline="-25000" lang="en"/>
              <a:t>3</a:t>
            </a:r>
            <a:endParaRPr baseline="-25000"/>
          </a:p>
        </p:txBody>
      </p:sp>
      <p:sp>
        <p:nvSpPr>
          <p:cNvPr id="989" name="Google Shape;989;p71"/>
          <p:cNvSpPr txBox="1"/>
          <p:nvPr/>
        </p:nvSpPr>
        <p:spPr>
          <a:xfrm>
            <a:off x="6172703" y="2976434"/>
            <a:ext cx="37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a:t>
            </a:r>
            <a:r>
              <a:rPr baseline="-25000" lang="en"/>
              <a:t>2</a:t>
            </a:r>
            <a:endParaRPr baseline="-25000"/>
          </a:p>
        </p:txBody>
      </p:sp>
      <p:sp>
        <p:nvSpPr>
          <p:cNvPr id="990" name="Google Shape;990;p71"/>
          <p:cNvSpPr/>
          <p:nvPr/>
        </p:nvSpPr>
        <p:spPr>
          <a:xfrm>
            <a:off x="6281350" y="4227560"/>
            <a:ext cx="216300" cy="2163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71"/>
          <p:cNvSpPr txBox="1"/>
          <p:nvPr/>
        </p:nvSpPr>
        <p:spPr>
          <a:xfrm>
            <a:off x="6249627" y="4137783"/>
            <a:ext cx="264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FFFF"/>
                </a:solidFill>
              </a:rPr>
              <a:t>1</a:t>
            </a:r>
            <a:endParaRPr>
              <a:solidFill>
                <a:srgbClr val="FFFFFF"/>
              </a:solidFill>
            </a:endParaRPr>
          </a:p>
        </p:txBody>
      </p:sp>
      <p:sp>
        <p:nvSpPr>
          <p:cNvPr id="992" name="Google Shape;992;p71"/>
          <p:cNvSpPr/>
          <p:nvPr/>
        </p:nvSpPr>
        <p:spPr>
          <a:xfrm>
            <a:off x="6479575" y="3776525"/>
            <a:ext cx="710525" cy="556075"/>
          </a:xfrm>
          <a:custGeom>
            <a:rect b="b" l="l" r="r" t="t"/>
            <a:pathLst>
              <a:path extrusionOk="0" h="22243" w="28421">
                <a:moveTo>
                  <a:pt x="0" y="22243"/>
                </a:moveTo>
                <a:lnTo>
                  <a:pt x="18844" y="22243"/>
                </a:lnTo>
                <a:lnTo>
                  <a:pt x="28421" y="0"/>
                </a:lnTo>
              </a:path>
            </a:pathLst>
          </a:custGeom>
          <a:noFill/>
          <a:ln cap="flat" cmpd="sng" w="9525">
            <a:solidFill>
              <a:srgbClr val="000000"/>
            </a:solidFill>
            <a:prstDash val="solid"/>
            <a:round/>
            <a:headEnd len="med" w="med" type="none"/>
            <a:tailEnd len="med" w="med" type="triangle"/>
          </a:ln>
        </p:spPr>
      </p:sp>
      <p:sp>
        <p:nvSpPr>
          <p:cNvPr id="993" name="Google Shape;993;p71"/>
          <p:cNvSpPr txBox="1"/>
          <p:nvPr/>
        </p:nvSpPr>
        <p:spPr>
          <a:xfrm>
            <a:off x="6553697" y="3967025"/>
            <a:ext cx="83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w</a:t>
            </a:r>
            <a:r>
              <a:rPr baseline="-25000" lang="en">
                <a:solidFill>
                  <a:srgbClr val="980000"/>
                </a:solidFill>
              </a:rPr>
              <a:t>0</a:t>
            </a:r>
            <a:r>
              <a:rPr lang="en">
                <a:solidFill>
                  <a:srgbClr val="980000"/>
                </a:solidFill>
              </a:rPr>
              <a:t> = -t</a:t>
            </a:r>
            <a:endParaRPr>
              <a:solidFill>
                <a:srgbClr val="980000"/>
              </a:solidFill>
            </a:endParaRPr>
          </a:p>
        </p:txBody>
      </p:sp>
      <p:sp>
        <p:nvSpPr>
          <p:cNvPr id="994" name="Google Shape;994;p71"/>
          <p:cNvSpPr/>
          <p:nvPr/>
        </p:nvSpPr>
        <p:spPr>
          <a:xfrm>
            <a:off x="3944475" y="2660340"/>
            <a:ext cx="1161900" cy="1266600"/>
          </a:xfrm>
          <a:prstGeom prst="rightArrow">
            <a:avLst>
              <a:gd fmla="val 50000" name="adj1"/>
              <a:gd fmla="val 50000" name="adj2"/>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71"/>
          <p:cNvSpPr txBox="1"/>
          <p:nvPr/>
        </p:nvSpPr>
        <p:spPr>
          <a:xfrm>
            <a:off x="6553700" y="4367225"/>
            <a:ext cx="1521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t>bias connection</a:t>
            </a:r>
            <a:endParaRPr i="1" sz="12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7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Module 3.5 Takeaways</a:t>
            </a:r>
            <a:endParaRPr/>
          </a:p>
        </p:txBody>
      </p:sp>
      <p:sp>
        <p:nvSpPr>
          <p:cNvPr id="1001" name="Google Shape;1001;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Algorithms</a:t>
            </a:r>
            <a:endParaRPr/>
          </a:p>
        </p:txBody>
      </p:sp>
      <p:sp>
        <p:nvSpPr>
          <p:cNvPr id="1007" name="Google Shape;1007;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Building neural nets by hand requires careful attention to the weights.</a:t>
            </a:r>
            <a:endParaRPr/>
          </a:p>
          <a:p>
            <a:pPr indent="-317500" lvl="1" marL="914400" rtl="0" algn="l">
              <a:spcBef>
                <a:spcPts val="0"/>
              </a:spcBef>
              <a:spcAft>
                <a:spcPts val="0"/>
              </a:spcAft>
              <a:buSzPts val="1400"/>
              <a:buChar char="○"/>
            </a:pPr>
            <a:r>
              <a:rPr lang="en"/>
              <a:t>Only feasible for small networks.</a:t>
            </a:r>
            <a:br>
              <a:rPr lang="en"/>
            </a:br>
            <a:endParaRPr/>
          </a:p>
          <a:p>
            <a:pPr indent="-342900" lvl="0" marL="457200" rtl="0" algn="l">
              <a:spcBef>
                <a:spcPts val="0"/>
              </a:spcBef>
              <a:spcAft>
                <a:spcPts val="0"/>
              </a:spcAft>
              <a:buSzPts val="1800"/>
              <a:buChar char="●"/>
            </a:pPr>
            <a:r>
              <a:rPr lang="en"/>
              <a:t>What we need is a </a:t>
            </a:r>
            <a:r>
              <a:rPr b="1" lang="en"/>
              <a:t>learning algorithm</a:t>
            </a:r>
            <a:r>
              <a:rPr lang="en"/>
              <a:t> that can set the weights for us.</a:t>
            </a:r>
            <a:br>
              <a:rPr lang="en"/>
            </a:br>
            <a:endParaRPr/>
          </a:p>
          <a:p>
            <a:pPr indent="-342900" lvl="0" marL="457200" rtl="0" algn="l">
              <a:spcBef>
                <a:spcPts val="0"/>
              </a:spcBef>
              <a:spcAft>
                <a:spcPts val="0"/>
              </a:spcAft>
              <a:buSzPts val="1800"/>
              <a:buChar char="●"/>
            </a:pPr>
            <a:r>
              <a:rPr lang="en"/>
              <a:t>All we have to do is show it some training data so it knows what output we want to produce for each input.</a:t>
            </a:r>
            <a:br>
              <a:rPr lang="en"/>
            </a:br>
            <a:endParaRPr/>
          </a:p>
          <a:p>
            <a:pPr indent="-342900" lvl="0" marL="457200" rtl="0" algn="l">
              <a:spcBef>
                <a:spcPts val="0"/>
              </a:spcBef>
              <a:spcAft>
                <a:spcPts val="0"/>
              </a:spcAft>
              <a:buSzPts val="1800"/>
              <a:buChar char="●"/>
            </a:pPr>
            <a:r>
              <a:rPr lang="en"/>
              <a:t>The “will this dog bite me” network was trained using a very simple learning algorithm...</a:t>
            </a:r>
            <a:endParaRPr/>
          </a:p>
        </p:txBody>
      </p:sp>
      <p:sp>
        <p:nvSpPr>
          <p:cNvPr id="1008" name="Google Shape;1008;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Relationship between Big Ideas 2 and 3</a:t>
            </a:r>
            <a:endParaRPr/>
          </a:p>
        </p:txBody>
      </p:sp>
      <p:sp>
        <p:nvSpPr>
          <p:cNvPr id="1014" name="Google Shape;1014;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dog bite predicting neural network is doing </a:t>
            </a:r>
            <a:r>
              <a:rPr b="1" lang="en"/>
              <a:t>reasoning.</a:t>
            </a:r>
            <a:endParaRPr/>
          </a:p>
          <a:p>
            <a:pPr indent="-317500" lvl="1" marL="914400" rtl="0" algn="l">
              <a:spcBef>
                <a:spcPts val="0"/>
              </a:spcBef>
              <a:spcAft>
                <a:spcPts val="0"/>
              </a:spcAft>
              <a:buSzPts val="1400"/>
              <a:buChar char="○"/>
            </a:pPr>
            <a:r>
              <a:rPr lang="en"/>
              <a:t>It’s solving a classification problem.</a:t>
            </a:r>
            <a:br>
              <a:rPr lang="en"/>
            </a:br>
            <a:endParaRPr/>
          </a:p>
          <a:p>
            <a:pPr indent="-342900" lvl="0" marL="457200" rtl="0" algn="l">
              <a:spcBef>
                <a:spcPts val="0"/>
              </a:spcBef>
              <a:spcAft>
                <a:spcPts val="0"/>
              </a:spcAft>
              <a:buSzPts val="1800"/>
              <a:buChar char="●"/>
            </a:pPr>
            <a:r>
              <a:rPr lang="en"/>
              <a:t>The </a:t>
            </a:r>
            <a:r>
              <a:rPr b="1" lang="en"/>
              <a:t>input</a:t>
            </a:r>
            <a:r>
              <a:rPr lang="en"/>
              <a:t> </a:t>
            </a:r>
            <a:r>
              <a:rPr b="1" lang="en"/>
              <a:t>representation</a:t>
            </a:r>
            <a:r>
              <a:rPr lang="en"/>
              <a:t> used by the network is a feature vector.</a:t>
            </a:r>
            <a:endParaRPr/>
          </a:p>
          <a:p>
            <a:pPr indent="-317500" lvl="1" marL="914400" rtl="0" algn="l">
              <a:spcBef>
                <a:spcPts val="0"/>
              </a:spcBef>
              <a:spcAft>
                <a:spcPts val="0"/>
              </a:spcAft>
              <a:buSzPts val="1400"/>
              <a:buChar char="○"/>
            </a:pPr>
            <a:r>
              <a:rPr lang="en"/>
              <a:t>Each expert contributes one feature.</a:t>
            </a:r>
            <a:endParaRPr/>
          </a:p>
          <a:p>
            <a:pPr indent="-317500" lvl="1" marL="914400" rtl="0" algn="l">
              <a:spcBef>
                <a:spcPts val="0"/>
              </a:spcBef>
              <a:spcAft>
                <a:spcPts val="0"/>
              </a:spcAft>
              <a:buSzPts val="1400"/>
              <a:buChar char="○"/>
            </a:pPr>
            <a:r>
              <a:rPr lang="en"/>
              <a:t>The features could be binary (-1/+1) or real values from -1 to +1.</a:t>
            </a:r>
            <a:br>
              <a:rPr lang="en"/>
            </a:br>
            <a:endParaRPr/>
          </a:p>
          <a:p>
            <a:pPr indent="-342900" lvl="0" marL="457200" rtl="0" algn="l">
              <a:spcBef>
                <a:spcPts val="0"/>
              </a:spcBef>
              <a:spcAft>
                <a:spcPts val="0"/>
              </a:spcAft>
              <a:buSzPts val="1800"/>
              <a:buChar char="●"/>
            </a:pPr>
            <a:r>
              <a:rPr lang="en"/>
              <a:t>Another important representation is the </a:t>
            </a:r>
            <a:r>
              <a:rPr b="1" lang="en"/>
              <a:t>weight vector</a:t>
            </a:r>
            <a:r>
              <a:rPr lang="en"/>
              <a:t>.</a:t>
            </a:r>
            <a:br>
              <a:rPr lang="en"/>
            </a:br>
            <a:endParaRPr/>
          </a:p>
          <a:p>
            <a:pPr indent="-342900" lvl="0" marL="457200" rtl="0" algn="l">
              <a:spcBef>
                <a:spcPts val="0"/>
              </a:spcBef>
              <a:spcAft>
                <a:spcPts val="0"/>
              </a:spcAft>
              <a:buSzPts val="1800"/>
              <a:buChar char="●"/>
            </a:pPr>
            <a:r>
              <a:rPr lang="en"/>
              <a:t>The learning algorithm adjusts the weight vector so as to </a:t>
            </a:r>
            <a:r>
              <a:rPr b="1" lang="en"/>
              <a:t>improve the performance</a:t>
            </a:r>
            <a:r>
              <a:rPr lang="en"/>
              <a:t> of the reasoner. Once learning is complete, using the network to classify new dog images is reasoning (Module 3.1).</a:t>
            </a:r>
            <a:endParaRPr/>
          </a:p>
        </p:txBody>
      </p:sp>
      <p:sp>
        <p:nvSpPr>
          <p:cNvPr id="1015" name="Google Shape;1015;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neural net learning rule</a:t>
            </a:r>
            <a:endParaRPr/>
          </a:p>
        </p:txBody>
      </p:sp>
      <p:sp>
        <p:nvSpPr>
          <p:cNvPr id="1021" name="Google Shape;1021;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Neural net learning rules describe how weights change with experience.</a:t>
            </a:r>
            <a:endParaRPr/>
          </a:p>
          <a:p>
            <a:pPr indent="0" lvl="0" marL="0" rtl="0" algn="l">
              <a:spcBef>
                <a:spcPts val="1200"/>
              </a:spcBef>
              <a:spcAft>
                <a:spcPts val="0"/>
              </a:spcAft>
              <a:buNone/>
            </a:pPr>
            <a:r>
              <a:rPr lang="en"/>
              <a:t>We can write the learning rule for our dog bite network as an equation that explains how the weight w</a:t>
            </a:r>
            <a:r>
              <a:rPr baseline="-25000" lang="en"/>
              <a:t>i</a:t>
            </a:r>
            <a:r>
              <a:rPr lang="en"/>
              <a:t> of the </a:t>
            </a:r>
            <a:r>
              <a:rPr i="1" lang="en"/>
              <a:t>i</a:t>
            </a:r>
            <a:r>
              <a:rPr lang="en"/>
              <a:t>th expert changes based on the output x</a:t>
            </a:r>
            <a:r>
              <a:rPr baseline="-25000" lang="en"/>
              <a:t>i</a:t>
            </a:r>
            <a:r>
              <a:rPr lang="en"/>
              <a:t> and the desired output </a:t>
            </a:r>
            <a:r>
              <a:rPr i="1" lang="en"/>
              <a:t>d</a:t>
            </a:r>
            <a:r>
              <a:rPr lang="en"/>
              <a:t> (from the teacher) for the current training example.</a:t>
            </a:r>
            <a:endParaRPr/>
          </a:p>
          <a:p>
            <a:pPr indent="0" lvl="0" marL="0" rtl="0" algn="l">
              <a:spcBef>
                <a:spcPts val="1200"/>
              </a:spcBef>
              <a:spcAft>
                <a:spcPts val="0"/>
              </a:spcAft>
              <a:buNone/>
            </a:pPr>
            <a:r>
              <a:rPr lang="en" sz="2400"/>
              <a:t>	Δw</a:t>
            </a:r>
            <a:r>
              <a:rPr baseline="-25000" lang="en" sz="2400"/>
              <a:t>i</a:t>
            </a:r>
            <a:r>
              <a:rPr lang="en" sz="2400"/>
              <a:t>  =  0.1 · x</a:t>
            </a:r>
            <a:r>
              <a:rPr baseline="-25000" lang="en" sz="2400"/>
              <a:t>i</a:t>
            </a:r>
            <a:r>
              <a:rPr lang="en" sz="2400">
                <a:solidFill>
                  <a:schemeClr val="dk1"/>
                </a:solidFill>
              </a:rPr>
              <a:t> · </a:t>
            </a:r>
            <a:r>
              <a:rPr i="1" lang="en" sz="2400"/>
              <a:t>d</a:t>
            </a:r>
            <a:r>
              <a:rPr lang="en" sz="2400"/>
              <a:t>	   </a:t>
            </a:r>
            <a:r>
              <a:rPr lang="en">
                <a:solidFill>
                  <a:srgbClr val="980000"/>
                </a:solidFill>
              </a:rPr>
              <a:t>Notation: Δw</a:t>
            </a:r>
            <a:r>
              <a:rPr baseline="-25000" lang="en">
                <a:solidFill>
                  <a:srgbClr val="980000"/>
                </a:solidFill>
              </a:rPr>
              <a:t>i</a:t>
            </a:r>
            <a:r>
              <a:rPr lang="en">
                <a:solidFill>
                  <a:srgbClr val="980000"/>
                </a:solidFill>
              </a:rPr>
              <a:t> (delta w</a:t>
            </a:r>
            <a:r>
              <a:rPr baseline="-25000" lang="en">
                <a:solidFill>
                  <a:srgbClr val="980000"/>
                </a:solidFill>
              </a:rPr>
              <a:t>i</a:t>
            </a:r>
            <a:r>
              <a:rPr lang="en">
                <a:solidFill>
                  <a:srgbClr val="980000"/>
                </a:solidFill>
              </a:rPr>
              <a:t>) means “change in w</a:t>
            </a:r>
            <a:r>
              <a:rPr baseline="-25000" lang="en">
                <a:solidFill>
                  <a:srgbClr val="980000"/>
                </a:solidFill>
              </a:rPr>
              <a:t>i</a:t>
            </a:r>
            <a:r>
              <a:rPr lang="en">
                <a:solidFill>
                  <a:srgbClr val="980000"/>
                </a:solidFill>
              </a:rPr>
              <a:t>”</a:t>
            </a:r>
            <a:endParaRPr>
              <a:solidFill>
                <a:srgbClr val="980000"/>
              </a:solidFill>
            </a:endParaRPr>
          </a:p>
          <a:p>
            <a:pPr indent="0" lvl="0" marL="0" rtl="0" algn="l">
              <a:spcBef>
                <a:spcPts val="1200"/>
              </a:spcBef>
              <a:spcAft>
                <a:spcPts val="1200"/>
              </a:spcAft>
              <a:buNone/>
            </a:pPr>
            <a:r>
              <a:rPr lang="en"/>
              <a:t>Notice that if x</a:t>
            </a:r>
            <a:r>
              <a:rPr baseline="-25000" lang="en"/>
              <a:t>i</a:t>
            </a:r>
            <a:r>
              <a:rPr lang="en"/>
              <a:t> and </a:t>
            </a:r>
            <a:r>
              <a:rPr i="1" lang="en"/>
              <a:t>d</a:t>
            </a:r>
            <a:r>
              <a:rPr lang="en"/>
              <a:t> are either both +1 or both -1, the weight w</a:t>
            </a:r>
            <a:r>
              <a:rPr baseline="-25000" lang="en"/>
              <a:t>i</a:t>
            </a:r>
            <a:r>
              <a:rPr lang="en"/>
              <a:t> will increase. If they have opposite signs, the weight will decrease. If x</a:t>
            </a:r>
            <a:r>
              <a:rPr baseline="-25000" lang="en"/>
              <a:t>i</a:t>
            </a:r>
            <a:r>
              <a:rPr lang="en"/>
              <a:t> is zero, w</a:t>
            </a:r>
            <a:r>
              <a:rPr baseline="-25000" lang="en"/>
              <a:t>i</a:t>
            </a:r>
            <a:r>
              <a:rPr lang="en"/>
              <a:t> will not change.</a:t>
            </a:r>
            <a:br>
              <a:rPr lang="en"/>
            </a:br>
            <a:br>
              <a:rPr lang="en"/>
            </a:br>
            <a:r>
              <a:rPr lang="en"/>
              <a:t>This is a very simple learning rule that doesn’t work for networks with hidden layers. Most neural nets use something more complex, but the form is similar.</a:t>
            </a:r>
            <a:endParaRPr/>
          </a:p>
        </p:txBody>
      </p:sp>
      <p:sp>
        <p:nvSpPr>
          <p:cNvPr id="1022" name="Google Shape;1022;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Backpropagation learning rule: allows for hidden layers</a:t>
            </a:r>
            <a:endParaRPr/>
          </a:p>
        </p:txBody>
      </p:sp>
      <p:sp>
        <p:nvSpPr>
          <p:cNvPr id="1028" name="Google Shape;1028;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29" name="Google Shape;1029;p76"/>
          <p:cNvPicPr preferRelativeResize="0"/>
          <p:nvPr/>
        </p:nvPicPr>
        <p:blipFill rotWithShape="1">
          <a:blip r:embed="rId3">
            <a:alphaModFix/>
          </a:blip>
          <a:srcRect b="0" l="0" r="0" t="11676"/>
          <a:stretch/>
        </p:blipFill>
        <p:spPr>
          <a:xfrm>
            <a:off x="602200" y="1257125"/>
            <a:ext cx="6538120" cy="3467150"/>
          </a:xfrm>
          <a:prstGeom prst="rect">
            <a:avLst/>
          </a:prstGeom>
          <a:noFill/>
          <a:ln>
            <a:noFill/>
          </a:ln>
        </p:spPr>
      </p:pic>
      <p:sp>
        <p:nvSpPr>
          <p:cNvPr id="1030" name="Google Shape;1030;p76"/>
          <p:cNvSpPr/>
          <p:nvPr/>
        </p:nvSpPr>
        <p:spPr>
          <a:xfrm>
            <a:off x="1783500" y="2021244"/>
            <a:ext cx="4433100" cy="2394000"/>
          </a:xfrm>
          <a:prstGeom prst="leftArrow">
            <a:avLst>
              <a:gd fmla="val 50000" name="adj1"/>
              <a:gd fmla="val 50000" name="adj2"/>
            </a:avLst>
          </a:prstGeom>
          <a:solidFill>
            <a:srgbClr val="F4CCCC">
              <a:alpha val="6648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980000"/>
                </a:solidFill>
                <a:highlight>
                  <a:srgbClr val="CFE2F3"/>
                </a:highlight>
              </a:rPr>
              <a:t>Error signal</a:t>
            </a:r>
            <a:endParaRPr sz="1800">
              <a:solidFill>
                <a:srgbClr val="980000"/>
              </a:solidFill>
              <a:highlight>
                <a:srgbClr val="CFE2F3"/>
              </a:highlight>
            </a:endParaRPr>
          </a:p>
        </p:txBody>
      </p:sp>
      <p:sp>
        <p:nvSpPr>
          <p:cNvPr id="1031" name="Google Shape;1031;p76"/>
          <p:cNvSpPr txBox="1"/>
          <p:nvPr/>
        </p:nvSpPr>
        <p:spPr>
          <a:xfrm>
            <a:off x="7138075" y="2612125"/>
            <a:ext cx="957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Mean Square Error (d-y)</a:t>
            </a:r>
            <a:r>
              <a:rPr baseline="30000" lang="en">
                <a:solidFill>
                  <a:srgbClr val="980000"/>
                </a:solidFill>
              </a:rPr>
              <a:t>2</a:t>
            </a:r>
            <a:endParaRPr baseline="30000">
              <a:solidFill>
                <a:srgbClr val="980000"/>
              </a:solidFill>
            </a:endParaRPr>
          </a:p>
        </p:txBody>
      </p:sp>
      <p:sp>
        <p:nvSpPr>
          <p:cNvPr id="1032" name="Google Shape;1032;p76"/>
          <p:cNvSpPr txBox="1"/>
          <p:nvPr/>
        </p:nvSpPr>
        <p:spPr>
          <a:xfrm>
            <a:off x="6739050" y="3925625"/>
            <a:ext cx="2282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 = actual output</a:t>
            </a:r>
            <a:endParaRPr/>
          </a:p>
          <a:p>
            <a:pPr indent="0" lvl="0" marL="0" rtl="0" algn="l">
              <a:spcBef>
                <a:spcPts val="0"/>
              </a:spcBef>
              <a:spcAft>
                <a:spcPts val="0"/>
              </a:spcAft>
              <a:buNone/>
            </a:pPr>
            <a:r>
              <a:rPr lang="en"/>
              <a:t>d = desired output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