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EC1809-D437-4457-BDB7-B71CCF5CB40B}">
  <a:tblStyle styleId="{CFEC1809-D437-4457-BDB7-B71CCF5CB40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e54f527a63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e54f527a63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e54f527a63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e54f527a63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54f527a63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e54f527a63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e54f527a63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e54f527a63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Away - We are asking a computer to design the tree to learn a concept that it has no notion of. So it doesn’t know what features are relevant or what values of those features are important. It has to figure it out from the training data.</a:t>
            </a:r>
            <a:endParaRPr/>
          </a:p>
          <a:p>
            <a:pPr indent="0" lvl="0" marL="0" rtl="0" algn="l">
              <a:spcBef>
                <a:spcPts val="0"/>
              </a:spcBef>
              <a:spcAft>
                <a:spcPts val="0"/>
              </a:spcAft>
              <a:buNone/>
            </a:pPr>
            <a:r>
              <a:rPr lang="en"/>
              <a:t>So that we are not cheating we will pick a concept we also don’t know of in advance. </a:t>
            </a:r>
            <a:r>
              <a:rPr lang="en">
                <a:solidFill>
                  <a:schemeClr val="dk1"/>
                </a:solidFill>
              </a:rPr>
              <a:t>We will learn along with the computer. That way we will know what it feels like to learn the way that the computer learns.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e54f527a63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e54f527a63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54f527a63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e54f527a63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e54f527a63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e54f527a63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 Features are not binary. Notice for the body type we have 5.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e54f527a6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e54f527a6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e54f527a63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e54f527a63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e54f527a63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e54f527a63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e54f527a63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e54f527a63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e54f527a63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e54f527a63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f369638f9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f369638f9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e54f527a63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e54f527a63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REVISE THIS</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Teacher Note - Here are two fish note that we can’t tell by just looking at the fish which is a reef dweller.  But the training data will tell us. We are relying on the labels from the training data to tell us which fish is a reef dweller.</a:t>
            </a:r>
            <a:endParaRPr/>
          </a:p>
          <a:p>
            <a:pPr indent="0" lvl="0" marL="0" rtl="0" algn="l">
              <a:spcBef>
                <a:spcPts val="0"/>
              </a:spcBef>
              <a:spcAft>
                <a:spcPts val="0"/>
              </a:spcAft>
              <a:buNone/>
            </a:pPr>
            <a:r>
              <a:rPr lang="en"/>
              <a:t>Look at the top right corner - we are listing all the feature where these two fish differ.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pick our first feature on the list and test that feature (see decision tree)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trying to come up with an explanation for the training data. We are trying to come up with a rule …Since we have so little data so far .. some of these will drop out as we see more data.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four pairs that Each one of these pair is a different way of using the features</a:t>
            </a:r>
            <a:endParaRPr/>
          </a:p>
          <a:p>
            <a:pPr indent="-298450" lvl="0" marL="457200" rtl="0" algn="l">
              <a:spcBef>
                <a:spcPts val="0"/>
              </a:spcBef>
              <a:spcAft>
                <a:spcPts val="0"/>
              </a:spcAft>
              <a:buSzPts val="1100"/>
              <a:buChar char="-"/>
            </a:pPr>
            <a:r>
              <a:rPr lang="en"/>
              <a:t>If we choose the first feature, is it orange we conclude not reef</a:t>
            </a:r>
            <a:endParaRPr/>
          </a:p>
          <a:p>
            <a:pPr indent="-298450" lvl="1" marL="914400" rtl="0" algn="l">
              <a:spcBef>
                <a:spcPts val="0"/>
              </a:spcBef>
              <a:spcAft>
                <a:spcPts val="0"/>
              </a:spcAft>
              <a:buSzPts val="1100"/>
              <a:buChar char="-"/>
            </a:pPr>
            <a:r>
              <a:rPr lang="en"/>
              <a:t>Anything other than orange is a reef dweller</a:t>
            </a:r>
            <a:endParaRPr/>
          </a:p>
          <a:p>
            <a:pPr indent="-298450" lvl="0" marL="457200" rtl="0" algn="l">
              <a:spcBef>
                <a:spcPts val="0"/>
              </a:spcBef>
              <a:spcAft>
                <a:spcPts val="0"/>
              </a:spcAft>
              <a:buSzPts val="1100"/>
              <a:buChar char="-"/>
            </a:pPr>
            <a:r>
              <a:rPr lang="en"/>
              <a:t>If we choose the second feature</a:t>
            </a:r>
            <a:endParaRPr/>
          </a:p>
          <a:p>
            <a:pPr indent="-298450" lvl="0" marL="457200" rtl="0" algn="l">
              <a:spcBef>
                <a:spcPts val="0"/>
              </a:spcBef>
              <a:spcAft>
                <a:spcPts val="0"/>
              </a:spcAft>
              <a:buSzPts val="1100"/>
              <a:buChar char="-"/>
            </a:pPr>
            <a:r>
              <a:rPr lang="en">
                <a:solidFill>
                  <a:schemeClr val="dk1"/>
                </a:solidFill>
              </a:rPr>
              <a:t>Take away - Note the pairs are not expressing the same rules. They are expressing alternative rules.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two elements in each pair will produce different predictions for some fish. </a:t>
            </a:r>
            <a:endParaRPr>
              <a:solidFill>
                <a:schemeClr val="dk1"/>
              </a:solidFill>
            </a:endParaRPr>
          </a:p>
          <a:p>
            <a:pPr indent="-298450" lvl="0" marL="457200" rtl="0" algn="l">
              <a:spcBef>
                <a:spcPts val="0"/>
              </a:spcBef>
              <a:spcAft>
                <a:spcPts val="0"/>
              </a:spcAft>
              <a:buSzPts val="1100"/>
              <a:buChar char="-"/>
            </a:pPr>
            <a:r>
              <a:rPr lang="en"/>
              <a:t>There are 8 different rules that we are looking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 rule could be our potential decision tree -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e54f527a63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e54f527a63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 fix the table to show that these have been ruled out. We have eliminated half of the candidate rules because they produce the wrong answer for half of the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still don’t know what the correct rule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not enough information to select among the candidates.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e54f527a63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e54f527a63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possible for a training example to not tell you anything that you didn’t a;ready know</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e54f527a63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e54f527a63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e54f527a63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e54f527a63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see more examples we can have greater confidence that we have the right rule.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e54f527a63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e54f527a63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e54f527a63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e54f527a63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5f369638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5f369638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learned this tree. Let’s apply it to a new data. We will use it to make predictions about the class data. </a:t>
            </a:r>
            <a:endParaRPr/>
          </a:p>
          <a:p>
            <a:pPr indent="0" lvl="0" marL="0" rtl="0" algn="l">
              <a:spcBef>
                <a:spcPts val="0"/>
              </a:spcBef>
              <a:spcAft>
                <a:spcPts val="0"/>
              </a:spcAft>
              <a:buNone/>
            </a:pPr>
            <a:r>
              <a:rPr lang="en"/>
              <a:t>We are testing our classifier. We want to see what prediction it makes.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e54f527a63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e54f527a63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learned this tree. Let’s apply it to a new data. We will use it to make predictions about the class data. </a:t>
            </a:r>
            <a:endParaRPr/>
          </a:p>
          <a:p>
            <a:pPr indent="0" lvl="0" marL="0" rtl="0" algn="l">
              <a:spcBef>
                <a:spcPts val="0"/>
              </a:spcBef>
              <a:spcAft>
                <a:spcPts val="0"/>
              </a:spcAft>
              <a:buNone/>
            </a:pPr>
            <a:r>
              <a:rPr lang="en"/>
              <a:t>We are testing our classifier. We want to see what prediction it makes.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5f369638f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5f369638f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is different than we are doing pasta land where we knew everything in advance and we were doing splitting.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are using an incremental algorithm.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real algorithm would look at all the rules and choose the best splits.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are withholding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 looks at every possible feature and tries to figure out which one gives you the best split.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split may not be perfect.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Split the data into two pieces but the data is still classified incorrectly.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I split this node. I want to split it so that I get perfect classification for both branches.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are splitting until all the nodes are classified correctly.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pastaland we split node had a single instance.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But in the general case, we only need to split until we have no errors.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the poisonous example, we don’t have just one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are considering alternative rules - we are graying out rules.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Connect this concept - we can’t make the predictions with small datasets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Solve the poisonous fish with splits.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Learn how to do the decision trees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Need a slide on with the splits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e54f527a63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e54f527a63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Teacher note: This is a new problem. There is no one feature that will tell us poisonous vs non-poisonous.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will show you how to use a ML tool to solve a problem that you couldn’t sove on their own.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5f369638f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5f369638f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5f369638f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5f369638f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5f369638f9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5f369638f9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5f369638f9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5f369638f9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5f369638f9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5f369638f9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5f369638f9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5f369638f9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e54f527a63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e54f527a63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To do</a:t>
            </a:r>
            <a:r>
              <a:rPr lang="en"/>
              <a:t> we need to create the data set.</a:t>
            </a:r>
            <a:endParaRPr/>
          </a:p>
          <a:p>
            <a:pPr indent="-298450" lvl="0" marL="457200" rtl="0" algn="l">
              <a:spcBef>
                <a:spcPts val="0"/>
              </a:spcBef>
              <a:spcAft>
                <a:spcPts val="0"/>
              </a:spcAft>
              <a:buSzPts val="1100"/>
              <a:buChar char="-"/>
            </a:pPr>
            <a:r>
              <a:rPr lang="en"/>
              <a:t>Fix the typos</a:t>
            </a:r>
            <a:endParaRPr/>
          </a:p>
          <a:p>
            <a:pPr indent="-298450" lvl="0" marL="457200" rtl="0" algn="l">
              <a:spcBef>
                <a:spcPts val="0"/>
              </a:spcBef>
              <a:spcAft>
                <a:spcPts val="0"/>
              </a:spcAft>
              <a:buSzPts val="1100"/>
              <a:buChar char="-"/>
            </a:pPr>
            <a:r>
              <a:rPr lang="en"/>
              <a:t>Fix the feature order</a:t>
            </a:r>
            <a:endParaRPr/>
          </a:p>
          <a:p>
            <a:pPr indent="-298450" lvl="0" marL="457200" rtl="0" algn="l">
              <a:spcBef>
                <a:spcPts val="0"/>
              </a:spcBef>
              <a:spcAft>
                <a:spcPts val="0"/>
              </a:spcAft>
              <a:buSzPts val="1100"/>
              <a:buChar char="-"/>
            </a:pPr>
            <a:r>
              <a:rPr lang="en"/>
              <a:t>Fix the colors codes</a:t>
            </a:r>
            <a:endParaRPr/>
          </a:p>
          <a:p>
            <a:pPr indent="-298450" lvl="0" marL="457200" rtl="0" algn="l">
              <a:spcBef>
                <a:spcPts val="0"/>
              </a:spcBef>
              <a:spcAft>
                <a:spcPts val="0"/>
              </a:spcAft>
              <a:buSzPts val="1100"/>
              <a:buChar char="-"/>
            </a:pPr>
            <a:r>
              <a:t/>
            </a:r>
            <a:endParaRPr/>
          </a:p>
          <a:p>
            <a:pPr indent="0" lvl="0" marL="0" rtl="0" algn="l">
              <a:spcBef>
                <a:spcPts val="0"/>
              </a:spcBef>
              <a:spcAft>
                <a:spcPts val="0"/>
              </a:spcAft>
              <a:buNone/>
            </a:pPr>
            <a:r>
              <a:rPr lang="en"/>
              <a:t>MLFK - requires 5 examples of each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e54f527a6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e54f527a6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To do</a:t>
            </a:r>
            <a:r>
              <a:rPr lang="en">
                <a:solidFill>
                  <a:schemeClr val="dk1"/>
                </a:solidFill>
              </a:rPr>
              <a:t> we need to create the data set.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Fix the typos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Fix the feature order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Fix the colors codes</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MLFK - requires 5 examples of each class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5f369638f9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5f369638f9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e54f527a63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e54f527a63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this is a redrawn tree in our tree notation.</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5f369638f9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25f369638f9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5f369638f9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5f369638f9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5f369638f9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5f369638f9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5f369638f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5f369638f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5f369638f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5f369638f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1e54f527a63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1e54f527a63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1e54f527a63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1e54f527a63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e54f527a63_0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e54f527a63_0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e54f527a63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e54f527a63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1e54f527a63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1e54f527a63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sure for a skill perspective that students have been able to create their own thing or at least used all the key features of ML4K</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e54f527a63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e54f527a63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e54f527a63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e54f527a63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e54f527a63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e54f527a63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shape and color conflict, large size means trust the color; small size means trust the shape.</a:t>
            </a:r>
            <a:endParaRPr/>
          </a:p>
          <a:p>
            <a:pPr indent="0" lvl="0" marL="0" rtl="0" algn="l">
              <a:spcBef>
                <a:spcPts val="0"/>
              </a:spcBef>
              <a:spcAft>
                <a:spcPts val="0"/>
              </a:spcAft>
              <a:buNone/>
            </a:pPr>
            <a:r>
              <a:rPr lang="en"/>
              <a:t>If we can only pick one feature, we could use shape.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can’t tell if the outliers are noise or if we need to accommodate the irregularities.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1e54f527a63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1e54f527a63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preparation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e54f527a63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e54f527a63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know specific things about the people (top of the slide)</a:t>
            </a:r>
            <a:endParaRPr/>
          </a:p>
          <a:p>
            <a:pPr indent="0" lvl="0" marL="0" rtl="0" algn="l">
              <a:spcBef>
                <a:spcPts val="0"/>
              </a:spcBef>
              <a:spcAft>
                <a:spcPts val="0"/>
              </a:spcAft>
              <a:buNone/>
            </a:pPr>
            <a:r>
              <a:rPr lang="en"/>
              <a:t>We are only looking at a small part of the dataset see the oval at the bottom right corner</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1e54f527a63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1e54f527a63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 more realistic dataset. More features, more data. It would be really hard for a human to do this. </a:t>
            </a:r>
            <a:endParaRPr/>
          </a:p>
          <a:p>
            <a:pPr indent="0" lvl="0" marL="0" rtl="0" algn="l">
              <a:spcBef>
                <a:spcPts val="0"/>
              </a:spcBef>
              <a:spcAft>
                <a:spcPts val="0"/>
              </a:spcAft>
              <a:buNone/>
            </a:pPr>
            <a:r>
              <a:rPr lang="en"/>
              <a:t>This tree is smart and it does complicated statistical calculations to make good decisions and build a complicated tree.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Gender=female &lt;=0.5 (is gender = female false)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this tree slightly orange. Most of the people did not survive. We already know that approx ⅔ did not survive and ⅓ are in the.</a:t>
            </a:r>
            <a:endParaRPr/>
          </a:p>
          <a:p>
            <a:pPr indent="0" lvl="0" marL="0" rtl="0" algn="l">
              <a:spcBef>
                <a:spcPts val="0"/>
              </a:spcBef>
              <a:spcAft>
                <a:spcPts val="0"/>
              </a:spcAft>
              <a:buNone/>
            </a:pPr>
            <a:r>
              <a:rPr lang="en"/>
              <a:t>Gender is the most predictive feature of survival. Females were put on the life boats.</a:t>
            </a:r>
            <a:endParaRPr/>
          </a:p>
          <a:p>
            <a:pPr indent="0" lvl="0" marL="0" rtl="0" algn="l">
              <a:spcBef>
                <a:spcPts val="0"/>
              </a:spcBef>
              <a:spcAft>
                <a:spcPts val="0"/>
              </a:spcAft>
              <a:buNone/>
            </a:pPr>
            <a:r>
              <a:rPr lang="en"/>
              <a:t>This tells us that the gender feature is a pretty strong predictor because the children nods are strongly orange or blue. </a:t>
            </a:r>
            <a:endParaRPr/>
          </a:p>
          <a:p>
            <a:pPr indent="0" lvl="0" marL="0" rtl="0" algn="l">
              <a:spcBef>
                <a:spcPts val="0"/>
              </a:spcBef>
              <a:spcAft>
                <a:spcPts val="0"/>
              </a:spcAft>
              <a:buNone/>
            </a:pPr>
            <a:r>
              <a:rPr lang="en"/>
              <a:t>Left -hand side are the male passenger. However there are several survivors, males in first class and male children.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1e54f527a63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1e54f527a63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a:solidFill>
                  <a:schemeClr val="dk1"/>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SzPts val="2800"/>
              <a:buNone/>
              <a:defRPr sz="2800"/>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0" Type="http://schemas.openxmlformats.org/officeDocument/2006/relationships/image" Target="../media/image13.png"/><Relationship Id="rId11" Type="http://schemas.openxmlformats.org/officeDocument/2006/relationships/image" Target="../media/image5.png"/><Relationship Id="rId10" Type="http://schemas.openxmlformats.org/officeDocument/2006/relationships/image" Target="../media/image1.png"/><Relationship Id="rId13" Type="http://schemas.openxmlformats.org/officeDocument/2006/relationships/image" Target="../media/image4.png"/><Relationship Id="rId12" Type="http://schemas.openxmlformats.org/officeDocument/2006/relationships/image" Target="../media/image16.png"/><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21.png"/><Relationship Id="rId15" Type="http://schemas.openxmlformats.org/officeDocument/2006/relationships/image" Target="../media/image11.png"/><Relationship Id="rId14" Type="http://schemas.openxmlformats.org/officeDocument/2006/relationships/image" Target="../media/image17.png"/><Relationship Id="rId17" Type="http://schemas.openxmlformats.org/officeDocument/2006/relationships/image" Target="../media/image2.png"/><Relationship Id="rId16" Type="http://schemas.openxmlformats.org/officeDocument/2006/relationships/image" Target="../media/image22.png"/><Relationship Id="rId5" Type="http://schemas.openxmlformats.org/officeDocument/2006/relationships/image" Target="../media/image15.png"/><Relationship Id="rId19" Type="http://schemas.openxmlformats.org/officeDocument/2006/relationships/image" Target="../media/image10.png"/><Relationship Id="rId6" Type="http://schemas.openxmlformats.org/officeDocument/2006/relationships/image" Target="../media/image8.png"/><Relationship Id="rId18"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2.png"/><Relationship Id="rId5" Type="http://schemas.openxmlformats.org/officeDocument/2006/relationships/image" Target="../media/image6.png"/><Relationship Id="rId6" Type="http://schemas.openxmlformats.org/officeDocument/2006/relationships/image" Target="../media/image23.png"/><Relationship Id="rId7"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29.png"/><Relationship Id="rId5"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14.png"/><Relationship Id="rId7"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22.png"/><Relationship Id="rId7" Type="http://schemas.openxmlformats.org/officeDocument/2006/relationships/image" Target="../media/image14.png"/><Relationship Id="rId8" Type="http://schemas.openxmlformats.org/officeDocument/2006/relationships/image" Target="../media/image13.png"/></Relationships>
</file>

<file path=ppt/slides/_rels/slide18.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30.png"/><Relationship Id="rId7" Type="http://schemas.openxmlformats.org/officeDocument/2006/relationships/image" Target="../media/image22.png"/><Relationship Id="rId8" Type="http://schemas.openxmlformats.org/officeDocument/2006/relationships/image" Target="../media/image14.png"/></Relationships>
</file>

<file path=ppt/slides/_rels/slide19.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2.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30.png"/><Relationship Id="rId8"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44.png"/><Relationship Id="rId12" Type="http://schemas.openxmlformats.org/officeDocument/2006/relationships/image" Target="../media/image45.png"/><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1.png"/></Relationships>
</file>

<file path=ppt/slides/_rels/slide25.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44.png"/><Relationship Id="rId12" Type="http://schemas.openxmlformats.org/officeDocument/2006/relationships/image" Target="../media/image45.png"/><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1.png"/></Relationships>
</file>

<file path=ppt/slides/_rels/slide26.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44.png"/><Relationship Id="rId12" Type="http://schemas.openxmlformats.org/officeDocument/2006/relationships/image" Target="../media/image45.png"/><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1.png"/></Relationships>
</file>

<file path=ppt/slides/_rels/slide27.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11.png"/><Relationship Id="rId12" Type="http://schemas.openxmlformats.org/officeDocument/2006/relationships/image" Target="../media/image47.png"/><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45.png"/><Relationship Id="rId7" Type="http://schemas.openxmlformats.org/officeDocument/2006/relationships/image" Target="../media/image4.png"/><Relationship Id="rId8" Type="http://schemas.openxmlformats.org/officeDocument/2006/relationships/image" Target="../media/image20.png"/></Relationships>
</file>

<file path=ppt/slides/_rels/slide28.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45.png"/><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44.png"/><Relationship Id="rId8" Type="http://schemas.openxmlformats.org/officeDocument/2006/relationships/image" Target="../media/image47.png"/></Relationships>
</file>

<file path=ppt/slides/_rels/slide29.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11.png"/><Relationship Id="rId12" Type="http://schemas.openxmlformats.org/officeDocument/2006/relationships/image" Target="../media/image47.png"/><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45.png"/><Relationship Id="rId7" Type="http://schemas.openxmlformats.org/officeDocument/2006/relationships/image" Target="../media/image4.png"/><Relationship Id="rId8"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0" Type="http://schemas.openxmlformats.org/officeDocument/2006/relationships/hyperlink" Target="https://drive.google.com/file/d/1dPFji0drcFrBZQNDT7HiG9AuU0SI8wpA/view?usp=sharing" TargetMode="External"/><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hyperlink" Target="https://machinelearningforkids.co.uk" TargetMode="External"/><Relationship Id="rId4" Type="http://schemas.openxmlformats.org/officeDocument/2006/relationships/image" Target="../media/image54.png"/><Relationship Id="rId9" Type="http://schemas.openxmlformats.org/officeDocument/2006/relationships/image" Target="../media/image44.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1.png"/><Relationship Id="rId8"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1.png"/><Relationship Id="rId9" Type="http://schemas.openxmlformats.org/officeDocument/2006/relationships/hyperlink" Target="https://drive.google.com/file/d/1dPFji0drcFrBZQNDT7HiG9AuU0SI8wpA/view?usp=sharing" TargetMode="External"/><Relationship Id="rId5" Type="http://schemas.openxmlformats.org/officeDocument/2006/relationships/image" Target="../media/image13.png"/><Relationship Id="rId6" Type="http://schemas.openxmlformats.org/officeDocument/2006/relationships/image" Target="../media/image47.png"/><Relationship Id="rId7" Type="http://schemas.openxmlformats.org/officeDocument/2006/relationships/image" Target="../media/image45.png"/><Relationship Id="rId8"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6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44.png"/><Relationship Id="rId6"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6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6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6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69.png"/><Relationship Id="rId4" Type="http://schemas.openxmlformats.org/officeDocument/2006/relationships/image" Target="../media/image62.png"/><Relationship Id="rId5" Type="http://schemas.openxmlformats.org/officeDocument/2006/relationships/hyperlink" Target="https://drive.google.com/file/d/1dPFji0drcFrBZQNDT7HiG9AuU0SI8wpA/view?usp=shar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63.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10" Type="http://schemas.openxmlformats.org/officeDocument/2006/relationships/image" Target="../media/image61.png"/><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55.png"/><Relationship Id="rId9" Type="http://schemas.openxmlformats.org/officeDocument/2006/relationships/image" Target="../media/image53.png"/><Relationship Id="rId5" Type="http://schemas.openxmlformats.org/officeDocument/2006/relationships/image" Target="../media/image56.png"/><Relationship Id="rId6" Type="http://schemas.openxmlformats.org/officeDocument/2006/relationships/image" Target="../media/image60.png"/><Relationship Id="rId7" Type="http://schemas.openxmlformats.org/officeDocument/2006/relationships/image" Target="../media/image64.png"/><Relationship Id="rId8"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hyperlink" Target="https://drive.google.com/file/d/1YcxZCEVhakX0p2zR5HBPJFSC50msgjyb/view?usp=sharin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7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57.png"/><Relationship Id="rId4" Type="http://schemas.openxmlformats.org/officeDocument/2006/relationships/image" Target="../media/image73.png"/><Relationship Id="rId5" Type="http://schemas.openxmlformats.org/officeDocument/2006/relationships/hyperlink" Target="https://machinelearningforkids.co.uk"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74.png"/><Relationship Id="rId4" Type="http://schemas.openxmlformats.org/officeDocument/2006/relationships/image" Target="../media/image65.png"/><Relationship Id="rId5" Type="http://schemas.openxmlformats.org/officeDocument/2006/relationships/image" Target="../media/image70.png"/><Relationship Id="rId6" Type="http://schemas.openxmlformats.org/officeDocument/2006/relationships/image" Target="../media/image72.png"/><Relationship Id="rId7"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10493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 </a:t>
            </a:r>
            <a:endParaRPr/>
          </a:p>
          <a:p>
            <a:pPr indent="0" lvl="0" marL="0" rtl="0" algn="ctr">
              <a:spcBef>
                <a:spcPts val="0"/>
              </a:spcBef>
              <a:spcAft>
                <a:spcPts val="0"/>
              </a:spcAft>
              <a:buClr>
                <a:srgbClr val="000000"/>
              </a:buClr>
              <a:buSzPts val="990"/>
              <a:buFont typeface="Arial"/>
              <a:buNone/>
            </a:pPr>
            <a:r>
              <a:rPr lang="en" sz="4866"/>
              <a:t>How do we </a:t>
            </a:r>
            <a:r>
              <a:rPr lang="en" sz="4866" u="sng"/>
              <a:t>train</a:t>
            </a:r>
            <a:r>
              <a:rPr lang="en" sz="4866"/>
              <a:t> a computer to make decisions?</a:t>
            </a:r>
            <a:endParaRPr sz="4866"/>
          </a:p>
        </p:txBody>
      </p:sp>
      <p:sp>
        <p:nvSpPr>
          <p:cNvPr id="100" name="Google Shape;100;p25"/>
          <p:cNvSpPr txBox="1"/>
          <p:nvPr>
            <p:ph idx="1" type="subTitle"/>
          </p:nvPr>
        </p:nvSpPr>
        <p:spPr>
          <a:xfrm>
            <a:off x="311700" y="31389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Unit 3, Module 3.3</a:t>
            </a:r>
            <a:endParaRPr/>
          </a:p>
        </p:txBody>
      </p:sp>
      <p:sp>
        <p:nvSpPr>
          <p:cNvPr id="101" name="Google Shape;10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Topic Outline</a:t>
            </a:r>
            <a:endParaRPr/>
          </a:p>
        </p:txBody>
      </p:sp>
      <p:sp>
        <p:nvSpPr>
          <p:cNvPr id="107" name="Google Shape;107;p26"/>
          <p:cNvSpPr txBox="1"/>
          <p:nvPr>
            <p:ph idx="1" type="body"/>
          </p:nvPr>
        </p:nvSpPr>
        <p:spPr>
          <a:xfrm>
            <a:off x="311700" y="1152475"/>
            <a:ext cx="39240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rPr>
              <a:t>Learning Decision Trees</a:t>
            </a:r>
            <a:br>
              <a:rPr lang="en" sz="1100">
                <a:solidFill>
                  <a:schemeClr val="dk1"/>
                </a:solidFill>
              </a:rPr>
            </a:br>
            <a:r>
              <a:rPr lang="en" sz="1100">
                <a:solidFill>
                  <a:schemeClr val="dk1"/>
                </a:solidFill>
              </a:rPr>
              <a:t>(1) Unplugged: finding patterns in data. Figure out the rule for poisonous fish.</a:t>
            </a:r>
            <a:br>
              <a:rPr lang="en" sz="1100">
                <a:solidFill>
                  <a:schemeClr val="dk1"/>
                </a:solidFill>
              </a:rPr>
            </a:br>
            <a:r>
              <a:rPr lang="en" sz="1100">
                <a:solidFill>
                  <a:schemeClr val="dk1"/>
                </a:solidFill>
              </a:rPr>
              <a:t>(2) Introduce the fish feature set.</a:t>
            </a:r>
            <a:br>
              <a:rPr lang="en" sz="1100">
                <a:solidFill>
                  <a:schemeClr val="dk1"/>
                </a:solidFill>
              </a:rPr>
            </a:br>
            <a:r>
              <a:rPr lang="en" sz="1100">
                <a:solidFill>
                  <a:schemeClr val="dk1"/>
                </a:solidFill>
              </a:rPr>
              <a:t>(3) Learn how to define features and instances in ML4K.</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100">
                <a:solidFill>
                  <a:schemeClr val="dk1"/>
                </a:solidFill>
              </a:rPr>
              <a:t>(4) Load a pre-supplied project with full fish dataset.</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100">
                <a:solidFill>
                  <a:schemeClr val="dk1"/>
                </a:solidFill>
              </a:rPr>
              <a:t>(5) Train a poisonous fish classifier and examine the decision tree.</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228600" lvl="0" marL="457200" rtl="0" algn="l">
              <a:spcBef>
                <a:spcPts val="0"/>
              </a:spcBef>
              <a:spcAft>
                <a:spcPts val="0"/>
              </a:spcAft>
              <a:buClr>
                <a:schemeClr val="dk1"/>
              </a:buClr>
              <a:buSzPts val="1100"/>
              <a:buFont typeface="Arial"/>
              <a:buNone/>
            </a:pPr>
            <a:r>
              <a:rPr lang="en" sz="1100">
                <a:solidFill>
                  <a:schemeClr val="dk1"/>
                </a:solidFill>
              </a:rPr>
              <a:t>(Students use computers to create a decision tree)</a:t>
            </a:r>
            <a:endParaRPr sz="1100">
              <a:solidFill>
                <a:schemeClr val="dk1"/>
              </a:solidFill>
            </a:endParaRPr>
          </a:p>
          <a:p>
            <a:pPr indent="-228600" lvl="0" marL="457200" rtl="0" algn="l">
              <a:spcBef>
                <a:spcPts val="0"/>
              </a:spcBef>
              <a:spcAft>
                <a:spcPts val="0"/>
              </a:spcAft>
              <a:buClr>
                <a:schemeClr val="dk1"/>
              </a:buClr>
              <a:buSzPts val="1100"/>
              <a:buFont typeface="Arial"/>
              <a:buNone/>
            </a:pPr>
            <a:r>
              <a:rPr lang="en" sz="1100">
                <a:solidFill>
                  <a:schemeClr val="dk1"/>
                </a:solidFill>
              </a:rPr>
              <a:t>(System has a small number of classes but a lot of instances) </a:t>
            </a:r>
            <a:endParaRPr sz="1100">
              <a:solidFill>
                <a:schemeClr val="dk1"/>
              </a:solidFill>
            </a:endParaRPr>
          </a:p>
        </p:txBody>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26"/>
          <p:cNvSpPr txBox="1"/>
          <p:nvPr/>
        </p:nvSpPr>
        <p:spPr>
          <a:xfrm>
            <a:off x="4636050" y="176150"/>
            <a:ext cx="4235700" cy="462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chemeClr val="dk1"/>
                </a:solidFill>
              </a:rPr>
              <a:t>Activities</a:t>
            </a:r>
            <a:endParaRPr b="1" sz="13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Unplugged Activity</a:t>
            </a:r>
            <a:r>
              <a:rPr lang="en" sz="800">
                <a:solidFill>
                  <a:schemeClr val="dk1"/>
                </a:solidFill>
              </a:rPr>
              <a:t> - Fish Classifier - Poisonous Fish example - </a:t>
            </a:r>
            <a:r>
              <a:rPr i="1" lang="en" sz="800">
                <a:solidFill>
                  <a:schemeClr val="dk1"/>
                </a:solidFill>
              </a:rPr>
              <a:t>20 mins</a:t>
            </a:r>
            <a:endParaRPr i="1" sz="800">
              <a:solidFill>
                <a:schemeClr val="dk1"/>
              </a:solidFill>
            </a:endParaRPr>
          </a:p>
          <a:p>
            <a:pPr indent="0" lvl="0" marL="0" rtl="0" algn="l">
              <a:lnSpc>
                <a:spcPct val="115000"/>
              </a:lnSpc>
              <a:spcBef>
                <a:spcPts val="0"/>
              </a:spcBef>
              <a:spcAft>
                <a:spcPts val="0"/>
              </a:spcAft>
              <a:buNone/>
            </a:pPr>
            <a:r>
              <a:rPr b="1" i="1" lang="en" sz="800">
                <a:solidFill>
                  <a:schemeClr val="dk1"/>
                </a:solidFill>
              </a:rPr>
              <a:t>Takeaway - Experience finding patterns in data.  </a:t>
            </a:r>
            <a:r>
              <a:rPr lang="en" sz="800">
                <a:solidFill>
                  <a:schemeClr val="dk1"/>
                </a:solidFill>
              </a:rPr>
              <a:t>One way is to help computers learn to make  decisions  is to write a set of rules/algorithms another isto show them examples </a:t>
            </a:r>
            <a:endParaRPr i="1" sz="800">
              <a:solidFill>
                <a:schemeClr val="dk1"/>
              </a:solidFill>
            </a:endParaRPr>
          </a:p>
          <a:p>
            <a:pPr indent="0" lvl="0" marL="0" rtl="0" algn="l">
              <a:lnSpc>
                <a:spcPct val="115000"/>
              </a:lnSpc>
              <a:spcBef>
                <a:spcPts val="0"/>
              </a:spcBef>
              <a:spcAft>
                <a:spcPts val="0"/>
              </a:spcAft>
              <a:buNone/>
            </a:pPr>
            <a:r>
              <a:rPr b="1" lang="en" sz="800">
                <a:solidFill>
                  <a:schemeClr val="dk1"/>
                </a:solidFill>
              </a:rPr>
              <a:t> (Fish Classifier).  - Students determine a rule.</a:t>
            </a:r>
            <a:endParaRPr b="1" sz="800">
              <a:solidFill>
                <a:schemeClr val="dk1"/>
              </a:solidFill>
            </a:endParaRPr>
          </a:p>
          <a:p>
            <a:pPr indent="0" lvl="0" marL="0" rtl="0" algn="l">
              <a:lnSpc>
                <a:spcPct val="115000"/>
              </a:lnSpc>
              <a:spcBef>
                <a:spcPts val="0"/>
              </a:spcBef>
              <a:spcAft>
                <a:spcPts val="0"/>
              </a:spcAft>
              <a:buNone/>
            </a:pPr>
            <a:r>
              <a:rPr lang="en" sz="800">
                <a:solidFill>
                  <a:schemeClr val="dk1"/>
                </a:solidFill>
              </a:rPr>
              <a:t>Outcome - come up with a rule that distinguishes between the two classes.</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Resources: </a:t>
            </a:r>
            <a:endParaRPr sz="800">
              <a:solidFill>
                <a:schemeClr val="dk1"/>
              </a:solidFill>
            </a:endParaRPr>
          </a:p>
          <a:p>
            <a:pPr indent="0" lvl="0" marL="0" rtl="0" algn="l">
              <a:lnSpc>
                <a:spcPct val="115000"/>
              </a:lnSpc>
              <a:spcBef>
                <a:spcPts val="0"/>
              </a:spcBef>
              <a:spcAft>
                <a:spcPts val="0"/>
              </a:spcAft>
              <a:buNone/>
            </a:pPr>
            <a:r>
              <a:rPr i="1" lang="en" sz="800">
                <a:solidFill>
                  <a:schemeClr val="dk1"/>
                </a:solidFill>
              </a:rPr>
              <a:t>Deck of cards</a:t>
            </a:r>
            <a:r>
              <a:rPr lang="en" sz="800">
                <a:solidFill>
                  <a:schemeClr val="dk1"/>
                </a:solidFill>
              </a:rPr>
              <a:t> Fish cards</a:t>
            </a:r>
            <a:endParaRPr sz="800">
              <a:solidFill>
                <a:schemeClr val="dk1"/>
              </a:solidFill>
            </a:endParaRPr>
          </a:p>
          <a:p>
            <a:pPr indent="0" lvl="0" marL="0" rtl="0" algn="l">
              <a:lnSpc>
                <a:spcPct val="115000"/>
              </a:lnSpc>
              <a:spcBef>
                <a:spcPts val="0"/>
              </a:spcBef>
              <a:spcAft>
                <a:spcPts val="0"/>
              </a:spcAft>
              <a:buNone/>
            </a:pPr>
            <a:r>
              <a:rPr i="1" lang="en" sz="800">
                <a:solidFill>
                  <a:schemeClr val="dk1"/>
                </a:solidFill>
              </a:rPr>
              <a:t>Chart</a:t>
            </a:r>
            <a:r>
              <a:rPr lang="en" sz="800">
                <a:solidFill>
                  <a:schemeClr val="dk1"/>
                </a:solidFill>
              </a:rPr>
              <a:t> - Prediction - Prediction - Actual</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Class A &amp; Class B  - Actual</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Students need to come up with a </a:t>
            </a:r>
            <a:endParaRPr sz="800">
              <a:solidFill>
                <a:schemeClr val="dk1"/>
              </a:solidFill>
            </a:endParaRPr>
          </a:p>
          <a:p>
            <a:pPr indent="0" lvl="0" marL="0" rtl="0" algn="l">
              <a:lnSpc>
                <a:spcPct val="115000"/>
              </a:lnSpc>
              <a:spcBef>
                <a:spcPts val="0"/>
              </a:spcBef>
              <a:spcAft>
                <a:spcPts val="0"/>
              </a:spcAft>
              <a:buNone/>
            </a:pPr>
            <a:r>
              <a:rPr i="1" lang="en" sz="800">
                <a:solidFill>
                  <a:schemeClr val="dk1"/>
                </a:solidFill>
              </a:rPr>
              <a:t>Facilitation guide: </a:t>
            </a:r>
            <a:r>
              <a:rPr lang="en" sz="800">
                <a:solidFill>
                  <a:schemeClr val="dk1"/>
                </a:solidFill>
              </a:rPr>
              <a:t>Give the teacher a set of categories - Poisonous, live in reefs/caves, eat seaweed. Key use categories/concepts that they can’t bring their prior knowledge to bear - gives them the sense of what a statistical NN is doing</a:t>
            </a:r>
            <a:endParaRPr sz="800">
              <a:solidFill>
                <a:schemeClr val="dk1"/>
              </a:solidFill>
            </a:endParaRPr>
          </a:p>
          <a:p>
            <a:pPr indent="0" lvl="0" marL="0" rtl="0" algn="l">
              <a:lnSpc>
                <a:spcPct val="115000"/>
              </a:lnSpc>
              <a:spcBef>
                <a:spcPts val="0"/>
              </a:spcBef>
              <a:spcAft>
                <a:spcPts val="0"/>
              </a:spcAft>
              <a:buNone/>
            </a:pPr>
            <a:r>
              <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Easy - color or body shape</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green fish like shrimp</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Blue fish live in caves</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Medium - nuanced shapes</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Hard - conjunction of features - blue fish with triangular bodies like pizza</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which jump out of the water</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Crescent shaped tails </a:t>
            </a:r>
            <a:endParaRPr sz="800">
              <a:solidFill>
                <a:schemeClr val="dk1"/>
              </a:solidFill>
            </a:endParaRPr>
          </a:p>
          <a:p>
            <a:pPr indent="0" lvl="0" marL="0" rtl="0" algn="l">
              <a:lnSpc>
                <a:spcPct val="115000"/>
              </a:lnSpc>
              <a:spcBef>
                <a:spcPts val="0"/>
              </a:spcBef>
              <a:spcAft>
                <a:spcPts val="0"/>
              </a:spcAft>
              <a:buNone/>
            </a:pPr>
            <a:r>
              <a:rPr lang="en" sz="800">
                <a:solidFill>
                  <a:schemeClr val="dk1"/>
                </a:solidFill>
              </a:rPr>
              <a:t>Teacher knows the rules - they will put it in the right class. </a:t>
            </a:r>
            <a:endParaRPr sz="800">
              <a:solidFill>
                <a:schemeClr val="dk1"/>
              </a:solidFill>
            </a:endParaRPr>
          </a:p>
          <a:p>
            <a:pPr indent="0" lvl="0" marL="0" rtl="0" algn="l">
              <a:lnSpc>
                <a:spcPct val="115000"/>
              </a:lnSpc>
              <a:spcBef>
                <a:spcPts val="0"/>
              </a:spcBef>
              <a:spcAft>
                <a:spcPts val="0"/>
              </a:spcAft>
              <a:buNone/>
            </a:pPr>
            <a:r>
              <a:t/>
            </a:r>
            <a:endParaRPr sz="800">
              <a:solidFill>
                <a:schemeClr val="dk1"/>
              </a:solidFill>
            </a:endParaRPr>
          </a:p>
          <a:p>
            <a:pPr indent="0" lvl="0" marL="457200" rtl="0" algn="l">
              <a:lnSpc>
                <a:spcPct val="115000"/>
              </a:lnSpc>
              <a:spcBef>
                <a:spcPts val="0"/>
              </a:spcBef>
              <a:spcAft>
                <a:spcPts val="0"/>
              </a:spcAft>
              <a:buNone/>
            </a:pPr>
            <a:r>
              <a:t/>
            </a:r>
            <a:endParaRPr sz="800">
              <a:solidFill>
                <a:srgbClr val="FF0000"/>
              </a:solidFill>
            </a:endParaRPr>
          </a:p>
          <a:p>
            <a:pPr indent="-279400" lvl="0" marL="457200" rtl="0" algn="l">
              <a:lnSpc>
                <a:spcPct val="115000"/>
              </a:lnSpc>
              <a:spcBef>
                <a:spcPts val="0"/>
              </a:spcBef>
              <a:spcAft>
                <a:spcPts val="0"/>
              </a:spcAft>
              <a:buClr>
                <a:srgbClr val="FF0000"/>
              </a:buClr>
              <a:buSzPts val="800"/>
              <a:buChar char="●"/>
            </a:pPr>
            <a:r>
              <a:rPr b="1" lang="en" sz="800">
                <a:solidFill>
                  <a:srgbClr val="FF0000"/>
                </a:solidFill>
              </a:rPr>
              <a:t>Computer Activity Options:</a:t>
            </a:r>
            <a:r>
              <a:rPr lang="en" sz="800">
                <a:solidFill>
                  <a:srgbClr val="FF0000"/>
                </a:solidFill>
              </a:rPr>
              <a:t> Intro to machine learning for kids - Fish Classifier </a:t>
            </a:r>
            <a:endParaRPr sz="800">
              <a:solidFill>
                <a:srgbClr val="FF0000"/>
              </a:solidFill>
            </a:endParaRPr>
          </a:p>
          <a:p>
            <a:pPr indent="-279400" lvl="1" marL="914400" rtl="0" algn="l">
              <a:lnSpc>
                <a:spcPct val="115000"/>
              </a:lnSpc>
              <a:spcBef>
                <a:spcPts val="0"/>
              </a:spcBef>
              <a:spcAft>
                <a:spcPts val="0"/>
              </a:spcAft>
              <a:buClr>
                <a:srgbClr val="FF0000"/>
              </a:buClr>
              <a:buSzPts val="800"/>
              <a:buChar char="○"/>
            </a:pPr>
            <a:r>
              <a:rPr lang="en" sz="800">
                <a:solidFill>
                  <a:srgbClr val="FF0000"/>
                </a:solidFill>
              </a:rPr>
              <a:t>They can do this on their own</a:t>
            </a:r>
            <a:endParaRPr sz="800">
              <a:solidFill>
                <a:srgbClr val="FF0000"/>
              </a:solidFill>
            </a:endParaRPr>
          </a:p>
          <a:p>
            <a:pPr indent="-279400" lvl="1" marL="914400" rtl="0" algn="l">
              <a:lnSpc>
                <a:spcPct val="115000"/>
              </a:lnSpc>
              <a:spcBef>
                <a:spcPts val="0"/>
              </a:spcBef>
              <a:spcAft>
                <a:spcPts val="0"/>
              </a:spcAft>
              <a:buClr>
                <a:srgbClr val="FF0000"/>
              </a:buClr>
              <a:buSzPts val="800"/>
              <a:buChar char="○"/>
            </a:pPr>
            <a:r>
              <a:rPr lang="en" sz="800">
                <a:solidFill>
                  <a:srgbClr val="FF0000"/>
                </a:solidFill>
              </a:rPr>
              <a:t>Then give them a pre-built data set. </a:t>
            </a:r>
            <a:endParaRPr sz="800">
              <a:solidFill>
                <a:srgbClr val="FF0000"/>
              </a:solidFill>
            </a:endParaRPr>
          </a:p>
          <a:p>
            <a:pPr indent="-279400" lvl="0" marL="457200" rtl="0" algn="l">
              <a:lnSpc>
                <a:spcPct val="115000"/>
              </a:lnSpc>
              <a:spcBef>
                <a:spcPts val="0"/>
              </a:spcBef>
              <a:spcAft>
                <a:spcPts val="0"/>
              </a:spcAft>
              <a:buClr>
                <a:srgbClr val="FF0000"/>
              </a:buClr>
              <a:buSzPts val="800"/>
              <a:buChar char="●"/>
            </a:pPr>
            <a:r>
              <a:rPr lang="en" sz="800">
                <a:solidFill>
                  <a:srgbClr val="FF0000"/>
                </a:solidFill>
              </a:rPr>
              <a:t>Code.org AI lab - upload a tabular dataset - Doesn’t show a decision tree because it doesn’t have a decision tree</a:t>
            </a:r>
            <a:endParaRPr sz="800">
              <a:solidFill>
                <a:schemeClr val="dk1"/>
              </a:solidFill>
            </a:endParaRPr>
          </a:p>
          <a:p>
            <a:pPr indent="-273050" lvl="0" marL="228600" rtl="0" algn="l">
              <a:lnSpc>
                <a:spcPct val="115000"/>
              </a:lnSpc>
              <a:spcBef>
                <a:spcPts val="0"/>
              </a:spcBef>
              <a:spcAft>
                <a:spcPts val="0"/>
              </a:spcAft>
              <a:buClr>
                <a:schemeClr val="dk1"/>
              </a:buClr>
              <a:buSzPts val="700"/>
              <a:buChar char="●"/>
            </a:pPr>
            <a:r>
              <a:t/>
            </a:r>
            <a:endParaRPr b="1" sz="7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From Big Idea 3: </a:t>
            </a:r>
            <a:r>
              <a:rPr lang="en" sz="2320"/>
              <a:t>Learning Algorithms Operate On Reasoners</a:t>
            </a:r>
            <a:endParaRPr sz="2320"/>
          </a:p>
        </p:txBody>
      </p:sp>
      <p:sp>
        <p:nvSpPr>
          <p:cNvPr id="115" name="Google Shape;11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6" name="Google Shape;116;p27"/>
          <p:cNvSpPr txBox="1"/>
          <p:nvPr/>
        </p:nvSpPr>
        <p:spPr>
          <a:xfrm>
            <a:off x="2092575" y="1113700"/>
            <a:ext cx="5187300" cy="1723800"/>
          </a:xfrm>
          <a:prstGeom prst="rect">
            <a:avLst/>
          </a:prstGeom>
          <a:solidFill>
            <a:srgbClr val="F9CB9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t>Learning new behaviors results from changes the learning algorithm makes to the internal representations (parameters) of a reasoner, such as a decision tree or a neural network.</a:t>
            </a:r>
            <a:endParaRPr b="1" sz="2000"/>
          </a:p>
        </p:txBody>
      </p:sp>
      <p:sp>
        <p:nvSpPr>
          <p:cNvPr id="117" name="Google Shape;117;p27"/>
          <p:cNvSpPr txBox="1"/>
          <p:nvPr/>
        </p:nvSpPr>
        <p:spPr>
          <a:xfrm>
            <a:off x="960275" y="2936325"/>
            <a:ext cx="7872000" cy="20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t>The learning algorithm and the reasoning algorithm are different things.</a:t>
            </a:r>
            <a:endParaRPr sz="1900"/>
          </a:p>
          <a:p>
            <a:pPr indent="0" lvl="0" marL="0" rtl="0" algn="l">
              <a:spcBef>
                <a:spcPts val="1000"/>
              </a:spcBef>
              <a:spcAft>
                <a:spcPts val="0"/>
              </a:spcAft>
              <a:buNone/>
            </a:pPr>
            <a:r>
              <a:rPr lang="en" sz="1900"/>
              <a:t>We </a:t>
            </a:r>
            <a:r>
              <a:rPr lang="en" sz="1900"/>
              <a:t>could</a:t>
            </a:r>
            <a:r>
              <a:rPr lang="en" sz="1900"/>
              <a:t> build a classifier using a decision tree as the reasoning algorithm. What if we want to learn this decision tree?</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There are several learning algorithms for learning decision trees. They do this by adding one node at a time.</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463575"/>
            <a:ext cx="8520600" cy="4337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does it </a:t>
            </a:r>
            <a:r>
              <a:rPr i="1" lang="en"/>
              <a:t>feel like</a:t>
            </a:r>
            <a:r>
              <a:rPr lang="en"/>
              <a:t> to</a:t>
            </a:r>
            <a:br>
              <a:rPr lang="en"/>
            </a:br>
            <a:r>
              <a:rPr lang="en"/>
              <a:t>be a machine learning algorithm?</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We will look at two different </a:t>
            </a:r>
            <a:br>
              <a:rPr lang="en"/>
            </a:br>
            <a:r>
              <a:rPr lang="en"/>
              <a:t>decision tree learning algorithms.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Let’s learn to classify fish…</a:t>
            </a:r>
            <a:endParaRPr/>
          </a:p>
        </p:txBody>
      </p:sp>
      <p:sp>
        <p:nvSpPr>
          <p:cNvPr id="123" name="Google Shape;12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Fishy Feature Space</a:t>
            </a:r>
            <a:endParaRPr/>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0"/>
          <p:cNvSpPr/>
          <p:nvPr/>
        </p:nvSpPr>
        <p:spPr>
          <a:xfrm>
            <a:off x="12250" y="242900"/>
            <a:ext cx="4485967" cy="1477450"/>
          </a:xfrm>
          <a:custGeom>
            <a:rect b="b" l="l" r="r" t="t"/>
            <a:pathLst>
              <a:path extrusionOk="0" h="59098" w="178706">
                <a:moveTo>
                  <a:pt x="595" y="0"/>
                </a:moveTo>
                <a:lnTo>
                  <a:pt x="0" y="59098"/>
                </a:lnTo>
                <a:lnTo>
                  <a:pt x="178706" y="59098"/>
                </a:lnTo>
                <a:lnTo>
                  <a:pt x="178706" y="115"/>
                </a:lnTo>
                <a:lnTo>
                  <a:pt x="3862" y="115"/>
                </a:lnTo>
                <a:close/>
              </a:path>
            </a:pathLst>
          </a:custGeom>
          <a:solidFill>
            <a:srgbClr val="674EA7"/>
          </a:solidFill>
          <a:ln cap="flat" cmpd="sng" w="9525">
            <a:solidFill>
              <a:srgbClr val="674EA7"/>
            </a:solidFill>
            <a:prstDash val="solid"/>
            <a:round/>
            <a:headEnd len="med" w="med" type="none"/>
            <a:tailEnd len="med" w="med" type="none"/>
          </a:ln>
        </p:spPr>
      </p:sp>
      <p:sp>
        <p:nvSpPr>
          <p:cNvPr id="135" name="Google Shape;135;p30"/>
          <p:cNvSpPr/>
          <p:nvPr/>
        </p:nvSpPr>
        <p:spPr>
          <a:xfrm>
            <a:off x="28600" y="3257550"/>
            <a:ext cx="5962500" cy="1477500"/>
          </a:xfrm>
          <a:prstGeom prst="rect">
            <a:avLst/>
          </a:prstGeom>
          <a:solidFill>
            <a:srgbClr val="F1C232"/>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0"/>
          <p:cNvSpPr/>
          <p:nvPr/>
        </p:nvSpPr>
        <p:spPr>
          <a:xfrm>
            <a:off x="6048375" y="190500"/>
            <a:ext cx="2990850" cy="4552950"/>
          </a:xfrm>
          <a:custGeom>
            <a:rect b="b" l="l" r="r" t="t"/>
            <a:pathLst>
              <a:path extrusionOk="0" h="182118" w="119634">
                <a:moveTo>
                  <a:pt x="60198" y="61341"/>
                </a:moveTo>
                <a:lnTo>
                  <a:pt x="60198" y="182118"/>
                </a:lnTo>
                <a:lnTo>
                  <a:pt x="119634" y="182118"/>
                </a:lnTo>
                <a:lnTo>
                  <a:pt x="119634" y="0"/>
                </a:lnTo>
                <a:lnTo>
                  <a:pt x="0" y="0"/>
                </a:lnTo>
                <a:lnTo>
                  <a:pt x="0" y="61341"/>
                </a:lnTo>
                <a:close/>
              </a:path>
            </a:pathLst>
          </a:custGeom>
          <a:solidFill>
            <a:schemeClr val="accent1"/>
          </a:solidFill>
          <a:ln cap="flat" cmpd="sng" w="9525">
            <a:solidFill>
              <a:schemeClr val="accent1"/>
            </a:solidFill>
            <a:prstDash val="solid"/>
            <a:round/>
            <a:headEnd len="med" w="med" type="none"/>
            <a:tailEnd len="med" w="med" type="none"/>
          </a:ln>
        </p:spPr>
      </p:sp>
      <p:sp>
        <p:nvSpPr>
          <p:cNvPr id="137" name="Google Shape;137;p30"/>
          <p:cNvSpPr/>
          <p:nvPr/>
        </p:nvSpPr>
        <p:spPr>
          <a:xfrm>
            <a:off x="4524375" y="228600"/>
            <a:ext cx="2990905" cy="4487567"/>
          </a:xfrm>
          <a:custGeom>
            <a:rect b="b" l="l" r="r" t="t"/>
            <a:pathLst>
              <a:path extrusionOk="0" h="178308" w="117729">
                <a:moveTo>
                  <a:pt x="0" y="0"/>
                </a:moveTo>
                <a:lnTo>
                  <a:pt x="0" y="118491"/>
                </a:lnTo>
                <a:lnTo>
                  <a:pt x="59817" y="118491"/>
                </a:lnTo>
                <a:lnTo>
                  <a:pt x="59817" y="178308"/>
                </a:lnTo>
                <a:lnTo>
                  <a:pt x="117729" y="178308"/>
                </a:lnTo>
                <a:lnTo>
                  <a:pt x="117729" y="60960"/>
                </a:lnTo>
                <a:lnTo>
                  <a:pt x="57531" y="60960"/>
                </a:lnTo>
                <a:lnTo>
                  <a:pt x="57531" y="381"/>
                </a:lnTo>
                <a:close/>
              </a:path>
            </a:pathLst>
          </a:custGeom>
          <a:solidFill>
            <a:srgbClr val="980000"/>
          </a:solidFill>
          <a:ln cap="flat" cmpd="sng" w="9525">
            <a:solidFill>
              <a:srgbClr val="980000"/>
            </a:solidFill>
            <a:prstDash val="solid"/>
            <a:round/>
            <a:headEnd len="med" w="med" type="none"/>
            <a:tailEnd len="med" w="med" type="none"/>
          </a:ln>
        </p:spPr>
      </p:sp>
      <p:sp>
        <p:nvSpPr>
          <p:cNvPr id="138" name="Google Shape;138;p30"/>
          <p:cNvSpPr/>
          <p:nvPr/>
        </p:nvSpPr>
        <p:spPr>
          <a:xfrm>
            <a:off x="19050" y="1762125"/>
            <a:ext cx="4485900" cy="147750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0"/>
          <p:cNvSpPr txBox="1"/>
          <p:nvPr>
            <p:ph idx="12" type="sldNum"/>
          </p:nvPr>
        </p:nvSpPr>
        <p:spPr>
          <a:xfrm>
            <a:off x="13977908" y="61681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0" name="Google Shape;140;p30"/>
          <p:cNvPicPr preferRelativeResize="0"/>
          <p:nvPr/>
        </p:nvPicPr>
        <p:blipFill>
          <a:blip r:embed="rId3">
            <a:alphaModFix/>
          </a:blip>
          <a:stretch>
            <a:fillRect/>
          </a:stretch>
        </p:blipFill>
        <p:spPr>
          <a:xfrm>
            <a:off x="76200" y="1794075"/>
            <a:ext cx="1371600" cy="1371600"/>
          </a:xfrm>
          <a:prstGeom prst="rect">
            <a:avLst/>
          </a:prstGeom>
          <a:noFill/>
          <a:ln>
            <a:noFill/>
          </a:ln>
        </p:spPr>
      </p:pic>
      <p:pic>
        <p:nvPicPr>
          <p:cNvPr id="141" name="Google Shape;141;p30"/>
          <p:cNvPicPr preferRelativeResize="0"/>
          <p:nvPr/>
        </p:nvPicPr>
        <p:blipFill>
          <a:blip r:embed="rId4">
            <a:alphaModFix/>
          </a:blip>
          <a:stretch>
            <a:fillRect/>
          </a:stretch>
        </p:blipFill>
        <p:spPr>
          <a:xfrm>
            <a:off x="1579675" y="1794075"/>
            <a:ext cx="1371600" cy="1371600"/>
          </a:xfrm>
          <a:prstGeom prst="rect">
            <a:avLst/>
          </a:prstGeom>
          <a:noFill/>
          <a:ln>
            <a:noFill/>
          </a:ln>
        </p:spPr>
      </p:pic>
      <p:pic>
        <p:nvPicPr>
          <p:cNvPr id="142" name="Google Shape;142;p30"/>
          <p:cNvPicPr preferRelativeResize="0"/>
          <p:nvPr/>
        </p:nvPicPr>
        <p:blipFill>
          <a:blip r:embed="rId5">
            <a:alphaModFix/>
          </a:blip>
          <a:stretch>
            <a:fillRect/>
          </a:stretch>
        </p:blipFill>
        <p:spPr>
          <a:xfrm>
            <a:off x="1579675" y="3289925"/>
            <a:ext cx="1371600" cy="1371600"/>
          </a:xfrm>
          <a:prstGeom prst="rect">
            <a:avLst/>
          </a:prstGeom>
          <a:noFill/>
          <a:ln>
            <a:noFill/>
          </a:ln>
        </p:spPr>
      </p:pic>
      <p:pic>
        <p:nvPicPr>
          <p:cNvPr id="143" name="Google Shape;143;p30"/>
          <p:cNvPicPr preferRelativeResize="0"/>
          <p:nvPr/>
        </p:nvPicPr>
        <p:blipFill>
          <a:blip r:embed="rId6">
            <a:alphaModFix/>
          </a:blip>
          <a:stretch>
            <a:fillRect/>
          </a:stretch>
        </p:blipFill>
        <p:spPr>
          <a:xfrm>
            <a:off x="4572825" y="298225"/>
            <a:ext cx="1371600" cy="1371600"/>
          </a:xfrm>
          <a:prstGeom prst="rect">
            <a:avLst/>
          </a:prstGeom>
          <a:noFill/>
          <a:ln>
            <a:noFill/>
          </a:ln>
        </p:spPr>
      </p:pic>
      <p:pic>
        <p:nvPicPr>
          <p:cNvPr id="144" name="Google Shape;144;p30"/>
          <p:cNvPicPr preferRelativeResize="0"/>
          <p:nvPr/>
        </p:nvPicPr>
        <p:blipFill>
          <a:blip r:embed="rId7">
            <a:alphaModFix/>
          </a:blip>
          <a:stretch>
            <a:fillRect/>
          </a:stretch>
        </p:blipFill>
        <p:spPr>
          <a:xfrm>
            <a:off x="76200" y="3289925"/>
            <a:ext cx="1371600" cy="1371600"/>
          </a:xfrm>
          <a:prstGeom prst="rect">
            <a:avLst/>
          </a:prstGeom>
          <a:noFill/>
          <a:ln>
            <a:noFill/>
          </a:ln>
        </p:spPr>
      </p:pic>
      <p:pic>
        <p:nvPicPr>
          <p:cNvPr id="145" name="Google Shape;145;p30"/>
          <p:cNvPicPr preferRelativeResize="0"/>
          <p:nvPr/>
        </p:nvPicPr>
        <p:blipFill>
          <a:blip r:embed="rId8">
            <a:alphaModFix/>
          </a:blip>
          <a:stretch>
            <a:fillRect/>
          </a:stretch>
        </p:blipFill>
        <p:spPr>
          <a:xfrm>
            <a:off x="4572825" y="3289925"/>
            <a:ext cx="1371600" cy="1371600"/>
          </a:xfrm>
          <a:prstGeom prst="rect">
            <a:avLst/>
          </a:prstGeom>
          <a:noFill/>
          <a:ln>
            <a:noFill/>
          </a:ln>
        </p:spPr>
      </p:pic>
      <p:pic>
        <p:nvPicPr>
          <p:cNvPr id="146" name="Google Shape;146;p30"/>
          <p:cNvPicPr preferRelativeResize="0"/>
          <p:nvPr/>
        </p:nvPicPr>
        <p:blipFill>
          <a:blip r:embed="rId9">
            <a:alphaModFix/>
          </a:blip>
          <a:stretch>
            <a:fillRect/>
          </a:stretch>
        </p:blipFill>
        <p:spPr>
          <a:xfrm>
            <a:off x="3076250" y="3289925"/>
            <a:ext cx="1371600" cy="1371600"/>
          </a:xfrm>
          <a:prstGeom prst="rect">
            <a:avLst/>
          </a:prstGeom>
          <a:noFill/>
          <a:ln>
            <a:noFill/>
          </a:ln>
        </p:spPr>
      </p:pic>
      <p:pic>
        <p:nvPicPr>
          <p:cNvPr id="147" name="Google Shape;147;p30"/>
          <p:cNvPicPr preferRelativeResize="0"/>
          <p:nvPr/>
        </p:nvPicPr>
        <p:blipFill>
          <a:blip r:embed="rId10">
            <a:alphaModFix/>
          </a:blip>
          <a:stretch>
            <a:fillRect/>
          </a:stretch>
        </p:blipFill>
        <p:spPr>
          <a:xfrm>
            <a:off x="7598225" y="1794075"/>
            <a:ext cx="1371600" cy="1371600"/>
          </a:xfrm>
          <a:prstGeom prst="rect">
            <a:avLst/>
          </a:prstGeom>
          <a:noFill/>
          <a:ln>
            <a:noFill/>
          </a:ln>
        </p:spPr>
      </p:pic>
      <p:pic>
        <p:nvPicPr>
          <p:cNvPr id="148" name="Google Shape;148;p30"/>
          <p:cNvPicPr preferRelativeResize="0"/>
          <p:nvPr/>
        </p:nvPicPr>
        <p:blipFill>
          <a:blip r:embed="rId11">
            <a:alphaModFix/>
          </a:blip>
          <a:stretch>
            <a:fillRect/>
          </a:stretch>
        </p:blipFill>
        <p:spPr>
          <a:xfrm>
            <a:off x="6085525" y="1794075"/>
            <a:ext cx="1371600" cy="1371600"/>
          </a:xfrm>
          <a:prstGeom prst="rect">
            <a:avLst/>
          </a:prstGeom>
          <a:noFill/>
          <a:ln>
            <a:noFill/>
          </a:ln>
        </p:spPr>
      </p:pic>
      <p:pic>
        <p:nvPicPr>
          <p:cNvPr id="149" name="Google Shape;149;p30"/>
          <p:cNvPicPr preferRelativeResize="0"/>
          <p:nvPr/>
        </p:nvPicPr>
        <p:blipFill>
          <a:blip r:embed="rId12">
            <a:alphaModFix/>
          </a:blip>
          <a:stretch>
            <a:fillRect/>
          </a:stretch>
        </p:blipFill>
        <p:spPr>
          <a:xfrm>
            <a:off x="6085525" y="3289925"/>
            <a:ext cx="1371600" cy="1371600"/>
          </a:xfrm>
          <a:prstGeom prst="rect">
            <a:avLst/>
          </a:prstGeom>
          <a:noFill/>
          <a:ln>
            <a:noFill/>
          </a:ln>
        </p:spPr>
      </p:pic>
      <p:pic>
        <p:nvPicPr>
          <p:cNvPr id="150" name="Google Shape;150;p30"/>
          <p:cNvPicPr preferRelativeResize="0"/>
          <p:nvPr/>
        </p:nvPicPr>
        <p:blipFill>
          <a:blip r:embed="rId13">
            <a:alphaModFix/>
          </a:blip>
          <a:stretch>
            <a:fillRect/>
          </a:stretch>
        </p:blipFill>
        <p:spPr>
          <a:xfrm>
            <a:off x="6085525" y="298225"/>
            <a:ext cx="1371600" cy="1371600"/>
          </a:xfrm>
          <a:prstGeom prst="rect">
            <a:avLst/>
          </a:prstGeom>
          <a:noFill/>
          <a:ln>
            <a:noFill/>
          </a:ln>
        </p:spPr>
      </p:pic>
      <p:pic>
        <p:nvPicPr>
          <p:cNvPr id="151" name="Google Shape;151;p30"/>
          <p:cNvPicPr preferRelativeResize="0"/>
          <p:nvPr/>
        </p:nvPicPr>
        <p:blipFill>
          <a:blip r:embed="rId14">
            <a:alphaModFix/>
          </a:blip>
          <a:stretch>
            <a:fillRect/>
          </a:stretch>
        </p:blipFill>
        <p:spPr>
          <a:xfrm>
            <a:off x="4572825" y="1794075"/>
            <a:ext cx="1371600" cy="1371600"/>
          </a:xfrm>
          <a:prstGeom prst="rect">
            <a:avLst/>
          </a:prstGeom>
          <a:noFill/>
          <a:ln>
            <a:noFill/>
          </a:ln>
        </p:spPr>
      </p:pic>
      <p:pic>
        <p:nvPicPr>
          <p:cNvPr id="152" name="Google Shape;152;p30"/>
          <p:cNvPicPr preferRelativeResize="0"/>
          <p:nvPr/>
        </p:nvPicPr>
        <p:blipFill>
          <a:blip r:embed="rId15">
            <a:alphaModFix/>
          </a:blip>
          <a:stretch>
            <a:fillRect/>
          </a:stretch>
        </p:blipFill>
        <p:spPr>
          <a:xfrm>
            <a:off x="76200" y="298225"/>
            <a:ext cx="1371600" cy="1371600"/>
          </a:xfrm>
          <a:prstGeom prst="rect">
            <a:avLst/>
          </a:prstGeom>
          <a:noFill/>
          <a:ln>
            <a:noFill/>
          </a:ln>
        </p:spPr>
      </p:pic>
      <p:pic>
        <p:nvPicPr>
          <p:cNvPr id="153" name="Google Shape;153;p30"/>
          <p:cNvPicPr preferRelativeResize="0"/>
          <p:nvPr/>
        </p:nvPicPr>
        <p:blipFill>
          <a:blip r:embed="rId16">
            <a:alphaModFix/>
          </a:blip>
          <a:stretch>
            <a:fillRect/>
          </a:stretch>
        </p:blipFill>
        <p:spPr>
          <a:xfrm>
            <a:off x="3076250" y="298225"/>
            <a:ext cx="1371600" cy="1371600"/>
          </a:xfrm>
          <a:prstGeom prst="rect">
            <a:avLst/>
          </a:prstGeom>
          <a:noFill/>
          <a:ln>
            <a:noFill/>
          </a:ln>
        </p:spPr>
      </p:pic>
      <p:pic>
        <p:nvPicPr>
          <p:cNvPr id="154" name="Google Shape;154;p30"/>
          <p:cNvPicPr preferRelativeResize="0"/>
          <p:nvPr/>
        </p:nvPicPr>
        <p:blipFill>
          <a:blip r:embed="rId17">
            <a:alphaModFix/>
          </a:blip>
          <a:stretch>
            <a:fillRect/>
          </a:stretch>
        </p:blipFill>
        <p:spPr>
          <a:xfrm>
            <a:off x="1579675" y="298225"/>
            <a:ext cx="1371600" cy="1371600"/>
          </a:xfrm>
          <a:prstGeom prst="rect">
            <a:avLst/>
          </a:prstGeom>
          <a:noFill/>
          <a:ln>
            <a:noFill/>
          </a:ln>
        </p:spPr>
      </p:pic>
      <p:pic>
        <p:nvPicPr>
          <p:cNvPr id="155" name="Google Shape;155;p30"/>
          <p:cNvPicPr preferRelativeResize="0"/>
          <p:nvPr/>
        </p:nvPicPr>
        <p:blipFill>
          <a:blip r:embed="rId18">
            <a:alphaModFix/>
          </a:blip>
          <a:stretch>
            <a:fillRect/>
          </a:stretch>
        </p:blipFill>
        <p:spPr>
          <a:xfrm>
            <a:off x="7598225" y="298225"/>
            <a:ext cx="1371600" cy="1371600"/>
          </a:xfrm>
          <a:prstGeom prst="rect">
            <a:avLst/>
          </a:prstGeom>
          <a:noFill/>
          <a:ln>
            <a:noFill/>
          </a:ln>
        </p:spPr>
      </p:pic>
      <p:pic>
        <p:nvPicPr>
          <p:cNvPr id="156" name="Google Shape;156;p30"/>
          <p:cNvPicPr preferRelativeResize="0"/>
          <p:nvPr/>
        </p:nvPicPr>
        <p:blipFill>
          <a:blip r:embed="rId19">
            <a:alphaModFix/>
          </a:blip>
          <a:stretch>
            <a:fillRect/>
          </a:stretch>
        </p:blipFill>
        <p:spPr>
          <a:xfrm>
            <a:off x="3076250" y="1794075"/>
            <a:ext cx="1371600" cy="1371600"/>
          </a:xfrm>
          <a:prstGeom prst="rect">
            <a:avLst/>
          </a:prstGeom>
          <a:noFill/>
          <a:ln>
            <a:noFill/>
          </a:ln>
        </p:spPr>
      </p:pic>
      <p:pic>
        <p:nvPicPr>
          <p:cNvPr id="157" name="Google Shape;157;p30"/>
          <p:cNvPicPr preferRelativeResize="0"/>
          <p:nvPr/>
        </p:nvPicPr>
        <p:blipFill>
          <a:blip r:embed="rId20">
            <a:alphaModFix/>
          </a:blip>
          <a:stretch>
            <a:fillRect/>
          </a:stretch>
        </p:blipFill>
        <p:spPr>
          <a:xfrm>
            <a:off x="7598225" y="3289925"/>
            <a:ext cx="1371600" cy="1371600"/>
          </a:xfrm>
          <a:prstGeom prst="rect">
            <a:avLst/>
          </a:prstGeom>
          <a:noFill/>
          <a:ln>
            <a:noFill/>
          </a:ln>
        </p:spPr>
      </p:pic>
      <p:sp>
        <p:nvSpPr>
          <p:cNvPr id="158" name="Google Shape;15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30"/>
          <p:cNvSpPr txBox="1"/>
          <p:nvPr/>
        </p:nvSpPr>
        <p:spPr>
          <a:xfrm>
            <a:off x="254550" y="4768875"/>
            <a:ext cx="316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Fish from Code.org’s AI for Oceans</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Body Types</a:t>
            </a:r>
            <a:endParaRPr/>
          </a:p>
        </p:txBody>
      </p:sp>
      <p:sp>
        <p:nvSpPr>
          <p:cNvPr id="165" name="Google Shape;16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31"/>
          <p:cNvPicPr preferRelativeResize="0"/>
          <p:nvPr/>
        </p:nvPicPr>
        <p:blipFill>
          <a:blip r:embed="rId3">
            <a:alphaModFix/>
          </a:blip>
          <a:stretch>
            <a:fillRect/>
          </a:stretch>
        </p:blipFill>
        <p:spPr>
          <a:xfrm>
            <a:off x="-66675" y="1370275"/>
            <a:ext cx="1828800" cy="1828800"/>
          </a:xfrm>
          <a:prstGeom prst="rect">
            <a:avLst/>
          </a:prstGeom>
          <a:noFill/>
          <a:ln>
            <a:noFill/>
          </a:ln>
        </p:spPr>
      </p:pic>
      <p:pic>
        <p:nvPicPr>
          <p:cNvPr id="167" name="Google Shape;167;p31"/>
          <p:cNvPicPr preferRelativeResize="0"/>
          <p:nvPr/>
        </p:nvPicPr>
        <p:blipFill>
          <a:blip r:embed="rId4">
            <a:alphaModFix/>
          </a:blip>
          <a:stretch>
            <a:fillRect/>
          </a:stretch>
        </p:blipFill>
        <p:spPr>
          <a:xfrm>
            <a:off x="7165425" y="1370275"/>
            <a:ext cx="1828800" cy="1828800"/>
          </a:xfrm>
          <a:prstGeom prst="rect">
            <a:avLst/>
          </a:prstGeom>
          <a:noFill/>
          <a:ln>
            <a:noFill/>
          </a:ln>
        </p:spPr>
      </p:pic>
      <p:pic>
        <p:nvPicPr>
          <p:cNvPr id="168" name="Google Shape;168;p31"/>
          <p:cNvPicPr preferRelativeResize="0"/>
          <p:nvPr/>
        </p:nvPicPr>
        <p:blipFill>
          <a:blip r:embed="rId5">
            <a:alphaModFix/>
          </a:blip>
          <a:stretch>
            <a:fillRect/>
          </a:stretch>
        </p:blipFill>
        <p:spPr>
          <a:xfrm>
            <a:off x="3600450" y="1370275"/>
            <a:ext cx="1828800" cy="1828800"/>
          </a:xfrm>
          <a:prstGeom prst="rect">
            <a:avLst/>
          </a:prstGeom>
          <a:noFill/>
          <a:ln>
            <a:noFill/>
          </a:ln>
        </p:spPr>
      </p:pic>
      <p:pic>
        <p:nvPicPr>
          <p:cNvPr id="169" name="Google Shape;169;p31"/>
          <p:cNvPicPr preferRelativeResize="0"/>
          <p:nvPr/>
        </p:nvPicPr>
        <p:blipFill>
          <a:blip r:embed="rId6">
            <a:alphaModFix/>
          </a:blip>
          <a:stretch>
            <a:fillRect/>
          </a:stretch>
        </p:blipFill>
        <p:spPr>
          <a:xfrm>
            <a:off x="5476875" y="1370275"/>
            <a:ext cx="1828800" cy="1828800"/>
          </a:xfrm>
          <a:prstGeom prst="rect">
            <a:avLst/>
          </a:prstGeom>
          <a:noFill/>
          <a:ln>
            <a:noFill/>
          </a:ln>
        </p:spPr>
      </p:pic>
      <p:pic>
        <p:nvPicPr>
          <p:cNvPr id="170" name="Google Shape;170;p31"/>
          <p:cNvPicPr preferRelativeResize="0"/>
          <p:nvPr/>
        </p:nvPicPr>
        <p:blipFill>
          <a:blip r:embed="rId7">
            <a:alphaModFix/>
          </a:blip>
          <a:stretch>
            <a:fillRect/>
          </a:stretch>
        </p:blipFill>
        <p:spPr>
          <a:xfrm>
            <a:off x="1762125" y="1370275"/>
            <a:ext cx="1828800" cy="1828800"/>
          </a:xfrm>
          <a:prstGeom prst="rect">
            <a:avLst/>
          </a:prstGeom>
          <a:noFill/>
          <a:ln>
            <a:noFill/>
          </a:ln>
        </p:spPr>
      </p:pic>
      <p:sp>
        <p:nvSpPr>
          <p:cNvPr id="171" name="Google Shape;171;p31"/>
          <p:cNvSpPr txBox="1"/>
          <p:nvPr/>
        </p:nvSpPr>
        <p:spPr>
          <a:xfrm>
            <a:off x="333375" y="3076575"/>
            <a:ext cx="84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1=circular                           2=oval                         3=egg                          4=wedge                  5=triangle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Fin Types</a:t>
            </a:r>
            <a:endParaRPr/>
          </a:p>
        </p:txBody>
      </p:sp>
      <p:sp>
        <p:nvSpPr>
          <p:cNvPr id="177" name="Google Shape;17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8" name="Google Shape;178;p32"/>
          <p:cNvPicPr preferRelativeResize="0"/>
          <p:nvPr/>
        </p:nvPicPr>
        <p:blipFill rotWithShape="1">
          <a:blip r:embed="rId3">
            <a:alphaModFix/>
          </a:blip>
          <a:srcRect b="0" l="0" r="0" t="0"/>
          <a:stretch/>
        </p:blipFill>
        <p:spPr>
          <a:xfrm>
            <a:off x="685800" y="1627325"/>
            <a:ext cx="1828800" cy="1828800"/>
          </a:xfrm>
          <a:prstGeom prst="rect">
            <a:avLst/>
          </a:prstGeom>
          <a:noFill/>
          <a:ln>
            <a:noFill/>
          </a:ln>
        </p:spPr>
      </p:pic>
      <p:pic>
        <p:nvPicPr>
          <p:cNvPr id="179" name="Google Shape;179;p32"/>
          <p:cNvPicPr preferRelativeResize="0"/>
          <p:nvPr/>
        </p:nvPicPr>
        <p:blipFill rotWithShape="1">
          <a:blip r:embed="rId4">
            <a:alphaModFix/>
          </a:blip>
          <a:srcRect b="0" l="0" r="0" t="0"/>
          <a:stretch/>
        </p:blipFill>
        <p:spPr>
          <a:xfrm>
            <a:off x="3276600" y="1627325"/>
            <a:ext cx="1828800" cy="1828800"/>
          </a:xfrm>
          <a:prstGeom prst="rect">
            <a:avLst/>
          </a:prstGeom>
          <a:noFill/>
          <a:ln>
            <a:noFill/>
          </a:ln>
        </p:spPr>
      </p:pic>
      <p:pic>
        <p:nvPicPr>
          <p:cNvPr id="180" name="Google Shape;180;p32"/>
          <p:cNvPicPr preferRelativeResize="0"/>
          <p:nvPr/>
        </p:nvPicPr>
        <p:blipFill rotWithShape="1">
          <a:blip r:embed="rId5">
            <a:alphaModFix/>
          </a:blip>
          <a:srcRect b="0" l="0" r="0" t="0"/>
          <a:stretch/>
        </p:blipFill>
        <p:spPr>
          <a:xfrm>
            <a:off x="5867400" y="1627325"/>
            <a:ext cx="1828800" cy="1828800"/>
          </a:xfrm>
          <a:prstGeom prst="rect">
            <a:avLst/>
          </a:prstGeom>
          <a:noFill/>
          <a:ln>
            <a:noFill/>
          </a:ln>
        </p:spPr>
      </p:pic>
      <p:sp>
        <p:nvSpPr>
          <p:cNvPr id="181" name="Google Shape;181;p32"/>
          <p:cNvSpPr txBox="1"/>
          <p:nvPr/>
        </p:nvSpPr>
        <p:spPr>
          <a:xfrm>
            <a:off x="781050" y="3133725"/>
            <a:ext cx="709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1=crescent                                    2=heart                                        3=hanger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Dorsal Fin Types</a:t>
            </a:r>
            <a:endParaRPr/>
          </a:p>
        </p:txBody>
      </p:sp>
      <p:sp>
        <p:nvSpPr>
          <p:cNvPr id="187" name="Google Shape;18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8" name="Google Shape;188;p33"/>
          <p:cNvPicPr preferRelativeResize="0"/>
          <p:nvPr/>
        </p:nvPicPr>
        <p:blipFill rotWithShape="1">
          <a:blip r:embed="rId3">
            <a:alphaModFix/>
          </a:blip>
          <a:srcRect b="0" l="0" r="0" t="0"/>
          <a:stretch/>
        </p:blipFill>
        <p:spPr>
          <a:xfrm>
            <a:off x="4352925" y="1713050"/>
            <a:ext cx="1828800" cy="1828800"/>
          </a:xfrm>
          <a:prstGeom prst="rect">
            <a:avLst/>
          </a:prstGeom>
          <a:noFill/>
          <a:ln>
            <a:noFill/>
          </a:ln>
        </p:spPr>
      </p:pic>
      <p:pic>
        <p:nvPicPr>
          <p:cNvPr id="189" name="Google Shape;189;p33"/>
          <p:cNvPicPr preferRelativeResize="0"/>
          <p:nvPr/>
        </p:nvPicPr>
        <p:blipFill>
          <a:blip r:embed="rId4">
            <a:alphaModFix/>
          </a:blip>
          <a:stretch>
            <a:fillRect/>
          </a:stretch>
        </p:blipFill>
        <p:spPr>
          <a:xfrm>
            <a:off x="457200" y="1713050"/>
            <a:ext cx="1828800" cy="1828800"/>
          </a:xfrm>
          <a:prstGeom prst="rect">
            <a:avLst/>
          </a:prstGeom>
          <a:noFill/>
          <a:ln>
            <a:noFill/>
          </a:ln>
        </p:spPr>
      </p:pic>
      <p:pic>
        <p:nvPicPr>
          <p:cNvPr id="190" name="Google Shape;190;p33"/>
          <p:cNvPicPr preferRelativeResize="0"/>
          <p:nvPr/>
        </p:nvPicPr>
        <p:blipFill>
          <a:blip r:embed="rId5">
            <a:alphaModFix/>
          </a:blip>
          <a:stretch>
            <a:fillRect/>
          </a:stretch>
        </p:blipFill>
        <p:spPr>
          <a:xfrm>
            <a:off x="2390775" y="1713050"/>
            <a:ext cx="1828800" cy="1828800"/>
          </a:xfrm>
          <a:prstGeom prst="rect">
            <a:avLst/>
          </a:prstGeom>
          <a:noFill/>
          <a:ln>
            <a:noFill/>
          </a:ln>
        </p:spPr>
      </p:pic>
      <p:pic>
        <p:nvPicPr>
          <p:cNvPr id="191" name="Google Shape;191;p33"/>
          <p:cNvPicPr preferRelativeResize="0"/>
          <p:nvPr/>
        </p:nvPicPr>
        <p:blipFill>
          <a:blip r:embed="rId6">
            <a:alphaModFix/>
          </a:blip>
          <a:stretch>
            <a:fillRect/>
          </a:stretch>
        </p:blipFill>
        <p:spPr>
          <a:xfrm>
            <a:off x="6315075" y="1713050"/>
            <a:ext cx="1828800" cy="1828800"/>
          </a:xfrm>
          <a:prstGeom prst="rect">
            <a:avLst/>
          </a:prstGeom>
          <a:noFill/>
          <a:ln>
            <a:noFill/>
          </a:ln>
        </p:spPr>
      </p:pic>
      <p:sp>
        <p:nvSpPr>
          <p:cNvPr id="192" name="Google Shape;192;p33"/>
          <p:cNvSpPr txBox="1"/>
          <p:nvPr/>
        </p:nvSpPr>
        <p:spPr>
          <a:xfrm>
            <a:off x="533400" y="3409950"/>
            <a:ext cx="765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1=lens                              2=leaf                        3=swept_forward               4=swept_back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Pectoral Fin Types</a:t>
            </a:r>
            <a:endParaRPr/>
          </a:p>
        </p:txBody>
      </p:sp>
      <p:sp>
        <p:nvSpPr>
          <p:cNvPr id="198" name="Google Shape;19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9" name="Google Shape;199;p34"/>
          <p:cNvPicPr preferRelativeResize="0"/>
          <p:nvPr/>
        </p:nvPicPr>
        <p:blipFill rotWithShape="1">
          <a:blip r:embed="rId3">
            <a:alphaModFix/>
          </a:blip>
          <a:srcRect b="0" l="0" r="0" t="0"/>
          <a:stretch/>
        </p:blipFill>
        <p:spPr>
          <a:xfrm>
            <a:off x="6034050" y="1504950"/>
            <a:ext cx="1828800" cy="1828800"/>
          </a:xfrm>
          <a:prstGeom prst="rect">
            <a:avLst/>
          </a:prstGeom>
          <a:noFill/>
          <a:ln>
            <a:noFill/>
          </a:ln>
        </p:spPr>
      </p:pic>
      <p:pic>
        <p:nvPicPr>
          <p:cNvPr id="200" name="Google Shape;200;p34"/>
          <p:cNvPicPr preferRelativeResize="0"/>
          <p:nvPr/>
        </p:nvPicPr>
        <p:blipFill>
          <a:blip r:embed="rId4">
            <a:alphaModFix/>
          </a:blip>
          <a:stretch>
            <a:fillRect/>
          </a:stretch>
        </p:blipFill>
        <p:spPr>
          <a:xfrm>
            <a:off x="885825" y="1504950"/>
            <a:ext cx="1828800" cy="1828800"/>
          </a:xfrm>
          <a:prstGeom prst="rect">
            <a:avLst/>
          </a:prstGeom>
          <a:noFill/>
          <a:ln>
            <a:noFill/>
          </a:ln>
        </p:spPr>
      </p:pic>
      <p:pic>
        <p:nvPicPr>
          <p:cNvPr id="201" name="Google Shape;201;p34"/>
          <p:cNvPicPr preferRelativeResize="0"/>
          <p:nvPr/>
        </p:nvPicPr>
        <p:blipFill>
          <a:blip r:embed="rId5">
            <a:alphaModFix/>
          </a:blip>
          <a:stretch>
            <a:fillRect/>
          </a:stretch>
        </p:blipFill>
        <p:spPr>
          <a:xfrm>
            <a:off x="3429000" y="1504950"/>
            <a:ext cx="1828800" cy="1828800"/>
          </a:xfrm>
          <a:prstGeom prst="rect">
            <a:avLst/>
          </a:prstGeom>
          <a:noFill/>
          <a:ln>
            <a:noFill/>
          </a:ln>
        </p:spPr>
      </p:pic>
      <p:sp>
        <p:nvSpPr>
          <p:cNvPr id="202" name="Google Shape;202;p34"/>
          <p:cNvSpPr txBox="1"/>
          <p:nvPr/>
        </p:nvSpPr>
        <p:spPr>
          <a:xfrm>
            <a:off x="1238250" y="3048000"/>
            <a:ext cx="662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1=sharp_points                         2=curved_points                            3=smooth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Body and Fin Colors</a:t>
            </a:r>
            <a:endParaRPr/>
          </a:p>
        </p:txBody>
      </p:sp>
      <p:sp>
        <p:nvSpPr>
          <p:cNvPr id="208" name="Google Shape;20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5"/>
          <p:cNvSpPr/>
          <p:nvPr/>
        </p:nvSpPr>
        <p:spPr>
          <a:xfrm>
            <a:off x="2057400" y="1171575"/>
            <a:ext cx="324000" cy="324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5"/>
          <p:cNvSpPr txBox="1"/>
          <p:nvPr/>
        </p:nvSpPr>
        <p:spPr>
          <a:xfrm>
            <a:off x="2514600" y="11334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1=Red</a:t>
            </a:r>
            <a:endParaRPr/>
          </a:p>
        </p:txBody>
      </p:sp>
      <p:sp>
        <p:nvSpPr>
          <p:cNvPr id="211" name="Google Shape;211;p35"/>
          <p:cNvSpPr/>
          <p:nvPr/>
        </p:nvSpPr>
        <p:spPr>
          <a:xfrm>
            <a:off x="2057400" y="1628775"/>
            <a:ext cx="324000" cy="3240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5"/>
          <p:cNvSpPr txBox="1"/>
          <p:nvPr/>
        </p:nvSpPr>
        <p:spPr>
          <a:xfrm>
            <a:off x="2514600" y="15906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2=Pink</a:t>
            </a:r>
            <a:endParaRPr/>
          </a:p>
        </p:txBody>
      </p:sp>
      <p:sp>
        <p:nvSpPr>
          <p:cNvPr id="213" name="Google Shape;213;p35"/>
          <p:cNvSpPr/>
          <p:nvPr/>
        </p:nvSpPr>
        <p:spPr>
          <a:xfrm>
            <a:off x="2057400" y="2085975"/>
            <a:ext cx="324000" cy="324000"/>
          </a:xfrm>
          <a:prstGeom prst="ellipse">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5"/>
          <p:cNvSpPr txBox="1"/>
          <p:nvPr/>
        </p:nvSpPr>
        <p:spPr>
          <a:xfrm>
            <a:off x="2514600" y="20478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3=Yellow</a:t>
            </a:r>
            <a:endParaRPr/>
          </a:p>
        </p:txBody>
      </p:sp>
      <p:sp>
        <p:nvSpPr>
          <p:cNvPr id="215" name="Google Shape;215;p35"/>
          <p:cNvSpPr/>
          <p:nvPr/>
        </p:nvSpPr>
        <p:spPr>
          <a:xfrm>
            <a:off x="2057400" y="2543175"/>
            <a:ext cx="324000" cy="3240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5"/>
          <p:cNvSpPr txBox="1"/>
          <p:nvPr/>
        </p:nvSpPr>
        <p:spPr>
          <a:xfrm>
            <a:off x="2514600" y="25050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4=Orange</a:t>
            </a:r>
            <a:endParaRPr/>
          </a:p>
        </p:txBody>
      </p:sp>
      <p:sp>
        <p:nvSpPr>
          <p:cNvPr id="217" name="Google Shape;217;p35"/>
          <p:cNvSpPr/>
          <p:nvPr/>
        </p:nvSpPr>
        <p:spPr>
          <a:xfrm>
            <a:off x="2057400" y="3000375"/>
            <a:ext cx="324000" cy="324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5"/>
          <p:cNvSpPr txBox="1"/>
          <p:nvPr/>
        </p:nvSpPr>
        <p:spPr>
          <a:xfrm>
            <a:off x="2514600" y="29622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5=Lime</a:t>
            </a:r>
            <a:endParaRPr/>
          </a:p>
        </p:txBody>
      </p:sp>
      <p:sp>
        <p:nvSpPr>
          <p:cNvPr id="219" name="Google Shape;219;p35"/>
          <p:cNvSpPr/>
          <p:nvPr/>
        </p:nvSpPr>
        <p:spPr>
          <a:xfrm>
            <a:off x="2057400" y="3457575"/>
            <a:ext cx="324000" cy="324000"/>
          </a:xfrm>
          <a:prstGeom prst="ellipse">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5"/>
          <p:cNvSpPr txBox="1"/>
          <p:nvPr/>
        </p:nvSpPr>
        <p:spPr>
          <a:xfrm>
            <a:off x="2514600" y="34194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6=Forest</a:t>
            </a:r>
            <a:endParaRPr/>
          </a:p>
        </p:txBody>
      </p:sp>
      <p:sp>
        <p:nvSpPr>
          <p:cNvPr id="221" name="Google Shape;221;p35"/>
          <p:cNvSpPr/>
          <p:nvPr/>
        </p:nvSpPr>
        <p:spPr>
          <a:xfrm>
            <a:off x="2057400" y="3914775"/>
            <a:ext cx="324000" cy="3240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5"/>
          <p:cNvSpPr txBox="1"/>
          <p:nvPr/>
        </p:nvSpPr>
        <p:spPr>
          <a:xfrm>
            <a:off x="2514600" y="38766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7=Blue</a:t>
            </a:r>
            <a:endParaRPr/>
          </a:p>
        </p:txBody>
      </p:sp>
      <p:sp>
        <p:nvSpPr>
          <p:cNvPr id="223" name="Google Shape;223;p35"/>
          <p:cNvSpPr/>
          <p:nvPr/>
        </p:nvSpPr>
        <p:spPr>
          <a:xfrm>
            <a:off x="2057400" y="4371975"/>
            <a:ext cx="324000" cy="324000"/>
          </a:xfrm>
          <a:prstGeom prst="ellipse">
            <a:avLst/>
          </a:prstGeom>
          <a:solidFill>
            <a:srgbClr val="351C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5"/>
          <p:cNvSpPr txBox="1"/>
          <p:nvPr/>
        </p:nvSpPr>
        <p:spPr>
          <a:xfrm>
            <a:off x="2514600" y="43338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8=Purple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Fishy Feature Vectors</a:t>
            </a:r>
            <a:endParaRPr/>
          </a:p>
        </p:txBody>
      </p:sp>
      <p:sp>
        <p:nvSpPr>
          <p:cNvPr id="230" name="Google Shape;23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31" name="Google Shape;231;p36"/>
          <p:cNvGraphicFramePr/>
          <p:nvPr/>
        </p:nvGraphicFramePr>
        <p:xfrm>
          <a:off x="2352750" y="1128750"/>
          <a:ext cx="3000000" cy="3000000"/>
        </p:xfrm>
        <a:graphic>
          <a:graphicData uri="http://schemas.openxmlformats.org/drawingml/2006/table">
            <a:tbl>
              <a:tblPr>
                <a:noFill/>
                <a:tableStyleId>{CFEC1809-D437-4457-BDB7-B71CCF5CB40B}</a:tableStyleId>
              </a:tblPr>
              <a:tblGrid>
                <a:gridCol w="973125"/>
                <a:gridCol w="973125"/>
                <a:gridCol w="973125"/>
                <a:gridCol w="973125"/>
                <a:gridCol w="973125"/>
                <a:gridCol w="973125"/>
              </a:tblGrid>
              <a:tr h="904600">
                <a:tc>
                  <a:txBody>
                    <a:bodyPr/>
                    <a:lstStyle/>
                    <a:p>
                      <a:pPr indent="0" lvl="0" marL="0" rtl="0" algn="ctr">
                        <a:spcBef>
                          <a:spcPts val="0"/>
                        </a:spcBef>
                        <a:spcAft>
                          <a:spcPts val="0"/>
                        </a:spcAft>
                        <a:buNone/>
                      </a:pPr>
                      <a:r>
                        <a:rPr b="1" lang="en">
                          <a:solidFill>
                            <a:srgbClr val="FFFFFF"/>
                          </a:solidFill>
                        </a:rPr>
                        <a:t>Body Type</a:t>
                      </a:r>
                      <a:endParaRPr b="1">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b="1" lang="en">
                          <a:solidFill>
                            <a:srgbClr val="FFFFFF"/>
                          </a:solidFill>
                        </a:rPr>
                        <a:t>Body Color</a:t>
                      </a:r>
                      <a:endParaRPr b="1">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b="1" lang="en">
                          <a:solidFill>
                            <a:srgbClr val="FFFFFF"/>
                          </a:solidFill>
                        </a:rPr>
                        <a:t>Tail</a:t>
                      </a:r>
                      <a:br>
                        <a:rPr b="1" lang="en">
                          <a:solidFill>
                            <a:srgbClr val="FFFFFF"/>
                          </a:solidFill>
                        </a:rPr>
                      </a:br>
                      <a:r>
                        <a:rPr b="1" lang="en">
                          <a:solidFill>
                            <a:srgbClr val="FFFFFF"/>
                          </a:solidFill>
                        </a:rPr>
                        <a:t>Fin</a:t>
                      </a:r>
                      <a:endParaRPr b="1">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b="1" lang="en">
                          <a:solidFill>
                            <a:srgbClr val="FFFFFF"/>
                          </a:solidFill>
                        </a:rPr>
                        <a:t>Dorsal Fin</a:t>
                      </a:r>
                      <a:endParaRPr b="1">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b="1" lang="en">
                          <a:solidFill>
                            <a:srgbClr val="FFFFFF"/>
                          </a:solidFill>
                        </a:rPr>
                        <a:t>Pectoral Fins</a:t>
                      </a:r>
                      <a:endParaRPr b="1">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b="1" lang="en">
                          <a:solidFill>
                            <a:srgbClr val="FFFFFF"/>
                          </a:solidFill>
                        </a:rPr>
                        <a:t>Fin</a:t>
                      </a:r>
                      <a:br>
                        <a:rPr b="1" lang="en">
                          <a:solidFill>
                            <a:srgbClr val="FFFFFF"/>
                          </a:solidFill>
                        </a:rPr>
                      </a:br>
                      <a:r>
                        <a:rPr b="1" lang="en">
                          <a:solidFill>
                            <a:srgbClr val="FFFFFF"/>
                          </a:solidFill>
                        </a:rPr>
                        <a:t>Color</a:t>
                      </a:r>
                      <a:endParaRPr b="1">
                        <a:solidFill>
                          <a:srgbClr val="FFFFFF"/>
                        </a:solidFill>
                      </a:endParaRPr>
                    </a:p>
                  </a:txBody>
                  <a:tcPr marT="91425" marB="91425" marR="91425" marL="91425">
                    <a:solidFill>
                      <a:srgbClr val="073763"/>
                    </a:solidFill>
                  </a:tcPr>
                </a:tc>
              </a:tr>
              <a:tr h="904600">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4</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5</a:t>
                      </a:r>
                      <a:endParaRPr sz="1800"/>
                    </a:p>
                  </a:txBody>
                  <a:tcPr marT="91425" marB="91425" marR="91425" marL="91425"/>
                </a:tc>
              </a:tr>
              <a:tr h="904600">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5</a:t>
                      </a:r>
                      <a:endParaRPr sz="1800"/>
                    </a:p>
                  </a:txBody>
                  <a:tcPr marT="91425" marB="91425" marR="91425" marL="91425">
                    <a:solidFill>
                      <a:srgbClr val="D9D9D9"/>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3</a:t>
                      </a:r>
                      <a:endParaRPr sz="1800"/>
                    </a:p>
                  </a:txBody>
                  <a:tcPr marT="91425" marB="91425" marR="91425" marL="91425">
                    <a:solidFill>
                      <a:srgbClr val="D9D9D9"/>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3</a:t>
                      </a:r>
                      <a:endParaRPr sz="1800"/>
                    </a:p>
                  </a:txBody>
                  <a:tcPr marT="91425" marB="91425" marR="91425" marL="91425">
                    <a:solidFill>
                      <a:srgbClr val="D9D9D9"/>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2</a:t>
                      </a:r>
                      <a:endParaRPr sz="1800"/>
                    </a:p>
                  </a:txBody>
                  <a:tcPr marT="91425" marB="91425" marR="91425" marL="91425">
                    <a:solidFill>
                      <a:srgbClr val="D9D9D9"/>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2</a:t>
                      </a:r>
                      <a:endParaRPr sz="1800"/>
                    </a:p>
                  </a:txBody>
                  <a:tcPr marT="91425" marB="91425" marR="91425" marL="91425">
                    <a:solidFill>
                      <a:srgbClr val="D9D9D9"/>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2</a:t>
                      </a:r>
                      <a:endParaRPr sz="1800"/>
                    </a:p>
                  </a:txBody>
                  <a:tcPr marT="91425" marB="91425" marR="91425" marL="91425">
                    <a:solidFill>
                      <a:srgbClr val="D9D9D9"/>
                    </a:solidFill>
                  </a:tcPr>
                </a:tc>
              </a:tr>
              <a:tr h="904600">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2</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2</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1</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3</a:t>
                      </a:r>
                      <a:endParaRPr sz="1800"/>
                    </a:p>
                  </a:txBody>
                  <a:tcPr marT="91425" marB="91425" marR="91425" marL="91425"/>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lang="en" sz="1800"/>
                        <a:t>6</a:t>
                      </a:r>
                      <a:endParaRPr sz="1800"/>
                    </a:p>
                  </a:txBody>
                  <a:tcPr marT="91425" marB="91425" marR="91425" marL="91425"/>
                </a:tc>
              </a:tr>
            </a:tbl>
          </a:graphicData>
        </a:graphic>
      </p:graphicFrame>
      <p:pic>
        <p:nvPicPr>
          <p:cNvPr id="232" name="Google Shape;232;p36"/>
          <p:cNvPicPr preferRelativeResize="0"/>
          <p:nvPr/>
        </p:nvPicPr>
        <p:blipFill>
          <a:blip r:embed="rId3">
            <a:alphaModFix/>
          </a:blip>
          <a:stretch>
            <a:fillRect/>
          </a:stretch>
        </p:blipFill>
        <p:spPr>
          <a:xfrm>
            <a:off x="622575" y="1728263"/>
            <a:ext cx="1097280" cy="1097280"/>
          </a:xfrm>
          <a:prstGeom prst="rect">
            <a:avLst/>
          </a:prstGeom>
          <a:noFill/>
          <a:ln>
            <a:noFill/>
          </a:ln>
        </p:spPr>
      </p:pic>
      <p:pic>
        <p:nvPicPr>
          <p:cNvPr id="233" name="Google Shape;233;p36"/>
          <p:cNvPicPr preferRelativeResize="0"/>
          <p:nvPr/>
        </p:nvPicPr>
        <p:blipFill>
          <a:blip r:embed="rId4">
            <a:alphaModFix/>
          </a:blip>
          <a:stretch>
            <a:fillRect/>
          </a:stretch>
        </p:blipFill>
        <p:spPr>
          <a:xfrm>
            <a:off x="622575" y="2871275"/>
            <a:ext cx="1097280" cy="1097280"/>
          </a:xfrm>
          <a:prstGeom prst="rect">
            <a:avLst/>
          </a:prstGeom>
          <a:noFill/>
          <a:ln>
            <a:noFill/>
          </a:ln>
        </p:spPr>
      </p:pic>
      <p:pic>
        <p:nvPicPr>
          <p:cNvPr id="234" name="Google Shape;234;p36"/>
          <p:cNvPicPr preferRelativeResize="0"/>
          <p:nvPr/>
        </p:nvPicPr>
        <p:blipFill>
          <a:blip r:embed="rId5">
            <a:alphaModFix/>
          </a:blip>
          <a:stretch>
            <a:fillRect/>
          </a:stretch>
        </p:blipFill>
        <p:spPr>
          <a:xfrm>
            <a:off x="622575" y="4006498"/>
            <a:ext cx="1097280" cy="1097280"/>
          </a:xfrm>
          <a:prstGeom prst="rect">
            <a:avLst/>
          </a:prstGeom>
          <a:noFill/>
          <a:ln>
            <a:noFill/>
          </a:ln>
        </p:spPr>
      </p:pic>
      <p:cxnSp>
        <p:nvCxnSpPr>
          <p:cNvPr id="235" name="Google Shape;235;p36"/>
          <p:cNvCxnSpPr/>
          <p:nvPr/>
        </p:nvCxnSpPr>
        <p:spPr>
          <a:xfrm>
            <a:off x="1719855" y="2276903"/>
            <a:ext cx="669000" cy="250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36" name="Google Shape;236;p36"/>
          <p:cNvCxnSpPr>
            <a:stCxn id="233" idx="3"/>
          </p:cNvCxnSpPr>
          <p:nvPr/>
        </p:nvCxnSpPr>
        <p:spPr>
          <a:xfrm flipH="1" rot="10800000">
            <a:off x="1719855" y="3412715"/>
            <a:ext cx="644700" cy="7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37" name="Google Shape;237;p36"/>
          <p:cNvCxnSpPr/>
          <p:nvPr/>
        </p:nvCxnSpPr>
        <p:spPr>
          <a:xfrm flipH="1" rot="10800000">
            <a:off x="1719855" y="4322938"/>
            <a:ext cx="636600" cy="232200"/>
          </a:xfrm>
          <a:prstGeom prst="curved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this algorithm we’ll assume the desired decision tree has only one node.</a:t>
            </a:r>
            <a:endParaRPr/>
          </a:p>
          <a:p>
            <a:pPr indent="-342900" lvl="0" marL="457200" rtl="0" algn="l">
              <a:spcBef>
                <a:spcPts val="1200"/>
              </a:spcBef>
              <a:spcAft>
                <a:spcPts val="0"/>
              </a:spcAft>
              <a:buSzPts val="1800"/>
              <a:buAutoNum type="arabicPeriod"/>
            </a:pPr>
            <a:r>
              <a:rPr lang="en"/>
              <a:t>Generate all possible decision trees that could account for the data.</a:t>
            </a:r>
            <a:br>
              <a:rPr lang="en"/>
            </a:br>
            <a:r>
              <a:rPr lang="en"/>
              <a:t>W</a:t>
            </a:r>
            <a:r>
              <a:rPr lang="en"/>
              <a:t>e’ll express each decision tree as a “rule” that tests one feature.</a:t>
            </a:r>
            <a:br>
              <a:rPr lang="en"/>
            </a:br>
            <a:endParaRPr/>
          </a:p>
          <a:p>
            <a:pPr indent="-342900" lvl="0" marL="457200" rtl="0" algn="l">
              <a:spcBef>
                <a:spcPts val="0"/>
              </a:spcBef>
              <a:spcAft>
                <a:spcPts val="0"/>
              </a:spcAft>
              <a:buSzPts val="1800"/>
              <a:buAutoNum type="arabicPeriod"/>
            </a:pPr>
            <a:r>
              <a:rPr lang="en"/>
              <a:t>As new data come in, eliminate any decision trees that disagree with the data.</a:t>
            </a:r>
            <a:br>
              <a:rPr lang="en"/>
            </a:br>
            <a:endParaRPr/>
          </a:p>
          <a:p>
            <a:pPr indent="-342900" lvl="0" marL="457200" rtl="0" algn="l">
              <a:spcBef>
                <a:spcPts val="0"/>
              </a:spcBef>
              <a:spcAft>
                <a:spcPts val="0"/>
              </a:spcAft>
              <a:buSzPts val="1800"/>
              <a:buAutoNum type="arabicPeriod"/>
            </a:pPr>
            <a:r>
              <a:rPr lang="en"/>
              <a:t>Keep going until only one decision tree is left.</a:t>
            </a:r>
            <a:endParaRPr/>
          </a:p>
        </p:txBody>
      </p:sp>
      <p:sp>
        <p:nvSpPr>
          <p:cNvPr id="243" name="Google Shape;24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First Learning Algorithm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pic>
        <p:nvPicPr>
          <p:cNvPr id="249" name="Google Shape;249;p38"/>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250" name="Google Shape;250;p38"/>
          <p:cNvPicPr preferRelativeResize="0"/>
          <p:nvPr/>
        </p:nvPicPr>
        <p:blipFill>
          <a:blip r:embed="rId4">
            <a:alphaModFix/>
          </a:blip>
          <a:stretch>
            <a:fillRect/>
          </a:stretch>
        </p:blipFill>
        <p:spPr>
          <a:xfrm>
            <a:off x="1532675" y="2854450"/>
            <a:ext cx="1371600" cy="1371600"/>
          </a:xfrm>
          <a:prstGeom prst="rect">
            <a:avLst/>
          </a:prstGeom>
          <a:noFill/>
          <a:ln>
            <a:noFill/>
          </a:ln>
        </p:spPr>
      </p:pic>
      <p:sp>
        <p:nvSpPr>
          <p:cNvPr id="251" name="Google Shape;251;p38"/>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252" name="Google Shape;252;p38"/>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253" name="Google Shape;253;p38"/>
          <p:cNvSpPr txBox="1"/>
          <p:nvPr/>
        </p:nvSpPr>
        <p:spPr>
          <a:xfrm>
            <a:off x="5906600" y="75475"/>
            <a:ext cx="3217800" cy="3170700"/>
          </a:xfrm>
          <a:prstGeom prst="rect">
            <a:avLst/>
          </a:prstGeom>
          <a:no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Possible decision rules:</a:t>
            </a:r>
            <a:endParaRPr b="1"/>
          </a:p>
          <a:p>
            <a:pPr indent="-317500" lvl="0" marL="457200" rtl="0" algn="l">
              <a:spcBef>
                <a:spcPts val="0"/>
              </a:spcBef>
              <a:spcAft>
                <a:spcPts val="0"/>
              </a:spcAft>
              <a:buSzPts val="1400"/>
              <a:buChar char="-"/>
            </a:pPr>
            <a:r>
              <a:rPr lang="en"/>
              <a:t>body color = orange ⇒ non-reef</a:t>
            </a:r>
            <a:endParaRPr/>
          </a:p>
          <a:p>
            <a:pPr indent="-317500" lvl="0" marL="457200" rtl="0" algn="l">
              <a:spcBef>
                <a:spcPts val="0"/>
              </a:spcBef>
              <a:spcAft>
                <a:spcPts val="0"/>
              </a:spcAft>
              <a:buSzPts val="1400"/>
              <a:buChar char="-"/>
            </a:pPr>
            <a:r>
              <a:rPr lang="en"/>
              <a:t>body color = blue </a:t>
            </a:r>
            <a:r>
              <a:rPr lang="en">
                <a:solidFill>
                  <a:schemeClr val="dk1"/>
                </a:solidFill>
              </a:rPr>
              <a:t>⇒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body type = circular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body type = egg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crescent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hanger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dorsal fin = lens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dorsal fin = swept back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fin color = lime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fin color = orange ⇒ reef</a:t>
            </a:r>
            <a:endParaRPr>
              <a:solidFill>
                <a:schemeClr val="dk1"/>
              </a:solidFill>
            </a:endParaRPr>
          </a:p>
        </p:txBody>
      </p:sp>
      <p:sp>
        <p:nvSpPr>
          <p:cNvPr id="254" name="Google Shape;254;p38"/>
          <p:cNvSpPr/>
          <p:nvPr/>
        </p:nvSpPr>
        <p:spPr>
          <a:xfrm>
            <a:off x="5722375" y="3319138"/>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color = orange?</a:t>
            </a:r>
            <a:endParaRPr sz="1600"/>
          </a:p>
        </p:txBody>
      </p:sp>
      <p:sp>
        <p:nvSpPr>
          <p:cNvPr id="255" name="Google Shape;255;p38"/>
          <p:cNvSpPr/>
          <p:nvPr/>
        </p:nvSpPr>
        <p:spPr>
          <a:xfrm>
            <a:off x="5362375" y="4515338"/>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non-reef</a:t>
            </a:r>
            <a:endParaRPr sz="1600"/>
          </a:p>
        </p:txBody>
      </p:sp>
      <p:sp>
        <p:nvSpPr>
          <p:cNvPr id="256" name="Google Shape;256;p38"/>
          <p:cNvSpPr/>
          <p:nvPr/>
        </p:nvSpPr>
        <p:spPr>
          <a:xfrm>
            <a:off x="6733975" y="4515338"/>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reef</a:t>
            </a:r>
            <a:endParaRPr sz="1600"/>
          </a:p>
        </p:txBody>
      </p:sp>
      <p:cxnSp>
        <p:nvCxnSpPr>
          <p:cNvPr id="257" name="Google Shape;257;p38"/>
          <p:cNvCxnSpPr>
            <a:endCxn id="255" idx="0"/>
          </p:cNvCxnSpPr>
          <p:nvPr/>
        </p:nvCxnSpPr>
        <p:spPr>
          <a:xfrm flipH="1">
            <a:off x="5798575" y="3939938"/>
            <a:ext cx="375600" cy="575400"/>
          </a:xfrm>
          <a:prstGeom prst="straightConnector1">
            <a:avLst/>
          </a:prstGeom>
          <a:noFill/>
          <a:ln cap="flat" cmpd="sng" w="19050">
            <a:solidFill>
              <a:schemeClr val="dk2"/>
            </a:solidFill>
            <a:prstDash val="solid"/>
            <a:round/>
            <a:headEnd len="med" w="med" type="none"/>
            <a:tailEnd len="med" w="med" type="triangle"/>
          </a:ln>
        </p:spPr>
      </p:cxnSp>
      <p:sp>
        <p:nvSpPr>
          <p:cNvPr id="258" name="Google Shape;258;p38"/>
          <p:cNvSpPr txBox="1"/>
          <p:nvPr/>
        </p:nvSpPr>
        <p:spPr>
          <a:xfrm>
            <a:off x="6944325" y="3980825"/>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cxnSp>
        <p:nvCxnSpPr>
          <p:cNvPr id="259" name="Google Shape;259;p38"/>
          <p:cNvCxnSpPr/>
          <p:nvPr/>
        </p:nvCxnSpPr>
        <p:spPr>
          <a:xfrm>
            <a:off x="6829200" y="3933538"/>
            <a:ext cx="323100" cy="575400"/>
          </a:xfrm>
          <a:prstGeom prst="straightConnector1">
            <a:avLst/>
          </a:prstGeom>
          <a:noFill/>
          <a:ln cap="flat" cmpd="sng" w="19050">
            <a:solidFill>
              <a:schemeClr val="dk2"/>
            </a:solidFill>
            <a:prstDash val="solid"/>
            <a:round/>
            <a:headEnd len="med" w="med" type="none"/>
            <a:tailEnd len="med" w="med" type="triangle"/>
          </a:ln>
        </p:spPr>
      </p:cxnSp>
      <p:sp>
        <p:nvSpPr>
          <p:cNvPr id="260" name="Google Shape;260;p38"/>
          <p:cNvSpPr txBox="1"/>
          <p:nvPr/>
        </p:nvSpPr>
        <p:spPr>
          <a:xfrm>
            <a:off x="5510050" y="4020838"/>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
        <p:nvSpPr>
          <p:cNvPr id="261" name="Google Shape;261;p38"/>
          <p:cNvSpPr/>
          <p:nvPr/>
        </p:nvSpPr>
        <p:spPr>
          <a:xfrm>
            <a:off x="4864175" y="512650"/>
            <a:ext cx="1371614" cy="2826972"/>
          </a:xfrm>
          <a:custGeom>
            <a:rect b="b" l="l" r="r" t="t"/>
            <a:pathLst>
              <a:path extrusionOk="0" h="97507" w="51151">
                <a:moveTo>
                  <a:pt x="51151" y="0"/>
                </a:moveTo>
                <a:cubicBezTo>
                  <a:pt x="45680" y="1517"/>
                  <a:pt x="26828" y="-3684"/>
                  <a:pt x="18323" y="9100"/>
                </a:cubicBezTo>
                <a:cubicBezTo>
                  <a:pt x="9818" y="21884"/>
                  <a:pt x="-1286" y="61971"/>
                  <a:pt x="122" y="76705"/>
                </a:cubicBezTo>
                <a:cubicBezTo>
                  <a:pt x="1531" y="91440"/>
                  <a:pt x="22332" y="94040"/>
                  <a:pt x="26774" y="97507"/>
                </a:cubicBezTo>
              </a:path>
            </a:pathLst>
          </a:custGeom>
          <a:noFill/>
          <a:ln cap="flat" cmpd="sng" w="19050">
            <a:solidFill>
              <a:srgbClr val="1155CC"/>
            </a:solidFill>
            <a:prstDash val="solid"/>
            <a:round/>
            <a:headEnd len="med" w="med" type="none"/>
            <a:tailEnd len="med" w="med" type="triangle"/>
          </a:ln>
        </p:spPr>
      </p:sp>
      <p:sp>
        <p:nvSpPr>
          <p:cNvPr id="262" name="Google Shape;26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8"/>
          <p:cNvSpPr txBox="1"/>
          <p:nvPr/>
        </p:nvSpPr>
        <p:spPr>
          <a:xfrm>
            <a:off x="7327150" y="3592013"/>
            <a:ext cx="1309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t>potential decision tree</a:t>
            </a:r>
            <a:endParaRPr i="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sp>
        <p:nvSpPr>
          <p:cNvPr id="269" name="Google Shape;26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0" name="Google Shape;270;p39"/>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271" name="Google Shape;271;p39"/>
          <p:cNvPicPr preferRelativeResize="0"/>
          <p:nvPr/>
        </p:nvPicPr>
        <p:blipFill>
          <a:blip r:embed="rId4">
            <a:alphaModFix/>
          </a:blip>
          <a:stretch>
            <a:fillRect/>
          </a:stretch>
        </p:blipFill>
        <p:spPr>
          <a:xfrm>
            <a:off x="3019750" y="2854450"/>
            <a:ext cx="1371600" cy="1371600"/>
          </a:xfrm>
          <a:prstGeom prst="rect">
            <a:avLst/>
          </a:prstGeom>
          <a:noFill/>
          <a:ln>
            <a:noFill/>
          </a:ln>
        </p:spPr>
      </p:pic>
      <p:pic>
        <p:nvPicPr>
          <p:cNvPr id="272" name="Google Shape;272;p39"/>
          <p:cNvPicPr preferRelativeResize="0"/>
          <p:nvPr/>
        </p:nvPicPr>
        <p:blipFill>
          <a:blip r:embed="rId5">
            <a:alphaModFix/>
          </a:blip>
          <a:stretch>
            <a:fillRect/>
          </a:stretch>
        </p:blipFill>
        <p:spPr>
          <a:xfrm>
            <a:off x="1532675" y="2854450"/>
            <a:ext cx="1371600" cy="1371600"/>
          </a:xfrm>
          <a:prstGeom prst="rect">
            <a:avLst/>
          </a:prstGeom>
          <a:noFill/>
          <a:ln>
            <a:noFill/>
          </a:ln>
        </p:spPr>
      </p:pic>
      <p:pic>
        <p:nvPicPr>
          <p:cNvPr id="273" name="Google Shape;273;p39"/>
          <p:cNvPicPr preferRelativeResize="0"/>
          <p:nvPr/>
        </p:nvPicPr>
        <p:blipFill>
          <a:blip r:embed="rId6">
            <a:alphaModFix/>
          </a:blip>
          <a:stretch>
            <a:fillRect/>
          </a:stretch>
        </p:blipFill>
        <p:spPr>
          <a:xfrm>
            <a:off x="3019750" y="1025650"/>
            <a:ext cx="1371600" cy="1371600"/>
          </a:xfrm>
          <a:prstGeom prst="rect">
            <a:avLst/>
          </a:prstGeom>
          <a:noFill/>
          <a:ln>
            <a:noFill/>
          </a:ln>
        </p:spPr>
      </p:pic>
      <p:sp>
        <p:nvSpPr>
          <p:cNvPr id="274" name="Google Shape;274;p39"/>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275" name="Google Shape;275;p39"/>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276" name="Google Shape;276;p39"/>
          <p:cNvSpPr txBox="1"/>
          <p:nvPr/>
        </p:nvSpPr>
        <p:spPr>
          <a:xfrm>
            <a:off x="5514825" y="517575"/>
            <a:ext cx="3217800" cy="3170700"/>
          </a:xfrm>
          <a:prstGeom prst="rect">
            <a:avLst/>
          </a:prstGeom>
          <a:no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Possible decision rules:</a:t>
            </a:r>
            <a:endParaRPr b="1"/>
          </a:p>
          <a:p>
            <a:pPr indent="-317500" lvl="0" marL="457200" rtl="0" algn="l">
              <a:spcBef>
                <a:spcPts val="0"/>
              </a:spcBef>
              <a:spcAft>
                <a:spcPts val="0"/>
              </a:spcAft>
              <a:buSzPts val="1400"/>
              <a:buChar char="-"/>
            </a:pPr>
            <a:r>
              <a:rPr lang="en"/>
              <a:t>body color = orange ⇒ non-reef</a:t>
            </a:r>
            <a:endParaRPr/>
          </a:p>
          <a:p>
            <a:pPr indent="-317500" lvl="0" marL="457200" rtl="0" algn="l">
              <a:spcBef>
                <a:spcPts val="0"/>
              </a:spcBef>
              <a:spcAft>
                <a:spcPts val="0"/>
              </a:spcAft>
              <a:buSzPts val="1400"/>
              <a:buChar char="-"/>
            </a:pPr>
            <a:r>
              <a:rPr lang="en"/>
              <a:t>body color = blue </a:t>
            </a:r>
            <a:r>
              <a:rPr lang="en">
                <a:solidFill>
                  <a:schemeClr val="dk1"/>
                </a:solidFill>
              </a:rPr>
              <a:t>⇒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rgbClr val="B7B7B7"/>
              </a:buClr>
              <a:buSzPts val="1400"/>
              <a:buChar char="-"/>
            </a:pPr>
            <a:r>
              <a:rPr lang="en">
                <a:solidFill>
                  <a:srgbClr val="B7B7B7"/>
                </a:solidFill>
              </a:rPr>
              <a:t>body type = circular ⇒ non-reef</a:t>
            </a:r>
            <a:endParaRPr>
              <a:solidFill>
                <a:srgbClr val="B7B7B7"/>
              </a:solidFill>
            </a:endParaRPr>
          </a:p>
          <a:p>
            <a:pPr indent="-317500" lvl="0" marL="457200" rtl="0" algn="l">
              <a:spcBef>
                <a:spcPts val="0"/>
              </a:spcBef>
              <a:spcAft>
                <a:spcPts val="0"/>
              </a:spcAft>
              <a:buClr>
                <a:schemeClr val="dk1"/>
              </a:buClr>
              <a:buSzPts val="1400"/>
              <a:buChar char="-"/>
            </a:pPr>
            <a:r>
              <a:rPr lang="en">
                <a:solidFill>
                  <a:schemeClr val="dk1"/>
                </a:solidFill>
              </a:rPr>
              <a:t>body type = egg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crescent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hanger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rgbClr val="B7B7B7"/>
              </a:buClr>
              <a:buSzPts val="1400"/>
              <a:buChar char="-"/>
            </a:pPr>
            <a:r>
              <a:rPr lang="en">
                <a:solidFill>
                  <a:srgbClr val="B7B7B7"/>
                </a:solidFill>
              </a:rPr>
              <a:t>dorsal fin = lens ⇒ non-reef</a:t>
            </a:r>
            <a:endParaRPr>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dorsal fin = swept back ⇒ reef</a:t>
            </a:r>
            <a:endParaRPr>
              <a:solidFill>
                <a:srgbClr val="B7B7B7"/>
              </a:solidFill>
            </a:endParaRPr>
          </a:p>
          <a:p>
            <a:pPr indent="0" lvl="0" marL="457200" rtl="0" algn="l">
              <a:spcBef>
                <a:spcPts val="0"/>
              </a:spcBef>
              <a:spcAft>
                <a:spcPts val="0"/>
              </a:spcAft>
              <a:buNone/>
            </a:pPr>
            <a:r>
              <a:t/>
            </a:r>
            <a:endParaRPr sz="1000">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fin color = lime ⇒ non-reef</a:t>
            </a:r>
            <a:endParaRPr>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fin color = orange ⇒ reef</a:t>
            </a:r>
            <a:endParaRPr>
              <a:solidFill>
                <a:srgbClr val="B7B7B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sp>
        <p:nvSpPr>
          <p:cNvPr id="282" name="Google Shape;28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3" name="Google Shape;283;p40"/>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284" name="Google Shape;284;p40"/>
          <p:cNvPicPr preferRelativeResize="0"/>
          <p:nvPr/>
        </p:nvPicPr>
        <p:blipFill>
          <a:blip r:embed="rId4">
            <a:alphaModFix/>
          </a:blip>
          <a:stretch>
            <a:fillRect/>
          </a:stretch>
        </p:blipFill>
        <p:spPr>
          <a:xfrm>
            <a:off x="3019750" y="2854450"/>
            <a:ext cx="1371600" cy="1371600"/>
          </a:xfrm>
          <a:prstGeom prst="rect">
            <a:avLst/>
          </a:prstGeom>
          <a:noFill/>
          <a:ln>
            <a:noFill/>
          </a:ln>
        </p:spPr>
      </p:pic>
      <p:pic>
        <p:nvPicPr>
          <p:cNvPr id="285" name="Google Shape;285;p40"/>
          <p:cNvPicPr preferRelativeResize="0"/>
          <p:nvPr/>
        </p:nvPicPr>
        <p:blipFill>
          <a:blip r:embed="rId5">
            <a:alphaModFix/>
          </a:blip>
          <a:stretch>
            <a:fillRect/>
          </a:stretch>
        </p:blipFill>
        <p:spPr>
          <a:xfrm>
            <a:off x="1532675" y="2854450"/>
            <a:ext cx="1371600" cy="1371600"/>
          </a:xfrm>
          <a:prstGeom prst="rect">
            <a:avLst/>
          </a:prstGeom>
          <a:noFill/>
          <a:ln>
            <a:noFill/>
          </a:ln>
        </p:spPr>
      </p:pic>
      <p:pic>
        <p:nvPicPr>
          <p:cNvPr id="286" name="Google Shape;286;p40"/>
          <p:cNvPicPr preferRelativeResize="0"/>
          <p:nvPr/>
        </p:nvPicPr>
        <p:blipFill>
          <a:blip r:embed="rId6">
            <a:alphaModFix/>
          </a:blip>
          <a:stretch>
            <a:fillRect/>
          </a:stretch>
        </p:blipFill>
        <p:spPr>
          <a:xfrm>
            <a:off x="3019750" y="1025650"/>
            <a:ext cx="1371600" cy="1371600"/>
          </a:xfrm>
          <a:prstGeom prst="rect">
            <a:avLst/>
          </a:prstGeom>
          <a:noFill/>
          <a:ln>
            <a:noFill/>
          </a:ln>
        </p:spPr>
      </p:pic>
      <p:pic>
        <p:nvPicPr>
          <p:cNvPr id="287" name="Google Shape;287;p40"/>
          <p:cNvPicPr preferRelativeResize="0"/>
          <p:nvPr/>
        </p:nvPicPr>
        <p:blipFill>
          <a:blip r:embed="rId7">
            <a:alphaModFix/>
          </a:blip>
          <a:stretch>
            <a:fillRect/>
          </a:stretch>
        </p:blipFill>
        <p:spPr>
          <a:xfrm>
            <a:off x="4506825" y="1017725"/>
            <a:ext cx="1371600" cy="1371600"/>
          </a:xfrm>
          <a:prstGeom prst="rect">
            <a:avLst/>
          </a:prstGeom>
          <a:noFill/>
          <a:ln>
            <a:noFill/>
          </a:ln>
        </p:spPr>
      </p:pic>
      <p:sp>
        <p:nvSpPr>
          <p:cNvPr id="288" name="Google Shape;288;p40"/>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289" name="Google Shape;289;p40"/>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290" name="Google Shape;290;p40"/>
          <p:cNvSpPr txBox="1"/>
          <p:nvPr/>
        </p:nvSpPr>
        <p:spPr>
          <a:xfrm>
            <a:off x="5878425" y="445025"/>
            <a:ext cx="3217800" cy="3170700"/>
          </a:xfrm>
          <a:prstGeom prst="rect">
            <a:avLst/>
          </a:prstGeom>
          <a:no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Possible decision rules:</a:t>
            </a:r>
            <a:endParaRPr b="1"/>
          </a:p>
          <a:p>
            <a:pPr indent="-317500" lvl="0" marL="457200" rtl="0" algn="l">
              <a:spcBef>
                <a:spcPts val="0"/>
              </a:spcBef>
              <a:spcAft>
                <a:spcPts val="0"/>
              </a:spcAft>
              <a:buSzPts val="1400"/>
              <a:buChar char="-"/>
            </a:pPr>
            <a:r>
              <a:rPr lang="en"/>
              <a:t>body color = orange ⇒ non-reef</a:t>
            </a:r>
            <a:endParaRPr/>
          </a:p>
          <a:p>
            <a:pPr indent="-317500" lvl="0" marL="457200" rtl="0" algn="l">
              <a:spcBef>
                <a:spcPts val="0"/>
              </a:spcBef>
              <a:spcAft>
                <a:spcPts val="0"/>
              </a:spcAft>
              <a:buSzPts val="1400"/>
              <a:buChar char="-"/>
            </a:pPr>
            <a:r>
              <a:rPr lang="en"/>
              <a:t>body color = blue </a:t>
            </a:r>
            <a:r>
              <a:rPr lang="en">
                <a:solidFill>
                  <a:schemeClr val="dk1"/>
                </a:solidFill>
              </a:rPr>
              <a:t>⇒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rgbClr val="B7B7B7"/>
              </a:buClr>
              <a:buSzPts val="1400"/>
              <a:buChar char="-"/>
            </a:pPr>
            <a:r>
              <a:rPr lang="en">
                <a:solidFill>
                  <a:srgbClr val="B7B7B7"/>
                </a:solidFill>
              </a:rPr>
              <a:t>body type = circular ⇒ non-reef</a:t>
            </a:r>
            <a:endParaRPr>
              <a:solidFill>
                <a:srgbClr val="B7B7B7"/>
              </a:solidFill>
            </a:endParaRPr>
          </a:p>
          <a:p>
            <a:pPr indent="-317500" lvl="0" marL="457200" rtl="0" algn="l">
              <a:spcBef>
                <a:spcPts val="0"/>
              </a:spcBef>
              <a:spcAft>
                <a:spcPts val="0"/>
              </a:spcAft>
              <a:buClr>
                <a:schemeClr val="dk1"/>
              </a:buClr>
              <a:buSzPts val="1400"/>
              <a:buChar char="-"/>
            </a:pPr>
            <a:r>
              <a:rPr lang="en">
                <a:solidFill>
                  <a:schemeClr val="dk1"/>
                </a:solidFill>
              </a:rPr>
              <a:t>body type = egg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crescent ⇒ non-reef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tail fin = hanger ⇒ reef</a:t>
            </a:r>
            <a:endParaRPr>
              <a:solidFill>
                <a:schemeClr val="dk1"/>
              </a:solidFill>
            </a:endParaRPr>
          </a:p>
          <a:p>
            <a:pPr indent="0" lvl="0" marL="457200" rtl="0" algn="l">
              <a:spcBef>
                <a:spcPts val="0"/>
              </a:spcBef>
              <a:spcAft>
                <a:spcPts val="0"/>
              </a:spcAft>
              <a:buNone/>
            </a:pPr>
            <a:r>
              <a:t/>
            </a:r>
            <a:endParaRPr sz="1000">
              <a:solidFill>
                <a:schemeClr val="dk1"/>
              </a:solidFill>
            </a:endParaRPr>
          </a:p>
          <a:p>
            <a:pPr indent="-317500" lvl="0" marL="457200" rtl="0" algn="l">
              <a:spcBef>
                <a:spcPts val="0"/>
              </a:spcBef>
              <a:spcAft>
                <a:spcPts val="0"/>
              </a:spcAft>
              <a:buClr>
                <a:srgbClr val="B7B7B7"/>
              </a:buClr>
              <a:buSzPts val="1400"/>
              <a:buChar char="-"/>
            </a:pPr>
            <a:r>
              <a:rPr lang="en">
                <a:solidFill>
                  <a:srgbClr val="B7B7B7"/>
                </a:solidFill>
              </a:rPr>
              <a:t>dorsal fin = lens ⇒ non-reef</a:t>
            </a:r>
            <a:endParaRPr>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dorsal fin = swept back ⇒ reef</a:t>
            </a:r>
            <a:endParaRPr>
              <a:solidFill>
                <a:srgbClr val="B7B7B7"/>
              </a:solidFill>
            </a:endParaRPr>
          </a:p>
          <a:p>
            <a:pPr indent="0" lvl="0" marL="457200" rtl="0" algn="l">
              <a:spcBef>
                <a:spcPts val="0"/>
              </a:spcBef>
              <a:spcAft>
                <a:spcPts val="0"/>
              </a:spcAft>
              <a:buNone/>
            </a:pPr>
            <a:r>
              <a:t/>
            </a:r>
            <a:endParaRPr sz="1000">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fin color = lime ⇒ non-reef</a:t>
            </a:r>
            <a:endParaRPr>
              <a:solidFill>
                <a:srgbClr val="B7B7B7"/>
              </a:solidFill>
            </a:endParaRPr>
          </a:p>
          <a:p>
            <a:pPr indent="-317500" lvl="0" marL="457200" rtl="0" algn="l">
              <a:spcBef>
                <a:spcPts val="0"/>
              </a:spcBef>
              <a:spcAft>
                <a:spcPts val="0"/>
              </a:spcAft>
              <a:buClr>
                <a:srgbClr val="B7B7B7"/>
              </a:buClr>
              <a:buSzPts val="1400"/>
              <a:buChar char="-"/>
            </a:pPr>
            <a:r>
              <a:rPr lang="en">
                <a:solidFill>
                  <a:srgbClr val="B7B7B7"/>
                </a:solidFill>
              </a:rPr>
              <a:t>fin color = orange ⇒ reef</a:t>
            </a:r>
            <a:endParaRPr>
              <a:solidFill>
                <a:srgbClr val="B7B7B7"/>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sp>
        <p:nvSpPr>
          <p:cNvPr id="296" name="Google Shape;29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7" name="Google Shape;297;p41"/>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298" name="Google Shape;298;p41"/>
          <p:cNvPicPr preferRelativeResize="0"/>
          <p:nvPr/>
        </p:nvPicPr>
        <p:blipFill>
          <a:blip r:embed="rId4">
            <a:alphaModFix/>
          </a:blip>
          <a:stretch>
            <a:fillRect/>
          </a:stretch>
        </p:blipFill>
        <p:spPr>
          <a:xfrm>
            <a:off x="3019750" y="2854450"/>
            <a:ext cx="1371600" cy="1371600"/>
          </a:xfrm>
          <a:prstGeom prst="rect">
            <a:avLst/>
          </a:prstGeom>
          <a:noFill/>
          <a:ln>
            <a:noFill/>
          </a:ln>
        </p:spPr>
      </p:pic>
      <p:pic>
        <p:nvPicPr>
          <p:cNvPr id="299" name="Google Shape;299;p41"/>
          <p:cNvPicPr preferRelativeResize="0"/>
          <p:nvPr/>
        </p:nvPicPr>
        <p:blipFill>
          <a:blip r:embed="rId5">
            <a:alphaModFix/>
          </a:blip>
          <a:stretch>
            <a:fillRect/>
          </a:stretch>
        </p:blipFill>
        <p:spPr>
          <a:xfrm>
            <a:off x="1532675" y="2854450"/>
            <a:ext cx="1371600" cy="1371600"/>
          </a:xfrm>
          <a:prstGeom prst="rect">
            <a:avLst/>
          </a:prstGeom>
          <a:noFill/>
          <a:ln>
            <a:noFill/>
          </a:ln>
        </p:spPr>
      </p:pic>
      <p:pic>
        <p:nvPicPr>
          <p:cNvPr id="300" name="Google Shape;300;p41"/>
          <p:cNvPicPr preferRelativeResize="0"/>
          <p:nvPr/>
        </p:nvPicPr>
        <p:blipFill>
          <a:blip r:embed="rId6">
            <a:alphaModFix/>
          </a:blip>
          <a:stretch>
            <a:fillRect/>
          </a:stretch>
        </p:blipFill>
        <p:spPr>
          <a:xfrm>
            <a:off x="5993900" y="1025650"/>
            <a:ext cx="1371600" cy="1371600"/>
          </a:xfrm>
          <a:prstGeom prst="rect">
            <a:avLst/>
          </a:prstGeom>
          <a:noFill/>
          <a:ln>
            <a:noFill/>
          </a:ln>
        </p:spPr>
      </p:pic>
      <p:pic>
        <p:nvPicPr>
          <p:cNvPr id="301" name="Google Shape;301;p41"/>
          <p:cNvPicPr preferRelativeResize="0"/>
          <p:nvPr/>
        </p:nvPicPr>
        <p:blipFill>
          <a:blip r:embed="rId7">
            <a:alphaModFix/>
          </a:blip>
          <a:stretch>
            <a:fillRect/>
          </a:stretch>
        </p:blipFill>
        <p:spPr>
          <a:xfrm>
            <a:off x="3019750" y="1025650"/>
            <a:ext cx="1371600" cy="1371600"/>
          </a:xfrm>
          <a:prstGeom prst="rect">
            <a:avLst/>
          </a:prstGeom>
          <a:noFill/>
          <a:ln>
            <a:noFill/>
          </a:ln>
        </p:spPr>
      </p:pic>
      <p:pic>
        <p:nvPicPr>
          <p:cNvPr id="302" name="Google Shape;302;p41"/>
          <p:cNvPicPr preferRelativeResize="0"/>
          <p:nvPr/>
        </p:nvPicPr>
        <p:blipFill>
          <a:blip r:embed="rId8">
            <a:alphaModFix/>
          </a:blip>
          <a:stretch>
            <a:fillRect/>
          </a:stretch>
        </p:blipFill>
        <p:spPr>
          <a:xfrm>
            <a:off x="4506825" y="1017725"/>
            <a:ext cx="1371600" cy="1371600"/>
          </a:xfrm>
          <a:prstGeom prst="rect">
            <a:avLst/>
          </a:prstGeom>
          <a:noFill/>
          <a:ln>
            <a:noFill/>
          </a:ln>
        </p:spPr>
      </p:pic>
      <p:sp>
        <p:nvSpPr>
          <p:cNvPr id="303" name="Google Shape;303;p41"/>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304" name="Google Shape;304;p41"/>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305" name="Google Shape;305;p41"/>
          <p:cNvSpPr txBox="1"/>
          <p:nvPr/>
        </p:nvSpPr>
        <p:spPr>
          <a:xfrm>
            <a:off x="5008025" y="2414233"/>
            <a:ext cx="3217800" cy="2709000"/>
          </a:xfrm>
          <a:prstGeom prst="rect">
            <a:avLst/>
          </a:prstGeom>
          <a:no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Possible decision rules:</a:t>
            </a:r>
            <a:endParaRPr b="1" sz="1200"/>
          </a:p>
          <a:p>
            <a:pPr indent="-304800" lvl="0" marL="457200" rtl="0" algn="l">
              <a:spcBef>
                <a:spcPts val="0"/>
              </a:spcBef>
              <a:spcAft>
                <a:spcPts val="0"/>
              </a:spcAft>
              <a:buSzPts val="1200"/>
              <a:buChar char="-"/>
            </a:pPr>
            <a:r>
              <a:rPr lang="en" sz="1200">
                <a:solidFill>
                  <a:srgbClr val="B7B7B7"/>
                </a:solidFill>
              </a:rPr>
              <a:t>body color = orange ⇒ non-reef</a:t>
            </a:r>
            <a:endParaRPr sz="1200">
              <a:solidFill>
                <a:srgbClr val="B7B7B7"/>
              </a:solidFill>
            </a:endParaRPr>
          </a:p>
          <a:p>
            <a:pPr indent="-304800" lvl="0" marL="457200" rtl="0" algn="l">
              <a:spcBef>
                <a:spcPts val="0"/>
              </a:spcBef>
              <a:spcAft>
                <a:spcPts val="0"/>
              </a:spcAft>
              <a:buSzPts val="1200"/>
              <a:buChar char="-"/>
            </a:pPr>
            <a:r>
              <a:rPr lang="en" sz="1200">
                <a:solidFill>
                  <a:srgbClr val="B7B7B7"/>
                </a:solidFill>
              </a:rPr>
              <a:t>body color = blue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rtl="0" algn="l">
              <a:spcBef>
                <a:spcPts val="0"/>
              </a:spcBef>
              <a:spcAft>
                <a:spcPts val="0"/>
              </a:spcAft>
              <a:buClr>
                <a:srgbClr val="B7B7B7"/>
              </a:buClr>
              <a:buSzPts val="1200"/>
              <a:buChar char="-"/>
            </a:pPr>
            <a:r>
              <a:rPr lang="en" sz="1200">
                <a:solidFill>
                  <a:srgbClr val="B7B7B7"/>
                </a:solidFill>
              </a:rPr>
              <a:t>body type = circular ⇒ non-reef</a:t>
            </a:r>
            <a:endParaRPr sz="1200">
              <a:solidFill>
                <a:srgbClr val="B7B7B7"/>
              </a:solidFill>
            </a:endParaRPr>
          </a:p>
          <a:p>
            <a:pPr indent="-304800" lvl="0" marL="457200" rtl="0" algn="l">
              <a:spcBef>
                <a:spcPts val="0"/>
              </a:spcBef>
              <a:spcAft>
                <a:spcPts val="0"/>
              </a:spcAft>
              <a:buClr>
                <a:schemeClr val="dk1"/>
              </a:buClr>
              <a:buSzPts val="1200"/>
              <a:buChar char="-"/>
            </a:pPr>
            <a:r>
              <a:rPr lang="en" sz="1200">
                <a:solidFill>
                  <a:schemeClr val="dk1"/>
                </a:solidFill>
              </a:rPr>
              <a:t>body type = egg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marR="0" rtl="0" algn="l">
              <a:lnSpc>
                <a:spcPct val="100000"/>
              </a:lnSpc>
              <a:spcBef>
                <a:spcPts val="0"/>
              </a:spcBef>
              <a:spcAft>
                <a:spcPts val="0"/>
              </a:spcAft>
              <a:buSzPts val="1200"/>
              <a:buChar char="-"/>
            </a:pPr>
            <a:r>
              <a:rPr lang="en" sz="1200">
                <a:solidFill>
                  <a:srgbClr val="B7B7B7"/>
                </a:solidFill>
              </a:rPr>
              <a:t>tail fin = crescent ⇒ non-reef</a:t>
            </a:r>
            <a:endParaRPr sz="1200">
              <a:solidFill>
                <a:srgbClr val="B7B7B7"/>
              </a:solidFill>
            </a:endParaRPr>
          </a:p>
          <a:p>
            <a:pPr indent="-304800" lvl="0" marL="457200" marR="0" rtl="0" algn="l">
              <a:lnSpc>
                <a:spcPct val="100000"/>
              </a:lnSpc>
              <a:spcBef>
                <a:spcPts val="0"/>
              </a:spcBef>
              <a:spcAft>
                <a:spcPts val="0"/>
              </a:spcAft>
              <a:buSzPts val="1200"/>
              <a:buChar char="-"/>
            </a:pPr>
            <a:r>
              <a:rPr lang="en" sz="1200">
                <a:solidFill>
                  <a:srgbClr val="B7B7B7"/>
                </a:solidFill>
              </a:rPr>
              <a:t>tail fin = hanger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rtl="0" algn="l">
              <a:spcBef>
                <a:spcPts val="0"/>
              </a:spcBef>
              <a:spcAft>
                <a:spcPts val="0"/>
              </a:spcAft>
              <a:buClr>
                <a:srgbClr val="B7B7B7"/>
              </a:buClr>
              <a:buSzPts val="1200"/>
              <a:buChar char="-"/>
            </a:pPr>
            <a:r>
              <a:rPr lang="en" sz="1200">
                <a:solidFill>
                  <a:srgbClr val="B7B7B7"/>
                </a:solidFill>
              </a:rPr>
              <a:t>dorsal fin = lens ⇒ non-reef</a:t>
            </a:r>
            <a:endParaRPr sz="12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dorsal fin = swept back ⇒ reef</a:t>
            </a:r>
            <a:endParaRPr sz="1200">
              <a:solidFill>
                <a:srgbClr val="B7B7B7"/>
              </a:solidFill>
            </a:endParaRPr>
          </a:p>
          <a:p>
            <a:pPr indent="0" lvl="0" marL="457200" rtl="0" algn="l">
              <a:spcBef>
                <a:spcPts val="0"/>
              </a:spcBef>
              <a:spcAft>
                <a:spcPts val="0"/>
              </a:spcAft>
              <a:buNone/>
            </a:pPr>
            <a:r>
              <a:t/>
            </a:r>
            <a:endParaRPr sz="8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fin color = lime ⇒ non-reef</a:t>
            </a:r>
            <a:endParaRPr sz="12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fin color = orange ⇒ reef</a:t>
            </a:r>
            <a:endParaRPr sz="1200">
              <a:solidFill>
                <a:srgbClr val="B7B7B7"/>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sp>
        <p:nvSpPr>
          <p:cNvPr id="311" name="Google Shape;31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2" name="Google Shape;312;p42"/>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313" name="Google Shape;313;p42"/>
          <p:cNvPicPr preferRelativeResize="0"/>
          <p:nvPr/>
        </p:nvPicPr>
        <p:blipFill>
          <a:blip r:embed="rId4">
            <a:alphaModFix/>
          </a:blip>
          <a:stretch>
            <a:fillRect/>
          </a:stretch>
        </p:blipFill>
        <p:spPr>
          <a:xfrm>
            <a:off x="3019750" y="2854450"/>
            <a:ext cx="1371600" cy="1371600"/>
          </a:xfrm>
          <a:prstGeom prst="rect">
            <a:avLst/>
          </a:prstGeom>
          <a:noFill/>
          <a:ln>
            <a:noFill/>
          </a:ln>
        </p:spPr>
      </p:pic>
      <p:pic>
        <p:nvPicPr>
          <p:cNvPr id="314" name="Google Shape;314;p42"/>
          <p:cNvPicPr preferRelativeResize="0"/>
          <p:nvPr/>
        </p:nvPicPr>
        <p:blipFill>
          <a:blip r:embed="rId5">
            <a:alphaModFix/>
          </a:blip>
          <a:stretch>
            <a:fillRect/>
          </a:stretch>
        </p:blipFill>
        <p:spPr>
          <a:xfrm>
            <a:off x="4506825" y="2854450"/>
            <a:ext cx="1371600" cy="1371600"/>
          </a:xfrm>
          <a:prstGeom prst="rect">
            <a:avLst/>
          </a:prstGeom>
          <a:noFill/>
          <a:ln>
            <a:noFill/>
          </a:ln>
        </p:spPr>
      </p:pic>
      <p:pic>
        <p:nvPicPr>
          <p:cNvPr id="315" name="Google Shape;315;p42"/>
          <p:cNvPicPr preferRelativeResize="0"/>
          <p:nvPr/>
        </p:nvPicPr>
        <p:blipFill>
          <a:blip r:embed="rId6">
            <a:alphaModFix/>
          </a:blip>
          <a:stretch>
            <a:fillRect/>
          </a:stretch>
        </p:blipFill>
        <p:spPr>
          <a:xfrm>
            <a:off x="1532675" y="2854450"/>
            <a:ext cx="1371600" cy="1371600"/>
          </a:xfrm>
          <a:prstGeom prst="rect">
            <a:avLst/>
          </a:prstGeom>
          <a:noFill/>
          <a:ln>
            <a:noFill/>
          </a:ln>
        </p:spPr>
      </p:pic>
      <p:pic>
        <p:nvPicPr>
          <p:cNvPr id="316" name="Google Shape;316;p42"/>
          <p:cNvPicPr preferRelativeResize="0"/>
          <p:nvPr/>
        </p:nvPicPr>
        <p:blipFill>
          <a:blip r:embed="rId7">
            <a:alphaModFix/>
          </a:blip>
          <a:stretch>
            <a:fillRect/>
          </a:stretch>
        </p:blipFill>
        <p:spPr>
          <a:xfrm>
            <a:off x="5993900" y="1025650"/>
            <a:ext cx="1371600" cy="1371600"/>
          </a:xfrm>
          <a:prstGeom prst="rect">
            <a:avLst/>
          </a:prstGeom>
          <a:noFill/>
          <a:ln>
            <a:noFill/>
          </a:ln>
        </p:spPr>
      </p:pic>
      <p:pic>
        <p:nvPicPr>
          <p:cNvPr id="317" name="Google Shape;317;p42"/>
          <p:cNvPicPr preferRelativeResize="0"/>
          <p:nvPr/>
        </p:nvPicPr>
        <p:blipFill>
          <a:blip r:embed="rId8">
            <a:alphaModFix/>
          </a:blip>
          <a:stretch>
            <a:fillRect/>
          </a:stretch>
        </p:blipFill>
        <p:spPr>
          <a:xfrm>
            <a:off x="3019750" y="1025650"/>
            <a:ext cx="1371600" cy="1371600"/>
          </a:xfrm>
          <a:prstGeom prst="rect">
            <a:avLst/>
          </a:prstGeom>
          <a:noFill/>
          <a:ln>
            <a:noFill/>
          </a:ln>
        </p:spPr>
      </p:pic>
      <p:pic>
        <p:nvPicPr>
          <p:cNvPr id="318" name="Google Shape;318;p42"/>
          <p:cNvPicPr preferRelativeResize="0"/>
          <p:nvPr/>
        </p:nvPicPr>
        <p:blipFill>
          <a:blip r:embed="rId9">
            <a:alphaModFix/>
          </a:blip>
          <a:stretch>
            <a:fillRect/>
          </a:stretch>
        </p:blipFill>
        <p:spPr>
          <a:xfrm>
            <a:off x="4506825" y="1017725"/>
            <a:ext cx="1371600" cy="1371600"/>
          </a:xfrm>
          <a:prstGeom prst="rect">
            <a:avLst/>
          </a:prstGeom>
          <a:noFill/>
          <a:ln>
            <a:noFill/>
          </a:ln>
        </p:spPr>
      </p:pic>
      <p:pic>
        <p:nvPicPr>
          <p:cNvPr id="319" name="Google Shape;319;p42"/>
          <p:cNvPicPr preferRelativeResize="0"/>
          <p:nvPr/>
        </p:nvPicPr>
        <p:blipFill>
          <a:blip r:embed="rId10">
            <a:alphaModFix/>
          </a:blip>
          <a:stretch>
            <a:fillRect/>
          </a:stretch>
        </p:blipFill>
        <p:spPr>
          <a:xfrm>
            <a:off x="7480975" y="1017725"/>
            <a:ext cx="1371600" cy="1371600"/>
          </a:xfrm>
          <a:prstGeom prst="rect">
            <a:avLst/>
          </a:prstGeom>
          <a:noFill/>
          <a:ln>
            <a:noFill/>
          </a:ln>
        </p:spPr>
      </p:pic>
      <p:sp>
        <p:nvSpPr>
          <p:cNvPr id="320" name="Google Shape;320;p42"/>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321" name="Google Shape;321;p42"/>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322" name="Google Shape;322;p42"/>
          <p:cNvSpPr txBox="1"/>
          <p:nvPr/>
        </p:nvSpPr>
        <p:spPr>
          <a:xfrm>
            <a:off x="5879550" y="2405183"/>
            <a:ext cx="3217800" cy="2709000"/>
          </a:xfrm>
          <a:prstGeom prst="rect">
            <a:avLst/>
          </a:prstGeom>
          <a:no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Possible decision rules:</a:t>
            </a:r>
            <a:endParaRPr b="1" sz="1200"/>
          </a:p>
          <a:p>
            <a:pPr indent="-304800" lvl="0" marL="457200" rtl="0" algn="l">
              <a:spcBef>
                <a:spcPts val="0"/>
              </a:spcBef>
              <a:spcAft>
                <a:spcPts val="0"/>
              </a:spcAft>
              <a:buSzPts val="1200"/>
              <a:buChar char="-"/>
            </a:pPr>
            <a:r>
              <a:rPr lang="en" sz="1200">
                <a:solidFill>
                  <a:srgbClr val="B7B7B7"/>
                </a:solidFill>
              </a:rPr>
              <a:t>body color = orange ⇒ non-reef</a:t>
            </a:r>
            <a:endParaRPr sz="1200">
              <a:solidFill>
                <a:srgbClr val="B7B7B7"/>
              </a:solidFill>
            </a:endParaRPr>
          </a:p>
          <a:p>
            <a:pPr indent="-304800" lvl="0" marL="457200" rtl="0" algn="l">
              <a:spcBef>
                <a:spcPts val="0"/>
              </a:spcBef>
              <a:spcAft>
                <a:spcPts val="0"/>
              </a:spcAft>
              <a:buSzPts val="1200"/>
              <a:buChar char="-"/>
            </a:pPr>
            <a:r>
              <a:rPr lang="en" sz="1200">
                <a:solidFill>
                  <a:srgbClr val="B7B7B7"/>
                </a:solidFill>
              </a:rPr>
              <a:t>body color = blue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rtl="0" algn="l">
              <a:spcBef>
                <a:spcPts val="0"/>
              </a:spcBef>
              <a:spcAft>
                <a:spcPts val="0"/>
              </a:spcAft>
              <a:buClr>
                <a:srgbClr val="B7B7B7"/>
              </a:buClr>
              <a:buSzPts val="1200"/>
              <a:buChar char="-"/>
            </a:pPr>
            <a:r>
              <a:rPr lang="en" sz="1200">
                <a:solidFill>
                  <a:srgbClr val="B7B7B7"/>
                </a:solidFill>
              </a:rPr>
              <a:t>body type = circular ⇒ non-reef</a:t>
            </a:r>
            <a:endParaRPr sz="1200">
              <a:solidFill>
                <a:srgbClr val="B7B7B7"/>
              </a:solidFill>
            </a:endParaRPr>
          </a:p>
          <a:p>
            <a:pPr indent="-304800" lvl="0" marL="457200" rtl="0" algn="l">
              <a:spcBef>
                <a:spcPts val="0"/>
              </a:spcBef>
              <a:spcAft>
                <a:spcPts val="0"/>
              </a:spcAft>
              <a:buClr>
                <a:schemeClr val="dk1"/>
              </a:buClr>
              <a:buSzPts val="1200"/>
              <a:buChar char="-"/>
            </a:pPr>
            <a:r>
              <a:rPr lang="en" sz="1200">
                <a:solidFill>
                  <a:schemeClr val="dk1"/>
                </a:solidFill>
              </a:rPr>
              <a:t>body type = egg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marR="0" rtl="0" algn="l">
              <a:lnSpc>
                <a:spcPct val="100000"/>
              </a:lnSpc>
              <a:spcBef>
                <a:spcPts val="0"/>
              </a:spcBef>
              <a:spcAft>
                <a:spcPts val="0"/>
              </a:spcAft>
              <a:buSzPts val="1200"/>
              <a:buChar char="-"/>
            </a:pPr>
            <a:r>
              <a:rPr lang="en" sz="1200">
                <a:solidFill>
                  <a:srgbClr val="B7B7B7"/>
                </a:solidFill>
              </a:rPr>
              <a:t>tail fin = crescent ⇒ non-reef</a:t>
            </a:r>
            <a:endParaRPr sz="1200">
              <a:solidFill>
                <a:srgbClr val="B7B7B7"/>
              </a:solidFill>
            </a:endParaRPr>
          </a:p>
          <a:p>
            <a:pPr indent="-304800" lvl="0" marL="457200" marR="0" rtl="0" algn="l">
              <a:lnSpc>
                <a:spcPct val="100000"/>
              </a:lnSpc>
              <a:spcBef>
                <a:spcPts val="0"/>
              </a:spcBef>
              <a:spcAft>
                <a:spcPts val="0"/>
              </a:spcAft>
              <a:buSzPts val="1200"/>
              <a:buChar char="-"/>
            </a:pPr>
            <a:r>
              <a:rPr lang="en" sz="1200">
                <a:solidFill>
                  <a:srgbClr val="B7B7B7"/>
                </a:solidFill>
              </a:rPr>
              <a:t>tail fin = hanger ⇒ reef</a:t>
            </a:r>
            <a:endParaRPr sz="1200">
              <a:solidFill>
                <a:schemeClr val="dk1"/>
              </a:solidFill>
            </a:endParaRPr>
          </a:p>
          <a:p>
            <a:pPr indent="0" lvl="0" marL="457200" rtl="0" algn="l">
              <a:spcBef>
                <a:spcPts val="0"/>
              </a:spcBef>
              <a:spcAft>
                <a:spcPts val="0"/>
              </a:spcAft>
              <a:buNone/>
            </a:pPr>
            <a:r>
              <a:t/>
            </a:r>
            <a:endParaRPr sz="800">
              <a:solidFill>
                <a:schemeClr val="dk1"/>
              </a:solidFill>
            </a:endParaRPr>
          </a:p>
          <a:p>
            <a:pPr indent="-304800" lvl="0" marL="457200" rtl="0" algn="l">
              <a:spcBef>
                <a:spcPts val="0"/>
              </a:spcBef>
              <a:spcAft>
                <a:spcPts val="0"/>
              </a:spcAft>
              <a:buClr>
                <a:srgbClr val="B7B7B7"/>
              </a:buClr>
              <a:buSzPts val="1200"/>
              <a:buChar char="-"/>
            </a:pPr>
            <a:r>
              <a:rPr lang="en" sz="1200">
                <a:solidFill>
                  <a:srgbClr val="B7B7B7"/>
                </a:solidFill>
              </a:rPr>
              <a:t>dorsal fin = lens ⇒ non-reef</a:t>
            </a:r>
            <a:endParaRPr sz="12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dorsal fin = swept back ⇒ reef</a:t>
            </a:r>
            <a:endParaRPr sz="1200">
              <a:solidFill>
                <a:srgbClr val="B7B7B7"/>
              </a:solidFill>
            </a:endParaRPr>
          </a:p>
          <a:p>
            <a:pPr indent="0" lvl="0" marL="457200" rtl="0" algn="l">
              <a:spcBef>
                <a:spcPts val="0"/>
              </a:spcBef>
              <a:spcAft>
                <a:spcPts val="0"/>
              </a:spcAft>
              <a:buNone/>
            </a:pPr>
            <a:r>
              <a:t/>
            </a:r>
            <a:endParaRPr sz="8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fin color = lime ⇒ non-reef</a:t>
            </a:r>
            <a:endParaRPr sz="1200">
              <a:solidFill>
                <a:srgbClr val="B7B7B7"/>
              </a:solidFill>
            </a:endParaRPr>
          </a:p>
          <a:p>
            <a:pPr indent="-304800" lvl="0" marL="457200" rtl="0" algn="l">
              <a:spcBef>
                <a:spcPts val="0"/>
              </a:spcBef>
              <a:spcAft>
                <a:spcPts val="0"/>
              </a:spcAft>
              <a:buClr>
                <a:srgbClr val="B7B7B7"/>
              </a:buClr>
              <a:buSzPts val="1200"/>
              <a:buChar char="-"/>
            </a:pPr>
            <a:r>
              <a:rPr lang="en" sz="1200">
                <a:solidFill>
                  <a:srgbClr val="B7B7B7"/>
                </a:solidFill>
              </a:rPr>
              <a:t>fin color = orange ⇒ reef</a:t>
            </a:r>
            <a:endParaRPr sz="1200">
              <a:solidFill>
                <a:srgbClr val="B7B7B7"/>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live on reefs?</a:t>
            </a:r>
            <a:endParaRPr/>
          </a:p>
        </p:txBody>
      </p:sp>
      <p:sp>
        <p:nvSpPr>
          <p:cNvPr id="328" name="Google Shape;32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29" name="Google Shape;329;p43"/>
          <p:cNvPicPr preferRelativeResize="0"/>
          <p:nvPr/>
        </p:nvPicPr>
        <p:blipFill>
          <a:blip r:embed="rId3">
            <a:alphaModFix/>
          </a:blip>
          <a:stretch>
            <a:fillRect/>
          </a:stretch>
        </p:blipFill>
        <p:spPr>
          <a:xfrm>
            <a:off x="1532675" y="1025650"/>
            <a:ext cx="1371600" cy="1371600"/>
          </a:xfrm>
          <a:prstGeom prst="rect">
            <a:avLst/>
          </a:prstGeom>
          <a:noFill/>
          <a:ln>
            <a:noFill/>
          </a:ln>
        </p:spPr>
      </p:pic>
      <p:pic>
        <p:nvPicPr>
          <p:cNvPr id="330" name="Google Shape;330;p43"/>
          <p:cNvPicPr preferRelativeResize="0"/>
          <p:nvPr/>
        </p:nvPicPr>
        <p:blipFill>
          <a:blip r:embed="rId4">
            <a:alphaModFix/>
          </a:blip>
          <a:stretch>
            <a:fillRect/>
          </a:stretch>
        </p:blipFill>
        <p:spPr>
          <a:xfrm>
            <a:off x="5993900" y="2854450"/>
            <a:ext cx="1371600" cy="1371600"/>
          </a:xfrm>
          <a:prstGeom prst="rect">
            <a:avLst/>
          </a:prstGeom>
          <a:noFill/>
          <a:ln>
            <a:noFill/>
          </a:ln>
        </p:spPr>
      </p:pic>
      <p:pic>
        <p:nvPicPr>
          <p:cNvPr id="331" name="Google Shape;331;p43"/>
          <p:cNvPicPr preferRelativeResize="0"/>
          <p:nvPr/>
        </p:nvPicPr>
        <p:blipFill>
          <a:blip r:embed="rId5">
            <a:alphaModFix/>
          </a:blip>
          <a:stretch>
            <a:fillRect/>
          </a:stretch>
        </p:blipFill>
        <p:spPr>
          <a:xfrm>
            <a:off x="3019750" y="2854450"/>
            <a:ext cx="1371600" cy="1371600"/>
          </a:xfrm>
          <a:prstGeom prst="rect">
            <a:avLst/>
          </a:prstGeom>
          <a:noFill/>
          <a:ln>
            <a:noFill/>
          </a:ln>
        </p:spPr>
      </p:pic>
      <p:pic>
        <p:nvPicPr>
          <p:cNvPr id="332" name="Google Shape;332;p43"/>
          <p:cNvPicPr preferRelativeResize="0"/>
          <p:nvPr/>
        </p:nvPicPr>
        <p:blipFill>
          <a:blip r:embed="rId6">
            <a:alphaModFix/>
          </a:blip>
          <a:stretch>
            <a:fillRect/>
          </a:stretch>
        </p:blipFill>
        <p:spPr>
          <a:xfrm>
            <a:off x="4506825" y="2854450"/>
            <a:ext cx="1371600" cy="1371600"/>
          </a:xfrm>
          <a:prstGeom prst="rect">
            <a:avLst/>
          </a:prstGeom>
          <a:noFill/>
          <a:ln>
            <a:noFill/>
          </a:ln>
        </p:spPr>
      </p:pic>
      <p:pic>
        <p:nvPicPr>
          <p:cNvPr id="333" name="Google Shape;333;p43"/>
          <p:cNvPicPr preferRelativeResize="0"/>
          <p:nvPr/>
        </p:nvPicPr>
        <p:blipFill>
          <a:blip r:embed="rId7">
            <a:alphaModFix/>
          </a:blip>
          <a:stretch>
            <a:fillRect/>
          </a:stretch>
        </p:blipFill>
        <p:spPr>
          <a:xfrm>
            <a:off x="1532675" y="2854450"/>
            <a:ext cx="1371600" cy="1371600"/>
          </a:xfrm>
          <a:prstGeom prst="rect">
            <a:avLst/>
          </a:prstGeom>
          <a:noFill/>
          <a:ln>
            <a:noFill/>
          </a:ln>
        </p:spPr>
      </p:pic>
      <p:pic>
        <p:nvPicPr>
          <p:cNvPr id="334" name="Google Shape;334;p43"/>
          <p:cNvPicPr preferRelativeResize="0"/>
          <p:nvPr/>
        </p:nvPicPr>
        <p:blipFill>
          <a:blip r:embed="rId8">
            <a:alphaModFix/>
          </a:blip>
          <a:stretch>
            <a:fillRect/>
          </a:stretch>
        </p:blipFill>
        <p:spPr>
          <a:xfrm>
            <a:off x="5993900" y="1025650"/>
            <a:ext cx="1371600" cy="1371600"/>
          </a:xfrm>
          <a:prstGeom prst="rect">
            <a:avLst/>
          </a:prstGeom>
          <a:noFill/>
          <a:ln>
            <a:noFill/>
          </a:ln>
        </p:spPr>
      </p:pic>
      <p:pic>
        <p:nvPicPr>
          <p:cNvPr id="335" name="Google Shape;335;p43"/>
          <p:cNvPicPr preferRelativeResize="0"/>
          <p:nvPr/>
        </p:nvPicPr>
        <p:blipFill>
          <a:blip r:embed="rId9">
            <a:alphaModFix/>
          </a:blip>
          <a:stretch>
            <a:fillRect/>
          </a:stretch>
        </p:blipFill>
        <p:spPr>
          <a:xfrm>
            <a:off x="3019750" y="1025650"/>
            <a:ext cx="1371600" cy="1371600"/>
          </a:xfrm>
          <a:prstGeom prst="rect">
            <a:avLst/>
          </a:prstGeom>
          <a:noFill/>
          <a:ln>
            <a:noFill/>
          </a:ln>
        </p:spPr>
      </p:pic>
      <p:pic>
        <p:nvPicPr>
          <p:cNvPr id="336" name="Google Shape;336;p43"/>
          <p:cNvPicPr preferRelativeResize="0"/>
          <p:nvPr/>
        </p:nvPicPr>
        <p:blipFill>
          <a:blip r:embed="rId10">
            <a:alphaModFix/>
          </a:blip>
          <a:stretch>
            <a:fillRect/>
          </a:stretch>
        </p:blipFill>
        <p:spPr>
          <a:xfrm>
            <a:off x="4506825" y="1017725"/>
            <a:ext cx="1371600" cy="1371600"/>
          </a:xfrm>
          <a:prstGeom prst="rect">
            <a:avLst/>
          </a:prstGeom>
          <a:noFill/>
          <a:ln>
            <a:noFill/>
          </a:ln>
        </p:spPr>
      </p:pic>
      <p:pic>
        <p:nvPicPr>
          <p:cNvPr id="337" name="Google Shape;337;p43"/>
          <p:cNvPicPr preferRelativeResize="0"/>
          <p:nvPr/>
        </p:nvPicPr>
        <p:blipFill>
          <a:blip r:embed="rId11">
            <a:alphaModFix/>
          </a:blip>
          <a:stretch>
            <a:fillRect/>
          </a:stretch>
        </p:blipFill>
        <p:spPr>
          <a:xfrm>
            <a:off x="7480975" y="1017725"/>
            <a:ext cx="1371600" cy="1371600"/>
          </a:xfrm>
          <a:prstGeom prst="rect">
            <a:avLst/>
          </a:prstGeom>
          <a:noFill/>
          <a:ln>
            <a:noFill/>
          </a:ln>
        </p:spPr>
      </p:pic>
      <p:sp>
        <p:nvSpPr>
          <p:cNvPr id="338" name="Google Shape;338;p43"/>
          <p:cNvSpPr txBox="1"/>
          <p:nvPr/>
        </p:nvSpPr>
        <p:spPr>
          <a:xfrm>
            <a:off x="91375" y="15113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Non-reef:</a:t>
            </a:r>
            <a:endParaRPr/>
          </a:p>
        </p:txBody>
      </p:sp>
      <p:sp>
        <p:nvSpPr>
          <p:cNvPr id="339" name="Google Shape;339;p43"/>
          <p:cNvSpPr txBox="1"/>
          <p:nvPr/>
        </p:nvSpPr>
        <p:spPr>
          <a:xfrm>
            <a:off x="91375" y="3340150"/>
            <a:ext cx="106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Reef:</a:t>
            </a:r>
            <a:endParaRPr/>
          </a:p>
        </p:txBody>
      </p:sp>
      <p:sp>
        <p:nvSpPr>
          <p:cNvPr id="340" name="Google Shape;340;p43"/>
          <p:cNvSpPr txBox="1"/>
          <p:nvPr/>
        </p:nvSpPr>
        <p:spPr>
          <a:xfrm>
            <a:off x="690125" y="4356350"/>
            <a:ext cx="8087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Rule: </a:t>
            </a:r>
            <a:r>
              <a:rPr lang="en"/>
              <a:t>body type = egg  ⇒  reef</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 of the learning algorithm: a decision tree classifier</a:t>
            </a:r>
            <a:endParaRPr/>
          </a:p>
        </p:txBody>
      </p:sp>
      <p:sp>
        <p:nvSpPr>
          <p:cNvPr id="346" name="Google Shape;34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44"/>
          <p:cNvSpPr/>
          <p:nvPr/>
        </p:nvSpPr>
        <p:spPr>
          <a:xfrm>
            <a:off x="3601600" y="1793225"/>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type = egg?</a:t>
            </a:r>
            <a:endParaRPr sz="1600"/>
          </a:p>
        </p:txBody>
      </p:sp>
      <p:sp>
        <p:nvSpPr>
          <p:cNvPr id="348" name="Google Shape;348;p44"/>
          <p:cNvSpPr/>
          <p:nvPr/>
        </p:nvSpPr>
        <p:spPr>
          <a:xfrm>
            <a:off x="32416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reef</a:t>
            </a:r>
            <a:endParaRPr sz="1600"/>
          </a:p>
        </p:txBody>
      </p:sp>
      <p:sp>
        <p:nvSpPr>
          <p:cNvPr id="349" name="Google Shape;349;p44"/>
          <p:cNvSpPr/>
          <p:nvPr/>
        </p:nvSpPr>
        <p:spPr>
          <a:xfrm>
            <a:off x="46132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non-reef</a:t>
            </a:r>
            <a:endParaRPr sz="1600"/>
          </a:p>
        </p:txBody>
      </p:sp>
      <p:cxnSp>
        <p:nvCxnSpPr>
          <p:cNvPr id="350" name="Google Shape;350;p44"/>
          <p:cNvCxnSpPr>
            <a:endCxn id="348" idx="0"/>
          </p:cNvCxnSpPr>
          <p:nvPr/>
        </p:nvCxnSpPr>
        <p:spPr>
          <a:xfrm flipH="1">
            <a:off x="3677800" y="2414025"/>
            <a:ext cx="375600" cy="575400"/>
          </a:xfrm>
          <a:prstGeom prst="straightConnector1">
            <a:avLst/>
          </a:prstGeom>
          <a:noFill/>
          <a:ln cap="flat" cmpd="sng" w="19050">
            <a:solidFill>
              <a:schemeClr val="dk2"/>
            </a:solidFill>
            <a:prstDash val="solid"/>
            <a:round/>
            <a:headEnd len="med" w="med" type="none"/>
            <a:tailEnd len="med" w="med" type="triangle"/>
          </a:ln>
        </p:spPr>
      </p:cxnSp>
      <p:sp>
        <p:nvSpPr>
          <p:cNvPr id="351" name="Google Shape;351;p44"/>
          <p:cNvSpPr txBox="1"/>
          <p:nvPr/>
        </p:nvSpPr>
        <p:spPr>
          <a:xfrm>
            <a:off x="4823550" y="2454913"/>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cxnSp>
        <p:nvCxnSpPr>
          <p:cNvPr id="352" name="Google Shape;352;p44"/>
          <p:cNvCxnSpPr/>
          <p:nvPr/>
        </p:nvCxnSpPr>
        <p:spPr>
          <a:xfrm>
            <a:off x="4708425" y="2407625"/>
            <a:ext cx="323100" cy="575400"/>
          </a:xfrm>
          <a:prstGeom prst="straightConnector1">
            <a:avLst/>
          </a:prstGeom>
          <a:noFill/>
          <a:ln cap="flat" cmpd="sng" w="19050">
            <a:solidFill>
              <a:schemeClr val="dk2"/>
            </a:solidFill>
            <a:prstDash val="solid"/>
            <a:round/>
            <a:headEnd len="med" w="med" type="none"/>
            <a:tailEnd len="med" w="med" type="triangle"/>
          </a:ln>
        </p:spPr>
      </p:cxnSp>
      <p:sp>
        <p:nvSpPr>
          <p:cNvPr id="353" name="Google Shape;353;p44"/>
          <p:cNvSpPr txBox="1"/>
          <p:nvPr/>
        </p:nvSpPr>
        <p:spPr>
          <a:xfrm>
            <a:off x="3389275" y="2494925"/>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learned classifier to make new predictions</a:t>
            </a:r>
            <a:endParaRPr/>
          </a:p>
        </p:txBody>
      </p:sp>
      <p:sp>
        <p:nvSpPr>
          <p:cNvPr id="359" name="Google Shape;35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5"/>
          <p:cNvSpPr/>
          <p:nvPr/>
        </p:nvSpPr>
        <p:spPr>
          <a:xfrm>
            <a:off x="1239400" y="1793225"/>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type = egg?</a:t>
            </a:r>
            <a:endParaRPr sz="1600"/>
          </a:p>
        </p:txBody>
      </p:sp>
      <p:sp>
        <p:nvSpPr>
          <p:cNvPr id="361" name="Google Shape;361;p45"/>
          <p:cNvSpPr/>
          <p:nvPr/>
        </p:nvSpPr>
        <p:spPr>
          <a:xfrm>
            <a:off x="8794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reef</a:t>
            </a:r>
            <a:endParaRPr sz="1600"/>
          </a:p>
        </p:txBody>
      </p:sp>
      <p:sp>
        <p:nvSpPr>
          <p:cNvPr id="362" name="Google Shape;362;p45"/>
          <p:cNvSpPr/>
          <p:nvPr/>
        </p:nvSpPr>
        <p:spPr>
          <a:xfrm>
            <a:off x="22510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non-reef</a:t>
            </a:r>
            <a:endParaRPr sz="1600"/>
          </a:p>
        </p:txBody>
      </p:sp>
      <p:cxnSp>
        <p:nvCxnSpPr>
          <p:cNvPr id="363" name="Google Shape;363;p45"/>
          <p:cNvCxnSpPr>
            <a:endCxn id="361" idx="0"/>
          </p:cNvCxnSpPr>
          <p:nvPr/>
        </p:nvCxnSpPr>
        <p:spPr>
          <a:xfrm flipH="1">
            <a:off x="1315600" y="2414025"/>
            <a:ext cx="375600" cy="575400"/>
          </a:xfrm>
          <a:prstGeom prst="straightConnector1">
            <a:avLst/>
          </a:prstGeom>
          <a:noFill/>
          <a:ln cap="flat" cmpd="sng" w="19050">
            <a:solidFill>
              <a:schemeClr val="dk2"/>
            </a:solidFill>
            <a:prstDash val="solid"/>
            <a:round/>
            <a:headEnd len="med" w="med" type="none"/>
            <a:tailEnd len="med" w="med" type="triangle"/>
          </a:ln>
        </p:spPr>
      </p:cxnSp>
      <p:sp>
        <p:nvSpPr>
          <p:cNvPr id="364" name="Google Shape;364;p45"/>
          <p:cNvSpPr txBox="1"/>
          <p:nvPr/>
        </p:nvSpPr>
        <p:spPr>
          <a:xfrm>
            <a:off x="2461350" y="2454913"/>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cxnSp>
        <p:nvCxnSpPr>
          <p:cNvPr id="365" name="Google Shape;365;p45"/>
          <p:cNvCxnSpPr/>
          <p:nvPr/>
        </p:nvCxnSpPr>
        <p:spPr>
          <a:xfrm>
            <a:off x="2346225" y="2407625"/>
            <a:ext cx="323100" cy="575400"/>
          </a:xfrm>
          <a:prstGeom prst="straightConnector1">
            <a:avLst/>
          </a:prstGeom>
          <a:noFill/>
          <a:ln cap="flat" cmpd="sng" w="19050">
            <a:solidFill>
              <a:schemeClr val="dk2"/>
            </a:solidFill>
            <a:prstDash val="solid"/>
            <a:round/>
            <a:headEnd len="med" w="med" type="none"/>
            <a:tailEnd len="med" w="med" type="triangle"/>
          </a:ln>
        </p:spPr>
      </p:cxnSp>
      <p:sp>
        <p:nvSpPr>
          <p:cNvPr id="366" name="Google Shape;366;p45"/>
          <p:cNvSpPr txBox="1"/>
          <p:nvPr/>
        </p:nvSpPr>
        <p:spPr>
          <a:xfrm>
            <a:off x="1027075" y="2494925"/>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
        <p:nvSpPr>
          <p:cNvPr id="367" name="Google Shape;367;p45"/>
          <p:cNvSpPr txBox="1"/>
          <p:nvPr/>
        </p:nvSpPr>
        <p:spPr>
          <a:xfrm>
            <a:off x="5182425" y="1517750"/>
            <a:ext cx="31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Test Data            Prediction</a:t>
            </a:r>
            <a:endParaRPr b="1" sz="1800"/>
          </a:p>
        </p:txBody>
      </p:sp>
      <p:pic>
        <p:nvPicPr>
          <p:cNvPr id="368" name="Google Shape;368;p45"/>
          <p:cNvPicPr preferRelativeResize="0"/>
          <p:nvPr/>
        </p:nvPicPr>
        <p:blipFill>
          <a:blip r:embed="rId3">
            <a:alphaModFix/>
          </a:blip>
          <a:stretch>
            <a:fillRect/>
          </a:stretch>
        </p:blipFill>
        <p:spPr>
          <a:xfrm>
            <a:off x="5165200" y="2029975"/>
            <a:ext cx="1371600" cy="1371600"/>
          </a:xfrm>
          <a:prstGeom prst="rect">
            <a:avLst/>
          </a:prstGeom>
          <a:noFill/>
          <a:ln>
            <a:noFill/>
          </a:ln>
        </p:spPr>
      </p:pic>
      <p:pic>
        <p:nvPicPr>
          <p:cNvPr id="369" name="Google Shape;369;p45"/>
          <p:cNvPicPr preferRelativeResize="0"/>
          <p:nvPr/>
        </p:nvPicPr>
        <p:blipFill>
          <a:blip r:embed="rId4">
            <a:alphaModFix/>
          </a:blip>
          <a:stretch>
            <a:fillRect/>
          </a:stretch>
        </p:blipFill>
        <p:spPr>
          <a:xfrm>
            <a:off x="5182425" y="3546675"/>
            <a:ext cx="1371600" cy="1371600"/>
          </a:xfrm>
          <a:prstGeom prst="rect">
            <a:avLst/>
          </a:prstGeom>
          <a:noFill/>
          <a:ln>
            <a:noFill/>
          </a:ln>
        </p:spPr>
      </p:pic>
      <p:sp>
        <p:nvSpPr>
          <p:cNvPr id="370" name="Google Shape;370;p45"/>
          <p:cNvSpPr txBox="1"/>
          <p:nvPr/>
        </p:nvSpPr>
        <p:spPr>
          <a:xfrm>
            <a:off x="7092725" y="2479475"/>
            <a:ext cx="1056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a:t>
            </a:r>
            <a:endParaRPr b="1" sz="1800"/>
          </a:p>
        </p:txBody>
      </p:sp>
      <p:sp>
        <p:nvSpPr>
          <p:cNvPr id="371" name="Google Shape;371;p45"/>
          <p:cNvSpPr txBox="1"/>
          <p:nvPr/>
        </p:nvSpPr>
        <p:spPr>
          <a:xfrm>
            <a:off x="7092725" y="4003475"/>
            <a:ext cx="1056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a:t>
            </a:r>
            <a:endParaRPr b="1"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learned classifier to make new predictions</a:t>
            </a:r>
            <a:endParaRPr/>
          </a:p>
        </p:txBody>
      </p:sp>
      <p:sp>
        <p:nvSpPr>
          <p:cNvPr id="377" name="Google Shape;37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46"/>
          <p:cNvSpPr/>
          <p:nvPr/>
        </p:nvSpPr>
        <p:spPr>
          <a:xfrm>
            <a:off x="1239400" y="1793225"/>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type = egg?</a:t>
            </a:r>
            <a:endParaRPr sz="1600"/>
          </a:p>
        </p:txBody>
      </p:sp>
      <p:sp>
        <p:nvSpPr>
          <p:cNvPr id="379" name="Google Shape;379;p46"/>
          <p:cNvSpPr/>
          <p:nvPr/>
        </p:nvSpPr>
        <p:spPr>
          <a:xfrm>
            <a:off x="8794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reef</a:t>
            </a:r>
            <a:endParaRPr sz="1600"/>
          </a:p>
        </p:txBody>
      </p:sp>
      <p:sp>
        <p:nvSpPr>
          <p:cNvPr id="380" name="Google Shape;380;p46"/>
          <p:cNvSpPr/>
          <p:nvPr/>
        </p:nvSpPr>
        <p:spPr>
          <a:xfrm>
            <a:off x="2251000" y="2989425"/>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non-reef</a:t>
            </a:r>
            <a:endParaRPr sz="1600"/>
          </a:p>
        </p:txBody>
      </p:sp>
      <p:cxnSp>
        <p:nvCxnSpPr>
          <p:cNvPr id="381" name="Google Shape;381;p46"/>
          <p:cNvCxnSpPr>
            <a:endCxn id="379" idx="0"/>
          </p:cNvCxnSpPr>
          <p:nvPr/>
        </p:nvCxnSpPr>
        <p:spPr>
          <a:xfrm flipH="1">
            <a:off x="1315600" y="2414025"/>
            <a:ext cx="375600" cy="575400"/>
          </a:xfrm>
          <a:prstGeom prst="straightConnector1">
            <a:avLst/>
          </a:prstGeom>
          <a:noFill/>
          <a:ln cap="flat" cmpd="sng" w="19050">
            <a:solidFill>
              <a:schemeClr val="dk2"/>
            </a:solidFill>
            <a:prstDash val="solid"/>
            <a:round/>
            <a:headEnd len="med" w="med" type="none"/>
            <a:tailEnd len="med" w="med" type="triangle"/>
          </a:ln>
        </p:spPr>
      </p:cxnSp>
      <p:sp>
        <p:nvSpPr>
          <p:cNvPr id="382" name="Google Shape;382;p46"/>
          <p:cNvSpPr txBox="1"/>
          <p:nvPr/>
        </p:nvSpPr>
        <p:spPr>
          <a:xfrm>
            <a:off x="2461350" y="2454913"/>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cxnSp>
        <p:nvCxnSpPr>
          <p:cNvPr id="383" name="Google Shape;383;p46"/>
          <p:cNvCxnSpPr/>
          <p:nvPr/>
        </p:nvCxnSpPr>
        <p:spPr>
          <a:xfrm>
            <a:off x="2346225" y="2407625"/>
            <a:ext cx="323100" cy="575400"/>
          </a:xfrm>
          <a:prstGeom prst="straightConnector1">
            <a:avLst/>
          </a:prstGeom>
          <a:noFill/>
          <a:ln cap="flat" cmpd="sng" w="19050">
            <a:solidFill>
              <a:schemeClr val="dk2"/>
            </a:solidFill>
            <a:prstDash val="solid"/>
            <a:round/>
            <a:headEnd len="med" w="med" type="none"/>
            <a:tailEnd len="med" w="med" type="triangle"/>
          </a:ln>
        </p:spPr>
      </p:cxnSp>
      <p:sp>
        <p:nvSpPr>
          <p:cNvPr id="384" name="Google Shape;384;p46"/>
          <p:cNvSpPr txBox="1"/>
          <p:nvPr/>
        </p:nvSpPr>
        <p:spPr>
          <a:xfrm>
            <a:off x="1027075" y="2494925"/>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
        <p:nvSpPr>
          <p:cNvPr id="385" name="Google Shape;385;p46"/>
          <p:cNvSpPr txBox="1"/>
          <p:nvPr/>
        </p:nvSpPr>
        <p:spPr>
          <a:xfrm>
            <a:off x="5182425" y="1517750"/>
            <a:ext cx="31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Test Data            Prediction</a:t>
            </a:r>
            <a:endParaRPr b="1" sz="1800"/>
          </a:p>
        </p:txBody>
      </p:sp>
      <p:pic>
        <p:nvPicPr>
          <p:cNvPr id="386" name="Google Shape;386;p46"/>
          <p:cNvPicPr preferRelativeResize="0"/>
          <p:nvPr/>
        </p:nvPicPr>
        <p:blipFill>
          <a:blip r:embed="rId3">
            <a:alphaModFix/>
          </a:blip>
          <a:stretch>
            <a:fillRect/>
          </a:stretch>
        </p:blipFill>
        <p:spPr>
          <a:xfrm>
            <a:off x="5165200" y="2029975"/>
            <a:ext cx="1371600" cy="1371600"/>
          </a:xfrm>
          <a:prstGeom prst="rect">
            <a:avLst/>
          </a:prstGeom>
          <a:noFill/>
          <a:ln>
            <a:noFill/>
          </a:ln>
        </p:spPr>
      </p:pic>
      <p:pic>
        <p:nvPicPr>
          <p:cNvPr id="387" name="Google Shape;387;p46"/>
          <p:cNvPicPr preferRelativeResize="0"/>
          <p:nvPr/>
        </p:nvPicPr>
        <p:blipFill>
          <a:blip r:embed="rId4">
            <a:alphaModFix/>
          </a:blip>
          <a:stretch>
            <a:fillRect/>
          </a:stretch>
        </p:blipFill>
        <p:spPr>
          <a:xfrm>
            <a:off x="5182425" y="3546675"/>
            <a:ext cx="1371600" cy="1371600"/>
          </a:xfrm>
          <a:prstGeom prst="rect">
            <a:avLst/>
          </a:prstGeom>
          <a:noFill/>
          <a:ln>
            <a:noFill/>
          </a:ln>
        </p:spPr>
      </p:pic>
      <p:sp>
        <p:nvSpPr>
          <p:cNvPr id="388" name="Google Shape;388;p46"/>
          <p:cNvSpPr txBox="1"/>
          <p:nvPr/>
        </p:nvSpPr>
        <p:spPr>
          <a:xfrm>
            <a:off x="7092725" y="2479475"/>
            <a:ext cx="105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Reef</a:t>
            </a:r>
            <a:endParaRPr/>
          </a:p>
        </p:txBody>
      </p:sp>
      <p:sp>
        <p:nvSpPr>
          <p:cNvPr id="389" name="Google Shape;389;p46"/>
          <p:cNvSpPr txBox="1"/>
          <p:nvPr/>
        </p:nvSpPr>
        <p:spPr>
          <a:xfrm>
            <a:off x="7092725" y="4003475"/>
            <a:ext cx="105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Non-reef</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7"/>
          <p:cNvSpPr txBox="1"/>
          <p:nvPr>
            <p:ph type="title"/>
          </p:nvPr>
        </p:nvSpPr>
        <p:spPr>
          <a:xfrm>
            <a:off x="311700" y="322050"/>
            <a:ext cx="8520600" cy="4424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Let’s Try A Different Algorithm</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This algorithm starts with all the training examples at the root node and repeatedly “splits” each node until all examples in the node are in the same class.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Real-world decision-tree learning algorithms work this way.</a:t>
            </a:r>
            <a:endParaRPr/>
          </a:p>
        </p:txBody>
      </p:sp>
      <p:sp>
        <p:nvSpPr>
          <p:cNvPr id="395" name="Google Shape;39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fish are poisonous?</a:t>
            </a:r>
            <a:endParaRPr/>
          </a:p>
        </p:txBody>
      </p:sp>
      <p:sp>
        <p:nvSpPr>
          <p:cNvPr id="401" name="Google Shape;40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02" name="Google Shape;402;p48"/>
          <p:cNvPicPr preferRelativeResize="0"/>
          <p:nvPr/>
        </p:nvPicPr>
        <p:blipFill>
          <a:blip r:embed="rId3">
            <a:alphaModFix/>
          </a:blip>
          <a:stretch>
            <a:fillRect/>
          </a:stretch>
        </p:blipFill>
        <p:spPr>
          <a:xfrm>
            <a:off x="1257500" y="2805125"/>
            <a:ext cx="1371600" cy="1371600"/>
          </a:xfrm>
          <a:prstGeom prst="rect">
            <a:avLst/>
          </a:prstGeom>
          <a:noFill/>
          <a:ln>
            <a:noFill/>
          </a:ln>
        </p:spPr>
      </p:pic>
      <p:pic>
        <p:nvPicPr>
          <p:cNvPr id="403" name="Google Shape;403;p48"/>
          <p:cNvPicPr preferRelativeResize="0"/>
          <p:nvPr/>
        </p:nvPicPr>
        <p:blipFill>
          <a:blip r:embed="rId4">
            <a:alphaModFix/>
          </a:blip>
          <a:stretch>
            <a:fillRect/>
          </a:stretch>
        </p:blipFill>
        <p:spPr>
          <a:xfrm>
            <a:off x="5660100" y="1203200"/>
            <a:ext cx="1371600" cy="1371600"/>
          </a:xfrm>
          <a:prstGeom prst="rect">
            <a:avLst/>
          </a:prstGeom>
          <a:noFill/>
          <a:ln>
            <a:noFill/>
          </a:ln>
        </p:spPr>
      </p:pic>
      <p:pic>
        <p:nvPicPr>
          <p:cNvPr id="404" name="Google Shape;404;p48"/>
          <p:cNvPicPr preferRelativeResize="0"/>
          <p:nvPr/>
        </p:nvPicPr>
        <p:blipFill>
          <a:blip r:embed="rId5">
            <a:alphaModFix/>
          </a:blip>
          <a:stretch>
            <a:fillRect/>
          </a:stretch>
        </p:blipFill>
        <p:spPr>
          <a:xfrm>
            <a:off x="4195538" y="2805125"/>
            <a:ext cx="1371600" cy="1371600"/>
          </a:xfrm>
          <a:prstGeom prst="rect">
            <a:avLst/>
          </a:prstGeom>
          <a:noFill/>
          <a:ln>
            <a:noFill/>
          </a:ln>
        </p:spPr>
      </p:pic>
      <p:pic>
        <p:nvPicPr>
          <p:cNvPr id="405" name="Google Shape;405;p48"/>
          <p:cNvPicPr preferRelativeResize="0"/>
          <p:nvPr/>
        </p:nvPicPr>
        <p:blipFill>
          <a:blip r:embed="rId6">
            <a:alphaModFix/>
          </a:blip>
          <a:stretch>
            <a:fillRect/>
          </a:stretch>
        </p:blipFill>
        <p:spPr>
          <a:xfrm>
            <a:off x="2726525" y="2805125"/>
            <a:ext cx="1371600" cy="1371600"/>
          </a:xfrm>
          <a:prstGeom prst="rect">
            <a:avLst/>
          </a:prstGeom>
          <a:noFill/>
          <a:ln>
            <a:noFill/>
          </a:ln>
        </p:spPr>
      </p:pic>
      <p:pic>
        <p:nvPicPr>
          <p:cNvPr id="406" name="Google Shape;406;p48"/>
          <p:cNvPicPr preferRelativeResize="0"/>
          <p:nvPr/>
        </p:nvPicPr>
        <p:blipFill>
          <a:blip r:embed="rId7">
            <a:alphaModFix/>
          </a:blip>
          <a:stretch>
            <a:fillRect/>
          </a:stretch>
        </p:blipFill>
        <p:spPr>
          <a:xfrm>
            <a:off x="4193307" y="1203200"/>
            <a:ext cx="1371600" cy="1371600"/>
          </a:xfrm>
          <a:prstGeom prst="rect">
            <a:avLst/>
          </a:prstGeom>
          <a:noFill/>
          <a:ln>
            <a:noFill/>
          </a:ln>
        </p:spPr>
      </p:pic>
      <p:pic>
        <p:nvPicPr>
          <p:cNvPr id="407" name="Google Shape;407;p48"/>
          <p:cNvPicPr preferRelativeResize="0"/>
          <p:nvPr/>
        </p:nvPicPr>
        <p:blipFill>
          <a:blip r:embed="rId8">
            <a:alphaModFix/>
          </a:blip>
          <a:stretch>
            <a:fillRect/>
          </a:stretch>
        </p:blipFill>
        <p:spPr>
          <a:xfrm>
            <a:off x="1257500" y="1203200"/>
            <a:ext cx="1371600" cy="1371600"/>
          </a:xfrm>
          <a:prstGeom prst="rect">
            <a:avLst/>
          </a:prstGeom>
          <a:noFill/>
          <a:ln>
            <a:noFill/>
          </a:ln>
        </p:spPr>
      </p:pic>
      <p:pic>
        <p:nvPicPr>
          <p:cNvPr id="408" name="Google Shape;408;p48"/>
          <p:cNvPicPr preferRelativeResize="0"/>
          <p:nvPr/>
        </p:nvPicPr>
        <p:blipFill>
          <a:blip r:embed="rId9">
            <a:alphaModFix/>
          </a:blip>
          <a:stretch>
            <a:fillRect/>
          </a:stretch>
        </p:blipFill>
        <p:spPr>
          <a:xfrm>
            <a:off x="2726525" y="1203200"/>
            <a:ext cx="1371600" cy="1371600"/>
          </a:xfrm>
          <a:prstGeom prst="rect">
            <a:avLst/>
          </a:prstGeom>
          <a:noFill/>
          <a:ln>
            <a:noFill/>
          </a:ln>
        </p:spPr>
      </p:pic>
      <p:pic>
        <p:nvPicPr>
          <p:cNvPr id="409" name="Google Shape;409;p48"/>
          <p:cNvPicPr preferRelativeResize="0"/>
          <p:nvPr/>
        </p:nvPicPr>
        <p:blipFill>
          <a:blip r:embed="rId10">
            <a:alphaModFix/>
          </a:blip>
          <a:stretch>
            <a:fillRect/>
          </a:stretch>
        </p:blipFill>
        <p:spPr>
          <a:xfrm>
            <a:off x="7126893" y="1203200"/>
            <a:ext cx="1371600" cy="1371600"/>
          </a:xfrm>
          <a:prstGeom prst="rect">
            <a:avLst/>
          </a:prstGeom>
          <a:noFill/>
          <a:ln>
            <a:noFill/>
          </a:ln>
        </p:spPr>
      </p:pic>
      <p:pic>
        <p:nvPicPr>
          <p:cNvPr id="410" name="Google Shape;410;p48"/>
          <p:cNvPicPr preferRelativeResize="0"/>
          <p:nvPr/>
        </p:nvPicPr>
        <p:blipFill rotWithShape="1">
          <a:blip r:embed="rId11">
            <a:alphaModFix/>
          </a:blip>
          <a:srcRect b="0" l="0" r="0" t="0"/>
          <a:stretch/>
        </p:blipFill>
        <p:spPr>
          <a:xfrm>
            <a:off x="7133600" y="2805125"/>
            <a:ext cx="1371600" cy="1371600"/>
          </a:xfrm>
          <a:prstGeom prst="rect">
            <a:avLst/>
          </a:prstGeom>
          <a:noFill/>
          <a:ln>
            <a:noFill/>
          </a:ln>
        </p:spPr>
      </p:pic>
      <p:pic>
        <p:nvPicPr>
          <p:cNvPr id="411" name="Google Shape;411;p48"/>
          <p:cNvPicPr preferRelativeResize="0"/>
          <p:nvPr/>
        </p:nvPicPr>
        <p:blipFill rotWithShape="1">
          <a:blip r:embed="rId12">
            <a:alphaModFix/>
          </a:blip>
          <a:srcRect b="0" l="0" r="0" t="0"/>
          <a:stretch/>
        </p:blipFill>
        <p:spPr>
          <a:xfrm>
            <a:off x="5664575" y="2805125"/>
            <a:ext cx="1371600" cy="1371600"/>
          </a:xfrm>
          <a:prstGeom prst="rect">
            <a:avLst/>
          </a:prstGeom>
          <a:noFill/>
          <a:ln>
            <a:noFill/>
          </a:ln>
        </p:spPr>
      </p:pic>
      <p:sp>
        <p:nvSpPr>
          <p:cNvPr id="412" name="Google Shape;412;p48"/>
          <p:cNvSpPr txBox="1"/>
          <p:nvPr/>
        </p:nvSpPr>
        <p:spPr>
          <a:xfrm flipH="1">
            <a:off x="196475" y="1688900"/>
            <a:ext cx="9636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Safe:</a:t>
            </a:r>
            <a:endParaRPr/>
          </a:p>
        </p:txBody>
      </p:sp>
      <p:sp>
        <p:nvSpPr>
          <p:cNvPr id="413" name="Google Shape;413;p48"/>
          <p:cNvSpPr txBox="1"/>
          <p:nvPr/>
        </p:nvSpPr>
        <p:spPr>
          <a:xfrm flipH="1">
            <a:off x="62075" y="3289100"/>
            <a:ext cx="1098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Poisonous: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Pick A Feature To Start Your Decision Tree</a:t>
            </a:r>
            <a:endParaRPr/>
          </a:p>
        </p:txBody>
      </p:sp>
      <p:sp>
        <p:nvSpPr>
          <p:cNvPr id="419" name="Google Shape;41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49"/>
          <p:cNvSpPr/>
          <p:nvPr/>
        </p:nvSpPr>
        <p:spPr>
          <a:xfrm>
            <a:off x="3628325" y="1271288"/>
            <a:ext cx="1506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a:t>
            </a:r>
            <a:endParaRPr b="1" sz="2800"/>
          </a:p>
        </p:txBody>
      </p:sp>
      <p:grpSp>
        <p:nvGrpSpPr>
          <p:cNvPr id="421" name="Google Shape;421;p49"/>
          <p:cNvGrpSpPr/>
          <p:nvPr/>
        </p:nvGrpSpPr>
        <p:grpSpPr>
          <a:xfrm>
            <a:off x="5227935" y="1099481"/>
            <a:ext cx="2565686" cy="1052628"/>
            <a:chOff x="1257500" y="1203200"/>
            <a:chExt cx="7247700" cy="2973525"/>
          </a:xfrm>
        </p:grpSpPr>
        <p:pic>
          <p:nvPicPr>
            <p:cNvPr id="422" name="Google Shape;422;p49"/>
            <p:cNvPicPr preferRelativeResize="0"/>
            <p:nvPr/>
          </p:nvPicPr>
          <p:blipFill>
            <a:blip r:embed="rId3">
              <a:alphaModFix/>
            </a:blip>
            <a:stretch>
              <a:fillRect/>
            </a:stretch>
          </p:blipFill>
          <p:spPr>
            <a:xfrm>
              <a:off x="1257500" y="2805125"/>
              <a:ext cx="1371600" cy="1371600"/>
            </a:xfrm>
            <a:prstGeom prst="rect">
              <a:avLst/>
            </a:prstGeom>
            <a:noFill/>
            <a:ln>
              <a:noFill/>
            </a:ln>
          </p:spPr>
        </p:pic>
        <p:pic>
          <p:nvPicPr>
            <p:cNvPr id="423" name="Google Shape;423;p49"/>
            <p:cNvPicPr preferRelativeResize="0"/>
            <p:nvPr/>
          </p:nvPicPr>
          <p:blipFill>
            <a:blip r:embed="rId4">
              <a:alphaModFix/>
            </a:blip>
            <a:stretch>
              <a:fillRect/>
            </a:stretch>
          </p:blipFill>
          <p:spPr>
            <a:xfrm>
              <a:off x="5660100" y="1203200"/>
              <a:ext cx="1371600" cy="1371600"/>
            </a:xfrm>
            <a:prstGeom prst="rect">
              <a:avLst/>
            </a:prstGeom>
            <a:noFill/>
            <a:ln>
              <a:noFill/>
            </a:ln>
          </p:spPr>
        </p:pic>
        <p:pic>
          <p:nvPicPr>
            <p:cNvPr id="424" name="Google Shape;424;p49"/>
            <p:cNvPicPr preferRelativeResize="0"/>
            <p:nvPr/>
          </p:nvPicPr>
          <p:blipFill>
            <a:blip r:embed="rId5">
              <a:alphaModFix/>
            </a:blip>
            <a:stretch>
              <a:fillRect/>
            </a:stretch>
          </p:blipFill>
          <p:spPr>
            <a:xfrm>
              <a:off x="4195538" y="2805125"/>
              <a:ext cx="1371600" cy="1371600"/>
            </a:xfrm>
            <a:prstGeom prst="rect">
              <a:avLst/>
            </a:prstGeom>
            <a:noFill/>
            <a:ln>
              <a:noFill/>
            </a:ln>
          </p:spPr>
        </p:pic>
        <p:pic>
          <p:nvPicPr>
            <p:cNvPr id="425" name="Google Shape;425;p49"/>
            <p:cNvPicPr preferRelativeResize="0"/>
            <p:nvPr/>
          </p:nvPicPr>
          <p:blipFill>
            <a:blip r:embed="rId6">
              <a:alphaModFix/>
            </a:blip>
            <a:stretch>
              <a:fillRect/>
            </a:stretch>
          </p:blipFill>
          <p:spPr>
            <a:xfrm>
              <a:off x="2726525" y="2805125"/>
              <a:ext cx="1371600" cy="1371600"/>
            </a:xfrm>
            <a:prstGeom prst="rect">
              <a:avLst/>
            </a:prstGeom>
            <a:noFill/>
            <a:ln>
              <a:noFill/>
            </a:ln>
          </p:spPr>
        </p:pic>
        <p:pic>
          <p:nvPicPr>
            <p:cNvPr id="426" name="Google Shape;426;p49"/>
            <p:cNvPicPr preferRelativeResize="0"/>
            <p:nvPr/>
          </p:nvPicPr>
          <p:blipFill>
            <a:blip r:embed="rId7">
              <a:alphaModFix/>
            </a:blip>
            <a:stretch>
              <a:fillRect/>
            </a:stretch>
          </p:blipFill>
          <p:spPr>
            <a:xfrm>
              <a:off x="4193307" y="1203200"/>
              <a:ext cx="1371600" cy="1371600"/>
            </a:xfrm>
            <a:prstGeom prst="rect">
              <a:avLst/>
            </a:prstGeom>
            <a:noFill/>
            <a:ln>
              <a:noFill/>
            </a:ln>
          </p:spPr>
        </p:pic>
        <p:pic>
          <p:nvPicPr>
            <p:cNvPr id="427" name="Google Shape;427;p49"/>
            <p:cNvPicPr preferRelativeResize="0"/>
            <p:nvPr/>
          </p:nvPicPr>
          <p:blipFill>
            <a:blip r:embed="rId8">
              <a:alphaModFix/>
            </a:blip>
            <a:stretch>
              <a:fillRect/>
            </a:stretch>
          </p:blipFill>
          <p:spPr>
            <a:xfrm>
              <a:off x="2725929" y="1203200"/>
              <a:ext cx="1371600" cy="1371600"/>
            </a:xfrm>
            <a:prstGeom prst="rect">
              <a:avLst/>
            </a:prstGeom>
            <a:noFill/>
            <a:ln>
              <a:noFill/>
            </a:ln>
          </p:spPr>
        </p:pic>
        <p:pic>
          <p:nvPicPr>
            <p:cNvPr id="428" name="Google Shape;428;p49"/>
            <p:cNvPicPr preferRelativeResize="0"/>
            <p:nvPr/>
          </p:nvPicPr>
          <p:blipFill>
            <a:blip r:embed="rId9">
              <a:alphaModFix/>
            </a:blip>
            <a:stretch>
              <a:fillRect/>
            </a:stretch>
          </p:blipFill>
          <p:spPr>
            <a:xfrm>
              <a:off x="1258096" y="1203200"/>
              <a:ext cx="1371600" cy="1371600"/>
            </a:xfrm>
            <a:prstGeom prst="rect">
              <a:avLst/>
            </a:prstGeom>
            <a:noFill/>
            <a:ln>
              <a:noFill/>
            </a:ln>
          </p:spPr>
        </p:pic>
        <p:pic>
          <p:nvPicPr>
            <p:cNvPr id="429" name="Google Shape;429;p49"/>
            <p:cNvPicPr preferRelativeResize="0"/>
            <p:nvPr/>
          </p:nvPicPr>
          <p:blipFill>
            <a:blip r:embed="rId10">
              <a:alphaModFix/>
            </a:blip>
            <a:stretch>
              <a:fillRect/>
            </a:stretch>
          </p:blipFill>
          <p:spPr>
            <a:xfrm>
              <a:off x="7126893" y="1203200"/>
              <a:ext cx="1371600" cy="1371600"/>
            </a:xfrm>
            <a:prstGeom prst="rect">
              <a:avLst/>
            </a:prstGeom>
            <a:noFill/>
            <a:ln>
              <a:noFill/>
            </a:ln>
          </p:spPr>
        </p:pic>
        <p:pic>
          <p:nvPicPr>
            <p:cNvPr id="430" name="Google Shape;430;p49"/>
            <p:cNvPicPr preferRelativeResize="0"/>
            <p:nvPr/>
          </p:nvPicPr>
          <p:blipFill rotWithShape="1">
            <a:blip r:embed="rId11">
              <a:alphaModFix/>
            </a:blip>
            <a:srcRect b="0" l="0" r="0" t="0"/>
            <a:stretch/>
          </p:blipFill>
          <p:spPr>
            <a:xfrm>
              <a:off x="7133600" y="2805125"/>
              <a:ext cx="1371600" cy="1371600"/>
            </a:xfrm>
            <a:prstGeom prst="rect">
              <a:avLst/>
            </a:prstGeom>
            <a:noFill/>
            <a:ln>
              <a:noFill/>
            </a:ln>
          </p:spPr>
        </p:pic>
        <p:pic>
          <p:nvPicPr>
            <p:cNvPr id="431" name="Google Shape;431;p49"/>
            <p:cNvPicPr preferRelativeResize="0"/>
            <p:nvPr/>
          </p:nvPicPr>
          <p:blipFill rotWithShape="1">
            <a:blip r:embed="rId12">
              <a:alphaModFix/>
            </a:blip>
            <a:srcRect b="0" l="0" r="0" t="0"/>
            <a:stretch/>
          </p:blipFill>
          <p:spPr>
            <a:xfrm>
              <a:off x="5664575" y="2805125"/>
              <a:ext cx="1371600" cy="1371600"/>
            </a:xfrm>
            <a:prstGeom prst="rect">
              <a:avLst/>
            </a:prstGeom>
            <a:noFill/>
            <a:ln>
              <a:noFill/>
            </a:ln>
          </p:spPr>
        </p:pic>
      </p:grpSp>
      <p:sp>
        <p:nvSpPr>
          <p:cNvPr id="432" name="Google Shape;432;p49"/>
          <p:cNvSpPr txBox="1"/>
          <p:nvPr/>
        </p:nvSpPr>
        <p:spPr>
          <a:xfrm>
            <a:off x="7804100" y="1146230"/>
            <a:ext cx="8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Safe</a:t>
            </a:r>
            <a:endParaRPr/>
          </a:p>
        </p:txBody>
      </p:sp>
      <p:sp>
        <p:nvSpPr>
          <p:cNvPr id="433" name="Google Shape;433;p49"/>
          <p:cNvSpPr txBox="1"/>
          <p:nvPr/>
        </p:nvSpPr>
        <p:spPr>
          <a:xfrm>
            <a:off x="7804100" y="1700820"/>
            <a:ext cx="11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Poisonous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Try The Dorsal Fin Shape</a:t>
            </a:r>
            <a:endParaRPr/>
          </a:p>
        </p:txBody>
      </p:sp>
      <p:sp>
        <p:nvSpPr>
          <p:cNvPr id="439" name="Google Shape;43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50"/>
          <p:cNvSpPr/>
          <p:nvPr/>
        </p:nvSpPr>
        <p:spPr>
          <a:xfrm>
            <a:off x="3628325" y="1271288"/>
            <a:ext cx="1506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Dorsal Fin = Lens</a:t>
            </a:r>
            <a:endParaRPr/>
          </a:p>
        </p:txBody>
      </p:sp>
      <p:grpSp>
        <p:nvGrpSpPr>
          <p:cNvPr id="441" name="Google Shape;441;p50"/>
          <p:cNvGrpSpPr/>
          <p:nvPr/>
        </p:nvGrpSpPr>
        <p:grpSpPr>
          <a:xfrm>
            <a:off x="5227935" y="1099481"/>
            <a:ext cx="2565686" cy="1052628"/>
            <a:chOff x="1257500" y="1203200"/>
            <a:chExt cx="7247700" cy="2973525"/>
          </a:xfrm>
        </p:grpSpPr>
        <p:pic>
          <p:nvPicPr>
            <p:cNvPr id="442" name="Google Shape;442;p50"/>
            <p:cNvPicPr preferRelativeResize="0"/>
            <p:nvPr/>
          </p:nvPicPr>
          <p:blipFill>
            <a:blip r:embed="rId3">
              <a:alphaModFix/>
            </a:blip>
            <a:stretch>
              <a:fillRect/>
            </a:stretch>
          </p:blipFill>
          <p:spPr>
            <a:xfrm>
              <a:off x="1257500" y="2805125"/>
              <a:ext cx="1371600" cy="1371600"/>
            </a:xfrm>
            <a:prstGeom prst="rect">
              <a:avLst/>
            </a:prstGeom>
            <a:noFill/>
            <a:ln>
              <a:noFill/>
            </a:ln>
          </p:spPr>
        </p:pic>
        <p:pic>
          <p:nvPicPr>
            <p:cNvPr id="443" name="Google Shape;443;p50"/>
            <p:cNvPicPr preferRelativeResize="0"/>
            <p:nvPr/>
          </p:nvPicPr>
          <p:blipFill>
            <a:blip r:embed="rId4">
              <a:alphaModFix/>
            </a:blip>
            <a:stretch>
              <a:fillRect/>
            </a:stretch>
          </p:blipFill>
          <p:spPr>
            <a:xfrm>
              <a:off x="5660100" y="1203200"/>
              <a:ext cx="1371600" cy="1371600"/>
            </a:xfrm>
            <a:prstGeom prst="rect">
              <a:avLst/>
            </a:prstGeom>
            <a:noFill/>
            <a:ln>
              <a:noFill/>
            </a:ln>
          </p:spPr>
        </p:pic>
        <p:pic>
          <p:nvPicPr>
            <p:cNvPr id="444" name="Google Shape;444;p50"/>
            <p:cNvPicPr preferRelativeResize="0"/>
            <p:nvPr/>
          </p:nvPicPr>
          <p:blipFill>
            <a:blip r:embed="rId5">
              <a:alphaModFix/>
            </a:blip>
            <a:stretch>
              <a:fillRect/>
            </a:stretch>
          </p:blipFill>
          <p:spPr>
            <a:xfrm>
              <a:off x="4195538" y="2805125"/>
              <a:ext cx="1371600" cy="1371600"/>
            </a:xfrm>
            <a:prstGeom prst="rect">
              <a:avLst/>
            </a:prstGeom>
            <a:noFill/>
            <a:ln>
              <a:noFill/>
            </a:ln>
          </p:spPr>
        </p:pic>
        <p:pic>
          <p:nvPicPr>
            <p:cNvPr id="445" name="Google Shape;445;p50"/>
            <p:cNvPicPr preferRelativeResize="0"/>
            <p:nvPr/>
          </p:nvPicPr>
          <p:blipFill>
            <a:blip r:embed="rId6">
              <a:alphaModFix/>
            </a:blip>
            <a:stretch>
              <a:fillRect/>
            </a:stretch>
          </p:blipFill>
          <p:spPr>
            <a:xfrm>
              <a:off x="2726525" y="2805125"/>
              <a:ext cx="1371600" cy="1371600"/>
            </a:xfrm>
            <a:prstGeom prst="rect">
              <a:avLst/>
            </a:prstGeom>
            <a:noFill/>
            <a:ln>
              <a:noFill/>
            </a:ln>
          </p:spPr>
        </p:pic>
        <p:pic>
          <p:nvPicPr>
            <p:cNvPr id="446" name="Google Shape;446;p50"/>
            <p:cNvPicPr preferRelativeResize="0"/>
            <p:nvPr/>
          </p:nvPicPr>
          <p:blipFill>
            <a:blip r:embed="rId7">
              <a:alphaModFix/>
            </a:blip>
            <a:stretch>
              <a:fillRect/>
            </a:stretch>
          </p:blipFill>
          <p:spPr>
            <a:xfrm>
              <a:off x="4193307" y="1203200"/>
              <a:ext cx="1371600" cy="1371600"/>
            </a:xfrm>
            <a:prstGeom prst="rect">
              <a:avLst/>
            </a:prstGeom>
            <a:noFill/>
            <a:ln>
              <a:noFill/>
            </a:ln>
          </p:spPr>
        </p:pic>
        <p:pic>
          <p:nvPicPr>
            <p:cNvPr id="447" name="Google Shape;447;p50"/>
            <p:cNvPicPr preferRelativeResize="0"/>
            <p:nvPr/>
          </p:nvPicPr>
          <p:blipFill>
            <a:blip r:embed="rId8">
              <a:alphaModFix/>
            </a:blip>
            <a:stretch>
              <a:fillRect/>
            </a:stretch>
          </p:blipFill>
          <p:spPr>
            <a:xfrm>
              <a:off x="2725929" y="1203200"/>
              <a:ext cx="1371600" cy="1371600"/>
            </a:xfrm>
            <a:prstGeom prst="rect">
              <a:avLst/>
            </a:prstGeom>
            <a:noFill/>
            <a:ln>
              <a:noFill/>
            </a:ln>
          </p:spPr>
        </p:pic>
        <p:pic>
          <p:nvPicPr>
            <p:cNvPr id="448" name="Google Shape;448;p50"/>
            <p:cNvPicPr preferRelativeResize="0"/>
            <p:nvPr/>
          </p:nvPicPr>
          <p:blipFill>
            <a:blip r:embed="rId9">
              <a:alphaModFix/>
            </a:blip>
            <a:stretch>
              <a:fillRect/>
            </a:stretch>
          </p:blipFill>
          <p:spPr>
            <a:xfrm>
              <a:off x="1258096" y="1203200"/>
              <a:ext cx="1371600" cy="1371600"/>
            </a:xfrm>
            <a:prstGeom prst="rect">
              <a:avLst/>
            </a:prstGeom>
            <a:noFill/>
            <a:ln>
              <a:noFill/>
            </a:ln>
          </p:spPr>
        </p:pic>
        <p:pic>
          <p:nvPicPr>
            <p:cNvPr id="449" name="Google Shape;449;p50"/>
            <p:cNvPicPr preferRelativeResize="0"/>
            <p:nvPr/>
          </p:nvPicPr>
          <p:blipFill>
            <a:blip r:embed="rId10">
              <a:alphaModFix/>
            </a:blip>
            <a:stretch>
              <a:fillRect/>
            </a:stretch>
          </p:blipFill>
          <p:spPr>
            <a:xfrm>
              <a:off x="7126893" y="1203200"/>
              <a:ext cx="1371600" cy="1371600"/>
            </a:xfrm>
            <a:prstGeom prst="rect">
              <a:avLst/>
            </a:prstGeom>
            <a:noFill/>
            <a:ln>
              <a:noFill/>
            </a:ln>
          </p:spPr>
        </p:pic>
        <p:pic>
          <p:nvPicPr>
            <p:cNvPr id="450" name="Google Shape;450;p50"/>
            <p:cNvPicPr preferRelativeResize="0"/>
            <p:nvPr/>
          </p:nvPicPr>
          <p:blipFill rotWithShape="1">
            <a:blip r:embed="rId11">
              <a:alphaModFix/>
            </a:blip>
            <a:srcRect b="0" l="0" r="0" t="0"/>
            <a:stretch/>
          </p:blipFill>
          <p:spPr>
            <a:xfrm>
              <a:off x="7133600" y="2805125"/>
              <a:ext cx="1371600" cy="1371600"/>
            </a:xfrm>
            <a:prstGeom prst="rect">
              <a:avLst/>
            </a:prstGeom>
            <a:noFill/>
            <a:ln>
              <a:noFill/>
            </a:ln>
          </p:spPr>
        </p:pic>
        <p:pic>
          <p:nvPicPr>
            <p:cNvPr id="451" name="Google Shape;451;p50"/>
            <p:cNvPicPr preferRelativeResize="0"/>
            <p:nvPr/>
          </p:nvPicPr>
          <p:blipFill rotWithShape="1">
            <a:blip r:embed="rId12">
              <a:alphaModFix/>
            </a:blip>
            <a:srcRect b="0" l="0" r="0" t="0"/>
            <a:stretch/>
          </p:blipFill>
          <p:spPr>
            <a:xfrm>
              <a:off x="5664575" y="2805125"/>
              <a:ext cx="1371600" cy="1371600"/>
            </a:xfrm>
            <a:prstGeom prst="rect">
              <a:avLst/>
            </a:prstGeom>
            <a:noFill/>
            <a:ln>
              <a:noFill/>
            </a:ln>
          </p:spPr>
        </p:pic>
      </p:grpSp>
      <p:sp>
        <p:nvSpPr>
          <p:cNvPr id="452" name="Google Shape;452;p50"/>
          <p:cNvSpPr txBox="1"/>
          <p:nvPr/>
        </p:nvSpPr>
        <p:spPr>
          <a:xfrm>
            <a:off x="7804100" y="1146230"/>
            <a:ext cx="8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Safe</a:t>
            </a:r>
            <a:endParaRPr/>
          </a:p>
        </p:txBody>
      </p:sp>
      <p:sp>
        <p:nvSpPr>
          <p:cNvPr id="453" name="Google Shape;453;p50"/>
          <p:cNvSpPr txBox="1"/>
          <p:nvPr/>
        </p:nvSpPr>
        <p:spPr>
          <a:xfrm>
            <a:off x="7804100" y="1700820"/>
            <a:ext cx="11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Poisonous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 The Examples Based on Dorsal Fin Shape = Lens</a:t>
            </a:r>
            <a:endParaRPr/>
          </a:p>
        </p:txBody>
      </p:sp>
      <p:sp>
        <p:nvSpPr>
          <p:cNvPr id="459" name="Google Shape;45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60" name="Google Shape;460;p51"/>
          <p:cNvPicPr preferRelativeResize="0"/>
          <p:nvPr/>
        </p:nvPicPr>
        <p:blipFill>
          <a:blip r:embed="rId3">
            <a:alphaModFix/>
          </a:blip>
          <a:stretch>
            <a:fillRect/>
          </a:stretch>
        </p:blipFill>
        <p:spPr>
          <a:xfrm>
            <a:off x="6955010" y="3014462"/>
            <a:ext cx="485546" cy="485546"/>
          </a:xfrm>
          <a:prstGeom prst="rect">
            <a:avLst/>
          </a:prstGeom>
          <a:noFill/>
          <a:ln>
            <a:noFill/>
          </a:ln>
        </p:spPr>
      </p:pic>
      <p:pic>
        <p:nvPicPr>
          <p:cNvPr id="461" name="Google Shape;461;p51"/>
          <p:cNvPicPr preferRelativeResize="0"/>
          <p:nvPr/>
        </p:nvPicPr>
        <p:blipFill>
          <a:blip r:embed="rId4">
            <a:alphaModFix/>
          </a:blip>
          <a:stretch>
            <a:fillRect/>
          </a:stretch>
        </p:blipFill>
        <p:spPr>
          <a:xfrm>
            <a:off x="7475044" y="3014462"/>
            <a:ext cx="485546" cy="485546"/>
          </a:xfrm>
          <a:prstGeom prst="rect">
            <a:avLst/>
          </a:prstGeom>
          <a:noFill/>
          <a:ln>
            <a:noFill/>
          </a:ln>
        </p:spPr>
      </p:pic>
      <p:pic>
        <p:nvPicPr>
          <p:cNvPr id="462" name="Google Shape;462;p51"/>
          <p:cNvPicPr preferRelativeResize="0"/>
          <p:nvPr/>
        </p:nvPicPr>
        <p:blipFill>
          <a:blip r:embed="rId5">
            <a:alphaModFix/>
          </a:blip>
          <a:stretch>
            <a:fillRect/>
          </a:stretch>
        </p:blipFill>
        <p:spPr>
          <a:xfrm>
            <a:off x="6955221" y="2447381"/>
            <a:ext cx="485546" cy="485546"/>
          </a:xfrm>
          <a:prstGeom prst="rect">
            <a:avLst/>
          </a:prstGeom>
          <a:noFill/>
          <a:ln>
            <a:noFill/>
          </a:ln>
        </p:spPr>
      </p:pic>
      <p:pic>
        <p:nvPicPr>
          <p:cNvPr id="463" name="Google Shape;463;p51"/>
          <p:cNvPicPr preferRelativeResize="0"/>
          <p:nvPr/>
        </p:nvPicPr>
        <p:blipFill rotWithShape="1">
          <a:blip r:embed="rId6">
            <a:alphaModFix/>
          </a:blip>
          <a:srcRect b="0" l="0" r="0" t="0"/>
          <a:stretch/>
        </p:blipFill>
        <p:spPr>
          <a:xfrm>
            <a:off x="7992896" y="3014462"/>
            <a:ext cx="485546" cy="485546"/>
          </a:xfrm>
          <a:prstGeom prst="rect">
            <a:avLst/>
          </a:prstGeom>
          <a:noFill/>
          <a:ln>
            <a:noFill/>
          </a:ln>
        </p:spPr>
      </p:pic>
      <p:sp>
        <p:nvSpPr>
          <p:cNvPr id="464" name="Google Shape;464;p51"/>
          <p:cNvSpPr/>
          <p:nvPr/>
        </p:nvSpPr>
        <p:spPr>
          <a:xfrm>
            <a:off x="3628325" y="1271288"/>
            <a:ext cx="1506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Dorsal Fin = Lens</a:t>
            </a:r>
            <a:endParaRPr/>
          </a:p>
        </p:txBody>
      </p:sp>
      <p:sp>
        <p:nvSpPr>
          <p:cNvPr id="465" name="Google Shape;465;p51"/>
          <p:cNvSpPr/>
          <p:nvPr/>
        </p:nvSpPr>
        <p:spPr>
          <a:xfrm>
            <a:off x="24496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6" name="Google Shape;466;p51"/>
          <p:cNvCxnSpPr>
            <a:stCxn id="464" idx="2"/>
            <a:endCxn id="465" idx="0"/>
          </p:cNvCxnSpPr>
          <p:nvPr/>
        </p:nvCxnSpPr>
        <p:spPr>
          <a:xfrm flipH="1">
            <a:off x="3059225" y="1843988"/>
            <a:ext cx="1322400" cy="868500"/>
          </a:xfrm>
          <a:prstGeom prst="straightConnector1">
            <a:avLst/>
          </a:prstGeom>
          <a:noFill/>
          <a:ln cap="flat" cmpd="sng" w="9525">
            <a:solidFill>
              <a:schemeClr val="dk2"/>
            </a:solidFill>
            <a:prstDash val="solid"/>
            <a:round/>
            <a:headEnd len="med" w="med" type="none"/>
            <a:tailEnd len="med" w="med" type="triangle"/>
          </a:ln>
        </p:spPr>
      </p:cxnSp>
      <p:cxnSp>
        <p:nvCxnSpPr>
          <p:cNvPr id="467" name="Google Shape;467;p51"/>
          <p:cNvCxnSpPr>
            <a:stCxn id="464" idx="2"/>
            <a:endCxn id="468" idx="0"/>
          </p:cNvCxnSpPr>
          <p:nvPr/>
        </p:nvCxnSpPr>
        <p:spPr>
          <a:xfrm>
            <a:off x="4381625" y="1843988"/>
            <a:ext cx="1420800" cy="868500"/>
          </a:xfrm>
          <a:prstGeom prst="straightConnector1">
            <a:avLst/>
          </a:prstGeom>
          <a:noFill/>
          <a:ln cap="flat" cmpd="sng" w="9525">
            <a:solidFill>
              <a:schemeClr val="dk2"/>
            </a:solidFill>
            <a:prstDash val="solid"/>
            <a:round/>
            <a:headEnd len="med" w="med" type="none"/>
            <a:tailEnd len="med" w="med" type="triangle"/>
          </a:ln>
        </p:spPr>
      </p:cxnSp>
      <p:pic>
        <p:nvPicPr>
          <p:cNvPr id="469" name="Google Shape;469;p51"/>
          <p:cNvPicPr preferRelativeResize="0"/>
          <p:nvPr/>
        </p:nvPicPr>
        <p:blipFill>
          <a:blip r:embed="rId7">
            <a:alphaModFix/>
          </a:blip>
          <a:stretch>
            <a:fillRect/>
          </a:stretch>
        </p:blipFill>
        <p:spPr>
          <a:xfrm>
            <a:off x="1136480" y="2551481"/>
            <a:ext cx="485546" cy="485546"/>
          </a:xfrm>
          <a:prstGeom prst="rect">
            <a:avLst/>
          </a:prstGeom>
          <a:noFill/>
          <a:ln>
            <a:noFill/>
          </a:ln>
        </p:spPr>
      </p:pic>
      <p:pic>
        <p:nvPicPr>
          <p:cNvPr id="470" name="Google Shape;470;p51"/>
          <p:cNvPicPr preferRelativeResize="0"/>
          <p:nvPr/>
        </p:nvPicPr>
        <p:blipFill>
          <a:blip r:embed="rId8">
            <a:alphaModFix/>
          </a:blip>
          <a:stretch>
            <a:fillRect/>
          </a:stretch>
        </p:blipFill>
        <p:spPr>
          <a:xfrm>
            <a:off x="618025" y="3118562"/>
            <a:ext cx="485546" cy="485546"/>
          </a:xfrm>
          <a:prstGeom prst="rect">
            <a:avLst/>
          </a:prstGeom>
          <a:noFill/>
          <a:ln>
            <a:noFill/>
          </a:ln>
        </p:spPr>
      </p:pic>
      <p:pic>
        <p:nvPicPr>
          <p:cNvPr id="471" name="Google Shape;471;p51"/>
          <p:cNvPicPr preferRelativeResize="0"/>
          <p:nvPr/>
        </p:nvPicPr>
        <p:blipFill>
          <a:blip r:embed="rId9">
            <a:alphaModFix/>
          </a:blip>
          <a:stretch>
            <a:fillRect/>
          </a:stretch>
        </p:blipFill>
        <p:spPr>
          <a:xfrm>
            <a:off x="617235" y="2551481"/>
            <a:ext cx="485546" cy="485546"/>
          </a:xfrm>
          <a:prstGeom prst="rect">
            <a:avLst/>
          </a:prstGeom>
          <a:noFill/>
          <a:ln>
            <a:noFill/>
          </a:ln>
        </p:spPr>
      </p:pic>
      <p:pic>
        <p:nvPicPr>
          <p:cNvPr id="472" name="Google Shape;472;p51"/>
          <p:cNvPicPr preferRelativeResize="0"/>
          <p:nvPr/>
        </p:nvPicPr>
        <p:blipFill>
          <a:blip r:embed="rId10">
            <a:alphaModFix/>
          </a:blip>
          <a:stretch>
            <a:fillRect/>
          </a:stretch>
        </p:blipFill>
        <p:spPr>
          <a:xfrm>
            <a:off x="97783" y="2551481"/>
            <a:ext cx="485546" cy="485546"/>
          </a:xfrm>
          <a:prstGeom prst="rect">
            <a:avLst/>
          </a:prstGeom>
          <a:noFill/>
          <a:ln>
            <a:noFill/>
          </a:ln>
        </p:spPr>
      </p:pic>
      <p:pic>
        <p:nvPicPr>
          <p:cNvPr id="473" name="Google Shape;473;p51"/>
          <p:cNvPicPr preferRelativeResize="0"/>
          <p:nvPr/>
        </p:nvPicPr>
        <p:blipFill>
          <a:blip r:embed="rId11">
            <a:alphaModFix/>
          </a:blip>
          <a:stretch>
            <a:fillRect/>
          </a:stretch>
        </p:blipFill>
        <p:spPr>
          <a:xfrm>
            <a:off x="1655725" y="2551481"/>
            <a:ext cx="485546" cy="485546"/>
          </a:xfrm>
          <a:prstGeom prst="rect">
            <a:avLst/>
          </a:prstGeom>
          <a:noFill/>
          <a:ln>
            <a:noFill/>
          </a:ln>
        </p:spPr>
      </p:pic>
      <p:pic>
        <p:nvPicPr>
          <p:cNvPr id="474" name="Google Shape;474;p51"/>
          <p:cNvPicPr preferRelativeResize="0"/>
          <p:nvPr/>
        </p:nvPicPr>
        <p:blipFill rotWithShape="1">
          <a:blip r:embed="rId12">
            <a:alphaModFix/>
          </a:blip>
          <a:srcRect b="0" l="0" r="0" t="0"/>
          <a:stretch/>
        </p:blipFill>
        <p:spPr>
          <a:xfrm>
            <a:off x="1144991" y="3118562"/>
            <a:ext cx="485546" cy="485546"/>
          </a:xfrm>
          <a:prstGeom prst="rect">
            <a:avLst/>
          </a:prstGeom>
          <a:noFill/>
          <a:ln>
            <a:noFill/>
          </a:ln>
        </p:spPr>
      </p:pic>
      <p:sp>
        <p:nvSpPr>
          <p:cNvPr id="468" name="Google Shape;468;p51"/>
          <p:cNvSpPr/>
          <p:nvPr/>
        </p:nvSpPr>
        <p:spPr>
          <a:xfrm>
            <a:off x="51928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51"/>
          <p:cNvSpPr txBox="1"/>
          <p:nvPr/>
        </p:nvSpPr>
        <p:spPr>
          <a:xfrm>
            <a:off x="2870975" y="2060775"/>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476" name="Google Shape;476;p51"/>
          <p:cNvSpPr txBox="1"/>
          <p:nvPr/>
        </p:nvSpPr>
        <p:spPr>
          <a:xfrm>
            <a:off x="5385575" y="2060775"/>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sp>
        <p:nvSpPr>
          <p:cNvPr id="477" name="Google Shape;477;p51"/>
          <p:cNvSpPr txBox="1"/>
          <p:nvPr/>
        </p:nvSpPr>
        <p:spPr>
          <a:xfrm>
            <a:off x="1071425" y="1868043"/>
            <a:ext cx="887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Safe</a:t>
            </a:r>
            <a:endParaRPr/>
          </a:p>
        </p:txBody>
      </p:sp>
      <p:sp>
        <p:nvSpPr>
          <p:cNvPr id="478" name="Google Shape;478;p51"/>
          <p:cNvSpPr txBox="1"/>
          <p:nvPr/>
        </p:nvSpPr>
        <p:spPr>
          <a:xfrm>
            <a:off x="1599725" y="3844570"/>
            <a:ext cx="11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Poisonous</a:t>
            </a:r>
            <a:endParaRPr/>
          </a:p>
        </p:txBody>
      </p:sp>
      <p:cxnSp>
        <p:nvCxnSpPr>
          <p:cNvPr id="479" name="Google Shape;479;p51"/>
          <p:cNvCxnSpPr>
            <a:stCxn id="478" idx="0"/>
            <a:endCxn id="474" idx="3"/>
          </p:cNvCxnSpPr>
          <p:nvPr/>
        </p:nvCxnSpPr>
        <p:spPr>
          <a:xfrm flipH="1" rot="5400000">
            <a:off x="1658675" y="3333070"/>
            <a:ext cx="483300" cy="539700"/>
          </a:xfrm>
          <a:prstGeom prst="curvedConnector2">
            <a:avLst/>
          </a:prstGeom>
          <a:noFill/>
          <a:ln cap="flat" cmpd="sng" w="9525">
            <a:solidFill>
              <a:schemeClr val="dk2"/>
            </a:solidFill>
            <a:prstDash val="solid"/>
            <a:round/>
            <a:headEnd len="med" w="med" type="none"/>
            <a:tailEnd len="med" w="med" type="stealth"/>
          </a:ln>
        </p:spPr>
      </p:cxnSp>
      <p:cxnSp>
        <p:nvCxnSpPr>
          <p:cNvPr id="480" name="Google Shape;480;p51"/>
          <p:cNvCxnSpPr>
            <a:stCxn id="477" idx="3"/>
            <a:endCxn id="473" idx="3"/>
          </p:cNvCxnSpPr>
          <p:nvPr/>
        </p:nvCxnSpPr>
        <p:spPr>
          <a:xfrm>
            <a:off x="1958525" y="2068143"/>
            <a:ext cx="182700" cy="726000"/>
          </a:xfrm>
          <a:prstGeom prst="curvedConnector3">
            <a:avLst>
              <a:gd fmla="val 230362" name="adj1"/>
            </a:avLst>
          </a:prstGeom>
          <a:noFill/>
          <a:ln cap="flat" cmpd="sng" w="9525">
            <a:solidFill>
              <a:schemeClr val="dk2"/>
            </a:solidFill>
            <a:prstDash val="solid"/>
            <a:round/>
            <a:headEnd len="med" w="med" type="none"/>
            <a:tailEnd len="med" w="med" type="stealth"/>
          </a:ln>
        </p:spPr>
      </p:cxnSp>
      <p:sp>
        <p:nvSpPr>
          <p:cNvPr id="481" name="Google Shape;481;p51"/>
          <p:cNvSpPr txBox="1"/>
          <p:nvPr/>
        </p:nvSpPr>
        <p:spPr>
          <a:xfrm>
            <a:off x="6862625" y="1868043"/>
            <a:ext cx="8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Safe</a:t>
            </a:r>
            <a:endParaRPr/>
          </a:p>
        </p:txBody>
      </p:sp>
      <p:sp>
        <p:nvSpPr>
          <p:cNvPr id="482" name="Google Shape;482;p51"/>
          <p:cNvSpPr txBox="1"/>
          <p:nvPr/>
        </p:nvSpPr>
        <p:spPr>
          <a:xfrm>
            <a:off x="6933725" y="3768370"/>
            <a:ext cx="11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Poisonous</a:t>
            </a:r>
            <a:endParaRPr/>
          </a:p>
        </p:txBody>
      </p:sp>
      <p:cxnSp>
        <p:nvCxnSpPr>
          <p:cNvPr id="483" name="Google Shape;483;p51"/>
          <p:cNvCxnSpPr>
            <a:stCxn id="482" idx="1"/>
            <a:endCxn id="460" idx="1"/>
          </p:cNvCxnSpPr>
          <p:nvPr/>
        </p:nvCxnSpPr>
        <p:spPr>
          <a:xfrm flipH="1" rot="10800000">
            <a:off x="6933725" y="3257170"/>
            <a:ext cx="21300" cy="711300"/>
          </a:xfrm>
          <a:prstGeom prst="curvedConnector3">
            <a:avLst>
              <a:gd fmla="val -1117958" name="adj1"/>
            </a:avLst>
          </a:prstGeom>
          <a:noFill/>
          <a:ln cap="flat" cmpd="sng" w="9525">
            <a:solidFill>
              <a:schemeClr val="dk2"/>
            </a:solidFill>
            <a:prstDash val="solid"/>
            <a:round/>
            <a:headEnd len="med" w="med" type="none"/>
            <a:tailEnd len="med" w="med" type="stealth"/>
          </a:ln>
        </p:spPr>
      </p:cxnSp>
      <p:cxnSp>
        <p:nvCxnSpPr>
          <p:cNvPr id="484" name="Google Shape;484;p51"/>
          <p:cNvCxnSpPr>
            <a:stCxn id="481" idx="1"/>
            <a:endCxn id="462" idx="1"/>
          </p:cNvCxnSpPr>
          <p:nvPr/>
        </p:nvCxnSpPr>
        <p:spPr>
          <a:xfrm>
            <a:off x="6862625" y="2068143"/>
            <a:ext cx="92700" cy="621900"/>
          </a:xfrm>
          <a:prstGeom prst="curvedConnector3">
            <a:avLst>
              <a:gd fmla="val -256877"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 Again, Based on Pectoral Fin Shape</a:t>
            </a:r>
            <a:endParaRPr/>
          </a:p>
        </p:txBody>
      </p:sp>
      <p:sp>
        <p:nvSpPr>
          <p:cNvPr id="490" name="Google Shape;49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52"/>
          <p:cNvSpPr/>
          <p:nvPr/>
        </p:nvSpPr>
        <p:spPr>
          <a:xfrm>
            <a:off x="3628325" y="1271288"/>
            <a:ext cx="1506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Dorsal Fin = Lens</a:t>
            </a:r>
            <a:endParaRPr/>
          </a:p>
        </p:txBody>
      </p:sp>
      <p:sp>
        <p:nvSpPr>
          <p:cNvPr id="492" name="Google Shape;492;p52"/>
          <p:cNvSpPr/>
          <p:nvPr/>
        </p:nvSpPr>
        <p:spPr>
          <a:xfrm>
            <a:off x="24496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Pectoral Fin = Curved</a:t>
            </a:r>
            <a:endParaRPr/>
          </a:p>
        </p:txBody>
      </p:sp>
      <p:cxnSp>
        <p:nvCxnSpPr>
          <p:cNvPr id="493" name="Google Shape;493;p52"/>
          <p:cNvCxnSpPr>
            <a:stCxn id="491" idx="2"/>
            <a:endCxn id="492" idx="0"/>
          </p:cNvCxnSpPr>
          <p:nvPr/>
        </p:nvCxnSpPr>
        <p:spPr>
          <a:xfrm flipH="1">
            <a:off x="3059225" y="1843988"/>
            <a:ext cx="1322400" cy="868500"/>
          </a:xfrm>
          <a:prstGeom prst="straightConnector1">
            <a:avLst/>
          </a:prstGeom>
          <a:noFill/>
          <a:ln cap="flat" cmpd="sng" w="9525">
            <a:solidFill>
              <a:schemeClr val="dk2"/>
            </a:solidFill>
            <a:prstDash val="solid"/>
            <a:round/>
            <a:headEnd len="med" w="med" type="none"/>
            <a:tailEnd len="med" w="med" type="triangle"/>
          </a:ln>
        </p:spPr>
      </p:cxnSp>
      <p:cxnSp>
        <p:nvCxnSpPr>
          <p:cNvPr id="494" name="Google Shape;494;p52"/>
          <p:cNvCxnSpPr>
            <a:stCxn id="491" idx="2"/>
            <a:endCxn id="495" idx="0"/>
          </p:cNvCxnSpPr>
          <p:nvPr/>
        </p:nvCxnSpPr>
        <p:spPr>
          <a:xfrm>
            <a:off x="4381625" y="1843988"/>
            <a:ext cx="1420800" cy="868500"/>
          </a:xfrm>
          <a:prstGeom prst="straightConnector1">
            <a:avLst/>
          </a:prstGeom>
          <a:noFill/>
          <a:ln cap="flat" cmpd="sng" w="9525">
            <a:solidFill>
              <a:schemeClr val="dk2"/>
            </a:solidFill>
            <a:prstDash val="solid"/>
            <a:round/>
            <a:headEnd len="med" w="med" type="none"/>
            <a:tailEnd len="med" w="med" type="triangle"/>
          </a:ln>
        </p:spPr>
      </p:cxnSp>
      <p:pic>
        <p:nvPicPr>
          <p:cNvPr id="496" name="Google Shape;496;p52"/>
          <p:cNvPicPr preferRelativeResize="0"/>
          <p:nvPr/>
        </p:nvPicPr>
        <p:blipFill>
          <a:blip r:embed="rId3">
            <a:alphaModFix/>
          </a:blip>
          <a:stretch>
            <a:fillRect/>
          </a:stretch>
        </p:blipFill>
        <p:spPr>
          <a:xfrm>
            <a:off x="3945847" y="4514031"/>
            <a:ext cx="485546" cy="485546"/>
          </a:xfrm>
          <a:prstGeom prst="rect">
            <a:avLst/>
          </a:prstGeom>
          <a:noFill/>
          <a:ln>
            <a:noFill/>
          </a:ln>
        </p:spPr>
      </p:pic>
      <p:pic>
        <p:nvPicPr>
          <p:cNvPr id="497" name="Google Shape;497;p52"/>
          <p:cNvPicPr preferRelativeResize="0"/>
          <p:nvPr/>
        </p:nvPicPr>
        <p:blipFill>
          <a:blip r:embed="rId4">
            <a:alphaModFix/>
          </a:blip>
          <a:stretch>
            <a:fillRect/>
          </a:stretch>
        </p:blipFill>
        <p:spPr>
          <a:xfrm>
            <a:off x="82980" y="4177687"/>
            <a:ext cx="485546" cy="485546"/>
          </a:xfrm>
          <a:prstGeom prst="rect">
            <a:avLst/>
          </a:prstGeom>
          <a:noFill/>
          <a:ln>
            <a:noFill/>
          </a:ln>
        </p:spPr>
      </p:pic>
      <p:pic>
        <p:nvPicPr>
          <p:cNvPr id="498" name="Google Shape;498;p52"/>
          <p:cNvPicPr preferRelativeResize="0"/>
          <p:nvPr/>
        </p:nvPicPr>
        <p:blipFill>
          <a:blip r:embed="rId5">
            <a:alphaModFix/>
          </a:blip>
          <a:stretch>
            <a:fillRect/>
          </a:stretch>
        </p:blipFill>
        <p:spPr>
          <a:xfrm>
            <a:off x="4467985" y="3980631"/>
            <a:ext cx="485546" cy="485546"/>
          </a:xfrm>
          <a:prstGeom prst="rect">
            <a:avLst/>
          </a:prstGeom>
          <a:noFill/>
          <a:ln>
            <a:noFill/>
          </a:ln>
        </p:spPr>
      </p:pic>
      <p:pic>
        <p:nvPicPr>
          <p:cNvPr id="499" name="Google Shape;499;p52"/>
          <p:cNvPicPr preferRelativeResize="0"/>
          <p:nvPr/>
        </p:nvPicPr>
        <p:blipFill>
          <a:blip r:embed="rId6">
            <a:alphaModFix/>
          </a:blip>
          <a:stretch>
            <a:fillRect/>
          </a:stretch>
        </p:blipFill>
        <p:spPr>
          <a:xfrm>
            <a:off x="3948533" y="3980631"/>
            <a:ext cx="485546" cy="485546"/>
          </a:xfrm>
          <a:prstGeom prst="rect">
            <a:avLst/>
          </a:prstGeom>
          <a:noFill/>
          <a:ln>
            <a:noFill/>
          </a:ln>
        </p:spPr>
      </p:pic>
      <p:pic>
        <p:nvPicPr>
          <p:cNvPr id="500" name="Google Shape;500;p52"/>
          <p:cNvPicPr preferRelativeResize="0"/>
          <p:nvPr/>
        </p:nvPicPr>
        <p:blipFill>
          <a:blip r:embed="rId7">
            <a:alphaModFix/>
          </a:blip>
          <a:stretch>
            <a:fillRect/>
          </a:stretch>
        </p:blipFill>
        <p:spPr>
          <a:xfrm>
            <a:off x="4465092" y="4514031"/>
            <a:ext cx="485546" cy="485546"/>
          </a:xfrm>
          <a:prstGeom prst="rect">
            <a:avLst/>
          </a:prstGeom>
          <a:noFill/>
          <a:ln>
            <a:noFill/>
          </a:ln>
        </p:spPr>
      </p:pic>
      <p:pic>
        <p:nvPicPr>
          <p:cNvPr id="501" name="Google Shape;501;p52"/>
          <p:cNvPicPr preferRelativeResize="0"/>
          <p:nvPr/>
        </p:nvPicPr>
        <p:blipFill rotWithShape="1">
          <a:blip r:embed="rId8">
            <a:alphaModFix/>
          </a:blip>
          <a:srcRect b="0" l="0" r="0" t="0"/>
          <a:stretch/>
        </p:blipFill>
        <p:spPr>
          <a:xfrm>
            <a:off x="617224" y="4177687"/>
            <a:ext cx="485546" cy="485546"/>
          </a:xfrm>
          <a:prstGeom prst="rect">
            <a:avLst/>
          </a:prstGeom>
          <a:noFill/>
          <a:ln>
            <a:noFill/>
          </a:ln>
        </p:spPr>
      </p:pic>
      <p:sp>
        <p:nvSpPr>
          <p:cNvPr id="495" name="Google Shape;495;p52"/>
          <p:cNvSpPr/>
          <p:nvPr/>
        </p:nvSpPr>
        <p:spPr>
          <a:xfrm>
            <a:off x="51928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52"/>
          <p:cNvSpPr txBox="1"/>
          <p:nvPr/>
        </p:nvSpPr>
        <p:spPr>
          <a:xfrm>
            <a:off x="2870975" y="2060775"/>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503" name="Google Shape;503;p52"/>
          <p:cNvSpPr txBox="1"/>
          <p:nvPr/>
        </p:nvSpPr>
        <p:spPr>
          <a:xfrm>
            <a:off x="5385575" y="2060775"/>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sp>
        <p:nvSpPr>
          <p:cNvPr id="504" name="Google Shape;504;p52"/>
          <p:cNvSpPr/>
          <p:nvPr/>
        </p:nvSpPr>
        <p:spPr>
          <a:xfrm>
            <a:off x="1154225" y="4083950"/>
            <a:ext cx="1218900" cy="6684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Poisonous</a:t>
            </a:r>
            <a:endParaRPr/>
          </a:p>
        </p:txBody>
      </p:sp>
      <p:sp>
        <p:nvSpPr>
          <p:cNvPr id="505" name="Google Shape;505;p52"/>
          <p:cNvSpPr/>
          <p:nvPr/>
        </p:nvSpPr>
        <p:spPr>
          <a:xfrm>
            <a:off x="2678225" y="4083950"/>
            <a:ext cx="1218900" cy="6684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Safe</a:t>
            </a:r>
            <a:endParaRPr/>
          </a:p>
        </p:txBody>
      </p:sp>
      <p:cxnSp>
        <p:nvCxnSpPr>
          <p:cNvPr id="506" name="Google Shape;506;p52"/>
          <p:cNvCxnSpPr>
            <a:stCxn id="492" idx="2"/>
            <a:endCxn id="504" idx="0"/>
          </p:cNvCxnSpPr>
          <p:nvPr/>
        </p:nvCxnSpPr>
        <p:spPr>
          <a:xfrm flipH="1">
            <a:off x="1763675" y="3380750"/>
            <a:ext cx="1295400" cy="703200"/>
          </a:xfrm>
          <a:prstGeom prst="straightConnector1">
            <a:avLst/>
          </a:prstGeom>
          <a:noFill/>
          <a:ln cap="flat" cmpd="sng" w="9525">
            <a:solidFill>
              <a:schemeClr val="dk2"/>
            </a:solidFill>
            <a:prstDash val="solid"/>
            <a:round/>
            <a:headEnd len="med" w="med" type="none"/>
            <a:tailEnd len="med" w="med" type="triangle"/>
          </a:ln>
        </p:spPr>
      </p:cxnSp>
      <p:cxnSp>
        <p:nvCxnSpPr>
          <p:cNvPr id="507" name="Google Shape;507;p52"/>
          <p:cNvCxnSpPr>
            <a:stCxn id="492" idx="2"/>
            <a:endCxn id="505" idx="0"/>
          </p:cNvCxnSpPr>
          <p:nvPr/>
        </p:nvCxnSpPr>
        <p:spPr>
          <a:xfrm>
            <a:off x="3059075" y="3380750"/>
            <a:ext cx="228600" cy="703200"/>
          </a:xfrm>
          <a:prstGeom prst="straightConnector1">
            <a:avLst/>
          </a:prstGeom>
          <a:noFill/>
          <a:ln cap="flat" cmpd="sng" w="9525">
            <a:solidFill>
              <a:schemeClr val="dk2"/>
            </a:solidFill>
            <a:prstDash val="solid"/>
            <a:round/>
            <a:headEnd len="med" w="med" type="none"/>
            <a:tailEnd len="med" w="med" type="triangle"/>
          </a:ln>
        </p:spPr>
      </p:cxnSp>
      <p:sp>
        <p:nvSpPr>
          <p:cNvPr id="508" name="Google Shape;508;p52"/>
          <p:cNvSpPr txBox="1"/>
          <p:nvPr/>
        </p:nvSpPr>
        <p:spPr>
          <a:xfrm>
            <a:off x="1613725" y="3518138"/>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509" name="Google Shape;509;p52"/>
          <p:cNvSpPr txBox="1"/>
          <p:nvPr/>
        </p:nvSpPr>
        <p:spPr>
          <a:xfrm>
            <a:off x="3194225" y="3518138"/>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pic>
        <p:nvPicPr>
          <p:cNvPr id="510" name="Google Shape;510;p52"/>
          <p:cNvPicPr preferRelativeResize="0"/>
          <p:nvPr/>
        </p:nvPicPr>
        <p:blipFill>
          <a:blip r:embed="rId9">
            <a:alphaModFix/>
          </a:blip>
          <a:stretch>
            <a:fillRect/>
          </a:stretch>
        </p:blipFill>
        <p:spPr>
          <a:xfrm>
            <a:off x="6955010" y="3014462"/>
            <a:ext cx="485546" cy="485546"/>
          </a:xfrm>
          <a:prstGeom prst="rect">
            <a:avLst/>
          </a:prstGeom>
          <a:noFill/>
          <a:ln>
            <a:noFill/>
          </a:ln>
        </p:spPr>
      </p:pic>
      <p:pic>
        <p:nvPicPr>
          <p:cNvPr id="511" name="Google Shape;511;p52"/>
          <p:cNvPicPr preferRelativeResize="0"/>
          <p:nvPr/>
        </p:nvPicPr>
        <p:blipFill>
          <a:blip r:embed="rId10">
            <a:alphaModFix/>
          </a:blip>
          <a:stretch>
            <a:fillRect/>
          </a:stretch>
        </p:blipFill>
        <p:spPr>
          <a:xfrm>
            <a:off x="7475044" y="3014462"/>
            <a:ext cx="485546" cy="485546"/>
          </a:xfrm>
          <a:prstGeom prst="rect">
            <a:avLst/>
          </a:prstGeom>
          <a:noFill/>
          <a:ln>
            <a:noFill/>
          </a:ln>
        </p:spPr>
      </p:pic>
      <p:pic>
        <p:nvPicPr>
          <p:cNvPr id="512" name="Google Shape;512;p52"/>
          <p:cNvPicPr preferRelativeResize="0"/>
          <p:nvPr/>
        </p:nvPicPr>
        <p:blipFill>
          <a:blip r:embed="rId11">
            <a:alphaModFix/>
          </a:blip>
          <a:stretch>
            <a:fillRect/>
          </a:stretch>
        </p:blipFill>
        <p:spPr>
          <a:xfrm>
            <a:off x="6955221" y="2447381"/>
            <a:ext cx="485546" cy="485546"/>
          </a:xfrm>
          <a:prstGeom prst="rect">
            <a:avLst/>
          </a:prstGeom>
          <a:noFill/>
          <a:ln>
            <a:noFill/>
          </a:ln>
        </p:spPr>
      </p:pic>
      <p:pic>
        <p:nvPicPr>
          <p:cNvPr id="513" name="Google Shape;513;p52"/>
          <p:cNvPicPr preferRelativeResize="0"/>
          <p:nvPr/>
        </p:nvPicPr>
        <p:blipFill rotWithShape="1">
          <a:blip r:embed="rId12">
            <a:alphaModFix/>
          </a:blip>
          <a:srcRect b="0" l="0" r="0" t="0"/>
          <a:stretch/>
        </p:blipFill>
        <p:spPr>
          <a:xfrm>
            <a:off x="7992896" y="3014462"/>
            <a:ext cx="485546" cy="485546"/>
          </a:xfrm>
          <a:prstGeom prst="rect">
            <a:avLst/>
          </a:prstGeom>
          <a:noFill/>
          <a:ln>
            <a:noFill/>
          </a:ln>
        </p:spPr>
      </p:pic>
      <p:sp>
        <p:nvSpPr>
          <p:cNvPr id="514" name="Google Shape;514;p52"/>
          <p:cNvSpPr txBox="1"/>
          <p:nvPr/>
        </p:nvSpPr>
        <p:spPr>
          <a:xfrm>
            <a:off x="6862625" y="1868043"/>
            <a:ext cx="8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Safe</a:t>
            </a:r>
            <a:endParaRPr/>
          </a:p>
        </p:txBody>
      </p:sp>
      <p:sp>
        <p:nvSpPr>
          <p:cNvPr id="515" name="Google Shape;515;p52"/>
          <p:cNvSpPr txBox="1"/>
          <p:nvPr/>
        </p:nvSpPr>
        <p:spPr>
          <a:xfrm>
            <a:off x="6933725" y="3768370"/>
            <a:ext cx="11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Poisonous</a:t>
            </a:r>
            <a:endParaRPr/>
          </a:p>
        </p:txBody>
      </p:sp>
      <p:cxnSp>
        <p:nvCxnSpPr>
          <p:cNvPr id="516" name="Google Shape;516;p52"/>
          <p:cNvCxnSpPr>
            <a:stCxn id="515" idx="1"/>
            <a:endCxn id="510" idx="1"/>
          </p:cNvCxnSpPr>
          <p:nvPr/>
        </p:nvCxnSpPr>
        <p:spPr>
          <a:xfrm flipH="1" rot="10800000">
            <a:off x="6933725" y="3257170"/>
            <a:ext cx="21300" cy="711300"/>
          </a:xfrm>
          <a:prstGeom prst="curvedConnector3">
            <a:avLst>
              <a:gd fmla="val -1117958" name="adj1"/>
            </a:avLst>
          </a:prstGeom>
          <a:noFill/>
          <a:ln cap="flat" cmpd="sng" w="9525">
            <a:solidFill>
              <a:schemeClr val="dk2"/>
            </a:solidFill>
            <a:prstDash val="solid"/>
            <a:round/>
            <a:headEnd len="med" w="med" type="none"/>
            <a:tailEnd len="med" w="med" type="stealth"/>
          </a:ln>
        </p:spPr>
      </p:cxnSp>
      <p:cxnSp>
        <p:nvCxnSpPr>
          <p:cNvPr id="517" name="Google Shape;517;p52"/>
          <p:cNvCxnSpPr>
            <a:stCxn id="514" idx="1"/>
            <a:endCxn id="512" idx="1"/>
          </p:cNvCxnSpPr>
          <p:nvPr/>
        </p:nvCxnSpPr>
        <p:spPr>
          <a:xfrm>
            <a:off x="6862625" y="2068143"/>
            <a:ext cx="92700" cy="621900"/>
          </a:xfrm>
          <a:prstGeom prst="curvedConnector3">
            <a:avLst>
              <a:gd fmla="val -256877"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 Again, Based on Body Shape</a:t>
            </a:r>
            <a:endParaRPr/>
          </a:p>
        </p:txBody>
      </p:sp>
      <p:sp>
        <p:nvSpPr>
          <p:cNvPr id="523" name="Google Shape;52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24" name="Google Shape;524;p53"/>
          <p:cNvPicPr preferRelativeResize="0"/>
          <p:nvPr/>
        </p:nvPicPr>
        <p:blipFill>
          <a:blip r:embed="rId3">
            <a:alphaModFix/>
          </a:blip>
          <a:stretch>
            <a:fillRect/>
          </a:stretch>
        </p:blipFill>
        <p:spPr>
          <a:xfrm>
            <a:off x="8591585" y="3181965"/>
            <a:ext cx="485546" cy="485546"/>
          </a:xfrm>
          <a:prstGeom prst="rect">
            <a:avLst/>
          </a:prstGeom>
          <a:noFill/>
          <a:ln>
            <a:noFill/>
          </a:ln>
        </p:spPr>
      </p:pic>
      <p:pic>
        <p:nvPicPr>
          <p:cNvPr id="525" name="Google Shape;525;p53"/>
          <p:cNvPicPr preferRelativeResize="0"/>
          <p:nvPr/>
        </p:nvPicPr>
        <p:blipFill>
          <a:blip r:embed="rId4">
            <a:alphaModFix/>
          </a:blip>
          <a:stretch>
            <a:fillRect/>
          </a:stretch>
        </p:blipFill>
        <p:spPr>
          <a:xfrm>
            <a:off x="8591569" y="4277962"/>
            <a:ext cx="485546" cy="485546"/>
          </a:xfrm>
          <a:prstGeom prst="rect">
            <a:avLst/>
          </a:prstGeom>
          <a:noFill/>
          <a:ln>
            <a:noFill/>
          </a:ln>
        </p:spPr>
      </p:pic>
      <p:pic>
        <p:nvPicPr>
          <p:cNvPr id="526" name="Google Shape;526;p53"/>
          <p:cNvPicPr preferRelativeResize="0"/>
          <p:nvPr/>
        </p:nvPicPr>
        <p:blipFill>
          <a:blip r:embed="rId5">
            <a:alphaModFix/>
          </a:blip>
          <a:stretch>
            <a:fillRect/>
          </a:stretch>
        </p:blipFill>
        <p:spPr>
          <a:xfrm>
            <a:off x="6621421" y="4175381"/>
            <a:ext cx="485546" cy="485546"/>
          </a:xfrm>
          <a:prstGeom prst="rect">
            <a:avLst/>
          </a:prstGeom>
          <a:noFill/>
          <a:ln>
            <a:noFill/>
          </a:ln>
        </p:spPr>
      </p:pic>
      <p:pic>
        <p:nvPicPr>
          <p:cNvPr id="527" name="Google Shape;527;p53"/>
          <p:cNvPicPr preferRelativeResize="0"/>
          <p:nvPr/>
        </p:nvPicPr>
        <p:blipFill rotWithShape="1">
          <a:blip r:embed="rId6">
            <a:alphaModFix/>
          </a:blip>
          <a:srcRect b="0" l="0" r="0" t="0"/>
          <a:stretch/>
        </p:blipFill>
        <p:spPr>
          <a:xfrm>
            <a:off x="8591577" y="3729962"/>
            <a:ext cx="485546" cy="485546"/>
          </a:xfrm>
          <a:prstGeom prst="rect">
            <a:avLst/>
          </a:prstGeom>
          <a:noFill/>
          <a:ln>
            <a:noFill/>
          </a:ln>
        </p:spPr>
      </p:pic>
      <p:sp>
        <p:nvSpPr>
          <p:cNvPr id="528" name="Google Shape;528;p53"/>
          <p:cNvSpPr/>
          <p:nvPr/>
        </p:nvSpPr>
        <p:spPr>
          <a:xfrm>
            <a:off x="3628325" y="1271288"/>
            <a:ext cx="1506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Dorsal Fin = Lens</a:t>
            </a:r>
            <a:endParaRPr/>
          </a:p>
        </p:txBody>
      </p:sp>
      <p:sp>
        <p:nvSpPr>
          <p:cNvPr id="529" name="Google Shape;529;p53"/>
          <p:cNvSpPr/>
          <p:nvPr/>
        </p:nvSpPr>
        <p:spPr>
          <a:xfrm>
            <a:off x="24496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Pectoral Fin = Curved</a:t>
            </a:r>
            <a:endParaRPr/>
          </a:p>
        </p:txBody>
      </p:sp>
      <p:cxnSp>
        <p:nvCxnSpPr>
          <p:cNvPr id="530" name="Google Shape;530;p53"/>
          <p:cNvCxnSpPr>
            <a:stCxn id="528" idx="2"/>
            <a:endCxn id="529" idx="0"/>
          </p:cNvCxnSpPr>
          <p:nvPr/>
        </p:nvCxnSpPr>
        <p:spPr>
          <a:xfrm flipH="1">
            <a:off x="3059225" y="1843988"/>
            <a:ext cx="1322400" cy="868500"/>
          </a:xfrm>
          <a:prstGeom prst="straightConnector1">
            <a:avLst/>
          </a:prstGeom>
          <a:noFill/>
          <a:ln cap="flat" cmpd="sng" w="9525">
            <a:solidFill>
              <a:schemeClr val="dk2"/>
            </a:solidFill>
            <a:prstDash val="solid"/>
            <a:round/>
            <a:headEnd len="med" w="med" type="none"/>
            <a:tailEnd len="med" w="med" type="triangle"/>
          </a:ln>
        </p:spPr>
      </p:cxnSp>
      <p:cxnSp>
        <p:nvCxnSpPr>
          <p:cNvPr id="531" name="Google Shape;531;p53"/>
          <p:cNvCxnSpPr>
            <a:stCxn id="528" idx="2"/>
            <a:endCxn id="532" idx="0"/>
          </p:cNvCxnSpPr>
          <p:nvPr/>
        </p:nvCxnSpPr>
        <p:spPr>
          <a:xfrm>
            <a:off x="4381625" y="1843988"/>
            <a:ext cx="1420800" cy="868500"/>
          </a:xfrm>
          <a:prstGeom prst="straightConnector1">
            <a:avLst/>
          </a:prstGeom>
          <a:noFill/>
          <a:ln cap="flat" cmpd="sng" w="9525">
            <a:solidFill>
              <a:schemeClr val="dk2"/>
            </a:solidFill>
            <a:prstDash val="solid"/>
            <a:round/>
            <a:headEnd len="med" w="med" type="none"/>
            <a:tailEnd len="med" w="med" type="triangle"/>
          </a:ln>
        </p:spPr>
      </p:cxnSp>
      <p:pic>
        <p:nvPicPr>
          <p:cNvPr id="533" name="Google Shape;533;p53"/>
          <p:cNvPicPr preferRelativeResize="0"/>
          <p:nvPr/>
        </p:nvPicPr>
        <p:blipFill>
          <a:blip r:embed="rId7">
            <a:alphaModFix/>
          </a:blip>
          <a:stretch>
            <a:fillRect/>
          </a:stretch>
        </p:blipFill>
        <p:spPr>
          <a:xfrm>
            <a:off x="3945847" y="4514031"/>
            <a:ext cx="485546" cy="485546"/>
          </a:xfrm>
          <a:prstGeom prst="rect">
            <a:avLst/>
          </a:prstGeom>
          <a:noFill/>
          <a:ln>
            <a:noFill/>
          </a:ln>
        </p:spPr>
      </p:pic>
      <p:pic>
        <p:nvPicPr>
          <p:cNvPr id="534" name="Google Shape;534;p53"/>
          <p:cNvPicPr preferRelativeResize="0"/>
          <p:nvPr/>
        </p:nvPicPr>
        <p:blipFill>
          <a:blip r:embed="rId8">
            <a:alphaModFix/>
          </a:blip>
          <a:stretch>
            <a:fillRect/>
          </a:stretch>
        </p:blipFill>
        <p:spPr>
          <a:xfrm>
            <a:off x="82980" y="4177687"/>
            <a:ext cx="485546" cy="485546"/>
          </a:xfrm>
          <a:prstGeom prst="rect">
            <a:avLst/>
          </a:prstGeom>
          <a:noFill/>
          <a:ln>
            <a:noFill/>
          </a:ln>
        </p:spPr>
      </p:pic>
      <p:pic>
        <p:nvPicPr>
          <p:cNvPr id="535" name="Google Shape;535;p53"/>
          <p:cNvPicPr preferRelativeResize="0"/>
          <p:nvPr/>
        </p:nvPicPr>
        <p:blipFill>
          <a:blip r:embed="rId9">
            <a:alphaModFix/>
          </a:blip>
          <a:stretch>
            <a:fillRect/>
          </a:stretch>
        </p:blipFill>
        <p:spPr>
          <a:xfrm>
            <a:off x="4467985" y="3980631"/>
            <a:ext cx="485546" cy="485546"/>
          </a:xfrm>
          <a:prstGeom prst="rect">
            <a:avLst/>
          </a:prstGeom>
          <a:noFill/>
          <a:ln>
            <a:noFill/>
          </a:ln>
        </p:spPr>
      </p:pic>
      <p:pic>
        <p:nvPicPr>
          <p:cNvPr id="536" name="Google Shape;536;p53"/>
          <p:cNvPicPr preferRelativeResize="0"/>
          <p:nvPr/>
        </p:nvPicPr>
        <p:blipFill>
          <a:blip r:embed="rId10">
            <a:alphaModFix/>
          </a:blip>
          <a:stretch>
            <a:fillRect/>
          </a:stretch>
        </p:blipFill>
        <p:spPr>
          <a:xfrm>
            <a:off x="3948533" y="3980631"/>
            <a:ext cx="485546" cy="485546"/>
          </a:xfrm>
          <a:prstGeom prst="rect">
            <a:avLst/>
          </a:prstGeom>
          <a:noFill/>
          <a:ln>
            <a:noFill/>
          </a:ln>
        </p:spPr>
      </p:pic>
      <p:pic>
        <p:nvPicPr>
          <p:cNvPr id="537" name="Google Shape;537;p53"/>
          <p:cNvPicPr preferRelativeResize="0"/>
          <p:nvPr/>
        </p:nvPicPr>
        <p:blipFill>
          <a:blip r:embed="rId11">
            <a:alphaModFix/>
          </a:blip>
          <a:stretch>
            <a:fillRect/>
          </a:stretch>
        </p:blipFill>
        <p:spPr>
          <a:xfrm>
            <a:off x="4465092" y="4514031"/>
            <a:ext cx="485546" cy="485546"/>
          </a:xfrm>
          <a:prstGeom prst="rect">
            <a:avLst/>
          </a:prstGeom>
          <a:noFill/>
          <a:ln>
            <a:noFill/>
          </a:ln>
        </p:spPr>
      </p:pic>
      <p:pic>
        <p:nvPicPr>
          <p:cNvPr id="538" name="Google Shape;538;p53"/>
          <p:cNvPicPr preferRelativeResize="0"/>
          <p:nvPr/>
        </p:nvPicPr>
        <p:blipFill rotWithShape="1">
          <a:blip r:embed="rId12">
            <a:alphaModFix/>
          </a:blip>
          <a:srcRect b="0" l="0" r="0" t="0"/>
          <a:stretch/>
        </p:blipFill>
        <p:spPr>
          <a:xfrm>
            <a:off x="617224" y="4177687"/>
            <a:ext cx="485546" cy="485546"/>
          </a:xfrm>
          <a:prstGeom prst="rect">
            <a:avLst/>
          </a:prstGeom>
          <a:noFill/>
          <a:ln>
            <a:noFill/>
          </a:ln>
        </p:spPr>
      </p:pic>
      <p:sp>
        <p:nvSpPr>
          <p:cNvPr id="532" name="Google Shape;532;p53"/>
          <p:cNvSpPr/>
          <p:nvPr/>
        </p:nvSpPr>
        <p:spPr>
          <a:xfrm>
            <a:off x="5192825" y="2712350"/>
            <a:ext cx="1218900" cy="6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Body Shape = Egg</a:t>
            </a:r>
            <a:endParaRPr/>
          </a:p>
        </p:txBody>
      </p:sp>
      <p:sp>
        <p:nvSpPr>
          <p:cNvPr id="539" name="Google Shape;539;p53"/>
          <p:cNvSpPr txBox="1"/>
          <p:nvPr/>
        </p:nvSpPr>
        <p:spPr>
          <a:xfrm>
            <a:off x="2870975" y="2060775"/>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540" name="Google Shape;540;p53"/>
          <p:cNvSpPr txBox="1"/>
          <p:nvPr/>
        </p:nvSpPr>
        <p:spPr>
          <a:xfrm>
            <a:off x="5385575" y="2060775"/>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sp>
        <p:nvSpPr>
          <p:cNvPr id="541" name="Google Shape;541;p53"/>
          <p:cNvSpPr/>
          <p:nvPr/>
        </p:nvSpPr>
        <p:spPr>
          <a:xfrm>
            <a:off x="1154225" y="4083950"/>
            <a:ext cx="1218900" cy="6684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Poisonous</a:t>
            </a:r>
            <a:endParaRPr/>
          </a:p>
        </p:txBody>
      </p:sp>
      <p:sp>
        <p:nvSpPr>
          <p:cNvPr id="542" name="Google Shape;542;p53"/>
          <p:cNvSpPr/>
          <p:nvPr/>
        </p:nvSpPr>
        <p:spPr>
          <a:xfrm>
            <a:off x="2678225" y="4083950"/>
            <a:ext cx="1218900" cy="6684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Safe</a:t>
            </a:r>
            <a:endParaRPr/>
          </a:p>
        </p:txBody>
      </p:sp>
      <p:cxnSp>
        <p:nvCxnSpPr>
          <p:cNvPr id="543" name="Google Shape;543;p53"/>
          <p:cNvCxnSpPr>
            <a:stCxn id="529" idx="2"/>
            <a:endCxn id="541" idx="0"/>
          </p:cNvCxnSpPr>
          <p:nvPr/>
        </p:nvCxnSpPr>
        <p:spPr>
          <a:xfrm flipH="1">
            <a:off x="1763675" y="3380750"/>
            <a:ext cx="1295400" cy="703200"/>
          </a:xfrm>
          <a:prstGeom prst="straightConnector1">
            <a:avLst/>
          </a:prstGeom>
          <a:noFill/>
          <a:ln cap="flat" cmpd="sng" w="9525">
            <a:solidFill>
              <a:schemeClr val="dk2"/>
            </a:solidFill>
            <a:prstDash val="solid"/>
            <a:round/>
            <a:headEnd len="med" w="med" type="none"/>
            <a:tailEnd len="med" w="med" type="triangle"/>
          </a:ln>
        </p:spPr>
      </p:cxnSp>
      <p:cxnSp>
        <p:nvCxnSpPr>
          <p:cNvPr id="544" name="Google Shape;544;p53"/>
          <p:cNvCxnSpPr>
            <a:stCxn id="529" idx="2"/>
            <a:endCxn id="542" idx="0"/>
          </p:cNvCxnSpPr>
          <p:nvPr/>
        </p:nvCxnSpPr>
        <p:spPr>
          <a:xfrm>
            <a:off x="3059075" y="3380750"/>
            <a:ext cx="228600" cy="703200"/>
          </a:xfrm>
          <a:prstGeom prst="straightConnector1">
            <a:avLst/>
          </a:prstGeom>
          <a:noFill/>
          <a:ln cap="flat" cmpd="sng" w="9525">
            <a:solidFill>
              <a:schemeClr val="dk2"/>
            </a:solidFill>
            <a:prstDash val="solid"/>
            <a:round/>
            <a:headEnd len="med" w="med" type="none"/>
            <a:tailEnd len="med" w="med" type="triangle"/>
          </a:ln>
        </p:spPr>
      </p:cxnSp>
      <p:sp>
        <p:nvSpPr>
          <p:cNvPr id="545" name="Google Shape;545;p53"/>
          <p:cNvSpPr txBox="1"/>
          <p:nvPr/>
        </p:nvSpPr>
        <p:spPr>
          <a:xfrm>
            <a:off x="1613725" y="3518138"/>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546" name="Google Shape;546;p53"/>
          <p:cNvSpPr txBox="1"/>
          <p:nvPr/>
        </p:nvSpPr>
        <p:spPr>
          <a:xfrm>
            <a:off x="3194225" y="3518138"/>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sp>
        <p:nvSpPr>
          <p:cNvPr id="547" name="Google Shape;547;p53"/>
          <p:cNvSpPr/>
          <p:nvPr/>
        </p:nvSpPr>
        <p:spPr>
          <a:xfrm>
            <a:off x="5345225" y="4083950"/>
            <a:ext cx="1218900" cy="6684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Safe</a:t>
            </a:r>
            <a:endParaRPr/>
          </a:p>
        </p:txBody>
      </p:sp>
      <p:sp>
        <p:nvSpPr>
          <p:cNvPr id="548" name="Google Shape;548;p53"/>
          <p:cNvSpPr/>
          <p:nvPr/>
        </p:nvSpPr>
        <p:spPr>
          <a:xfrm>
            <a:off x="7326425" y="4083950"/>
            <a:ext cx="1218900" cy="6684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Poisonous</a:t>
            </a:r>
            <a:endParaRPr/>
          </a:p>
        </p:txBody>
      </p:sp>
      <p:cxnSp>
        <p:nvCxnSpPr>
          <p:cNvPr id="549" name="Google Shape;549;p53"/>
          <p:cNvCxnSpPr>
            <a:stCxn id="532" idx="2"/>
            <a:endCxn id="547" idx="0"/>
          </p:cNvCxnSpPr>
          <p:nvPr/>
        </p:nvCxnSpPr>
        <p:spPr>
          <a:xfrm>
            <a:off x="5802275" y="3380750"/>
            <a:ext cx="152400" cy="703200"/>
          </a:xfrm>
          <a:prstGeom prst="straightConnector1">
            <a:avLst/>
          </a:prstGeom>
          <a:noFill/>
          <a:ln cap="flat" cmpd="sng" w="9525">
            <a:solidFill>
              <a:schemeClr val="dk2"/>
            </a:solidFill>
            <a:prstDash val="solid"/>
            <a:round/>
            <a:headEnd len="med" w="med" type="none"/>
            <a:tailEnd len="med" w="med" type="triangle"/>
          </a:ln>
        </p:spPr>
      </p:cxnSp>
      <p:cxnSp>
        <p:nvCxnSpPr>
          <p:cNvPr id="550" name="Google Shape;550;p53"/>
          <p:cNvCxnSpPr>
            <a:stCxn id="532" idx="2"/>
            <a:endCxn id="548" idx="0"/>
          </p:cNvCxnSpPr>
          <p:nvPr/>
        </p:nvCxnSpPr>
        <p:spPr>
          <a:xfrm>
            <a:off x="5802275" y="3380750"/>
            <a:ext cx="2133600" cy="703200"/>
          </a:xfrm>
          <a:prstGeom prst="straightConnector1">
            <a:avLst/>
          </a:prstGeom>
          <a:noFill/>
          <a:ln cap="flat" cmpd="sng" w="9525">
            <a:solidFill>
              <a:schemeClr val="dk2"/>
            </a:solidFill>
            <a:prstDash val="solid"/>
            <a:round/>
            <a:headEnd len="med" w="med" type="none"/>
            <a:tailEnd len="med" w="med" type="triangle"/>
          </a:ln>
        </p:spPr>
      </p:cxnSp>
      <p:sp>
        <p:nvSpPr>
          <p:cNvPr id="551" name="Google Shape;551;p53"/>
          <p:cNvSpPr txBox="1"/>
          <p:nvPr/>
        </p:nvSpPr>
        <p:spPr>
          <a:xfrm>
            <a:off x="5347525" y="3518138"/>
            <a:ext cx="5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True</a:t>
            </a:r>
            <a:endParaRPr/>
          </a:p>
        </p:txBody>
      </p:sp>
      <p:sp>
        <p:nvSpPr>
          <p:cNvPr id="552" name="Google Shape;552;p53"/>
          <p:cNvSpPr txBox="1"/>
          <p:nvPr/>
        </p:nvSpPr>
        <p:spPr>
          <a:xfrm>
            <a:off x="7080425" y="3518138"/>
            <a:ext cx="7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False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The Best We Can Do?</a:t>
            </a:r>
            <a:endParaRPr/>
          </a:p>
        </p:txBody>
      </p:sp>
      <p:sp>
        <p:nvSpPr>
          <p:cNvPr id="558" name="Google Shape;558;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Try making your own decision tree classifier for poisonous fish.</a:t>
            </a:r>
            <a:endParaRPr/>
          </a:p>
          <a:p>
            <a:pPr indent="-317500" lvl="1" marL="914400" rtl="0" algn="l">
              <a:spcBef>
                <a:spcPts val="0"/>
              </a:spcBef>
              <a:spcAft>
                <a:spcPts val="0"/>
              </a:spcAft>
              <a:buSzPts val="1400"/>
              <a:buChar char="○"/>
            </a:pPr>
            <a:r>
              <a:rPr lang="en"/>
              <a:t>Choosing different feature tests may lead to a simpler tree, or a more complex one.</a:t>
            </a:r>
            <a:br>
              <a:rPr lang="en"/>
            </a:br>
            <a:br>
              <a:rPr lang="en"/>
            </a:br>
            <a:endParaRPr/>
          </a:p>
          <a:p>
            <a:pPr indent="-342900" lvl="0" marL="457200" rtl="0" algn="l">
              <a:spcBef>
                <a:spcPts val="0"/>
              </a:spcBef>
              <a:spcAft>
                <a:spcPts val="0"/>
              </a:spcAft>
              <a:buSzPts val="1800"/>
              <a:buChar char="●"/>
            </a:pPr>
            <a:r>
              <a:rPr lang="en"/>
              <a:t>What about asking the computer to create a decision tree for us?</a:t>
            </a:r>
            <a:endParaRPr/>
          </a:p>
          <a:p>
            <a:pPr indent="-317500" lvl="1" marL="914400" rtl="0" algn="l">
              <a:spcBef>
                <a:spcPts val="0"/>
              </a:spcBef>
              <a:spcAft>
                <a:spcPts val="0"/>
              </a:spcAft>
              <a:buSzPts val="1400"/>
              <a:buChar char="○"/>
            </a:pPr>
            <a:r>
              <a:rPr lang="en"/>
              <a:t>We can use the “Machine Learning for Kids” web site for that.</a:t>
            </a:r>
            <a:endParaRPr/>
          </a:p>
        </p:txBody>
      </p:sp>
      <p:sp>
        <p:nvSpPr>
          <p:cNvPr id="559" name="Google Shape;55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Machine Learning for Kids</a:t>
            </a:r>
            <a:endParaRPr/>
          </a:p>
        </p:txBody>
      </p:sp>
      <p:sp>
        <p:nvSpPr>
          <p:cNvPr id="565" name="Google Shape;56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55"/>
          <p:cNvSpPr txBox="1"/>
          <p:nvPr/>
        </p:nvSpPr>
        <p:spPr>
          <a:xfrm>
            <a:off x="6056550" y="65000"/>
            <a:ext cx="380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https://machinelearningforkids.co.uk</a:t>
            </a:r>
            <a:endParaRPr/>
          </a:p>
        </p:txBody>
      </p:sp>
      <p:pic>
        <p:nvPicPr>
          <p:cNvPr id="567" name="Google Shape;567;p55"/>
          <p:cNvPicPr preferRelativeResize="0"/>
          <p:nvPr/>
        </p:nvPicPr>
        <p:blipFill>
          <a:blip r:embed="rId4">
            <a:alphaModFix/>
          </a:blip>
          <a:stretch>
            <a:fillRect/>
          </a:stretch>
        </p:blipFill>
        <p:spPr>
          <a:xfrm>
            <a:off x="243894" y="1351100"/>
            <a:ext cx="5666782" cy="5613900"/>
          </a:xfrm>
          <a:prstGeom prst="rect">
            <a:avLst/>
          </a:prstGeom>
          <a:noFill/>
          <a:ln>
            <a:noFill/>
          </a:ln>
        </p:spPr>
      </p:pic>
      <p:pic>
        <p:nvPicPr>
          <p:cNvPr id="568" name="Google Shape;568;p55"/>
          <p:cNvPicPr preferRelativeResize="0"/>
          <p:nvPr/>
        </p:nvPicPr>
        <p:blipFill>
          <a:blip r:embed="rId5">
            <a:alphaModFix/>
          </a:blip>
          <a:stretch>
            <a:fillRect/>
          </a:stretch>
        </p:blipFill>
        <p:spPr>
          <a:xfrm>
            <a:off x="7649550" y="2151675"/>
            <a:ext cx="1371600" cy="1371600"/>
          </a:xfrm>
          <a:prstGeom prst="rect">
            <a:avLst/>
          </a:prstGeom>
          <a:noFill/>
          <a:ln>
            <a:noFill/>
          </a:ln>
        </p:spPr>
      </p:pic>
      <p:pic>
        <p:nvPicPr>
          <p:cNvPr id="569" name="Google Shape;569;p55"/>
          <p:cNvPicPr preferRelativeResize="0"/>
          <p:nvPr/>
        </p:nvPicPr>
        <p:blipFill>
          <a:blip r:embed="rId6">
            <a:alphaModFix/>
          </a:blip>
          <a:stretch>
            <a:fillRect/>
          </a:stretch>
        </p:blipFill>
        <p:spPr>
          <a:xfrm>
            <a:off x="6155932" y="2151675"/>
            <a:ext cx="1371600" cy="1371600"/>
          </a:xfrm>
          <a:prstGeom prst="rect">
            <a:avLst/>
          </a:prstGeom>
          <a:noFill/>
          <a:ln>
            <a:noFill/>
          </a:ln>
        </p:spPr>
      </p:pic>
      <p:pic>
        <p:nvPicPr>
          <p:cNvPr id="570" name="Google Shape;570;p55"/>
          <p:cNvPicPr preferRelativeResize="0"/>
          <p:nvPr/>
        </p:nvPicPr>
        <p:blipFill>
          <a:blip r:embed="rId7">
            <a:alphaModFix/>
          </a:blip>
          <a:stretch>
            <a:fillRect/>
          </a:stretch>
        </p:blipFill>
        <p:spPr>
          <a:xfrm>
            <a:off x="6155925" y="465200"/>
            <a:ext cx="1371600" cy="1371600"/>
          </a:xfrm>
          <a:prstGeom prst="rect">
            <a:avLst/>
          </a:prstGeom>
          <a:noFill/>
          <a:ln>
            <a:noFill/>
          </a:ln>
        </p:spPr>
      </p:pic>
      <p:pic>
        <p:nvPicPr>
          <p:cNvPr id="571" name="Google Shape;571;p55"/>
          <p:cNvPicPr preferRelativeResize="0"/>
          <p:nvPr/>
        </p:nvPicPr>
        <p:blipFill>
          <a:blip r:embed="rId8">
            <a:alphaModFix/>
          </a:blip>
          <a:stretch>
            <a:fillRect/>
          </a:stretch>
        </p:blipFill>
        <p:spPr>
          <a:xfrm>
            <a:off x="7649550" y="465200"/>
            <a:ext cx="1371600" cy="1371600"/>
          </a:xfrm>
          <a:prstGeom prst="rect">
            <a:avLst/>
          </a:prstGeom>
          <a:noFill/>
          <a:ln>
            <a:noFill/>
          </a:ln>
        </p:spPr>
      </p:pic>
      <p:pic>
        <p:nvPicPr>
          <p:cNvPr id="572" name="Google Shape;572;p55"/>
          <p:cNvPicPr preferRelativeResize="0"/>
          <p:nvPr/>
        </p:nvPicPr>
        <p:blipFill>
          <a:blip r:embed="rId9">
            <a:alphaModFix/>
          </a:blip>
          <a:stretch>
            <a:fillRect/>
          </a:stretch>
        </p:blipFill>
        <p:spPr>
          <a:xfrm>
            <a:off x="7118693" y="3727600"/>
            <a:ext cx="1371600" cy="1371600"/>
          </a:xfrm>
          <a:prstGeom prst="rect">
            <a:avLst/>
          </a:prstGeom>
          <a:noFill/>
          <a:ln>
            <a:noFill/>
          </a:ln>
        </p:spPr>
      </p:pic>
      <p:sp>
        <p:nvSpPr>
          <p:cNvPr id="573" name="Google Shape;573;p55"/>
          <p:cNvSpPr txBox="1"/>
          <p:nvPr/>
        </p:nvSpPr>
        <p:spPr>
          <a:xfrm>
            <a:off x="599425" y="879800"/>
            <a:ext cx="33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10"/>
              </a:rPr>
              <a:t>Link to fish demo video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6"/>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Machine Learning for Kids </a:t>
            </a:r>
            <a:endParaRPr/>
          </a:p>
        </p:txBody>
      </p:sp>
      <p:sp>
        <p:nvSpPr>
          <p:cNvPr id="579" name="Google Shape;57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80" name="Google Shape;580;p56"/>
          <p:cNvPicPr preferRelativeResize="0"/>
          <p:nvPr/>
        </p:nvPicPr>
        <p:blipFill>
          <a:blip r:embed="rId3">
            <a:alphaModFix/>
          </a:blip>
          <a:stretch>
            <a:fillRect/>
          </a:stretch>
        </p:blipFill>
        <p:spPr>
          <a:xfrm>
            <a:off x="295275" y="1303475"/>
            <a:ext cx="5669281" cy="4554321"/>
          </a:xfrm>
          <a:prstGeom prst="rect">
            <a:avLst/>
          </a:prstGeom>
          <a:noFill/>
          <a:ln>
            <a:noFill/>
          </a:ln>
        </p:spPr>
      </p:pic>
      <p:pic>
        <p:nvPicPr>
          <p:cNvPr id="581" name="Google Shape;581;p56"/>
          <p:cNvPicPr preferRelativeResize="0"/>
          <p:nvPr/>
        </p:nvPicPr>
        <p:blipFill>
          <a:blip r:embed="rId4">
            <a:alphaModFix/>
          </a:blip>
          <a:stretch>
            <a:fillRect/>
          </a:stretch>
        </p:blipFill>
        <p:spPr>
          <a:xfrm>
            <a:off x="5964550" y="492125"/>
            <a:ext cx="1371600" cy="1371600"/>
          </a:xfrm>
          <a:prstGeom prst="rect">
            <a:avLst/>
          </a:prstGeom>
          <a:noFill/>
          <a:ln>
            <a:noFill/>
          </a:ln>
        </p:spPr>
      </p:pic>
      <p:pic>
        <p:nvPicPr>
          <p:cNvPr id="582" name="Google Shape;582;p56"/>
          <p:cNvPicPr preferRelativeResize="0"/>
          <p:nvPr/>
        </p:nvPicPr>
        <p:blipFill>
          <a:blip r:embed="rId5">
            <a:alphaModFix/>
          </a:blip>
          <a:stretch>
            <a:fillRect/>
          </a:stretch>
        </p:blipFill>
        <p:spPr>
          <a:xfrm>
            <a:off x="7540200" y="492125"/>
            <a:ext cx="1371600" cy="1371600"/>
          </a:xfrm>
          <a:prstGeom prst="rect">
            <a:avLst/>
          </a:prstGeom>
          <a:noFill/>
          <a:ln>
            <a:noFill/>
          </a:ln>
        </p:spPr>
      </p:pic>
      <p:pic>
        <p:nvPicPr>
          <p:cNvPr id="583" name="Google Shape;583;p56"/>
          <p:cNvPicPr preferRelativeResize="0"/>
          <p:nvPr/>
        </p:nvPicPr>
        <p:blipFill rotWithShape="1">
          <a:blip r:embed="rId6">
            <a:alphaModFix/>
          </a:blip>
          <a:srcRect b="0" l="0" r="0" t="0"/>
          <a:stretch/>
        </p:blipFill>
        <p:spPr>
          <a:xfrm>
            <a:off x="6669525" y="3685225"/>
            <a:ext cx="1371600" cy="1371600"/>
          </a:xfrm>
          <a:prstGeom prst="rect">
            <a:avLst/>
          </a:prstGeom>
          <a:noFill/>
          <a:ln>
            <a:noFill/>
          </a:ln>
        </p:spPr>
      </p:pic>
      <p:pic>
        <p:nvPicPr>
          <p:cNvPr id="584" name="Google Shape;584;p56"/>
          <p:cNvPicPr preferRelativeResize="0"/>
          <p:nvPr/>
        </p:nvPicPr>
        <p:blipFill rotWithShape="1">
          <a:blip r:embed="rId7">
            <a:alphaModFix/>
          </a:blip>
          <a:srcRect b="0" l="0" r="0" t="0"/>
          <a:stretch/>
        </p:blipFill>
        <p:spPr>
          <a:xfrm>
            <a:off x="7540200" y="2118675"/>
            <a:ext cx="1371600" cy="1371600"/>
          </a:xfrm>
          <a:prstGeom prst="rect">
            <a:avLst/>
          </a:prstGeom>
          <a:noFill/>
          <a:ln>
            <a:noFill/>
          </a:ln>
        </p:spPr>
      </p:pic>
      <p:pic>
        <p:nvPicPr>
          <p:cNvPr id="585" name="Google Shape;585;p56"/>
          <p:cNvPicPr preferRelativeResize="0"/>
          <p:nvPr/>
        </p:nvPicPr>
        <p:blipFill>
          <a:blip r:embed="rId8">
            <a:alphaModFix/>
          </a:blip>
          <a:stretch>
            <a:fillRect/>
          </a:stretch>
        </p:blipFill>
        <p:spPr>
          <a:xfrm>
            <a:off x="5964538" y="2118675"/>
            <a:ext cx="1371600" cy="1371600"/>
          </a:xfrm>
          <a:prstGeom prst="rect">
            <a:avLst/>
          </a:prstGeom>
          <a:noFill/>
          <a:ln>
            <a:noFill/>
          </a:ln>
        </p:spPr>
      </p:pic>
      <p:sp>
        <p:nvSpPr>
          <p:cNvPr id="586" name="Google Shape;586;p56"/>
          <p:cNvSpPr txBox="1"/>
          <p:nvPr/>
        </p:nvSpPr>
        <p:spPr>
          <a:xfrm>
            <a:off x="599425" y="879800"/>
            <a:ext cx="33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9"/>
              </a:rPr>
              <a:t>Link to fish demo video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Computer-generated decision tree: what does this mean?</a:t>
            </a:r>
            <a:endParaRPr/>
          </a:p>
        </p:txBody>
      </p:sp>
      <p:sp>
        <p:nvSpPr>
          <p:cNvPr id="592" name="Google Shape;59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93" name="Google Shape;593;p57"/>
          <p:cNvPicPr preferRelativeResize="0"/>
          <p:nvPr/>
        </p:nvPicPr>
        <p:blipFill rotWithShape="1">
          <a:blip r:embed="rId3">
            <a:alphaModFix/>
          </a:blip>
          <a:srcRect b="0" l="0" r="0" t="990"/>
          <a:stretch/>
        </p:blipFill>
        <p:spPr>
          <a:xfrm>
            <a:off x="1653200" y="1123000"/>
            <a:ext cx="5160349" cy="36938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in our notation</a:t>
            </a:r>
            <a:endParaRPr/>
          </a:p>
        </p:txBody>
      </p:sp>
      <p:sp>
        <p:nvSpPr>
          <p:cNvPr id="599" name="Google Shape;599;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58"/>
          <p:cNvSpPr/>
          <p:nvPr/>
        </p:nvSpPr>
        <p:spPr>
          <a:xfrm>
            <a:off x="3654850" y="2110050"/>
            <a:ext cx="11562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type triangle?</a:t>
            </a:r>
            <a:endParaRPr sz="1600"/>
          </a:p>
        </p:txBody>
      </p:sp>
      <p:sp>
        <p:nvSpPr>
          <p:cNvPr id="601" name="Google Shape;601;p58"/>
          <p:cNvSpPr/>
          <p:nvPr/>
        </p:nvSpPr>
        <p:spPr>
          <a:xfrm>
            <a:off x="4767750" y="840950"/>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Pectoral fins smooth?</a:t>
            </a:r>
            <a:endParaRPr sz="1600"/>
          </a:p>
        </p:txBody>
      </p:sp>
      <p:cxnSp>
        <p:nvCxnSpPr>
          <p:cNvPr id="602" name="Google Shape;602;p58"/>
          <p:cNvCxnSpPr/>
          <p:nvPr/>
        </p:nvCxnSpPr>
        <p:spPr>
          <a:xfrm flipH="1">
            <a:off x="4448300" y="1413650"/>
            <a:ext cx="628200" cy="672300"/>
          </a:xfrm>
          <a:prstGeom prst="straightConnector1">
            <a:avLst/>
          </a:prstGeom>
          <a:noFill/>
          <a:ln cap="flat" cmpd="sng" w="19050">
            <a:solidFill>
              <a:schemeClr val="dk2"/>
            </a:solidFill>
            <a:prstDash val="solid"/>
            <a:round/>
            <a:headEnd len="med" w="med" type="none"/>
            <a:tailEnd len="med" w="med" type="triangle"/>
          </a:ln>
        </p:spPr>
      </p:cxnSp>
      <p:cxnSp>
        <p:nvCxnSpPr>
          <p:cNvPr id="603" name="Google Shape;603;p58"/>
          <p:cNvCxnSpPr/>
          <p:nvPr/>
        </p:nvCxnSpPr>
        <p:spPr>
          <a:xfrm>
            <a:off x="5875350" y="1413600"/>
            <a:ext cx="601800" cy="691500"/>
          </a:xfrm>
          <a:prstGeom prst="straightConnector1">
            <a:avLst/>
          </a:prstGeom>
          <a:noFill/>
          <a:ln cap="flat" cmpd="sng" w="19050">
            <a:solidFill>
              <a:schemeClr val="dk2"/>
            </a:solidFill>
            <a:prstDash val="solid"/>
            <a:round/>
            <a:headEnd len="med" w="med" type="none"/>
            <a:tailEnd len="med" w="med" type="triangle"/>
          </a:ln>
        </p:spPr>
      </p:cxnSp>
      <p:sp>
        <p:nvSpPr>
          <p:cNvPr id="604" name="Google Shape;604;p58"/>
          <p:cNvSpPr/>
          <p:nvPr/>
        </p:nvSpPr>
        <p:spPr>
          <a:xfrm>
            <a:off x="2982300" y="3386950"/>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safe</a:t>
            </a:r>
            <a:endParaRPr sz="1600">
              <a:solidFill>
                <a:srgbClr val="0000FF"/>
              </a:solidFill>
            </a:endParaRPr>
          </a:p>
        </p:txBody>
      </p:sp>
      <p:sp>
        <p:nvSpPr>
          <p:cNvPr id="605" name="Google Shape;605;p58"/>
          <p:cNvSpPr/>
          <p:nvPr/>
        </p:nvSpPr>
        <p:spPr>
          <a:xfrm>
            <a:off x="4116600" y="3386950"/>
            <a:ext cx="15522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poisonous</a:t>
            </a:r>
            <a:endParaRPr b="1">
              <a:solidFill>
                <a:srgbClr val="980000"/>
              </a:solidFill>
            </a:endParaRPr>
          </a:p>
        </p:txBody>
      </p:sp>
      <p:cxnSp>
        <p:nvCxnSpPr>
          <p:cNvPr id="606" name="Google Shape;606;p58"/>
          <p:cNvCxnSpPr>
            <a:endCxn id="604" idx="0"/>
          </p:cNvCxnSpPr>
          <p:nvPr/>
        </p:nvCxnSpPr>
        <p:spPr>
          <a:xfrm flipH="1">
            <a:off x="3418500" y="2695450"/>
            <a:ext cx="458100" cy="691500"/>
          </a:xfrm>
          <a:prstGeom prst="straightConnector1">
            <a:avLst/>
          </a:prstGeom>
          <a:noFill/>
          <a:ln cap="flat" cmpd="sng" w="19050">
            <a:solidFill>
              <a:schemeClr val="dk2"/>
            </a:solidFill>
            <a:prstDash val="solid"/>
            <a:round/>
            <a:headEnd len="med" w="med" type="none"/>
            <a:tailEnd len="med" w="med" type="triangle"/>
          </a:ln>
        </p:spPr>
      </p:cxnSp>
      <p:cxnSp>
        <p:nvCxnSpPr>
          <p:cNvPr id="607" name="Google Shape;607;p58"/>
          <p:cNvCxnSpPr/>
          <p:nvPr/>
        </p:nvCxnSpPr>
        <p:spPr>
          <a:xfrm>
            <a:off x="4514850" y="2695575"/>
            <a:ext cx="378000" cy="681900"/>
          </a:xfrm>
          <a:prstGeom prst="straightConnector1">
            <a:avLst/>
          </a:prstGeom>
          <a:noFill/>
          <a:ln cap="flat" cmpd="sng" w="19050">
            <a:solidFill>
              <a:schemeClr val="dk2"/>
            </a:solidFill>
            <a:prstDash val="solid"/>
            <a:round/>
            <a:headEnd len="med" w="med" type="none"/>
            <a:tailEnd len="med" w="med" type="triangle"/>
          </a:ln>
        </p:spPr>
      </p:cxnSp>
      <p:sp>
        <p:nvSpPr>
          <p:cNvPr id="608" name="Google Shape;608;p58"/>
          <p:cNvSpPr txBox="1"/>
          <p:nvPr/>
        </p:nvSpPr>
        <p:spPr>
          <a:xfrm>
            <a:off x="4392150" y="1458781"/>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sp>
        <p:nvSpPr>
          <p:cNvPr id="609" name="Google Shape;609;p58"/>
          <p:cNvSpPr txBox="1"/>
          <p:nvPr/>
        </p:nvSpPr>
        <p:spPr>
          <a:xfrm>
            <a:off x="3301352" y="2875644"/>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sp>
        <p:nvSpPr>
          <p:cNvPr id="610" name="Google Shape;610;p58"/>
          <p:cNvSpPr txBox="1"/>
          <p:nvPr/>
        </p:nvSpPr>
        <p:spPr>
          <a:xfrm>
            <a:off x="4748050" y="2875644"/>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
        <p:nvSpPr>
          <p:cNvPr id="611" name="Google Shape;611;p58"/>
          <p:cNvSpPr txBox="1"/>
          <p:nvPr/>
        </p:nvSpPr>
        <p:spPr>
          <a:xfrm>
            <a:off x="6165750" y="1458781"/>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pic>
        <p:nvPicPr>
          <p:cNvPr id="612" name="Google Shape;612;p58"/>
          <p:cNvPicPr preferRelativeResize="0"/>
          <p:nvPr/>
        </p:nvPicPr>
        <p:blipFill rotWithShape="1">
          <a:blip r:embed="rId3">
            <a:alphaModFix/>
          </a:blip>
          <a:srcRect b="0" l="0" r="0" t="0"/>
          <a:stretch/>
        </p:blipFill>
        <p:spPr>
          <a:xfrm>
            <a:off x="5762000" y="4176725"/>
            <a:ext cx="914400" cy="914400"/>
          </a:xfrm>
          <a:prstGeom prst="rect">
            <a:avLst/>
          </a:prstGeom>
          <a:noFill/>
          <a:ln>
            <a:noFill/>
          </a:ln>
        </p:spPr>
      </p:pic>
      <p:pic>
        <p:nvPicPr>
          <p:cNvPr id="613" name="Google Shape;613;p58"/>
          <p:cNvPicPr preferRelativeResize="0"/>
          <p:nvPr/>
        </p:nvPicPr>
        <p:blipFill rotWithShape="1">
          <a:blip r:embed="rId4">
            <a:alphaModFix/>
          </a:blip>
          <a:srcRect b="0" l="0" r="0" t="0"/>
          <a:stretch/>
        </p:blipFill>
        <p:spPr>
          <a:xfrm>
            <a:off x="5740775" y="3186125"/>
            <a:ext cx="914400" cy="914400"/>
          </a:xfrm>
          <a:prstGeom prst="rect">
            <a:avLst/>
          </a:prstGeom>
          <a:noFill/>
          <a:ln>
            <a:noFill/>
          </a:ln>
        </p:spPr>
      </p:pic>
      <p:pic>
        <p:nvPicPr>
          <p:cNvPr id="614" name="Google Shape;614;p58"/>
          <p:cNvPicPr preferRelativeResize="0"/>
          <p:nvPr/>
        </p:nvPicPr>
        <p:blipFill>
          <a:blip r:embed="rId5">
            <a:alphaModFix/>
          </a:blip>
          <a:stretch>
            <a:fillRect/>
          </a:stretch>
        </p:blipFill>
        <p:spPr>
          <a:xfrm>
            <a:off x="7153218" y="1920750"/>
            <a:ext cx="914400" cy="914400"/>
          </a:xfrm>
          <a:prstGeom prst="rect">
            <a:avLst/>
          </a:prstGeom>
          <a:noFill/>
          <a:ln>
            <a:noFill/>
          </a:ln>
        </p:spPr>
      </p:pic>
      <p:pic>
        <p:nvPicPr>
          <p:cNvPr id="615" name="Google Shape;615;p58"/>
          <p:cNvPicPr preferRelativeResize="0"/>
          <p:nvPr/>
        </p:nvPicPr>
        <p:blipFill>
          <a:blip r:embed="rId6">
            <a:alphaModFix/>
          </a:blip>
          <a:stretch>
            <a:fillRect/>
          </a:stretch>
        </p:blipFill>
        <p:spPr>
          <a:xfrm>
            <a:off x="2023625" y="3268150"/>
            <a:ext cx="914400" cy="914400"/>
          </a:xfrm>
          <a:prstGeom prst="rect">
            <a:avLst/>
          </a:prstGeom>
          <a:noFill/>
          <a:ln>
            <a:noFill/>
          </a:ln>
        </p:spPr>
      </p:pic>
      <p:sp>
        <p:nvSpPr>
          <p:cNvPr id="616" name="Google Shape;616;p58"/>
          <p:cNvSpPr/>
          <p:nvPr/>
        </p:nvSpPr>
        <p:spPr>
          <a:xfrm>
            <a:off x="6220950" y="2070600"/>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safe</a:t>
            </a:r>
            <a:endParaRPr sz="1600">
              <a:solidFill>
                <a:srgbClr val="0000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Computer-generated decision tree</a:t>
            </a:r>
            <a:endParaRPr/>
          </a:p>
        </p:txBody>
      </p:sp>
      <p:sp>
        <p:nvSpPr>
          <p:cNvPr id="622" name="Google Shape;622;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23" name="Google Shape;623;p59"/>
          <p:cNvPicPr preferRelativeResize="0"/>
          <p:nvPr/>
        </p:nvPicPr>
        <p:blipFill rotWithShape="1">
          <a:blip r:embed="rId3">
            <a:alphaModFix/>
          </a:blip>
          <a:srcRect b="62999" l="0" r="0" t="990"/>
          <a:stretch/>
        </p:blipFill>
        <p:spPr>
          <a:xfrm>
            <a:off x="1653200" y="1123000"/>
            <a:ext cx="5160349" cy="1343474"/>
          </a:xfrm>
          <a:prstGeom prst="rect">
            <a:avLst/>
          </a:prstGeom>
          <a:noFill/>
          <a:ln>
            <a:noFill/>
          </a:ln>
        </p:spPr>
      </p:pic>
      <p:sp>
        <p:nvSpPr>
          <p:cNvPr id="624" name="Google Shape;624;p59"/>
          <p:cNvSpPr/>
          <p:nvPr/>
        </p:nvSpPr>
        <p:spPr>
          <a:xfrm>
            <a:off x="6615450" y="1269432"/>
            <a:ext cx="1857000" cy="285900"/>
          </a:xfrm>
          <a:prstGeom prst="wedgeRectCallout">
            <a:avLst>
              <a:gd fmla="val -117414" name="adj1"/>
              <a:gd fmla="val 317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Start with 10 fish</a:t>
            </a:r>
            <a:endParaRPr sz="1000"/>
          </a:p>
        </p:txBody>
      </p:sp>
      <p:sp>
        <p:nvSpPr>
          <p:cNvPr id="625" name="Google Shape;625;p59"/>
          <p:cNvSpPr/>
          <p:nvPr/>
        </p:nvSpPr>
        <p:spPr>
          <a:xfrm>
            <a:off x="6615450" y="1597150"/>
            <a:ext cx="1857000" cy="285900"/>
          </a:xfrm>
          <a:prstGeom prst="wedgeRectCallout">
            <a:avLst>
              <a:gd fmla="val -117414" name="adj1"/>
              <a:gd fmla="val -87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5 are safe</a:t>
            </a:r>
            <a:endParaRPr sz="1000"/>
          </a:p>
        </p:txBody>
      </p:sp>
      <p:sp>
        <p:nvSpPr>
          <p:cNvPr id="626" name="Google Shape;626;p59"/>
          <p:cNvSpPr/>
          <p:nvPr/>
        </p:nvSpPr>
        <p:spPr>
          <a:xfrm>
            <a:off x="6813550" y="2411875"/>
            <a:ext cx="2070300" cy="629100"/>
          </a:xfrm>
          <a:prstGeom prst="wedgeRectCallout">
            <a:avLst>
              <a:gd fmla="val -112124" name="adj1"/>
              <a:gd fmla="val -1052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White background: neutral color because 50% of the samples are poisonous and 50% are safe</a:t>
            </a:r>
            <a:endParaRPr sz="1000"/>
          </a:p>
        </p:txBody>
      </p:sp>
      <p:sp>
        <p:nvSpPr>
          <p:cNvPr id="627" name="Google Shape;627;p59"/>
          <p:cNvSpPr/>
          <p:nvPr/>
        </p:nvSpPr>
        <p:spPr>
          <a:xfrm>
            <a:off x="6615450" y="932154"/>
            <a:ext cx="1857000" cy="283500"/>
          </a:xfrm>
          <a:prstGeom prst="wedgeRectCallout">
            <a:avLst>
              <a:gd fmla="val -84459" name="adj1"/>
              <a:gd fmla="val 7108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Split on pectoral fin shape</a:t>
            </a:r>
            <a:endParaRPr sz="1000"/>
          </a:p>
        </p:txBody>
      </p:sp>
      <p:sp>
        <p:nvSpPr>
          <p:cNvPr id="628" name="Google Shape;628;p59"/>
          <p:cNvSpPr/>
          <p:nvPr/>
        </p:nvSpPr>
        <p:spPr>
          <a:xfrm>
            <a:off x="6615450" y="1930875"/>
            <a:ext cx="1971900" cy="393600"/>
          </a:xfrm>
          <a:prstGeom prst="wedgeRectCallout">
            <a:avLst>
              <a:gd fmla="val -103957" name="adj1"/>
              <a:gd fmla="val -4528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Classify these samples as poisonous (only 50% accurate)</a:t>
            </a:r>
            <a:endParaRPr sz="1000"/>
          </a:p>
        </p:txBody>
      </p:sp>
      <p:sp>
        <p:nvSpPr>
          <p:cNvPr id="629" name="Google Shape;629;p59"/>
          <p:cNvSpPr/>
          <p:nvPr/>
        </p:nvSpPr>
        <p:spPr>
          <a:xfrm>
            <a:off x="347900" y="2939725"/>
            <a:ext cx="6267600" cy="1792500"/>
          </a:xfrm>
          <a:prstGeom prst="rect">
            <a:avLst/>
          </a:prstGeom>
          <a:solidFill>
            <a:schemeClr val="lt2"/>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rPr>
              <a:t>“pectoral fin = smooth” is 1 if true, or 0 if false.</a:t>
            </a:r>
            <a:br>
              <a:rPr lang="en" sz="1200">
                <a:solidFill>
                  <a:schemeClr val="dk1"/>
                </a:solidFill>
              </a:rPr>
            </a:br>
            <a:endParaRPr sz="1200">
              <a:solidFill>
                <a:schemeClr val="dk1"/>
              </a:solidFill>
            </a:endParaRPr>
          </a:p>
          <a:p>
            <a:pPr indent="0" lvl="0" marL="0" rtl="0" algn="l">
              <a:spcBef>
                <a:spcPts val="0"/>
              </a:spcBef>
              <a:spcAft>
                <a:spcPts val="0"/>
              </a:spcAft>
              <a:buNone/>
            </a:pPr>
            <a:r>
              <a:rPr b="1" lang="en" sz="1200">
                <a:solidFill>
                  <a:schemeClr val="dk1"/>
                </a:solidFill>
              </a:rPr>
              <a:t>Reverse Logic:</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“pectoral fin = smooth &lt;= 0.5” is </a:t>
            </a:r>
            <a:r>
              <a:rPr i="1" lang="en" sz="1200">
                <a:solidFill>
                  <a:schemeClr val="dk1"/>
                </a:solidFill>
              </a:rPr>
              <a:t>true</a:t>
            </a:r>
            <a:r>
              <a:rPr lang="en" sz="1200">
                <a:solidFill>
                  <a:schemeClr val="dk1"/>
                </a:solidFill>
              </a:rPr>
              <a:t> if the fins are NOT smooth, </a:t>
            </a:r>
            <a:r>
              <a:rPr i="1" lang="en" sz="1200">
                <a:solidFill>
                  <a:schemeClr val="dk1"/>
                </a:solidFill>
              </a:rPr>
              <a:t>false</a:t>
            </a:r>
            <a:r>
              <a:rPr lang="en" sz="1200">
                <a:solidFill>
                  <a:schemeClr val="dk1"/>
                </a:solidFill>
              </a:rPr>
              <a:t> if they ARE smooth.</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So a sample will be assigned to the True branch if the pectoral fins are NOT smooth.</a:t>
            </a:r>
            <a:br>
              <a:rPr lang="en" sz="1200">
                <a:solidFill>
                  <a:schemeClr val="dk1"/>
                </a:solidFill>
              </a:rPr>
            </a:br>
            <a:r>
              <a:rPr lang="en" sz="1200">
                <a:solidFill>
                  <a:schemeClr val="dk1"/>
                </a:solidFill>
              </a:rPr>
              <a:t>It will be assigned to the False branch if the pectoral fins ARE smooth.</a:t>
            </a:r>
            <a:endParaRPr sz="1200">
              <a:solidFill>
                <a:schemeClr val="dk1"/>
              </a:solidFill>
            </a:endParaRPr>
          </a:p>
        </p:txBody>
      </p:sp>
      <p:sp>
        <p:nvSpPr>
          <p:cNvPr id="630" name="Google Shape;630;p59"/>
          <p:cNvSpPr/>
          <p:nvPr/>
        </p:nvSpPr>
        <p:spPr>
          <a:xfrm>
            <a:off x="1033700" y="1320550"/>
            <a:ext cx="2443225" cy="1626455"/>
          </a:xfrm>
          <a:custGeom>
            <a:rect b="b" l="l" r="r" t="t"/>
            <a:pathLst>
              <a:path extrusionOk="0" h="62743" w="97729">
                <a:moveTo>
                  <a:pt x="0" y="62743"/>
                </a:moveTo>
                <a:lnTo>
                  <a:pt x="289" y="0"/>
                </a:lnTo>
                <a:lnTo>
                  <a:pt x="97729" y="0"/>
                </a:lnTo>
              </a:path>
            </a:pathLst>
          </a:custGeom>
          <a:noFill/>
          <a:ln cap="flat" cmpd="sng" w="38100">
            <a:solidFill>
              <a:srgbClr val="980000"/>
            </a:solidFill>
            <a:prstDash val="dash"/>
            <a:round/>
            <a:headEnd len="med" w="med" type="none"/>
            <a:tailEnd len="med" w="med" type="stealth"/>
          </a:ln>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Computer-generated decision tree</a:t>
            </a:r>
            <a:endParaRPr/>
          </a:p>
        </p:txBody>
      </p:sp>
      <p:sp>
        <p:nvSpPr>
          <p:cNvPr id="636" name="Google Shape;63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37" name="Google Shape;637;p60"/>
          <p:cNvPicPr preferRelativeResize="0"/>
          <p:nvPr/>
        </p:nvPicPr>
        <p:blipFill rotWithShape="1">
          <a:blip r:embed="rId3">
            <a:alphaModFix/>
          </a:blip>
          <a:srcRect b="31110" l="0" r="0" t="991"/>
          <a:stretch/>
        </p:blipFill>
        <p:spPr>
          <a:xfrm>
            <a:off x="1653200" y="1123000"/>
            <a:ext cx="5160349" cy="2533075"/>
          </a:xfrm>
          <a:prstGeom prst="rect">
            <a:avLst/>
          </a:prstGeom>
          <a:noFill/>
          <a:ln>
            <a:noFill/>
          </a:ln>
        </p:spPr>
      </p:pic>
      <p:sp>
        <p:nvSpPr>
          <p:cNvPr id="638" name="Google Shape;638;p60"/>
          <p:cNvSpPr/>
          <p:nvPr/>
        </p:nvSpPr>
        <p:spPr>
          <a:xfrm>
            <a:off x="7242425" y="2636850"/>
            <a:ext cx="1857000" cy="285900"/>
          </a:xfrm>
          <a:prstGeom prst="wedgeRectCallout">
            <a:avLst>
              <a:gd fmla="val -87799" name="adj1"/>
              <a:gd fmla="val 2995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3 fish with smooth pectoral fins.</a:t>
            </a:r>
            <a:endParaRPr sz="1000"/>
          </a:p>
        </p:txBody>
      </p:sp>
      <p:sp>
        <p:nvSpPr>
          <p:cNvPr id="639" name="Google Shape;639;p60"/>
          <p:cNvSpPr/>
          <p:nvPr/>
        </p:nvSpPr>
        <p:spPr>
          <a:xfrm>
            <a:off x="7242425" y="2959975"/>
            <a:ext cx="1857000" cy="285900"/>
          </a:xfrm>
          <a:prstGeom prst="wedgeRectCallout">
            <a:avLst>
              <a:gd fmla="val -85661" name="adj1"/>
              <a:gd fmla="val -532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 are poisonous, 3 are safe</a:t>
            </a:r>
            <a:endParaRPr sz="1000"/>
          </a:p>
        </p:txBody>
      </p:sp>
      <p:sp>
        <p:nvSpPr>
          <p:cNvPr id="640" name="Google Shape;640;p60"/>
          <p:cNvSpPr/>
          <p:nvPr/>
        </p:nvSpPr>
        <p:spPr>
          <a:xfrm>
            <a:off x="7242425" y="3619650"/>
            <a:ext cx="1857000" cy="285900"/>
          </a:xfrm>
          <a:prstGeom prst="wedgeRectCallout">
            <a:avLst>
              <a:gd fmla="val -50184" name="adj1"/>
              <a:gd fmla="val -118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All one class: no split needed</a:t>
            </a:r>
            <a:endParaRPr sz="1000"/>
          </a:p>
        </p:txBody>
      </p:sp>
      <p:sp>
        <p:nvSpPr>
          <p:cNvPr id="641" name="Google Shape;641;p60"/>
          <p:cNvSpPr/>
          <p:nvPr/>
        </p:nvSpPr>
        <p:spPr>
          <a:xfrm>
            <a:off x="7242425" y="3283100"/>
            <a:ext cx="1857000" cy="285900"/>
          </a:xfrm>
          <a:prstGeom prst="wedgeRectCallout">
            <a:avLst>
              <a:gd fmla="val -80105" name="adj1"/>
              <a:gd fmla="val -4060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Dark blue: 100% “safe”</a:t>
            </a:r>
            <a:endParaRPr sz="1000"/>
          </a:p>
        </p:txBody>
      </p:sp>
      <p:sp>
        <p:nvSpPr>
          <p:cNvPr id="642" name="Google Shape;642;p60"/>
          <p:cNvSpPr/>
          <p:nvPr/>
        </p:nvSpPr>
        <p:spPr>
          <a:xfrm>
            <a:off x="79625" y="2865450"/>
            <a:ext cx="1857000" cy="285900"/>
          </a:xfrm>
          <a:prstGeom prst="wedgeRectCallout">
            <a:avLst>
              <a:gd fmla="val 102348" name="adj1"/>
              <a:gd fmla="val -675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7 fish with non-smooth pectoral fins.</a:t>
            </a:r>
            <a:endParaRPr sz="1000"/>
          </a:p>
        </p:txBody>
      </p:sp>
      <p:sp>
        <p:nvSpPr>
          <p:cNvPr id="643" name="Google Shape;643;p60"/>
          <p:cNvSpPr/>
          <p:nvPr/>
        </p:nvSpPr>
        <p:spPr>
          <a:xfrm>
            <a:off x="79625" y="3202328"/>
            <a:ext cx="1857000" cy="285900"/>
          </a:xfrm>
          <a:prstGeom prst="wedgeRectCallout">
            <a:avLst>
              <a:gd fmla="val 101978" name="adj1"/>
              <a:gd fmla="val -5243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2 are safe</a:t>
            </a:r>
            <a:endParaRPr sz="1000"/>
          </a:p>
        </p:txBody>
      </p:sp>
      <p:sp>
        <p:nvSpPr>
          <p:cNvPr id="644" name="Google Shape;644;p60"/>
          <p:cNvSpPr/>
          <p:nvPr/>
        </p:nvSpPr>
        <p:spPr>
          <a:xfrm>
            <a:off x="79625" y="3546107"/>
            <a:ext cx="2000100" cy="285900"/>
          </a:xfrm>
          <a:prstGeom prst="wedgeRectCallout">
            <a:avLst>
              <a:gd fmla="val 71506" name="adj1"/>
              <a:gd fmla="val -6685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Light orange: 71% “poisonous”</a:t>
            </a:r>
            <a:endParaRPr sz="1000"/>
          </a:p>
        </p:txBody>
      </p:sp>
      <p:sp>
        <p:nvSpPr>
          <p:cNvPr id="645" name="Google Shape;645;p60"/>
          <p:cNvSpPr/>
          <p:nvPr/>
        </p:nvSpPr>
        <p:spPr>
          <a:xfrm>
            <a:off x="6615450" y="1269432"/>
            <a:ext cx="1857000" cy="285900"/>
          </a:xfrm>
          <a:prstGeom prst="wedgeRectCallout">
            <a:avLst>
              <a:gd fmla="val -117414" name="adj1"/>
              <a:gd fmla="val 317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Start with 10 fish</a:t>
            </a:r>
            <a:endParaRPr sz="1000"/>
          </a:p>
        </p:txBody>
      </p:sp>
      <p:sp>
        <p:nvSpPr>
          <p:cNvPr id="646" name="Google Shape;646;p60"/>
          <p:cNvSpPr/>
          <p:nvPr/>
        </p:nvSpPr>
        <p:spPr>
          <a:xfrm>
            <a:off x="6615450" y="1597150"/>
            <a:ext cx="1857000" cy="285900"/>
          </a:xfrm>
          <a:prstGeom prst="wedgeRectCallout">
            <a:avLst>
              <a:gd fmla="val -117414" name="adj1"/>
              <a:gd fmla="val -87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5 are safe</a:t>
            </a:r>
            <a:endParaRPr sz="1000"/>
          </a:p>
        </p:txBody>
      </p:sp>
      <p:sp>
        <p:nvSpPr>
          <p:cNvPr id="647" name="Google Shape;647;p60"/>
          <p:cNvSpPr/>
          <p:nvPr/>
        </p:nvSpPr>
        <p:spPr>
          <a:xfrm>
            <a:off x="6615450" y="932154"/>
            <a:ext cx="1857000" cy="283500"/>
          </a:xfrm>
          <a:prstGeom prst="wedgeRectCallout">
            <a:avLst>
              <a:gd fmla="val -84459" name="adj1"/>
              <a:gd fmla="val 7108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Split on pectoral fin shape</a:t>
            </a:r>
            <a:endParaRPr sz="1000"/>
          </a:p>
        </p:txBody>
      </p:sp>
      <p:sp>
        <p:nvSpPr>
          <p:cNvPr id="648" name="Google Shape;648;p60"/>
          <p:cNvSpPr/>
          <p:nvPr/>
        </p:nvSpPr>
        <p:spPr>
          <a:xfrm>
            <a:off x="6615450" y="1930875"/>
            <a:ext cx="1971900" cy="393600"/>
          </a:xfrm>
          <a:prstGeom prst="wedgeRectCallout">
            <a:avLst>
              <a:gd fmla="val -103957" name="adj1"/>
              <a:gd fmla="val -4528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Classify these samples as poisonous (only 50% accurate)</a:t>
            </a:r>
            <a:endParaRPr sz="1000"/>
          </a:p>
        </p:txBody>
      </p:sp>
      <p:sp>
        <p:nvSpPr>
          <p:cNvPr id="649" name="Google Shape;649;p60"/>
          <p:cNvSpPr/>
          <p:nvPr/>
        </p:nvSpPr>
        <p:spPr>
          <a:xfrm>
            <a:off x="79625" y="2526268"/>
            <a:ext cx="1857000" cy="285900"/>
          </a:xfrm>
          <a:prstGeom prst="wedgeRectCallout">
            <a:avLst>
              <a:gd fmla="val 75316" name="adj1"/>
              <a:gd fmla="val 2769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Split on body type</a:t>
            </a:r>
            <a:endParaRPr sz="1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Computer-generated decision tree</a:t>
            </a:r>
            <a:endParaRPr/>
          </a:p>
        </p:txBody>
      </p:sp>
      <p:sp>
        <p:nvSpPr>
          <p:cNvPr id="655" name="Google Shape;655;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56" name="Google Shape;656;p61"/>
          <p:cNvPicPr preferRelativeResize="0"/>
          <p:nvPr/>
        </p:nvPicPr>
        <p:blipFill rotWithShape="1">
          <a:blip r:embed="rId3">
            <a:alphaModFix/>
          </a:blip>
          <a:srcRect b="0" l="0" r="0" t="990"/>
          <a:stretch/>
        </p:blipFill>
        <p:spPr>
          <a:xfrm>
            <a:off x="1653200" y="1123000"/>
            <a:ext cx="5160349" cy="3693874"/>
          </a:xfrm>
          <a:prstGeom prst="rect">
            <a:avLst/>
          </a:prstGeom>
          <a:noFill/>
          <a:ln>
            <a:noFill/>
          </a:ln>
        </p:spPr>
      </p:pic>
      <p:sp>
        <p:nvSpPr>
          <p:cNvPr id="657" name="Google Shape;657;p61"/>
          <p:cNvSpPr/>
          <p:nvPr/>
        </p:nvSpPr>
        <p:spPr>
          <a:xfrm>
            <a:off x="7242425" y="2636850"/>
            <a:ext cx="1857000" cy="285900"/>
          </a:xfrm>
          <a:prstGeom prst="wedgeRectCallout">
            <a:avLst>
              <a:gd fmla="val -87799" name="adj1"/>
              <a:gd fmla="val 2995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3 fish with smooth pectoral fins.</a:t>
            </a:r>
            <a:endParaRPr sz="1000"/>
          </a:p>
        </p:txBody>
      </p:sp>
      <p:sp>
        <p:nvSpPr>
          <p:cNvPr id="658" name="Google Shape;658;p61"/>
          <p:cNvSpPr/>
          <p:nvPr/>
        </p:nvSpPr>
        <p:spPr>
          <a:xfrm>
            <a:off x="7242425" y="2959975"/>
            <a:ext cx="1857000" cy="285900"/>
          </a:xfrm>
          <a:prstGeom prst="wedgeRectCallout">
            <a:avLst>
              <a:gd fmla="val -85661" name="adj1"/>
              <a:gd fmla="val -532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 are poisonous, 3 are safe</a:t>
            </a:r>
            <a:endParaRPr sz="1000"/>
          </a:p>
        </p:txBody>
      </p:sp>
      <p:sp>
        <p:nvSpPr>
          <p:cNvPr id="659" name="Google Shape;659;p61"/>
          <p:cNvSpPr/>
          <p:nvPr/>
        </p:nvSpPr>
        <p:spPr>
          <a:xfrm>
            <a:off x="7242425" y="3619650"/>
            <a:ext cx="1857000" cy="285900"/>
          </a:xfrm>
          <a:prstGeom prst="wedgeRectCallout">
            <a:avLst>
              <a:gd fmla="val -50184" name="adj1"/>
              <a:gd fmla="val -118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All one class: no split needed</a:t>
            </a:r>
            <a:endParaRPr sz="1000"/>
          </a:p>
        </p:txBody>
      </p:sp>
      <p:sp>
        <p:nvSpPr>
          <p:cNvPr id="660" name="Google Shape;660;p61"/>
          <p:cNvSpPr/>
          <p:nvPr/>
        </p:nvSpPr>
        <p:spPr>
          <a:xfrm>
            <a:off x="7242425" y="3283100"/>
            <a:ext cx="1857000" cy="285900"/>
          </a:xfrm>
          <a:prstGeom prst="wedgeRectCallout">
            <a:avLst>
              <a:gd fmla="val -80105" name="adj1"/>
              <a:gd fmla="val -4060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Dark blue: 100% “safe”</a:t>
            </a:r>
            <a:endParaRPr sz="1000"/>
          </a:p>
        </p:txBody>
      </p:sp>
      <p:sp>
        <p:nvSpPr>
          <p:cNvPr id="661" name="Google Shape;661;p61"/>
          <p:cNvSpPr/>
          <p:nvPr/>
        </p:nvSpPr>
        <p:spPr>
          <a:xfrm>
            <a:off x="79625" y="2865450"/>
            <a:ext cx="1857000" cy="285900"/>
          </a:xfrm>
          <a:prstGeom prst="wedgeRectCallout">
            <a:avLst>
              <a:gd fmla="val 102348" name="adj1"/>
              <a:gd fmla="val -675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7 fish with non-smooth pectoral fins.</a:t>
            </a:r>
            <a:endParaRPr sz="1000"/>
          </a:p>
        </p:txBody>
      </p:sp>
      <p:sp>
        <p:nvSpPr>
          <p:cNvPr id="662" name="Google Shape;662;p61"/>
          <p:cNvSpPr/>
          <p:nvPr/>
        </p:nvSpPr>
        <p:spPr>
          <a:xfrm>
            <a:off x="79625" y="3202328"/>
            <a:ext cx="1857000" cy="285900"/>
          </a:xfrm>
          <a:prstGeom prst="wedgeRectCallout">
            <a:avLst>
              <a:gd fmla="val 101978" name="adj1"/>
              <a:gd fmla="val -5243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2 are safe</a:t>
            </a:r>
            <a:endParaRPr sz="1000"/>
          </a:p>
        </p:txBody>
      </p:sp>
      <p:sp>
        <p:nvSpPr>
          <p:cNvPr id="663" name="Google Shape;663;p61"/>
          <p:cNvSpPr/>
          <p:nvPr/>
        </p:nvSpPr>
        <p:spPr>
          <a:xfrm>
            <a:off x="79625" y="3546107"/>
            <a:ext cx="2000100" cy="285900"/>
          </a:xfrm>
          <a:prstGeom prst="wedgeRectCallout">
            <a:avLst>
              <a:gd fmla="val 71506" name="adj1"/>
              <a:gd fmla="val -6685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Light orange: 71% “poisonous”</a:t>
            </a:r>
            <a:endParaRPr sz="1000"/>
          </a:p>
        </p:txBody>
      </p:sp>
      <p:sp>
        <p:nvSpPr>
          <p:cNvPr id="664" name="Google Shape;664;p61"/>
          <p:cNvSpPr/>
          <p:nvPr/>
        </p:nvSpPr>
        <p:spPr>
          <a:xfrm>
            <a:off x="6615450" y="1269432"/>
            <a:ext cx="1857000" cy="285900"/>
          </a:xfrm>
          <a:prstGeom prst="wedgeRectCallout">
            <a:avLst>
              <a:gd fmla="val -117414" name="adj1"/>
              <a:gd fmla="val 317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Start with 10 fish</a:t>
            </a:r>
            <a:endParaRPr sz="1000"/>
          </a:p>
        </p:txBody>
      </p:sp>
      <p:sp>
        <p:nvSpPr>
          <p:cNvPr id="665" name="Google Shape;665;p61"/>
          <p:cNvSpPr/>
          <p:nvPr/>
        </p:nvSpPr>
        <p:spPr>
          <a:xfrm>
            <a:off x="6615450" y="1597150"/>
            <a:ext cx="1857000" cy="285900"/>
          </a:xfrm>
          <a:prstGeom prst="wedgeRectCallout">
            <a:avLst>
              <a:gd fmla="val -117414" name="adj1"/>
              <a:gd fmla="val -87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5 are safe</a:t>
            </a:r>
            <a:endParaRPr sz="1000"/>
          </a:p>
        </p:txBody>
      </p:sp>
      <p:sp>
        <p:nvSpPr>
          <p:cNvPr id="666" name="Google Shape;666;p61"/>
          <p:cNvSpPr/>
          <p:nvPr/>
        </p:nvSpPr>
        <p:spPr>
          <a:xfrm>
            <a:off x="6615450" y="932154"/>
            <a:ext cx="1857000" cy="283500"/>
          </a:xfrm>
          <a:prstGeom prst="wedgeRectCallout">
            <a:avLst>
              <a:gd fmla="val -84459" name="adj1"/>
              <a:gd fmla="val 7108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Split on pectoral fin shape</a:t>
            </a:r>
            <a:endParaRPr sz="1000"/>
          </a:p>
        </p:txBody>
      </p:sp>
      <p:sp>
        <p:nvSpPr>
          <p:cNvPr id="667" name="Google Shape;667;p61"/>
          <p:cNvSpPr/>
          <p:nvPr/>
        </p:nvSpPr>
        <p:spPr>
          <a:xfrm>
            <a:off x="6615450" y="1930875"/>
            <a:ext cx="1971900" cy="393600"/>
          </a:xfrm>
          <a:prstGeom prst="wedgeRectCallout">
            <a:avLst>
              <a:gd fmla="val -103957" name="adj1"/>
              <a:gd fmla="val -4528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Classify these samples as poisonous (only 50% accurate)</a:t>
            </a:r>
            <a:endParaRPr sz="1000"/>
          </a:p>
        </p:txBody>
      </p:sp>
      <p:sp>
        <p:nvSpPr>
          <p:cNvPr id="668" name="Google Shape;668;p61"/>
          <p:cNvSpPr/>
          <p:nvPr/>
        </p:nvSpPr>
        <p:spPr>
          <a:xfrm>
            <a:off x="79625" y="2526268"/>
            <a:ext cx="1857000" cy="285900"/>
          </a:xfrm>
          <a:prstGeom prst="wedgeRectCallout">
            <a:avLst>
              <a:gd fmla="val 75316" name="adj1"/>
              <a:gd fmla="val 2769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Split on body type</a:t>
            </a:r>
            <a:endParaRPr sz="1000"/>
          </a:p>
        </p:txBody>
      </p:sp>
      <p:sp>
        <p:nvSpPr>
          <p:cNvPr id="669" name="Google Shape;669;p61"/>
          <p:cNvSpPr/>
          <p:nvPr/>
        </p:nvSpPr>
        <p:spPr>
          <a:xfrm>
            <a:off x="5697796" y="4647824"/>
            <a:ext cx="2118900" cy="285900"/>
          </a:xfrm>
          <a:prstGeom prst="wedgeRectCallout">
            <a:avLst>
              <a:gd fmla="val -63178" name="adj1"/>
              <a:gd fmla="val -4092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Dark orange: 100% “poisonous”</a:t>
            </a:r>
            <a:endParaRPr sz="1000"/>
          </a:p>
        </p:txBody>
      </p:sp>
      <p:sp>
        <p:nvSpPr>
          <p:cNvPr id="670" name="Google Shape;670;p61"/>
          <p:cNvSpPr/>
          <p:nvPr/>
        </p:nvSpPr>
        <p:spPr>
          <a:xfrm>
            <a:off x="76200" y="4717075"/>
            <a:ext cx="1547100" cy="285900"/>
          </a:xfrm>
          <a:prstGeom prst="wedgeRectCallout">
            <a:avLst>
              <a:gd fmla="val 67341" name="adj1"/>
              <a:gd fmla="val -5792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Dark blue: 100% “safe”</a:t>
            </a:r>
            <a:endParaRPr sz="1000"/>
          </a:p>
        </p:txBody>
      </p:sp>
      <p:sp>
        <p:nvSpPr>
          <p:cNvPr id="671" name="Google Shape;671;p61"/>
          <p:cNvSpPr/>
          <p:nvPr/>
        </p:nvSpPr>
        <p:spPr>
          <a:xfrm>
            <a:off x="79625" y="4057150"/>
            <a:ext cx="1632600" cy="285900"/>
          </a:xfrm>
          <a:prstGeom prst="wedgeRectCallout">
            <a:avLst>
              <a:gd fmla="val 63479" name="adj1"/>
              <a:gd fmla="val 934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2 fish with non-triangular bodies.</a:t>
            </a:r>
            <a:endParaRPr sz="1000"/>
          </a:p>
        </p:txBody>
      </p:sp>
      <p:sp>
        <p:nvSpPr>
          <p:cNvPr id="672" name="Google Shape;672;p61"/>
          <p:cNvSpPr/>
          <p:nvPr/>
        </p:nvSpPr>
        <p:spPr>
          <a:xfrm>
            <a:off x="79625" y="4389450"/>
            <a:ext cx="1547100" cy="285900"/>
          </a:xfrm>
          <a:prstGeom prst="wedgeRectCallout">
            <a:avLst>
              <a:gd fmla="val 68861" name="adj1"/>
              <a:gd fmla="val -3713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 poisonous; 2 safe</a:t>
            </a:r>
            <a:endParaRPr sz="1000"/>
          </a:p>
        </p:txBody>
      </p:sp>
      <p:sp>
        <p:nvSpPr>
          <p:cNvPr id="673" name="Google Shape;673;p61"/>
          <p:cNvSpPr/>
          <p:nvPr/>
        </p:nvSpPr>
        <p:spPr>
          <a:xfrm>
            <a:off x="5675175" y="3968900"/>
            <a:ext cx="1857000" cy="285900"/>
          </a:xfrm>
          <a:prstGeom prst="wedgeRectCallout">
            <a:avLst>
              <a:gd fmla="val -81992" name="adj1"/>
              <a:gd fmla="val 2819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This node has 5 fish with triangular bodies</a:t>
            </a:r>
            <a:endParaRPr sz="1000"/>
          </a:p>
        </p:txBody>
      </p:sp>
      <p:sp>
        <p:nvSpPr>
          <p:cNvPr id="674" name="Google Shape;674;p61"/>
          <p:cNvSpPr/>
          <p:nvPr/>
        </p:nvSpPr>
        <p:spPr>
          <a:xfrm>
            <a:off x="5675175" y="4308082"/>
            <a:ext cx="1857000" cy="285900"/>
          </a:xfrm>
          <a:prstGeom prst="wedgeRectCallout">
            <a:avLst>
              <a:gd fmla="val -78259" name="adj1"/>
              <a:gd fmla="val -1108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5 are poisonous; 0 are safe</a:t>
            </a:r>
            <a:endParaRPr sz="1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on new fish</a:t>
            </a:r>
            <a:endParaRPr/>
          </a:p>
        </p:txBody>
      </p:sp>
      <p:sp>
        <p:nvSpPr>
          <p:cNvPr id="680" name="Google Shape;680;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81" name="Google Shape;681;p62"/>
          <p:cNvPicPr preferRelativeResize="0"/>
          <p:nvPr/>
        </p:nvPicPr>
        <p:blipFill rotWithShape="1">
          <a:blip r:embed="rId3">
            <a:alphaModFix/>
          </a:blip>
          <a:srcRect b="0" l="915" r="21462" t="0"/>
          <a:stretch/>
        </p:blipFill>
        <p:spPr>
          <a:xfrm>
            <a:off x="287750" y="1327975"/>
            <a:ext cx="4949000" cy="3586925"/>
          </a:xfrm>
          <a:prstGeom prst="rect">
            <a:avLst/>
          </a:prstGeom>
          <a:noFill/>
          <a:ln>
            <a:noFill/>
          </a:ln>
        </p:spPr>
      </p:pic>
      <p:pic>
        <p:nvPicPr>
          <p:cNvPr id="682" name="Google Shape;682;p62"/>
          <p:cNvPicPr preferRelativeResize="0"/>
          <p:nvPr/>
        </p:nvPicPr>
        <p:blipFill>
          <a:blip r:embed="rId4">
            <a:alphaModFix/>
          </a:blip>
          <a:stretch>
            <a:fillRect/>
          </a:stretch>
        </p:blipFill>
        <p:spPr>
          <a:xfrm>
            <a:off x="5427025" y="617525"/>
            <a:ext cx="3448050" cy="4029075"/>
          </a:xfrm>
          <a:prstGeom prst="rect">
            <a:avLst/>
          </a:prstGeom>
          <a:noFill/>
          <a:ln>
            <a:noFill/>
          </a:ln>
        </p:spPr>
      </p:pic>
      <p:sp>
        <p:nvSpPr>
          <p:cNvPr id="683" name="Google Shape;683;p62"/>
          <p:cNvSpPr txBox="1"/>
          <p:nvPr/>
        </p:nvSpPr>
        <p:spPr>
          <a:xfrm>
            <a:off x="599425" y="879800"/>
            <a:ext cx="33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Link to fish demo video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on new fish</a:t>
            </a:r>
            <a:endParaRPr/>
          </a:p>
        </p:txBody>
      </p:sp>
      <p:sp>
        <p:nvSpPr>
          <p:cNvPr id="689" name="Google Shape;68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90" name="Google Shape;690;p63"/>
          <p:cNvPicPr preferRelativeResize="0"/>
          <p:nvPr/>
        </p:nvPicPr>
        <p:blipFill rotWithShape="1">
          <a:blip r:embed="rId3">
            <a:alphaModFix/>
          </a:blip>
          <a:srcRect b="0" l="773" r="0" t="1283"/>
          <a:stretch/>
        </p:blipFill>
        <p:spPr>
          <a:xfrm>
            <a:off x="193375" y="1266550"/>
            <a:ext cx="5236701" cy="3724550"/>
          </a:xfrm>
          <a:prstGeom prst="rect">
            <a:avLst/>
          </a:prstGeom>
          <a:noFill/>
          <a:ln>
            <a:noFill/>
          </a:ln>
        </p:spPr>
      </p:pic>
      <p:pic>
        <p:nvPicPr>
          <p:cNvPr id="691" name="Google Shape;691;p63"/>
          <p:cNvPicPr preferRelativeResize="0"/>
          <p:nvPr/>
        </p:nvPicPr>
        <p:blipFill>
          <a:blip r:embed="rId4">
            <a:alphaModFix/>
          </a:blip>
          <a:stretch>
            <a:fillRect/>
          </a:stretch>
        </p:blipFill>
        <p:spPr>
          <a:xfrm>
            <a:off x="5485800" y="445025"/>
            <a:ext cx="3346500" cy="412998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Machine Learning Pipeline</a:t>
            </a:r>
            <a:endParaRPr/>
          </a:p>
        </p:txBody>
      </p:sp>
      <p:sp>
        <p:nvSpPr>
          <p:cNvPr id="697" name="Google Shape;697;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98" name="Google Shape;698;p64"/>
          <p:cNvPicPr preferRelativeResize="0"/>
          <p:nvPr/>
        </p:nvPicPr>
        <p:blipFill rotWithShape="1">
          <a:blip r:embed="rId3">
            <a:alphaModFix/>
          </a:blip>
          <a:srcRect b="0" l="0" r="35512" t="0"/>
          <a:stretch/>
        </p:blipFill>
        <p:spPr>
          <a:xfrm>
            <a:off x="240625" y="1289850"/>
            <a:ext cx="1386301" cy="832100"/>
          </a:xfrm>
          <a:prstGeom prst="rect">
            <a:avLst/>
          </a:prstGeom>
          <a:noFill/>
          <a:ln>
            <a:noFill/>
          </a:ln>
        </p:spPr>
      </p:pic>
      <p:pic>
        <p:nvPicPr>
          <p:cNvPr id="699" name="Google Shape;699;p64"/>
          <p:cNvPicPr preferRelativeResize="0"/>
          <p:nvPr/>
        </p:nvPicPr>
        <p:blipFill>
          <a:blip r:embed="rId4">
            <a:alphaModFix/>
          </a:blip>
          <a:stretch>
            <a:fillRect/>
          </a:stretch>
        </p:blipFill>
        <p:spPr>
          <a:xfrm>
            <a:off x="3746287" y="1134743"/>
            <a:ext cx="1386300" cy="1142307"/>
          </a:xfrm>
          <a:prstGeom prst="rect">
            <a:avLst/>
          </a:prstGeom>
          <a:noFill/>
          <a:ln>
            <a:noFill/>
          </a:ln>
        </p:spPr>
      </p:pic>
      <p:pic>
        <p:nvPicPr>
          <p:cNvPr id="700" name="Google Shape;700;p64"/>
          <p:cNvPicPr preferRelativeResize="0"/>
          <p:nvPr/>
        </p:nvPicPr>
        <p:blipFill>
          <a:blip r:embed="rId5">
            <a:alphaModFix/>
          </a:blip>
          <a:stretch>
            <a:fillRect/>
          </a:stretch>
        </p:blipFill>
        <p:spPr>
          <a:xfrm>
            <a:off x="1870000" y="958725"/>
            <a:ext cx="1796054" cy="680400"/>
          </a:xfrm>
          <a:prstGeom prst="rect">
            <a:avLst/>
          </a:prstGeom>
          <a:noFill/>
          <a:ln>
            <a:noFill/>
          </a:ln>
        </p:spPr>
      </p:pic>
      <p:sp>
        <p:nvSpPr>
          <p:cNvPr id="701" name="Google Shape;701;p64"/>
          <p:cNvSpPr/>
          <p:nvPr/>
        </p:nvSpPr>
        <p:spPr>
          <a:xfrm>
            <a:off x="396600" y="2488394"/>
            <a:ext cx="1188600" cy="72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your data</a:t>
            </a:r>
            <a:endParaRPr/>
          </a:p>
        </p:txBody>
      </p:sp>
      <p:sp>
        <p:nvSpPr>
          <p:cNvPr id="702" name="Google Shape;702;p64"/>
          <p:cNvSpPr/>
          <p:nvPr/>
        </p:nvSpPr>
        <p:spPr>
          <a:xfrm>
            <a:off x="2032275" y="2463644"/>
            <a:ext cx="1319100" cy="779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Design a feature set</a:t>
            </a:r>
            <a:endParaRPr/>
          </a:p>
        </p:txBody>
      </p:sp>
      <p:sp>
        <p:nvSpPr>
          <p:cNvPr id="703" name="Google Shape;703;p64"/>
          <p:cNvSpPr/>
          <p:nvPr/>
        </p:nvSpPr>
        <p:spPr>
          <a:xfrm>
            <a:off x="3653350"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Code your data using the feature set</a:t>
            </a:r>
            <a:endParaRPr/>
          </a:p>
        </p:txBody>
      </p:sp>
      <p:sp>
        <p:nvSpPr>
          <p:cNvPr id="704" name="Google Shape;704;p64"/>
          <p:cNvSpPr/>
          <p:nvPr/>
        </p:nvSpPr>
        <p:spPr>
          <a:xfrm>
            <a:off x="5390575"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Label your data</a:t>
            </a:r>
            <a:endParaRPr/>
          </a:p>
          <a:p>
            <a:pPr indent="0" lvl="0" marL="0" rtl="0" algn="ctr">
              <a:spcBef>
                <a:spcPts val="0"/>
              </a:spcBef>
              <a:spcAft>
                <a:spcPts val="0"/>
              </a:spcAft>
              <a:buNone/>
            </a:pPr>
            <a:r>
              <a:rPr lang="en"/>
              <a:t>(assign each item to a class)</a:t>
            </a:r>
            <a:endParaRPr/>
          </a:p>
        </p:txBody>
      </p:sp>
      <p:sp>
        <p:nvSpPr>
          <p:cNvPr id="705" name="Google Shape;705;p64"/>
          <p:cNvSpPr/>
          <p:nvPr/>
        </p:nvSpPr>
        <p:spPr>
          <a:xfrm>
            <a:off x="7155000"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pic>
        <p:nvPicPr>
          <p:cNvPr id="706" name="Google Shape;706;p64"/>
          <p:cNvPicPr preferRelativeResize="0"/>
          <p:nvPr/>
        </p:nvPicPr>
        <p:blipFill rotWithShape="1">
          <a:blip r:embed="rId6">
            <a:alphaModFix/>
          </a:blip>
          <a:srcRect b="44708" l="0" r="0" t="0"/>
          <a:stretch/>
        </p:blipFill>
        <p:spPr>
          <a:xfrm>
            <a:off x="5390576" y="445026"/>
            <a:ext cx="1457399" cy="779300"/>
          </a:xfrm>
          <a:prstGeom prst="rect">
            <a:avLst/>
          </a:prstGeom>
          <a:noFill/>
          <a:ln>
            <a:noFill/>
          </a:ln>
        </p:spPr>
      </p:pic>
      <p:pic>
        <p:nvPicPr>
          <p:cNvPr id="707" name="Google Shape;707;p64"/>
          <p:cNvPicPr preferRelativeResize="0"/>
          <p:nvPr/>
        </p:nvPicPr>
        <p:blipFill rotWithShape="1">
          <a:blip r:embed="rId7">
            <a:alphaModFix/>
          </a:blip>
          <a:srcRect b="44071" l="0" r="0" t="0"/>
          <a:stretch/>
        </p:blipFill>
        <p:spPr>
          <a:xfrm>
            <a:off x="5367025" y="1336388"/>
            <a:ext cx="1504507" cy="832100"/>
          </a:xfrm>
          <a:prstGeom prst="rect">
            <a:avLst/>
          </a:prstGeom>
          <a:noFill/>
          <a:ln>
            <a:noFill/>
          </a:ln>
        </p:spPr>
      </p:pic>
      <p:pic>
        <p:nvPicPr>
          <p:cNvPr id="708" name="Google Shape;708;p64"/>
          <p:cNvPicPr preferRelativeResize="0"/>
          <p:nvPr/>
        </p:nvPicPr>
        <p:blipFill>
          <a:blip r:embed="rId8">
            <a:alphaModFix/>
          </a:blip>
          <a:stretch>
            <a:fillRect/>
          </a:stretch>
        </p:blipFill>
        <p:spPr>
          <a:xfrm>
            <a:off x="1863063" y="1674475"/>
            <a:ext cx="1625236" cy="680400"/>
          </a:xfrm>
          <a:prstGeom prst="rect">
            <a:avLst/>
          </a:prstGeom>
          <a:noFill/>
          <a:ln>
            <a:noFill/>
          </a:ln>
        </p:spPr>
      </p:pic>
      <p:cxnSp>
        <p:nvCxnSpPr>
          <p:cNvPr id="709" name="Google Shape;709;p64"/>
          <p:cNvCxnSpPr>
            <a:stCxn id="701" idx="3"/>
            <a:endCxn id="702" idx="1"/>
          </p:cNvCxnSpPr>
          <p:nvPr/>
        </p:nvCxnSpPr>
        <p:spPr>
          <a:xfrm>
            <a:off x="1585200" y="2853344"/>
            <a:ext cx="447000" cy="0"/>
          </a:xfrm>
          <a:prstGeom prst="straightConnector1">
            <a:avLst/>
          </a:prstGeom>
          <a:noFill/>
          <a:ln cap="flat" cmpd="sng" w="9525">
            <a:solidFill>
              <a:schemeClr val="dk2"/>
            </a:solidFill>
            <a:prstDash val="solid"/>
            <a:round/>
            <a:headEnd len="med" w="med" type="none"/>
            <a:tailEnd len="med" w="med" type="triangle"/>
          </a:ln>
        </p:spPr>
      </p:cxnSp>
      <p:pic>
        <p:nvPicPr>
          <p:cNvPr id="710" name="Google Shape;710;p64"/>
          <p:cNvPicPr preferRelativeResize="0"/>
          <p:nvPr/>
        </p:nvPicPr>
        <p:blipFill>
          <a:blip r:embed="rId9">
            <a:alphaModFix/>
          </a:blip>
          <a:stretch>
            <a:fillRect/>
          </a:stretch>
        </p:blipFill>
        <p:spPr>
          <a:xfrm>
            <a:off x="6960750" y="1224325"/>
            <a:ext cx="1758627" cy="1130549"/>
          </a:xfrm>
          <a:prstGeom prst="rect">
            <a:avLst/>
          </a:prstGeom>
          <a:noFill/>
          <a:ln>
            <a:noFill/>
          </a:ln>
        </p:spPr>
      </p:pic>
      <p:cxnSp>
        <p:nvCxnSpPr>
          <p:cNvPr id="711" name="Google Shape;711;p64"/>
          <p:cNvCxnSpPr>
            <a:stCxn id="702" idx="3"/>
            <a:endCxn id="703" idx="1"/>
          </p:cNvCxnSpPr>
          <p:nvPr/>
        </p:nvCxnSpPr>
        <p:spPr>
          <a:xfrm>
            <a:off x="3351375" y="28533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712" name="Google Shape;712;p64"/>
          <p:cNvCxnSpPr>
            <a:stCxn id="703" idx="3"/>
            <a:endCxn id="704" idx="1"/>
          </p:cNvCxnSpPr>
          <p:nvPr/>
        </p:nvCxnSpPr>
        <p:spPr>
          <a:xfrm>
            <a:off x="5110750" y="2853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713" name="Google Shape;713;p64"/>
          <p:cNvCxnSpPr>
            <a:stCxn id="704" idx="3"/>
            <a:endCxn id="705" idx="1"/>
          </p:cNvCxnSpPr>
          <p:nvPr/>
        </p:nvCxnSpPr>
        <p:spPr>
          <a:xfrm>
            <a:off x="6847975" y="2853344"/>
            <a:ext cx="306900" cy="0"/>
          </a:xfrm>
          <a:prstGeom prst="straightConnector1">
            <a:avLst/>
          </a:prstGeom>
          <a:noFill/>
          <a:ln cap="flat" cmpd="sng" w="9525">
            <a:solidFill>
              <a:schemeClr val="dk2"/>
            </a:solidFill>
            <a:prstDash val="solid"/>
            <a:round/>
            <a:headEnd len="med" w="med" type="none"/>
            <a:tailEnd len="med" w="med" type="triangle"/>
          </a:ln>
        </p:spPr>
      </p:cxnSp>
      <p:pic>
        <p:nvPicPr>
          <p:cNvPr id="714" name="Google Shape;714;p64"/>
          <p:cNvPicPr preferRelativeResize="0"/>
          <p:nvPr/>
        </p:nvPicPr>
        <p:blipFill rotWithShape="1">
          <a:blip r:embed="rId10">
            <a:alphaModFix/>
          </a:blip>
          <a:srcRect b="0" l="0" r="40008" t="0"/>
          <a:stretch/>
        </p:blipFill>
        <p:spPr>
          <a:xfrm>
            <a:off x="3054852" y="3582050"/>
            <a:ext cx="2007300" cy="1724125"/>
          </a:xfrm>
          <a:prstGeom prst="rect">
            <a:avLst/>
          </a:prstGeom>
          <a:noFill/>
          <a:ln>
            <a:noFill/>
          </a:ln>
        </p:spPr>
      </p:pic>
      <p:sp>
        <p:nvSpPr>
          <p:cNvPr id="715" name="Google Shape;715;p64"/>
          <p:cNvSpPr/>
          <p:nvPr/>
        </p:nvSpPr>
        <p:spPr>
          <a:xfrm>
            <a:off x="5173450" y="4048619"/>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Test the model</a:t>
            </a:r>
            <a:endParaRPr/>
          </a:p>
        </p:txBody>
      </p:sp>
      <p:cxnSp>
        <p:nvCxnSpPr>
          <p:cNvPr id="716" name="Google Shape;716;p64"/>
          <p:cNvCxnSpPr>
            <a:endCxn id="715" idx="3"/>
          </p:cNvCxnSpPr>
          <p:nvPr/>
        </p:nvCxnSpPr>
        <p:spPr>
          <a:xfrm flipH="1">
            <a:off x="6630850" y="2871419"/>
            <a:ext cx="1983600" cy="1593300"/>
          </a:xfrm>
          <a:prstGeom prst="bentConnector3">
            <a:avLst>
              <a:gd fmla="val -1072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Machine Learning Pipeline</a:t>
            </a:r>
            <a:endParaRPr/>
          </a:p>
        </p:txBody>
      </p:sp>
      <p:sp>
        <p:nvSpPr>
          <p:cNvPr id="722" name="Google Shape;722;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Collect your data</a:t>
            </a:r>
            <a:endParaRPr>
              <a:solidFill>
                <a:schemeClr val="dk1"/>
              </a:solidFill>
            </a:endParaRPr>
          </a:p>
          <a:p>
            <a:pPr indent="-342900" lvl="0" marL="457200" rtl="0" algn="l">
              <a:spcBef>
                <a:spcPts val="0"/>
              </a:spcBef>
              <a:spcAft>
                <a:spcPts val="0"/>
              </a:spcAft>
              <a:buSzPts val="1800"/>
              <a:buChar char="●"/>
            </a:pPr>
            <a:r>
              <a:rPr lang="en"/>
              <a:t>Design a feature set</a:t>
            </a:r>
            <a:endParaRPr/>
          </a:p>
          <a:p>
            <a:pPr indent="-342900" lvl="0" marL="457200" rtl="0" algn="l">
              <a:spcBef>
                <a:spcPts val="0"/>
              </a:spcBef>
              <a:spcAft>
                <a:spcPts val="0"/>
              </a:spcAft>
              <a:buSzPts val="1800"/>
              <a:buChar char="●"/>
            </a:pPr>
            <a:r>
              <a:rPr lang="en"/>
              <a:t>Code your data using the feature set you designed</a:t>
            </a:r>
            <a:endParaRPr/>
          </a:p>
          <a:p>
            <a:pPr indent="-342900" lvl="0" marL="457200" rtl="0" algn="l">
              <a:spcBef>
                <a:spcPts val="0"/>
              </a:spcBef>
              <a:spcAft>
                <a:spcPts val="0"/>
              </a:spcAft>
              <a:buClr>
                <a:schemeClr val="dk1"/>
              </a:buClr>
              <a:buSzPts val="1800"/>
              <a:buChar char="●"/>
            </a:pPr>
            <a:r>
              <a:rPr lang="en">
                <a:solidFill>
                  <a:schemeClr val="dk1"/>
                </a:solidFill>
              </a:rPr>
              <a:t>Label your data (assign each item to a class)</a:t>
            </a:r>
            <a:endParaRPr/>
          </a:p>
          <a:p>
            <a:pPr indent="-342900" lvl="0" marL="457200" rtl="0" algn="l">
              <a:spcBef>
                <a:spcPts val="0"/>
              </a:spcBef>
              <a:spcAft>
                <a:spcPts val="0"/>
              </a:spcAft>
              <a:buSzPts val="1800"/>
              <a:buChar char="●"/>
            </a:pPr>
            <a:r>
              <a:rPr lang="en"/>
              <a:t>Train a classifier on your data so it predicts the class from the features</a:t>
            </a:r>
            <a:endParaRPr/>
          </a:p>
          <a:p>
            <a:pPr indent="0" lvl="0" marL="0" rtl="0" algn="l">
              <a:spcBef>
                <a:spcPts val="1200"/>
              </a:spcBef>
              <a:spcAft>
                <a:spcPts val="0"/>
              </a:spcAft>
              <a:buNone/>
            </a:pPr>
            <a:r>
              <a:rPr lang="en"/>
              <a:t>Is your classifier good at its job? How can we know?</a:t>
            </a:r>
            <a:endParaRPr/>
          </a:p>
          <a:p>
            <a:pPr indent="-342900" lvl="0" marL="457200" rtl="0" algn="l">
              <a:spcBef>
                <a:spcPts val="1200"/>
              </a:spcBef>
              <a:spcAft>
                <a:spcPts val="0"/>
              </a:spcAft>
              <a:buSzPts val="1800"/>
              <a:buChar char="●"/>
            </a:pPr>
            <a:r>
              <a:rPr lang="en"/>
              <a:t>Create some test data that were not used in training</a:t>
            </a:r>
            <a:endParaRPr/>
          </a:p>
          <a:p>
            <a:pPr indent="-342900" lvl="0" marL="457200" rtl="0" algn="l">
              <a:spcBef>
                <a:spcPts val="0"/>
              </a:spcBef>
              <a:spcAft>
                <a:spcPts val="0"/>
              </a:spcAft>
              <a:buSzPts val="1800"/>
              <a:buChar char="●"/>
            </a:pPr>
            <a:r>
              <a:rPr lang="en"/>
              <a:t>Run the test data through the classifier and see how often it outputs the correct class</a:t>
            </a:r>
            <a:endParaRPr/>
          </a:p>
        </p:txBody>
      </p:sp>
      <p:sp>
        <p:nvSpPr>
          <p:cNvPr id="723" name="Google Shape;72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New Machine Learning Problem</a:t>
            </a:r>
            <a:endParaRPr/>
          </a:p>
        </p:txBody>
      </p:sp>
      <p:sp>
        <p:nvSpPr>
          <p:cNvPr id="729" name="Google Shape;729;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Patients At Risk for Angelique’s Disease</a:t>
            </a:r>
            <a:endParaRPr/>
          </a:p>
        </p:txBody>
      </p:sp>
      <p:sp>
        <p:nvSpPr>
          <p:cNvPr id="735" name="Google Shape;735;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36" name="Google Shape;736;p67"/>
          <p:cNvGraphicFramePr/>
          <p:nvPr/>
        </p:nvGraphicFramePr>
        <p:xfrm>
          <a:off x="1058850" y="1653250"/>
          <a:ext cx="3000000" cy="3000000"/>
        </p:xfrm>
        <a:graphic>
          <a:graphicData uri="http://schemas.openxmlformats.org/drawingml/2006/table">
            <a:tbl>
              <a:tblPr>
                <a:noFill/>
                <a:tableStyleId>{CFEC1809-D437-4457-BDB7-B71CCF5CB40B}</a:tableStyleId>
              </a:tblPr>
              <a:tblGrid>
                <a:gridCol w="872550"/>
                <a:gridCol w="872550"/>
                <a:gridCol w="872550"/>
              </a:tblGrid>
              <a:tr h="709575">
                <a:tc>
                  <a:txBody>
                    <a:bodyPr/>
                    <a:lstStyle/>
                    <a:p>
                      <a:pPr indent="0" lvl="0" marL="0" rtl="0" algn="ctr">
                        <a:spcBef>
                          <a:spcPts val="0"/>
                        </a:spcBef>
                        <a:spcAft>
                          <a:spcPts val="0"/>
                        </a:spcAft>
                        <a:buNone/>
                      </a:pPr>
                      <a:r>
                        <a:rPr lang="en"/>
                        <a:t>Patient ID</a:t>
                      </a:r>
                      <a:endParaRPr/>
                    </a:p>
                  </a:txBody>
                  <a:tcPr marT="91425" marB="91425" marR="91425" marL="91425"/>
                </a:tc>
                <a:tc>
                  <a:txBody>
                    <a:bodyPr/>
                    <a:lstStyle/>
                    <a:p>
                      <a:pPr indent="0" lvl="0" marL="0" rtl="0" algn="ctr">
                        <a:spcBef>
                          <a:spcPts val="0"/>
                        </a:spcBef>
                        <a:spcAft>
                          <a:spcPts val="0"/>
                        </a:spcAft>
                        <a:buNone/>
                      </a:pPr>
                      <a:r>
                        <a:rPr lang="en"/>
                        <a:t>Enzyme test</a:t>
                      </a:r>
                      <a:endParaRPr/>
                    </a:p>
                  </a:txBody>
                  <a:tcPr marT="91425" marB="91425" marR="91425" marL="91425"/>
                </a:tc>
                <a:tc>
                  <a:txBody>
                    <a:bodyPr/>
                    <a:lstStyle/>
                    <a:p>
                      <a:pPr indent="0" lvl="0" marL="0" rtl="0" algn="ctr">
                        <a:spcBef>
                          <a:spcPts val="0"/>
                        </a:spcBef>
                        <a:spcAft>
                          <a:spcPts val="0"/>
                        </a:spcAft>
                        <a:buNone/>
                      </a:pPr>
                      <a:r>
                        <a:rPr lang="en"/>
                        <a:t>Nerve test</a:t>
                      </a:r>
                      <a:endParaRPr/>
                    </a:p>
                  </a:txBody>
                  <a:tcPr marT="91425" marB="91425" marR="91425" marL="91425"/>
                </a:tc>
              </a:tr>
              <a:tr h="378550">
                <a:tc>
                  <a:txBody>
                    <a:bodyPr/>
                    <a:lstStyle/>
                    <a:p>
                      <a:pPr indent="0" lvl="0" marL="0" rtl="0" algn="ctr">
                        <a:spcBef>
                          <a:spcPts val="0"/>
                        </a:spcBef>
                        <a:spcAft>
                          <a:spcPts val="0"/>
                        </a:spcAft>
                        <a:buNone/>
                      </a:pPr>
                      <a:r>
                        <a:rPr lang="en"/>
                        <a:t>AXQJ</a:t>
                      </a:r>
                      <a:endParaRPr/>
                    </a:p>
                  </a:txBody>
                  <a:tcPr marT="91425" marB="91425" marR="91425" marL="91425"/>
                </a:tc>
                <a:tc>
                  <a:txBody>
                    <a:bodyPr/>
                    <a:lstStyle/>
                    <a:p>
                      <a:pPr indent="0" lvl="0" marL="0" rtl="0" algn="ctr">
                        <a:spcBef>
                          <a:spcPts val="0"/>
                        </a:spcBef>
                        <a:spcAft>
                          <a:spcPts val="0"/>
                        </a:spcAft>
                        <a:buNone/>
                      </a:pPr>
                      <a:r>
                        <a:rPr lang="en"/>
                        <a:t>3.1</a:t>
                      </a:r>
                      <a:endParaRPr/>
                    </a:p>
                  </a:txBody>
                  <a:tcPr marT="91425" marB="91425" marR="91425" marL="91425"/>
                </a:tc>
                <a:tc>
                  <a:txBody>
                    <a:bodyPr/>
                    <a:lstStyle/>
                    <a:p>
                      <a:pPr indent="0" lvl="0" marL="0" rtl="0" algn="ctr">
                        <a:spcBef>
                          <a:spcPts val="0"/>
                        </a:spcBef>
                        <a:spcAft>
                          <a:spcPts val="0"/>
                        </a:spcAft>
                        <a:buNone/>
                      </a:pPr>
                      <a:r>
                        <a:rPr lang="en"/>
                        <a:t>85</a:t>
                      </a:r>
                      <a:endParaRPr/>
                    </a:p>
                  </a:txBody>
                  <a:tcPr marT="91425" marB="91425" marR="91425" marL="91425"/>
                </a:tc>
              </a:tr>
              <a:tr h="378550">
                <a:tc>
                  <a:txBody>
                    <a:bodyPr/>
                    <a:lstStyle/>
                    <a:p>
                      <a:pPr indent="0" lvl="0" marL="0" rtl="0" algn="ctr">
                        <a:spcBef>
                          <a:spcPts val="0"/>
                        </a:spcBef>
                        <a:spcAft>
                          <a:spcPts val="0"/>
                        </a:spcAft>
                        <a:buNone/>
                      </a:pPr>
                      <a:r>
                        <a:rPr lang="en"/>
                        <a:t>FWBR</a:t>
                      </a:r>
                      <a:endParaRPr/>
                    </a:p>
                  </a:txBody>
                  <a:tcPr marT="91425" marB="91425" marR="91425" marL="91425"/>
                </a:tc>
                <a:tc>
                  <a:txBody>
                    <a:bodyPr/>
                    <a:lstStyle/>
                    <a:p>
                      <a:pPr indent="0" lvl="0" marL="0" rtl="0" algn="ctr">
                        <a:spcBef>
                          <a:spcPts val="0"/>
                        </a:spcBef>
                        <a:spcAft>
                          <a:spcPts val="0"/>
                        </a:spcAft>
                        <a:buNone/>
                      </a:pPr>
                      <a:r>
                        <a:rPr lang="en"/>
                        <a:t>4.2</a:t>
                      </a:r>
                      <a:endParaRPr/>
                    </a:p>
                  </a:txBody>
                  <a:tcPr marT="91425" marB="91425" marR="91425" marL="91425"/>
                </a:tc>
                <a:tc>
                  <a:txBody>
                    <a:bodyPr/>
                    <a:lstStyle/>
                    <a:p>
                      <a:pPr indent="0" lvl="0" marL="0" rtl="0" algn="ctr">
                        <a:spcBef>
                          <a:spcPts val="0"/>
                        </a:spcBef>
                        <a:spcAft>
                          <a:spcPts val="0"/>
                        </a:spcAft>
                        <a:buNone/>
                      </a:pPr>
                      <a:r>
                        <a:rPr lang="en"/>
                        <a:t>71</a:t>
                      </a:r>
                      <a:endParaRPr/>
                    </a:p>
                  </a:txBody>
                  <a:tcPr marT="91425" marB="91425" marR="91425" marL="91425"/>
                </a:tc>
              </a:tr>
              <a:tr h="378550">
                <a:tc>
                  <a:txBody>
                    <a:bodyPr/>
                    <a:lstStyle/>
                    <a:p>
                      <a:pPr indent="0" lvl="0" marL="0" rtl="0" algn="ctr">
                        <a:spcBef>
                          <a:spcPts val="0"/>
                        </a:spcBef>
                        <a:spcAft>
                          <a:spcPts val="0"/>
                        </a:spcAft>
                        <a:buNone/>
                      </a:pPr>
                      <a:r>
                        <a:rPr lang="en"/>
                        <a:t>POMZ</a:t>
                      </a:r>
                      <a:endParaRPr/>
                    </a:p>
                  </a:txBody>
                  <a:tcPr marT="91425" marB="91425" marR="91425" marL="91425"/>
                </a:tc>
                <a:tc>
                  <a:txBody>
                    <a:bodyPr/>
                    <a:lstStyle/>
                    <a:p>
                      <a:pPr indent="0" lvl="0" marL="0" rtl="0" algn="ctr">
                        <a:spcBef>
                          <a:spcPts val="0"/>
                        </a:spcBef>
                        <a:spcAft>
                          <a:spcPts val="0"/>
                        </a:spcAft>
                        <a:buNone/>
                      </a:pPr>
                      <a:r>
                        <a:rPr lang="en"/>
                        <a:t>3.5</a:t>
                      </a:r>
                      <a:endParaRPr/>
                    </a:p>
                  </a:txBody>
                  <a:tcPr marT="91425" marB="91425" marR="91425" marL="91425"/>
                </a:tc>
                <a:tc>
                  <a:txBody>
                    <a:bodyPr/>
                    <a:lstStyle/>
                    <a:p>
                      <a:pPr indent="0" lvl="0" marL="0" rtl="0" algn="ctr">
                        <a:spcBef>
                          <a:spcPts val="0"/>
                        </a:spcBef>
                        <a:spcAft>
                          <a:spcPts val="0"/>
                        </a:spcAft>
                        <a:buNone/>
                      </a:pPr>
                      <a:r>
                        <a:rPr lang="en"/>
                        <a:t>91</a:t>
                      </a:r>
                      <a:endParaRPr/>
                    </a:p>
                  </a:txBody>
                  <a:tcPr marT="91425" marB="91425" marR="91425" marL="91425"/>
                </a:tc>
              </a:tr>
              <a:tr h="378550">
                <a:tc>
                  <a:txBody>
                    <a:bodyPr/>
                    <a:lstStyle/>
                    <a:p>
                      <a:pPr indent="0" lvl="0" marL="0" rtl="0" algn="ctr">
                        <a:spcBef>
                          <a:spcPts val="0"/>
                        </a:spcBef>
                        <a:spcAft>
                          <a:spcPts val="0"/>
                        </a:spcAft>
                        <a:buNone/>
                      </a:pPr>
                      <a:r>
                        <a:rPr lang="en"/>
                        <a:t>RJHW</a:t>
                      </a:r>
                      <a:endParaRPr/>
                    </a:p>
                  </a:txBody>
                  <a:tcPr marT="91425" marB="91425" marR="91425" marL="91425"/>
                </a:tc>
                <a:tc>
                  <a:txBody>
                    <a:bodyPr/>
                    <a:lstStyle/>
                    <a:p>
                      <a:pPr indent="0" lvl="0" marL="0" rtl="0" algn="ctr">
                        <a:spcBef>
                          <a:spcPts val="0"/>
                        </a:spcBef>
                        <a:spcAft>
                          <a:spcPts val="0"/>
                        </a:spcAft>
                        <a:buNone/>
                      </a:pPr>
                      <a:r>
                        <a:rPr lang="en"/>
                        <a:t>8.5</a:t>
                      </a:r>
                      <a:endParaRPr/>
                    </a:p>
                  </a:txBody>
                  <a:tcPr marT="91425" marB="91425" marR="91425" marL="91425"/>
                </a:tc>
                <a:tc>
                  <a:txBody>
                    <a:bodyPr/>
                    <a:lstStyle/>
                    <a:p>
                      <a:pPr indent="0" lvl="0" marL="0" rtl="0" algn="ctr">
                        <a:spcBef>
                          <a:spcPts val="0"/>
                        </a:spcBef>
                        <a:spcAft>
                          <a:spcPts val="0"/>
                        </a:spcAft>
                        <a:buNone/>
                      </a:pPr>
                      <a:r>
                        <a:rPr lang="en"/>
                        <a:t>24</a:t>
                      </a:r>
                      <a:endParaRPr/>
                    </a:p>
                  </a:txBody>
                  <a:tcPr marT="91425" marB="91425" marR="91425" marL="91425"/>
                </a:tc>
              </a:tr>
              <a:tr h="378550">
                <a:tc>
                  <a:txBody>
                    <a:bodyPr/>
                    <a:lstStyle/>
                    <a:p>
                      <a:pPr indent="0" lvl="0" marL="0" rtl="0" algn="ctr">
                        <a:spcBef>
                          <a:spcPts val="0"/>
                        </a:spcBef>
                        <a:spcAft>
                          <a:spcPts val="0"/>
                        </a:spcAft>
                        <a:buNone/>
                      </a:pPr>
                      <a:r>
                        <a:rPr lang="en"/>
                        <a:t>QKLE</a:t>
                      </a:r>
                      <a:endParaRPr/>
                    </a:p>
                  </a:txBody>
                  <a:tcPr marT="91425" marB="91425" marR="91425" marL="91425"/>
                </a:tc>
                <a:tc>
                  <a:txBody>
                    <a:bodyPr/>
                    <a:lstStyle/>
                    <a:p>
                      <a:pPr indent="0" lvl="0" marL="0" rtl="0" algn="ctr">
                        <a:spcBef>
                          <a:spcPts val="0"/>
                        </a:spcBef>
                        <a:spcAft>
                          <a:spcPts val="0"/>
                        </a:spcAft>
                        <a:buNone/>
                      </a:pPr>
                      <a:r>
                        <a:rPr lang="en"/>
                        <a:t>9.6</a:t>
                      </a:r>
                      <a:endParaRPr/>
                    </a:p>
                  </a:txBody>
                  <a:tcPr marT="91425" marB="91425" marR="91425" marL="91425"/>
                </a:tc>
                <a:tc>
                  <a:txBody>
                    <a:bodyPr/>
                    <a:lstStyle/>
                    <a:p>
                      <a:pPr indent="0" lvl="0" marL="0" rtl="0" algn="ctr">
                        <a:spcBef>
                          <a:spcPts val="0"/>
                        </a:spcBef>
                        <a:spcAft>
                          <a:spcPts val="0"/>
                        </a:spcAft>
                        <a:buNone/>
                      </a:pPr>
                      <a:r>
                        <a:rPr lang="en"/>
                        <a:t>17</a:t>
                      </a:r>
                      <a:endParaRPr/>
                    </a:p>
                  </a:txBody>
                  <a:tcPr marT="91425" marB="91425" marR="91425" marL="91425"/>
                </a:tc>
              </a:tr>
              <a:tr h="378550">
                <a:tc>
                  <a:txBody>
                    <a:bodyPr/>
                    <a:lstStyle/>
                    <a:p>
                      <a:pPr indent="0" lvl="0" marL="0" rtl="0" algn="ctr">
                        <a:spcBef>
                          <a:spcPts val="0"/>
                        </a:spcBef>
                        <a:spcAft>
                          <a:spcPts val="0"/>
                        </a:spcAft>
                        <a:buNone/>
                      </a:pPr>
                      <a:r>
                        <a:rPr lang="en"/>
                        <a:t>GSIB</a:t>
                      </a:r>
                      <a:endParaRPr/>
                    </a:p>
                  </a:txBody>
                  <a:tcPr marT="91425" marB="91425" marR="91425" marL="91425"/>
                </a:tc>
                <a:tc>
                  <a:txBody>
                    <a:bodyPr/>
                    <a:lstStyle/>
                    <a:p>
                      <a:pPr indent="0" lvl="0" marL="0" rtl="0" algn="ctr">
                        <a:spcBef>
                          <a:spcPts val="0"/>
                        </a:spcBef>
                        <a:spcAft>
                          <a:spcPts val="0"/>
                        </a:spcAft>
                        <a:buNone/>
                      </a:pPr>
                      <a:r>
                        <a:rPr lang="en"/>
                        <a:t>7.9</a:t>
                      </a:r>
                      <a:endParaRPr/>
                    </a:p>
                  </a:txBody>
                  <a:tcPr marT="91425" marB="91425" marR="91425" marL="91425"/>
                </a:tc>
                <a:tc>
                  <a:txBody>
                    <a:bodyPr/>
                    <a:lstStyle/>
                    <a:p>
                      <a:pPr indent="0" lvl="0" marL="0" rtl="0" algn="ctr">
                        <a:spcBef>
                          <a:spcPts val="0"/>
                        </a:spcBef>
                        <a:spcAft>
                          <a:spcPts val="0"/>
                        </a:spcAft>
                        <a:buNone/>
                      </a:pPr>
                      <a:r>
                        <a:rPr lang="en"/>
                        <a:t>19</a:t>
                      </a:r>
                      <a:endParaRPr/>
                    </a:p>
                  </a:txBody>
                  <a:tcPr marT="91425" marB="91425" marR="91425" marL="91425"/>
                </a:tc>
              </a:tr>
            </a:tbl>
          </a:graphicData>
        </a:graphic>
      </p:graphicFrame>
      <p:sp>
        <p:nvSpPr>
          <p:cNvPr id="737" name="Google Shape;737;p67"/>
          <p:cNvSpPr/>
          <p:nvPr/>
        </p:nvSpPr>
        <p:spPr>
          <a:xfrm>
            <a:off x="1058875" y="1284725"/>
            <a:ext cx="2617800" cy="393600"/>
          </a:xfrm>
          <a:prstGeom prst="rect">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Did Not Develop the Disease</a:t>
            </a:r>
            <a:endParaRPr b="1">
              <a:solidFill>
                <a:schemeClr val="lt1"/>
              </a:solidFill>
            </a:endParaRPr>
          </a:p>
        </p:txBody>
      </p:sp>
      <p:graphicFrame>
        <p:nvGraphicFramePr>
          <p:cNvPr id="738" name="Google Shape;738;p67"/>
          <p:cNvGraphicFramePr/>
          <p:nvPr/>
        </p:nvGraphicFramePr>
        <p:xfrm>
          <a:off x="4564050" y="1653250"/>
          <a:ext cx="3000000" cy="3000000"/>
        </p:xfrm>
        <a:graphic>
          <a:graphicData uri="http://schemas.openxmlformats.org/drawingml/2006/table">
            <a:tbl>
              <a:tblPr>
                <a:noFill/>
                <a:tableStyleId>{CFEC1809-D437-4457-BDB7-B71CCF5CB40B}</a:tableStyleId>
              </a:tblPr>
              <a:tblGrid>
                <a:gridCol w="872550"/>
                <a:gridCol w="872550"/>
                <a:gridCol w="872550"/>
              </a:tblGrid>
              <a:tr h="709575">
                <a:tc>
                  <a:txBody>
                    <a:bodyPr/>
                    <a:lstStyle/>
                    <a:p>
                      <a:pPr indent="0" lvl="0" marL="0" rtl="0" algn="ctr">
                        <a:spcBef>
                          <a:spcPts val="0"/>
                        </a:spcBef>
                        <a:spcAft>
                          <a:spcPts val="0"/>
                        </a:spcAft>
                        <a:buNone/>
                      </a:pPr>
                      <a:r>
                        <a:rPr lang="en"/>
                        <a:t>Patient ID</a:t>
                      </a:r>
                      <a:endParaRPr/>
                    </a:p>
                  </a:txBody>
                  <a:tcPr marT="91425" marB="91425" marR="91425" marL="91425"/>
                </a:tc>
                <a:tc>
                  <a:txBody>
                    <a:bodyPr/>
                    <a:lstStyle/>
                    <a:p>
                      <a:pPr indent="0" lvl="0" marL="0" rtl="0" algn="ctr">
                        <a:spcBef>
                          <a:spcPts val="0"/>
                        </a:spcBef>
                        <a:spcAft>
                          <a:spcPts val="0"/>
                        </a:spcAft>
                        <a:buNone/>
                      </a:pPr>
                      <a:r>
                        <a:rPr lang="en"/>
                        <a:t>Enzyme test</a:t>
                      </a:r>
                      <a:endParaRPr/>
                    </a:p>
                  </a:txBody>
                  <a:tcPr marT="91425" marB="91425" marR="91425" marL="91425"/>
                </a:tc>
                <a:tc>
                  <a:txBody>
                    <a:bodyPr/>
                    <a:lstStyle/>
                    <a:p>
                      <a:pPr indent="0" lvl="0" marL="0" rtl="0" algn="ctr">
                        <a:spcBef>
                          <a:spcPts val="0"/>
                        </a:spcBef>
                        <a:spcAft>
                          <a:spcPts val="0"/>
                        </a:spcAft>
                        <a:buNone/>
                      </a:pPr>
                      <a:r>
                        <a:rPr lang="en"/>
                        <a:t>Nerve test</a:t>
                      </a:r>
                      <a:endParaRPr/>
                    </a:p>
                  </a:txBody>
                  <a:tcPr marT="91425" marB="91425" marR="91425" marL="91425"/>
                </a:tc>
              </a:tr>
              <a:tr h="378550">
                <a:tc>
                  <a:txBody>
                    <a:bodyPr/>
                    <a:lstStyle/>
                    <a:p>
                      <a:pPr indent="0" lvl="0" marL="0" rtl="0" algn="ctr">
                        <a:spcBef>
                          <a:spcPts val="0"/>
                        </a:spcBef>
                        <a:spcAft>
                          <a:spcPts val="0"/>
                        </a:spcAft>
                        <a:buNone/>
                      </a:pPr>
                      <a:r>
                        <a:rPr lang="en"/>
                        <a:t>MOZR</a:t>
                      </a:r>
                      <a:endParaRPr/>
                    </a:p>
                  </a:txBody>
                  <a:tcPr marT="91425" marB="91425" marR="91425" marL="91425"/>
                </a:tc>
                <a:tc>
                  <a:txBody>
                    <a:bodyPr/>
                    <a:lstStyle/>
                    <a:p>
                      <a:pPr indent="0" lvl="0" marL="0" rtl="0" algn="ctr">
                        <a:spcBef>
                          <a:spcPts val="0"/>
                        </a:spcBef>
                        <a:spcAft>
                          <a:spcPts val="0"/>
                        </a:spcAft>
                        <a:buNone/>
                      </a:pPr>
                      <a:r>
                        <a:rPr lang="en"/>
                        <a:t>4.2</a:t>
                      </a:r>
                      <a:endParaRPr/>
                    </a:p>
                  </a:txBody>
                  <a:tcPr marT="91425" marB="91425" marR="91425" marL="91425"/>
                </a:tc>
                <a:tc>
                  <a:txBody>
                    <a:bodyPr/>
                    <a:lstStyle/>
                    <a:p>
                      <a:pPr indent="0" lvl="0" marL="0" rtl="0" algn="ctr">
                        <a:spcBef>
                          <a:spcPts val="0"/>
                        </a:spcBef>
                        <a:spcAft>
                          <a:spcPts val="0"/>
                        </a:spcAft>
                        <a:buNone/>
                      </a:pPr>
                      <a:r>
                        <a:rPr lang="en"/>
                        <a:t>17</a:t>
                      </a:r>
                      <a:endParaRPr/>
                    </a:p>
                  </a:txBody>
                  <a:tcPr marT="91425" marB="91425" marR="91425" marL="91425"/>
                </a:tc>
              </a:tr>
              <a:tr h="378550">
                <a:tc>
                  <a:txBody>
                    <a:bodyPr/>
                    <a:lstStyle/>
                    <a:p>
                      <a:pPr indent="0" lvl="0" marL="0" rtl="0" algn="ctr">
                        <a:spcBef>
                          <a:spcPts val="0"/>
                        </a:spcBef>
                        <a:spcAft>
                          <a:spcPts val="0"/>
                        </a:spcAft>
                        <a:buNone/>
                      </a:pPr>
                      <a:r>
                        <a:rPr lang="en"/>
                        <a:t>LAKS</a:t>
                      </a:r>
                      <a:endParaRPr/>
                    </a:p>
                  </a:txBody>
                  <a:tcPr marT="91425" marB="91425" marR="91425" marL="91425"/>
                </a:tc>
                <a:tc>
                  <a:txBody>
                    <a:bodyPr/>
                    <a:lstStyle/>
                    <a:p>
                      <a:pPr indent="0" lvl="0" marL="0" rtl="0" algn="ctr">
                        <a:spcBef>
                          <a:spcPts val="0"/>
                        </a:spcBef>
                        <a:spcAft>
                          <a:spcPts val="0"/>
                        </a:spcAft>
                        <a:buNone/>
                      </a:pPr>
                      <a:r>
                        <a:rPr lang="en"/>
                        <a:t>4.1</a:t>
                      </a:r>
                      <a:endParaRPr/>
                    </a:p>
                  </a:txBody>
                  <a:tcPr marT="91425" marB="91425" marR="91425" marL="91425"/>
                </a:tc>
                <a:tc>
                  <a:txBody>
                    <a:bodyPr/>
                    <a:lstStyle/>
                    <a:p>
                      <a:pPr indent="0" lvl="0" marL="0" rtl="0" algn="ctr">
                        <a:spcBef>
                          <a:spcPts val="0"/>
                        </a:spcBef>
                        <a:spcAft>
                          <a:spcPts val="0"/>
                        </a:spcAft>
                        <a:buNone/>
                      </a:pPr>
                      <a:r>
                        <a:rPr lang="en"/>
                        <a:t>24</a:t>
                      </a:r>
                      <a:endParaRPr/>
                    </a:p>
                  </a:txBody>
                  <a:tcPr marT="91425" marB="91425" marR="91425" marL="91425"/>
                </a:tc>
              </a:tr>
              <a:tr h="378550">
                <a:tc>
                  <a:txBody>
                    <a:bodyPr/>
                    <a:lstStyle/>
                    <a:p>
                      <a:pPr indent="0" lvl="0" marL="0" rtl="0" algn="ctr">
                        <a:spcBef>
                          <a:spcPts val="0"/>
                        </a:spcBef>
                        <a:spcAft>
                          <a:spcPts val="0"/>
                        </a:spcAft>
                        <a:buNone/>
                      </a:pPr>
                      <a:r>
                        <a:rPr lang="en"/>
                        <a:t>EBJF</a:t>
                      </a:r>
                      <a:endParaRPr/>
                    </a:p>
                  </a:txBody>
                  <a:tcPr marT="91425" marB="91425" marR="91425" marL="91425"/>
                </a:tc>
                <a:tc>
                  <a:txBody>
                    <a:bodyPr/>
                    <a:lstStyle/>
                    <a:p>
                      <a:pPr indent="0" lvl="0" marL="0" rtl="0" algn="ctr">
                        <a:spcBef>
                          <a:spcPts val="0"/>
                        </a:spcBef>
                        <a:spcAft>
                          <a:spcPts val="0"/>
                        </a:spcAft>
                        <a:buNone/>
                      </a:pPr>
                      <a:r>
                        <a:rPr lang="en"/>
                        <a:t>3.1</a:t>
                      </a:r>
                      <a:endParaRPr/>
                    </a:p>
                  </a:txBody>
                  <a:tcPr marT="91425" marB="91425" marR="91425" marL="91425"/>
                </a:tc>
                <a:tc>
                  <a:txBody>
                    <a:bodyPr/>
                    <a:lstStyle/>
                    <a:p>
                      <a:pPr indent="0" lvl="0" marL="0" rtl="0" algn="ctr">
                        <a:spcBef>
                          <a:spcPts val="0"/>
                        </a:spcBef>
                        <a:spcAft>
                          <a:spcPts val="0"/>
                        </a:spcAft>
                        <a:buNone/>
                      </a:pPr>
                      <a:r>
                        <a:rPr lang="en"/>
                        <a:t>18</a:t>
                      </a:r>
                      <a:endParaRPr/>
                    </a:p>
                  </a:txBody>
                  <a:tcPr marT="91425" marB="91425" marR="91425" marL="91425"/>
                </a:tc>
              </a:tr>
              <a:tr h="378550">
                <a:tc>
                  <a:txBody>
                    <a:bodyPr/>
                    <a:lstStyle/>
                    <a:p>
                      <a:pPr indent="0" lvl="0" marL="0" rtl="0" algn="ctr">
                        <a:spcBef>
                          <a:spcPts val="0"/>
                        </a:spcBef>
                        <a:spcAft>
                          <a:spcPts val="0"/>
                        </a:spcAft>
                        <a:buNone/>
                      </a:pPr>
                      <a:r>
                        <a:rPr lang="en"/>
                        <a:t>QXPW</a:t>
                      </a:r>
                      <a:endParaRPr/>
                    </a:p>
                  </a:txBody>
                  <a:tcPr marT="91425" marB="91425" marR="91425" marL="91425"/>
                </a:tc>
                <a:tc>
                  <a:txBody>
                    <a:bodyPr/>
                    <a:lstStyle/>
                    <a:p>
                      <a:pPr indent="0" lvl="0" marL="0" rtl="0" algn="ctr">
                        <a:spcBef>
                          <a:spcPts val="0"/>
                        </a:spcBef>
                        <a:spcAft>
                          <a:spcPts val="0"/>
                        </a:spcAft>
                        <a:buNone/>
                      </a:pPr>
                      <a:r>
                        <a:rPr lang="en"/>
                        <a:t>9.6</a:t>
                      </a:r>
                      <a:endParaRPr/>
                    </a:p>
                  </a:txBody>
                  <a:tcPr marT="91425" marB="91425" marR="91425" marL="91425"/>
                </a:tc>
                <a:tc>
                  <a:txBody>
                    <a:bodyPr/>
                    <a:lstStyle/>
                    <a:p>
                      <a:pPr indent="0" lvl="0" marL="0" rtl="0" algn="ctr">
                        <a:spcBef>
                          <a:spcPts val="0"/>
                        </a:spcBef>
                        <a:spcAft>
                          <a:spcPts val="0"/>
                        </a:spcAft>
                        <a:buNone/>
                      </a:pPr>
                      <a:r>
                        <a:rPr lang="en"/>
                        <a:t>71</a:t>
                      </a:r>
                      <a:endParaRPr/>
                    </a:p>
                  </a:txBody>
                  <a:tcPr marT="91425" marB="91425" marR="91425" marL="91425"/>
                </a:tc>
              </a:tr>
              <a:tr h="378550">
                <a:tc>
                  <a:txBody>
                    <a:bodyPr/>
                    <a:lstStyle/>
                    <a:p>
                      <a:pPr indent="0" lvl="0" marL="0" rtl="0" algn="ctr">
                        <a:spcBef>
                          <a:spcPts val="0"/>
                        </a:spcBef>
                        <a:spcAft>
                          <a:spcPts val="0"/>
                        </a:spcAft>
                        <a:buNone/>
                      </a:pPr>
                      <a:r>
                        <a:rPr lang="en"/>
                        <a:t>HMWV</a:t>
                      </a:r>
                      <a:endParaRPr/>
                    </a:p>
                  </a:txBody>
                  <a:tcPr marT="91425" marB="91425" marR="91425" marL="91425"/>
                </a:tc>
                <a:tc>
                  <a:txBody>
                    <a:bodyPr/>
                    <a:lstStyle/>
                    <a:p>
                      <a:pPr indent="0" lvl="0" marL="0" rtl="0" algn="ctr">
                        <a:spcBef>
                          <a:spcPts val="0"/>
                        </a:spcBef>
                        <a:spcAft>
                          <a:spcPts val="0"/>
                        </a:spcAft>
                        <a:buNone/>
                      </a:pPr>
                      <a:r>
                        <a:rPr lang="en"/>
                        <a:t>8.7</a:t>
                      </a:r>
                      <a:endParaRPr/>
                    </a:p>
                  </a:txBody>
                  <a:tcPr marT="91425" marB="91425" marR="91425" marL="91425"/>
                </a:tc>
                <a:tc>
                  <a:txBody>
                    <a:bodyPr/>
                    <a:lstStyle/>
                    <a:p>
                      <a:pPr indent="0" lvl="0" marL="0" rtl="0" algn="ctr">
                        <a:spcBef>
                          <a:spcPts val="0"/>
                        </a:spcBef>
                        <a:spcAft>
                          <a:spcPts val="0"/>
                        </a:spcAft>
                        <a:buNone/>
                      </a:pPr>
                      <a:r>
                        <a:rPr lang="en"/>
                        <a:t>82</a:t>
                      </a:r>
                      <a:endParaRPr/>
                    </a:p>
                  </a:txBody>
                  <a:tcPr marT="91425" marB="91425" marR="91425" marL="91425"/>
                </a:tc>
              </a:tr>
              <a:tr h="378550">
                <a:tc>
                  <a:txBody>
                    <a:bodyPr/>
                    <a:lstStyle/>
                    <a:p>
                      <a:pPr indent="0" lvl="0" marL="0" rtl="0" algn="ctr">
                        <a:spcBef>
                          <a:spcPts val="0"/>
                        </a:spcBef>
                        <a:spcAft>
                          <a:spcPts val="0"/>
                        </a:spcAft>
                        <a:buNone/>
                      </a:pPr>
                      <a:r>
                        <a:rPr lang="en"/>
                        <a:t>IRTN</a:t>
                      </a:r>
                      <a:endParaRPr/>
                    </a:p>
                  </a:txBody>
                  <a:tcPr marT="91425" marB="91425" marR="91425" marL="91425"/>
                </a:tc>
                <a:tc>
                  <a:txBody>
                    <a:bodyPr/>
                    <a:lstStyle/>
                    <a:p>
                      <a:pPr indent="0" lvl="0" marL="0" rtl="0" algn="ctr">
                        <a:spcBef>
                          <a:spcPts val="0"/>
                        </a:spcBef>
                        <a:spcAft>
                          <a:spcPts val="0"/>
                        </a:spcAft>
                        <a:buNone/>
                      </a:pPr>
                      <a:r>
                        <a:rPr lang="en"/>
                        <a:t>7.9</a:t>
                      </a:r>
                      <a:endParaRPr/>
                    </a:p>
                  </a:txBody>
                  <a:tcPr marT="91425" marB="91425" marR="91425" marL="91425"/>
                </a:tc>
                <a:tc>
                  <a:txBody>
                    <a:bodyPr/>
                    <a:lstStyle/>
                    <a:p>
                      <a:pPr indent="0" lvl="0" marL="0" rtl="0" algn="ctr">
                        <a:spcBef>
                          <a:spcPts val="0"/>
                        </a:spcBef>
                        <a:spcAft>
                          <a:spcPts val="0"/>
                        </a:spcAft>
                        <a:buNone/>
                      </a:pPr>
                      <a:r>
                        <a:rPr lang="en"/>
                        <a:t>91</a:t>
                      </a:r>
                      <a:endParaRPr/>
                    </a:p>
                  </a:txBody>
                  <a:tcPr marT="91425" marB="91425" marR="91425" marL="91425"/>
                </a:tc>
              </a:tr>
            </a:tbl>
          </a:graphicData>
        </a:graphic>
      </p:graphicFrame>
      <p:sp>
        <p:nvSpPr>
          <p:cNvPr id="739" name="Google Shape;739;p67"/>
          <p:cNvSpPr/>
          <p:nvPr/>
        </p:nvSpPr>
        <p:spPr>
          <a:xfrm>
            <a:off x="4564075" y="1284725"/>
            <a:ext cx="2617800" cy="3936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Did Develop the Disease</a:t>
            </a:r>
            <a:endParaRPr b="1">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Setting Up the Project in MachineLearningForKids </a:t>
            </a:r>
            <a:endParaRPr/>
          </a:p>
        </p:txBody>
      </p:sp>
      <p:sp>
        <p:nvSpPr>
          <p:cNvPr id="745" name="Google Shape;745;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u="sng">
                <a:solidFill>
                  <a:schemeClr val="hlink"/>
                </a:solidFill>
                <a:hlinkClick r:id="rId3"/>
              </a:rPr>
              <a:t>Link to disease demo video</a:t>
            </a:r>
            <a:endParaRPr/>
          </a:p>
          <a:p>
            <a:pPr indent="-342900" lvl="0" marL="457200" rtl="0" algn="l">
              <a:spcBef>
                <a:spcPts val="1200"/>
              </a:spcBef>
              <a:spcAft>
                <a:spcPts val="0"/>
              </a:spcAft>
              <a:buSzPts val="1800"/>
              <a:buAutoNum type="arabicPeriod"/>
            </a:pPr>
            <a:r>
              <a:rPr lang="en"/>
              <a:t>New project, recognizing numbers</a:t>
            </a:r>
            <a:endParaRPr/>
          </a:p>
          <a:p>
            <a:pPr indent="-342900" lvl="0" marL="457200" rtl="0" algn="l">
              <a:spcBef>
                <a:spcPts val="0"/>
              </a:spcBef>
              <a:spcAft>
                <a:spcPts val="0"/>
              </a:spcAft>
              <a:buSzPts val="1800"/>
              <a:buAutoNum type="arabicPeriod"/>
            </a:pPr>
            <a:r>
              <a:rPr lang="en"/>
              <a:t>Add value: Enzyme test (numbers)</a:t>
            </a:r>
            <a:endParaRPr/>
          </a:p>
          <a:p>
            <a:pPr indent="-342900" lvl="0" marL="457200" rtl="0" algn="l">
              <a:spcBef>
                <a:spcPts val="0"/>
              </a:spcBef>
              <a:spcAft>
                <a:spcPts val="0"/>
              </a:spcAft>
              <a:buSzPts val="1800"/>
              <a:buAutoNum type="arabicPeriod"/>
            </a:pPr>
            <a:r>
              <a:rPr lang="en"/>
              <a:t>Add value: Nerve test (numbers)</a:t>
            </a:r>
            <a:endParaRPr/>
          </a:p>
          <a:p>
            <a:pPr indent="-342900" lvl="0" marL="457200" rtl="0" algn="l">
              <a:spcBef>
                <a:spcPts val="0"/>
              </a:spcBef>
              <a:spcAft>
                <a:spcPts val="0"/>
              </a:spcAft>
              <a:buSzPts val="1800"/>
              <a:buAutoNum type="arabicPeriod"/>
            </a:pPr>
            <a:r>
              <a:rPr lang="en"/>
              <a:t>Create</a:t>
            </a:r>
            <a:endParaRPr/>
          </a:p>
          <a:p>
            <a:pPr indent="-342900" lvl="0" marL="457200" rtl="0" algn="l">
              <a:spcBef>
                <a:spcPts val="0"/>
              </a:spcBef>
              <a:spcAft>
                <a:spcPts val="0"/>
              </a:spcAft>
              <a:buSzPts val="1800"/>
              <a:buAutoNum type="arabicPeriod"/>
            </a:pPr>
            <a:r>
              <a:rPr lang="en"/>
              <a:t>Add new label: no_disease</a:t>
            </a:r>
            <a:endParaRPr/>
          </a:p>
          <a:p>
            <a:pPr indent="-317500" lvl="1" marL="914400" rtl="0" algn="l">
              <a:spcBef>
                <a:spcPts val="0"/>
              </a:spcBef>
              <a:spcAft>
                <a:spcPts val="0"/>
              </a:spcAft>
              <a:buSzPts val="1400"/>
              <a:buChar char="○"/>
            </a:pPr>
            <a:r>
              <a:rPr lang="en"/>
              <a:t>Enter patient data</a:t>
            </a:r>
            <a:endParaRPr/>
          </a:p>
          <a:p>
            <a:pPr indent="-342900" lvl="0" marL="457200" rtl="0" algn="l">
              <a:spcBef>
                <a:spcPts val="0"/>
              </a:spcBef>
              <a:spcAft>
                <a:spcPts val="0"/>
              </a:spcAft>
              <a:buSzPts val="1800"/>
              <a:buAutoNum type="arabicPeriod"/>
            </a:pPr>
            <a:r>
              <a:rPr lang="en"/>
              <a:t>Add new label: got_disease</a:t>
            </a:r>
            <a:endParaRPr/>
          </a:p>
          <a:p>
            <a:pPr indent="-317500" lvl="1" marL="914400" rtl="0" algn="l">
              <a:spcBef>
                <a:spcPts val="0"/>
              </a:spcBef>
              <a:spcAft>
                <a:spcPts val="0"/>
              </a:spcAft>
              <a:buSzPts val="1400"/>
              <a:buChar char="○"/>
            </a:pPr>
            <a:r>
              <a:rPr lang="en"/>
              <a:t>Enter patient data</a:t>
            </a:r>
            <a:endParaRPr/>
          </a:p>
          <a:p>
            <a:pPr indent="-342900" lvl="0" marL="457200" rtl="0" algn="l">
              <a:spcBef>
                <a:spcPts val="0"/>
              </a:spcBef>
              <a:spcAft>
                <a:spcPts val="0"/>
              </a:spcAft>
              <a:buSzPts val="1800"/>
              <a:buAutoNum type="arabicPeriod"/>
            </a:pPr>
            <a:r>
              <a:rPr lang="en"/>
              <a:t>Back to project, Learn &amp; Test</a:t>
            </a:r>
            <a:endParaRPr/>
          </a:p>
          <a:p>
            <a:pPr indent="-342900" lvl="0" marL="457200" rtl="0" algn="l">
              <a:spcBef>
                <a:spcPts val="0"/>
              </a:spcBef>
              <a:spcAft>
                <a:spcPts val="0"/>
              </a:spcAft>
              <a:buSzPts val="1800"/>
              <a:buAutoNum type="arabicPeriod"/>
            </a:pPr>
            <a:r>
              <a:rPr lang="en"/>
              <a:t>Train new machine learning model</a:t>
            </a:r>
            <a:endParaRPr/>
          </a:p>
          <a:p>
            <a:pPr indent="-342900" lvl="0" marL="457200" rtl="0" algn="l">
              <a:spcBef>
                <a:spcPts val="0"/>
              </a:spcBef>
              <a:spcAft>
                <a:spcPts val="0"/>
              </a:spcAft>
              <a:buSzPts val="1800"/>
              <a:buAutoNum type="arabicPeriod"/>
            </a:pPr>
            <a:r>
              <a:rPr lang="en"/>
              <a:t>Describe your model</a:t>
            </a:r>
            <a:endParaRPr/>
          </a:p>
        </p:txBody>
      </p:sp>
      <p:sp>
        <p:nvSpPr>
          <p:cNvPr id="746" name="Google Shape;746;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Solution for Angelique’s Disease Prediction</a:t>
            </a:r>
            <a:endParaRPr/>
          </a:p>
        </p:txBody>
      </p:sp>
      <p:sp>
        <p:nvSpPr>
          <p:cNvPr id="752" name="Google Shape;752;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53" name="Google Shape;753;p69"/>
          <p:cNvPicPr preferRelativeResize="0"/>
          <p:nvPr/>
        </p:nvPicPr>
        <p:blipFill rotWithShape="1">
          <a:blip r:embed="rId3">
            <a:alphaModFix/>
          </a:blip>
          <a:srcRect b="0" l="426" r="426" t="0"/>
          <a:stretch/>
        </p:blipFill>
        <p:spPr>
          <a:xfrm>
            <a:off x="66675" y="1081088"/>
            <a:ext cx="9010650" cy="35909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Typical Solution Produced by ML4K Learning Algorithm</a:t>
            </a:r>
            <a:endParaRPr/>
          </a:p>
        </p:txBody>
      </p:sp>
      <p:sp>
        <p:nvSpPr>
          <p:cNvPr id="759" name="Google Shape;759;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60" name="Google Shape;760;p70"/>
          <p:cNvPicPr preferRelativeResize="0"/>
          <p:nvPr/>
        </p:nvPicPr>
        <p:blipFill>
          <a:blip r:embed="rId3">
            <a:alphaModFix/>
          </a:blip>
          <a:stretch>
            <a:fillRect/>
          </a:stretch>
        </p:blipFill>
        <p:spPr>
          <a:xfrm>
            <a:off x="1828800" y="1170125"/>
            <a:ext cx="5603700" cy="3820974"/>
          </a:xfrm>
          <a:prstGeom prst="rect">
            <a:avLst/>
          </a:prstGeom>
          <a:noFill/>
          <a:ln>
            <a:noFill/>
          </a:ln>
        </p:spPr>
      </p:pic>
      <p:sp>
        <p:nvSpPr>
          <p:cNvPr id="761" name="Google Shape;761;p70"/>
          <p:cNvSpPr txBox="1"/>
          <p:nvPr/>
        </p:nvSpPr>
        <p:spPr>
          <a:xfrm>
            <a:off x="255950" y="3422550"/>
            <a:ext cx="2494500" cy="14775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The learning algorithm is not as smart as we are. Its decision tree correctly classifies all the training data but is more complex than necessary.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Dealing with outliers</a:t>
            </a:r>
            <a:endParaRPr/>
          </a:p>
        </p:txBody>
      </p:sp>
      <p:sp>
        <p:nvSpPr>
          <p:cNvPr id="767" name="Google Shape;767;p71"/>
          <p:cNvSpPr txBox="1"/>
          <p:nvPr>
            <p:ph idx="1" type="body"/>
          </p:nvPr>
        </p:nvSpPr>
        <p:spPr>
          <a:xfrm>
            <a:off x="311700" y="3263125"/>
            <a:ext cx="8520600" cy="1758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Sources of outliers:</a:t>
            </a:r>
            <a:endParaRPr/>
          </a:p>
          <a:p>
            <a:pPr indent="-334327" lvl="0" marL="457200" rtl="0" algn="l">
              <a:spcBef>
                <a:spcPts val="0"/>
              </a:spcBef>
              <a:spcAft>
                <a:spcPts val="0"/>
              </a:spcAft>
              <a:buSzPct val="100000"/>
              <a:buChar char="●"/>
            </a:pPr>
            <a:r>
              <a:rPr lang="en"/>
              <a:t>The data may contain errors:</a:t>
            </a:r>
            <a:endParaRPr/>
          </a:p>
          <a:p>
            <a:pPr indent="-310832" lvl="1" marL="914400" rtl="0" algn="l">
              <a:spcBef>
                <a:spcPts val="0"/>
              </a:spcBef>
              <a:spcAft>
                <a:spcPts val="0"/>
              </a:spcAft>
              <a:buSzPct val="100000"/>
              <a:buChar char="○"/>
            </a:pPr>
            <a:r>
              <a:rPr lang="en"/>
              <a:t>Measurement error when the data were collected.</a:t>
            </a:r>
            <a:endParaRPr/>
          </a:p>
          <a:p>
            <a:pPr indent="-310832" lvl="1" marL="914400" rtl="0" algn="l">
              <a:spcBef>
                <a:spcPts val="0"/>
              </a:spcBef>
              <a:spcAft>
                <a:spcPts val="0"/>
              </a:spcAft>
              <a:buSzPct val="100000"/>
              <a:buChar char="○"/>
            </a:pPr>
            <a:r>
              <a:rPr lang="en"/>
              <a:t>Transcription error when the collected data were recorded.</a:t>
            </a:r>
            <a:endParaRPr/>
          </a:p>
          <a:p>
            <a:pPr indent="-334327" lvl="0" marL="457200" rtl="0" algn="l">
              <a:spcBef>
                <a:spcPts val="0"/>
              </a:spcBef>
              <a:spcAft>
                <a:spcPts val="0"/>
              </a:spcAft>
              <a:buSzPct val="100000"/>
              <a:buChar char="●"/>
            </a:pPr>
            <a:r>
              <a:rPr lang="en"/>
              <a:t>The feature space may be inadequate: color and shape aren’t enough.</a:t>
            </a:r>
            <a:endParaRPr/>
          </a:p>
          <a:p>
            <a:pPr indent="-310832" lvl="1" marL="914400" rtl="0" algn="l">
              <a:spcBef>
                <a:spcPts val="0"/>
              </a:spcBef>
              <a:spcAft>
                <a:spcPts val="0"/>
              </a:spcAft>
              <a:buSzPct val="100000"/>
              <a:buChar char="○"/>
            </a:pPr>
            <a:r>
              <a:rPr lang="en"/>
              <a:t>Perhaps some other feature, such as size, partially determines class membership.</a:t>
            </a:r>
            <a:endParaRPr/>
          </a:p>
          <a:p>
            <a:pPr indent="-334327" lvl="0" marL="457200" rtl="0" algn="l">
              <a:spcBef>
                <a:spcPts val="0"/>
              </a:spcBef>
              <a:spcAft>
                <a:spcPts val="0"/>
              </a:spcAft>
              <a:buSzPct val="100000"/>
              <a:buChar char="●"/>
            </a:pPr>
            <a:r>
              <a:rPr lang="en"/>
              <a:t>The real world is always somewhat noisy and random.</a:t>
            </a:r>
            <a:endParaRPr/>
          </a:p>
        </p:txBody>
      </p:sp>
      <p:sp>
        <p:nvSpPr>
          <p:cNvPr id="768" name="Google Shape;76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69" name="Google Shape;769;p71"/>
          <p:cNvSpPr/>
          <p:nvPr/>
        </p:nvSpPr>
        <p:spPr>
          <a:xfrm>
            <a:off x="924888" y="1287154"/>
            <a:ext cx="365700" cy="170700"/>
          </a:xfrm>
          <a:prstGeom prst="ellipse">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1"/>
          <p:cNvSpPr/>
          <p:nvPr/>
        </p:nvSpPr>
        <p:spPr>
          <a:xfrm>
            <a:off x="4049125" y="1254604"/>
            <a:ext cx="365700" cy="2358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1"/>
          <p:cNvSpPr/>
          <p:nvPr/>
        </p:nvSpPr>
        <p:spPr>
          <a:xfrm>
            <a:off x="2214713" y="1320491"/>
            <a:ext cx="219600" cy="1098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1"/>
          <p:cNvSpPr/>
          <p:nvPr/>
        </p:nvSpPr>
        <p:spPr>
          <a:xfrm>
            <a:off x="2582075" y="1254604"/>
            <a:ext cx="462600" cy="2358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1"/>
          <p:cNvSpPr/>
          <p:nvPr/>
        </p:nvSpPr>
        <p:spPr>
          <a:xfrm>
            <a:off x="3363288" y="1205854"/>
            <a:ext cx="365700" cy="3333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1"/>
          <p:cNvSpPr/>
          <p:nvPr/>
        </p:nvSpPr>
        <p:spPr>
          <a:xfrm>
            <a:off x="876438" y="1708563"/>
            <a:ext cx="462600" cy="1707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1"/>
          <p:cNvSpPr/>
          <p:nvPr/>
        </p:nvSpPr>
        <p:spPr>
          <a:xfrm>
            <a:off x="1568313" y="1676013"/>
            <a:ext cx="365700" cy="2358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1"/>
          <p:cNvSpPr/>
          <p:nvPr/>
        </p:nvSpPr>
        <p:spPr>
          <a:xfrm>
            <a:off x="2187600" y="1739913"/>
            <a:ext cx="278700" cy="1080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1"/>
          <p:cNvSpPr/>
          <p:nvPr/>
        </p:nvSpPr>
        <p:spPr>
          <a:xfrm>
            <a:off x="2674025" y="1676013"/>
            <a:ext cx="278700" cy="235800"/>
          </a:xfrm>
          <a:prstGeom prst="ellipse">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1"/>
          <p:cNvSpPr/>
          <p:nvPr/>
        </p:nvSpPr>
        <p:spPr>
          <a:xfrm>
            <a:off x="3314838" y="1676013"/>
            <a:ext cx="462600" cy="235800"/>
          </a:xfrm>
          <a:prstGeom prst="ellipse">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1"/>
          <p:cNvSpPr/>
          <p:nvPr/>
        </p:nvSpPr>
        <p:spPr>
          <a:xfrm>
            <a:off x="933588" y="2308650"/>
            <a:ext cx="348300" cy="292500"/>
          </a:xfrm>
          <a:prstGeom prst="triangle">
            <a:avLst>
              <a:gd fmla="val 50000" name="adj"/>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1"/>
          <p:cNvSpPr/>
          <p:nvPr/>
        </p:nvSpPr>
        <p:spPr>
          <a:xfrm>
            <a:off x="1653363" y="2337000"/>
            <a:ext cx="195600" cy="235800"/>
          </a:xfrm>
          <a:prstGeom prst="triangle">
            <a:avLst>
              <a:gd fmla="val 42459"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1"/>
          <p:cNvSpPr/>
          <p:nvPr/>
        </p:nvSpPr>
        <p:spPr>
          <a:xfrm>
            <a:off x="2152800" y="2400900"/>
            <a:ext cx="348300" cy="108000"/>
          </a:xfrm>
          <a:prstGeom prst="triangle">
            <a:avLst>
              <a:gd fmla="val 45665"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1"/>
          <p:cNvSpPr/>
          <p:nvPr/>
        </p:nvSpPr>
        <p:spPr>
          <a:xfrm>
            <a:off x="2674025" y="2337000"/>
            <a:ext cx="278700" cy="235800"/>
          </a:xfrm>
          <a:prstGeom prst="triangle">
            <a:avLst>
              <a:gd fmla="val 18559"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1"/>
          <p:cNvSpPr/>
          <p:nvPr/>
        </p:nvSpPr>
        <p:spPr>
          <a:xfrm>
            <a:off x="3371988" y="2308650"/>
            <a:ext cx="348300" cy="292500"/>
          </a:xfrm>
          <a:prstGeom prst="triangle">
            <a:avLst>
              <a:gd fmla="val 65992"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1"/>
          <p:cNvSpPr/>
          <p:nvPr/>
        </p:nvSpPr>
        <p:spPr>
          <a:xfrm>
            <a:off x="924888" y="2774425"/>
            <a:ext cx="365700" cy="170700"/>
          </a:xfrm>
          <a:prstGeom prst="triangle">
            <a:avLst>
              <a:gd fmla="val 55670" name="adj"/>
            </a:avLst>
          </a:prstGeom>
          <a:solidFill>
            <a:srgbClr val="351C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1"/>
          <p:cNvSpPr/>
          <p:nvPr/>
        </p:nvSpPr>
        <p:spPr>
          <a:xfrm>
            <a:off x="1577013" y="2713525"/>
            <a:ext cx="348300" cy="292500"/>
          </a:xfrm>
          <a:prstGeom prst="triangle">
            <a:avLst>
              <a:gd fmla="val 30843" name="adj"/>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1"/>
          <p:cNvSpPr/>
          <p:nvPr/>
        </p:nvSpPr>
        <p:spPr>
          <a:xfrm>
            <a:off x="2229150" y="2713525"/>
            <a:ext cx="195600" cy="292500"/>
          </a:xfrm>
          <a:prstGeom prst="triangle">
            <a:avLst>
              <a:gd fmla="val 50000" name="adj"/>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1"/>
          <p:cNvSpPr/>
          <p:nvPr/>
        </p:nvSpPr>
        <p:spPr>
          <a:xfrm>
            <a:off x="2639225" y="2713525"/>
            <a:ext cx="348300" cy="292500"/>
          </a:xfrm>
          <a:prstGeom prst="triangle">
            <a:avLst>
              <a:gd fmla="val 100000"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1"/>
          <p:cNvSpPr/>
          <p:nvPr/>
        </p:nvSpPr>
        <p:spPr>
          <a:xfrm>
            <a:off x="3371988" y="2805775"/>
            <a:ext cx="348300" cy="108000"/>
          </a:xfrm>
          <a:prstGeom prst="triangle">
            <a:avLst>
              <a:gd fmla="val 33326"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1"/>
          <p:cNvSpPr/>
          <p:nvPr/>
        </p:nvSpPr>
        <p:spPr>
          <a:xfrm>
            <a:off x="1577013" y="1175704"/>
            <a:ext cx="348300" cy="393600"/>
          </a:xfrm>
          <a:prstGeom prst="triangle">
            <a:avLst>
              <a:gd fmla="val 50000"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1"/>
          <p:cNvSpPr/>
          <p:nvPr/>
        </p:nvSpPr>
        <p:spPr>
          <a:xfrm>
            <a:off x="4049125" y="1739913"/>
            <a:ext cx="365700" cy="108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1"/>
          <p:cNvSpPr/>
          <p:nvPr/>
        </p:nvSpPr>
        <p:spPr>
          <a:xfrm>
            <a:off x="4057825" y="2400900"/>
            <a:ext cx="348300" cy="108000"/>
          </a:xfrm>
          <a:prstGeom prst="triangle">
            <a:avLst>
              <a:gd fmla="val 45665" name="adj"/>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1"/>
          <p:cNvSpPr/>
          <p:nvPr/>
        </p:nvSpPr>
        <p:spPr>
          <a:xfrm>
            <a:off x="4030525" y="2662975"/>
            <a:ext cx="402900" cy="393600"/>
          </a:xfrm>
          <a:prstGeom prst="ellipse">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1"/>
          <p:cNvSpPr txBox="1"/>
          <p:nvPr/>
        </p:nvSpPr>
        <p:spPr>
          <a:xfrm>
            <a:off x="10100" y="1365105"/>
            <a:ext cx="91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Class “A”</a:t>
            </a:r>
            <a:endParaRPr/>
          </a:p>
        </p:txBody>
      </p:sp>
      <p:sp>
        <p:nvSpPr>
          <p:cNvPr id="794" name="Google Shape;794;p71"/>
          <p:cNvSpPr txBox="1"/>
          <p:nvPr/>
        </p:nvSpPr>
        <p:spPr>
          <a:xfrm>
            <a:off x="10100" y="2584305"/>
            <a:ext cx="91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Class “B”</a:t>
            </a:r>
            <a:endParaRPr/>
          </a:p>
        </p:txBody>
      </p:sp>
      <p:cxnSp>
        <p:nvCxnSpPr>
          <p:cNvPr id="795" name="Google Shape;795;p71"/>
          <p:cNvCxnSpPr/>
          <p:nvPr/>
        </p:nvCxnSpPr>
        <p:spPr>
          <a:xfrm>
            <a:off x="276275" y="2153275"/>
            <a:ext cx="4379700" cy="0"/>
          </a:xfrm>
          <a:prstGeom prst="straightConnector1">
            <a:avLst/>
          </a:prstGeom>
          <a:noFill/>
          <a:ln cap="flat" cmpd="sng" w="9525">
            <a:solidFill>
              <a:schemeClr val="dk2"/>
            </a:solidFill>
            <a:prstDash val="solid"/>
            <a:round/>
            <a:headEnd len="med" w="med" type="none"/>
            <a:tailEnd len="med" w="med" type="none"/>
          </a:ln>
        </p:spPr>
      </p:cxnSp>
      <p:sp>
        <p:nvSpPr>
          <p:cNvPr id="796" name="Google Shape;796;p71"/>
          <p:cNvSpPr txBox="1"/>
          <p:nvPr/>
        </p:nvSpPr>
        <p:spPr>
          <a:xfrm>
            <a:off x="5249125" y="487525"/>
            <a:ext cx="3583200" cy="2124000"/>
          </a:xfrm>
          <a:prstGeom prst="rect">
            <a:avLst/>
          </a:prstGeom>
          <a:solidFill>
            <a:srgbClr val="F4CCCC"/>
          </a:solidFill>
          <a:ln cap="flat" cmpd="sng" w="19050">
            <a:solidFill>
              <a:srgbClr val="85200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Class “A” is mostly orange ovals.</a:t>
            </a:r>
            <a:br>
              <a:rPr lang="en"/>
            </a:br>
            <a:r>
              <a:rPr lang="en"/>
              <a:t>Class “B” is mostly blue/green triangles.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 feature is a more reliable predictor of class: color or shape?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Decision tree learning algorithms use statistics to pick the most reliable and informative features to use.</a:t>
            </a:r>
            <a:endParaRPr/>
          </a:p>
        </p:txBody>
      </p:sp>
      <p:cxnSp>
        <p:nvCxnSpPr>
          <p:cNvPr id="797" name="Google Shape;797;p71"/>
          <p:cNvCxnSpPr/>
          <p:nvPr/>
        </p:nvCxnSpPr>
        <p:spPr>
          <a:xfrm>
            <a:off x="1522024" y="1098049"/>
            <a:ext cx="154500" cy="170700"/>
          </a:xfrm>
          <a:prstGeom prst="straightConnector1">
            <a:avLst/>
          </a:prstGeom>
          <a:noFill/>
          <a:ln cap="flat" cmpd="sng" w="9525">
            <a:solidFill>
              <a:srgbClr val="FF0000"/>
            </a:solidFill>
            <a:prstDash val="solid"/>
            <a:round/>
            <a:headEnd len="med" w="med" type="none"/>
            <a:tailEnd len="med" w="med" type="triangle"/>
          </a:ln>
        </p:spPr>
      </p:cxnSp>
      <p:cxnSp>
        <p:nvCxnSpPr>
          <p:cNvPr id="798" name="Google Shape;798;p71"/>
          <p:cNvCxnSpPr/>
          <p:nvPr/>
        </p:nvCxnSpPr>
        <p:spPr>
          <a:xfrm>
            <a:off x="2079801" y="1555249"/>
            <a:ext cx="154500" cy="170700"/>
          </a:xfrm>
          <a:prstGeom prst="straightConnector1">
            <a:avLst/>
          </a:prstGeom>
          <a:noFill/>
          <a:ln cap="flat" cmpd="sng" w="9525">
            <a:solidFill>
              <a:srgbClr val="FF0000"/>
            </a:solidFill>
            <a:prstDash val="solid"/>
            <a:round/>
            <a:headEnd len="med" w="med" type="none"/>
            <a:tailEnd len="med" w="med" type="triangle"/>
          </a:ln>
        </p:spPr>
      </p:cxnSp>
      <p:cxnSp>
        <p:nvCxnSpPr>
          <p:cNvPr id="799" name="Google Shape;799;p71"/>
          <p:cNvCxnSpPr/>
          <p:nvPr/>
        </p:nvCxnSpPr>
        <p:spPr>
          <a:xfrm>
            <a:off x="3984801" y="1555249"/>
            <a:ext cx="154500" cy="170700"/>
          </a:xfrm>
          <a:prstGeom prst="straightConnector1">
            <a:avLst/>
          </a:prstGeom>
          <a:noFill/>
          <a:ln cap="flat" cmpd="sng" w="9525">
            <a:solidFill>
              <a:srgbClr val="FF0000"/>
            </a:solidFill>
            <a:prstDash val="solid"/>
            <a:round/>
            <a:headEnd len="med" w="med" type="none"/>
            <a:tailEnd len="med" w="med" type="triangle"/>
          </a:ln>
        </p:spPr>
      </p:cxnSp>
      <p:cxnSp>
        <p:nvCxnSpPr>
          <p:cNvPr id="800" name="Google Shape;800;p71"/>
          <p:cNvCxnSpPr/>
          <p:nvPr/>
        </p:nvCxnSpPr>
        <p:spPr>
          <a:xfrm>
            <a:off x="2079801" y="2241049"/>
            <a:ext cx="154500" cy="170700"/>
          </a:xfrm>
          <a:prstGeom prst="straightConnector1">
            <a:avLst/>
          </a:prstGeom>
          <a:noFill/>
          <a:ln cap="flat" cmpd="sng" w="9525">
            <a:solidFill>
              <a:srgbClr val="FF0000"/>
            </a:solidFill>
            <a:prstDash val="solid"/>
            <a:round/>
            <a:headEnd len="med" w="med" type="none"/>
            <a:tailEnd len="med" w="med" type="triangle"/>
          </a:ln>
        </p:spPr>
      </p:cxnSp>
      <p:cxnSp>
        <p:nvCxnSpPr>
          <p:cNvPr id="801" name="Google Shape;801;p71"/>
          <p:cNvCxnSpPr/>
          <p:nvPr/>
        </p:nvCxnSpPr>
        <p:spPr>
          <a:xfrm>
            <a:off x="3255303" y="2662677"/>
            <a:ext cx="154500" cy="170700"/>
          </a:xfrm>
          <a:prstGeom prst="straightConnector1">
            <a:avLst/>
          </a:prstGeom>
          <a:noFill/>
          <a:ln cap="flat" cmpd="sng" w="9525">
            <a:solidFill>
              <a:srgbClr val="FF0000"/>
            </a:solidFill>
            <a:prstDash val="solid"/>
            <a:round/>
            <a:headEnd len="med" w="med" type="none"/>
            <a:tailEnd len="med" w="med" type="triangle"/>
          </a:ln>
        </p:spPr>
      </p:cxnSp>
      <p:cxnSp>
        <p:nvCxnSpPr>
          <p:cNvPr id="802" name="Google Shape;802;p71"/>
          <p:cNvCxnSpPr/>
          <p:nvPr/>
        </p:nvCxnSpPr>
        <p:spPr>
          <a:xfrm>
            <a:off x="3897405" y="2545849"/>
            <a:ext cx="154500" cy="170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Titanic Survival Dataset</a:t>
            </a:r>
            <a:endParaRPr/>
          </a:p>
        </p:txBody>
      </p:sp>
      <p:sp>
        <p:nvSpPr>
          <p:cNvPr id="808" name="Google Shape;808;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3"/>
          <p:cNvSpPr txBox="1"/>
          <p:nvPr>
            <p:ph type="title"/>
          </p:nvPr>
        </p:nvSpPr>
        <p:spPr>
          <a:xfrm>
            <a:off x="1593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survived the Titanic?</a:t>
            </a:r>
            <a:endParaRPr/>
          </a:p>
        </p:txBody>
      </p:sp>
      <p:sp>
        <p:nvSpPr>
          <p:cNvPr id="814" name="Google Shape;814;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15" name="Google Shape;815;p73"/>
          <p:cNvPicPr preferRelativeResize="0"/>
          <p:nvPr/>
        </p:nvPicPr>
        <p:blipFill>
          <a:blip r:embed="rId3">
            <a:alphaModFix/>
          </a:blip>
          <a:stretch>
            <a:fillRect/>
          </a:stretch>
        </p:blipFill>
        <p:spPr>
          <a:xfrm>
            <a:off x="5247150" y="56925"/>
            <a:ext cx="2472175" cy="1349100"/>
          </a:xfrm>
          <a:prstGeom prst="rect">
            <a:avLst/>
          </a:prstGeom>
          <a:noFill/>
          <a:ln>
            <a:noFill/>
          </a:ln>
        </p:spPr>
      </p:pic>
      <p:pic>
        <p:nvPicPr>
          <p:cNvPr id="816" name="Google Shape;816;p73"/>
          <p:cNvPicPr preferRelativeResize="0"/>
          <p:nvPr/>
        </p:nvPicPr>
        <p:blipFill>
          <a:blip r:embed="rId4">
            <a:alphaModFix/>
          </a:blip>
          <a:stretch>
            <a:fillRect/>
          </a:stretch>
        </p:blipFill>
        <p:spPr>
          <a:xfrm>
            <a:off x="152400" y="1625125"/>
            <a:ext cx="8238750" cy="3365976"/>
          </a:xfrm>
          <a:prstGeom prst="rect">
            <a:avLst/>
          </a:prstGeom>
          <a:noFill/>
          <a:ln>
            <a:noFill/>
          </a:ln>
        </p:spPr>
      </p:pic>
      <p:sp>
        <p:nvSpPr>
          <p:cNvPr id="817" name="Google Shape;817;p73"/>
          <p:cNvSpPr txBox="1"/>
          <p:nvPr/>
        </p:nvSpPr>
        <p:spPr>
          <a:xfrm>
            <a:off x="362025" y="796475"/>
            <a:ext cx="3941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Features: ticket class, gender, age, traveling with siblings/spouse/parents/children,</a:t>
            </a:r>
            <a:br>
              <a:rPr lang="en"/>
            </a:br>
            <a:r>
              <a:rPr lang="en"/>
              <a:t>ticket fare, point of embarkation.</a:t>
            </a:r>
            <a:endParaRPr/>
          </a:p>
        </p:txBody>
      </p:sp>
      <p:sp>
        <p:nvSpPr>
          <p:cNvPr id="818" name="Google Shape;818;p73"/>
          <p:cNvSpPr txBox="1"/>
          <p:nvPr/>
        </p:nvSpPr>
        <p:spPr>
          <a:xfrm>
            <a:off x="2181250" y="466700"/>
            <a:ext cx="380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https://machinelearningforkids.co.uk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4"/>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Titanic decision tree</a:t>
            </a:r>
            <a:endParaRPr/>
          </a:p>
        </p:txBody>
      </p:sp>
      <p:sp>
        <p:nvSpPr>
          <p:cNvPr id="824" name="Google Shape;824;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25" name="Google Shape;825;p74"/>
          <p:cNvPicPr preferRelativeResize="0"/>
          <p:nvPr/>
        </p:nvPicPr>
        <p:blipFill>
          <a:blip r:embed="rId3">
            <a:alphaModFix/>
          </a:blip>
          <a:stretch>
            <a:fillRect/>
          </a:stretch>
        </p:blipFill>
        <p:spPr>
          <a:xfrm>
            <a:off x="13" y="1808563"/>
            <a:ext cx="9144002" cy="2418924"/>
          </a:xfrm>
          <a:prstGeom prst="rect">
            <a:avLst/>
          </a:prstGeom>
          <a:noFill/>
          <a:ln>
            <a:noFill/>
          </a:ln>
        </p:spPr>
      </p:pic>
      <p:pic>
        <p:nvPicPr>
          <p:cNvPr id="826" name="Google Shape;826;p74"/>
          <p:cNvPicPr preferRelativeResize="0"/>
          <p:nvPr/>
        </p:nvPicPr>
        <p:blipFill rotWithShape="1">
          <a:blip r:embed="rId4">
            <a:alphaModFix/>
          </a:blip>
          <a:srcRect b="12170" l="4164" r="3898" t="7495"/>
          <a:stretch/>
        </p:blipFill>
        <p:spPr>
          <a:xfrm>
            <a:off x="3919525" y="613400"/>
            <a:ext cx="1269762" cy="497375"/>
          </a:xfrm>
          <a:prstGeom prst="rect">
            <a:avLst/>
          </a:prstGeom>
          <a:noFill/>
          <a:ln>
            <a:noFill/>
          </a:ln>
        </p:spPr>
      </p:pic>
      <p:pic>
        <p:nvPicPr>
          <p:cNvPr id="827" name="Google Shape;827;p74"/>
          <p:cNvPicPr preferRelativeResize="0"/>
          <p:nvPr/>
        </p:nvPicPr>
        <p:blipFill rotWithShape="1">
          <a:blip r:embed="rId5">
            <a:alphaModFix/>
          </a:blip>
          <a:srcRect b="14915" l="29916" r="17653" t="32341"/>
          <a:stretch/>
        </p:blipFill>
        <p:spPr>
          <a:xfrm>
            <a:off x="5815625" y="1145925"/>
            <a:ext cx="1018800" cy="447150"/>
          </a:xfrm>
          <a:prstGeom prst="rect">
            <a:avLst/>
          </a:prstGeom>
          <a:noFill/>
          <a:ln>
            <a:noFill/>
          </a:ln>
        </p:spPr>
      </p:pic>
      <p:pic>
        <p:nvPicPr>
          <p:cNvPr id="828" name="Google Shape;828;p74"/>
          <p:cNvPicPr preferRelativeResize="0"/>
          <p:nvPr/>
        </p:nvPicPr>
        <p:blipFill rotWithShape="1">
          <a:blip r:embed="rId6">
            <a:alphaModFix/>
          </a:blip>
          <a:srcRect b="10120" l="13794" r="32883" t="0"/>
          <a:stretch/>
        </p:blipFill>
        <p:spPr>
          <a:xfrm>
            <a:off x="1818000" y="933825"/>
            <a:ext cx="1269750" cy="693425"/>
          </a:xfrm>
          <a:prstGeom prst="rect">
            <a:avLst/>
          </a:prstGeom>
          <a:noFill/>
          <a:ln>
            <a:noFill/>
          </a:ln>
        </p:spPr>
      </p:pic>
      <p:cxnSp>
        <p:nvCxnSpPr>
          <p:cNvPr id="829" name="Google Shape;829;p74"/>
          <p:cNvCxnSpPr/>
          <p:nvPr/>
        </p:nvCxnSpPr>
        <p:spPr>
          <a:xfrm flipH="1">
            <a:off x="3039025" y="862087"/>
            <a:ext cx="880500" cy="243600"/>
          </a:xfrm>
          <a:prstGeom prst="straightConnector1">
            <a:avLst/>
          </a:prstGeom>
          <a:noFill/>
          <a:ln cap="flat" cmpd="sng" w="9525">
            <a:solidFill>
              <a:schemeClr val="dk2"/>
            </a:solidFill>
            <a:prstDash val="solid"/>
            <a:round/>
            <a:headEnd len="med" w="med" type="none"/>
            <a:tailEnd len="med" w="med" type="triangle"/>
          </a:ln>
        </p:spPr>
      </p:cxnSp>
      <p:cxnSp>
        <p:nvCxnSpPr>
          <p:cNvPr id="830" name="Google Shape;830;p74"/>
          <p:cNvCxnSpPr>
            <a:stCxn id="826" idx="3"/>
          </p:cNvCxnSpPr>
          <p:nvPr/>
        </p:nvCxnSpPr>
        <p:spPr>
          <a:xfrm>
            <a:off x="5189287" y="862087"/>
            <a:ext cx="620400" cy="316500"/>
          </a:xfrm>
          <a:prstGeom prst="straightConnector1">
            <a:avLst/>
          </a:prstGeom>
          <a:noFill/>
          <a:ln cap="flat" cmpd="sng" w="9525">
            <a:solidFill>
              <a:schemeClr val="dk2"/>
            </a:solidFill>
            <a:prstDash val="solid"/>
            <a:round/>
            <a:headEnd len="med" w="med" type="none"/>
            <a:tailEnd len="med" w="med" type="triangle"/>
          </a:ln>
        </p:spPr>
      </p:cxnSp>
      <p:sp>
        <p:nvSpPr>
          <p:cNvPr id="831" name="Google Shape;831;p74"/>
          <p:cNvSpPr txBox="1"/>
          <p:nvPr/>
        </p:nvSpPr>
        <p:spPr>
          <a:xfrm>
            <a:off x="5506100" y="798750"/>
            <a:ext cx="731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False</a:t>
            </a:r>
            <a:endParaRPr sz="900"/>
          </a:p>
        </p:txBody>
      </p:sp>
      <p:sp>
        <p:nvSpPr>
          <p:cNvPr id="832" name="Google Shape;832;p74"/>
          <p:cNvSpPr txBox="1"/>
          <p:nvPr/>
        </p:nvSpPr>
        <p:spPr>
          <a:xfrm>
            <a:off x="3143900" y="749996"/>
            <a:ext cx="731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True</a:t>
            </a:r>
            <a:endParaRPr sz="900"/>
          </a:p>
        </p:txBody>
      </p:sp>
      <p:pic>
        <p:nvPicPr>
          <p:cNvPr id="833" name="Google Shape;833;p74"/>
          <p:cNvPicPr preferRelativeResize="0"/>
          <p:nvPr/>
        </p:nvPicPr>
        <p:blipFill>
          <a:blip r:embed="rId7">
            <a:alphaModFix/>
          </a:blip>
          <a:stretch>
            <a:fillRect/>
          </a:stretch>
        </p:blipFill>
        <p:spPr>
          <a:xfrm>
            <a:off x="4997300" y="3430750"/>
            <a:ext cx="2990326" cy="16606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Uses of Decision Trees</a:t>
            </a:r>
            <a:endParaRPr/>
          </a:p>
        </p:txBody>
      </p:sp>
      <p:sp>
        <p:nvSpPr>
          <p:cNvPr id="839" name="Google Shape;839;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Assessing loan applications: deciding who gets a mortgage</a:t>
            </a:r>
            <a:br>
              <a:rPr lang="en"/>
            </a:br>
            <a:endParaRPr/>
          </a:p>
          <a:p>
            <a:pPr indent="-342900" lvl="0" marL="457200" rtl="0" algn="l">
              <a:spcBef>
                <a:spcPts val="0"/>
              </a:spcBef>
              <a:spcAft>
                <a:spcPts val="0"/>
              </a:spcAft>
              <a:buSzPts val="1800"/>
              <a:buChar char="●"/>
            </a:pPr>
            <a:r>
              <a:rPr lang="en"/>
              <a:t>Detecting fraud in credit card transactions</a:t>
            </a:r>
            <a:br>
              <a:rPr lang="en"/>
            </a:br>
            <a:endParaRPr/>
          </a:p>
          <a:p>
            <a:pPr indent="-342900" lvl="0" marL="457200" rtl="0" algn="l">
              <a:spcBef>
                <a:spcPts val="0"/>
              </a:spcBef>
              <a:spcAft>
                <a:spcPts val="0"/>
              </a:spcAft>
              <a:buSzPts val="1800"/>
              <a:buChar char="●"/>
            </a:pPr>
            <a:r>
              <a:rPr lang="en"/>
              <a:t>Medical decision making</a:t>
            </a:r>
            <a:endParaRPr/>
          </a:p>
          <a:p>
            <a:pPr indent="-317500" lvl="1" marL="914400" rtl="0" algn="l">
              <a:spcBef>
                <a:spcPts val="0"/>
              </a:spcBef>
              <a:spcAft>
                <a:spcPts val="0"/>
              </a:spcAft>
              <a:buSzPts val="1400"/>
              <a:buChar char="○"/>
            </a:pPr>
            <a:r>
              <a:rPr lang="en"/>
              <a:t>Which patients are at higher risk and need special monitoring</a:t>
            </a:r>
            <a:endParaRPr/>
          </a:p>
          <a:p>
            <a:pPr indent="-317500" lvl="1" marL="914400" rtl="0" algn="l">
              <a:spcBef>
                <a:spcPts val="0"/>
              </a:spcBef>
              <a:spcAft>
                <a:spcPts val="0"/>
              </a:spcAft>
              <a:buSzPts val="1400"/>
              <a:buChar char="○"/>
            </a:pPr>
            <a:r>
              <a:rPr lang="en"/>
              <a:t>Which patients are good candidates for a specialized treatment</a:t>
            </a:r>
            <a:endParaRPr/>
          </a:p>
        </p:txBody>
      </p:sp>
      <p:sp>
        <p:nvSpPr>
          <p:cNvPr id="840" name="Google Shape;840;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