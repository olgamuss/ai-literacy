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5143500" cx="9144000"/>
  <p:notesSz cx="6858000" cy="9144000"/>
  <p:embeddedFontLst>
    <p:embeddedFont>
      <p:font typeface="Helvetica Neue"/>
      <p:regular r:id="rId21"/>
      <p:bold r:id="rId22"/>
      <p:italic r:id="rId23"/>
      <p:boldItalic r:id="rId24"/>
    </p:embeddedFont>
    <p:embeddedFont>
      <p:font typeface="Merriweather"/>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82A7263-4182-4E4F-A873-955A8AC0886A}">
  <a:tblStyle styleId="{482A7263-4182-4E4F-A873-955A8AC0886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HelveticaNeue-bold.fntdata"/><Relationship Id="rId21" Type="http://schemas.openxmlformats.org/officeDocument/2006/relationships/font" Target="fonts/HelveticaNeue-regular.fntdata"/><Relationship Id="rId24" Type="http://schemas.openxmlformats.org/officeDocument/2006/relationships/font" Target="fonts/HelveticaNeue-boldItalic.fntdata"/><Relationship Id="rId23" Type="http://schemas.openxmlformats.org/officeDocument/2006/relationships/font" Target="fonts/HelveticaNeue-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Merriweather-bold.fntdata"/><Relationship Id="rId25" Type="http://schemas.openxmlformats.org/officeDocument/2006/relationships/font" Target="fonts/Merriweather-regular.fntdata"/><Relationship Id="rId28" Type="http://schemas.openxmlformats.org/officeDocument/2006/relationships/font" Target="fonts/Merriweather-boldItalic.fntdata"/><Relationship Id="rId27" Type="http://schemas.openxmlformats.org/officeDocument/2006/relationships/font" Target="fonts/Merriweather-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5dcffd2daa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5dcffd2daa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ee3a43cf6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ee3a43cf6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14a18075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14a18075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14a1807585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14a1807585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14a180758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14a180758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1370fa183f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1370fa183f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Teacher note: this is a redrawn tree in our tree notation.</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14a1807585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14a1807585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we train the model, we will get a decision tree</a:t>
            </a:r>
            <a:endParaRPr/>
          </a:p>
          <a:p>
            <a:pPr indent="0" lvl="0" marL="0" rtl="0" algn="l">
              <a:spcBef>
                <a:spcPts val="0"/>
              </a:spcBef>
              <a:spcAft>
                <a:spcPts val="0"/>
              </a:spcAft>
              <a:buNone/>
            </a:pPr>
            <a:r>
              <a:rPr lang="en"/>
              <a:t>This is running using the splitting process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Value = [5,5] =&gt; 5 fish in the poisonous and 5 in the safe class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Every node needs to pick a class. Even if it is a terrible assignment. </a:t>
            </a:r>
            <a:endParaRPr/>
          </a:p>
          <a:p>
            <a:pPr indent="0" lvl="0" marL="0" rtl="0" algn="l">
              <a:spcBef>
                <a:spcPts val="0"/>
              </a:spcBef>
              <a:spcAft>
                <a:spcPts val="0"/>
              </a:spcAft>
              <a:buNone/>
            </a:pPr>
            <a:r>
              <a:rPr lang="en"/>
              <a:t>The deep blue node labeled safe because all the samples are in the safe class.</a:t>
            </a:r>
            <a:endParaRPr/>
          </a:p>
          <a:p>
            <a:pPr indent="0" lvl="0" marL="0" rtl="0" algn="l">
              <a:spcBef>
                <a:spcPts val="0"/>
              </a:spcBef>
              <a:spcAft>
                <a:spcPts val="0"/>
              </a:spcAft>
              <a:buNone/>
            </a:pPr>
            <a:r>
              <a:rPr lang="en"/>
              <a:t>Notice that only 5 of the 6 samples are poisonous.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is the root node white? It is getting have of the samples wrong. It is white because it is halfway between blue and orange.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14a1807585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14a180758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we train the model, we will get a decision tree</a:t>
            </a:r>
            <a:endParaRPr/>
          </a:p>
          <a:p>
            <a:pPr indent="0" lvl="0" marL="0" rtl="0" algn="l">
              <a:spcBef>
                <a:spcPts val="0"/>
              </a:spcBef>
              <a:spcAft>
                <a:spcPts val="0"/>
              </a:spcAft>
              <a:buNone/>
            </a:pPr>
            <a:r>
              <a:rPr lang="en"/>
              <a:t>This is running using the splitting process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Value = [5,5] =&gt; 5 fish in the poisonous and 5 in the safe class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Every node needs to pick a class. Even if it is a terrible assignment. </a:t>
            </a:r>
            <a:endParaRPr/>
          </a:p>
          <a:p>
            <a:pPr indent="0" lvl="0" marL="0" rtl="0" algn="l">
              <a:spcBef>
                <a:spcPts val="0"/>
              </a:spcBef>
              <a:spcAft>
                <a:spcPts val="0"/>
              </a:spcAft>
              <a:buNone/>
            </a:pPr>
            <a:r>
              <a:rPr lang="en"/>
              <a:t>The deep blue node labeled safe because all the samples are in the safe class.</a:t>
            </a:r>
            <a:endParaRPr/>
          </a:p>
          <a:p>
            <a:pPr indent="0" lvl="0" marL="0" rtl="0" algn="l">
              <a:spcBef>
                <a:spcPts val="0"/>
              </a:spcBef>
              <a:spcAft>
                <a:spcPts val="0"/>
              </a:spcAft>
              <a:buNone/>
            </a:pPr>
            <a:r>
              <a:rPr lang="en"/>
              <a:t>Notice that only 5 of the 6 samples are poisonous.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is the root node white? It is getting have of the samples wrong. It is white because it is halfway between blue and orange.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14a1807585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14a1807585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we train the model, we will get a decision tree</a:t>
            </a:r>
            <a:endParaRPr/>
          </a:p>
          <a:p>
            <a:pPr indent="0" lvl="0" marL="0" rtl="0" algn="l">
              <a:spcBef>
                <a:spcPts val="0"/>
              </a:spcBef>
              <a:spcAft>
                <a:spcPts val="0"/>
              </a:spcAft>
              <a:buNone/>
            </a:pPr>
            <a:r>
              <a:rPr lang="en"/>
              <a:t>This is running using the splitting process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Value = [5,5] =&gt; 5 fish in the poisonous and 5 in the safe class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Every node needs to pick a class. Even if it is a terrible assignment. </a:t>
            </a:r>
            <a:endParaRPr/>
          </a:p>
          <a:p>
            <a:pPr indent="0" lvl="0" marL="0" rtl="0" algn="l">
              <a:spcBef>
                <a:spcPts val="0"/>
              </a:spcBef>
              <a:spcAft>
                <a:spcPts val="0"/>
              </a:spcAft>
              <a:buNone/>
            </a:pPr>
            <a:r>
              <a:rPr lang="en"/>
              <a:t>The deep blue node labeled safe because all the samples are in the safe class.</a:t>
            </a:r>
            <a:endParaRPr/>
          </a:p>
          <a:p>
            <a:pPr indent="0" lvl="0" marL="0" rtl="0" algn="l">
              <a:spcBef>
                <a:spcPts val="0"/>
              </a:spcBef>
              <a:spcAft>
                <a:spcPts val="0"/>
              </a:spcAft>
              <a:buNone/>
            </a:pPr>
            <a:r>
              <a:rPr lang="en"/>
              <a:t>Notice that only 5 of the 6 samples are poisonous.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is the root node white? It is getting have of the samples wrong. It is white because it is halfway between blue and orange.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14a1807585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14a1807585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we train the model, we will get a decision tree</a:t>
            </a:r>
            <a:endParaRPr/>
          </a:p>
          <a:p>
            <a:pPr indent="0" lvl="0" marL="0" rtl="0" algn="l">
              <a:spcBef>
                <a:spcPts val="0"/>
              </a:spcBef>
              <a:spcAft>
                <a:spcPts val="0"/>
              </a:spcAft>
              <a:buNone/>
            </a:pPr>
            <a:r>
              <a:rPr lang="en"/>
              <a:t>This is running using the splitting process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Value = [5,5] =&gt; 5 fish in the poisonous and 5 in the safe class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Every node needs to pick a class. Even if it is a terrible assignment. </a:t>
            </a:r>
            <a:endParaRPr/>
          </a:p>
          <a:p>
            <a:pPr indent="0" lvl="0" marL="0" rtl="0" algn="l">
              <a:spcBef>
                <a:spcPts val="0"/>
              </a:spcBef>
              <a:spcAft>
                <a:spcPts val="0"/>
              </a:spcAft>
              <a:buNone/>
            </a:pPr>
            <a:r>
              <a:rPr lang="en"/>
              <a:t>The deep blue node labeled safe because all the samples are in the safe class.</a:t>
            </a:r>
            <a:endParaRPr/>
          </a:p>
          <a:p>
            <a:pPr indent="0" lvl="0" marL="0" rtl="0" algn="l">
              <a:spcBef>
                <a:spcPts val="0"/>
              </a:spcBef>
              <a:spcAft>
                <a:spcPts val="0"/>
              </a:spcAft>
              <a:buNone/>
            </a:pPr>
            <a:r>
              <a:rPr lang="en"/>
              <a:t>Notice that only 5 of the 6 samples are poisonous.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is the root node white? It is getting have of the samples wrong. It is white because it is halfway between blue and orange.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14a1807585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14a1807585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we train the model, we will get a decision tree</a:t>
            </a:r>
            <a:endParaRPr/>
          </a:p>
          <a:p>
            <a:pPr indent="0" lvl="0" marL="0" rtl="0" algn="l">
              <a:spcBef>
                <a:spcPts val="0"/>
              </a:spcBef>
              <a:spcAft>
                <a:spcPts val="0"/>
              </a:spcAft>
              <a:buNone/>
            </a:pPr>
            <a:r>
              <a:rPr lang="en"/>
              <a:t>This is running using the splitting process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Value = [5,5] =&gt; 5 fish in the poisonous and 5 in the safe class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Every node needs to pick a class. Even if it is a terrible assignment. </a:t>
            </a:r>
            <a:endParaRPr/>
          </a:p>
          <a:p>
            <a:pPr indent="0" lvl="0" marL="0" rtl="0" algn="l">
              <a:spcBef>
                <a:spcPts val="0"/>
              </a:spcBef>
              <a:spcAft>
                <a:spcPts val="0"/>
              </a:spcAft>
              <a:buNone/>
            </a:pPr>
            <a:r>
              <a:rPr lang="en"/>
              <a:t>The deep blue node labeled safe because all the samples are in the safe class.</a:t>
            </a:r>
            <a:endParaRPr/>
          </a:p>
          <a:p>
            <a:pPr indent="0" lvl="0" marL="0" rtl="0" algn="l">
              <a:spcBef>
                <a:spcPts val="0"/>
              </a:spcBef>
              <a:spcAft>
                <a:spcPts val="0"/>
              </a:spcAft>
              <a:buNone/>
            </a:pPr>
            <a:r>
              <a:rPr lang="en"/>
              <a:t>Notice that only 5 of the 6 samples are poisonous.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is the root node white? It is getting have of the samples wrong. It is white because it is halfway between blue and orange.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1370fa183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1370fa183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14a1807585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114a1807585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2800"/>
              <a:buNone/>
              <a:defRPr>
                <a:solidFill>
                  <a:schemeClr val="dk1"/>
                </a:solidFill>
              </a:defRPr>
            </a:lvl1pPr>
            <a:lvl2pPr lvl="1">
              <a:spcBef>
                <a:spcPts val="0"/>
              </a:spcBef>
              <a:spcAft>
                <a:spcPts val="0"/>
              </a:spcAft>
              <a:buClr>
                <a:srgbClr val="000000"/>
              </a:buClr>
              <a:buSzPts val="2800"/>
              <a:buNone/>
              <a:defRPr>
                <a:solidFill>
                  <a:srgbClr val="000000"/>
                </a:solidFill>
              </a:defRPr>
            </a:lvl2pPr>
            <a:lvl3pPr lvl="2">
              <a:spcBef>
                <a:spcPts val="0"/>
              </a:spcBef>
              <a:spcAft>
                <a:spcPts val="0"/>
              </a:spcAft>
              <a:buClr>
                <a:srgbClr val="000000"/>
              </a:buClr>
              <a:buSzPts val="2800"/>
              <a:buNone/>
              <a:defRPr>
                <a:solidFill>
                  <a:srgbClr val="000000"/>
                </a:solidFill>
              </a:defRPr>
            </a:lvl3pPr>
            <a:lvl4pPr lvl="3">
              <a:spcBef>
                <a:spcPts val="0"/>
              </a:spcBef>
              <a:spcAft>
                <a:spcPts val="0"/>
              </a:spcAft>
              <a:buClr>
                <a:srgbClr val="000000"/>
              </a:buClr>
              <a:buSzPts val="2800"/>
              <a:buNone/>
              <a:defRPr>
                <a:solidFill>
                  <a:srgbClr val="000000"/>
                </a:solidFill>
              </a:defRPr>
            </a:lvl4pPr>
            <a:lvl5pPr lvl="4">
              <a:spcBef>
                <a:spcPts val="0"/>
              </a:spcBef>
              <a:spcAft>
                <a:spcPts val="0"/>
              </a:spcAft>
              <a:buClr>
                <a:srgbClr val="000000"/>
              </a:buClr>
              <a:buSzPts val="2800"/>
              <a:buNone/>
              <a:defRPr>
                <a:solidFill>
                  <a:srgbClr val="000000"/>
                </a:solidFill>
              </a:defRPr>
            </a:lvl5pPr>
            <a:lvl6pPr lvl="5">
              <a:spcBef>
                <a:spcPts val="0"/>
              </a:spcBef>
              <a:spcAft>
                <a:spcPts val="0"/>
              </a:spcAft>
              <a:buClr>
                <a:srgbClr val="000000"/>
              </a:buClr>
              <a:buSzPts val="2800"/>
              <a:buNone/>
              <a:defRPr>
                <a:solidFill>
                  <a:srgbClr val="000000"/>
                </a:solidFill>
              </a:defRPr>
            </a:lvl6pPr>
            <a:lvl7pPr lvl="6">
              <a:spcBef>
                <a:spcPts val="0"/>
              </a:spcBef>
              <a:spcAft>
                <a:spcPts val="0"/>
              </a:spcAft>
              <a:buClr>
                <a:srgbClr val="000000"/>
              </a:buClr>
              <a:buSzPts val="2800"/>
              <a:buNone/>
              <a:defRPr>
                <a:solidFill>
                  <a:srgbClr val="000000"/>
                </a:solidFill>
              </a:defRPr>
            </a:lvl7pPr>
            <a:lvl8pPr lvl="7">
              <a:spcBef>
                <a:spcPts val="0"/>
              </a:spcBef>
              <a:spcAft>
                <a:spcPts val="0"/>
              </a:spcAft>
              <a:buClr>
                <a:srgbClr val="000000"/>
              </a:buClr>
              <a:buSzPts val="2800"/>
              <a:buNone/>
              <a:defRPr>
                <a:solidFill>
                  <a:srgbClr val="000000"/>
                </a:solidFill>
              </a:defRPr>
            </a:lvl8pPr>
            <a:lvl9pPr lvl="8">
              <a:spcBef>
                <a:spcPts val="0"/>
              </a:spcBef>
              <a:spcAft>
                <a:spcPts val="0"/>
              </a:spcAft>
              <a:buClr>
                <a:srgbClr val="000000"/>
              </a:buClr>
              <a:buSzPts val="2800"/>
              <a:buNone/>
              <a:defRPr>
                <a:solidFill>
                  <a:srgbClr val="000000"/>
                </a:solidFill>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SzPts val="2800"/>
              <a:buNone/>
              <a:defRPr sz="2800"/>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SzPts val="1800"/>
              <a:buChar char="●"/>
              <a:defRPr sz="1800"/>
            </a:lvl1pPr>
            <a:lvl2pPr indent="-317500" lvl="1" marL="914400">
              <a:lnSpc>
                <a:spcPct val="115000"/>
              </a:lnSpc>
              <a:spcBef>
                <a:spcPts val="0"/>
              </a:spcBef>
              <a:spcAft>
                <a:spcPts val="0"/>
              </a:spcAft>
              <a:buSzPts val="1400"/>
              <a:buChar char="○"/>
              <a:defRPr/>
            </a:lvl2pPr>
            <a:lvl3pPr indent="-317500" lvl="2" marL="1371600">
              <a:lnSpc>
                <a:spcPct val="115000"/>
              </a:lnSpc>
              <a:spcBef>
                <a:spcPts val="0"/>
              </a:spcBef>
              <a:spcAft>
                <a:spcPts val="0"/>
              </a:spcAft>
              <a:buSzPts val="1400"/>
              <a:buChar char="■"/>
              <a:defRPr/>
            </a:lvl3pPr>
            <a:lvl4pPr indent="-317500" lvl="3" marL="1828800">
              <a:lnSpc>
                <a:spcPct val="115000"/>
              </a:lnSpc>
              <a:spcBef>
                <a:spcPts val="0"/>
              </a:spcBef>
              <a:spcAft>
                <a:spcPts val="0"/>
              </a:spcAft>
              <a:buSzPts val="1400"/>
              <a:buChar char="●"/>
              <a:defRPr/>
            </a:lvl4pPr>
            <a:lvl5pPr indent="-317500" lvl="4" marL="2286000">
              <a:lnSpc>
                <a:spcPct val="115000"/>
              </a:lnSpc>
              <a:spcBef>
                <a:spcPts val="0"/>
              </a:spcBef>
              <a:spcAft>
                <a:spcPts val="0"/>
              </a:spcAft>
              <a:buSzPts val="1400"/>
              <a:buChar char="○"/>
              <a:defRPr/>
            </a:lvl5pPr>
            <a:lvl6pPr indent="-317500" lvl="5" marL="2743200">
              <a:lnSpc>
                <a:spcPct val="115000"/>
              </a:lnSpc>
              <a:spcBef>
                <a:spcPts val="0"/>
              </a:spcBef>
              <a:spcAft>
                <a:spcPts val="0"/>
              </a:spcAft>
              <a:buSzPts val="1400"/>
              <a:buChar char="■"/>
              <a:defRPr/>
            </a:lvl6pPr>
            <a:lvl7pPr indent="-317500" lvl="6" marL="3200400">
              <a:lnSpc>
                <a:spcPct val="115000"/>
              </a:lnSpc>
              <a:spcBef>
                <a:spcPts val="0"/>
              </a:spcBef>
              <a:spcAft>
                <a:spcPts val="0"/>
              </a:spcAft>
              <a:buSzPts val="1400"/>
              <a:buChar char="●"/>
              <a:defRPr/>
            </a:lvl7pPr>
            <a:lvl8pPr indent="-317500" lvl="7" marL="3657600">
              <a:lnSpc>
                <a:spcPct val="115000"/>
              </a:lnSpc>
              <a:spcBef>
                <a:spcPts val="0"/>
              </a:spcBef>
              <a:spcAft>
                <a:spcPts val="0"/>
              </a:spcAft>
              <a:buSzPts val="1400"/>
              <a:buChar char="○"/>
              <a:defRPr/>
            </a:lvl8pPr>
            <a:lvl9pPr indent="-317500" lvl="8" marL="4114800">
              <a:lnSpc>
                <a:spcPct val="115000"/>
              </a:lnSpc>
              <a:spcBef>
                <a:spcPts val="0"/>
              </a:spcBef>
              <a:spcAft>
                <a:spcPts val="0"/>
              </a:spcAft>
              <a:buSzPts val="1400"/>
              <a:buChar cha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hyperlink" Target="https://creativecommons.org/licenses/by-nc-sa/4.0/" TargetMode="External"/><Relationship Id="rId6" Type="http://schemas.openxmlformats.org/officeDocument/2006/relationships/image" Target="../media/image4.gif"/><Relationship Id="rId7"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7.png"/><Relationship Id="rId11" Type="http://schemas.openxmlformats.org/officeDocument/2006/relationships/image" Target="../media/image10.png"/><Relationship Id="rId10" Type="http://schemas.openxmlformats.org/officeDocument/2006/relationships/image" Target="../media/image15.png"/><Relationship Id="rId12" Type="http://schemas.openxmlformats.org/officeDocument/2006/relationships/image" Target="../media/image13.png"/><Relationship Id="rId9" Type="http://schemas.openxmlformats.org/officeDocument/2006/relationships/image" Target="../media/image9.png"/><Relationship Id="rId5" Type="http://schemas.openxmlformats.org/officeDocument/2006/relationships/image" Target="../media/image6.png"/><Relationship Id="rId6" Type="http://schemas.openxmlformats.org/officeDocument/2006/relationships/image" Target="../media/image16.png"/><Relationship Id="rId7" Type="http://schemas.openxmlformats.org/officeDocument/2006/relationships/image" Target="../media/image5.png"/><Relationship Id="rId8"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machinelearningforkids.co.uk/"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4.png"/><Relationship Id="rId10" Type="http://schemas.openxmlformats.org/officeDocument/2006/relationships/image" Target="../media/image18.png"/><Relationship Id="rId9" Type="http://schemas.openxmlformats.org/officeDocument/2006/relationships/image" Target="../media/image19.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2156750" y="733775"/>
            <a:ext cx="69873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3.3b</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355">
                <a:solidFill>
                  <a:schemeClr val="dk2"/>
                </a:solidFill>
                <a:latin typeface="Merriweather"/>
                <a:ea typeface="Merriweather"/>
                <a:cs typeface="Merriweather"/>
                <a:sym typeface="Merriweather"/>
              </a:rPr>
              <a:t>How do we train a computer to make decisions?</a:t>
            </a:r>
            <a:endParaRPr sz="2355">
              <a:solidFill>
                <a:schemeClr val="dk2"/>
              </a:solidFill>
              <a:latin typeface="Merriweather"/>
              <a:ea typeface="Merriweather"/>
              <a:cs typeface="Merriweather"/>
              <a:sym typeface="Merriweather"/>
            </a:endParaRPr>
          </a:p>
        </p:txBody>
      </p:sp>
      <p:pic>
        <p:nvPicPr>
          <p:cNvPr id="100" name="Google Shape;100;p25"/>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01" name="Google Shape;101;p25"/>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02" name="Google Shape;102;p25"/>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03" name="Google Shape;103;p25"/>
          <p:cNvSpPr txBox="1"/>
          <p:nvPr/>
        </p:nvSpPr>
        <p:spPr>
          <a:xfrm>
            <a:off x="1377450" y="4491585"/>
            <a:ext cx="9053100" cy="5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104" name="Google Shape;104;p25"/>
          <p:cNvPicPr preferRelativeResize="0"/>
          <p:nvPr/>
        </p:nvPicPr>
        <p:blipFill>
          <a:blip r:embed="rId6">
            <a:alphaModFix/>
          </a:blip>
          <a:stretch>
            <a:fillRect/>
          </a:stretch>
        </p:blipFill>
        <p:spPr>
          <a:xfrm>
            <a:off x="2460549" y="1731323"/>
            <a:ext cx="2624700" cy="2624675"/>
          </a:xfrm>
          <a:prstGeom prst="rect">
            <a:avLst/>
          </a:prstGeom>
          <a:noFill/>
          <a:ln>
            <a:noFill/>
          </a:ln>
        </p:spPr>
      </p:pic>
      <p:sp>
        <p:nvSpPr>
          <p:cNvPr id="105" name="Google Shape;105;p25"/>
          <p:cNvSpPr txBox="1"/>
          <p:nvPr/>
        </p:nvSpPr>
        <p:spPr>
          <a:xfrm>
            <a:off x="5528225" y="1922975"/>
            <a:ext cx="3091200" cy="48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t>Fishy Feature Space Activity#2: Safe vs Poisonous</a:t>
            </a:r>
            <a:endParaRPr b="1"/>
          </a:p>
        </p:txBody>
      </p:sp>
      <p:pic>
        <p:nvPicPr>
          <p:cNvPr id="106" name="Google Shape;106;p25"/>
          <p:cNvPicPr preferRelativeResize="0"/>
          <p:nvPr/>
        </p:nvPicPr>
        <p:blipFill>
          <a:blip r:embed="rId7">
            <a:alphaModFix/>
          </a:blip>
          <a:stretch>
            <a:fillRect/>
          </a:stretch>
        </p:blipFill>
        <p:spPr>
          <a:xfrm>
            <a:off x="6340388" y="2571750"/>
            <a:ext cx="1466850" cy="1428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2" name="Google Shape;112;p26"/>
          <p:cNvSpPr txBox="1"/>
          <p:nvPr/>
        </p:nvSpPr>
        <p:spPr>
          <a:xfrm>
            <a:off x="311700" y="354600"/>
            <a:ext cx="462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rPr>
              <a:t>Learning Objectives</a:t>
            </a:r>
            <a:endParaRPr/>
          </a:p>
        </p:txBody>
      </p:sp>
      <p:sp>
        <p:nvSpPr>
          <p:cNvPr id="113" name="Google Shape;113;p26"/>
          <p:cNvSpPr txBox="1"/>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i="1" lang="en" sz="2000">
                <a:solidFill>
                  <a:schemeClr val="dk1"/>
                </a:solidFill>
              </a:rPr>
              <a:t>Students should be able to: </a:t>
            </a:r>
            <a:endParaRPr i="1" sz="2000">
              <a:solidFill>
                <a:schemeClr val="dk1"/>
              </a:solidFill>
            </a:endParaRPr>
          </a:p>
          <a:p>
            <a:pPr indent="-355600" lvl="0" marL="457200" rtl="0" algn="l">
              <a:spcBef>
                <a:spcPts val="1200"/>
              </a:spcBef>
              <a:spcAft>
                <a:spcPts val="0"/>
              </a:spcAft>
              <a:buClr>
                <a:schemeClr val="dk1"/>
              </a:buClr>
              <a:buSzPts val="2000"/>
              <a:buChar char="●"/>
            </a:pPr>
            <a:r>
              <a:rPr lang="en" sz="2000">
                <a:solidFill>
                  <a:schemeClr val="dk1"/>
                </a:solidFill>
              </a:rPr>
              <a:t>Explain how decision tree classifiers work. (They should have gotten this from Pasta Land but it’s reinforced here.)</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Show how training examples can be encoded as feature vectors.</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Use MachineLearningForKids to set up and solve a machine learning problem.</a:t>
            </a:r>
            <a:endParaRPr sz="20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9" name="Google Shape;119;p27"/>
          <p:cNvSpPr txBox="1"/>
          <p:nvPr/>
        </p:nvSpPr>
        <p:spPr>
          <a:xfrm>
            <a:off x="747475" y="340425"/>
            <a:ext cx="78744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When we worked with your reef/non reef example, only one feature was needed.  What if we give a more </a:t>
            </a:r>
            <a:r>
              <a:rPr lang="en"/>
              <a:t>advanced</a:t>
            </a:r>
            <a:r>
              <a:rPr lang="en"/>
              <a:t> problem where multiple features </a:t>
            </a:r>
            <a:r>
              <a:rPr lang="en"/>
              <a:t>determine</a:t>
            </a:r>
            <a:r>
              <a:rPr lang="en"/>
              <a:t> the differences?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Which</a:t>
            </a:r>
            <a:r>
              <a:rPr lang="en"/>
              <a:t> fish are </a:t>
            </a:r>
            <a:r>
              <a:rPr lang="en"/>
              <a:t>poisonous?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20" name="Google Shape;120;p27"/>
          <p:cNvPicPr preferRelativeResize="0"/>
          <p:nvPr/>
        </p:nvPicPr>
        <p:blipFill>
          <a:blip r:embed="rId3">
            <a:alphaModFix/>
          </a:blip>
          <a:stretch>
            <a:fillRect/>
          </a:stretch>
        </p:blipFill>
        <p:spPr>
          <a:xfrm>
            <a:off x="1545863" y="3019750"/>
            <a:ext cx="1371600" cy="1371600"/>
          </a:xfrm>
          <a:prstGeom prst="rect">
            <a:avLst/>
          </a:prstGeom>
          <a:noFill/>
          <a:ln>
            <a:noFill/>
          </a:ln>
        </p:spPr>
      </p:pic>
      <p:pic>
        <p:nvPicPr>
          <p:cNvPr id="121" name="Google Shape;121;p27"/>
          <p:cNvPicPr preferRelativeResize="0"/>
          <p:nvPr/>
        </p:nvPicPr>
        <p:blipFill>
          <a:blip r:embed="rId4">
            <a:alphaModFix/>
          </a:blip>
          <a:stretch>
            <a:fillRect/>
          </a:stretch>
        </p:blipFill>
        <p:spPr>
          <a:xfrm>
            <a:off x="5948463" y="1417825"/>
            <a:ext cx="1371600" cy="1371600"/>
          </a:xfrm>
          <a:prstGeom prst="rect">
            <a:avLst/>
          </a:prstGeom>
          <a:noFill/>
          <a:ln>
            <a:noFill/>
          </a:ln>
        </p:spPr>
      </p:pic>
      <p:pic>
        <p:nvPicPr>
          <p:cNvPr id="122" name="Google Shape;122;p27"/>
          <p:cNvPicPr preferRelativeResize="0"/>
          <p:nvPr/>
        </p:nvPicPr>
        <p:blipFill>
          <a:blip r:embed="rId5">
            <a:alphaModFix/>
          </a:blip>
          <a:stretch>
            <a:fillRect/>
          </a:stretch>
        </p:blipFill>
        <p:spPr>
          <a:xfrm>
            <a:off x="4483900" y="3019750"/>
            <a:ext cx="1371600" cy="1371600"/>
          </a:xfrm>
          <a:prstGeom prst="rect">
            <a:avLst/>
          </a:prstGeom>
          <a:noFill/>
          <a:ln>
            <a:noFill/>
          </a:ln>
        </p:spPr>
      </p:pic>
      <p:pic>
        <p:nvPicPr>
          <p:cNvPr id="123" name="Google Shape;123;p27"/>
          <p:cNvPicPr preferRelativeResize="0"/>
          <p:nvPr/>
        </p:nvPicPr>
        <p:blipFill>
          <a:blip r:embed="rId6">
            <a:alphaModFix/>
          </a:blip>
          <a:stretch>
            <a:fillRect/>
          </a:stretch>
        </p:blipFill>
        <p:spPr>
          <a:xfrm>
            <a:off x="3014888" y="3019750"/>
            <a:ext cx="1371600" cy="1371600"/>
          </a:xfrm>
          <a:prstGeom prst="rect">
            <a:avLst/>
          </a:prstGeom>
          <a:noFill/>
          <a:ln>
            <a:noFill/>
          </a:ln>
        </p:spPr>
      </p:pic>
      <p:pic>
        <p:nvPicPr>
          <p:cNvPr id="124" name="Google Shape;124;p27"/>
          <p:cNvPicPr preferRelativeResize="0"/>
          <p:nvPr/>
        </p:nvPicPr>
        <p:blipFill>
          <a:blip r:embed="rId7">
            <a:alphaModFix/>
          </a:blip>
          <a:stretch>
            <a:fillRect/>
          </a:stretch>
        </p:blipFill>
        <p:spPr>
          <a:xfrm>
            <a:off x="4481669" y="1417825"/>
            <a:ext cx="1371600" cy="1371600"/>
          </a:xfrm>
          <a:prstGeom prst="rect">
            <a:avLst/>
          </a:prstGeom>
          <a:noFill/>
          <a:ln>
            <a:noFill/>
          </a:ln>
        </p:spPr>
      </p:pic>
      <p:pic>
        <p:nvPicPr>
          <p:cNvPr id="125" name="Google Shape;125;p27"/>
          <p:cNvPicPr preferRelativeResize="0"/>
          <p:nvPr/>
        </p:nvPicPr>
        <p:blipFill>
          <a:blip r:embed="rId8">
            <a:alphaModFix/>
          </a:blip>
          <a:stretch>
            <a:fillRect/>
          </a:stretch>
        </p:blipFill>
        <p:spPr>
          <a:xfrm>
            <a:off x="1545863" y="1417825"/>
            <a:ext cx="1371600" cy="1371600"/>
          </a:xfrm>
          <a:prstGeom prst="rect">
            <a:avLst/>
          </a:prstGeom>
          <a:noFill/>
          <a:ln>
            <a:noFill/>
          </a:ln>
        </p:spPr>
      </p:pic>
      <p:pic>
        <p:nvPicPr>
          <p:cNvPr id="126" name="Google Shape;126;p27"/>
          <p:cNvPicPr preferRelativeResize="0"/>
          <p:nvPr/>
        </p:nvPicPr>
        <p:blipFill>
          <a:blip r:embed="rId9">
            <a:alphaModFix/>
          </a:blip>
          <a:stretch>
            <a:fillRect/>
          </a:stretch>
        </p:blipFill>
        <p:spPr>
          <a:xfrm>
            <a:off x="3014888" y="1417825"/>
            <a:ext cx="1371600" cy="1371600"/>
          </a:xfrm>
          <a:prstGeom prst="rect">
            <a:avLst/>
          </a:prstGeom>
          <a:noFill/>
          <a:ln>
            <a:noFill/>
          </a:ln>
        </p:spPr>
      </p:pic>
      <p:pic>
        <p:nvPicPr>
          <p:cNvPr id="127" name="Google Shape;127;p27"/>
          <p:cNvPicPr preferRelativeResize="0"/>
          <p:nvPr/>
        </p:nvPicPr>
        <p:blipFill>
          <a:blip r:embed="rId10">
            <a:alphaModFix/>
          </a:blip>
          <a:stretch>
            <a:fillRect/>
          </a:stretch>
        </p:blipFill>
        <p:spPr>
          <a:xfrm>
            <a:off x="7415256" y="1417825"/>
            <a:ext cx="1371600" cy="1371600"/>
          </a:xfrm>
          <a:prstGeom prst="rect">
            <a:avLst/>
          </a:prstGeom>
          <a:noFill/>
          <a:ln>
            <a:noFill/>
          </a:ln>
        </p:spPr>
      </p:pic>
      <p:pic>
        <p:nvPicPr>
          <p:cNvPr id="128" name="Google Shape;128;p27"/>
          <p:cNvPicPr preferRelativeResize="0"/>
          <p:nvPr/>
        </p:nvPicPr>
        <p:blipFill rotWithShape="1">
          <a:blip r:embed="rId11">
            <a:alphaModFix/>
          </a:blip>
          <a:srcRect b="0" l="0" r="0" t="0"/>
          <a:stretch/>
        </p:blipFill>
        <p:spPr>
          <a:xfrm>
            <a:off x="7421963" y="3019750"/>
            <a:ext cx="1371600" cy="1371600"/>
          </a:xfrm>
          <a:prstGeom prst="rect">
            <a:avLst/>
          </a:prstGeom>
          <a:noFill/>
          <a:ln>
            <a:noFill/>
          </a:ln>
        </p:spPr>
      </p:pic>
      <p:pic>
        <p:nvPicPr>
          <p:cNvPr id="129" name="Google Shape;129;p27"/>
          <p:cNvPicPr preferRelativeResize="0"/>
          <p:nvPr/>
        </p:nvPicPr>
        <p:blipFill rotWithShape="1">
          <a:blip r:embed="rId12">
            <a:alphaModFix/>
          </a:blip>
          <a:srcRect b="0" l="0" r="0" t="0"/>
          <a:stretch/>
        </p:blipFill>
        <p:spPr>
          <a:xfrm>
            <a:off x="5952938" y="3019750"/>
            <a:ext cx="1371600" cy="1371600"/>
          </a:xfrm>
          <a:prstGeom prst="rect">
            <a:avLst/>
          </a:prstGeom>
          <a:noFill/>
          <a:ln>
            <a:noFill/>
          </a:ln>
        </p:spPr>
      </p:pic>
      <p:sp>
        <p:nvSpPr>
          <p:cNvPr id="130" name="Google Shape;130;p27"/>
          <p:cNvSpPr txBox="1"/>
          <p:nvPr/>
        </p:nvSpPr>
        <p:spPr>
          <a:xfrm flipH="1">
            <a:off x="484838" y="1903525"/>
            <a:ext cx="9636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Safe:</a:t>
            </a:r>
            <a:endParaRPr/>
          </a:p>
        </p:txBody>
      </p:sp>
      <p:sp>
        <p:nvSpPr>
          <p:cNvPr id="131" name="Google Shape;131;p27"/>
          <p:cNvSpPr txBox="1"/>
          <p:nvPr/>
        </p:nvSpPr>
        <p:spPr>
          <a:xfrm flipH="1">
            <a:off x="350438" y="3503725"/>
            <a:ext cx="10980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Poisonous:</a:t>
            </a:r>
            <a:endParaRPr/>
          </a:p>
        </p:txBody>
      </p:sp>
      <p:sp>
        <p:nvSpPr>
          <p:cNvPr id="132" name="Google Shape;132;p27"/>
          <p:cNvSpPr txBox="1"/>
          <p:nvPr/>
        </p:nvSpPr>
        <p:spPr>
          <a:xfrm>
            <a:off x="1448450" y="4470225"/>
            <a:ext cx="708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We could solve this, but it would take a really long time!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8" name="Google Shape;138;p28"/>
          <p:cNvSpPr txBox="1"/>
          <p:nvPr/>
        </p:nvSpPr>
        <p:spPr>
          <a:xfrm>
            <a:off x="325625" y="333025"/>
            <a:ext cx="8318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t>This is where Machine Learning and decision trees come in!</a:t>
            </a:r>
            <a:endParaRPr b="1" sz="1800"/>
          </a:p>
        </p:txBody>
      </p:sp>
      <p:sp>
        <p:nvSpPr>
          <p:cNvPr id="139" name="Google Shape;139;p28"/>
          <p:cNvSpPr txBox="1"/>
          <p:nvPr/>
        </p:nvSpPr>
        <p:spPr>
          <a:xfrm>
            <a:off x="510650" y="865875"/>
            <a:ext cx="8303700" cy="43098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SzPts val="2400"/>
              <a:buAutoNum type="arabicPeriod"/>
            </a:pPr>
            <a:r>
              <a:rPr lang="en" sz="2400"/>
              <a:t>Go to the website: </a:t>
            </a:r>
            <a:r>
              <a:rPr lang="en" sz="2400" u="sng">
                <a:solidFill>
                  <a:schemeClr val="hlink"/>
                </a:solidFill>
                <a:hlinkClick r:id="rId3"/>
              </a:rPr>
              <a:t>https://machinelearningforkids.co.uk/</a:t>
            </a:r>
            <a:endParaRPr sz="2400"/>
          </a:p>
          <a:p>
            <a:pPr indent="-381000" lvl="0" marL="457200" rtl="0" algn="l">
              <a:spcBef>
                <a:spcPts val="0"/>
              </a:spcBef>
              <a:spcAft>
                <a:spcPts val="0"/>
              </a:spcAft>
              <a:buSzPts val="2400"/>
              <a:buAutoNum type="arabicPeriod"/>
            </a:pPr>
            <a:r>
              <a:rPr lang="en" sz="2400"/>
              <a:t>In the top center of the screen, click Log in, and then select already registered</a:t>
            </a:r>
            <a:endParaRPr sz="2400"/>
          </a:p>
          <a:p>
            <a:pPr indent="-381000" lvl="0" marL="457200" rtl="0" algn="l">
              <a:spcBef>
                <a:spcPts val="0"/>
              </a:spcBef>
              <a:spcAft>
                <a:spcPts val="0"/>
              </a:spcAft>
              <a:buSzPts val="2400"/>
              <a:buAutoNum type="arabicPeriod"/>
            </a:pPr>
            <a:r>
              <a:rPr lang="en" sz="2400"/>
              <a:t>Use the username and password that your teacher gave to you to log in</a:t>
            </a:r>
            <a:endParaRPr sz="2400"/>
          </a:p>
          <a:p>
            <a:pPr indent="-381000" lvl="0" marL="457200" rtl="0" algn="l">
              <a:spcBef>
                <a:spcPts val="0"/>
              </a:spcBef>
              <a:spcAft>
                <a:spcPts val="0"/>
              </a:spcAft>
              <a:buSzPts val="2400"/>
              <a:buAutoNum type="arabicPeriod"/>
            </a:pPr>
            <a:r>
              <a:rPr lang="en" sz="2400"/>
              <a:t>Click on “Go to your projects”</a:t>
            </a:r>
            <a:endParaRPr sz="2400"/>
          </a:p>
          <a:p>
            <a:pPr indent="-381000" lvl="0" marL="457200" rtl="0" algn="l">
              <a:spcBef>
                <a:spcPts val="0"/>
              </a:spcBef>
              <a:spcAft>
                <a:spcPts val="0"/>
              </a:spcAft>
              <a:buSzPts val="2400"/>
              <a:buAutoNum type="arabicPeriod"/>
            </a:pPr>
            <a:r>
              <a:rPr lang="en" sz="2400"/>
              <a:t>Click on fish classifier, then select “Learn and Test”</a:t>
            </a:r>
            <a:endParaRPr sz="2400"/>
          </a:p>
          <a:p>
            <a:pPr indent="-381000" lvl="0" marL="457200" rtl="0" algn="l">
              <a:spcBef>
                <a:spcPts val="0"/>
              </a:spcBef>
              <a:spcAft>
                <a:spcPts val="0"/>
              </a:spcAft>
              <a:buSzPts val="2400"/>
              <a:buAutoNum type="arabicPeriod"/>
            </a:pPr>
            <a:r>
              <a:rPr lang="en" sz="2400"/>
              <a:t>Scroll down to the </a:t>
            </a:r>
            <a:r>
              <a:rPr lang="en" sz="2400"/>
              <a:t>bottom</a:t>
            </a:r>
            <a:r>
              <a:rPr lang="en" sz="2400"/>
              <a:t> of the page and click “Describe your model”</a:t>
            </a:r>
            <a:endParaRPr sz="2400"/>
          </a:p>
          <a:p>
            <a:pPr indent="-381000" lvl="0" marL="457200" rtl="0" algn="l">
              <a:spcBef>
                <a:spcPts val="0"/>
              </a:spcBef>
              <a:spcAft>
                <a:spcPts val="0"/>
              </a:spcAft>
              <a:buSzPts val="2400"/>
              <a:buAutoNum type="arabicPeriod"/>
            </a:pPr>
            <a:r>
              <a:rPr lang="en" sz="2400"/>
              <a:t>Go to the next slide for what to do next</a:t>
            </a:r>
            <a:endParaRPr sz="2400"/>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9"/>
          <p:cNvSpPr txBox="1"/>
          <p:nvPr>
            <p:ph idx="12" type="sldNum"/>
          </p:nvPr>
        </p:nvSpPr>
        <p:spPr>
          <a:xfrm>
            <a:off x="8465383" y="4882542"/>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9"/>
          <p:cNvSpPr txBox="1"/>
          <p:nvPr/>
        </p:nvSpPr>
        <p:spPr>
          <a:xfrm>
            <a:off x="422175" y="507950"/>
            <a:ext cx="8074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Task: </a:t>
            </a:r>
            <a:r>
              <a:rPr lang="en"/>
              <a:t>Enter 4 new fish into the machine learning program.  As you build your fish in Machine Learning for Kids, write down what you select in this table and record if the fish is poisonous.</a:t>
            </a:r>
            <a:endParaRPr/>
          </a:p>
        </p:txBody>
      </p:sp>
      <p:graphicFrame>
        <p:nvGraphicFramePr>
          <p:cNvPr id="146" name="Google Shape;146;p29"/>
          <p:cNvGraphicFramePr/>
          <p:nvPr/>
        </p:nvGraphicFramePr>
        <p:xfrm>
          <a:off x="422175" y="1159775"/>
          <a:ext cx="3000000" cy="3000000"/>
        </p:xfrm>
        <a:graphic>
          <a:graphicData uri="http://schemas.openxmlformats.org/drawingml/2006/table">
            <a:tbl>
              <a:tblPr>
                <a:noFill/>
                <a:tableStyleId>{482A7263-4182-4E4F-A873-955A8AC0886A}</a:tableStyleId>
              </a:tblPr>
              <a:tblGrid>
                <a:gridCol w="856500"/>
                <a:gridCol w="1037975"/>
              </a:tblGrid>
              <a:tr h="365725">
                <a:tc gridSpan="2">
                  <a:txBody>
                    <a:bodyPr/>
                    <a:lstStyle/>
                    <a:p>
                      <a:pPr indent="0" lvl="0" marL="0" rtl="0" algn="ctr">
                        <a:spcBef>
                          <a:spcPts val="0"/>
                        </a:spcBef>
                        <a:spcAft>
                          <a:spcPts val="0"/>
                        </a:spcAft>
                        <a:buNone/>
                      </a:pPr>
                      <a:r>
                        <a:rPr b="1" lang="en" sz="900"/>
                        <a:t>Fish 1</a:t>
                      </a:r>
                      <a:endParaRPr b="1" sz="900"/>
                    </a:p>
                  </a:txBody>
                  <a:tcPr marT="91425" marB="91425" marR="91425" marL="91425"/>
                </a:tc>
                <a:tc hMerge="1"/>
              </a:tr>
              <a:tr h="365725">
                <a:tc>
                  <a:txBody>
                    <a:bodyPr/>
                    <a:lstStyle/>
                    <a:p>
                      <a:pPr indent="0" lvl="0" marL="0" rtl="0" algn="l">
                        <a:spcBef>
                          <a:spcPts val="0"/>
                        </a:spcBef>
                        <a:spcAft>
                          <a:spcPts val="0"/>
                        </a:spcAft>
                        <a:buNone/>
                      </a:pPr>
                      <a:r>
                        <a:rPr lang="en" sz="900"/>
                        <a:t>Body Type</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lang="en" sz="900"/>
                        <a:t>Tail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Dorsal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Pectoral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Body Color</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lang="en" sz="900"/>
                        <a:t>Fin Color</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b="1" lang="en" sz="900"/>
                        <a:t>Poisonous</a:t>
                      </a:r>
                      <a:r>
                        <a:rPr b="1" lang="en" sz="900"/>
                        <a:t>?</a:t>
                      </a:r>
                      <a:endParaRPr b="1" sz="900"/>
                    </a:p>
                  </a:txBody>
                  <a:tcPr marT="91425" marB="91425" marR="91425" marL="91425">
                    <a:solidFill>
                      <a:srgbClr val="CCCCCC"/>
                    </a:solidFill>
                  </a:tcPr>
                </a:tc>
                <a:tc>
                  <a:txBody>
                    <a:bodyPr/>
                    <a:lstStyle/>
                    <a:p>
                      <a:pPr indent="0" lvl="0" marL="0" rtl="0" algn="l">
                        <a:spcBef>
                          <a:spcPts val="0"/>
                        </a:spcBef>
                        <a:spcAft>
                          <a:spcPts val="0"/>
                        </a:spcAft>
                        <a:buNone/>
                      </a:pPr>
                      <a:r>
                        <a:t/>
                      </a:r>
                      <a:endParaRPr b="1" sz="600"/>
                    </a:p>
                  </a:txBody>
                  <a:tcPr marT="91425" marB="91425" marR="91425" marL="91425">
                    <a:solidFill>
                      <a:srgbClr val="CCCCCC"/>
                    </a:solidFill>
                  </a:tcPr>
                </a:tc>
              </a:tr>
            </a:tbl>
          </a:graphicData>
        </a:graphic>
      </p:graphicFrame>
      <p:graphicFrame>
        <p:nvGraphicFramePr>
          <p:cNvPr id="147" name="Google Shape;147;p29"/>
          <p:cNvGraphicFramePr/>
          <p:nvPr/>
        </p:nvGraphicFramePr>
        <p:xfrm>
          <a:off x="2432150" y="1159775"/>
          <a:ext cx="3000000" cy="3000000"/>
        </p:xfrm>
        <a:graphic>
          <a:graphicData uri="http://schemas.openxmlformats.org/drawingml/2006/table">
            <a:tbl>
              <a:tblPr>
                <a:noFill/>
                <a:tableStyleId>{482A7263-4182-4E4F-A873-955A8AC0886A}</a:tableStyleId>
              </a:tblPr>
              <a:tblGrid>
                <a:gridCol w="856500"/>
                <a:gridCol w="1037975"/>
              </a:tblGrid>
              <a:tr h="365725">
                <a:tc gridSpan="2">
                  <a:txBody>
                    <a:bodyPr/>
                    <a:lstStyle/>
                    <a:p>
                      <a:pPr indent="0" lvl="0" marL="0" rtl="0" algn="ctr">
                        <a:spcBef>
                          <a:spcPts val="0"/>
                        </a:spcBef>
                        <a:spcAft>
                          <a:spcPts val="0"/>
                        </a:spcAft>
                        <a:buNone/>
                      </a:pPr>
                      <a:r>
                        <a:rPr b="1" lang="en" sz="900"/>
                        <a:t>Fish 2</a:t>
                      </a:r>
                      <a:endParaRPr b="1" sz="900"/>
                    </a:p>
                  </a:txBody>
                  <a:tcPr marT="91425" marB="91425" marR="91425" marL="91425"/>
                </a:tc>
                <a:tc hMerge="1"/>
              </a:tr>
              <a:tr h="365725">
                <a:tc>
                  <a:txBody>
                    <a:bodyPr/>
                    <a:lstStyle/>
                    <a:p>
                      <a:pPr indent="0" lvl="0" marL="0" rtl="0" algn="l">
                        <a:spcBef>
                          <a:spcPts val="0"/>
                        </a:spcBef>
                        <a:spcAft>
                          <a:spcPts val="0"/>
                        </a:spcAft>
                        <a:buNone/>
                      </a:pPr>
                      <a:r>
                        <a:rPr lang="en" sz="900"/>
                        <a:t>Body Type</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lang="en" sz="900"/>
                        <a:t>Tail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Dorsal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Pectoral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Body Color</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lang="en" sz="900"/>
                        <a:t>Fin Color</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b="1" lang="en" sz="900"/>
                        <a:t>Poisonous?</a:t>
                      </a:r>
                      <a:endParaRPr b="1" sz="900"/>
                    </a:p>
                  </a:txBody>
                  <a:tcPr marT="91425" marB="91425" marR="91425" marL="91425"/>
                </a:tc>
                <a:tc>
                  <a:txBody>
                    <a:bodyPr/>
                    <a:lstStyle/>
                    <a:p>
                      <a:pPr indent="0" lvl="0" marL="0" rtl="0" algn="l">
                        <a:spcBef>
                          <a:spcPts val="0"/>
                        </a:spcBef>
                        <a:spcAft>
                          <a:spcPts val="0"/>
                        </a:spcAft>
                        <a:buNone/>
                      </a:pPr>
                      <a:r>
                        <a:t/>
                      </a:r>
                      <a:endParaRPr b="1" sz="600"/>
                    </a:p>
                  </a:txBody>
                  <a:tcPr marT="91425" marB="91425" marR="91425" marL="91425"/>
                </a:tc>
              </a:tr>
            </a:tbl>
          </a:graphicData>
        </a:graphic>
      </p:graphicFrame>
      <p:graphicFrame>
        <p:nvGraphicFramePr>
          <p:cNvPr id="148" name="Google Shape;148;p29"/>
          <p:cNvGraphicFramePr/>
          <p:nvPr/>
        </p:nvGraphicFramePr>
        <p:xfrm>
          <a:off x="4442125" y="1159775"/>
          <a:ext cx="3000000" cy="3000000"/>
        </p:xfrm>
        <a:graphic>
          <a:graphicData uri="http://schemas.openxmlformats.org/drawingml/2006/table">
            <a:tbl>
              <a:tblPr>
                <a:noFill/>
                <a:tableStyleId>{482A7263-4182-4E4F-A873-955A8AC0886A}</a:tableStyleId>
              </a:tblPr>
              <a:tblGrid>
                <a:gridCol w="856500"/>
                <a:gridCol w="1037975"/>
              </a:tblGrid>
              <a:tr h="365725">
                <a:tc gridSpan="2">
                  <a:txBody>
                    <a:bodyPr/>
                    <a:lstStyle/>
                    <a:p>
                      <a:pPr indent="0" lvl="0" marL="0" rtl="0" algn="ctr">
                        <a:spcBef>
                          <a:spcPts val="0"/>
                        </a:spcBef>
                        <a:spcAft>
                          <a:spcPts val="0"/>
                        </a:spcAft>
                        <a:buNone/>
                      </a:pPr>
                      <a:r>
                        <a:rPr b="1" lang="en" sz="900"/>
                        <a:t>Fish 3</a:t>
                      </a:r>
                      <a:endParaRPr b="1" sz="900"/>
                    </a:p>
                  </a:txBody>
                  <a:tcPr marT="91425" marB="91425" marR="91425" marL="91425"/>
                </a:tc>
                <a:tc hMerge="1"/>
              </a:tr>
              <a:tr h="365725">
                <a:tc>
                  <a:txBody>
                    <a:bodyPr/>
                    <a:lstStyle/>
                    <a:p>
                      <a:pPr indent="0" lvl="0" marL="0" rtl="0" algn="l">
                        <a:spcBef>
                          <a:spcPts val="0"/>
                        </a:spcBef>
                        <a:spcAft>
                          <a:spcPts val="0"/>
                        </a:spcAft>
                        <a:buNone/>
                      </a:pPr>
                      <a:r>
                        <a:rPr lang="en" sz="900"/>
                        <a:t>Body Type</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lang="en" sz="900"/>
                        <a:t>Tail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Dorsal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Pectoral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Body Color</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lang="en" sz="900"/>
                        <a:t>Fin Color</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b="1" lang="en" sz="900"/>
                        <a:t>Poisonous?</a:t>
                      </a:r>
                      <a:endParaRPr b="1" sz="900"/>
                    </a:p>
                  </a:txBody>
                  <a:tcPr marT="91425" marB="91425" marR="91425" marL="91425"/>
                </a:tc>
                <a:tc>
                  <a:txBody>
                    <a:bodyPr/>
                    <a:lstStyle/>
                    <a:p>
                      <a:pPr indent="0" lvl="0" marL="0" rtl="0" algn="l">
                        <a:spcBef>
                          <a:spcPts val="0"/>
                        </a:spcBef>
                        <a:spcAft>
                          <a:spcPts val="0"/>
                        </a:spcAft>
                        <a:buNone/>
                      </a:pPr>
                      <a:r>
                        <a:t/>
                      </a:r>
                      <a:endParaRPr b="1" sz="600"/>
                    </a:p>
                  </a:txBody>
                  <a:tcPr marT="91425" marB="91425" marR="91425" marL="91425"/>
                </a:tc>
              </a:tr>
            </a:tbl>
          </a:graphicData>
        </a:graphic>
      </p:graphicFrame>
      <p:graphicFrame>
        <p:nvGraphicFramePr>
          <p:cNvPr id="149" name="Google Shape;149;p29"/>
          <p:cNvGraphicFramePr/>
          <p:nvPr/>
        </p:nvGraphicFramePr>
        <p:xfrm>
          <a:off x="6503925" y="1159775"/>
          <a:ext cx="3000000" cy="3000000"/>
        </p:xfrm>
        <a:graphic>
          <a:graphicData uri="http://schemas.openxmlformats.org/drawingml/2006/table">
            <a:tbl>
              <a:tblPr>
                <a:noFill/>
                <a:tableStyleId>{482A7263-4182-4E4F-A873-955A8AC0886A}</a:tableStyleId>
              </a:tblPr>
              <a:tblGrid>
                <a:gridCol w="856500"/>
                <a:gridCol w="1037975"/>
              </a:tblGrid>
              <a:tr h="365725">
                <a:tc gridSpan="2">
                  <a:txBody>
                    <a:bodyPr/>
                    <a:lstStyle/>
                    <a:p>
                      <a:pPr indent="0" lvl="0" marL="0" rtl="0" algn="ctr">
                        <a:spcBef>
                          <a:spcPts val="0"/>
                        </a:spcBef>
                        <a:spcAft>
                          <a:spcPts val="0"/>
                        </a:spcAft>
                        <a:buNone/>
                      </a:pPr>
                      <a:r>
                        <a:rPr b="1" lang="en" sz="900"/>
                        <a:t>Fish 4</a:t>
                      </a:r>
                      <a:endParaRPr b="1" sz="900"/>
                    </a:p>
                  </a:txBody>
                  <a:tcPr marT="91425" marB="91425" marR="91425" marL="91425"/>
                </a:tc>
                <a:tc hMerge="1"/>
              </a:tr>
              <a:tr h="365725">
                <a:tc>
                  <a:txBody>
                    <a:bodyPr/>
                    <a:lstStyle/>
                    <a:p>
                      <a:pPr indent="0" lvl="0" marL="0" rtl="0" algn="l">
                        <a:spcBef>
                          <a:spcPts val="0"/>
                        </a:spcBef>
                        <a:spcAft>
                          <a:spcPts val="0"/>
                        </a:spcAft>
                        <a:buNone/>
                      </a:pPr>
                      <a:r>
                        <a:rPr lang="en" sz="900"/>
                        <a:t>Body Type</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lang="en" sz="900"/>
                        <a:t>Tail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Dorsal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Pectoral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Body Color</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lang="en" sz="900"/>
                        <a:t>Fin Color</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b="1" lang="en" sz="900"/>
                        <a:t>Poisonous?</a:t>
                      </a:r>
                      <a:endParaRPr b="1" sz="900"/>
                    </a:p>
                  </a:txBody>
                  <a:tcPr marT="91425" marB="91425" marR="91425" marL="91425"/>
                </a:tc>
                <a:tc>
                  <a:txBody>
                    <a:bodyPr/>
                    <a:lstStyle/>
                    <a:p>
                      <a:pPr indent="0" lvl="0" marL="0" rtl="0" algn="l">
                        <a:spcBef>
                          <a:spcPts val="0"/>
                        </a:spcBef>
                        <a:spcAft>
                          <a:spcPts val="0"/>
                        </a:spcAft>
                        <a:buNone/>
                      </a:pPr>
                      <a:r>
                        <a:t/>
                      </a:r>
                      <a:endParaRPr b="1" sz="600"/>
                    </a:p>
                  </a:txBody>
                  <a:tcPr marT="91425" marB="91425" marR="91425" marL="91425"/>
                </a:tc>
              </a:tr>
            </a:tbl>
          </a:graphicData>
        </a:graphic>
      </p:graphicFrame>
      <p:sp>
        <p:nvSpPr>
          <p:cNvPr id="150" name="Google Shape;150;p29"/>
          <p:cNvSpPr/>
          <p:nvPr/>
        </p:nvSpPr>
        <p:spPr>
          <a:xfrm>
            <a:off x="422175" y="4104125"/>
            <a:ext cx="324000" cy="324000"/>
          </a:xfrm>
          <a:prstGeom prst="ellipse">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9"/>
          <p:cNvSpPr txBox="1"/>
          <p:nvPr/>
        </p:nvSpPr>
        <p:spPr>
          <a:xfrm>
            <a:off x="857150" y="406602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1=Red</a:t>
            </a:r>
            <a:endParaRPr/>
          </a:p>
        </p:txBody>
      </p:sp>
      <p:sp>
        <p:nvSpPr>
          <p:cNvPr id="152" name="Google Shape;152;p29"/>
          <p:cNvSpPr/>
          <p:nvPr/>
        </p:nvSpPr>
        <p:spPr>
          <a:xfrm>
            <a:off x="2412550" y="4104125"/>
            <a:ext cx="324000" cy="324000"/>
          </a:xfrm>
          <a:prstGeom prst="ellipse">
            <a:avLst/>
          </a:prstGeom>
          <a:solidFill>
            <a:srgbClr val="C27BA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9"/>
          <p:cNvSpPr txBox="1"/>
          <p:nvPr/>
        </p:nvSpPr>
        <p:spPr>
          <a:xfrm>
            <a:off x="2757550" y="406602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2=Pink</a:t>
            </a:r>
            <a:endParaRPr/>
          </a:p>
        </p:txBody>
      </p:sp>
      <p:sp>
        <p:nvSpPr>
          <p:cNvPr id="154" name="Google Shape;154;p29"/>
          <p:cNvSpPr/>
          <p:nvPr/>
        </p:nvSpPr>
        <p:spPr>
          <a:xfrm>
            <a:off x="4402925" y="4104125"/>
            <a:ext cx="324000" cy="324000"/>
          </a:xfrm>
          <a:prstGeom prst="ellipse">
            <a:avLst/>
          </a:prstGeom>
          <a:solidFill>
            <a:srgbClr val="FFE5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9"/>
          <p:cNvSpPr txBox="1"/>
          <p:nvPr/>
        </p:nvSpPr>
        <p:spPr>
          <a:xfrm>
            <a:off x="4760713" y="406602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3=Yellow</a:t>
            </a:r>
            <a:endParaRPr/>
          </a:p>
        </p:txBody>
      </p:sp>
      <p:sp>
        <p:nvSpPr>
          <p:cNvPr id="156" name="Google Shape;156;p29"/>
          <p:cNvSpPr/>
          <p:nvPr/>
        </p:nvSpPr>
        <p:spPr>
          <a:xfrm>
            <a:off x="6903744" y="4104125"/>
            <a:ext cx="324000" cy="324000"/>
          </a:xfrm>
          <a:prstGeom prst="ellipse">
            <a:avLst/>
          </a:prstGeom>
          <a:solidFill>
            <a:srgbClr val="FF99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9"/>
          <p:cNvSpPr txBox="1"/>
          <p:nvPr/>
        </p:nvSpPr>
        <p:spPr>
          <a:xfrm>
            <a:off x="7239075" y="406602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4=Orange</a:t>
            </a:r>
            <a:endParaRPr/>
          </a:p>
        </p:txBody>
      </p:sp>
      <p:sp>
        <p:nvSpPr>
          <p:cNvPr id="158" name="Google Shape;158;p29"/>
          <p:cNvSpPr/>
          <p:nvPr/>
        </p:nvSpPr>
        <p:spPr>
          <a:xfrm>
            <a:off x="422175" y="4524475"/>
            <a:ext cx="324000" cy="324000"/>
          </a:xfrm>
          <a:prstGeom prst="ellipse">
            <a:avLst/>
          </a:prstGeom>
          <a:solidFill>
            <a:srgbClr val="6AA84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9"/>
          <p:cNvSpPr txBox="1"/>
          <p:nvPr/>
        </p:nvSpPr>
        <p:spPr>
          <a:xfrm>
            <a:off x="857150" y="448637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5=Lime</a:t>
            </a:r>
            <a:endParaRPr/>
          </a:p>
        </p:txBody>
      </p:sp>
      <p:sp>
        <p:nvSpPr>
          <p:cNvPr id="160" name="Google Shape;160;p29"/>
          <p:cNvSpPr/>
          <p:nvPr/>
        </p:nvSpPr>
        <p:spPr>
          <a:xfrm>
            <a:off x="2412550" y="4524475"/>
            <a:ext cx="324000" cy="324000"/>
          </a:xfrm>
          <a:prstGeom prst="ellipse">
            <a:avLst/>
          </a:prstGeom>
          <a:solidFill>
            <a:srgbClr val="274E1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9"/>
          <p:cNvSpPr txBox="1"/>
          <p:nvPr/>
        </p:nvSpPr>
        <p:spPr>
          <a:xfrm>
            <a:off x="2753438" y="448637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6=Forest</a:t>
            </a:r>
            <a:endParaRPr/>
          </a:p>
        </p:txBody>
      </p:sp>
      <p:sp>
        <p:nvSpPr>
          <p:cNvPr id="162" name="Google Shape;162;p29"/>
          <p:cNvSpPr/>
          <p:nvPr/>
        </p:nvSpPr>
        <p:spPr>
          <a:xfrm>
            <a:off x="4402925" y="4524475"/>
            <a:ext cx="324000" cy="324000"/>
          </a:xfrm>
          <a:prstGeom prst="ellipse">
            <a:avLst/>
          </a:prstGeom>
          <a:solidFill>
            <a:srgbClr val="1155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9"/>
          <p:cNvSpPr txBox="1"/>
          <p:nvPr/>
        </p:nvSpPr>
        <p:spPr>
          <a:xfrm>
            <a:off x="4760700" y="448637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7=Blue</a:t>
            </a:r>
            <a:endParaRPr/>
          </a:p>
        </p:txBody>
      </p:sp>
      <p:sp>
        <p:nvSpPr>
          <p:cNvPr id="164" name="Google Shape;164;p29"/>
          <p:cNvSpPr/>
          <p:nvPr/>
        </p:nvSpPr>
        <p:spPr>
          <a:xfrm>
            <a:off x="6903744" y="4524475"/>
            <a:ext cx="324000" cy="324000"/>
          </a:xfrm>
          <a:prstGeom prst="ellipse">
            <a:avLst/>
          </a:prstGeom>
          <a:solidFill>
            <a:srgbClr val="351C7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9"/>
          <p:cNvSpPr txBox="1"/>
          <p:nvPr/>
        </p:nvSpPr>
        <p:spPr>
          <a:xfrm>
            <a:off x="7239063" y="448637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8=Purple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Decision tree in our notation</a:t>
            </a:r>
            <a:endParaRPr/>
          </a:p>
        </p:txBody>
      </p:sp>
      <p:sp>
        <p:nvSpPr>
          <p:cNvPr id="171" name="Google Shape;171;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72" name="Google Shape;172;p30"/>
          <p:cNvSpPr/>
          <p:nvPr/>
        </p:nvSpPr>
        <p:spPr>
          <a:xfrm>
            <a:off x="3654850" y="2110050"/>
            <a:ext cx="1156200" cy="5727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Body type triangle?</a:t>
            </a:r>
            <a:endParaRPr sz="1600"/>
          </a:p>
        </p:txBody>
      </p:sp>
      <p:sp>
        <p:nvSpPr>
          <p:cNvPr id="173" name="Google Shape;173;p30"/>
          <p:cNvSpPr/>
          <p:nvPr/>
        </p:nvSpPr>
        <p:spPr>
          <a:xfrm>
            <a:off x="4767750" y="840950"/>
            <a:ext cx="1518600" cy="5727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t>Pectoral fins smooth?</a:t>
            </a:r>
            <a:endParaRPr sz="1600"/>
          </a:p>
        </p:txBody>
      </p:sp>
      <p:cxnSp>
        <p:nvCxnSpPr>
          <p:cNvPr id="174" name="Google Shape;174;p30"/>
          <p:cNvCxnSpPr/>
          <p:nvPr/>
        </p:nvCxnSpPr>
        <p:spPr>
          <a:xfrm flipH="1">
            <a:off x="4448300" y="1413650"/>
            <a:ext cx="628200" cy="672300"/>
          </a:xfrm>
          <a:prstGeom prst="straightConnector1">
            <a:avLst/>
          </a:prstGeom>
          <a:noFill/>
          <a:ln cap="flat" cmpd="sng" w="19050">
            <a:solidFill>
              <a:schemeClr val="dk2"/>
            </a:solidFill>
            <a:prstDash val="solid"/>
            <a:round/>
            <a:headEnd len="med" w="med" type="none"/>
            <a:tailEnd len="med" w="med" type="triangle"/>
          </a:ln>
        </p:spPr>
      </p:cxnSp>
      <p:cxnSp>
        <p:nvCxnSpPr>
          <p:cNvPr id="175" name="Google Shape;175;p30"/>
          <p:cNvCxnSpPr/>
          <p:nvPr/>
        </p:nvCxnSpPr>
        <p:spPr>
          <a:xfrm>
            <a:off x="5875350" y="1413600"/>
            <a:ext cx="601800" cy="691500"/>
          </a:xfrm>
          <a:prstGeom prst="straightConnector1">
            <a:avLst/>
          </a:prstGeom>
          <a:noFill/>
          <a:ln cap="flat" cmpd="sng" w="19050">
            <a:solidFill>
              <a:schemeClr val="dk2"/>
            </a:solidFill>
            <a:prstDash val="solid"/>
            <a:round/>
            <a:headEnd len="med" w="med" type="none"/>
            <a:tailEnd len="med" w="med" type="triangle"/>
          </a:ln>
        </p:spPr>
      </p:cxnSp>
      <p:sp>
        <p:nvSpPr>
          <p:cNvPr id="176" name="Google Shape;176;p30"/>
          <p:cNvSpPr/>
          <p:nvPr/>
        </p:nvSpPr>
        <p:spPr>
          <a:xfrm>
            <a:off x="2982300" y="3386950"/>
            <a:ext cx="872400" cy="572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000FF"/>
                </a:solidFill>
              </a:rPr>
              <a:t>safe</a:t>
            </a:r>
            <a:endParaRPr sz="1600">
              <a:solidFill>
                <a:srgbClr val="0000FF"/>
              </a:solidFill>
            </a:endParaRPr>
          </a:p>
        </p:txBody>
      </p:sp>
      <p:sp>
        <p:nvSpPr>
          <p:cNvPr id="177" name="Google Shape;177;p30"/>
          <p:cNvSpPr/>
          <p:nvPr/>
        </p:nvSpPr>
        <p:spPr>
          <a:xfrm>
            <a:off x="4116600" y="3386950"/>
            <a:ext cx="1552200" cy="572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980000"/>
                </a:solidFill>
              </a:rPr>
              <a:t>poisonous</a:t>
            </a:r>
            <a:endParaRPr b="1">
              <a:solidFill>
                <a:srgbClr val="980000"/>
              </a:solidFill>
            </a:endParaRPr>
          </a:p>
        </p:txBody>
      </p:sp>
      <p:cxnSp>
        <p:nvCxnSpPr>
          <p:cNvPr id="178" name="Google Shape;178;p30"/>
          <p:cNvCxnSpPr>
            <a:endCxn id="176" idx="0"/>
          </p:cNvCxnSpPr>
          <p:nvPr/>
        </p:nvCxnSpPr>
        <p:spPr>
          <a:xfrm flipH="1">
            <a:off x="3418500" y="2695450"/>
            <a:ext cx="458100" cy="691500"/>
          </a:xfrm>
          <a:prstGeom prst="straightConnector1">
            <a:avLst/>
          </a:prstGeom>
          <a:noFill/>
          <a:ln cap="flat" cmpd="sng" w="19050">
            <a:solidFill>
              <a:schemeClr val="dk2"/>
            </a:solidFill>
            <a:prstDash val="solid"/>
            <a:round/>
            <a:headEnd len="med" w="med" type="none"/>
            <a:tailEnd len="med" w="med" type="triangle"/>
          </a:ln>
        </p:spPr>
      </p:cxnSp>
      <p:cxnSp>
        <p:nvCxnSpPr>
          <p:cNvPr id="179" name="Google Shape;179;p30"/>
          <p:cNvCxnSpPr/>
          <p:nvPr/>
        </p:nvCxnSpPr>
        <p:spPr>
          <a:xfrm>
            <a:off x="4514850" y="2695575"/>
            <a:ext cx="378000" cy="681900"/>
          </a:xfrm>
          <a:prstGeom prst="straightConnector1">
            <a:avLst/>
          </a:prstGeom>
          <a:noFill/>
          <a:ln cap="flat" cmpd="sng" w="19050">
            <a:solidFill>
              <a:schemeClr val="dk2"/>
            </a:solidFill>
            <a:prstDash val="solid"/>
            <a:round/>
            <a:headEnd len="med" w="med" type="none"/>
            <a:tailEnd len="med" w="med" type="triangle"/>
          </a:ln>
        </p:spPr>
      </p:cxnSp>
      <p:sp>
        <p:nvSpPr>
          <p:cNvPr id="180" name="Google Shape;180;p30"/>
          <p:cNvSpPr txBox="1"/>
          <p:nvPr/>
        </p:nvSpPr>
        <p:spPr>
          <a:xfrm>
            <a:off x="4392150" y="1458781"/>
            <a:ext cx="43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no</a:t>
            </a:r>
            <a:endParaRPr sz="1200"/>
          </a:p>
        </p:txBody>
      </p:sp>
      <p:sp>
        <p:nvSpPr>
          <p:cNvPr id="181" name="Google Shape;181;p30"/>
          <p:cNvSpPr txBox="1"/>
          <p:nvPr/>
        </p:nvSpPr>
        <p:spPr>
          <a:xfrm>
            <a:off x="3301352" y="2875644"/>
            <a:ext cx="43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no</a:t>
            </a:r>
            <a:endParaRPr sz="1200"/>
          </a:p>
        </p:txBody>
      </p:sp>
      <p:sp>
        <p:nvSpPr>
          <p:cNvPr id="182" name="Google Shape;182;p30"/>
          <p:cNvSpPr txBox="1"/>
          <p:nvPr/>
        </p:nvSpPr>
        <p:spPr>
          <a:xfrm>
            <a:off x="4748050" y="2875644"/>
            <a:ext cx="43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yes</a:t>
            </a:r>
            <a:endParaRPr sz="1200"/>
          </a:p>
        </p:txBody>
      </p:sp>
      <p:sp>
        <p:nvSpPr>
          <p:cNvPr id="183" name="Google Shape;183;p30"/>
          <p:cNvSpPr txBox="1"/>
          <p:nvPr/>
        </p:nvSpPr>
        <p:spPr>
          <a:xfrm>
            <a:off x="6165750" y="1458781"/>
            <a:ext cx="430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yes</a:t>
            </a:r>
            <a:endParaRPr sz="1200"/>
          </a:p>
        </p:txBody>
      </p:sp>
      <p:pic>
        <p:nvPicPr>
          <p:cNvPr id="184" name="Google Shape;184;p30"/>
          <p:cNvPicPr preferRelativeResize="0"/>
          <p:nvPr/>
        </p:nvPicPr>
        <p:blipFill rotWithShape="1">
          <a:blip r:embed="rId3">
            <a:alphaModFix/>
          </a:blip>
          <a:srcRect b="0" l="0" r="0" t="0"/>
          <a:stretch/>
        </p:blipFill>
        <p:spPr>
          <a:xfrm>
            <a:off x="5762000" y="4176725"/>
            <a:ext cx="914400" cy="914400"/>
          </a:xfrm>
          <a:prstGeom prst="rect">
            <a:avLst/>
          </a:prstGeom>
          <a:noFill/>
          <a:ln>
            <a:noFill/>
          </a:ln>
        </p:spPr>
      </p:pic>
      <p:pic>
        <p:nvPicPr>
          <p:cNvPr id="185" name="Google Shape;185;p30"/>
          <p:cNvPicPr preferRelativeResize="0"/>
          <p:nvPr/>
        </p:nvPicPr>
        <p:blipFill rotWithShape="1">
          <a:blip r:embed="rId4">
            <a:alphaModFix/>
          </a:blip>
          <a:srcRect b="0" l="0" r="0" t="0"/>
          <a:stretch/>
        </p:blipFill>
        <p:spPr>
          <a:xfrm>
            <a:off x="5740775" y="3186125"/>
            <a:ext cx="914400" cy="914400"/>
          </a:xfrm>
          <a:prstGeom prst="rect">
            <a:avLst/>
          </a:prstGeom>
          <a:noFill/>
          <a:ln>
            <a:noFill/>
          </a:ln>
        </p:spPr>
      </p:pic>
      <p:pic>
        <p:nvPicPr>
          <p:cNvPr id="186" name="Google Shape;186;p30"/>
          <p:cNvPicPr preferRelativeResize="0"/>
          <p:nvPr/>
        </p:nvPicPr>
        <p:blipFill>
          <a:blip r:embed="rId5">
            <a:alphaModFix/>
          </a:blip>
          <a:stretch>
            <a:fillRect/>
          </a:stretch>
        </p:blipFill>
        <p:spPr>
          <a:xfrm>
            <a:off x="7153218" y="1920750"/>
            <a:ext cx="914400" cy="914400"/>
          </a:xfrm>
          <a:prstGeom prst="rect">
            <a:avLst/>
          </a:prstGeom>
          <a:noFill/>
          <a:ln>
            <a:noFill/>
          </a:ln>
        </p:spPr>
      </p:pic>
      <p:pic>
        <p:nvPicPr>
          <p:cNvPr id="187" name="Google Shape;187;p30"/>
          <p:cNvPicPr preferRelativeResize="0"/>
          <p:nvPr/>
        </p:nvPicPr>
        <p:blipFill>
          <a:blip r:embed="rId6">
            <a:alphaModFix/>
          </a:blip>
          <a:stretch>
            <a:fillRect/>
          </a:stretch>
        </p:blipFill>
        <p:spPr>
          <a:xfrm>
            <a:off x="2023625" y="3268150"/>
            <a:ext cx="914400" cy="914400"/>
          </a:xfrm>
          <a:prstGeom prst="rect">
            <a:avLst/>
          </a:prstGeom>
          <a:noFill/>
          <a:ln>
            <a:noFill/>
          </a:ln>
        </p:spPr>
      </p:pic>
      <p:sp>
        <p:nvSpPr>
          <p:cNvPr id="188" name="Google Shape;188;p30"/>
          <p:cNvSpPr/>
          <p:nvPr/>
        </p:nvSpPr>
        <p:spPr>
          <a:xfrm>
            <a:off x="6220950" y="2070600"/>
            <a:ext cx="872400" cy="5727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000FF"/>
                </a:solidFill>
              </a:rPr>
              <a:t>safe</a:t>
            </a:r>
            <a:endParaRPr sz="1600">
              <a:solidFill>
                <a:srgbClr val="0000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Let’s take a look at how the computer views this decision tree!</a:t>
            </a:r>
            <a:endParaRPr sz="2320"/>
          </a:p>
        </p:txBody>
      </p:sp>
      <p:sp>
        <p:nvSpPr>
          <p:cNvPr id="194" name="Google Shape;194;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95" name="Google Shape;195;p31"/>
          <p:cNvGraphicFramePr/>
          <p:nvPr/>
        </p:nvGraphicFramePr>
        <p:xfrm>
          <a:off x="538063" y="3781900"/>
          <a:ext cx="3000000" cy="3000000"/>
        </p:xfrm>
        <a:graphic>
          <a:graphicData uri="http://schemas.openxmlformats.org/drawingml/2006/table">
            <a:tbl>
              <a:tblPr>
                <a:noFill/>
                <a:tableStyleId>{482A7263-4182-4E4F-A873-955A8AC0886A}</a:tableStyleId>
              </a:tblPr>
              <a:tblGrid>
                <a:gridCol w="8067875"/>
              </a:tblGrid>
              <a:tr h="343150">
                <a:tc>
                  <a:txBody>
                    <a:bodyPr/>
                    <a:lstStyle/>
                    <a:p>
                      <a:pPr indent="0" lvl="0" marL="0" rtl="0" algn="l">
                        <a:spcBef>
                          <a:spcPts val="0"/>
                        </a:spcBef>
                        <a:spcAft>
                          <a:spcPts val="0"/>
                        </a:spcAft>
                        <a:buNone/>
                      </a:pPr>
                      <a:r>
                        <a:rPr lang="en"/>
                        <a:t>What is being asked in box number 1? A number that is 1 is true, 0 is false.</a:t>
                      </a:r>
                      <a:endParaRPr/>
                    </a:p>
                  </a:txBody>
                  <a:tcPr marT="91425" marB="91425" marR="91425" marL="91425"/>
                </a:tc>
              </a:tr>
              <a:tr h="655225">
                <a:tc>
                  <a:txBody>
                    <a:bodyPr/>
                    <a:lstStyle/>
                    <a:p>
                      <a:pPr indent="0" lvl="0" marL="0" rtl="0" algn="l">
                        <a:spcBef>
                          <a:spcPts val="0"/>
                        </a:spcBef>
                        <a:spcAft>
                          <a:spcPts val="0"/>
                        </a:spcAft>
                        <a:buNone/>
                      </a:pPr>
                      <a:r>
                        <a:rPr lang="en"/>
                        <a:t>Answer:</a:t>
                      </a:r>
                      <a:endParaRPr/>
                    </a:p>
                  </a:txBody>
                  <a:tcPr marT="91425" marB="91425" marR="91425" marL="91425"/>
                </a:tc>
              </a:tr>
            </a:tbl>
          </a:graphicData>
        </a:graphic>
      </p:graphicFrame>
      <p:pic>
        <p:nvPicPr>
          <p:cNvPr id="196" name="Google Shape;196;p31"/>
          <p:cNvPicPr preferRelativeResize="0"/>
          <p:nvPr/>
        </p:nvPicPr>
        <p:blipFill rotWithShape="1">
          <a:blip r:embed="rId3">
            <a:alphaModFix/>
          </a:blip>
          <a:srcRect b="0" l="0" r="0" t="990"/>
          <a:stretch/>
        </p:blipFill>
        <p:spPr>
          <a:xfrm>
            <a:off x="2787225" y="1017725"/>
            <a:ext cx="3569574" cy="2555176"/>
          </a:xfrm>
          <a:prstGeom prst="rect">
            <a:avLst/>
          </a:prstGeom>
          <a:noFill/>
          <a:ln>
            <a:noFill/>
          </a:ln>
        </p:spPr>
      </p:pic>
      <p:sp>
        <p:nvSpPr>
          <p:cNvPr id="197" name="Google Shape;197;p31"/>
          <p:cNvSpPr txBox="1"/>
          <p:nvPr/>
        </p:nvSpPr>
        <p:spPr>
          <a:xfrm>
            <a:off x="3426525" y="1161925"/>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a:p>
        </p:txBody>
      </p:sp>
      <p:sp>
        <p:nvSpPr>
          <p:cNvPr id="198" name="Google Shape;198;p31"/>
          <p:cNvSpPr txBox="1"/>
          <p:nvPr/>
        </p:nvSpPr>
        <p:spPr>
          <a:xfrm>
            <a:off x="2353425" y="2064800"/>
            <a:ext cx="61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2</a:t>
            </a:r>
            <a:endParaRPr/>
          </a:p>
        </p:txBody>
      </p:sp>
      <p:sp>
        <p:nvSpPr>
          <p:cNvPr id="199" name="Google Shape;199;p31"/>
          <p:cNvSpPr txBox="1"/>
          <p:nvPr/>
        </p:nvSpPr>
        <p:spPr>
          <a:xfrm>
            <a:off x="6638450" y="2131400"/>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3</a:t>
            </a:r>
            <a:endParaRPr/>
          </a:p>
        </p:txBody>
      </p:sp>
      <p:sp>
        <p:nvSpPr>
          <p:cNvPr id="200" name="Google Shape;200;p31"/>
          <p:cNvSpPr txBox="1"/>
          <p:nvPr/>
        </p:nvSpPr>
        <p:spPr>
          <a:xfrm>
            <a:off x="2286825" y="3078700"/>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4</a:t>
            </a:r>
            <a:endParaRPr/>
          </a:p>
        </p:txBody>
      </p:sp>
      <p:sp>
        <p:nvSpPr>
          <p:cNvPr id="201" name="Google Shape;201;p31"/>
          <p:cNvSpPr txBox="1"/>
          <p:nvPr/>
        </p:nvSpPr>
        <p:spPr>
          <a:xfrm>
            <a:off x="5654150" y="3078700"/>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Let’s take a look at how the computer views this decision tree!</a:t>
            </a:r>
            <a:endParaRPr sz="2320"/>
          </a:p>
        </p:txBody>
      </p:sp>
      <p:sp>
        <p:nvSpPr>
          <p:cNvPr id="207" name="Google Shape;20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08" name="Google Shape;208;p32"/>
          <p:cNvGraphicFramePr/>
          <p:nvPr/>
        </p:nvGraphicFramePr>
        <p:xfrm>
          <a:off x="538063" y="3781900"/>
          <a:ext cx="3000000" cy="3000000"/>
        </p:xfrm>
        <a:graphic>
          <a:graphicData uri="http://schemas.openxmlformats.org/drawingml/2006/table">
            <a:tbl>
              <a:tblPr>
                <a:noFill/>
                <a:tableStyleId>{482A7263-4182-4E4F-A873-955A8AC0886A}</a:tableStyleId>
              </a:tblPr>
              <a:tblGrid>
                <a:gridCol w="8067875"/>
              </a:tblGrid>
              <a:tr h="343150">
                <a:tc>
                  <a:txBody>
                    <a:bodyPr/>
                    <a:lstStyle/>
                    <a:p>
                      <a:pPr indent="0" lvl="0" marL="0" rtl="0" algn="l">
                        <a:spcBef>
                          <a:spcPts val="0"/>
                        </a:spcBef>
                        <a:spcAft>
                          <a:spcPts val="0"/>
                        </a:spcAft>
                        <a:buNone/>
                      </a:pPr>
                      <a:r>
                        <a:rPr lang="en"/>
                        <a:t>What is being asked in box number 2? A number that is 1 is true, 0 is false.</a:t>
                      </a:r>
                      <a:endParaRPr/>
                    </a:p>
                  </a:txBody>
                  <a:tcPr marT="91425" marB="91425" marR="91425" marL="91425"/>
                </a:tc>
              </a:tr>
              <a:tr h="655225">
                <a:tc>
                  <a:txBody>
                    <a:bodyPr/>
                    <a:lstStyle/>
                    <a:p>
                      <a:pPr indent="0" lvl="0" marL="0" rtl="0" algn="l">
                        <a:spcBef>
                          <a:spcPts val="0"/>
                        </a:spcBef>
                        <a:spcAft>
                          <a:spcPts val="0"/>
                        </a:spcAft>
                        <a:buNone/>
                      </a:pPr>
                      <a:r>
                        <a:rPr lang="en"/>
                        <a:t>Answer:</a:t>
                      </a:r>
                      <a:endParaRPr/>
                    </a:p>
                  </a:txBody>
                  <a:tcPr marT="91425" marB="91425" marR="91425" marL="91425"/>
                </a:tc>
              </a:tr>
            </a:tbl>
          </a:graphicData>
        </a:graphic>
      </p:graphicFrame>
      <p:pic>
        <p:nvPicPr>
          <p:cNvPr id="209" name="Google Shape;209;p32"/>
          <p:cNvPicPr preferRelativeResize="0"/>
          <p:nvPr/>
        </p:nvPicPr>
        <p:blipFill rotWithShape="1">
          <a:blip r:embed="rId3">
            <a:alphaModFix/>
          </a:blip>
          <a:srcRect b="0" l="0" r="0" t="990"/>
          <a:stretch/>
        </p:blipFill>
        <p:spPr>
          <a:xfrm>
            <a:off x="2787225" y="1017725"/>
            <a:ext cx="3569574" cy="2555176"/>
          </a:xfrm>
          <a:prstGeom prst="rect">
            <a:avLst/>
          </a:prstGeom>
          <a:noFill/>
          <a:ln>
            <a:noFill/>
          </a:ln>
        </p:spPr>
      </p:pic>
      <p:sp>
        <p:nvSpPr>
          <p:cNvPr id="210" name="Google Shape;210;p32"/>
          <p:cNvSpPr txBox="1"/>
          <p:nvPr/>
        </p:nvSpPr>
        <p:spPr>
          <a:xfrm>
            <a:off x="3426525" y="1161925"/>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a:p>
        </p:txBody>
      </p:sp>
      <p:sp>
        <p:nvSpPr>
          <p:cNvPr id="211" name="Google Shape;211;p32"/>
          <p:cNvSpPr txBox="1"/>
          <p:nvPr/>
        </p:nvSpPr>
        <p:spPr>
          <a:xfrm>
            <a:off x="2353425" y="2064800"/>
            <a:ext cx="61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2</a:t>
            </a:r>
            <a:endParaRPr/>
          </a:p>
        </p:txBody>
      </p:sp>
      <p:sp>
        <p:nvSpPr>
          <p:cNvPr id="212" name="Google Shape;212;p32"/>
          <p:cNvSpPr txBox="1"/>
          <p:nvPr/>
        </p:nvSpPr>
        <p:spPr>
          <a:xfrm>
            <a:off x="6638450" y="2131400"/>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3</a:t>
            </a:r>
            <a:endParaRPr/>
          </a:p>
        </p:txBody>
      </p:sp>
      <p:sp>
        <p:nvSpPr>
          <p:cNvPr id="213" name="Google Shape;213;p32"/>
          <p:cNvSpPr txBox="1"/>
          <p:nvPr/>
        </p:nvSpPr>
        <p:spPr>
          <a:xfrm>
            <a:off x="2286825" y="3078700"/>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4</a:t>
            </a:r>
            <a:endParaRPr/>
          </a:p>
        </p:txBody>
      </p:sp>
      <p:sp>
        <p:nvSpPr>
          <p:cNvPr id="214" name="Google Shape;214;p32"/>
          <p:cNvSpPr txBox="1"/>
          <p:nvPr/>
        </p:nvSpPr>
        <p:spPr>
          <a:xfrm>
            <a:off x="5654150" y="3078700"/>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Let’s take a look at how the computer views this decision tree!</a:t>
            </a:r>
            <a:endParaRPr sz="2320"/>
          </a:p>
        </p:txBody>
      </p:sp>
      <p:sp>
        <p:nvSpPr>
          <p:cNvPr id="220" name="Google Shape;220;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21" name="Google Shape;221;p33"/>
          <p:cNvGraphicFramePr/>
          <p:nvPr/>
        </p:nvGraphicFramePr>
        <p:xfrm>
          <a:off x="538063" y="3781900"/>
          <a:ext cx="3000000" cy="3000000"/>
        </p:xfrm>
        <a:graphic>
          <a:graphicData uri="http://schemas.openxmlformats.org/drawingml/2006/table">
            <a:tbl>
              <a:tblPr>
                <a:noFill/>
                <a:tableStyleId>{482A7263-4182-4E4F-A873-955A8AC0886A}</a:tableStyleId>
              </a:tblPr>
              <a:tblGrid>
                <a:gridCol w="8067875"/>
              </a:tblGrid>
              <a:tr h="343150">
                <a:tc>
                  <a:txBody>
                    <a:bodyPr/>
                    <a:lstStyle/>
                    <a:p>
                      <a:pPr indent="0" lvl="0" marL="0" rtl="0" algn="l">
                        <a:spcBef>
                          <a:spcPts val="0"/>
                        </a:spcBef>
                        <a:spcAft>
                          <a:spcPts val="0"/>
                        </a:spcAft>
                        <a:buNone/>
                      </a:pPr>
                      <a:r>
                        <a:rPr lang="en"/>
                        <a:t>What does box number 3 tell us</a:t>
                      </a:r>
                      <a:r>
                        <a:rPr lang="en"/>
                        <a:t>?</a:t>
                      </a:r>
                      <a:endParaRPr/>
                    </a:p>
                  </a:txBody>
                  <a:tcPr marT="91425" marB="91425" marR="91425" marL="91425"/>
                </a:tc>
              </a:tr>
              <a:tr h="655225">
                <a:tc>
                  <a:txBody>
                    <a:bodyPr/>
                    <a:lstStyle/>
                    <a:p>
                      <a:pPr indent="0" lvl="0" marL="0" rtl="0" algn="l">
                        <a:spcBef>
                          <a:spcPts val="0"/>
                        </a:spcBef>
                        <a:spcAft>
                          <a:spcPts val="0"/>
                        </a:spcAft>
                        <a:buNone/>
                      </a:pPr>
                      <a:r>
                        <a:rPr lang="en"/>
                        <a:t>Answer:</a:t>
                      </a:r>
                      <a:endParaRPr/>
                    </a:p>
                  </a:txBody>
                  <a:tcPr marT="91425" marB="91425" marR="91425" marL="91425"/>
                </a:tc>
              </a:tr>
            </a:tbl>
          </a:graphicData>
        </a:graphic>
      </p:graphicFrame>
      <p:pic>
        <p:nvPicPr>
          <p:cNvPr id="222" name="Google Shape;222;p33"/>
          <p:cNvPicPr preferRelativeResize="0"/>
          <p:nvPr/>
        </p:nvPicPr>
        <p:blipFill rotWithShape="1">
          <a:blip r:embed="rId3">
            <a:alphaModFix/>
          </a:blip>
          <a:srcRect b="0" l="0" r="0" t="990"/>
          <a:stretch/>
        </p:blipFill>
        <p:spPr>
          <a:xfrm>
            <a:off x="2787225" y="1017725"/>
            <a:ext cx="3569574" cy="2555176"/>
          </a:xfrm>
          <a:prstGeom prst="rect">
            <a:avLst/>
          </a:prstGeom>
          <a:noFill/>
          <a:ln>
            <a:noFill/>
          </a:ln>
        </p:spPr>
      </p:pic>
      <p:sp>
        <p:nvSpPr>
          <p:cNvPr id="223" name="Google Shape;223;p33"/>
          <p:cNvSpPr txBox="1"/>
          <p:nvPr/>
        </p:nvSpPr>
        <p:spPr>
          <a:xfrm>
            <a:off x="3426525" y="1161925"/>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a:p>
        </p:txBody>
      </p:sp>
      <p:sp>
        <p:nvSpPr>
          <p:cNvPr id="224" name="Google Shape;224;p33"/>
          <p:cNvSpPr txBox="1"/>
          <p:nvPr/>
        </p:nvSpPr>
        <p:spPr>
          <a:xfrm>
            <a:off x="2353425" y="2064800"/>
            <a:ext cx="61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2</a:t>
            </a:r>
            <a:endParaRPr/>
          </a:p>
        </p:txBody>
      </p:sp>
      <p:sp>
        <p:nvSpPr>
          <p:cNvPr id="225" name="Google Shape;225;p33"/>
          <p:cNvSpPr txBox="1"/>
          <p:nvPr/>
        </p:nvSpPr>
        <p:spPr>
          <a:xfrm>
            <a:off x="6638450" y="2131400"/>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3</a:t>
            </a:r>
            <a:endParaRPr/>
          </a:p>
        </p:txBody>
      </p:sp>
      <p:sp>
        <p:nvSpPr>
          <p:cNvPr id="226" name="Google Shape;226;p33"/>
          <p:cNvSpPr txBox="1"/>
          <p:nvPr/>
        </p:nvSpPr>
        <p:spPr>
          <a:xfrm>
            <a:off x="2286825" y="3078700"/>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4</a:t>
            </a:r>
            <a:endParaRPr/>
          </a:p>
        </p:txBody>
      </p:sp>
      <p:sp>
        <p:nvSpPr>
          <p:cNvPr id="227" name="Google Shape;227;p33"/>
          <p:cNvSpPr txBox="1"/>
          <p:nvPr/>
        </p:nvSpPr>
        <p:spPr>
          <a:xfrm>
            <a:off x="5654150" y="3078700"/>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Let’s take a look at how the computer views this decision tree!</a:t>
            </a:r>
            <a:endParaRPr sz="2320"/>
          </a:p>
        </p:txBody>
      </p:sp>
      <p:sp>
        <p:nvSpPr>
          <p:cNvPr id="233" name="Google Shape;23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34" name="Google Shape;234;p34"/>
          <p:cNvGraphicFramePr/>
          <p:nvPr/>
        </p:nvGraphicFramePr>
        <p:xfrm>
          <a:off x="538063" y="3781900"/>
          <a:ext cx="3000000" cy="3000000"/>
        </p:xfrm>
        <a:graphic>
          <a:graphicData uri="http://schemas.openxmlformats.org/drawingml/2006/table">
            <a:tbl>
              <a:tblPr>
                <a:noFill/>
                <a:tableStyleId>{482A7263-4182-4E4F-A873-955A8AC0886A}</a:tableStyleId>
              </a:tblPr>
              <a:tblGrid>
                <a:gridCol w="8067875"/>
              </a:tblGrid>
              <a:tr h="343150">
                <a:tc>
                  <a:txBody>
                    <a:bodyPr/>
                    <a:lstStyle/>
                    <a:p>
                      <a:pPr indent="0" lvl="0" marL="0" rtl="0" algn="l">
                        <a:spcBef>
                          <a:spcPts val="0"/>
                        </a:spcBef>
                        <a:spcAft>
                          <a:spcPts val="0"/>
                        </a:spcAft>
                        <a:buNone/>
                      </a:pPr>
                      <a:r>
                        <a:rPr lang="en"/>
                        <a:t>What does box number 4 tell us?</a:t>
                      </a:r>
                      <a:endParaRPr/>
                    </a:p>
                  </a:txBody>
                  <a:tcPr marT="91425" marB="91425" marR="91425" marL="91425"/>
                </a:tc>
              </a:tr>
              <a:tr h="655225">
                <a:tc>
                  <a:txBody>
                    <a:bodyPr/>
                    <a:lstStyle/>
                    <a:p>
                      <a:pPr indent="0" lvl="0" marL="0" rtl="0" algn="l">
                        <a:spcBef>
                          <a:spcPts val="0"/>
                        </a:spcBef>
                        <a:spcAft>
                          <a:spcPts val="0"/>
                        </a:spcAft>
                        <a:buNone/>
                      </a:pPr>
                      <a:r>
                        <a:rPr lang="en"/>
                        <a:t>Answer:</a:t>
                      </a:r>
                      <a:endParaRPr/>
                    </a:p>
                  </a:txBody>
                  <a:tcPr marT="91425" marB="91425" marR="91425" marL="91425"/>
                </a:tc>
              </a:tr>
            </a:tbl>
          </a:graphicData>
        </a:graphic>
      </p:graphicFrame>
      <p:pic>
        <p:nvPicPr>
          <p:cNvPr id="235" name="Google Shape;235;p34"/>
          <p:cNvPicPr preferRelativeResize="0"/>
          <p:nvPr/>
        </p:nvPicPr>
        <p:blipFill rotWithShape="1">
          <a:blip r:embed="rId3">
            <a:alphaModFix/>
          </a:blip>
          <a:srcRect b="0" l="0" r="0" t="990"/>
          <a:stretch/>
        </p:blipFill>
        <p:spPr>
          <a:xfrm>
            <a:off x="2787225" y="1017725"/>
            <a:ext cx="3569574" cy="2555176"/>
          </a:xfrm>
          <a:prstGeom prst="rect">
            <a:avLst/>
          </a:prstGeom>
          <a:noFill/>
          <a:ln>
            <a:noFill/>
          </a:ln>
        </p:spPr>
      </p:pic>
      <p:sp>
        <p:nvSpPr>
          <p:cNvPr id="236" name="Google Shape;236;p34"/>
          <p:cNvSpPr txBox="1"/>
          <p:nvPr/>
        </p:nvSpPr>
        <p:spPr>
          <a:xfrm>
            <a:off x="3426525" y="1161925"/>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a:p>
        </p:txBody>
      </p:sp>
      <p:sp>
        <p:nvSpPr>
          <p:cNvPr id="237" name="Google Shape;237;p34"/>
          <p:cNvSpPr txBox="1"/>
          <p:nvPr/>
        </p:nvSpPr>
        <p:spPr>
          <a:xfrm>
            <a:off x="2353425" y="2064800"/>
            <a:ext cx="61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2</a:t>
            </a:r>
            <a:endParaRPr/>
          </a:p>
        </p:txBody>
      </p:sp>
      <p:sp>
        <p:nvSpPr>
          <p:cNvPr id="238" name="Google Shape;238;p34"/>
          <p:cNvSpPr txBox="1"/>
          <p:nvPr/>
        </p:nvSpPr>
        <p:spPr>
          <a:xfrm>
            <a:off x="6638450" y="2131400"/>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3</a:t>
            </a:r>
            <a:endParaRPr/>
          </a:p>
        </p:txBody>
      </p:sp>
      <p:sp>
        <p:nvSpPr>
          <p:cNvPr id="239" name="Google Shape;239;p34"/>
          <p:cNvSpPr txBox="1"/>
          <p:nvPr/>
        </p:nvSpPr>
        <p:spPr>
          <a:xfrm>
            <a:off x="2286825" y="3078700"/>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4</a:t>
            </a:r>
            <a:endParaRPr/>
          </a:p>
        </p:txBody>
      </p:sp>
      <p:sp>
        <p:nvSpPr>
          <p:cNvPr id="240" name="Google Shape;240;p34"/>
          <p:cNvSpPr txBox="1"/>
          <p:nvPr/>
        </p:nvSpPr>
        <p:spPr>
          <a:xfrm>
            <a:off x="5654150" y="3078700"/>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t>Let’s take a look at how the computer views this decision tree!</a:t>
            </a:r>
            <a:endParaRPr sz="2320"/>
          </a:p>
        </p:txBody>
      </p:sp>
      <p:sp>
        <p:nvSpPr>
          <p:cNvPr id="246" name="Google Shape;246;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47" name="Google Shape;247;p35"/>
          <p:cNvGraphicFramePr/>
          <p:nvPr/>
        </p:nvGraphicFramePr>
        <p:xfrm>
          <a:off x="538063" y="3781900"/>
          <a:ext cx="3000000" cy="3000000"/>
        </p:xfrm>
        <a:graphic>
          <a:graphicData uri="http://schemas.openxmlformats.org/drawingml/2006/table">
            <a:tbl>
              <a:tblPr>
                <a:noFill/>
                <a:tableStyleId>{482A7263-4182-4E4F-A873-955A8AC0886A}</a:tableStyleId>
              </a:tblPr>
              <a:tblGrid>
                <a:gridCol w="8067875"/>
              </a:tblGrid>
              <a:tr h="343150">
                <a:tc>
                  <a:txBody>
                    <a:bodyPr/>
                    <a:lstStyle/>
                    <a:p>
                      <a:pPr indent="0" lvl="0" marL="0" rtl="0" algn="l">
                        <a:spcBef>
                          <a:spcPts val="0"/>
                        </a:spcBef>
                        <a:spcAft>
                          <a:spcPts val="0"/>
                        </a:spcAft>
                        <a:buNone/>
                      </a:pPr>
                      <a:r>
                        <a:rPr lang="en"/>
                        <a:t>What does box number 5 tell us?</a:t>
                      </a:r>
                      <a:endParaRPr/>
                    </a:p>
                  </a:txBody>
                  <a:tcPr marT="91425" marB="91425" marR="91425" marL="91425"/>
                </a:tc>
              </a:tr>
              <a:tr h="655225">
                <a:tc>
                  <a:txBody>
                    <a:bodyPr/>
                    <a:lstStyle/>
                    <a:p>
                      <a:pPr indent="0" lvl="0" marL="0" rtl="0" algn="l">
                        <a:spcBef>
                          <a:spcPts val="0"/>
                        </a:spcBef>
                        <a:spcAft>
                          <a:spcPts val="0"/>
                        </a:spcAft>
                        <a:buNone/>
                      </a:pPr>
                      <a:r>
                        <a:rPr lang="en"/>
                        <a:t>Answer:</a:t>
                      </a:r>
                      <a:endParaRPr/>
                    </a:p>
                  </a:txBody>
                  <a:tcPr marT="91425" marB="91425" marR="91425" marL="91425"/>
                </a:tc>
              </a:tr>
            </a:tbl>
          </a:graphicData>
        </a:graphic>
      </p:graphicFrame>
      <p:pic>
        <p:nvPicPr>
          <p:cNvPr id="248" name="Google Shape;248;p35"/>
          <p:cNvPicPr preferRelativeResize="0"/>
          <p:nvPr/>
        </p:nvPicPr>
        <p:blipFill rotWithShape="1">
          <a:blip r:embed="rId3">
            <a:alphaModFix/>
          </a:blip>
          <a:srcRect b="0" l="0" r="0" t="990"/>
          <a:stretch/>
        </p:blipFill>
        <p:spPr>
          <a:xfrm>
            <a:off x="2787225" y="1017725"/>
            <a:ext cx="3569574" cy="2555176"/>
          </a:xfrm>
          <a:prstGeom prst="rect">
            <a:avLst/>
          </a:prstGeom>
          <a:noFill/>
          <a:ln>
            <a:noFill/>
          </a:ln>
        </p:spPr>
      </p:pic>
      <p:sp>
        <p:nvSpPr>
          <p:cNvPr id="249" name="Google Shape;249;p35"/>
          <p:cNvSpPr txBox="1"/>
          <p:nvPr/>
        </p:nvSpPr>
        <p:spPr>
          <a:xfrm>
            <a:off x="3426525" y="1161925"/>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a:t>
            </a:r>
            <a:endParaRPr/>
          </a:p>
        </p:txBody>
      </p:sp>
      <p:sp>
        <p:nvSpPr>
          <p:cNvPr id="250" name="Google Shape;250;p35"/>
          <p:cNvSpPr txBox="1"/>
          <p:nvPr/>
        </p:nvSpPr>
        <p:spPr>
          <a:xfrm>
            <a:off x="2353425" y="2064800"/>
            <a:ext cx="61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2</a:t>
            </a:r>
            <a:endParaRPr/>
          </a:p>
        </p:txBody>
      </p:sp>
      <p:sp>
        <p:nvSpPr>
          <p:cNvPr id="251" name="Google Shape;251;p35"/>
          <p:cNvSpPr txBox="1"/>
          <p:nvPr/>
        </p:nvSpPr>
        <p:spPr>
          <a:xfrm>
            <a:off x="6638450" y="2131400"/>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3</a:t>
            </a:r>
            <a:endParaRPr/>
          </a:p>
        </p:txBody>
      </p:sp>
      <p:sp>
        <p:nvSpPr>
          <p:cNvPr id="252" name="Google Shape;252;p35"/>
          <p:cNvSpPr txBox="1"/>
          <p:nvPr/>
        </p:nvSpPr>
        <p:spPr>
          <a:xfrm>
            <a:off x="2286825" y="3078700"/>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4</a:t>
            </a:r>
            <a:endParaRPr/>
          </a:p>
        </p:txBody>
      </p:sp>
      <p:sp>
        <p:nvSpPr>
          <p:cNvPr id="253" name="Google Shape;253;p35"/>
          <p:cNvSpPr txBox="1"/>
          <p:nvPr/>
        </p:nvSpPr>
        <p:spPr>
          <a:xfrm>
            <a:off x="5654150" y="3078700"/>
            <a:ext cx="36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Machine Learning Pipeline</a:t>
            </a:r>
            <a:endParaRPr/>
          </a:p>
        </p:txBody>
      </p:sp>
      <p:sp>
        <p:nvSpPr>
          <p:cNvPr id="259" name="Google Shape;25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0" name="Google Shape;260;p36"/>
          <p:cNvPicPr preferRelativeResize="0"/>
          <p:nvPr/>
        </p:nvPicPr>
        <p:blipFill rotWithShape="1">
          <a:blip r:embed="rId3">
            <a:alphaModFix/>
          </a:blip>
          <a:srcRect b="0" l="0" r="35512" t="0"/>
          <a:stretch/>
        </p:blipFill>
        <p:spPr>
          <a:xfrm>
            <a:off x="240625" y="1289850"/>
            <a:ext cx="1386301" cy="832100"/>
          </a:xfrm>
          <a:prstGeom prst="rect">
            <a:avLst/>
          </a:prstGeom>
          <a:noFill/>
          <a:ln>
            <a:noFill/>
          </a:ln>
        </p:spPr>
      </p:pic>
      <p:pic>
        <p:nvPicPr>
          <p:cNvPr id="261" name="Google Shape;261;p36"/>
          <p:cNvPicPr preferRelativeResize="0"/>
          <p:nvPr/>
        </p:nvPicPr>
        <p:blipFill>
          <a:blip r:embed="rId4">
            <a:alphaModFix/>
          </a:blip>
          <a:stretch>
            <a:fillRect/>
          </a:stretch>
        </p:blipFill>
        <p:spPr>
          <a:xfrm>
            <a:off x="3746287" y="1134743"/>
            <a:ext cx="1386300" cy="1142307"/>
          </a:xfrm>
          <a:prstGeom prst="rect">
            <a:avLst/>
          </a:prstGeom>
          <a:noFill/>
          <a:ln>
            <a:noFill/>
          </a:ln>
        </p:spPr>
      </p:pic>
      <p:pic>
        <p:nvPicPr>
          <p:cNvPr id="262" name="Google Shape;262;p36"/>
          <p:cNvPicPr preferRelativeResize="0"/>
          <p:nvPr/>
        </p:nvPicPr>
        <p:blipFill>
          <a:blip r:embed="rId5">
            <a:alphaModFix/>
          </a:blip>
          <a:stretch>
            <a:fillRect/>
          </a:stretch>
        </p:blipFill>
        <p:spPr>
          <a:xfrm>
            <a:off x="1870000" y="958725"/>
            <a:ext cx="1796054" cy="680400"/>
          </a:xfrm>
          <a:prstGeom prst="rect">
            <a:avLst/>
          </a:prstGeom>
          <a:noFill/>
          <a:ln>
            <a:noFill/>
          </a:ln>
        </p:spPr>
      </p:pic>
      <p:sp>
        <p:nvSpPr>
          <p:cNvPr id="263" name="Google Shape;263;p36"/>
          <p:cNvSpPr/>
          <p:nvPr/>
        </p:nvSpPr>
        <p:spPr>
          <a:xfrm>
            <a:off x="396600" y="2488394"/>
            <a:ext cx="1188600" cy="729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Collect your data</a:t>
            </a:r>
            <a:endParaRPr/>
          </a:p>
        </p:txBody>
      </p:sp>
      <p:sp>
        <p:nvSpPr>
          <p:cNvPr id="264" name="Google Shape;264;p36"/>
          <p:cNvSpPr/>
          <p:nvPr/>
        </p:nvSpPr>
        <p:spPr>
          <a:xfrm>
            <a:off x="2032275" y="2463644"/>
            <a:ext cx="1319100" cy="779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Design a feature set</a:t>
            </a:r>
            <a:endParaRPr/>
          </a:p>
        </p:txBody>
      </p:sp>
      <p:sp>
        <p:nvSpPr>
          <p:cNvPr id="265" name="Google Shape;265;p36"/>
          <p:cNvSpPr/>
          <p:nvPr/>
        </p:nvSpPr>
        <p:spPr>
          <a:xfrm>
            <a:off x="3653350" y="2437244"/>
            <a:ext cx="1457400" cy="83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Code your data using the feature set</a:t>
            </a:r>
            <a:endParaRPr/>
          </a:p>
        </p:txBody>
      </p:sp>
      <p:sp>
        <p:nvSpPr>
          <p:cNvPr id="266" name="Google Shape;266;p36"/>
          <p:cNvSpPr/>
          <p:nvPr/>
        </p:nvSpPr>
        <p:spPr>
          <a:xfrm>
            <a:off x="5390575" y="2437244"/>
            <a:ext cx="1457400" cy="83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Label your data</a:t>
            </a:r>
            <a:endParaRPr/>
          </a:p>
          <a:p>
            <a:pPr indent="0" lvl="0" marL="0" rtl="0" algn="ctr">
              <a:spcBef>
                <a:spcPts val="0"/>
              </a:spcBef>
              <a:spcAft>
                <a:spcPts val="0"/>
              </a:spcAft>
              <a:buNone/>
            </a:pPr>
            <a:r>
              <a:rPr lang="en"/>
              <a:t>(Assign each item to a class)</a:t>
            </a:r>
            <a:endParaRPr/>
          </a:p>
        </p:txBody>
      </p:sp>
      <p:sp>
        <p:nvSpPr>
          <p:cNvPr id="267" name="Google Shape;267;p36"/>
          <p:cNvSpPr/>
          <p:nvPr/>
        </p:nvSpPr>
        <p:spPr>
          <a:xfrm>
            <a:off x="7155000" y="2437244"/>
            <a:ext cx="1457400" cy="83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Train a classifier</a:t>
            </a:r>
            <a:endParaRPr/>
          </a:p>
        </p:txBody>
      </p:sp>
      <p:pic>
        <p:nvPicPr>
          <p:cNvPr id="268" name="Google Shape;268;p36"/>
          <p:cNvPicPr preferRelativeResize="0"/>
          <p:nvPr/>
        </p:nvPicPr>
        <p:blipFill rotWithShape="1">
          <a:blip r:embed="rId6">
            <a:alphaModFix/>
          </a:blip>
          <a:srcRect b="44708" l="0" r="0" t="0"/>
          <a:stretch/>
        </p:blipFill>
        <p:spPr>
          <a:xfrm>
            <a:off x="5390576" y="445026"/>
            <a:ext cx="1457399" cy="779300"/>
          </a:xfrm>
          <a:prstGeom prst="rect">
            <a:avLst/>
          </a:prstGeom>
          <a:noFill/>
          <a:ln>
            <a:noFill/>
          </a:ln>
        </p:spPr>
      </p:pic>
      <p:pic>
        <p:nvPicPr>
          <p:cNvPr id="269" name="Google Shape;269;p36"/>
          <p:cNvPicPr preferRelativeResize="0"/>
          <p:nvPr/>
        </p:nvPicPr>
        <p:blipFill rotWithShape="1">
          <a:blip r:embed="rId7">
            <a:alphaModFix/>
          </a:blip>
          <a:srcRect b="44071" l="0" r="0" t="0"/>
          <a:stretch/>
        </p:blipFill>
        <p:spPr>
          <a:xfrm>
            <a:off x="5367025" y="1336388"/>
            <a:ext cx="1504507" cy="832100"/>
          </a:xfrm>
          <a:prstGeom prst="rect">
            <a:avLst/>
          </a:prstGeom>
          <a:noFill/>
          <a:ln>
            <a:noFill/>
          </a:ln>
        </p:spPr>
      </p:pic>
      <p:pic>
        <p:nvPicPr>
          <p:cNvPr id="270" name="Google Shape;270;p36"/>
          <p:cNvPicPr preferRelativeResize="0"/>
          <p:nvPr/>
        </p:nvPicPr>
        <p:blipFill>
          <a:blip r:embed="rId8">
            <a:alphaModFix/>
          </a:blip>
          <a:stretch>
            <a:fillRect/>
          </a:stretch>
        </p:blipFill>
        <p:spPr>
          <a:xfrm>
            <a:off x="1863063" y="1674475"/>
            <a:ext cx="1625236" cy="680400"/>
          </a:xfrm>
          <a:prstGeom prst="rect">
            <a:avLst/>
          </a:prstGeom>
          <a:noFill/>
          <a:ln>
            <a:noFill/>
          </a:ln>
        </p:spPr>
      </p:pic>
      <p:cxnSp>
        <p:nvCxnSpPr>
          <p:cNvPr id="271" name="Google Shape;271;p36"/>
          <p:cNvCxnSpPr>
            <a:stCxn id="263" idx="3"/>
            <a:endCxn id="264" idx="1"/>
          </p:cNvCxnSpPr>
          <p:nvPr/>
        </p:nvCxnSpPr>
        <p:spPr>
          <a:xfrm>
            <a:off x="1585200" y="2853344"/>
            <a:ext cx="447000" cy="0"/>
          </a:xfrm>
          <a:prstGeom prst="straightConnector1">
            <a:avLst/>
          </a:prstGeom>
          <a:noFill/>
          <a:ln cap="flat" cmpd="sng" w="9525">
            <a:solidFill>
              <a:schemeClr val="dk2"/>
            </a:solidFill>
            <a:prstDash val="solid"/>
            <a:round/>
            <a:headEnd len="med" w="med" type="none"/>
            <a:tailEnd len="med" w="med" type="triangle"/>
          </a:ln>
        </p:spPr>
      </p:cxnSp>
      <p:pic>
        <p:nvPicPr>
          <p:cNvPr id="272" name="Google Shape;272;p36"/>
          <p:cNvPicPr preferRelativeResize="0"/>
          <p:nvPr/>
        </p:nvPicPr>
        <p:blipFill>
          <a:blip r:embed="rId9">
            <a:alphaModFix/>
          </a:blip>
          <a:stretch>
            <a:fillRect/>
          </a:stretch>
        </p:blipFill>
        <p:spPr>
          <a:xfrm>
            <a:off x="6960750" y="1224325"/>
            <a:ext cx="1758627" cy="1130549"/>
          </a:xfrm>
          <a:prstGeom prst="rect">
            <a:avLst/>
          </a:prstGeom>
          <a:noFill/>
          <a:ln>
            <a:noFill/>
          </a:ln>
        </p:spPr>
      </p:pic>
      <p:cxnSp>
        <p:nvCxnSpPr>
          <p:cNvPr id="273" name="Google Shape;273;p36"/>
          <p:cNvCxnSpPr>
            <a:stCxn id="264" idx="3"/>
            <a:endCxn id="265" idx="1"/>
          </p:cNvCxnSpPr>
          <p:nvPr/>
        </p:nvCxnSpPr>
        <p:spPr>
          <a:xfrm>
            <a:off x="3351375" y="2853344"/>
            <a:ext cx="302100" cy="0"/>
          </a:xfrm>
          <a:prstGeom prst="straightConnector1">
            <a:avLst/>
          </a:prstGeom>
          <a:noFill/>
          <a:ln cap="flat" cmpd="sng" w="9525">
            <a:solidFill>
              <a:schemeClr val="dk2"/>
            </a:solidFill>
            <a:prstDash val="solid"/>
            <a:round/>
            <a:headEnd len="med" w="med" type="none"/>
            <a:tailEnd len="med" w="med" type="triangle"/>
          </a:ln>
        </p:spPr>
      </p:cxnSp>
      <p:cxnSp>
        <p:nvCxnSpPr>
          <p:cNvPr id="274" name="Google Shape;274;p36"/>
          <p:cNvCxnSpPr>
            <a:stCxn id="265" idx="3"/>
            <a:endCxn id="266" idx="1"/>
          </p:cNvCxnSpPr>
          <p:nvPr/>
        </p:nvCxnSpPr>
        <p:spPr>
          <a:xfrm>
            <a:off x="5110750" y="2853344"/>
            <a:ext cx="279900" cy="0"/>
          </a:xfrm>
          <a:prstGeom prst="straightConnector1">
            <a:avLst/>
          </a:prstGeom>
          <a:noFill/>
          <a:ln cap="flat" cmpd="sng" w="9525">
            <a:solidFill>
              <a:schemeClr val="dk2"/>
            </a:solidFill>
            <a:prstDash val="solid"/>
            <a:round/>
            <a:headEnd len="med" w="med" type="none"/>
            <a:tailEnd len="med" w="med" type="triangle"/>
          </a:ln>
        </p:spPr>
      </p:cxnSp>
      <p:cxnSp>
        <p:nvCxnSpPr>
          <p:cNvPr id="275" name="Google Shape;275;p36"/>
          <p:cNvCxnSpPr>
            <a:stCxn id="266" idx="3"/>
            <a:endCxn id="267" idx="1"/>
          </p:cNvCxnSpPr>
          <p:nvPr/>
        </p:nvCxnSpPr>
        <p:spPr>
          <a:xfrm>
            <a:off x="6847975" y="2853344"/>
            <a:ext cx="306900" cy="0"/>
          </a:xfrm>
          <a:prstGeom prst="straightConnector1">
            <a:avLst/>
          </a:prstGeom>
          <a:noFill/>
          <a:ln cap="flat" cmpd="sng" w="9525">
            <a:solidFill>
              <a:schemeClr val="dk2"/>
            </a:solidFill>
            <a:prstDash val="solid"/>
            <a:round/>
            <a:headEnd len="med" w="med" type="none"/>
            <a:tailEnd len="med" w="med" type="triangle"/>
          </a:ln>
        </p:spPr>
      </p:cxnSp>
      <p:pic>
        <p:nvPicPr>
          <p:cNvPr id="276" name="Google Shape;276;p36"/>
          <p:cNvPicPr preferRelativeResize="0"/>
          <p:nvPr/>
        </p:nvPicPr>
        <p:blipFill rotWithShape="1">
          <a:blip r:embed="rId10">
            <a:alphaModFix/>
          </a:blip>
          <a:srcRect b="0" l="0" r="40008" t="0"/>
          <a:stretch/>
        </p:blipFill>
        <p:spPr>
          <a:xfrm>
            <a:off x="3054852" y="3582050"/>
            <a:ext cx="2007300" cy="1724125"/>
          </a:xfrm>
          <a:prstGeom prst="rect">
            <a:avLst/>
          </a:prstGeom>
          <a:noFill/>
          <a:ln>
            <a:noFill/>
          </a:ln>
        </p:spPr>
      </p:pic>
      <p:sp>
        <p:nvSpPr>
          <p:cNvPr id="277" name="Google Shape;277;p36"/>
          <p:cNvSpPr/>
          <p:nvPr/>
        </p:nvSpPr>
        <p:spPr>
          <a:xfrm>
            <a:off x="5173450" y="4048619"/>
            <a:ext cx="1457400" cy="832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rPr>
              <a:t>Test the model</a:t>
            </a:r>
            <a:endParaRPr/>
          </a:p>
        </p:txBody>
      </p:sp>
      <p:cxnSp>
        <p:nvCxnSpPr>
          <p:cNvPr id="278" name="Google Shape;278;p36"/>
          <p:cNvCxnSpPr>
            <a:endCxn id="277" idx="3"/>
          </p:cNvCxnSpPr>
          <p:nvPr/>
        </p:nvCxnSpPr>
        <p:spPr>
          <a:xfrm flipH="1">
            <a:off x="6630850" y="2871419"/>
            <a:ext cx="1983600" cy="1593300"/>
          </a:xfrm>
          <a:prstGeom prst="bentConnector3">
            <a:avLst>
              <a:gd fmla="val -10720"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4" name="Google Shape;284;p37"/>
          <p:cNvSpPr txBox="1"/>
          <p:nvPr/>
        </p:nvSpPr>
        <p:spPr>
          <a:xfrm>
            <a:off x="429250" y="288625"/>
            <a:ext cx="8074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Task: Using Machine Learning for Kids and what you just learned, create two more </a:t>
            </a:r>
            <a:r>
              <a:rPr lang="en"/>
              <a:t>poisonous</a:t>
            </a:r>
            <a:r>
              <a:rPr lang="en"/>
              <a:t> fish and two more non-</a:t>
            </a:r>
            <a:r>
              <a:rPr lang="en"/>
              <a:t>poisonous</a:t>
            </a:r>
            <a:r>
              <a:rPr lang="en"/>
              <a:t> fish. Record the fish below. </a:t>
            </a:r>
            <a:endParaRPr/>
          </a:p>
        </p:txBody>
      </p:sp>
      <p:graphicFrame>
        <p:nvGraphicFramePr>
          <p:cNvPr id="285" name="Google Shape;285;p37"/>
          <p:cNvGraphicFramePr/>
          <p:nvPr/>
        </p:nvGraphicFramePr>
        <p:xfrm>
          <a:off x="429250" y="940450"/>
          <a:ext cx="3000000" cy="3000000"/>
        </p:xfrm>
        <a:graphic>
          <a:graphicData uri="http://schemas.openxmlformats.org/drawingml/2006/table">
            <a:tbl>
              <a:tblPr>
                <a:noFill/>
                <a:tableStyleId>{482A7263-4182-4E4F-A873-955A8AC0886A}</a:tableStyleId>
              </a:tblPr>
              <a:tblGrid>
                <a:gridCol w="856500"/>
                <a:gridCol w="1037975"/>
              </a:tblGrid>
              <a:tr h="365725">
                <a:tc gridSpan="2">
                  <a:txBody>
                    <a:bodyPr/>
                    <a:lstStyle/>
                    <a:p>
                      <a:pPr indent="0" lvl="0" marL="0" rtl="0" algn="ctr">
                        <a:spcBef>
                          <a:spcPts val="0"/>
                        </a:spcBef>
                        <a:spcAft>
                          <a:spcPts val="0"/>
                        </a:spcAft>
                        <a:buNone/>
                      </a:pPr>
                      <a:r>
                        <a:rPr b="1" lang="en" sz="900"/>
                        <a:t>Fish 1</a:t>
                      </a:r>
                      <a:endParaRPr b="1" sz="900"/>
                    </a:p>
                  </a:txBody>
                  <a:tcPr marT="91425" marB="91425" marR="91425" marL="91425"/>
                </a:tc>
                <a:tc hMerge="1"/>
              </a:tr>
              <a:tr h="365725">
                <a:tc>
                  <a:txBody>
                    <a:bodyPr/>
                    <a:lstStyle/>
                    <a:p>
                      <a:pPr indent="0" lvl="0" marL="0" rtl="0" algn="l">
                        <a:spcBef>
                          <a:spcPts val="0"/>
                        </a:spcBef>
                        <a:spcAft>
                          <a:spcPts val="0"/>
                        </a:spcAft>
                        <a:buNone/>
                      </a:pPr>
                      <a:r>
                        <a:rPr lang="en" sz="900"/>
                        <a:t>Body Type</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lang="en" sz="900"/>
                        <a:t>Tail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Dorsal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Pectoral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Body Color</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lang="en" sz="900"/>
                        <a:t>Fin Color</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b="1" lang="en" sz="900"/>
                        <a:t>Poisonous?</a:t>
                      </a:r>
                      <a:endParaRPr b="1" sz="900"/>
                    </a:p>
                  </a:txBody>
                  <a:tcPr marT="91425" marB="91425" marR="91425" marL="91425"/>
                </a:tc>
                <a:tc>
                  <a:txBody>
                    <a:bodyPr/>
                    <a:lstStyle/>
                    <a:p>
                      <a:pPr indent="0" lvl="0" marL="0" rtl="0" algn="l">
                        <a:spcBef>
                          <a:spcPts val="0"/>
                        </a:spcBef>
                        <a:spcAft>
                          <a:spcPts val="0"/>
                        </a:spcAft>
                        <a:buNone/>
                      </a:pPr>
                      <a:r>
                        <a:t/>
                      </a:r>
                      <a:endParaRPr b="1" sz="600"/>
                    </a:p>
                  </a:txBody>
                  <a:tcPr marT="91425" marB="91425" marR="91425" marL="91425"/>
                </a:tc>
              </a:tr>
            </a:tbl>
          </a:graphicData>
        </a:graphic>
      </p:graphicFrame>
      <p:graphicFrame>
        <p:nvGraphicFramePr>
          <p:cNvPr id="286" name="Google Shape;286;p37"/>
          <p:cNvGraphicFramePr/>
          <p:nvPr/>
        </p:nvGraphicFramePr>
        <p:xfrm>
          <a:off x="2439225" y="940450"/>
          <a:ext cx="3000000" cy="3000000"/>
        </p:xfrm>
        <a:graphic>
          <a:graphicData uri="http://schemas.openxmlformats.org/drawingml/2006/table">
            <a:tbl>
              <a:tblPr>
                <a:noFill/>
                <a:tableStyleId>{482A7263-4182-4E4F-A873-955A8AC0886A}</a:tableStyleId>
              </a:tblPr>
              <a:tblGrid>
                <a:gridCol w="856500"/>
                <a:gridCol w="1037975"/>
              </a:tblGrid>
              <a:tr h="365725">
                <a:tc gridSpan="2">
                  <a:txBody>
                    <a:bodyPr/>
                    <a:lstStyle/>
                    <a:p>
                      <a:pPr indent="0" lvl="0" marL="0" rtl="0" algn="ctr">
                        <a:spcBef>
                          <a:spcPts val="0"/>
                        </a:spcBef>
                        <a:spcAft>
                          <a:spcPts val="0"/>
                        </a:spcAft>
                        <a:buNone/>
                      </a:pPr>
                      <a:r>
                        <a:rPr b="1" lang="en" sz="900"/>
                        <a:t>Fish 2</a:t>
                      </a:r>
                      <a:endParaRPr b="1" sz="900"/>
                    </a:p>
                  </a:txBody>
                  <a:tcPr marT="91425" marB="91425" marR="91425" marL="91425"/>
                </a:tc>
                <a:tc hMerge="1"/>
              </a:tr>
              <a:tr h="365725">
                <a:tc>
                  <a:txBody>
                    <a:bodyPr/>
                    <a:lstStyle/>
                    <a:p>
                      <a:pPr indent="0" lvl="0" marL="0" rtl="0" algn="l">
                        <a:spcBef>
                          <a:spcPts val="0"/>
                        </a:spcBef>
                        <a:spcAft>
                          <a:spcPts val="0"/>
                        </a:spcAft>
                        <a:buNone/>
                      </a:pPr>
                      <a:r>
                        <a:rPr lang="en" sz="900"/>
                        <a:t>Body Type</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lang="en" sz="900"/>
                        <a:t>Tail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Dorsal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Pectoral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Body Color</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lang="en" sz="900"/>
                        <a:t>Fin Color</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b="1" lang="en" sz="900"/>
                        <a:t>Poisonous?</a:t>
                      </a:r>
                      <a:endParaRPr b="1" sz="900"/>
                    </a:p>
                  </a:txBody>
                  <a:tcPr marT="91425" marB="91425" marR="91425" marL="91425"/>
                </a:tc>
                <a:tc>
                  <a:txBody>
                    <a:bodyPr/>
                    <a:lstStyle/>
                    <a:p>
                      <a:pPr indent="0" lvl="0" marL="0" rtl="0" algn="l">
                        <a:spcBef>
                          <a:spcPts val="0"/>
                        </a:spcBef>
                        <a:spcAft>
                          <a:spcPts val="0"/>
                        </a:spcAft>
                        <a:buNone/>
                      </a:pPr>
                      <a:r>
                        <a:t/>
                      </a:r>
                      <a:endParaRPr b="1" sz="600"/>
                    </a:p>
                  </a:txBody>
                  <a:tcPr marT="91425" marB="91425" marR="91425" marL="91425"/>
                </a:tc>
              </a:tr>
            </a:tbl>
          </a:graphicData>
        </a:graphic>
      </p:graphicFrame>
      <p:graphicFrame>
        <p:nvGraphicFramePr>
          <p:cNvPr id="287" name="Google Shape;287;p37"/>
          <p:cNvGraphicFramePr/>
          <p:nvPr/>
        </p:nvGraphicFramePr>
        <p:xfrm>
          <a:off x="4449200" y="940450"/>
          <a:ext cx="3000000" cy="3000000"/>
        </p:xfrm>
        <a:graphic>
          <a:graphicData uri="http://schemas.openxmlformats.org/drawingml/2006/table">
            <a:tbl>
              <a:tblPr>
                <a:noFill/>
                <a:tableStyleId>{482A7263-4182-4E4F-A873-955A8AC0886A}</a:tableStyleId>
              </a:tblPr>
              <a:tblGrid>
                <a:gridCol w="856500"/>
                <a:gridCol w="1037975"/>
              </a:tblGrid>
              <a:tr h="365725">
                <a:tc gridSpan="2">
                  <a:txBody>
                    <a:bodyPr/>
                    <a:lstStyle/>
                    <a:p>
                      <a:pPr indent="0" lvl="0" marL="0" rtl="0" algn="ctr">
                        <a:spcBef>
                          <a:spcPts val="0"/>
                        </a:spcBef>
                        <a:spcAft>
                          <a:spcPts val="0"/>
                        </a:spcAft>
                        <a:buNone/>
                      </a:pPr>
                      <a:r>
                        <a:rPr b="1" lang="en" sz="900"/>
                        <a:t>Fish 3</a:t>
                      </a:r>
                      <a:endParaRPr b="1" sz="900"/>
                    </a:p>
                  </a:txBody>
                  <a:tcPr marT="91425" marB="91425" marR="91425" marL="91425"/>
                </a:tc>
                <a:tc hMerge="1"/>
              </a:tr>
              <a:tr h="365725">
                <a:tc>
                  <a:txBody>
                    <a:bodyPr/>
                    <a:lstStyle/>
                    <a:p>
                      <a:pPr indent="0" lvl="0" marL="0" rtl="0" algn="l">
                        <a:spcBef>
                          <a:spcPts val="0"/>
                        </a:spcBef>
                        <a:spcAft>
                          <a:spcPts val="0"/>
                        </a:spcAft>
                        <a:buNone/>
                      </a:pPr>
                      <a:r>
                        <a:rPr lang="en" sz="900"/>
                        <a:t>Body Type</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lang="en" sz="900"/>
                        <a:t>Tail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Dorsal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Pectoral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Body Color</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lang="en" sz="900"/>
                        <a:t>Fin Color</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b="1" lang="en" sz="900"/>
                        <a:t>Poisonous?</a:t>
                      </a:r>
                      <a:endParaRPr b="1" sz="900"/>
                    </a:p>
                  </a:txBody>
                  <a:tcPr marT="91425" marB="91425" marR="91425" marL="91425"/>
                </a:tc>
                <a:tc>
                  <a:txBody>
                    <a:bodyPr/>
                    <a:lstStyle/>
                    <a:p>
                      <a:pPr indent="0" lvl="0" marL="0" rtl="0" algn="l">
                        <a:spcBef>
                          <a:spcPts val="0"/>
                        </a:spcBef>
                        <a:spcAft>
                          <a:spcPts val="0"/>
                        </a:spcAft>
                        <a:buNone/>
                      </a:pPr>
                      <a:r>
                        <a:t/>
                      </a:r>
                      <a:endParaRPr b="1" sz="600"/>
                    </a:p>
                  </a:txBody>
                  <a:tcPr marT="91425" marB="91425" marR="91425" marL="91425"/>
                </a:tc>
              </a:tr>
            </a:tbl>
          </a:graphicData>
        </a:graphic>
      </p:graphicFrame>
      <p:graphicFrame>
        <p:nvGraphicFramePr>
          <p:cNvPr id="288" name="Google Shape;288;p37"/>
          <p:cNvGraphicFramePr/>
          <p:nvPr/>
        </p:nvGraphicFramePr>
        <p:xfrm>
          <a:off x="6511000" y="940450"/>
          <a:ext cx="3000000" cy="3000000"/>
        </p:xfrm>
        <a:graphic>
          <a:graphicData uri="http://schemas.openxmlformats.org/drawingml/2006/table">
            <a:tbl>
              <a:tblPr>
                <a:noFill/>
                <a:tableStyleId>{482A7263-4182-4E4F-A873-955A8AC0886A}</a:tableStyleId>
              </a:tblPr>
              <a:tblGrid>
                <a:gridCol w="856500"/>
                <a:gridCol w="1037975"/>
              </a:tblGrid>
              <a:tr h="365725">
                <a:tc gridSpan="2">
                  <a:txBody>
                    <a:bodyPr/>
                    <a:lstStyle/>
                    <a:p>
                      <a:pPr indent="0" lvl="0" marL="0" rtl="0" algn="ctr">
                        <a:spcBef>
                          <a:spcPts val="0"/>
                        </a:spcBef>
                        <a:spcAft>
                          <a:spcPts val="0"/>
                        </a:spcAft>
                        <a:buNone/>
                      </a:pPr>
                      <a:r>
                        <a:rPr b="1" lang="en" sz="900"/>
                        <a:t>Fish 4</a:t>
                      </a:r>
                      <a:endParaRPr b="1" sz="900"/>
                    </a:p>
                  </a:txBody>
                  <a:tcPr marT="91425" marB="91425" marR="91425" marL="91425"/>
                </a:tc>
                <a:tc hMerge="1"/>
              </a:tr>
              <a:tr h="365725">
                <a:tc>
                  <a:txBody>
                    <a:bodyPr/>
                    <a:lstStyle/>
                    <a:p>
                      <a:pPr indent="0" lvl="0" marL="0" rtl="0" algn="l">
                        <a:spcBef>
                          <a:spcPts val="0"/>
                        </a:spcBef>
                        <a:spcAft>
                          <a:spcPts val="0"/>
                        </a:spcAft>
                        <a:buNone/>
                      </a:pPr>
                      <a:r>
                        <a:rPr lang="en" sz="900"/>
                        <a:t>Body Type</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lang="en" sz="900"/>
                        <a:t>Tail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Dorsal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Pectoral Fin</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365725">
                <a:tc>
                  <a:txBody>
                    <a:bodyPr/>
                    <a:lstStyle/>
                    <a:p>
                      <a:pPr indent="0" lvl="0" marL="0" rtl="0" algn="l">
                        <a:spcBef>
                          <a:spcPts val="0"/>
                        </a:spcBef>
                        <a:spcAft>
                          <a:spcPts val="0"/>
                        </a:spcAft>
                        <a:buNone/>
                      </a:pPr>
                      <a:r>
                        <a:rPr lang="en" sz="900"/>
                        <a:t>Body Color</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lang="en" sz="900"/>
                        <a:t>Fin Color</a:t>
                      </a:r>
                      <a:endParaRPr sz="900"/>
                    </a:p>
                  </a:txBody>
                  <a:tcPr marT="91425" marB="91425" marR="91425" marL="91425"/>
                </a:tc>
                <a:tc>
                  <a:txBody>
                    <a:bodyPr/>
                    <a:lstStyle/>
                    <a:p>
                      <a:pPr indent="0" lvl="0" marL="0" rtl="0" algn="l">
                        <a:spcBef>
                          <a:spcPts val="0"/>
                        </a:spcBef>
                        <a:spcAft>
                          <a:spcPts val="0"/>
                        </a:spcAft>
                        <a:buNone/>
                      </a:pPr>
                      <a:r>
                        <a:t/>
                      </a:r>
                      <a:endParaRPr sz="600"/>
                    </a:p>
                  </a:txBody>
                  <a:tcPr marT="91425" marB="91425" marR="91425" marL="91425"/>
                </a:tc>
              </a:tr>
              <a:tr h="288275">
                <a:tc>
                  <a:txBody>
                    <a:bodyPr/>
                    <a:lstStyle/>
                    <a:p>
                      <a:pPr indent="0" lvl="0" marL="0" rtl="0" algn="l">
                        <a:spcBef>
                          <a:spcPts val="0"/>
                        </a:spcBef>
                        <a:spcAft>
                          <a:spcPts val="0"/>
                        </a:spcAft>
                        <a:buNone/>
                      </a:pPr>
                      <a:r>
                        <a:rPr b="1" lang="en" sz="900"/>
                        <a:t>Poisonous?</a:t>
                      </a:r>
                      <a:endParaRPr b="1" sz="900"/>
                    </a:p>
                  </a:txBody>
                  <a:tcPr marT="91425" marB="91425" marR="91425" marL="91425"/>
                </a:tc>
                <a:tc>
                  <a:txBody>
                    <a:bodyPr/>
                    <a:lstStyle/>
                    <a:p>
                      <a:pPr indent="0" lvl="0" marL="0" rtl="0" algn="l">
                        <a:spcBef>
                          <a:spcPts val="0"/>
                        </a:spcBef>
                        <a:spcAft>
                          <a:spcPts val="0"/>
                        </a:spcAft>
                        <a:buNone/>
                      </a:pPr>
                      <a:r>
                        <a:t/>
                      </a:r>
                      <a:endParaRPr b="1" sz="600"/>
                    </a:p>
                  </a:txBody>
                  <a:tcPr marT="91425" marB="91425" marR="91425" marL="91425"/>
                </a:tc>
              </a:tr>
            </a:tbl>
          </a:graphicData>
        </a:graphic>
      </p:graphicFrame>
      <p:sp>
        <p:nvSpPr>
          <p:cNvPr id="289" name="Google Shape;289;p37"/>
          <p:cNvSpPr/>
          <p:nvPr/>
        </p:nvSpPr>
        <p:spPr>
          <a:xfrm>
            <a:off x="429250" y="3878675"/>
            <a:ext cx="324000" cy="324000"/>
          </a:xfrm>
          <a:prstGeom prst="ellipse">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7"/>
          <p:cNvSpPr txBox="1"/>
          <p:nvPr/>
        </p:nvSpPr>
        <p:spPr>
          <a:xfrm>
            <a:off x="864225" y="3840575"/>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1=Red</a:t>
            </a:r>
            <a:endParaRPr/>
          </a:p>
        </p:txBody>
      </p:sp>
      <p:sp>
        <p:nvSpPr>
          <p:cNvPr id="291" name="Google Shape;291;p37"/>
          <p:cNvSpPr/>
          <p:nvPr/>
        </p:nvSpPr>
        <p:spPr>
          <a:xfrm>
            <a:off x="2419625" y="3845600"/>
            <a:ext cx="324000" cy="324000"/>
          </a:xfrm>
          <a:prstGeom prst="ellipse">
            <a:avLst/>
          </a:prstGeom>
          <a:solidFill>
            <a:srgbClr val="C27BA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7"/>
          <p:cNvSpPr txBox="1"/>
          <p:nvPr/>
        </p:nvSpPr>
        <p:spPr>
          <a:xfrm>
            <a:off x="2764625" y="3807500"/>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2=Pink</a:t>
            </a:r>
            <a:endParaRPr/>
          </a:p>
        </p:txBody>
      </p:sp>
      <p:sp>
        <p:nvSpPr>
          <p:cNvPr id="293" name="Google Shape;293;p37"/>
          <p:cNvSpPr/>
          <p:nvPr/>
        </p:nvSpPr>
        <p:spPr>
          <a:xfrm>
            <a:off x="4410000" y="3845600"/>
            <a:ext cx="324000" cy="324000"/>
          </a:xfrm>
          <a:prstGeom prst="ellipse">
            <a:avLst/>
          </a:prstGeom>
          <a:solidFill>
            <a:srgbClr val="FFE59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7"/>
          <p:cNvSpPr txBox="1"/>
          <p:nvPr/>
        </p:nvSpPr>
        <p:spPr>
          <a:xfrm>
            <a:off x="4767788" y="3807500"/>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3=Yellow</a:t>
            </a:r>
            <a:endParaRPr/>
          </a:p>
        </p:txBody>
      </p:sp>
      <p:sp>
        <p:nvSpPr>
          <p:cNvPr id="295" name="Google Shape;295;p37"/>
          <p:cNvSpPr/>
          <p:nvPr/>
        </p:nvSpPr>
        <p:spPr>
          <a:xfrm>
            <a:off x="6989825" y="3924000"/>
            <a:ext cx="324000" cy="324000"/>
          </a:xfrm>
          <a:prstGeom prst="ellipse">
            <a:avLst/>
          </a:prstGeom>
          <a:solidFill>
            <a:srgbClr val="FF99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7"/>
          <p:cNvSpPr txBox="1"/>
          <p:nvPr/>
        </p:nvSpPr>
        <p:spPr>
          <a:xfrm>
            <a:off x="7246150" y="3885900"/>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4=Orange</a:t>
            </a:r>
            <a:endParaRPr/>
          </a:p>
        </p:txBody>
      </p:sp>
      <p:sp>
        <p:nvSpPr>
          <p:cNvPr id="297" name="Google Shape;297;p37"/>
          <p:cNvSpPr/>
          <p:nvPr/>
        </p:nvSpPr>
        <p:spPr>
          <a:xfrm>
            <a:off x="429250" y="4286100"/>
            <a:ext cx="324000" cy="324000"/>
          </a:xfrm>
          <a:prstGeom prst="ellipse">
            <a:avLst/>
          </a:prstGeom>
          <a:solidFill>
            <a:srgbClr val="6AA84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7"/>
          <p:cNvSpPr txBox="1"/>
          <p:nvPr/>
        </p:nvSpPr>
        <p:spPr>
          <a:xfrm>
            <a:off x="753250" y="4286100"/>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5=Lime</a:t>
            </a:r>
            <a:endParaRPr/>
          </a:p>
        </p:txBody>
      </p:sp>
      <p:sp>
        <p:nvSpPr>
          <p:cNvPr id="299" name="Google Shape;299;p37"/>
          <p:cNvSpPr/>
          <p:nvPr/>
        </p:nvSpPr>
        <p:spPr>
          <a:xfrm>
            <a:off x="2419625" y="4362300"/>
            <a:ext cx="324000" cy="324000"/>
          </a:xfrm>
          <a:prstGeom prst="ellipse">
            <a:avLst/>
          </a:prstGeom>
          <a:solidFill>
            <a:srgbClr val="274E1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7"/>
          <p:cNvSpPr txBox="1"/>
          <p:nvPr/>
        </p:nvSpPr>
        <p:spPr>
          <a:xfrm>
            <a:off x="2760513" y="4286100"/>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6=Forest</a:t>
            </a:r>
            <a:endParaRPr/>
          </a:p>
        </p:txBody>
      </p:sp>
      <p:sp>
        <p:nvSpPr>
          <p:cNvPr id="301" name="Google Shape;301;p37"/>
          <p:cNvSpPr/>
          <p:nvPr/>
        </p:nvSpPr>
        <p:spPr>
          <a:xfrm>
            <a:off x="4410000" y="4324200"/>
            <a:ext cx="324000" cy="324000"/>
          </a:xfrm>
          <a:prstGeom prst="ellipse">
            <a:avLst/>
          </a:prstGeom>
          <a:solidFill>
            <a:srgbClr val="1155C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7"/>
          <p:cNvSpPr txBox="1"/>
          <p:nvPr/>
        </p:nvSpPr>
        <p:spPr>
          <a:xfrm>
            <a:off x="4767775" y="4286100"/>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7=Blue</a:t>
            </a:r>
            <a:endParaRPr/>
          </a:p>
        </p:txBody>
      </p:sp>
      <p:sp>
        <p:nvSpPr>
          <p:cNvPr id="303" name="Google Shape;303;p37"/>
          <p:cNvSpPr/>
          <p:nvPr/>
        </p:nvSpPr>
        <p:spPr>
          <a:xfrm>
            <a:off x="6962075" y="4286100"/>
            <a:ext cx="324000" cy="324000"/>
          </a:xfrm>
          <a:prstGeom prst="ellipse">
            <a:avLst/>
          </a:prstGeom>
          <a:solidFill>
            <a:srgbClr val="351C7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7"/>
          <p:cNvSpPr txBox="1"/>
          <p:nvPr/>
        </p:nvSpPr>
        <p:spPr>
          <a:xfrm>
            <a:off x="7246138" y="4248000"/>
            <a:ext cx="1257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8=Purple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