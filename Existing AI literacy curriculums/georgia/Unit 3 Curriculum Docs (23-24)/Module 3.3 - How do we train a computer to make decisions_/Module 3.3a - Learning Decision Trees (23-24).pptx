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Helvetica Neue"/>
      <p:regular r:id="rId24"/>
      <p:bold r:id="rId25"/>
      <p:italic r:id="rId26"/>
      <p:boldItalic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HelveticaNeu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dd7ed317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dd7ed317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e3b2fa9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ee3b2fa9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30aea6a52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130aea6a52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 Note - Features are not binary. Notice for the body type we have 5.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30aea6a52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130aea6a52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30aea6a52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30aea6a52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30aea6a52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30aea6a52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30aea6a52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30aea6a5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367e0d59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367e0d59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130aea6a5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130aea6a5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Away - We are asking a computer to design the tree to learn a concept that it has no notion of. So it doesn’t know what features are relevant or what values of those </a:t>
            </a:r>
            <a:r>
              <a:rPr lang="en"/>
              <a:t>features</a:t>
            </a:r>
            <a:r>
              <a:rPr lang="en"/>
              <a:t> are important. It has to figure it out from the training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that we are not cheating we will pick a concept we also don’t know of in advance. </a:t>
            </a:r>
            <a:r>
              <a:rPr lang="en">
                <a:solidFill>
                  <a:schemeClr val="dk1"/>
                </a:solidFill>
              </a:rPr>
              <a:t>We will </a:t>
            </a:r>
            <a:r>
              <a:rPr lang="en">
                <a:solidFill>
                  <a:schemeClr val="dk1"/>
                </a:solidFill>
              </a:rPr>
              <a:t>learn along with the computer. That way we will know what it feels like to learn the way that the computer learns.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130aea6a52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130aea6a52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REVISE THIS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 Note - Here are two fish note that we can’t tell by just looking at the fish which is a reef dweller.  But the training data will tell us. We are relying on the labels from the training data to tell us which fish is a reef dweller.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the top right corner - we are listing all the feature where these two fish differ.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pick our first feature on the list and test that feature (see decision tree)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trying to come up with an explanation for the training data. We are trying to come up with a rule …Since we have so little data so far .. some of these will drop out as we see more data.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four pairs that Each one of these pair is a different way of using the features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If we choose the first feature, is it orange we conclude not reef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Anything other than orange is a reef dweller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If we choose the second feature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Take away - Note the pairs are not expressing the same rules. They are expressing alternative rules.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two elements in each pair will produce different predictions for some fish.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There are 8 different rules that we are looking at.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rule could be our potential decision tree -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130aea6a52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130aea6a52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- fix the table to show that these have been ruled out. We have eliminated half of the candidate rules </a:t>
            </a:r>
            <a:r>
              <a:rPr lang="en"/>
              <a:t>because</a:t>
            </a:r>
            <a:r>
              <a:rPr lang="en"/>
              <a:t> they produce the wrong answer for half of the examples.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still don’t know what the correct rule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not enough information to select among the candidates.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130aea6a52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130aea6a52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possible for a training example to not tell you anything that you didn’t a;ready know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130aea6a52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130aea6a52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130aea6a52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130aea6a52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we see more examples we can have greater confidence that we have the right rule.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30aea6a52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130aea6a52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61418b68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161418b6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</a:t>
            </a:r>
            <a:r>
              <a:rPr lang="en">
                <a:solidFill>
                  <a:schemeClr val="dk1"/>
                </a:solidFill>
              </a:rPr>
              <a:t>Fish with </a:t>
            </a:r>
            <a:r>
              <a:rPr b="1" lang="en">
                <a:solidFill>
                  <a:schemeClr val="dk1"/>
                </a:solidFill>
              </a:rPr>
              <a:t>egg-shaped bodies</a:t>
            </a:r>
            <a:r>
              <a:rPr lang="en">
                <a:solidFill>
                  <a:schemeClr val="dk1"/>
                </a:solidFill>
              </a:rPr>
              <a:t> live in the reef.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367e0d59f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367e0d59f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10" Type="http://schemas.openxmlformats.org/officeDocument/2006/relationships/image" Target="../media/image23.png"/><Relationship Id="rId9" Type="http://schemas.openxmlformats.org/officeDocument/2006/relationships/image" Target="../media/image8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1" Type="http://schemas.openxmlformats.org/officeDocument/2006/relationships/image" Target="../media/image23.png"/><Relationship Id="rId10" Type="http://schemas.openxmlformats.org/officeDocument/2006/relationships/image" Target="../media/image8.png"/><Relationship Id="rId9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3.3a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we train a computer to make decisions?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5775" y="2492000"/>
            <a:ext cx="958700" cy="77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8450" y="2492000"/>
            <a:ext cx="958700" cy="77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05775" y="3309014"/>
            <a:ext cx="958700" cy="773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98450" y="3309014"/>
            <a:ext cx="958700" cy="77318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5"/>
          <p:cNvSpPr txBox="1"/>
          <p:nvPr/>
        </p:nvSpPr>
        <p:spPr>
          <a:xfrm>
            <a:off x="3324300" y="1803875"/>
            <a:ext cx="32673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Fishy Feature Space Activity #1: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Reef vs Non-Reef</a:t>
            </a:r>
            <a:endParaRPr b="1"/>
          </a:p>
        </p:txBody>
      </p:sp>
      <p:sp>
        <p:nvSpPr>
          <p:cNvPr id="109" name="Google Shape;109;p25"/>
          <p:cNvSpPr txBox="1"/>
          <p:nvPr/>
        </p:nvSpPr>
        <p:spPr>
          <a:xfrm>
            <a:off x="3452700" y="4145363"/>
            <a:ext cx="30105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Images of Fish on loan  from Code.org’s AI for Oceans</a:t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311700" y="354600"/>
            <a:ext cx="462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Learning Objectives</a:t>
            </a:r>
            <a:endParaRPr/>
          </a:p>
        </p:txBody>
      </p:sp>
      <p:sp>
        <p:nvSpPr>
          <p:cNvPr id="116" name="Google Shape;116;p26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</a:rPr>
              <a:t>Students should be able to: </a:t>
            </a:r>
            <a:endParaRPr i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Explain how decision tree classifiers work. (They should have gotten this from Pasta Land but it’s reinforced here.)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Show how training examples can be encoded as feature vectors.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MachineLearningForKids to set up and solve a machine learning problem.</a:t>
            </a:r>
            <a:endParaRPr sz="2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1: </a:t>
            </a:r>
            <a:r>
              <a:rPr lang="en"/>
              <a:t>Body Type</a:t>
            </a:r>
            <a:endParaRPr/>
          </a:p>
        </p:txBody>
      </p:sp>
      <p:pic>
        <p:nvPicPr>
          <p:cNvPr id="122" name="Google Shape;1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0" y="15185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3650" y="15185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8675" y="15185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5100" y="15185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0350" y="151850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7"/>
          <p:cNvSpPr txBox="1"/>
          <p:nvPr/>
        </p:nvSpPr>
        <p:spPr>
          <a:xfrm>
            <a:off x="441600" y="3224800"/>
            <a:ext cx="84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1=circular                           2=oval                         3=egg                          4=wedge                  5=triangle</a:t>
            </a:r>
            <a:endParaRPr/>
          </a:p>
        </p:txBody>
      </p:sp>
      <p:sp>
        <p:nvSpPr>
          <p:cNvPr id="128" name="Google Shape;128;p27"/>
          <p:cNvSpPr txBox="1"/>
          <p:nvPr/>
        </p:nvSpPr>
        <p:spPr>
          <a:xfrm>
            <a:off x="346675" y="1132000"/>
            <a:ext cx="800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fish on your activity sheet have the following body types: </a:t>
            </a:r>
            <a:endParaRPr b="1"/>
          </a:p>
        </p:txBody>
      </p:sp>
      <p:sp>
        <p:nvSpPr>
          <p:cNvPr id="129" name="Google Shape;129;p27"/>
          <p:cNvSpPr txBox="1"/>
          <p:nvPr/>
        </p:nvSpPr>
        <p:spPr>
          <a:xfrm>
            <a:off x="0" y="3721425"/>
            <a:ext cx="910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 your activity sheet table, r</a:t>
            </a:r>
            <a:r>
              <a:rPr b="1" lang="en">
                <a:solidFill>
                  <a:schemeClr val="dk1"/>
                </a:solidFill>
              </a:rPr>
              <a:t>eplace the question marks for the Body Type column with the correct body type number.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2: </a:t>
            </a:r>
            <a:r>
              <a:rPr lang="en"/>
              <a:t>Tail Fin Types</a:t>
            </a:r>
            <a:endParaRPr/>
          </a:p>
        </p:txBody>
      </p:sp>
      <p:pic>
        <p:nvPicPr>
          <p:cNvPr id="135" name="Google Shape;1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2732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162732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7400" y="1627325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 txBox="1"/>
          <p:nvPr/>
        </p:nvSpPr>
        <p:spPr>
          <a:xfrm>
            <a:off x="781050" y="3133725"/>
            <a:ext cx="709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1=crescent                                    2=heart                                        3=hanger</a:t>
            </a:r>
            <a:endParaRPr/>
          </a:p>
        </p:txBody>
      </p:sp>
      <p:sp>
        <p:nvSpPr>
          <p:cNvPr id="139" name="Google Shape;139;p28"/>
          <p:cNvSpPr txBox="1"/>
          <p:nvPr/>
        </p:nvSpPr>
        <p:spPr>
          <a:xfrm>
            <a:off x="721650" y="1252275"/>
            <a:ext cx="71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three fish on your activity sheet have the following tail fin types : </a:t>
            </a:r>
            <a:endParaRPr/>
          </a:p>
        </p:txBody>
      </p:sp>
      <p:sp>
        <p:nvSpPr>
          <p:cNvPr id="140" name="Google Shape;140;p28"/>
          <p:cNvSpPr txBox="1"/>
          <p:nvPr/>
        </p:nvSpPr>
        <p:spPr>
          <a:xfrm>
            <a:off x="410350" y="3678975"/>
            <a:ext cx="815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 your activity sheet table, replace the question marks for the Tail Fin column with the correct body type number.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3: </a:t>
            </a:r>
            <a:r>
              <a:rPr lang="en"/>
              <a:t>Dorsal Fin Types</a:t>
            </a:r>
            <a:endParaRPr/>
          </a:p>
        </p:txBody>
      </p:sp>
      <p:pic>
        <p:nvPicPr>
          <p:cNvPr id="146" name="Google Shape;1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2925" y="171305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71305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0775" y="171305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5075" y="171305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9"/>
          <p:cNvSpPr txBox="1"/>
          <p:nvPr/>
        </p:nvSpPr>
        <p:spPr>
          <a:xfrm>
            <a:off x="533400" y="3409950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1=lens                              2=leaf                        3=swept_forward               4=swept_back</a:t>
            </a:r>
            <a:endParaRPr/>
          </a:p>
        </p:txBody>
      </p:sp>
      <p:sp>
        <p:nvSpPr>
          <p:cNvPr id="151" name="Google Shape;151;p29"/>
          <p:cNvSpPr txBox="1"/>
          <p:nvPr/>
        </p:nvSpPr>
        <p:spPr>
          <a:xfrm>
            <a:off x="346675" y="1132000"/>
            <a:ext cx="800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fish on your activity sheet have the following Dorsal Fin  types: </a:t>
            </a:r>
            <a:endParaRPr b="1"/>
          </a:p>
        </p:txBody>
      </p:sp>
      <p:sp>
        <p:nvSpPr>
          <p:cNvPr id="152" name="Google Shape;152;p29"/>
          <p:cNvSpPr txBox="1"/>
          <p:nvPr/>
        </p:nvSpPr>
        <p:spPr>
          <a:xfrm>
            <a:off x="0" y="3721425"/>
            <a:ext cx="910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 your activity sheet table, replace the question marks for the Dorsal Fin column with the correct Dorsal Fin type number.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4: </a:t>
            </a:r>
            <a:r>
              <a:rPr lang="en"/>
              <a:t>Pectoral Fin Types</a:t>
            </a:r>
            <a:endParaRPr/>
          </a:p>
        </p:txBody>
      </p:sp>
      <p:pic>
        <p:nvPicPr>
          <p:cNvPr id="158" name="Google Shape;1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4050" y="150495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825" y="150495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9000" y="150495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 txBox="1"/>
          <p:nvPr/>
        </p:nvSpPr>
        <p:spPr>
          <a:xfrm>
            <a:off x="1238250" y="3048000"/>
            <a:ext cx="662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1=sharp_points                         2=curved_points                            3=smooth</a:t>
            </a:r>
            <a:endParaRPr/>
          </a:p>
        </p:txBody>
      </p:sp>
      <p:sp>
        <p:nvSpPr>
          <p:cNvPr id="162" name="Google Shape;162;p30"/>
          <p:cNvSpPr txBox="1"/>
          <p:nvPr/>
        </p:nvSpPr>
        <p:spPr>
          <a:xfrm>
            <a:off x="346675" y="1132000"/>
            <a:ext cx="800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fish on your activity sheet have the following Pectoral Fin Types:</a:t>
            </a:r>
            <a:endParaRPr b="1"/>
          </a:p>
        </p:txBody>
      </p:sp>
      <p:sp>
        <p:nvSpPr>
          <p:cNvPr id="163" name="Google Shape;163;p30"/>
          <p:cNvSpPr txBox="1"/>
          <p:nvPr/>
        </p:nvSpPr>
        <p:spPr>
          <a:xfrm>
            <a:off x="0" y="3721425"/>
            <a:ext cx="910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 your activity sheet table, replace the question marks for the Body Type column with the Pectoral Fin Type number.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5: </a:t>
            </a:r>
            <a:r>
              <a:rPr lang="en"/>
              <a:t>Body Colors</a:t>
            </a:r>
            <a:endParaRPr/>
          </a:p>
        </p:txBody>
      </p:sp>
      <p:sp>
        <p:nvSpPr>
          <p:cNvPr id="169" name="Google Shape;169;p31"/>
          <p:cNvSpPr/>
          <p:nvPr/>
        </p:nvSpPr>
        <p:spPr>
          <a:xfrm>
            <a:off x="2547375" y="1723950"/>
            <a:ext cx="324000" cy="324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1"/>
          <p:cNvSpPr txBox="1"/>
          <p:nvPr/>
        </p:nvSpPr>
        <p:spPr>
          <a:xfrm>
            <a:off x="3004575" y="16858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1=Red</a:t>
            </a:r>
            <a:endParaRPr/>
          </a:p>
        </p:txBody>
      </p:sp>
      <p:sp>
        <p:nvSpPr>
          <p:cNvPr id="171" name="Google Shape;171;p31"/>
          <p:cNvSpPr/>
          <p:nvPr/>
        </p:nvSpPr>
        <p:spPr>
          <a:xfrm>
            <a:off x="2547375" y="2181150"/>
            <a:ext cx="324000" cy="324000"/>
          </a:xfrm>
          <a:prstGeom prst="ellipse">
            <a:avLst/>
          </a:prstGeom>
          <a:solidFill>
            <a:srgbClr val="E03C9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1"/>
          <p:cNvSpPr txBox="1"/>
          <p:nvPr/>
        </p:nvSpPr>
        <p:spPr>
          <a:xfrm>
            <a:off x="3004575" y="21430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2=Pink</a:t>
            </a:r>
            <a:endParaRPr/>
          </a:p>
        </p:txBody>
      </p:sp>
      <p:sp>
        <p:nvSpPr>
          <p:cNvPr id="173" name="Google Shape;173;p31"/>
          <p:cNvSpPr/>
          <p:nvPr/>
        </p:nvSpPr>
        <p:spPr>
          <a:xfrm>
            <a:off x="2547375" y="2638350"/>
            <a:ext cx="324000" cy="3240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1"/>
          <p:cNvSpPr txBox="1"/>
          <p:nvPr/>
        </p:nvSpPr>
        <p:spPr>
          <a:xfrm>
            <a:off x="3004575" y="26002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3=Yellow</a:t>
            </a:r>
            <a:endParaRPr/>
          </a:p>
        </p:txBody>
      </p:sp>
      <p:sp>
        <p:nvSpPr>
          <p:cNvPr id="175" name="Google Shape;175;p31"/>
          <p:cNvSpPr/>
          <p:nvPr/>
        </p:nvSpPr>
        <p:spPr>
          <a:xfrm>
            <a:off x="2547375" y="3095550"/>
            <a:ext cx="324000" cy="3240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3004575" y="30574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4=Orange</a:t>
            </a:r>
            <a:endParaRPr/>
          </a:p>
        </p:txBody>
      </p:sp>
      <p:sp>
        <p:nvSpPr>
          <p:cNvPr id="177" name="Google Shape;177;p31"/>
          <p:cNvSpPr/>
          <p:nvPr/>
        </p:nvSpPr>
        <p:spPr>
          <a:xfrm>
            <a:off x="4882125" y="1723950"/>
            <a:ext cx="324000" cy="324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1"/>
          <p:cNvSpPr txBox="1"/>
          <p:nvPr/>
        </p:nvSpPr>
        <p:spPr>
          <a:xfrm>
            <a:off x="5339325" y="16858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5=Lime</a:t>
            </a:r>
            <a:endParaRPr/>
          </a:p>
        </p:txBody>
      </p:sp>
      <p:sp>
        <p:nvSpPr>
          <p:cNvPr id="179" name="Google Shape;179;p31"/>
          <p:cNvSpPr/>
          <p:nvPr/>
        </p:nvSpPr>
        <p:spPr>
          <a:xfrm>
            <a:off x="4882125" y="2181150"/>
            <a:ext cx="324000" cy="324000"/>
          </a:xfrm>
          <a:prstGeom prst="ellipse">
            <a:avLst/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/>
        </p:nvSpPr>
        <p:spPr>
          <a:xfrm>
            <a:off x="5339325" y="21430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6=Forest</a:t>
            </a:r>
            <a:endParaRPr/>
          </a:p>
        </p:txBody>
      </p:sp>
      <p:sp>
        <p:nvSpPr>
          <p:cNvPr id="181" name="Google Shape;181;p31"/>
          <p:cNvSpPr/>
          <p:nvPr/>
        </p:nvSpPr>
        <p:spPr>
          <a:xfrm>
            <a:off x="4882125" y="2638350"/>
            <a:ext cx="324000" cy="3240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 txBox="1"/>
          <p:nvPr/>
        </p:nvSpPr>
        <p:spPr>
          <a:xfrm>
            <a:off x="5339325" y="26002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7=Blue</a:t>
            </a:r>
            <a:endParaRPr/>
          </a:p>
        </p:txBody>
      </p:sp>
      <p:sp>
        <p:nvSpPr>
          <p:cNvPr id="183" name="Google Shape;183;p31"/>
          <p:cNvSpPr/>
          <p:nvPr/>
        </p:nvSpPr>
        <p:spPr>
          <a:xfrm>
            <a:off x="4882125" y="3095550"/>
            <a:ext cx="324000" cy="324000"/>
          </a:xfrm>
          <a:prstGeom prst="ellipse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5339325" y="30574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8=Purple</a:t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311700" y="1017725"/>
            <a:ext cx="73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fish on your activity sheet have the following body colors: </a:t>
            </a:r>
            <a:endParaRPr/>
          </a:p>
        </p:txBody>
      </p:sp>
      <p:sp>
        <p:nvSpPr>
          <p:cNvPr id="186" name="Google Shape;186;p31"/>
          <p:cNvSpPr txBox="1"/>
          <p:nvPr/>
        </p:nvSpPr>
        <p:spPr>
          <a:xfrm>
            <a:off x="311700" y="3792175"/>
            <a:ext cx="883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 your activity sheet table, replace the question marks for the Body Color column with the correct Body Color number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6: Fin Colors</a:t>
            </a:r>
            <a:endParaRPr/>
          </a:p>
        </p:txBody>
      </p:sp>
      <p:sp>
        <p:nvSpPr>
          <p:cNvPr id="192" name="Google Shape;192;p32"/>
          <p:cNvSpPr/>
          <p:nvPr/>
        </p:nvSpPr>
        <p:spPr>
          <a:xfrm>
            <a:off x="2547375" y="1723950"/>
            <a:ext cx="324000" cy="324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3004575" y="16858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1=Red</a:t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2547375" y="2181150"/>
            <a:ext cx="324000" cy="324000"/>
          </a:xfrm>
          <a:prstGeom prst="ellipse">
            <a:avLst/>
          </a:prstGeom>
          <a:solidFill>
            <a:srgbClr val="E03C9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 txBox="1"/>
          <p:nvPr/>
        </p:nvSpPr>
        <p:spPr>
          <a:xfrm>
            <a:off x="3004575" y="21430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2=Pink</a:t>
            </a:r>
            <a:endParaRPr/>
          </a:p>
        </p:txBody>
      </p:sp>
      <p:sp>
        <p:nvSpPr>
          <p:cNvPr id="196" name="Google Shape;196;p32"/>
          <p:cNvSpPr/>
          <p:nvPr/>
        </p:nvSpPr>
        <p:spPr>
          <a:xfrm>
            <a:off x="2547375" y="2638350"/>
            <a:ext cx="324000" cy="3240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3004575" y="26002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3=Yellow</a:t>
            </a:r>
            <a:endParaRPr/>
          </a:p>
        </p:txBody>
      </p:sp>
      <p:sp>
        <p:nvSpPr>
          <p:cNvPr id="198" name="Google Shape;198;p32"/>
          <p:cNvSpPr/>
          <p:nvPr/>
        </p:nvSpPr>
        <p:spPr>
          <a:xfrm>
            <a:off x="2547375" y="3095550"/>
            <a:ext cx="324000" cy="3240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2"/>
          <p:cNvSpPr txBox="1"/>
          <p:nvPr/>
        </p:nvSpPr>
        <p:spPr>
          <a:xfrm>
            <a:off x="3004575" y="30574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4=Orange</a:t>
            </a:r>
            <a:endParaRPr/>
          </a:p>
        </p:txBody>
      </p:sp>
      <p:sp>
        <p:nvSpPr>
          <p:cNvPr id="200" name="Google Shape;200;p32"/>
          <p:cNvSpPr/>
          <p:nvPr/>
        </p:nvSpPr>
        <p:spPr>
          <a:xfrm>
            <a:off x="4882125" y="1723950"/>
            <a:ext cx="324000" cy="324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 txBox="1"/>
          <p:nvPr/>
        </p:nvSpPr>
        <p:spPr>
          <a:xfrm>
            <a:off x="5339325" y="16858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5=Lime</a:t>
            </a:r>
            <a:endParaRPr/>
          </a:p>
        </p:txBody>
      </p:sp>
      <p:sp>
        <p:nvSpPr>
          <p:cNvPr id="202" name="Google Shape;202;p32"/>
          <p:cNvSpPr/>
          <p:nvPr/>
        </p:nvSpPr>
        <p:spPr>
          <a:xfrm>
            <a:off x="4882125" y="2181150"/>
            <a:ext cx="324000" cy="324000"/>
          </a:xfrm>
          <a:prstGeom prst="ellipse">
            <a:avLst/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2"/>
          <p:cNvSpPr txBox="1"/>
          <p:nvPr/>
        </p:nvSpPr>
        <p:spPr>
          <a:xfrm>
            <a:off x="5339325" y="21430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6=Forest</a:t>
            </a:r>
            <a:endParaRPr/>
          </a:p>
        </p:txBody>
      </p:sp>
      <p:sp>
        <p:nvSpPr>
          <p:cNvPr id="204" name="Google Shape;204;p32"/>
          <p:cNvSpPr/>
          <p:nvPr/>
        </p:nvSpPr>
        <p:spPr>
          <a:xfrm>
            <a:off x="4882125" y="2638350"/>
            <a:ext cx="324000" cy="3240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2"/>
          <p:cNvSpPr txBox="1"/>
          <p:nvPr/>
        </p:nvSpPr>
        <p:spPr>
          <a:xfrm>
            <a:off x="5339325" y="26002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7=Blue</a:t>
            </a:r>
            <a:endParaRPr/>
          </a:p>
        </p:txBody>
      </p:sp>
      <p:sp>
        <p:nvSpPr>
          <p:cNvPr id="206" name="Google Shape;206;p32"/>
          <p:cNvSpPr/>
          <p:nvPr/>
        </p:nvSpPr>
        <p:spPr>
          <a:xfrm>
            <a:off x="4882125" y="3095550"/>
            <a:ext cx="324000" cy="324000"/>
          </a:xfrm>
          <a:prstGeom prst="ellipse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5339325" y="3057450"/>
            <a:ext cx="12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8=Purple</a:t>
            </a:r>
            <a:endParaRPr/>
          </a:p>
        </p:txBody>
      </p:sp>
      <p:sp>
        <p:nvSpPr>
          <p:cNvPr id="208" name="Google Shape;208;p32"/>
          <p:cNvSpPr txBox="1"/>
          <p:nvPr/>
        </p:nvSpPr>
        <p:spPr>
          <a:xfrm>
            <a:off x="311700" y="1017725"/>
            <a:ext cx="73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fish on your activity sheet have the following Fin types: </a:t>
            </a:r>
            <a:endParaRPr/>
          </a:p>
        </p:txBody>
      </p:sp>
      <p:sp>
        <p:nvSpPr>
          <p:cNvPr id="209" name="Google Shape;209;p32"/>
          <p:cNvSpPr txBox="1"/>
          <p:nvPr/>
        </p:nvSpPr>
        <p:spPr>
          <a:xfrm>
            <a:off x="311700" y="3792175"/>
            <a:ext cx="883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 your activity sheet table, replace the question marks for the Fin Color column with the correct Fin Color number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2150850"/>
            <a:ext cx="8520600" cy="110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</a:t>
            </a:r>
            <a:r>
              <a:rPr i="1" lang="en"/>
              <a:t>feel like</a:t>
            </a:r>
            <a:r>
              <a:rPr lang="en"/>
              <a:t> to</a:t>
            </a:r>
            <a:br>
              <a:rPr lang="en"/>
            </a:br>
            <a:r>
              <a:rPr lang="en"/>
              <a:t>be a machine learning algorithm?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2997300" y="555050"/>
            <a:ext cx="5835000" cy="3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human who is training you has provided you two fish, and told you that one lives on a reef, and the other does not.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these two fish to develop 5 rules that can decide if a fish lives on a reef or not on a reef.</a:t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675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2675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4"/>
          <p:cNvSpPr txBox="1"/>
          <p:nvPr/>
        </p:nvSpPr>
        <p:spPr>
          <a:xfrm>
            <a:off x="91375" y="15113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Non-reef: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91375" y="33401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Reef: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4343400" y="297000"/>
            <a:ext cx="4671300" cy="49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human has provided new training data!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these new fish with your rules! If a rule that you came up </a:t>
            </a:r>
            <a:r>
              <a:rPr lang="en"/>
              <a:t>with no longer applies, change the text color to </a:t>
            </a:r>
            <a:r>
              <a:rPr lang="en">
                <a:solidFill>
                  <a:srgbClr val="FF0000"/>
                </a:solidFill>
              </a:rPr>
              <a:t>red </a:t>
            </a:r>
            <a:r>
              <a:rPr lang="en"/>
              <a:t>so that we know not use it anymore.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all of your rules are red, erase a rule and build a new rule.</a:t>
            </a:r>
            <a:endParaRPr/>
          </a:p>
        </p:txBody>
      </p:sp>
      <p:pic>
        <p:nvPicPr>
          <p:cNvPr id="229" name="Google Shape;2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875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4950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7875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4950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5"/>
          <p:cNvSpPr txBox="1"/>
          <p:nvPr/>
        </p:nvSpPr>
        <p:spPr>
          <a:xfrm>
            <a:off x="91375" y="15113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Non-reef:</a:t>
            </a:r>
            <a:endParaRPr/>
          </a:p>
        </p:txBody>
      </p:sp>
      <p:sp>
        <p:nvSpPr>
          <p:cNvPr id="234" name="Google Shape;234;p35"/>
          <p:cNvSpPr txBox="1"/>
          <p:nvPr/>
        </p:nvSpPr>
        <p:spPr>
          <a:xfrm>
            <a:off x="91375" y="33401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Reef: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6129650" y="111975"/>
            <a:ext cx="2702700" cy="47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another fish!  Do your rules still work? Change / add what you need to </a:t>
            </a:r>
            <a:r>
              <a:rPr lang="en"/>
              <a:t>your</a:t>
            </a:r>
            <a:r>
              <a:rPr lang="en"/>
              <a:t> table! Remember to mark broken rules in </a:t>
            </a:r>
            <a:r>
              <a:rPr lang="en">
                <a:solidFill>
                  <a:srgbClr val="FF0000"/>
                </a:solidFill>
              </a:rPr>
              <a:t>red</a:t>
            </a:r>
            <a:r>
              <a:rPr lang="en"/>
              <a:t>.</a:t>
            </a:r>
            <a:endParaRPr/>
          </a:p>
        </p:txBody>
      </p:sp>
      <p:pic>
        <p:nvPicPr>
          <p:cNvPr id="240" name="Google Shape;2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675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750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2675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9750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0682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6"/>
          <p:cNvSpPr txBox="1"/>
          <p:nvPr/>
        </p:nvSpPr>
        <p:spPr>
          <a:xfrm>
            <a:off x="91375" y="15113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Non-reef:</a:t>
            </a:r>
            <a:endParaRPr/>
          </a:p>
        </p:txBody>
      </p:sp>
      <p:sp>
        <p:nvSpPr>
          <p:cNvPr id="246" name="Google Shape;246;p36"/>
          <p:cNvSpPr txBox="1"/>
          <p:nvPr/>
        </p:nvSpPr>
        <p:spPr>
          <a:xfrm>
            <a:off x="91375" y="33401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Reef: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title"/>
          </p:nvPr>
        </p:nvSpPr>
        <p:spPr>
          <a:xfrm>
            <a:off x="311700" y="-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is another fish!  Do your rules still work? Change / add what you need! Remember to mark broken rules in </a:t>
            </a:r>
            <a:r>
              <a:rPr lang="en">
                <a:solidFill>
                  <a:srgbClr val="FF0000"/>
                </a:solidFill>
              </a:rPr>
              <a:t>red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252" name="Google Shape;2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675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750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2675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3900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9750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0682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7"/>
          <p:cNvSpPr txBox="1"/>
          <p:nvPr/>
        </p:nvSpPr>
        <p:spPr>
          <a:xfrm>
            <a:off x="91375" y="15113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Non-reef:</a:t>
            </a:r>
            <a:endParaRPr/>
          </a:p>
        </p:txBody>
      </p:sp>
      <p:sp>
        <p:nvSpPr>
          <p:cNvPr id="259" name="Google Shape;259;p37"/>
          <p:cNvSpPr txBox="1"/>
          <p:nvPr/>
        </p:nvSpPr>
        <p:spPr>
          <a:xfrm>
            <a:off x="91375" y="33401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Reef: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>
            <p:ph type="title"/>
          </p:nvPr>
        </p:nvSpPr>
        <p:spPr>
          <a:xfrm>
            <a:off x="252500" y="-20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is another fish!  Do your rules still work? Change / add what you need! Remember to mark broken rules in </a:t>
            </a:r>
            <a:r>
              <a:rPr lang="en">
                <a:solidFill>
                  <a:srgbClr val="FF0000"/>
                </a:solidFill>
              </a:rPr>
              <a:t>red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265" name="Google Shape;26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675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750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6825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2675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93900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19750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0682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8097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8"/>
          <p:cNvSpPr txBox="1"/>
          <p:nvPr/>
        </p:nvSpPr>
        <p:spPr>
          <a:xfrm>
            <a:off x="91375" y="15113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Non-reef:</a:t>
            </a:r>
            <a:endParaRPr/>
          </a:p>
        </p:txBody>
      </p:sp>
      <p:sp>
        <p:nvSpPr>
          <p:cNvPr id="274" name="Google Shape;274;p38"/>
          <p:cNvSpPr txBox="1"/>
          <p:nvPr/>
        </p:nvSpPr>
        <p:spPr>
          <a:xfrm>
            <a:off x="91375" y="33401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Reef: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type="title"/>
          </p:nvPr>
        </p:nvSpPr>
        <p:spPr>
          <a:xfrm>
            <a:off x="311700" y="3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is the last fish!  Do your rules still work? Change / add what you need! Remember to mark broken rules in </a:t>
            </a:r>
            <a:r>
              <a:rPr lang="en">
                <a:solidFill>
                  <a:srgbClr val="FF0000"/>
                </a:solidFill>
              </a:rPr>
              <a:t>red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280" name="Google Shape;2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675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3900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9750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6825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2675" y="28544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3900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19750" y="102565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0682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8097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9"/>
          <p:cNvSpPr txBox="1"/>
          <p:nvPr/>
        </p:nvSpPr>
        <p:spPr>
          <a:xfrm>
            <a:off x="91375" y="15113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Non-reef:</a:t>
            </a:r>
            <a:endParaRPr/>
          </a:p>
        </p:txBody>
      </p:sp>
      <p:sp>
        <p:nvSpPr>
          <p:cNvPr id="290" name="Google Shape;290;p39"/>
          <p:cNvSpPr txBox="1"/>
          <p:nvPr/>
        </p:nvSpPr>
        <p:spPr>
          <a:xfrm>
            <a:off x="91375" y="3340150"/>
            <a:ext cx="10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Reef: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type="title"/>
          </p:nvPr>
        </p:nvSpPr>
        <p:spPr>
          <a:xfrm>
            <a:off x="311700" y="192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the rule that decided if a fish lived on a reef or not? Fill in the box for part 3.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/>
          <p:nvPr>
            <p:ph type="title"/>
          </p:nvPr>
        </p:nvSpPr>
        <p:spPr>
          <a:xfrm>
            <a:off x="311700" y="396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 your rule into a </a:t>
            </a:r>
            <a:r>
              <a:rPr lang="en"/>
              <a:t>decision</a:t>
            </a:r>
            <a:r>
              <a:rPr lang="en"/>
              <a:t> tree! For part 4, Double click the drawing to edit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 your rule into a </a:t>
            </a:r>
            <a:r>
              <a:rPr lang="en"/>
              <a:t>question, and write it in the rectangle.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should the fish live if the answer is yes? Fill in the correct bubble with the correct location.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should the fish live if the answer is no? Fill in the correct bubble with the correct location.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