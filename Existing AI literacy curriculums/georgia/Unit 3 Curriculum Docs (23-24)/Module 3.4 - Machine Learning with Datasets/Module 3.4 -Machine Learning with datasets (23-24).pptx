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5143500" cx="9144000"/>
  <p:notesSz cx="6858000" cy="9144000"/>
  <p:embeddedFontLst>
    <p:embeddedFont>
      <p:font typeface="Permanent Marker"/>
      <p:regular r:id="rId30"/>
    </p:embeddedFont>
    <p:embeddedFont>
      <p:font typeface="Helvetica Neue"/>
      <p:regular r:id="rId31"/>
      <p:bold r:id="rId32"/>
      <p:italic r:id="rId33"/>
      <p:boldItalic r:id="rId34"/>
    </p:embeddedFont>
    <p:embeddedFont>
      <p:font typeface="Merriweather"/>
      <p:regular r:id="rId35"/>
      <p:bold r:id="rId36"/>
      <p:italic r:id="rId37"/>
      <p:boldItalic r:id="rId38"/>
    </p:embeddedFont>
    <p:embeddedFont>
      <p:font typeface="Alfa Slab One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561125-7DBD-4F2F-B6E2-11E3F8AF9996}">
  <a:tblStyle styleId="{95561125-7DBD-4F2F-B6E2-11E3F8AF99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HelveticaNeue-regular.fntdata"/><Relationship Id="rId30" Type="http://schemas.openxmlformats.org/officeDocument/2006/relationships/font" Target="fonts/PermanentMarker-regular.fntdata"/><Relationship Id="rId11" Type="http://schemas.openxmlformats.org/officeDocument/2006/relationships/slide" Target="slides/slide3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2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5.xml"/><Relationship Id="rId35" Type="http://schemas.openxmlformats.org/officeDocument/2006/relationships/font" Target="fonts/Merriweather-regular.fntdata"/><Relationship Id="rId12" Type="http://schemas.openxmlformats.org/officeDocument/2006/relationships/slide" Target="slides/slide4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7.xml"/><Relationship Id="rId37" Type="http://schemas.openxmlformats.org/officeDocument/2006/relationships/font" Target="fonts/Merriweather-italic.fntdata"/><Relationship Id="rId14" Type="http://schemas.openxmlformats.org/officeDocument/2006/relationships/slide" Target="slides/slide6.xml"/><Relationship Id="rId36" Type="http://schemas.openxmlformats.org/officeDocument/2006/relationships/font" Target="fonts/Merriweather-bold.fntdata"/><Relationship Id="rId17" Type="http://schemas.openxmlformats.org/officeDocument/2006/relationships/slide" Target="slides/slide9.xml"/><Relationship Id="rId39" Type="http://schemas.openxmlformats.org/officeDocument/2006/relationships/font" Target="fonts/AlfaSlabOne-regular.fntdata"/><Relationship Id="rId16" Type="http://schemas.openxmlformats.org/officeDocument/2006/relationships/slide" Target="slides/slide8.xml"/><Relationship Id="rId38" Type="http://schemas.openxmlformats.org/officeDocument/2006/relationships/font" Target="fonts/Merriweather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dd7ae630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dd7ae630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e39d67e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e39d67e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51fc6a683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51fc6a683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51fc6a683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51fc6a683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30fa4ee3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30fa4ee3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 note: Use slides and demo. Students can follow along in AI lab if they want as well. Then they can tinker with it on their own.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b8bf1083b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b8bf1083b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Teacher Note: This pipeline has a lot of similarities to the one we use for machine learning for kids. But it has several differences.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Step 1 - We don’t need to collect our own data because we have a datasets that others have already created for us. </a:t>
            </a:r>
            <a:r>
              <a:rPr lang="en">
                <a:solidFill>
                  <a:schemeClr val="dk1"/>
                </a:solidFill>
              </a:rPr>
              <a:t>When we look at this data set we can see that there are already a number of features identified in the columns and the rows of the table are filled with examples.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Step 2 -  So instead of defining features, we have to identify a question we want to answer with our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Step 3- then we will select the feature we want to predict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Step 4 - then we will select the features we think will help us predict the feature we selected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151fc6a68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151fc6a68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d1f721bd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d1f721bd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51fc6a683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151fc6a683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51fc6a683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151fc6a68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51fc6a68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51fc6a68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151fc6a683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151fc6a68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151fc6a683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151fc6a683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151fc6a683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151fc6a683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151fc6a683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151fc6a683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51fc6a683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51fc6a683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51fc6a683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51fc6a683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151fc6a683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151fc6a683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30fa4ee3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130fa4ee3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d1f721bd4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d1f721bd4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1341abfb71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1341abfb71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hyperlink" Target="https://studio.code.org/s/ai-lab/lessons/1/levels/2/sublevel/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3.4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with Datasets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5" name="Google Shape;1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7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37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Developed for the AI4GA (Artificial Intelligence for Georgia) project funded by National Science Foundation awards DRL-2049029 and DRL-2048502.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This work is licensed under the Creative Commons.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6299" y="1732425"/>
            <a:ext cx="2615175" cy="26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8"/>
          <p:cNvSpPr txBox="1"/>
          <p:nvPr/>
        </p:nvSpPr>
        <p:spPr>
          <a:xfrm>
            <a:off x="311700" y="354600"/>
            <a:ext cx="462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Learning Objectives</a:t>
            </a:r>
            <a:endParaRPr/>
          </a:p>
        </p:txBody>
      </p:sp>
      <p:sp>
        <p:nvSpPr>
          <p:cNvPr id="156" name="Google Shape;156;p38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</a:rPr>
              <a:t>Students should be able to: </a:t>
            </a:r>
            <a:endParaRPr i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AI Lab to explore a dataset.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Train a classifier or predictor using AI Lab.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Measure the performance of a classifier or predictor on a test set.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Explain why running the same experiment in AI Lab multiple times may produce different results.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What are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datasets</a:t>
            </a:r>
            <a:r>
              <a:rPr lang="en"/>
              <a:t>?</a:t>
            </a:r>
            <a:endParaRPr/>
          </a:p>
        </p:txBody>
      </p:sp>
      <p:sp>
        <p:nvSpPr>
          <p:cNvPr id="162" name="Google Shape;162;p39"/>
          <p:cNvSpPr txBox="1"/>
          <p:nvPr>
            <p:ph idx="1" type="body"/>
          </p:nvPr>
        </p:nvSpPr>
        <p:spPr>
          <a:xfrm>
            <a:off x="3879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collection of data. In the case of tabular data, a dataset corresponds to one or more tables, where every column of a table represents a particular feature, and each row corresponds to an example of the dataset.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9"/>
          <p:cNvSpPr txBox="1"/>
          <p:nvPr/>
        </p:nvSpPr>
        <p:spPr>
          <a:xfrm>
            <a:off x="3116550" y="4781150"/>
            <a:ext cx="35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Jeans dataset from AI Lab.</a:t>
            </a:r>
            <a:endParaRPr i="1"/>
          </a:p>
        </p:txBody>
      </p:sp>
      <p:pic>
        <p:nvPicPr>
          <p:cNvPr id="164" name="Google Shape;164;p39"/>
          <p:cNvPicPr preferRelativeResize="0"/>
          <p:nvPr/>
        </p:nvPicPr>
        <p:blipFill rotWithShape="1">
          <a:blip r:embed="rId3">
            <a:alphaModFix/>
          </a:blip>
          <a:srcRect b="0" l="0" r="0" t="14302"/>
          <a:stretch/>
        </p:blipFill>
        <p:spPr>
          <a:xfrm>
            <a:off x="76200" y="2073300"/>
            <a:ext cx="9144001" cy="28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datasets come from?</a:t>
            </a:r>
            <a:endParaRPr/>
          </a:p>
        </p:txBody>
      </p:sp>
      <p:sp>
        <p:nvSpPr>
          <p:cNvPr id="171" name="Google Shape;171;p40"/>
          <p:cNvSpPr txBox="1"/>
          <p:nvPr>
            <p:ph idx="1" type="body"/>
          </p:nvPr>
        </p:nvSpPr>
        <p:spPr>
          <a:xfrm>
            <a:off x="311700" y="1152475"/>
            <a:ext cx="589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Scientists, companies, engineers, and data scientist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 collect data about phenomena and problems they are interested in understanding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For, example data can come from 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Sensors in a car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Surveys 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Video or images of engaged animals or plants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Number of products, sneakers, or songs sold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can come from almost anywhere and take any form.</a:t>
            </a:r>
            <a:endParaRPr/>
          </a:p>
        </p:txBody>
      </p:sp>
      <p:sp>
        <p:nvSpPr>
          <p:cNvPr id="172" name="Google Shape;172;p40"/>
          <p:cNvSpPr txBox="1"/>
          <p:nvPr/>
        </p:nvSpPr>
        <p:spPr>
          <a:xfrm>
            <a:off x="6514200" y="136875"/>
            <a:ext cx="2629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ermanent Marker"/>
                <a:ea typeface="Permanent Marker"/>
                <a:cs typeface="Permanent Marker"/>
                <a:sym typeface="Permanent Marker"/>
              </a:rPr>
              <a:t>Fun fact: </a:t>
            </a:r>
            <a:r>
              <a:rPr b="1" lang="en" sz="1600">
                <a:solidFill>
                  <a:srgbClr val="0000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Data is plural. </a:t>
            </a:r>
            <a:endParaRPr b="1" sz="1600">
              <a:solidFill>
                <a:srgbClr val="0000FF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Latin, data is the plural of datum. In specialized scientific fields, it is also treated as a plural in English. Therefore, we say data were collected and classified and not </a:t>
            </a:r>
            <a:r>
              <a:rPr lang="en" strike="sngStrike"/>
              <a:t>data was </a:t>
            </a:r>
            <a:r>
              <a:rPr lang="en" strike="sngStrike">
                <a:solidFill>
                  <a:schemeClr val="dk1"/>
                </a:solidFill>
              </a:rPr>
              <a:t>collected and classified</a:t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trike="sngStrike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Phenomenon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(singular),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observable fact or event that  occurs in a natural or designed system, especially one whose cause or explanation is in question. </a:t>
            </a:r>
            <a:r>
              <a:rPr i="1" lang="en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Phenomena</a:t>
            </a:r>
            <a:r>
              <a:rPr lang="en">
                <a:solidFill>
                  <a:schemeClr val="dk1"/>
                </a:solidFill>
              </a:rPr>
              <a:t> (plural)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1"/>
          <p:cNvSpPr txBox="1"/>
          <p:nvPr>
            <p:ph type="title"/>
          </p:nvPr>
        </p:nvSpPr>
        <p:spPr>
          <a:xfrm>
            <a:off x="311700" y="3293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Orientation to AI Lab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 Its ML Pipeline</a:t>
            </a:r>
            <a:endParaRPr/>
          </a:p>
        </p:txBody>
      </p:sp>
      <p:sp>
        <p:nvSpPr>
          <p:cNvPr id="179" name="Google Shape;17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800" y="167750"/>
            <a:ext cx="6302443" cy="29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1"/>
          <p:cNvSpPr txBox="1"/>
          <p:nvPr/>
        </p:nvSpPr>
        <p:spPr>
          <a:xfrm>
            <a:off x="2945075" y="4363200"/>
            <a:ext cx="339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</a:t>
            </a:r>
            <a:r>
              <a:rPr lang="en" sz="1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link</a:t>
            </a:r>
            <a:r>
              <a:rPr lang="en" sz="1800">
                <a:solidFill>
                  <a:schemeClr val="dk1"/>
                </a:solidFill>
              </a:rPr>
              <a:t> to access AI Lab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2"/>
          <p:cNvSpPr txBox="1"/>
          <p:nvPr>
            <p:ph type="title"/>
          </p:nvPr>
        </p:nvSpPr>
        <p:spPr>
          <a:xfrm>
            <a:off x="2040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AI Lab Machine Learning Pipeline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87" name="Google Shape;18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42"/>
          <p:cNvSpPr/>
          <p:nvPr/>
        </p:nvSpPr>
        <p:spPr>
          <a:xfrm>
            <a:off x="127800" y="258388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Identify  a dataset &amp; review features</a:t>
            </a:r>
            <a:endParaRPr sz="1300"/>
          </a:p>
        </p:txBody>
      </p:sp>
      <p:sp>
        <p:nvSpPr>
          <p:cNvPr id="189" name="Google Shape;189;p42"/>
          <p:cNvSpPr/>
          <p:nvPr/>
        </p:nvSpPr>
        <p:spPr>
          <a:xfrm>
            <a:off x="2032275" y="2616044"/>
            <a:ext cx="1319100" cy="77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a question </a:t>
            </a:r>
            <a:endParaRPr/>
          </a:p>
        </p:txBody>
      </p:sp>
      <p:sp>
        <p:nvSpPr>
          <p:cNvPr id="190" name="Google Shape;190;p42"/>
          <p:cNvSpPr/>
          <p:nvPr/>
        </p:nvSpPr>
        <p:spPr>
          <a:xfrm>
            <a:off x="3653350" y="258964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feature to predict</a:t>
            </a:r>
            <a:endParaRPr/>
          </a:p>
        </p:txBody>
      </p:sp>
      <p:sp>
        <p:nvSpPr>
          <p:cNvPr id="191" name="Google Shape;191;p42"/>
          <p:cNvSpPr/>
          <p:nvPr/>
        </p:nvSpPr>
        <p:spPr>
          <a:xfrm>
            <a:off x="5390575" y="2589644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features that affect the feature to be predicted</a:t>
            </a:r>
            <a:endParaRPr/>
          </a:p>
        </p:txBody>
      </p:sp>
      <p:cxnSp>
        <p:nvCxnSpPr>
          <p:cNvPr id="192" name="Google Shape;192;p42"/>
          <p:cNvCxnSpPr>
            <a:stCxn id="188" idx="3"/>
            <a:endCxn id="189" idx="1"/>
          </p:cNvCxnSpPr>
          <p:nvPr/>
        </p:nvCxnSpPr>
        <p:spPr>
          <a:xfrm>
            <a:off x="1585200" y="2999984"/>
            <a:ext cx="4470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42"/>
          <p:cNvCxnSpPr>
            <a:stCxn id="189" idx="3"/>
            <a:endCxn id="190" idx="1"/>
          </p:cNvCxnSpPr>
          <p:nvPr/>
        </p:nvCxnSpPr>
        <p:spPr>
          <a:xfrm>
            <a:off x="3351375" y="3005744"/>
            <a:ext cx="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42"/>
          <p:cNvCxnSpPr>
            <a:stCxn id="190" idx="3"/>
            <a:endCxn id="191" idx="1"/>
          </p:cNvCxnSpPr>
          <p:nvPr/>
        </p:nvCxnSpPr>
        <p:spPr>
          <a:xfrm>
            <a:off x="5110750" y="3005744"/>
            <a:ext cx="27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42"/>
          <p:cNvCxnSpPr>
            <a:stCxn id="191" idx="3"/>
            <a:endCxn id="196" idx="1"/>
          </p:cNvCxnSpPr>
          <p:nvPr/>
        </p:nvCxnSpPr>
        <p:spPr>
          <a:xfrm>
            <a:off x="6847975" y="3005744"/>
            <a:ext cx="30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42"/>
          <p:cNvCxnSpPr>
            <a:endCxn id="198" idx="3"/>
          </p:cNvCxnSpPr>
          <p:nvPr/>
        </p:nvCxnSpPr>
        <p:spPr>
          <a:xfrm flipH="1">
            <a:off x="6630850" y="3023819"/>
            <a:ext cx="1983600" cy="159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9" name="Google Shape;199;p42"/>
          <p:cNvPicPr preferRelativeResize="0"/>
          <p:nvPr/>
        </p:nvPicPr>
        <p:blipFill rotWithShape="1">
          <a:blip r:embed="rId3">
            <a:alphaModFix/>
          </a:blip>
          <a:srcRect b="0" l="0" r="34567" t="0"/>
          <a:stretch/>
        </p:blipFill>
        <p:spPr>
          <a:xfrm>
            <a:off x="254675" y="946463"/>
            <a:ext cx="1203650" cy="1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/>
          <p:cNvPicPr preferRelativeResize="0"/>
          <p:nvPr/>
        </p:nvPicPr>
        <p:blipFill rotWithShape="1">
          <a:blip r:embed="rId4">
            <a:alphaModFix/>
          </a:blip>
          <a:srcRect b="2358" l="0" r="36864" t="14901"/>
          <a:stretch/>
        </p:blipFill>
        <p:spPr>
          <a:xfrm>
            <a:off x="204000" y="1838600"/>
            <a:ext cx="1330524" cy="779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2"/>
          <p:cNvSpPr txBox="1"/>
          <p:nvPr/>
        </p:nvSpPr>
        <p:spPr>
          <a:xfrm>
            <a:off x="2046375" y="1185850"/>
            <a:ext cx="1330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features best predict the price of jeans?</a:t>
            </a:r>
            <a:endParaRPr/>
          </a:p>
        </p:txBody>
      </p:sp>
      <p:sp>
        <p:nvSpPr>
          <p:cNvPr id="202" name="Google Shape;202;p42"/>
          <p:cNvSpPr txBox="1"/>
          <p:nvPr/>
        </p:nvSpPr>
        <p:spPr>
          <a:xfrm>
            <a:off x="3716800" y="1438400"/>
            <a:ext cx="13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of Jeans</a:t>
            </a:r>
            <a:endParaRPr/>
          </a:p>
        </p:txBody>
      </p:sp>
      <p:sp>
        <p:nvSpPr>
          <p:cNvPr id="203" name="Google Shape;203;p42"/>
          <p:cNvSpPr txBox="1"/>
          <p:nvPr/>
        </p:nvSpPr>
        <p:spPr>
          <a:xfrm>
            <a:off x="5314050" y="1082600"/>
            <a:ext cx="1931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Men’s </a:t>
            </a:r>
            <a:r>
              <a:rPr lang="en">
                <a:solidFill>
                  <a:schemeClr val="dk1"/>
                </a:solidFill>
              </a:rPr>
              <a:t>or </a:t>
            </a:r>
            <a:r>
              <a:rPr lang="en"/>
              <a:t>Women’s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Cotton content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of pockets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42"/>
          <p:cNvCxnSpPr>
            <a:stCxn id="198" idx="1"/>
            <a:endCxn id="205" idx="3"/>
          </p:cNvCxnSpPr>
          <p:nvPr/>
        </p:nvCxnSpPr>
        <p:spPr>
          <a:xfrm rot="10800000">
            <a:off x="4572000" y="4607766"/>
            <a:ext cx="6015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42"/>
          <p:cNvSpPr/>
          <p:nvPr/>
        </p:nvSpPr>
        <p:spPr>
          <a:xfrm>
            <a:off x="3114600" y="4191666"/>
            <a:ext cx="1457400" cy="8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Test the model</a:t>
            </a:r>
            <a:endParaRPr/>
          </a:p>
        </p:txBody>
      </p:sp>
      <p:sp>
        <p:nvSpPr>
          <p:cNvPr id="206" name="Google Shape;206;p42"/>
          <p:cNvSpPr/>
          <p:nvPr/>
        </p:nvSpPr>
        <p:spPr>
          <a:xfrm>
            <a:off x="5110750" y="4196369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Accuracy</a:t>
            </a:r>
            <a:endParaRPr/>
          </a:p>
        </p:txBody>
      </p:sp>
      <p:cxnSp>
        <p:nvCxnSpPr>
          <p:cNvPr id="207" name="Google Shape;207;p42"/>
          <p:cNvCxnSpPr>
            <a:stCxn id="206" idx="0"/>
            <a:endCxn id="191" idx="2"/>
          </p:cNvCxnSpPr>
          <p:nvPr/>
        </p:nvCxnSpPr>
        <p:spPr>
          <a:xfrm flipH="1" rot="10800000">
            <a:off x="5839450" y="3421769"/>
            <a:ext cx="279900" cy="7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08" name="Google Shape;208;p42"/>
          <p:cNvSpPr txBox="1"/>
          <p:nvPr/>
        </p:nvSpPr>
        <p:spPr>
          <a:xfrm>
            <a:off x="5013450" y="3621650"/>
            <a:ext cx="14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accuracy low</a:t>
            </a:r>
            <a:endParaRPr/>
          </a:p>
        </p:txBody>
      </p:sp>
      <p:sp>
        <p:nvSpPr>
          <p:cNvPr id="196" name="Google Shape;196;p42"/>
          <p:cNvSpPr/>
          <p:nvPr/>
        </p:nvSpPr>
        <p:spPr>
          <a:xfrm>
            <a:off x="7155000" y="2589644"/>
            <a:ext cx="1457400" cy="8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Train a classifier</a:t>
            </a:r>
            <a:endParaRPr/>
          </a:p>
        </p:txBody>
      </p:sp>
      <p:cxnSp>
        <p:nvCxnSpPr>
          <p:cNvPr id="209" name="Google Shape;209;p42"/>
          <p:cNvCxnSpPr>
            <a:endCxn id="210" idx="3"/>
          </p:cNvCxnSpPr>
          <p:nvPr/>
        </p:nvCxnSpPr>
        <p:spPr>
          <a:xfrm rot="10800000">
            <a:off x="2590800" y="4607766"/>
            <a:ext cx="6015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42"/>
          <p:cNvSpPr/>
          <p:nvPr/>
        </p:nvSpPr>
        <p:spPr>
          <a:xfrm>
            <a:off x="1133400" y="4191666"/>
            <a:ext cx="1457400" cy="83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the model in a system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Selecting a Dataset</a:t>
            </a:r>
            <a:endParaRPr/>
          </a:p>
        </p:txBody>
      </p:sp>
      <p:sp>
        <p:nvSpPr>
          <p:cNvPr id="216" name="Google Shape;216;p43"/>
          <p:cNvSpPr txBox="1"/>
          <p:nvPr>
            <p:ph idx="1" type="body"/>
          </p:nvPr>
        </p:nvSpPr>
        <p:spPr>
          <a:xfrm>
            <a:off x="311700" y="1152475"/>
            <a:ext cx="389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AI Lab has a lot of different datasets to choose from that have already been preloaded into the tool.</a:t>
            </a:r>
            <a:r>
              <a:rPr lang="en">
                <a:solidFill>
                  <a:srgbClr val="FF0000"/>
                </a:solidFill>
              </a:rPr>
              <a:t> For our practice activity, select the Jeans </a:t>
            </a:r>
            <a:r>
              <a:rPr lang="en">
                <a:solidFill>
                  <a:srgbClr val="FF0000"/>
                </a:solidFill>
              </a:rPr>
              <a:t>Measurements</a:t>
            </a:r>
            <a:r>
              <a:rPr lang="en">
                <a:solidFill>
                  <a:srgbClr val="FF0000"/>
                </a:solidFill>
              </a:rPr>
              <a:t> dataset.</a:t>
            </a:r>
            <a:endParaRPr i="1">
              <a:solidFill>
                <a:srgbClr val="FF0000"/>
              </a:solidFill>
            </a:endParaRPr>
          </a:p>
        </p:txBody>
      </p:sp>
      <p:pic>
        <p:nvPicPr>
          <p:cNvPr id="217" name="Google Shape;21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475" y="248872"/>
            <a:ext cx="4633500" cy="209619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3"/>
          <p:cNvSpPr/>
          <p:nvPr/>
        </p:nvSpPr>
        <p:spPr>
          <a:xfrm>
            <a:off x="4311675" y="1241200"/>
            <a:ext cx="1664100" cy="1164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8075" y="2482850"/>
            <a:ext cx="3051807" cy="243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43"/>
          <p:cNvCxnSpPr>
            <a:endCxn id="219" idx="1"/>
          </p:cNvCxnSpPr>
          <p:nvPr/>
        </p:nvCxnSpPr>
        <p:spPr>
          <a:xfrm>
            <a:off x="4220875" y="2859750"/>
            <a:ext cx="727200" cy="8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a Question</a:t>
            </a:r>
            <a:endParaRPr/>
          </a:p>
        </p:txBody>
      </p:sp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311700" y="1152475"/>
            <a:ext cx="8520600" cy="10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After we identify our dataset, we need to review its features to figure out what questions we can answer with it. </a:t>
            </a:r>
            <a:endParaRPr/>
          </a:p>
        </p:txBody>
      </p:sp>
      <p:pic>
        <p:nvPicPr>
          <p:cNvPr id="228" name="Google Shape;228;p44"/>
          <p:cNvPicPr preferRelativeResize="0"/>
          <p:nvPr/>
        </p:nvPicPr>
        <p:blipFill rotWithShape="1">
          <a:blip r:embed="rId3">
            <a:alphaModFix/>
          </a:blip>
          <a:srcRect b="0" l="0" r="0" t="14302"/>
          <a:stretch/>
        </p:blipFill>
        <p:spPr>
          <a:xfrm>
            <a:off x="76200" y="2073300"/>
            <a:ext cx="9144001" cy="28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4"/>
          <p:cNvSpPr txBox="1"/>
          <p:nvPr/>
        </p:nvSpPr>
        <p:spPr>
          <a:xfrm>
            <a:off x="2964150" y="4781150"/>
            <a:ext cx="35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Jeans dataset from AI Lab.</a:t>
            </a:r>
            <a:endParaRPr i="1"/>
          </a:p>
        </p:txBody>
      </p:sp>
      <p:sp>
        <p:nvSpPr>
          <p:cNvPr id="230" name="Google Shape;23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features best predict the price of jeans?</a:t>
            </a:r>
            <a:endParaRPr/>
          </a:p>
        </p:txBody>
      </p:sp>
      <p:sp>
        <p:nvSpPr>
          <p:cNvPr id="236" name="Google Shape;236;p45"/>
          <p:cNvSpPr txBox="1"/>
          <p:nvPr/>
        </p:nvSpPr>
        <p:spPr>
          <a:xfrm>
            <a:off x="393525" y="1831200"/>
            <a:ext cx="534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Our </a:t>
            </a: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QUESTION:</a:t>
            </a:r>
            <a:endParaRPr sz="2400">
              <a:solidFill>
                <a:srgbClr val="0000FF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37" name="Google Shape;23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a feature we would like to predict</a:t>
            </a:r>
            <a:endParaRPr/>
          </a:p>
        </p:txBody>
      </p:sp>
      <p:pic>
        <p:nvPicPr>
          <p:cNvPr id="243" name="Google Shape;24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201" cy="1063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975" y="2234059"/>
            <a:ext cx="7694761" cy="275704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title"/>
          </p:nvPr>
        </p:nvSpPr>
        <p:spPr>
          <a:xfrm>
            <a:off x="2355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Label of the Feature we want to predict:</a:t>
            </a:r>
            <a:r>
              <a:rPr lang="en" sz="2400"/>
              <a:t> price in dollars</a:t>
            </a: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/>
          </a:p>
        </p:txBody>
      </p:sp>
      <p:pic>
        <p:nvPicPr>
          <p:cNvPr id="251" name="Google Shape;25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25" y="1395063"/>
            <a:ext cx="8832300" cy="22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>
            <p:ph type="title"/>
          </p:nvPr>
        </p:nvSpPr>
        <p:spPr>
          <a:xfrm>
            <a:off x="2355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Label of the Feature we want train our predictor model with:</a:t>
            </a:r>
            <a:r>
              <a:rPr lang="en" sz="2400"/>
              <a:t> </a:t>
            </a:r>
            <a:br>
              <a:rPr lang="en" sz="2400"/>
            </a:br>
            <a:r>
              <a:rPr lang="en" sz="2400"/>
              <a:t>Let’s try Brand, Style, Mens or Womens</a:t>
            </a: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/>
          </a:p>
        </p:txBody>
      </p:sp>
      <p:sp>
        <p:nvSpPr>
          <p:cNvPr id="258" name="Google Shape;25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5375"/>
            <a:ext cx="8839198" cy="262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Let’s train our model</a:t>
            </a:r>
            <a:endParaRPr/>
          </a:p>
        </p:txBody>
      </p:sp>
      <p:sp>
        <p:nvSpPr>
          <p:cNvPr id="265" name="Google Shape;26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" name="Google Shape;26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5375"/>
            <a:ext cx="8839198" cy="2625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49"/>
          <p:cNvCxnSpPr/>
          <p:nvPr/>
        </p:nvCxnSpPr>
        <p:spPr>
          <a:xfrm>
            <a:off x="1489575" y="814475"/>
            <a:ext cx="6847800" cy="307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our model trained?</a:t>
            </a:r>
            <a:endParaRPr/>
          </a:p>
        </p:txBody>
      </p:sp>
      <p:sp>
        <p:nvSpPr>
          <p:cNvPr id="274" name="Google Shape;274;p50"/>
          <p:cNvSpPr txBox="1"/>
          <p:nvPr>
            <p:ph idx="1" type="body"/>
          </p:nvPr>
        </p:nvSpPr>
        <p:spPr>
          <a:xfrm>
            <a:off x="311700" y="2176425"/>
            <a:ext cx="8520600" cy="28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2</a:t>
            </a:r>
            <a:r>
              <a:rPr lang="en"/>
              <a:t> - A ML algorithm is use to find patterns in the training data.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Patterns </a:t>
            </a:r>
            <a:r>
              <a:rPr lang="en"/>
              <a:t>are statistical relationships called </a:t>
            </a:r>
            <a:r>
              <a:rPr lang="en"/>
              <a:t>correlations between the value to be predicted and the features selected for the training.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Step 3 </a:t>
            </a:r>
            <a:r>
              <a:rPr lang="en"/>
              <a:t>- After the training is complete and the model is created, it needs to be tested for accuracy using the test set. </a:t>
            </a:r>
            <a:endParaRPr/>
          </a:p>
        </p:txBody>
      </p:sp>
      <p:sp>
        <p:nvSpPr>
          <p:cNvPr id="275" name="Google Shape;27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6" name="Google Shape;27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425" y="1129440"/>
            <a:ext cx="9143999" cy="859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3300" y="2140176"/>
            <a:ext cx="3506425" cy="155299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0"/>
          <p:cNvSpPr txBox="1"/>
          <p:nvPr>
            <p:ph idx="1" type="body"/>
          </p:nvPr>
        </p:nvSpPr>
        <p:spPr>
          <a:xfrm>
            <a:off x="294070" y="2100225"/>
            <a:ext cx="4588800" cy="28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 </a:t>
            </a:r>
            <a:r>
              <a:rPr lang="en"/>
              <a:t>- Our dataset is first split into two sets by AI lab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Training set (90% of our data)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Test set (10% of our data)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a random process so your results may vary based on what data was included in the training or the test 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the Model - Press Continue to skip this animation!</a:t>
            </a:r>
            <a:endParaRPr/>
          </a:p>
        </p:txBody>
      </p:sp>
      <p:sp>
        <p:nvSpPr>
          <p:cNvPr id="284" name="Google Shape;28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82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27550"/>
            <a:ext cx="9143999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the Accuracy of the Model</a:t>
            </a:r>
            <a:endParaRPr/>
          </a:p>
        </p:txBody>
      </p:sp>
      <p:sp>
        <p:nvSpPr>
          <p:cNvPr id="292" name="Google Shape;292;p52"/>
          <p:cNvSpPr txBox="1"/>
          <p:nvPr>
            <p:ph idx="1" type="body"/>
          </p:nvPr>
        </p:nvSpPr>
        <p:spPr>
          <a:xfrm>
            <a:off x="235500" y="468192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selection and test had an </a:t>
            </a:r>
            <a:r>
              <a:rPr lang="en"/>
              <a:t>accuracy of 75%</a:t>
            </a:r>
            <a:r>
              <a:rPr lang="en"/>
              <a:t>…Let’s see how well it did. </a:t>
            </a:r>
            <a:endParaRPr/>
          </a:p>
        </p:txBody>
      </p:sp>
      <p:sp>
        <p:nvSpPr>
          <p:cNvPr id="293" name="Google Shape;29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" name="Google Shape;2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3925"/>
            <a:ext cx="8839200" cy="82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92463"/>
            <a:ext cx="9143999" cy="2758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52"/>
          <p:cNvCxnSpPr/>
          <p:nvPr/>
        </p:nvCxnSpPr>
        <p:spPr>
          <a:xfrm flipH="1" rot="10800000">
            <a:off x="5113050" y="2626300"/>
            <a:ext cx="767700" cy="216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Correct Predictions</a:t>
            </a:r>
            <a:endParaRPr/>
          </a:p>
        </p:txBody>
      </p:sp>
      <p:sp>
        <p:nvSpPr>
          <p:cNvPr id="302" name="Google Shape;302;p53"/>
          <p:cNvSpPr txBox="1"/>
          <p:nvPr>
            <p:ph idx="1" type="body"/>
          </p:nvPr>
        </p:nvSpPr>
        <p:spPr>
          <a:xfrm>
            <a:off x="311700" y="4048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Notice that correct - doesn’t mean it has to exactly match. There is a range of +/- 5%. </a:t>
            </a:r>
            <a:endParaRPr/>
          </a:p>
        </p:txBody>
      </p:sp>
      <p:sp>
        <p:nvSpPr>
          <p:cNvPr id="303" name="Google Shape;30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0560"/>
            <a:ext cx="9143999" cy="3069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Incorrect Predictions</a:t>
            </a:r>
            <a:endParaRPr/>
          </a:p>
        </p:txBody>
      </p:sp>
      <p:sp>
        <p:nvSpPr>
          <p:cNvPr id="310" name="Google Shape;310;p54"/>
          <p:cNvSpPr txBox="1"/>
          <p:nvPr>
            <p:ph idx="1" type="body"/>
          </p:nvPr>
        </p:nvSpPr>
        <p:spPr>
          <a:xfrm>
            <a:off x="235500" y="4141675"/>
            <a:ext cx="85206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Wow! Look at very different these predictions are. They are off by way more that +/- 5%</a:t>
            </a:r>
            <a:endParaRPr/>
          </a:p>
        </p:txBody>
      </p:sp>
      <p:sp>
        <p:nvSpPr>
          <p:cNvPr id="311" name="Google Shape;31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2" name="Google Shape;3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0126"/>
            <a:ext cx="9143999" cy="3043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311700" y="798125"/>
            <a:ext cx="8520600" cy="354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Note</a:t>
            </a:r>
            <a:r>
              <a:rPr lang="en"/>
              <a:t> - Your results may be different than the slides, even though you picked the same features and data set.  </a:t>
            </a:r>
            <a:r>
              <a:rPr lang="en"/>
              <a:t>Remember</a:t>
            </a:r>
            <a:r>
              <a:rPr lang="en"/>
              <a:t>, the AI trains with 90% of the data, and </a:t>
            </a:r>
            <a:r>
              <a:rPr lang="en"/>
              <a:t>tests with the remaining 10%. Which numbers are included in each section can change the result.</a:t>
            </a:r>
            <a:endParaRPr/>
          </a:p>
        </p:txBody>
      </p:sp>
      <p:sp>
        <p:nvSpPr>
          <p:cNvPr id="318" name="Google Shape;31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you try!</a:t>
            </a:r>
            <a:endParaRPr/>
          </a:p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311700" y="1152475"/>
            <a:ext cx="8520600" cy="13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Try Again in the bottom left corner.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Keep the </a:t>
            </a:r>
            <a:r>
              <a:rPr lang="en"/>
              <a:t>prediction</a:t>
            </a:r>
            <a:r>
              <a:rPr lang="en"/>
              <a:t> set to the price of jeans, and </a:t>
            </a:r>
            <a:r>
              <a:rPr lang="en"/>
              <a:t>select</a:t>
            </a:r>
            <a:r>
              <a:rPr lang="en"/>
              <a:t> two or three features you think will </a:t>
            </a:r>
            <a:r>
              <a:rPr lang="en"/>
              <a:t>give the most accurate results.  Place your answers in the table below.</a:t>
            </a:r>
            <a:endParaRPr/>
          </a:p>
        </p:txBody>
      </p:sp>
      <p:sp>
        <p:nvSpPr>
          <p:cNvPr id="325" name="Google Shape;32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26" name="Google Shape;326;p56"/>
          <p:cNvGraphicFramePr/>
          <p:nvPr/>
        </p:nvGraphicFramePr>
        <p:xfrm>
          <a:off x="311700" y="248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{95561125-7DBD-4F2F-B6E2-11E3F8AF9996}</a:tableStyleId>
              </a:tblPr>
              <a:tblGrid>
                <a:gridCol w="1632150"/>
                <a:gridCol w="1632150"/>
                <a:gridCol w="1632150"/>
                <a:gridCol w="1632150"/>
                <a:gridCol w="16321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Feature for category 1</a:t>
                      </a:r>
                      <a:endParaRPr/>
                    </a:p>
                  </a:txBody>
                  <a:tcPr marT="91425" marB="91425" marR="91425" marL="91425">
                    <a:lnB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Category 2</a:t>
                      </a:r>
                      <a:endParaRPr/>
                    </a:p>
                  </a:txBody>
                  <a:tcPr marT="91425" marB="91425" marR="91425" marL="91425">
                    <a:lnB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Category 3</a:t>
                      </a:r>
                      <a:endParaRPr/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Percent Correct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Attempt 1</a:t>
                      </a:r>
                      <a:endParaRPr/>
                    </a:p>
                  </a:txBody>
                  <a:tcPr marT="91425" marB="91425" marR="91425" marL="91425">
                    <a:lnT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Brand</a:t>
                      </a:r>
                      <a:endParaRPr/>
                    </a:p>
                  </a:txBody>
                  <a:tcPr marT="91425" marB="91425" marR="91425" marL="91425">
                    <a:lnT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Attempt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Attempt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Attempt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Attempt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solution to the Jeans dataset </a:t>
            </a:r>
            <a:endParaRPr/>
          </a:p>
        </p:txBody>
      </p:sp>
      <p:sp>
        <p:nvSpPr>
          <p:cNvPr id="332" name="Google Shape;33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Try these features: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Brand, Cotton Contents, Mens or Womens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