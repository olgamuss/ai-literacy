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Arial Black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E0D8AA-4E51-4A2E-AE7D-CFA54799607E}">
  <a:tblStyle styleId="{3FE0D8AA-4E51-4A2E-AE7D-CFA5479960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0F0"/>
          </a:solidFill>
        </a:fill>
      </a:tcStyle>
    </a:wholeTbl>
    <a:band1H>
      <a:tcTxStyle b="off" i="off"/>
      <a:tcStyle>
        <a:fill>
          <a:solidFill>
            <a:srgbClr val="E0E0E0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0E0E0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ArialBlack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785" y="434338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682533c61_0_5:notes"/>
          <p:cNvSpPr txBox="1"/>
          <p:nvPr>
            <p:ph idx="1" type="body"/>
          </p:nvPr>
        </p:nvSpPr>
        <p:spPr>
          <a:xfrm>
            <a:off x="685785" y="434338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13682533c6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6.png"/><Relationship Id="rId11" Type="http://schemas.openxmlformats.org/officeDocument/2006/relationships/hyperlink" Target="https://docs.google.com/presentation/d/1woK2oNjtw__yhtqu_Ns0SJmvMgfJK_5uj-J-8A3ugO4/edit?usp=sharing" TargetMode="External"/><Relationship Id="rId10" Type="http://schemas.openxmlformats.org/officeDocument/2006/relationships/hyperlink" Target="https://docs.google.com/document/d/1itgDi-n_bpG7u_iH9PkRzU736Z01N3TniigGrYj7HUM/edit?usp=drive_link" TargetMode="External"/><Relationship Id="rId13" Type="http://schemas.openxmlformats.org/officeDocument/2006/relationships/hyperlink" Target="https://docs.google.com/presentation/d/1ARRNfJvAojQ2-uTwLnsm9ZXdej9sRBIODPlGfQT2fU0/edit?usp=sharing" TargetMode="External"/><Relationship Id="rId12" Type="http://schemas.openxmlformats.org/officeDocument/2006/relationships/hyperlink" Target="https://docs.google.com/presentation/d/1dWGm48hTJG7mt4oBBalcE3yRX1QU6AZs4okosifI0Ws/edit?usp=sharing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presentation/d/1bWISKjJ_XSeQeOm8U3Qs0OVYXecgZVn4QH3d6IIViOs/edit?usp=drive_link" TargetMode="External"/><Relationship Id="rId4" Type="http://schemas.openxmlformats.org/officeDocument/2006/relationships/hyperlink" Target="https://docs.google.com/document/d/1gxoV5-FGV274pGWumNrELKG8jm8F2XAszfWT5WRhfR0/edit?usp=drive_link" TargetMode="External"/><Relationship Id="rId9" Type="http://schemas.openxmlformats.org/officeDocument/2006/relationships/hyperlink" Target="https://docs.google.com/presentation/d/1vJ8aLbT4Qj9kxv7AWFTeaks0MGUriow9QbEz7WiymvM/edit?usp=sharing" TargetMode="External"/><Relationship Id="rId15" Type="http://schemas.openxmlformats.org/officeDocument/2006/relationships/image" Target="../media/image5.png"/><Relationship Id="rId14" Type="http://schemas.openxmlformats.org/officeDocument/2006/relationships/hyperlink" Target="https://docs.google.com/forms/d/e/1FAIpQLSfSAsSrzip5eXDhGZcT4YmBdQ0-j4ktrI05iF3kMPTSFeGB2A/viewform?usp=sf_link" TargetMode="External"/><Relationship Id="rId17" Type="http://schemas.openxmlformats.org/officeDocument/2006/relationships/image" Target="../media/image4.png"/><Relationship Id="rId16" Type="http://schemas.openxmlformats.org/officeDocument/2006/relationships/image" Target="../media/image3.jpg"/><Relationship Id="rId5" Type="http://schemas.openxmlformats.org/officeDocument/2006/relationships/hyperlink" Target="https://docs.google.com/presentation/d/1m0I9gS-wcrKqeODACzxyOW2Sa-gm1sCZ5GakGCSycKo/edit?usp=sharing" TargetMode="External"/><Relationship Id="rId19" Type="http://schemas.openxmlformats.org/officeDocument/2006/relationships/hyperlink" Target="https://creativecommons.org/licenses/by-nc-sa/4.0/" TargetMode="External"/><Relationship Id="rId6" Type="http://schemas.openxmlformats.org/officeDocument/2006/relationships/hyperlink" Target="https://docs.google.com/document/d/1YnBBRMYIx3LBvc_Ur_Clq1FD4nMstrA1_8-_Z9MP3Jg/edit?usp=drive_link" TargetMode="External"/><Relationship Id="rId18" Type="http://schemas.openxmlformats.org/officeDocument/2006/relationships/image" Target="../media/image2.png"/><Relationship Id="rId7" Type="http://schemas.openxmlformats.org/officeDocument/2006/relationships/hyperlink" Target="https://docs.google.com/drawings/d/1MRsX1GDV6-cBQwPuCNuOZfSPUQGpGFY_bXKf1BuyGnA/edit?usp=drive_link" TargetMode="External"/><Relationship Id="rId8" Type="http://schemas.openxmlformats.org/officeDocument/2006/relationships/hyperlink" Target="https://docs.google.com/presentation/d/1vJ8aLbT4Qj9kxv7AWFTeaks0MGUriow9QbEz7WiymvM/edit?usp=sharing" TargetMode="Externa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hyperlink" Target="https://docs.google.com/forms/d/e/1FAIpQLSfSAsSrzip5eXDhGZcT4YmBdQ0-j4ktrI05iF3kMPTSFeGB2A/viewform?usp=sf_link" TargetMode="External"/><Relationship Id="rId13" Type="http://schemas.openxmlformats.org/officeDocument/2006/relationships/image" Target="../media/image1.png"/><Relationship Id="rId1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VjDZCUsMKTYOmc0LedSQwjY11N7rj9fGRQpmBJWfVF4/edit?usp=sharing" TargetMode="External"/><Relationship Id="rId4" Type="http://schemas.openxmlformats.org/officeDocument/2006/relationships/hyperlink" Target="https://docs.google.com/presentation/d/1snicrjoqZt1dk_44-EwATxKTVuvm_ZMqfwci-qOkaj8/edit?usp=sharing" TargetMode="External"/><Relationship Id="rId9" Type="http://schemas.openxmlformats.org/officeDocument/2006/relationships/hyperlink" Target="https://docs.google.com/presentation/d/1yo6_HxQJa0C36uequM_spYBc_IlUFusNbbKFSPY9rmo/edit?usp=sharing" TargetMode="External"/><Relationship Id="rId5" Type="http://schemas.openxmlformats.org/officeDocument/2006/relationships/hyperlink" Target="https://docs.google.com/presentation/d/1snicrjoqZt1dk_44-EwATxKTVuvm_ZMqfwci-qOkaj8/edit?usp=sharing" TargetMode="External"/><Relationship Id="rId6" Type="http://schemas.openxmlformats.org/officeDocument/2006/relationships/hyperlink" Target="https://docs.google.com/presentation/d/1snicrjoqZt1dk_44-EwATxKTVuvm_ZMqfwci-qOkaj8/edit?usp=sharing" TargetMode="External"/><Relationship Id="rId7" Type="http://schemas.openxmlformats.org/officeDocument/2006/relationships/hyperlink" Target="https://docs.google.com/presentation/d/1rz3ccJH9jsgJZhMxetqO9p3c006Q0TZe_IFs-8ef8Uw/edit#slide=id.p" TargetMode="External"/><Relationship Id="rId8" Type="http://schemas.openxmlformats.org/officeDocument/2006/relationships/hyperlink" Target="https://docs.google.com/presentation/d/14U4cuGwtS1vx1O5y3E5y7M8cDoadjpBatzUk-LATdV4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EC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628650" y="50627"/>
            <a:ext cx="78867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 Black"/>
              <a:buNone/>
            </a:pPr>
            <a:r>
              <a:rPr b="1" lang="en" sz="1900">
                <a:solidFill>
                  <a:srgbClr val="A64D79"/>
                </a:solidFill>
                <a:latin typeface="Arial Black"/>
                <a:ea typeface="Arial Black"/>
                <a:cs typeface="Arial Black"/>
                <a:sym typeface="Arial Black"/>
              </a:rPr>
              <a:t>Artificial Intelligence for GA</a:t>
            </a:r>
            <a:br>
              <a:rPr b="0" i="0" lang="en" sz="1900" u="none" cap="none" strike="noStrike">
                <a:solidFill>
                  <a:srgbClr val="741B4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500">
                <a:solidFill>
                  <a:srgbClr val="741B47"/>
                </a:solidFill>
              </a:rPr>
              <a:t>Unit 3 Week 1</a:t>
            </a:r>
            <a:r>
              <a:rPr b="1" i="0" lang="en" sz="1500" u="none" cap="none" strike="noStrike">
                <a:solidFill>
                  <a:srgbClr val="741B47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1" i="1" lang="en" sz="1500">
                <a:solidFill>
                  <a:srgbClr val="741B47"/>
                </a:solidFill>
              </a:rPr>
              <a:t>Month date-date  year</a:t>
            </a:r>
            <a:endParaRPr b="1" i="1" sz="1500" u="none" cap="none" strike="noStrike">
              <a:solidFill>
                <a:srgbClr val="741B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p13"/>
          <p:cNvGraphicFramePr/>
          <p:nvPr/>
        </p:nvGraphicFramePr>
        <p:xfrm>
          <a:off x="749438" y="10901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{3FE0D8AA-4E51-4A2E-AE7D-CFA54799607E}</a:tableStyleId>
              </a:tblPr>
              <a:tblGrid>
                <a:gridCol w="2628900"/>
                <a:gridCol w="2628900"/>
                <a:gridCol w="2621225"/>
              </a:tblGrid>
              <a:tr h="348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400" u="none" cap="none" strike="noStrike">
                          <a:solidFill>
                            <a:srgbClr val="741B47"/>
                          </a:solidFill>
                        </a:rPr>
                        <a:t>Daily Assignments:</a:t>
                      </a:r>
                      <a:endParaRPr sz="14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Complete ALL the following 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assignments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 in order AND submit as instructed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rabicParenR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Name 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the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 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Reasoner 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298450" lvl="1" marL="914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lphaLcParenR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Using</a:t>
                      </a:r>
                      <a:r>
                        <a:rPr lang="en" sz="1100">
                          <a:solidFill>
                            <a:srgbClr val="A64D79"/>
                          </a:solidFill>
                        </a:rPr>
                        <a:t> </a:t>
                      </a:r>
                      <a:r>
                        <a:rPr lang="en" sz="1100" u="sng">
                          <a:solidFill>
                            <a:srgbClr val="A64D79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Module 3.1 slides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, Complete</a:t>
                      </a:r>
                      <a:r>
                        <a:rPr lang="en" sz="1100" u="sng">
                          <a:solidFill>
                            <a:srgbClr val="A64D79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Activity Sheet 3.1</a:t>
                      </a:r>
                      <a:r>
                        <a:rPr lang="en" sz="1100">
                          <a:solidFill>
                            <a:srgbClr val="A64D79"/>
                          </a:solidFill>
                        </a:rPr>
                        <a:t> 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and submit it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rabicParenR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 </a:t>
                      </a:r>
                      <a:r>
                        <a:rPr lang="en" sz="1100">
                          <a:solidFill>
                            <a:srgbClr val="741B4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Pasta Land!!!</a:t>
                      </a:r>
                      <a:endParaRPr sz="1100">
                        <a:solidFill>
                          <a:srgbClr val="741B4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984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lphaLcParenR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Complete</a:t>
                      </a:r>
                      <a:r>
                        <a:rPr lang="en" sz="1100">
                          <a:solidFill>
                            <a:srgbClr val="A64D79"/>
                          </a:solidFill>
                        </a:rPr>
                        <a:t> </a:t>
                      </a:r>
                      <a:r>
                        <a:rPr lang="en" sz="1100" u="sng">
                          <a:solidFill>
                            <a:srgbClr val="A64D79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Module 3.2 slides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 and submit it when done</a:t>
                      </a:r>
                      <a:endParaRPr sz="1100">
                        <a:solidFill>
                          <a:srgbClr val="741B4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984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Font typeface="Calibri"/>
                        <a:buAutoNum type="alphaLcParenR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Complete</a:t>
                      </a:r>
                      <a:r>
                        <a:rPr lang="en" sz="1100">
                          <a:solidFill>
                            <a:srgbClr val="A64D79"/>
                          </a:solidFill>
                        </a:rPr>
                        <a:t> </a:t>
                      </a:r>
                      <a:r>
                        <a:rPr lang="en" sz="1100" u="sng">
                          <a:solidFill>
                            <a:srgbClr val="A64D79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Activity Sheet 3.2 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and </a:t>
                      </a:r>
                      <a:r>
                        <a:rPr lang="en" sz="1100" u="sng">
                          <a:solidFill>
                            <a:srgbClr val="A64D79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Pasta Feature Space Tree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.  Submit both items when complete.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rabicParenR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Complete Pasta Land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2984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lphaLcParenR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Complete assignments from Day 2</a:t>
                      </a:r>
                      <a:endParaRPr sz="900">
                        <a:solidFill>
                          <a:srgbClr val="741B47"/>
                        </a:solidFill>
                      </a:endParaRPr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rabicParenR" startAt="4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Fish Feature Space: Reef or Ocean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2984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lphaLcParenR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Using</a:t>
                      </a:r>
                      <a:r>
                        <a:rPr lang="en" sz="1100">
                          <a:solidFill>
                            <a:srgbClr val="A64D79"/>
                          </a:solidFill>
                        </a:rPr>
                        <a:t> </a:t>
                      </a:r>
                      <a:r>
                        <a:rPr lang="en" sz="1100" u="sng">
                          <a:solidFill>
                            <a:srgbClr val="A64D79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Module 3.3 slides</a:t>
                      </a:r>
                      <a:r>
                        <a:rPr lang="en" sz="1100" u="sng">
                          <a:solidFill>
                            <a:srgbClr val="741B47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,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 complete</a:t>
                      </a:r>
                      <a:r>
                        <a:rPr lang="en" sz="1100">
                          <a:solidFill>
                            <a:srgbClr val="A64D79"/>
                          </a:solidFill>
                        </a:rPr>
                        <a:t> </a:t>
                      </a:r>
                      <a:r>
                        <a:rPr lang="en" sz="1100" u="sng">
                          <a:solidFill>
                            <a:srgbClr val="A64D79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Activity Sheet 3.3a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 and submit it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rabicParenR" startAt="4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Fish Feature Space: Safe or Poisonous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2984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lphaLcParenR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Complete Module 3.3b </a:t>
                      </a:r>
                      <a:r>
                        <a:rPr lang="en" sz="1100" u="sng">
                          <a:solidFill>
                            <a:srgbClr val="A64D79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activity</a:t>
                      </a:r>
                      <a:r>
                        <a:rPr lang="en">
                          <a:solidFill>
                            <a:srgbClr val="741B47"/>
                          </a:solidFill>
                        </a:rPr>
                        <a:t> 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114300" lvl="0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741B47"/>
                        </a:solidFill>
                      </a:endParaRPr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BE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741B47"/>
                          </a:solidFill>
                        </a:rPr>
                        <a:t>Accelerated Assignment:</a:t>
                      </a:r>
                      <a:endParaRPr sz="12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sng">
                          <a:solidFill>
                            <a:srgbClr val="A64D79"/>
                          </a:solidFill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Build your own classifier with Teachable Machine</a:t>
                      </a:r>
                      <a:endParaRPr sz="1100">
                        <a:solidFill>
                          <a:srgbClr val="A64D79"/>
                        </a:solidFill>
                      </a:endParaRPr>
                    </a:p>
                    <a:p>
                      <a:pPr indent="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sng">
                          <a:solidFill>
                            <a:srgbClr val="A64D79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Ai for Oceans Training Activity</a:t>
                      </a:r>
                      <a:endParaRPr sz="1100">
                        <a:solidFill>
                          <a:srgbClr val="A64D79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741B47"/>
                          </a:solidFill>
                        </a:rPr>
                        <a:t>Additional Resources:</a:t>
                      </a:r>
                      <a:endParaRPr sz="11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741B47"/>
                        </a:solidFill>
                      </a:endParaRPr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13"/>
          <p:cNvSpPr txBox="1"/>
          <p:nvPr/>
        </p:nvSpPr>
        <p:spPr>
          <a:xfrm>
            <a:off x="812042" y="657523"/>
            <a:ext cx="7886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Standard</a:t>
            </a:r>
            <a:r>
              <a:rPr b="0" i="0" lang="en" sz="700" u="none" cap="none" strike="noStrike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:   MS-CS-FCP-1:  Demonstrate employability skills required by business and industry and explore, research, and present careers in information technology.  (DOK I, II, &amp; III)</a:t>
            </a:r>
            <a:endParaRPr b="0" i="0" sz="700" u="none" cap="none" strike="noStrike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 EQ/LG</a:t>
            </a:r>
            <a:r>
              <a:rPr b="0" i="0" lang="en" sz="700" u="none" cap="none" strike="noStrike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:  </a:t>
            </a:r>
            <a:r>
              <a:rPr lang="en" sz="700">
                <a:solidFill>
                  <a:srgbClr val="741B47"/>
                </a:solidFill>
              </a:rPr>
              <a:t>What are </a:t>
            </a:r>
            <a:r>
              <a:rPr lang="en" sz="700">
                <a:solidFill>
                  <a:srgbClr val="741B47"/>
                </a:solidFill>
              </a:rPr>
              <a:t>feature spaces and decision trees?  How do they impact the ability of AI to make decisions?</a:t>
            </a:r>
            <a:endParaRPr b="0" i="0" sz="700" u="none" cap="none" strike="noStrike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3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700" y="53425"/>
            <a:ext cx="692738" cy="81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244473" y="162450"/>
            <a:ext cx="820500" cy="816900"/>
          </a:xfrm>
          <a:prstGeom prst="ellipse">
            <a:avLst/>
          </a:prstGeom>
          <a:noFill/>
          <a:ln cap="rnd" cmpd="sng" w="635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236844" y="2816850"/>
            <a:ext cx="2148680" cy="16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064075" y="3225925"/>
            <a:ext cx="1249775" cy="10986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1627350" y="4577163"/>
            <a:ext cx="688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</a:rPr>
              <a:t>Developed for the AI4GA (Artificial Intelligence for Georgia) project funded by National Science Foundation awards DRL-2049029 and DRL-2048502.</a:t>
            </a:r>
            <a:endParaRPr sz="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</a:rPr>
              <a:t>This work is licensed under the Creative Commons. Attribution-NonCommercial-ShareAlike 4.0 International License. </a:t>
            </a:r>
            <a:r>
              <a:rPr b="1" lang="en" sz="800" u="sng">
                <a:solidFill>
                  <a:srgbClr val="0097A7"/>
                </a:solidFill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sz="1300"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77575" y="4635600"/>
            <a:ext cx="1249783" cy="43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ECF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628650" y="155602"/>
            <a:ext cx="78867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 Black"/>
              <a:buNone/>
            </a:pPr>
            <a:r>
              <a:rPr b="1" lang="en" sz="1900">
                <a:solidFill>
                  <a:srgbClr val="A64D79"/>
                </a:solidFill>
                <a:latin typeface="Arial Black"/>
                <a:ea typeface="Arial Black"/>
                <a:cs typeface="Arial Black"/>
                <a:sym typeface="Arial Black"/>
              </a:rPr>
              <a:t>Artificial Intelligence for GA</a:t>
            </a:r>
            <a:br>
              <a:rPr b="0" i="0" lang="en" sz="1900" u="none" cap="none" strike="noStrike">
                <a:solidFill>
                  <a:srgbClr val="A64D7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500">
                <a:solidFill>
                  <a:srgbClr val="741B47"/>
                </a:solidFill>
              </a:rPr>
              <a:t>Unit 3 Week 2</a:t>
            </a:r>
            <a:r>
              <a:rPr b="1" i="0" lang="en" sz="1500" u="none" cap="none" strike="noStrike">
                <a:solidFill>
                  <a:srgbClr val="741B47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1" i="1" lang="en" sz="1500">
                <a:solidFill>
                  <a:srgbClr val="741B47"/>
                </a:solidFill>
              </a:rPr>
              <a:t>Month date-date  year</a:t>
            </a:r>
            <a:endParaRPr b="1" i="1" sz="1500" u="none" cap="none" strike="noStrike">
              <a:solidFill>
                <a:srgbClr val="741B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p14"/>
          <p:cNvGraphicFramePr/>
          <p:nvPr/>
        </p:nvGraphicFramePr>
        <p:xfrm>
          <a:off x="749426" y="14062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{3FE0D8AA-4E51-4A2E-AE7D-CFA54799607E}</a:tableStyleId>
              </a:tblPr>
              <a:tblGrid>
                <a:gridCol w="2628900"/>
                <a:gridCol w="2628900"/>
                <a:gridCol w="2621225"/>
              </a:tblGrid>
              <a:tr h="329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400" u="none" cap="none" strike="noStrike">
                          <a:solidFill>
                            <a:srgbClr val="741B47"/>
                          </a:solidFill>
                        </a:rPr>
                        <a:t>Daily Assignments:</a:t>
                      </a:r>
                      <a:endParaRPr sz="14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741B47"/>
                          </a:solidFill>
                        </a:rPr>
                        <a:t>C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omplete ALL the following assignments in order AND submit as instructed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rabicParenR"/>
                      </a:pP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Complete these slides </a:t>
                      </a:r>
                      <a:r>
                        <a:rPr lang="en" sz="1100" u="sng">
                          <a:solidFill>
                            <a:srgbClr val="A64D79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for Module 3.4</a:t>
                      </a:r>
                      <a:r>
                        <a:rPr lang="en" sz="1100">
                          <a:solidFill>
                            <a:srgbClr val="A64D79"/>
                          </a:solidFill>
                        </a:rPr>
                        <a:t>.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 Turn in 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these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 slides when you are done.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4D79"/>
                        </a:buClr>
                        <a:buSzPts val="1100"/>
                        <a:buAutoNum type="arabicParenR"/>
                      </a:pPr>
                      <a:r>
                        <a:rPr lang="en" sz="1100" u="sng">
                          <a:solidFill>
                            <a:srgbClr val="A64D79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Complete the 3.5 Slides</a:t>
                      </a:r>
                      <a:endParaRPr sz="1100">
                        <a:solidFill>
                          <a:srgbClr val="A64D79"/>
                        </a:solidFill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4D79"/>
                        </a:buClr>
                        <a:buSzPts val="1100"/>
                        <a:buAutoNum type="arabicParenR"/>
                      </a:pPr>
                      <a:r>
                        <a:rPr lang="en" sz="1100" u="sng">
                          <a:solidFill>
                            <a:srgbClr val="A64D79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Module 3.6 slides</a:t>
                      </a:r>
                      <a:endParaRPr sz="1100">
                        <a:solidFill>
                          <a:srgbClr val="A64D79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4D79"/>
                        </a:buClr>
                        <a:buSzPts val="1100"/>
                        <a:buAutoNum type="arabicParenR"/>
                      </a:pPr>
                      <a:r>
                        <a:rPr lang="en" sz="1100" u="sng">
                          <a:solidFill>
                            <a:srgbClr val="A64D79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Complete Module 3.7 - case studies</a:t>
                      </a:r>
                      <a:endParaRPr sz="1100">
                        <a:solidFill>
                          <a:srgbClr val="A64D79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rgbClr val="741B47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741B47"/>
                        </a:solidFill>
                      </a:endParaRPr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41B47"/>
                        </a:buClr>
                        <a:buSzPts val="1100"/>
                        <a:buAutoNum type="arabicParenR" startAt="4"/>
                      </a:pPr>
                      <a:r>
                        <a:rPr lang="en" sz="1100" u="sng">
                          <a:solidFill>
                            <a:srgbClr val="A64D79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Work on your  Mini Project</a:t>
                      </a:r>
                      <a:r>
                        <a:rPr lang="en" sz="1100">
                          <a:solidFill>
                            <a:srgbClr val="741B47"/>
                          </a:solidFill>
                        </a:rPr>
                        <a:t> and submit it when it is complete</a:t>
                      </a:r>
                      <a:endParaRPr sz="1100">
                        <a:solidFill>
                          <a:srgbClr val="741B47"/>
                        </a:solidFill>
                      </a:endParaRPr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BE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741B47"/>
                          </a:solidFill>
                        </a:rPr>
                        <a:t>Accelerated Assignment:</a:t>
                      </a:r>
                      <a:endParaRPr sz="11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741B47"/>
                        </a:solidFill>
                      </a:endParaRPr>
                    </a:p>
                    <a:p>
                      <a:pPr indent="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sng">
                          <a:solidFill>
                            <a:srgbClr val="A64D79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Machine Learning For Kids: Disease Prediction and Titanic Survivors</a:t>
                      </a:r>
                      <a:endParaRPr u="none" cap="none" strike="noStrike">
                        <a:solidFill>
                          <a:srgbClr val="A64D79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741B47"/>
                        </a:solidFill>
                      </a:endParaRPr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14"/>
          <p:cNvSpPr txBox="1"/>
          <p:nvPr/>
        </p:nvSpPr>
        <p:spPr>
          <a:xfrm>
            <a:off x="812042" y="835073"/>
            <a:ext cx="7886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Standard</a:t>
            </a:r>
            <a:r>
              <a:rPr b="0" i="0" lang="en" sz="700" u="none" cap="none" strike="noStrike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:   MS-CS-FCP-1:  Demonstrate employability skills required by business and industry and explore, research, and present careers in information technology.  (DOK I, II, &amp; III)</a:t>
            </a:r>
            <a:endParaRPr b="0" i="0" sz="700" u="none" cap="none" strike="noStrike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 EQ/LG</a:t>
            </a:r>
            <a:r>
              <a:rPr b="0" i="0" lang="en" sz="700" u="none" cap="none" strike="noStrike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:  </a:t>
            </a:r>
            <a:r>
              <a:rPr lang="en" sz="700">
                <a:solidFill>
                  <a:srgbClr val="741B47"/>
                </a:solidFill>
              </a:rPr>
              <a:t>What are feature spaces and decision trees?  How do they impact the ability of AI to make decisions?</a:t>
            </a:r>
            <a:endParaRPr b="0" i="0" sz="700" u="none" cap="none" strike="noStrike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4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700" y="53425"/>
            <a:ext cx="692738" cy="81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36023" y="208000"/>
            <a:ext cx="820500" cy="816900"/>
          </a:xfrm>
          <a:prstGeom prst="ellipse">
            <a:avLst/>
          </a:prstGeom>
          <a:noFill/>
          <a:ln cap="rnd" cmpd="sng" w="635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" name="Google Shape;102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47874" y="2048575"/>
            <a:ext cx="2215050" cy="16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