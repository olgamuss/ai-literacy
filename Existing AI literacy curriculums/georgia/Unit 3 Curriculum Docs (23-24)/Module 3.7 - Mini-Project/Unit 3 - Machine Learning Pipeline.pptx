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5143500" cx="9144000"/>
  <p:notesSz cx="6858000" cy="9144000"/>
  <p:embeddedFontLst>
    <p:embeddedFont>
      <p:font typeface="Roboto"/>
      <p:regular r:id="rId27"/>
      <p:bold r:id="rId28"/>
      <p:italic r:id="rId29"/>
      <p:boldItalic r:id="rId30"/>
    </p:embeddedFont>
    <p:embeddedFont>
      <p:font typeface="Permanent Marker"/>
      <p:regular r:id="rId31"/>
    </p:embeddedFont>
    <p:embeddedFont>
      <p:font typeface="Helvetica Neue"/>
      <p:regular r:id="rId32"/>
      <p:bold r:id="rId33"/>
      <p:italic r:id="rId34"/>
      <p:boldItalic r:id="rId35"/>
    </p:embeddedFont>
    <p:embeddedFont>
      <p:font typeface="Merriweather"/>
      <p:regular r:id="rId36"/>
      <p:bold r:id="rId37"/>
      <p:italic r:id="rId38"/>
      <p:boldItalic r:id="rId39"/>
    </p:embeddedFont>
    <p:embeddedFont>
      <p:font typeface="Alfa Slab One"/>
      <p:regular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AlfaSlabOne-regular.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Roboto-bold.fntdata"/><Relationship Id="rId27" Type="http://schemas.openxmlformats.org/officeDocument/2006/relationships/font" Target="fonts/Roboto-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PermanentMarker-regular.fntdata"/><Relationship Id="rId30" Type="http://schemas.openxmlformats.org/officeDocument/2006/relationships/font" Target="fonts/Roboto-boldItalic.fntdata"/><Relationship Id="rId11" Type="http://schemas.openxmlformats.org/officeDocument/2006/relationships/slide" Target="slides/slide6.xml"/><Relationship Id="rId33" Type="http://schemas.openxmlformats.org/officeDocument/2006/relationships/font" Target="fonts/HelveticaNeue-bold.fntdata"/><Relationship Id="rId10" Type="http://schemas.openxmlformats.org/officeDocument/2006/relationships/slide" Target="slides/slide5.xml"/><Relationship Id="rId32" Type="http://schemas.openxmlformats.org/officeDocument/2006/relationships/font" Target="fonts/HelveticaNeue-regular.fntdata"/><Relationship Id="rId13" Type="http://schemas.openxmlformats.org/officeDocument/2006/relationships/slide" Target="slides/slide8.xml"/><Relationship Id="rId35" Type="http://schemas.openxmlformats.org/officeDocument/2006/relationships/font" Target="fonts/HelveticaNeue-boldItalic.fntdata"/><Relationship Id="rId12" Type="http://schemas.openxmlformats.org/officeDocument/2006/relationships/slide" Target="slides/slide7.xml"/><Relationship Id="rId34" Type="http://schemas.openxmlformats.org/officeDocument/2006/relationships/font" Target="fonts/HelveticaNeue-italic.fntdata"/><Relationship Id="rId15" Type="http://schemas.openxmlformats.org/officeDocument/2006/relationships/slide" Target="slides/slide10.xml"/><Relationship Id="rId37" Type="http://schemas.openxmlformats.org/officeDocument/2006/relationships/font" Target="fonts/Merriweather-bold.fntdata"/><Relationship Id="rId14" Type="http://schemas.openxmlformats.org/officeDocument/2006/relationships/slide" Target="slides/slide9.xml"/><Relationship Id="rId36" Type="http://schemas.openxmlformats.org/officeDocument/2006/relationships/font" Target="fonts/Merriweather-regular.fntdata"/><Relationship Id="rId17" Type="http://schemas.openxmlformats.org/officeDocument/2006/relationships/slide" Target="slides/slide12.xml"/><Relationship Id="rId39" Type="http://schemas.openxmlformats.org/officeDocument/2006/relationships/font" Target="fonts/Merriweather-boldItalic.fntdata"/><Relationship Id="rId16" Type="http://schemas.openxmlformats.org/officeDocument/2006/relationships/slide" Target="slides/slide11.xml"/><Relationship Id="rId38" Type="http://schemas.openxmlformats.org/officeDocument/2006/relationships/font" Target="fonts/Merriweather-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evelopers.google.com/machine-learning/managing-ml-projects/pipelines#building_pipelines"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6944814448_1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6944814448_1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6944814448_1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36944814448_1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6944814448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6944814448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 Supervised Learning:</a:t>
            </a:r>
            <a:endParaRPr/>
          </a:p>
          <a:p>
            <a:pPr indent="0" lvl="0" marL="0" rtl="0" algn="l">
              <a:spcBef>
                <a:spcPts val="0"/>
              </a:spcBef>
              <a:spcAft>
                <a:spcPts val="0"/>
              </a:spcAft>
              <a:buNone/>
            </a:pPr>
            <a:r>
              <a:rPr lang="en"/>
              <a:t>In supervised learning, the algorithm is trained on a labeled dataset, meaning the input data is paired with the correct output or target. </a:t>
            </a:r>
            <a:endParaRPr/>
          </a:p>
          <a:p>
            <a:pPr indent="0" lvl="0" marL="0" rtl="0" algn="l">
              <a:spcBef>
                <a:spcPts val="0"/>
              </a:spcBef>
              <a:spcAft>
                <a:spcPts val="0"/>
              </a:spcAft>
              <a:buNone/>
            </a:pPr>
            <a:r>
              <a:rPr lang="en"/>
              <a:t>The goal is for the algorithm to learn the relationship between inputs and outputs so it can accurately predict the output for new, unseen data. </a:t>
            </a:r>
            <a:endParaRPr/>
          </a:p>
          <a:p>
            <a:pPr indent="0" lvl="0" marL="0" rtl="0" algn="l">
              <a:spcBef>
                <a:spcPts val="0"/>
              </a:spcBef>
              <a:spcAft>
                <a:spcPts val="0"/>
              </a:spcAft>
              <a:buNone/>
            </a:pPr>
            <a:r>
              <a:rPr lang="en"/>
              <a:t>Examples include:</a:t>
            </a:r>
            <a:endParaRPr/>
          </a:p>
          <a:p>
            <a:pPr indent="0" lvl="0" marL="0" rtl="0" algn="l">
              <a:spcBef>
                <a:spcPts val="0"/>
              </a:spcBef>
              <a:spcAft>
                <a:spcPts val="0"/>
              </a:spcAft>
              <a:buNone/>
            </a:pPr>
            <a:r>
              <a:rPr lang="en"/>
              <a:t>Classification: Categorizing data into predefined classes (e.g., spam or not spam). </a:t>
            </a:r>
            <a:endParaRPr/>
          </a:p>
          <a:p>
            <a:pPr indent="0" lvl="0" marL="0" rtl="0" algn="l">
              <a:spcBef>
                <a:spcPts val="0"/>
              </a:spcBef>
              <a:spcAft>
                <a:spcPts val="0"/>
              </a:spcAft>
              <a:buNone/>
            </a:pPr>
            <a:r>
              <a:rPr lang="en"/>
              <a:t>Regression: Predicting a continuous value (e.g., house prices).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2. Unsupervised Learning:</a:t>
            </a:r>
            <a:endParaRPr/>
          </a:p>
          <a:p>
            <a:pPr indent="0" lvl="0" marL="0" rtl="0" algn="l">
              <a:spcBef>
                <a:spcPts val="0"/>
              </a:spcBef>
              <a:spcAft>
                <a:spcPts val="0"/>
              </a:spcAft>
              <a:buNone/>
            </a:pPr>
            <a:r>
              <a:rPr lang="en"/>
              <a:t>Unsupervised learning algorithms work with unlabeled data, meaning they don't have predefined outputs to learn from. </a:t>
            </a:r>
            <a:endParaRPr/>
          </a:p>
          <a:p>
            <a:pPr indent="0" lvl="0" marL="0" rtl="0" algn="l">
              <a:spcBef>
                <a:spcPts val="0"/>
              </a:spcBef>
              <a:spcAft>
                <a:spcPts val="0"/>
              </a:spcAft>
              <a:buNone/>
            </a:pPr>
            <a:r>
              <a:rPr lang="en"/>
              <a:t>The focus is on discovering hidden patterns, structures, or relationships within the data. </a:t>
            </a:r>
            <a:endParaRPr/>
          </a:p>
          <a:p>
            <a:pPr indent="0" lvl="0" marL="0" rtl="0" algn="l">
              <a:spcBef>
                <a:spcPts val="0"/>
              </a:spcBef>
              <a:spcAft>
                <a:spcPts val="0"/>
              </a:spcAft>
              <a:buNone/>
            </a:pPr>
            <a:r>
              <a:rPr lang="en"/>
              <a:t>Examples include:</a:t>
            </a:r>
            <a:endParaRPr/>
          </a:p>
          <a:p>
            <a:pPr indent="0" lvl="0" marL="0" rtl="0" algn="l">
              <a:spcBef>
                <a:spcPts val="0"/>
              </a:spcBef>
              <a:spcAft>
                <a:spcPts val="0"/>
              </a:spcAft>
              <a:buNone/>
            </a:pPr>
            <a:r>
              <a:rPr lang="en"/>
              <a:t>Clustering: Grouping similar data points together (e.g., customer segmentation). </a:t>
            </a:r>
            <a:endParaRPr/>
          </a:p>
          <a:p>
            <a:pPr indent="0" lvl="0" marL="0" rtl="0" algn="l">
              <a:spcBef>
                <a:spcPts val="0"/>
              </a:spcBef>
              <a:spcAft>
                <a:spcPts val="0"/>
              </a:spcAft>
              <a:buNone/>
            </a:pPr>
            <a:r>
              <a:rPr lang="en"/>
              <a:t>Dimensionality reduction: Reducing the number of variables in the dataset while preserving important information.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3. Semi-Supervised Learning:</a:t>
            </a:r>
            <a:endParaRPr/>
          </a:p>
          <a:p>
            <a:pPr indent="0" lvl="0" marL="0" rtl="0" algn="l">
              <a:spcBef>
                <a:spcPts val="0"/>
              </a:spcBef>
              <a:spcAft>
                <a:spcPts val="0"/>
              </a:spcAft>
              <a:buNone/>
            </a:pPr>
            <a:r>
              <a:rPr lang="en"/>
              <a:t>This approach combines elements of both supervised and unsupervised learning. </a:t>
            </a:r>
            <a:endParaRPr/>
          </a:p>
          <a:p>
            <a:pPr indent="0" lvl="0" marL="0" rtl="0" algn="l">
              <a:spcBef>
                <a:spcPts val="0"/>
              </a:spcBef>
              <a:spcAft>
                <a:spcPts val="0"/>
              </a:spcAft>
              <a:buNone/>
            </a:pPr>
            <a:r>
              <a:rPr lang="en"/>
              <a:t>It uses a small amount of labeled data along with a larger amount of unlabeled data to train the model. </a:t>
            </a:r>
            <a:endParaRPr/>
          </a:p>
          <a:p>
            <a:pPr indent="0" lvl="0" marL="0" rtl="0" algn="l">
              <a:spcBef>
                <a:spcPts val="0"/>
              </a:spcBef>
              <a:spcAft>
                <a:spcPts val="0"/>
              </a:spcAft>
              <a:buNone/>
            </a:pPr>
            <a:r>
              <a:rPr lang="en"/>
              <a:t>Semi-supervised learning can be useful when labeled data is scarce or expensive to obtain.</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6944814448_1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6944814448_1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6944814448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6944814448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6944814448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6944814448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6944814448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6944814448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6944814448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6944814448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Delivering predictions</a:t>
            </a:r>
            <a:endParaRPr/>
          </a:p>
          <a:p>
            <a:pPr indent="0" lvl="0" marL="0" rtl="0" algn="l">
              <a:spcBef>
                <a:spcPts val="0"/>
              </a:spcBef>
              <a:spcAft>
                <a:spcPts val="0"/>
              </a:spcAft>
              <a:buNone/>
            </a:pPr>
            <a:r>
              <a:rPr lang="en"/>
              <a:t>The serving pipeline delivers predictions. It exposes your model to the real world, making it accessible to your users. For example, when a user wants a prediction—what the weather will be like tomorrow, or how many minutes it'll take to travel to the airport, or a list of recommended videos—the serving pipeline receives and processes the user's data, makes a prediction, and then delivers it to the user.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Updating the model</a:t>
            </a:r>
            <a:endParaRPr/>
          </a:p>
          <a:p>
            <a:pPr indent="0" lvl="0" marL="0" rtl="0" algn="l">
              <a:spcBef>
                <a:spcPts val="0"/>
              </a:spcBef>
              <a:spcAft>
                <a:spcPts val="0"/>
              </a:spcAft>
              <a:buNone/>
            </a:pPr>
            <a:r>
              <a:rPr lang="en"/>
              <a:t>Models tend to go stale almost immediately after they go into production. In essence, they're making predictions using old information. Their training datasets captured the state of the world a day ago, or in some cases, an hour ago. Inevitably the world has changed: a user has watched more videos and needs a new list of recommendations; rain has caused traffic to slow and users need updated estimates for their arrival times; a popular trend causes retailers to request updated inventory predictions for certain items.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Typically, teams train new models well before the production model goes stale. In some cases, teams train and deploy new models daily in a continuous training and deployment cycle. Ideally, training a new model should happen well before the production model goes stale.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6944814448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6944814448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6944814448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6944814448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Source: </a:t>
            </a:r>
            <a:r>
              <a:rPr lang="en" u="sng">
                <a:solidFill>
                  <a:schemeClr val="hlink"/>
                </a:solidFill>
                <a:hlinkClick r:id="rId2"/>
              </a:rPr>
              <a:t>https://developers.google.com/machine-learning/managing-ml-projects/pipelines#building_pipelines</a:t>
            </a:r>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6944814448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6944814448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After the model is trained, the validation pipeline uses test datasets to compare the production model's quality against the trained model.</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 general, if the trained model isn't meaningfully worse than the production model, the trained model goes into production. If the trained model is worse, the monitoring infrastructure should create an alert. Trained models with worse prediction quality could indicate potential issues with the data or validation pipelines. This approach works to ensure the best model, trained on the freshest data, is always in production.</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6944814448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6944814448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6944814448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6944814448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6944814448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6944814448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Delivering predictions</a:t>
            </a:r>
            <a:endParaRPr/>
          </a:p>
          <a:p>
            <a:pPr indent="0" lvl="0" marL="0" rtl="0" algn="l">
              <a:spcBef>
                <a:spcPts val="0"/>
              </a:spcBef>
              <a:spcAft>
                <a:spcPts val="0"/>
              </a:spcAft>
              <a:buNone/>
            </a:pPr>
            <a:r>
              <a:rPr lang="en"/>
              <a:t>The serving pipeline delivers predictions. It exposes your model to the real world, making it accessible to your users. For example, when a user wants a prediction—what the weather will be like tomorrow, or how many minutes it'll take to travel to the airport, or a list of recommended videos—the serving pipeline receives and processes the user's data, makes a prediction, and then delivers it to the user.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Updating the model</a:t>
            </a:r>
            <a:endParaRPr/>
          </a:p>
          <a:p>
            <a:pPr indent="0" lvl="0" marL="0" rtl="0" algn="l">
              <a:spcBef>
                <a:spcPts val="0"/>
              </a:spcBef>
              <a:spcAft>
                <a:spcPts val="0"/>
              </a:spcAft>
              <a:buNone/>
            </a:pPr>
            <a:r>
              <a:rPr lang="en"/>
              <a:t>Models tend to go stale almost immediately after they go into production. In essence, they're making predictions using old information. Their training datasets captured the state of the world a day ago, or in some cases, an hour ago. Inevitably the world has changed: a user has watched more videos and needs a new list of recommendations; rain has caused traffic to slow and users need updated estimates for their arrival times; a popular trend causes retailers to request updated inventory predictions for certain items.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Typically, teams train new models well before the production model goes stale. In some cases, teams train and deploy new models daily in a continuous training and deployment cycle. Ideally, training a new model should happen well before the production model goes stale.</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6944814448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6944814448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Online predictions. </a:t>
            </a:r>
            <a:r>
              <a:rPr lang="en"/>
              <a:t>Online predictions happen in real time, typically by sending a request to an online server and returning a prediction. For example, when a user wants a prediction, the user's data is sent to the model and the model returns the prediction.</a:t>
            </a:r>
            <a:endParaRPr/>
          </a:p>
          <a:p>
            <a:pPr indent="0" lvl="0" marL="0" rtl="0" algn="l">
              <a:spcBef>
                <a:spcPts val="0"/>
              </a:spcBef>
              <a:spcAft>
                <a:spcPts val="0"/>
              </a:spcAft>
              <a:buNone/>
            </a:pPr>
            <a:r>
              <a:t/>
            </a:r>
            <a:endParaRPr b="1"/>
          </a:p>
          <a:p>
            <a:pPr indent="0" lvl="0" marL="0" rtl="0" algn="l">
              <a:spcBef>
                <a:spcPts val="0"/>
              </a:spcBef>
              <a:spcAft>
                <a:spcPts val="0"/>
              </a:spcAft>
              <a:buNone/>
            </a:pPr>
            <a:r>
              <a:rPr b="1" lang="en"/>
              <a:t>Offline predictions.</a:t>
            </a:r>
            <a:r>
              <a:rPr lang="en"/>
              <a:t> Offline predictions are precomputed and cached. To serve a prediction, the app finds the cached prediction in the database and returns it. For example, a subscription-based service might predict the churn rate for its subscribers. The model predicts the likelihood of churning for every subscriber and caches it. When the app needs the prediction—for instance, to incentive users who might be about to churn—it just looks up the precomputed prediction.</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6944814448_1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6944814448_1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113c3fa64dc_0_3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113c3fa64dc_0_3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113c3fa64dc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113c3fa64dc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113c3fa64dc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113c3fa64dc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Teacher Note: This pipeline has a lot of similarities to the one we use for machine learning for kids. But it has several differences.</a:t>
            </a:r>
            <a:endParaRPr/>
          </a:p>
          <a:p>
            <a:pPr indent="-298450" lvl="0" marL="457200" rtl="0" algn="l">
              <a:spcBef>
                <a:spcPts val="0"/>
              </a:spcBef>
              <a:spcAft>
                <a:spcPts val="0"/>
              </a:spcAft>
              <a:buSzPts val="1100"/>
              <a:buAutoNum type="arabicPeriod"/>
            </a:pPr>
            <a:r>
              <a:rPr lang="en"/>
              <a:t>Step 1 - We don’t need to collect our own data because we have a datasets that others have already created for us. </a:t>
            </a:r>
            <a:r>
              <a:rPr lang="en">
                <a:solidFill>
                  <a:schemeClr val="dk1"/>
                </a:solidFill>
              </a:rPr>
              <a:t>When we look at this data set we can see that there are already a number of features identified in the columns and the rows of the table are filled with examples. </a:t>
            </a:r>
            <a:endParaRPr/>
          </a:p>
          <a:p>
            <a:pPr indent="-298450" lvl="0" marL="457200" rtl="0" algn="l">
              <a:spcBef>
                <a:spcPts val="0"/>
              </a:spcBef>
              <a:spcAft>
                <a:spcPts val="0"/>
              </a:spcAft>
              <a:buSzPts val="1100"/>
              <a:buAutoNum type="arabicPeriod"/>
            </a:pPr>
            <a:r>
              <a:rPr lang="en"/>
              <a:t>Step 2 -  So instead of defining features, we have to identify a question we want to answer with our data</a:t>
            </a:r>
            <a:endParaRPr/>
          </a:p>
          <a:p>
            <a:pPr indent="-298450" lvl="0" marL="457200" rtl="0" algn="l">
              <a:spcBef>
                <a:spcPts val="0"/>
              </a:spcBef>
              <a:spcAft>
                <a:spcPts val="0"/>
              </a:spcAft>
              <a:buSzPts val="1100"/>
              <a:buAutoNum type="arabicPeriod"/>
            </a:pPr>
            <a:r>
              <a:rPr lang="en"/>
              <a:t>Step 3- then we will select the feature we want to predict </a:t>
            </a:r>
            <a:endParaRPr/>
          </a:p>
          <a:p>
            <a:pPr indent="-298450" lvl="0" marL="457200" rtl="0" algn="l">
              <a:spcBef>
                <a:spcPts val="0"/>
              </a:spcBef>
              <a:spcAft>
                <a:spcPts val="0"/>
              </a:spcAft>
              <a:buSzPts val="1100"/>
              <a:buAutoNum type="arabicPeriod"/>
            </a:pPr>
            <a:r>
              <a:rPr lang="en"/>
              <a:t>Step 4 - then we will select the features we think will help us predict the feature we selected</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6944814448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36944814448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6944814448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36944814448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2800"/>
              <a:buNone/>
              <a:defRPr>
                <a:solidFill>
                  <a:schemeClr val="dk1"/>
                </a:solidFill>
              </a:defRPr>
            </a:lvl1pPr>
            <a:lvl2pPr lvl="1" rtl="0">
              <a:spcBef>
                <a:spcPts val="0"/>
              </a:spcBef>
              <a:spcAft>
                <a:spcPts val="0"/>
              </a:spcAft>
              <a:buClr>
                <a:srgbClr val="000000"/>
              </a:buClr>
              <a:buSzPts val="2800"/>
              <a:buNone/>
              <a:defRPr>
                <a:solidFill>
                  <a:srgbClr val="000000"/>
                </a:solidFill>
              </a:defRPr>
            </a:lvl2pPr>
            <a:lvl3pPr lvl="2" rtl="0">
              <a:spcBef>
                <a:spcPts val="0"/>
              </a:spcBef>
              <a:spcAft>
                <a:spcPts val="0"/>
              </a:spcAft>
              <a:buClr>
                <a:srgbClr val="000000"/>
              </a:buClr>
              <a:buSzPts val="2800"/>
              <a:buNone/>
              <a:defRPr>
                <a:solidFill>
                  <a:srgbClr val="000000"/>
                </a:solidFill>
              </a:defRPr>
            </a:lvl3pPr>
            <a:lvl4pPr lvl="3" rtl="0">
              <a:spcBef>
                <a:spcPts val="0"/>
              </a:spcBef>
              <a:spcAft>
                <a:spcPts val="0"/>
              </a:spcAft>
              <a:buClr>
                <a:srgbClr val="000000"/>
              </a:buClr>
              <a:buSzPts val="2800"/>
              <a:buNone/>
              <a:defRPr>
                <a:solidFill>
                  <a:srgbClr val="000000"/>
                </a:solidFill>
              </a:defRPr>
            </a:lvl4pPr>
            <a:lvl5pPr lvl="4" rtl="0">
              <a:spcBef>
                <a:spcPts val="0"/>
              </a:spcBef>
              <a:spcAft>
                <a:spcPts val="0"/>
              </a:spcAft>
              <a:buClr>
                <a:srgbClr val="000000"/>
              </a:buClr>
              <a:buSzPts val="2800"/>
              <a:buNone/>
              <a:defRPr>
                <a:solidFill>
                  <a:srgbClr val="000000"/>
                </a:solidFill>
              </a:defRPr>
            </a:lvl5pPr>
            <a:lvl6pPr lvl="5" rtl="0">
              <a:spcBef>
                <a:spcPts val="0"/>
              </a:spcBef>
              <a:spcAft>
                <a:spcPts val="0"/>
              </a:spcAft>
              <a:buClr>
                <a:srgbClr val="000000"/>
              </a:buClr>
              <a:buSzPts val="2800"/>
              <a:buNone/>
              <a:defRPr>
                <a:solidFill>
                  <a:srgbClr val="000000"/>
                </a:solidFill>
              </a:defRPr>
            </a:lvl6pPr>
            <a:lvl7pPr lvl="6" rtl="0">
              <a:spcBef>
                <a:spcPts val="0"/>
              </a:spcBef>
              <a:spcAft>
                <a:spcPts val="0"/>
              </a:spcAft>
              <a:buClr>
                <a:srgbClr val="000000"/>
              </a:buClr>
              <a:buSzPts val="2800"/>
              <a:buNone/>
              <a:defRPr>
                <a:solidFill>
                  <a:srgbClr val="000000"/>
                </a:solidFill>
              </a:defRPr>
            </a:lvl7pPr>
            <a:lvl8pPr lvl="7" rtl="0">
              <a:spcBef>
                <a:spcPts val="0"/>
              </a:spcBef>
              <a:spcAft>
                <a:spcPts val="0"/>
              </a:spcAft>
              <a:buClr>
                <a:srgbClr val="000000"/>
              </a:buClr>
              <a:buSzPts val="2800"/>
              <a:buNone/>
              <a:defRPr>
                <a:solidFill>
                  <a:srgbClr val="000000"/>
                </a:solidFill>
              </a:defRPr>
            </a:lvl8pPr>
            <a:lvl9pPr lvl="8" rtl="0">
              <a:spcBef>
                <a:spcPts val="0"/>
              </a:spcBef>
              <a:spcAft>
                <a:spcPts val="0"/>
              </a:spcAft>
              <a:buClr>
                <a:srgbClr val="000000"/>
              </a:buClr>
              <a:buSzPts val="2800"/>
              <a:buNone/>
              <a:defRPr>
                <a:solidFill>
                  <a:srgbClr val="000000"/>
                </a:solidFill>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rtl="0" algn="ctr">
              <a:spcBef>
                <a:spcPts val="0"/>
              </a:spcBef>
              <a:spcAft>
                <a:spcPts val="0"/>
              </a:spcAft>
              <a:buSzPts val="1800"/>
              <a:buChar char="●"/>
              <a:defRPr/>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SzPts val="2800"/>
              <a:buNone/>
              <a:defRPr sz="2800"/>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SzPts val="1800"/>
              <a:buChar char="●"/>
              <a:defRPr sz="1800"/>
            </a:lvl1pPr>
            <a:lvl2pPr indent="-317500" lvl="1" marL="914400" rtl="0">
              <a:lnSpc>
                <a:spcPct val="115000"/>
              </a:lnSpc>
              <a:spcBef>
                <a:spcPts val="0"/>
              </a:spcBef>
              <a:spcAft>
                <a:spcPts val="0"/>
              </a:spcAft>
              <a:buSzPts val="1400"/>
              <a:buChar char="○"/>
              <a:defRPr/>
            </a:lvl2pPr>
            <a:lvl3pPr indent="-317500" lvl="2" marL="1371600" rtl="0">
              <a:lnSpc>
                <a:spcPct val="115000"/>
              </a:lnSpc>
              <a:spcBef>
                <a:spcPts val="0"/>
              </a:spcBef>
              <a:spcAft>
                <a:spcPts val="0"/>
              </a:spcAft>
              <a:buSzPts val="1400"/>
              <a:buChar char="■"/>
              <a:defRPr/>
            </a:lvl3pPr>
            <a:lvl4pPr indent="-317500" lvl="3" marL="1828800" rtl="0">
              <a:lnSpc>
                <a:spcPct val="115000"/>
              </a:lnSpc>
              <a:spcBef>
                <a:spcPts val="0"/>
              </a:spcBef>
              <a:spcAft>
                <a:spcPts val="0"/>
              </a:spcAft>
              <a:buSzPts val="1400"/>
              <a:buChar char="●"/>
              <a:defRPr/>
            </a:lvl4pPr>
            <a:lvl5pPr indent="-317500" lvl="4" marL="2286000" rtl="0">
              <a:lnSpc>
                <a:spcPct val="115000"/>
              </a:lnSpc>
              <a:spcBef>
                <a:spcPts val="0"/>
              </a:spcBef>
              <a:spcAft>
                <a:spcPts val="0"/>
              </a:spcAft>
              <a:buSzPts val="1400"/>
              <a:buChar char="○"/>
              <a:defRPr/>
            </a:lvl5pPr>
            <a:lvl6pPr indent="-317500" lvl="5" marL="2743200" rtl="0">
              <a:lnSpc>
                <a:spcPct val="115000"/>
              </a:lnSpc>
              <a:spcBef>
                <a:spcPts val="0"/>
              </a:spcBef>
              <a:spcAft>
                <a:spcPts val="0"/>
              </a:spcAft>
              <a:buSzPts val="1400"/>
              <a:buChar char="■"/>
              <a:defRPr/>
            </a:lvl6pPr>
            <a:lvl7pPr indent="-317500" lvl="6" marL="3200400" rtl="0">
              <a:lnSpc>
                <a:spcPct val="115000"/>
              </a:lnSpc>
              <a:spcBef>
                <a:spcPts val="0"/>
              </a:spcBef>
              <a:spcAft>
                <a:spcPts val="0"/>
              </a:spcAft>
              <a:buSzPts val="1400"/>
              <a:buChar char="●"/>
              <a:defRPr/>
            </a:lvl7pPr>
            <a:lvl8pPr indent="-317500" lvl="7" marL="3657600" rtl="0">
              <a:lnSpc>
                <a:spcPct val="115000"/>
              </a:lnSpc>
              <a:spcBef>
                <a:spcPts val="0"/>
              </a:spcBef>
              <a:spcAft>
                <a:spcPts val="0"/>
              </a:spcAft>
              <a:buSzPts val="1400"/>
              <a:buChar char="○"/>
              <a:defRPr/>
            </a:lvl8pPr>
            <a:lvl9pPr indent="-317500" lvl="8" marL="4114800" rtl="0">
              <a:lnSpc>
                <a:spcPct val="115000"/>
              </a:lnSpc>
              <a:spcBef>
                <a:spcPts val="0"/>
              </a:spcBef>
              <a:spcAft>
                <a:spcPts val="0"/>
              </a:spcAft>
              <a:buSzPts val="1400"/>
              <a:buChar char="■"/>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hyperlink" Target="https://creativecommons.org/licenses/by-nc-sa/4.0/" TargetMode="External"/><Relationship Id="rId6"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www.youtube.com/watch?v=KHbwOetbmbs" TargetMode="External"/><Relationship Id="rId4" Type="http://schemas.openxmlformats.org/officeDocument/2006/relationships/image" Target="../media/image3.jpg"/><Relationship Id="rId5" Type="http://schemas.openxmlformats.org/officeDocument/2006/relationships/hyperlink" Target="https://youtu.be/KHbwOetbmbs?si=EVUd70gZ9U6i1FTD"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0.png"/><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6.png"/><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title"/>
          </p:nvPr>
        </p:nvSpPr>
        <p:spPr>
          <a:xfrm>
            <a:off x="1926400" y="904250"/>
            <a:ext cx="6712800" cy="12867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b="1" i="1" lang="en" sz="2800">
                <a:solidFill>
                  <a:srgbClr val="0097A7"/>
                </a:solidFill>
                <a:latin typeface="Merriweather"/>
                <a:ea typeface="Merriweather"/>
                <a:cs typeface="Merriweather"/>
                <a:sym typeface="Merriweather"/>
              </a:rPr>
              <a:t>Teacher PD </a:t>
            </a:r>
            <a:r>
              <a:rPr b="1" i="1" lang="en" sz="2800">
                <a:solidFill>
                  <a:srgbClr val="0097A7"/>
                </a:solidFill>
                <a:latin typeface="Merriweather"/>
                <a:ea typeface="Merriweather"/>
                <a:cs typeface="Merriweather"/>
                <a:sym typeface="Merriweather"/>
              </a:rPr>
              <a:t>Supplemental</a:t>
            </a:r>
            <a:r>
              <a:rPr b="1" i="1" lang="en" sz="2800">
                <a:solidFill>
                  <a:srgbClr val="0097A7"/>
                </a:solidFill>
                <a:latin typeface="Merriweather"/>
                <a:ea typeface="Merriweather"/>
                <a:cs typeface="Merriweather"/>
                <a:sym typeface="Merriweather"/>
              </a:rPr>
              <a:t> Resources:</a:t>
            </a:r>
            <a:r>
              <a:rPr i="1" lang="en" sz="2800">
                <a:solidFill>
                  <a:srgbClr val="0097A7"/>
                </a:solidFill>
                <a:latin typeface="Merriweather"/>
                <a:ea typeface="Merriweather"/>
                <a:cs typeface="Merriweather"/>
                <a:sym typeface="Merriweather"/>
              </a:rPr>
              <a:t> </a:t>
            </a:r>
            <a:r>
              <a:rPr lang="en" sz="2800">
                <a:solidFill>
                  <a:srgbClr val="595959"/>
                </a:solidFill>
                <a:latin typeface="Merriweather"/>
                <a:ea typeface="Merriweather"/>
                <a:cs typeface="Merriweather"/>
                <a:sym typeface="Merriweather"/>
              </a:rPr>
              <a:t>Machine Learning Pipeline </a:t>
            </a:r>
            <a:endParaRPr sz="2800">
              <a:solidFill>
                <a:srgbClr val="595959"/>
              </a:solidFill>
              <a:latin typeface="Merriweather"/>
              <a:ea typeface="Merriweather"/>
              <a:cs typeface="Merriweather"/>
              <a:sym typeface="Merriweather"/>
            </a:endParaRPr>
          </a:p>
          <a:p>
            <a:pPr indent="0" lvl="0" marL="0" rtl="0" algn="ctr">
              <a:spcBef>
                <a:spcPts val="0"/>
              </a:spcBef>
              <a:spcAft>
                <a:spcPts val="0"/>
              </a:spcAft>
              <a:buNone/>
            </a:pPr>
            <a:r>
              <a:rPr lang="en" sz="2800">
                <a:solidFill>
                  <a:srgbClr val="595959"/>
                </a:solidFill>
                <a:latin typeface="Merriweather"/>
                <a:ea typeface="Merriweather"/>
                <a:cs typeface="Merriweather"/>
                <a:sym typeface="Merriweather"/>
              </a:rPr>
              <a:t>Overview</a:t>
            </a:r>
            <a:endParaRPr/>
          </a:p>
        </p:txBody>
      </p:sp>
      <p:pic>
        <p:nvPicPr>
          <p:cNvPr id="55" name="Google Shape;55;p13"/>
          <p:cNvPicPr preferRelativeResize="0"/>
          <p:nvPr/>
        </p:nvPicPr>
        <p:blipFill>
          <a:blip r:embed="rId3">
            <a:alphaModFix/>
          </a:blip>
          <a:stretch>
            <a:fillRect/>
          </a:stretch>
        </p:blipFill>
        <p:spPr>
          <a:xfrm>
            <a:off x="24425" y="4552275"/>
            <a:ext cx="1375825" cy="481375"/>
          </a:xfrm>
          <a:prstGeom prst="rect">
            <a:avLst/>
          </a:prstGeom>
          <a:noFill/>
          <a:ln>
            <a:noFill/>
          </a:ln>
        </p:spPr>
      </p:pic>
      <p:pic>
        <p:nvPicPr>
          <p:cNvPr id="56" name="Google Shape;56;p13"/>
          <p:cNvPicPr preferRelativeResize="0"/>
          <p:nvPr/>
        </p:nvPicPr>
        <p:blipFill>
          <a:blip r:embed="rId4">
            <a:alphaModFix/>
          </a:blip>
          <a:stretch>
            <a:fillRect/>
          </a:stretch>
        </p:blipFill>
        <p:spPr>
          <a:xfrm>
            <a:off x="100625" y="237362"/>
            <a:ext cx="1979932" cy="2334375"/>
          </a:xfrm>
          <a:prstGeom prst="rect">
            <a:avLst/>
          </a:prstGeom>
          <a:noFill/>
          <a:ln>
            <a:noFill/>
          </a:ln>
        </p:spPr>
      </p:pic>
      <p:sp>
        <p:nvSpPr>
          <p:cNvPr id="57" name="Google Shape;57;p13"/>
          <p:cNvSpPr txBox="1"/>
          <p:nvPr/>
        </p:nvSpPr>
        <p:spPr>
          <a:xfrm>
            <a:off x="1558900" y="237350"/>
            <a:ext cx="7447800" cy="66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rgbClr val="F89D77"/>
                </a:solidFill>
                <a:latin typeface="Helvetica Neue"/>
                <a:ea typeface="Helvetica Neue"/>
                <a:cs typeface="Helvetica Neue"/>
                <a:sym typeface="Helvetica Neue"/>
              </a:rPr>
              <a:t>Living and Working with Artificial Intelligence</a:t>
            </a:r>
            <a:endParaRPr b="1" sz="2600">
              <a:solidFill>
                <a:srgbClr val="F89D77"/>
              </a:solidFill>
              <a:latin typeface="Helvetica Neue"/>
              <a:ea typeface="Helvetica Neue"/>
              <a:cs typeface="Helvetica Neue"/>
              <a:sym typeface="Helvetica Neue"/>
            </a:endParaRPr>
          </a:p>
        </p:txBody>
      </p:sp>
      <p:sp>
        <p:nvSpPr>
          <p:cNvPr id="58" name="Google Shape;58;p13"/>
          <p:cNvSpPr txBox="1"/>
          <p:nvPr/>
        </p:nvSpPr>
        <p:spPr>
          <a:xfrm>
            <a:off x="1377450" y="4491585"/>
            <a:ext cx="9053100" cy="55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t>Developed for the AI4GA (Artificial Intelligence for Georgia) project funded by National Science Foundation awards DRL-2049029 and DRL-2048502.</a:t>
            </a:r>
            <a:endParaRPr sz="900"/>
          </a:p>
          <a:p>
            <a:pPr indent="0" lvl="0" marL="0" rtl="0" algn="l">
              <a:spcBef>
                <a:spcPts val="0"/>
              </a:spcBef>
              <a:spcAft>
                <a:spcPts val="0"/>
              </a:spcAft>
              <a:buNone/>
            </a:pPr>
            <a:r>
              <a:rPr b="1" lang="en" sz="900"/>
              <a:t>This work is licensed under the Creative Commons. Attribution-NonCommercial-ShareAlike 4.0 International License. </a:t>
            </a:r>
            <a:r>
              <a:rPr b="1" lang="en" sz="900" u="sng">
                <a:solidFill>
                  <a:srgbClr val="0097A7"/>
                </a:solidFill>
                <a:hlinkClick r:id="rId5">
                  <a:extLst>
                    <a:ext uri="{A12FA001-AC4F-418D-AE19-62706E023703}">
                      <ahyp:hlinkClr val="tx"/>
                    </a:ext>
                  </a:extLst>
                </a:hlinkClick>
              </a:rPr>
              <a:t>https://creativecommons.org/licenses/by-nc-sa/4.0/</a:t>
            </a:r>
            <a:endParaRPr sz="900"/>
          </a:p>
          <a:p>
            <a:pPr indent="0" lvl="0" marL="0" rtl="0" algn="l">
              <a:spcBef>
                <a:spcPts val="0"/>
              </a:spcBef>
              <a:spcAft>
                <a:spcPts val="0"/>
              </a:spcAft>
              <a:buNone/>
            </a:pPr>
            <a:r>
              <a:t/>
            </a:r>
            <a:endParaRPr sz="900">
              <a:solidFill>
                <a:srgbClr val="000000"/>
              </a:solidFill>
            </a:endParaRPr>
          </a:p>
          <a:p>
            <a:pPr indent="0" lvl="0" marL="0" rtl="0" algn="l">
              <a:spcBef>
                <a:spcPts val="0"/>
              </a:spcBef>
              <a:spcAft>
                <a:spcPts val="0"/>
              </a:spcAft>
              <a:buNone/>
            </a:pPr>
            <a:r>
              <a:t/>
            </a:r>
            <a:endParaRPr/>
          </a:p>
        </p:txBody>
      </p:sp>
      <p:pic>
        <p:nvPicPr>
          <p:cNvPr id="59" name="Google Shape;59;p13"/>
          <p:cNvPicPr preferRelativeResize="0"/>
          <p:nvPr/>
        </p:nvPicPr>
        <p:blipFill>
          <a:blip r:embed="rId6">
            <a:alphaModFix/>
          </a:blip>
          <a:stretch>
            <a:fillRect/>
          </a:stretch>
        </p:blipFill>
        <p:spPr>
          <a:xfrm>
            <a:off x="2366725" y="2571738"/>
            <a:ext cx="5972175" cy="13430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3" name="Shape 63"/>
        <p:cNvGrpSpPr/>
        <p:nvPr/>
      </p:nvGrpSpPr>
      <p:grpSpPr>
        <a:xfrm>
          <a:off x="0" y="0"/>
          <a:ext cx="0" cy="0"/>
          <a:chOff x="0" y="0"/>
          <a:chExt cx="0" cy="0"/>
        </a:xfrm>
      </p:grpSpPr>
      <p:sp>
        <p:nvSpPr>
          <p:cNvPr id="64" name="Google Shape;64;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We’ve done several activities with ML today</a:t>
            </a:r>
            <a:endParaRPr/>
          </a:p>
          <a:p>
            <a:pPr indent="0" lvl="0" marL="0" rtl="0" algn="l">
              <a:spcBef>
                <a:spcPts val="0"/>
              </a:spcBef>
              <a:spcAft>
                <a:spcPts val="0"/>
              </a:spcAft>
              <a:buNone/>
            </a:pPr>
            <a:r>
              <a:rPr b="1" lang="en">
                <a:solidFill>
                  <a:srgbClr val="2A63D2"/>
                </a:solidFill>
              </a:rPr>
              <a:t>Name the Reasoner:</a:t>
            </a:r>
            <a:endParaRPr b="1">
              <a:solidFill>
                <a:srgbClr val="2A63D2"/>
              </a:solidFill>
            </a:endParaRPr>
          </a:p>
        </p:txBody>
      </p:sp>
      <p:sp>
        <p:nvSpPr>
          <p:cNvPr id="65" name="Google Shape;65;p14"/>
          <p:cNvSpPr txBox="1"/>
          <p:nvPr/>
        </p:nvSpPr>
        <p:spPr>
          <a:xfrm>
            <a:off x="311700" y="1588175"/>
            <a:ext cx="1751400" cy="73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t>Candyland</a:t>
            </a:r>
            <a:endParaRPr b="1" sz="1800"/>
          </a:p>
          <a:p>
            <a:pPr indent="0" lvl="0" marL="0" rtl="0" algn="l">
              <a:spcBef>
                <a:spcPts val="0"/>
              </a:spcBef>
              <a:spcAft>
                <a:spcPts val="0"/>
              </a:spcAft>
              <a:buNone/>
            </a:pPr>
            <a:r>
              <a:rPr lang="en" sz="1800"/>
              <a:t>Decision Trees</a:t>
            </a:r>
            <a:endParaRPr sz="1800"/>
          </a:p>
        </p:txBody>
      </p:sp>
      <p:sp>
        <p:nvSpPr>
          <p:cNvPr id="66" name="Google Shape;66;p14"/>
          <p:cNvSpPr txBox="1"/>
          <p:nvPr/>
        </p:nvSpPr>
        <p:spPr>
          <a:xfrm>
            <a:off x="2529700" y="1437125"/>
            <a:ext cx="1751400" cy="73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t>Teachable</a:t>
            </a:r>
            <a:r>
              <a:rPr b="1" lang="en" sz="1800"/>
              <a:t> Machines</a:t>
            </a:r>
            <a:endParaRPr b="1" sz="1800"/>
          </a:p>
        </p:txBody>
      </p:sp>
      <p:sp>
        <p:nvSpPr>
          <p:cNvPr id="67" name="Google Shape;67;p14"/>
          <p:cNvSpPr txBox="1"/>
          <p:nvPr/>
        </p:nvSpPr>
        <p:spPr>
          <a:xfrm>
            <a:off x="7122600" y="1444625"/>
            <a:ext cx="2021400" cy="102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t>Machine </a:t>
            </a:r>
            <a:r>
              <a:rPr b="1" lang="en" sz="1800"/>
              <a:t>Learning</a:t>
            </a:r>
            <a:r>
              <a:rPr b="1" lang="en" sz="1800"/>
              <a:t> for Kids </a:t>
            </a:r>
            <a:endParaRPr b="1" sz="1800"/>
          </a:p>
        </p:txBody>
      </p:sp>
      <p:sp>
        <p:nvSpPr>
          <p:cNvPr id="68" name="Google Shape;68;p14"/>
          <p:cNvSpPr txBox="1"/>
          <p:nvPr/>
        </p:nvSpPr>
        <p:spPr>
          <a:xfrm>
            <a:off x="4403150" y="1433532"/>
            <a:ext cx="2890800" cy="43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t>Fishy Feature Space</a:t>
            </a:r>
            <a:endParaRPr b="1" sz="1800"/>
          </a:p>
        </p:txBody>
      </p:sp>
      <p:pic>
        <p:nvPicPr>
          <p:cNvPr id="69" name="Google Shape;69;p14"/>
          <p:cNvPicPr preferRelativeResize="0"/>
          <p:nvPr/>
        </p:nvPicPr>
        <p:blipFill rotWithShape="1">
          <a:blip r:embed="rId3">
            <a:alphaModFix/>
          </a:blip>
          <a:srcRect b="26212" l="21770" r="14405" t="14804"/>
          <a:stretch/>
        </p:blipFill>
        <p:spPr>
          <a:xfrm>
            <a:off x="2357700" y="2174525"/>
            <a:ext cx="1848149" cy="30338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FF0000"/>
                </a:solidFill>
                <a:latin typeface="Permanent Marker"/>
                <a:ea typeface="Permanent Marker"/>
                <a:cs typeface="Permanent Marker"/>
                <a:sym typeface="Permanent Marker"/>
              </a:rPr>
              <a:t>Machine Learning (ML)</a:t>
            </a:r>
            <a:endParaRPr>
              <a:solidFill>
                <a:srgbClr val="FF0000"/>
              </a:solidFill>
              <a:latin typeface="Permanent Marker"/>
              <a:ea typeface="Permanent Marker"/>
              <a:cs typeface="Permanent Marker"/>
              <a:sym typeface="Permanent Marker"/>
            </a:endParaRPr>
          </a:p>
        </p:txBody>
      </p:sp>
      <p:sp>
        <p:nvSpPr>
          <p:cNvPr id="75" name="Google Shape;75;p15"/>
          <p:cNvSpPr txBox="1"/>
          <p:nvPr>
            <p:ph idx="1" type="body"/>
          </p:nvPr>
        </p:nvSpPr>
        <p:spPr>
          <a:xfrm>
            <a:off x="233175" y="925325"/>
            <a:ext cx="7581600" cy="10203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2500"/>
              <a:t>How computers recognize patterns and make decisions without being </a:t>
            </a:r>
            <a:r>
              <a:rPr lang="en" sz="2500"/>
              <a:t>explicitly</a:t>
            </a:r>
            <a:r>
              <a:rPr lang="en" sz="2500"/>
              <a:t> programmed.</a:t>
            </a:r>
            <a:endParaRPr sz="2500"/>
          </a:p>
        </p:txBody>
      </p:sp>
      <p:pic>
        <p:nvPicPr>
          <p:cNvPr id="76" name="Google Shape;76;p15"/>
          <p:cNvPicPr preferRelativeResize="0"/>
          <p:nvPr/>
        </p:nvPicPr>
        <p:blipFill>
          <a:blip r:embed="rId3">
            <a:alphaModFix/>
          </a:blip>
          <a:stretch>
            <a:fillRect/>
          </a:stretch>
        </p:blipFill>
        <p:spPr>
          <a:xfrm>
            <a:off x="7814775" y="185875"/>
            <a:ext cx="1493775" cy="1486300"/>
          </a:xfrm>
          <a:prstGeom prst="rect">
            <a:avLst/>
          </a:prstGeom>
          <a:noFill/>
          <a:ln>
            <a:noFill/>
          </a:ln>
        </p:spPr>
      </p:pic>
      <p:sp>
        <p:nvSpPr>
          <p:cNvPr id="77" name="Google Shape;77;p15"/>
          <p:cNvSpPr/>
          <p:nvPr/>
        </p:nvSpPr>
        <p:spPr>
          <a:xfrm>
            <a:off x="91625" y="2038350"/>
            <a:ext cx="2905500" cy="2891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t>Supervised Learning</a:t>
            </a:r>
            <a:endParaRPr b="1" sz="1900"/>
          </a:p>
          <a:p>
            <a:pPr indent="0" lvl="0" marL="0" rtl="0" algn="ctr">
              <a:spcBef>
                <a:spcPts val="0"/>
              </a:spcBef>
              <a:spcAft>
                <a:spcPts val="0"/>
              </a:spcAft>
              <a:buNone/>
            </a:pPr>
            <a:r>
              <a:t/>
            </a:r>
            <a:endParaRPr b="1" i="1" sz="500">
              <a:solidFill>
                <a:schemeClr val="accent1"/>
              </a:solidFill>
            </a:endParaRPr>
          </a:p>
          <a:p>
            <a:pPr indent="0" lvl="0" marL="0" rtl="0" algn="ctr">
              <a:spcBef>
                <a:spcPts val="0"/>
              </a:spcBef>
              <a:spcAft>
                <a:spcPts val="0"/>
              </a:spcAft>
              <a:buNone/>
            </a:pPr>
            <a:r>
              <a:rPr b="1" i="1" lang="en">
                <a:solidFill>
                  <a:schemeClr val="accent1"/>
                </a:solidFill>
              </a:rPr>
              <a:t>Goal: Learn the relationship between inputs and outputs so it can accurate predict the output for new, unseen data</a:t>
            </a:r>
            <a:endParaRPr b="1" sz="1900">
              <a:solidFill>
                <a:schemeClr val="accent1"/>
              </a:solidFill>
            </a:endParaRPr>
          </a:p>
          <a:p>
            <a:pPr indent="0" lvl="0" marL="0" rtl="0" algn="ctr">
              <a:spcBef>
                <a:spcPts val="0"/>
              </a:spcBef>
              <a:spcAft>
                <a:spcPts val="0"/>
              </a:spcAft>
              <a:buNone/>
            </a:pPr>
            <a:r>
              <a:t/>
            </a:r>
            <a:endParaRPr/>
          </a:p>
          <a:p>
            <a:pPr indent="0" lvl="0" marL="0" rtl="0" algn="ctr">
              <a:spcBef>
                <a:spcPts val="0"/>
              </a:spcBef>
              <a:spcAft>
                <a:spcPts val="0"/>
              </a:spcAft>
              <a:buNone/>
            </a:pPr>
            <a:r>
              <a:rPr b="1" lang="en"/>
              <a:t>Labeled Data</a:t>
            </a:r>
            <a:endParaRPr b="1"/>
          </a:p>
          <a:p>
            <a:pPr indent="0" lvl="0" marL="0" rtl="0" algn="ctr">
              <a:spcBef>
                <a:spcPts val="0"/>
              </a:spcBef>
              <a:spcAft>
                <a:spcPts val="0"/>
              </a:spcAft>
              <a:buNone/>
            </a:pPr>
            <a:r>
              <a:rPr i="1" lang="en"/>
              <a:t>i</a:t>
            </a:r>
            <a:r>
              <a:rPr i="1" lang="en"/>
              <a:t>nput - output pairs</a:t>
            </a:r>
            <a:endParaRPr i="1"/>
          </a:p>
          <a:p>
            <a:pPr indent="0" lvl="0" marL="0" rtl="0" algn="ctr">
              <a:spcBef>
                <a:spcPts val="0"/>
              </a:spcBef>
              <a:spcAft>
                <a:spcPts val="0"/>
              </a:spcAft>
              <a:buNone/>
            </a:pPr>
            <a:r>
              <a:t/>
            </a:r>
            <a:endParaRPr sz="800"/>
          </a:p>
          <a:p>
            <a:pPr indent="0" lvl="0" marL="0" rtl="0" algn="ctr">
              <a:spcBef>
                <a:spcPts val="0"/>
              </a:spcBef>
              <a:spcAft>
                <a:spcPts val="0"/>
              </a:spcAft>
              <a:buNone/>
            </a:pPr>
            <a:r>
              <a:rPr b="1" lang="en"/>
              <a:t>Usage: </a:t>
            </a:r>
            <a:br>
              <a:rPr b="1" lang="en"/>
            </a:br>
            <a:r>
              <a:rPr lang="en"/>
              <a:t>Classification &amp; Prediction</a:t>
            </a:r>
            <a:endParaRPr/>
          </a:p>
        </p:txBody>
      </p:sp>
      <p:sp>
        <p:nvSpPr>
          <p:cNvPr id="78" name="Google Shape;78;p15"/>
          <p:cNvSpPr/>
          <p:nvPr/>
        </p:nvSpPr>
        <p:spPr>
          <a:xfrm>
            <a:off x="3097150" y="2038350"/>
            <a:ext cx="2905500" cy="2836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t>Uns</a:t>
            </a:r>
            <a:r>
              <a:rPr b="1" lang="en" sz="1900"/>
              <a:t>upervised Learning</a:t>
            </a:r>
            <a:endParaRPr b="1" sz="1900"/>
          </a:p>
          <a:p>
            <a:pPr indent="0" lvl="0" marL="0" rtl="0" algn="ctr">
              <a:spcBef>
                <a:spcPts val="0"/>
              </a:spcBef>
              <a:spcAft>
                <a:spcPts val="0"/>
              </a:spcAft>
              <a:buNone/>
            </a:pPr>
            <a:r>
              <a:t/>
            </a:r>
            <a:endParaRPr b="1" sz="500">
              <a:solidFill>
                <a:schemeClr val="accent1"/>
              </a:solidFill>
            </a:endParaRPr>
          </a:p>
          <a:p>
            <a:pPr indent="0" lvl="0" marL="0" rtl="0" algn="ctr">
              <a:spcBef>
                <a:spcPts val="0"/>
              </a:spcBef>
              <a:spcAft>
                <a:spcPts val="0"/>
              </a:spcAft>
              <a:buNone/>
            </a:pPr>
            <a:r>
              <a:rPr b="1" lang="en">
                <a:solidFill>
                  <a:schemeClr val="accent1"/>
                </a:solidFill>
              </a:rPr>
              <a:t>Goal: </a:t>
            </a:r>
            <a:r>
              <a:rPr b="1" i="1" lang="en">
                <a:solidFill>
                  <a:schemeClr val="accent1"/>
                </a:solidFill>
              </a:rPr>
              <a:t>Discover </a:t>
            </a:r>
            <a:r>
              <a:rPr b="1" i="1" lang="en">
                <a:solidFill>
                  <a:schemeClr val="accent1"/>
                </a:solidFill>
              </a:rPr>
              <a:t>hidden</a:t>
            </a:r>
            <a:r>
              <a:rPr b="1" i="1" lang="en">
                <a:solidFill>
                  <a:schemeClr val="accent1"/>
                </a:solidFill>
              </a:rPr>
              <a:t> </a:t>
            </a:r>
            <a:r>
              <a:rPr b="1" i="1" lang="en">
                <a:solidFill>
                  <a:schemeClr val="accent1"/>
                </a:solidFill>
              </a:rPr>
              <a:t>patterns</a:t>
            </a:r>
            <a:r>
              <a:rPr b="1" i="1" lang="en">
                <a:solidFill>
                  <a:schemeClr val="accent1"/>
                </a:solidFill>
              </a:rPr>
              <a:t>, structure, or relationships within data.</a:t>
            </a:r>
            <a:endParaRPr b="1" i="1">
              <a:solidFill>
                <a:schemeClr val="accent1"/>
              </a:solidFill>
            </a:endParaRPr>
          </a:p>
          <a:p>
            <a:pPr indent="0" lvl="0" marL="0" rtl="0" algn="ctr">
              <a:spcBef>
                <a:spcPts val="0"/>
              </a:spcBef>
              <a:spcAft>
                <a:spcPts val="0"/>
              </a:spcAft>
              <a:buNone/>
            </a:pPr>
            <a:r>
              <a:t/>
            </a:r>
            <a:endParaRPr/>
          </a:p>
          <a:p>
            <a:pPr indent="0" lvl="0" marL="0" rtl="0" algn="ctr">
              <a:spcBef>
                <a:spcPts val="0"/>
              </a:spcBef>
              <a:spcAft>
                <a:spcPts val="0"/>
              </a:spcAft>
              <a:buNone/>
            </a:pPr>
            <a:r>
              <a:rPr b="1" lang="en"/>
              <a:t>Unlabeled Data</a:t>
            </a:r>
            <a:endParaRPr b="1"/>
          </a:p>
          <a:p>
            <a:pPr indent="0" lvl="0" marL="0" rtl="0" algn="ctr">
              <a:spcBef>
                <a:spcPts val="0"/>
              </a:spcBef>
              <a:spcAft>
                <a:spcPts val="0"/>
              </a:spcAft>
              <a:buNone/>
            </a:pPr>
            <a:r>
              <a:rPr lang="en"/>
              <a:t>No predefined outputs to learn from</a:t>
            </a:r>
            <a:endParaRPr/>
          </a:p>
          <a:p>
            <a:pPr indent="0" lvl="0" marL="0" rtl="0" algn="ctr">
              <a:spcBef>
                <a:spcPts val="0"/>
              </a:spcBef>
              <a:spcAft>
                <a:spcPts val="0"/>
              </a:spcAft>
              <a:buNone/>
            </a:pPr>
            <a:r>
              <a:t/>
            </a:r>
            <a:endParaRPr sz="500"/>
          </a:p>
          <a:p>
            <a:pPr indent="0" lvl="0" marL="0" rtl="0" algn="ctr">
              <a:spcBef>
                <a:spcPts val="0"/>
              </a:spcBef>
              <a:spcAft>
                <a:spcPts val="0"/>
              </a:spcAft>
              <a:buClr>
                <a:schemeClr val="dk1"/>
              </a:buClr>
              <a:buSzPts val="1100"/>
              <a:buFont typeface="Arial"/>
              <a:buNone/>
            </a:pPr>
            <a:r>
              <a:rPr b="1" lang="en">
                <a:solidFill>
                  <a:schemeClr val="dk1"/>
                </a:solidFill>
              </a:rPr>
              <a:t>Usage:</a:t>
            </a:r>
            <a:r>
              <a:rPr lang="en">
                <a:solidFill>
                  <a:schemeClr val="dk1"/>
                </a:solidFill>
              </a:rPr>
              <a:t> </a:t>
            </a:r>
            <a:br>
              <a:rPr lang="en">
                <a:solidFill>
                  <a:schemeClr val="dk1"/>
                </a:solidFill>
              </a:rPr>
            </a:br>
            <a:r>
              <a:rPr lang="en">
                <a:solidFill>
                  <a:schemeClr val="dk1"/>
                </a:solidFill>
              </a:rPr>
              <a:t>Clustering (Customer Segmentation)</a:t>
            </a:r>
            <a:endParaRPr/>
          </a:p>
        </p:txBody>
      </p:sp>
      <p:sp>
        <p:nvSpPr>
          <p:cNvPr id="79" name="Google Shape;79;p15"/>
          <p:cNvSpPr/>
          <p:nvPr/>
        </p:nvSpPr>
        <p:spPr>
          <a:xfrm>
            <a:off x="6102675" y="2038350"/>
            <a:ext cx="2905500" cy="2836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t>Reinforcement </a:t>
            </a:r>
            <a:r>
              <a:rPr b="1" lang="en" sz="1900"/>
              <a:t>Learning</a:t>
            </a:r>
            <a:endParaRPr b="1" sz="1900"/>
          </a:p>
          <a:p>
            <a:pPr indent="0" lvl="0" marL="0" rtl="0" algn="ctr">
              <a:spcBef>
                <a:spcPts val="0"/>
              </a:spcBef>
              <a:spcAft>
                <a:spcPts val="0"/>
              </a:spcAft>
              <a:buNone/>
            </a:pPr>
            <a:r>
              <a:rPr b="1" i="1" lang="en" sz="1900"/>
              <a:t>Trial</a:t>
            </a:r>
            <a:r>
              <a:rPr b="1" i="1" lang="en" sz="1900"/>
              <a:t> &amp; Error Learning</a:t>
            </a:r>
            <a:endParaRPr b="1" i="1" sz="1900"/>
          </a:p>
          <a:p>
            <a:pPr indent="0" lvl="0" marL="0" rtl="0" algn="ctr">
              <a:spcBef>
                <a:spcPts val="0"/>
              </a:spcBef>
              <a:spcAft>
                <a:spcPts val="0"/>
              </a:spcAft>
              <a:buNone/>
            </a:pPr>
            <a:r>
              <a:t/>
            </a:r>
            <a:endParaRPr/>
          </a:p>
          <a:p>
            <a:pPr indent="0" lvl="0" marL="0" rtl="0" algn="ctr">
              <a:spcBef>
                <a:spcPts val="0"/>
              </a:spcBef>
              <a:spcAft>
                <a:spcPts val="0"/>
              </a:spcAft>
              <a:buNone/>
            </a:pPr>
            <a:r>
              <a:rPr lang="en"/>
              <a:t>Unlabeled Data</a:t>
            </a:r>
            <a:endParaRPr/>
          </a:p>
          <a:p>
            <a:pPr indent="0" lvl="0" marL="0" rtl="0" algn="ctr">
              <a:spcBef>
                <a:spcPts val="0"/>
              </a:spcBef>
              <a:spcAft>
                <a:spcPts val="0"/>
              </a:spcAft>
              <a:buNone/>
            </a:pPr>
            <a:r>
              <a:t/>
            </a:r>
            <a:endParaRPr/>
          </a:p>
          <a:p>
            <a:pPr indent="0" lvl="0" marL="0" rtl="0" algn="ctr">
              <a:spcBef>
                <a:spcPts val="0"/>
              </a:spcBef>
              <a:spcAft>
                <a:spcPts val="0"/>
              </a:spcAft>
              <a:buNone/>
            </a:pPr>
            <a:r>
              <a:rPr lang="en"/>
              <a:t>Usage: Game playing, robotics, and control systems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We’ve done several activities with ML today</a:t>
            </a:r>
            <a:endParaRPr/>
          </a:p>
          <a:p>
            <a:pPr indent="0" lvl="0" marL="0" rtl="0" algn="l">
              <a:spcBef>
                <a:spcPts val="0"/>
              </a:spcBef>
              <a:spcAft>
                <a:spcPts val="0"/>
              </a:spcAft>
              <a:buNone/>
            </a:pPr>
            <a:r>
              <a:rPr b="1" lang="en">
                <a:solidFill>
                  <a:srgbClr val="2A63D2"/>
                </a:solidFill>
              </a:rPr>
              <a:t>Name the type of ML that created each reasoner</a:t>
            </a:r>
            <a:endParaRPr b="1">
              <a:solidFill>
                <a:srgbClr val="2A63D2"/>
              </a:solidFill>
            </a:endParaRPr>
          </a:p>
        </p:txBody>
      </p:sp>
      <p:sp>
        <p:nvSpPr>
          <p:cNvPr id="85" name="Google Shape;85;p16"/>
          <p:cNvSpPr txBox="1"/>
          <p:nvPr/>
        </p:nvSpPr>
        <p:spPr>
          <a:xfrm>
            <a:off x="311700" y="1588175"/>
            <a:ext cx="1751400" cy="73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t>Candyland</a:t>
            </a:r>
            <a:endParaRPr b="1" sz="1800"/>
          </a:p>
          <a:p>
            <a:pPr indent="0" lvl="0" marL="0" rtl="0" algn="l">
              <a:spcBef>
                <a:spcPts val="0"/>
              </a:spcBef>
              <a:spcAft>
                <a:spcPts val="0"/>
              </a:spcAft>
              <a:buNone/>
            </a:pPr>
            <a:r>
              <a:rPr lang="en" sz="1800"/>
              <a:t>Decision Trees</a:t>
            </a:r>
            <a:endParaRPr sz="1800"/>
          </a:p>
        </p:txBody>
      </p:sp>
      <p:sp>
        <p:nvSpPr>
          <p:cNvPr id="86" name="Google Shape;86;p16"/>
          <p:cNvSpPr txBox="1"/>
          <p:nvPr/>
        </p:nvSpPr>
        <p:spPr>
          <a:xfrm>
            <a:off x="2198325" y="2428200"/>
            <a:ext cx="1751400" cy="73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t>Teachable Machines</a:t>
            </a:r>
            <a:endParaRPr b="1" sz="1800"/>
          </a:p>
        </p:txBody>
      </p:sp>
      <p:sp>
        <p:nvSpPr>
          <p:cNvPr id="87" name="Google Shape;87;p16"/>
          <p:cNvSpPr txBox="1"/>
          <p:nvPr/>
        </p:nvSpPr>
        <p:spPr>
          <a:xfrm>
            <a:off x="6958300" y="2284650"/>
            <a:ext cx="2021400" cy="102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t>Machine Learning for Kids </a:t>
            </a:r>
            <a:endParaRPr b="1" sz="1800"/>
          </a:p>
        </p:txBody>
      </p:sp>
      <p:sp>
        <p:nvSpPr>
          <p:cNvPr id="88" name="Google Shape;88;p16"/>
          <p:cNvSpPr txBox="1"/>
          <p:nvPr/>
        </p:nvSpPr>
        <p:spPr>
          <a:xfrm>
            <a:off x="4281100" y="1739220"/>
            <a:ext cx="2890800" cy="43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t>Fishy Feature Space</a:t>
            </a:r>
            <a:endParaRPr b="1" sz="1800"/>
          </a:p>
        </p:txBody>
      </p:sp>
      <p:sp>
        <p:nvSpPr>
          <p:cNvPr id="89" name="Google Shape;89;p16"/>
          <p:cNvSpPr txBox="1"/>
          <p:nvPr/>
        </p:nvSpPr>
        <p:spPr>
          <a:xfrm>
            <a:off x="4626250" y="3097725"/>
            <a:ext cx="1499400" cy="123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t>Movies </a:t>
            </a:r>
            <a:br>
              <a:rPr lang="en" sz="1800"/>
            </a:br>
            <a:r>
              <a:rPr lang="en" sz="1800"/>
              <a:t>(AI Lab)</a:t>
            </a:r>
            <a:endParaRPr sz="18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pic>
        <p:nvPicPr>
          <p:cNvPr descr="Artificial Intelligence is all around us. The most widely used form of AI is called Machine Learning and you probably interact with it every day. Find out what Machine Learning is and how it's changing our world.&#10;&#10;Featuring:&#10;Dr Chelsea Haupt from the Allen Institute for Artificial Intelligence (AI2)&#10;Ale Flores from Amazon's Alexa Team&#10;&#10;Start learning today!&#10;https://code.org/ai/how-ai-works &#10; &#10;Stay in touch with us! &#10;• on Twitter https://twitter.com/codeorg &#10;• on Facebook https://www.facebook.com/Code.org &#10;• on Instagram https://instagram.com/codeorg &#10;• on Tumblr https://blog.code.org  &#10;• on LinkedIn https://www.linkedin.com/company/code-org &#10;• on Google+ https://google.com/+codeorg&#10;&#10;Produced and Directed by Jael Burrows&#10;Co-produced by Kristin Neibert&#10;Written by Hadi Partovi, Mike Harvey and Jael Burrows&#10;Camera by Bow Jones&#10;Animated Type by Animography" id="94" name="Google Shape;94;p17" title="What is Machine Learning?">
            <a:hlinkClick r:id="rId3"/>
          </p:cNvPr>
          <p:cNvPicPr preferRelativeResize="0"/>
          <p:nvPr/>
        </p:nvPicPr>
        <p:blipFill>
          <a:blip r:embed="rId4">
            <a:alphaModFix/>
          </a:blip>
          <a:stretch>
            <a:fillRect/>
          </a:stretch>
        </p:blipFill>
        <p:spPr>
          <a:xfrm>
            <a:off x="602350" y="378875"/>
            <a:ext cx="7796850" cy="4385725"/>
          </a:xfrm>
          <a:prstGeom prst="rect">
            <a:avLst/>
          </a:prstGeom>
          <a:noFill/>
          <a:ln>
            <a:noFill/>
          </a:ln>
        </p:spPr>
      </p:pic>
      <p:sp>
        <p:nvSpPr>
          <p:cNvPr id="95" name="Google Shape;95;p17"/>
          <p:cNvSpPr txBox="1"/>
          <p:nvPr/>
        </p:nvSpPr>
        <p:spPr>
          <a:xfrm>
            <a:off x="2762550" y="4734075"/>
            <a:ext cx="4238100" cy="46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u="sng">
                <a:solidFill>
                  <a:schemeClr val="hlink"/>
                </a:solidFill>
                <a:hlinkClick r:id="rId5"/>
              </a:rPr>
              <a:t>Link</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
                                        </p:tgtEl>
                                        <p:attrNameLst>
                                          <p:attrName>style.visibility</p:attrName>
                                        </p:attrNameLst>
                                      </p:cBhvr>
                                      <p:to>
                                        <p:strVal val="visible"/>
                                      </p:to>
                                    </p:set>
                                    <p:animEffect filter="fade" transition="in">
                                      <p:cBhvr>
                                        <p:cTn dur="1000"/>
                                        <p:tgtEl>
                                          <p:spTgt spid="9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Building vs Using a Model</a:t>
            </a:r>
            <a:endParaRPr/>
          </a:p>
        </p:txBody>
      </p:sp>
      <p:sp>
        <p:nvSpPr>
          <p:cNvPr id="101" name="Google Shape;101;p18"/>
          <p:cNvSpPr txBox="1"/>
          <p:nvPr>
            <p:ph idx="1" type="body"/>
          </p:nvPr>
        </p:nvSpPr>
        <p:spPr>
          <a:xfrm>
            <a:off x="311700" y="1152475"/>
            <a:ext cx="8520600" cy="10680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sz="2500"/>
              <a:t>It’s important to know when the machine learning is being used and when the learning stops.</a:t>
            </a:r>
            <a:endParaRPr sz="2500"/>
          </a:p>
        </p:txBody>
      </p:sp>
      <p:grpSp>
        <p:nvGrpSpPr>
          <p:cNvPr id="102" name="Google Shape;102;p18"/>
          <p:cNvGrpSpPr/>
          <p:nvPr/>
        </p:nvGrpSpPr>
        <p:grpSpPr>
          <a:xfrm>
            <a:off x="619500" y="2621656"/>
            <a:ext cx="3743100" cy="2318854"/>
            <a:chOff x="619500" y="2469225"/>
            <a:chExt cx="3743100" cy="1779900"/>
          </a:xfrm>
        </p:grpSpPr>
        <p:sp>
          <p:nvSpPr>
            <p:cNvPr id="103" name="Google Shape;103;p18"/>
            <p:cNvSpPr/>
            <p:nvPr/>
          </p:nvSpPr>
          <p:spPr>
            <a:xfrm>
              <a:off x="619500" y="2469225"/>
              <a:ext cx="3743100" cy="17799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t/>
              </a:r>
              <a:endParaRPr i="1"/>
            </a:p>
            <a:p>
              <a:pPr indent="0" lvl="0" marL="0" rtl="0" algn="ctr">
                <a:spcBef>
                  <a:spcPts val="0"/>
                </a:spcBef>
                <a:spcAft>
                  <a:spcPts val="0"/>
                </a:spcAft>
                <a:buNone/>
              </a:pPr>
              <a:r>
                <a:t/>
              </a:r>
              <a:endParaRPr i="1"/>
            </a:p>
            <a:p>
              <a:pPr indent="0" lvl="0" marL="0" rtl="0" algn="ctr">
                <a:spcBef>
                  <a:spcPts val="0"/>
                </a:spcBef>
                <a:spcAft>
                  <a:spcPts val="0"/>
                </a:spcAft>
                <a:buNone/>
              </a:pPr>
              <a:r>
                <a:t/>
              </a:r>
              <a:endParaRPr i="1"/>
            </a:p>
            <a:p>
              <a:pPr indent="0" lvl="0" marL="0" rtl="0" algn="ctr">
                <a:spcBef>
                  <a:spcPts val="0"/>
                </a:spcBef>
                <a:spcAft>
                  <a:spcPts val="0"/>
                </a:spcAft>
                <a:buNone/>
              </a:pPr>
              <a:r>
                <a:rPr i="1" lang="en"/>
                <a:t>Building &amp; Testing a Model</a:t>
              </a:r>
              <a:endParaRPr i="1"/>
            </a:p>
          </p:txBody>
        </p:sp>
        <p:sp>
          <p:nvSpPr>
            <p:cNvPr id="104" name="Google Shape;104;p18"/>
            <p:cNvSpPr txBox="1"/>
            <p:nvPr/>
          </p:nvSpPr>
          <p:spPr>
            <a:xfrm>
              <a:off x="1025200" y="2665550"/>
              <a:ext cx="3036300" cy="48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t>MODEL CONSTRUCTION</a:t>
              </a:r>
              <a:endParaRPr sz="1800"/>
            </a:p>
          </p:txBody>
        </p:sp>
      </p:grpSp>
      <p:grpSp>
        <p:nvGrpSpPr>
          <p:cNvPr id="105" name="Google Shape;105;p18"/>
          <p:cNvGrpSpPr/>
          <p:nvPr/>
        </p:nvGrpSpPr>
        <p:grpSpPr>
          <a:xfrm>
            <a:off x="4658975" y="2621595"/>
            <a:ext cx="3743100" cy="2318854"/>
            <a:chOff x="4658975" y="2469225"/>
            <a:chExt cx="3743100" cy="1779900"/>
          </a:xfrm>
        </p:grpSpPr>
        <p:sp>
          <p:nvSpPr>
            <p:cNvPr id="106" name="Google Shape;106;p18"/>
            <p:cNvSpPr/>
            <p:nvPr/>
          </p:nvSpPr>
          <p:spPr>
            <a:xfrm>
              <a:off x="4658975" y="2469225"/>
              <a:ext cx="3743100" cy="17799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rPr lang="en"/>
                <a:t>Use Model in an Application</a:t>
              </a:r>
              <a:endParaRPr/>
            </a:p>
          </p:txBody>
        </p:sp>
        <p:sp>
          <p:nvSpPr>
            <p:cNvPr id="107" name="Google Shape;107;p18"/>
            <p:cNvSpPr txBox="1"/>
            <p:nvPr/>
          </p:nvSpPr>
          <p:spPr>
            <a:xfrm>
              <a:off x="5169375" y="2618575"/>
              <a:ext cx="3036300" cy="484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t>DEPLOYED MODEL</a:t>
              </a:r>
              <a:endParaRPr sz="1800"/>
            </a:p>
          </p:txBody>
        </p:sp>
      </p:grpSp>
      <p:sp>
        <p:nvSpPr>
          <p:cNvPr id="108" name="Google Shape;108;p18"/>
          <p:cNvSpPr txBox="1"/>
          <p:nvPr/>
        </p:nvSpPr>
        <p:spPr>
          <a:xfrm>
            <a:off x="1051375" y="4132225"/>
            <a:ext cx="2984100" cy="405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rgbClr val="0000FF"/>
                </a:solidFill>
              </a:rPr>
              <a:t>Learning</a:t>
            </a:r>
            <a:endParaRPr b="1" sz="1800">
              <a:solidFill>
                <a:srgbClr val="0000FF"/>
              </a:solidFill>
            </a:endParaRPr>
          </a:p>
        </p:txBody>
      </p:sp>
      <p:sp>
        <p:nvSpPr>
          <p:cNvPr id="109" name="Google Shape;109;p18"/>
          <p:cNvSpPr txBox="1"/>
          <p:nvPr/>
        </p:nvSpPr>
        <p:spPr>
          <a:xfrm>
            <a:off x="5038475" y="3728850"/>
            <a:ext cx="2984100" cy="405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rgbClr val="0000FF"/>
                </a:solidFill>
              </a:rPr>
              <a:t>Not Learning…</a:t>
            </a:r>
            <a:endParaRPr b="1" sz="1800">
              <a:solidFill>
                <a:srgbClr val="0000FF"/>
              </a:solidFill>
            </a:endParaRPr>
          </a:p>
          <a:p>
            <a:pPr indent="0" lvl="0" marL="0" rtl="0" algn="ctr">
              <a:spcBef>
                <a:spcPts val="0"/>
              </a:spcBef>
              <a:spcAft>
                <a:spcPts val="0"/>
              </a:spcAft>
              <a:buNone/>
            </a:pPr>
            <a:r>
              <a:rPr b="1" lang="en" sz="1800">
                <a:solidFill>
                  <a:srgbClr val="0000FF"/>
                </a:solidFill>
              </a:rPr>
              <a:t>but may still be collecting data for future learning</a:t>
            </a:r>
            <a:endParaRPr b="1" sz="1800">
              <a:solidFill>
                <a:srgbClr val="0000FF"/>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FF0000"/>
                </a:solidFill>
                <a:latin typeface="Permanent Marker"/>
                <a:ea typeface="Permanent Marker"/>
                <a:cs typeface="Permanent Marker"/>
                <a:sym typeface="Permanent Marker"/>
              </a:rPr>
              <a:t>Machine Learning Pipeline</a:t>
            </a:r>
            <a:endParaRPr>
              <a:solidFill>
                <a:srgbClr val="FF0000"/>
              </a:solidFill>
              <a:latin typeface="Permanent Marker"/>
              <a:ea typeface="Permanent Marker"/>
              <a:cs typeface="Permanent Marker"/>
              <a:sym typeface="Permanent Marker"/>
            </a:endParaRPr>
          </a:p>
        </p:txBody>
      </p:sp>
      <p:sp>
        <p:nvSpPr>
          <p:cNvPr id="115" name="Google Shape;115;p19"/>
          <p:cNvSpPr txBox="1"/>
          <p:nvPr>
            <p:ph idx="1" type="body"/>
          </p:nvPr>
        </p:nvSpPr>
        <p:spPr>
          <a:xfrm>
            <a:off x="311700" y="1152475"/>
            <a:ext cx="8520600" cy="2689200"/>
          </a:xfrm>
          <a:prstGeom prst="rect">
            <a:avLst/>
          </a:prstGeom>
        </p:spPr>
        <p:txBody>
          <a:bodyPr anchorCtr="0" anchor="t" bIns="91425" lIns="91425" spcFirstLastPara="1" rIns="91425" wrap="square" tIns="91425">
            <a:normAutofit fontScale="85000"/>
          </a:bodyPr>
          <a:lstStyle/>
          <a:p>
            <a:pPr indent="0" lvl="0" marL="0" rtl="0" algn="l">
              <a:spcBef>
                <a:spcPts val="0"/>
              </a:spcBef>
              <a:spcAft>
                <a:spcPts val="0"/>
              </a:spcAft>
              <a:buNone/>
            </a:pPr>
            <a:r>
              <a:rPr lang="en" sz="1900">
                <a:solidFill>
                  <a:srgbClr val="202124"/>
                </a:solidFill>
                <a:highlight>
                  <a:srgbClr val="FFFFFF"/>
                </a:highlight>
                <a:latin typeface="Roboto"/>
                <a:ea typeface="Roboto"/>
                <a:cs typeface="Roboto"/>
                <a:sym typeface="Roboto"/>
              </a:rPr>
              <a:t>ML pipelines organize the steps for building and deploying models into well-defined tasks:</a:t>
            </a:r>
            <a:endParaRPr sz="1900">
              <a:solidFill>
                <a:srgbClr val="202124"/>
              </a:solidFill>
              <a:highlight>
                <a:srgbClr val="FFFFFF"/>
              </a:highlight>
              <a:latin typeface="Roboto"/>
              <a:ea typeface="Roboto"/>
              <a:cs typeface="Roboto"/>
              <a:sym typeface="Roboto"/>
            </a:endParaRPr>
          </a:p>
          <a:p>
            <a:pPr indent="-331152" lvl="0" marL="457200" rtl="0" algn="l">
              <a:spcBef>
                <a:spcPts val="1200"/>
              </a:spcBef>
              <a:spcAft>
                <a:spcPts val="0"/>
              </a:spcAft>
              <a:buClr>
                <a:srgbClr val="202124"/>
              </a:buClr>
              <a:buSzPct val="100000"/>
              <a:buFont typeface="Roboto"/>
              <a:buChar char="●"/>
            </a:pPr>
            <a:r>
              <a:rPr lang="en" sz="1900">
                <a:solidFill>
                  <a:srgbClr val="202124"/>
                </a:solidFill>
                <a:highlight>
                  <a:srgbClr val="FFFFFF"/>
                </a:highlight>
                <a:latin typeface="Roboto"/>
                <a:ea typeface="Roboto"/>
                <a:cs typeface="Roboto"/>
                <a:sym typeface="Roboto"/>
              </a:rPr>
              <a:t>Building Dataset</a:t>
            </a:r>
            <a:endParaRPr sz="1900">
              <a:solidFill>
                <a:srgbClr val="202124"/>
              </a:solidFill>
              <a:highlight>
                <a:srgbClr val="FFFFFF"/>
              </a:highlight>
              <a:latin typeface="Roboto"/>
              <a:ea typeface="Roboto"/>
              <a:cs typeface="Roboto"/>
              <a:sym typeface="Roboto"/>
            </a:endParaRPr>
          </a:p>
          <a:p>
            <a:pPr indent="-331152" lvl="0" marL="457200" rtl="0" algn="l">
              <a:spcBef>
                <a:spcPts val="0"/>
              </a:spcBef>
              <a:spcAft>
                <a:spcPts val="0"/>
              </a:spcAft>
              <a:buClr>
                <a:srgbClr val="202124"/>
              </a:buClr>
              <a:buSzPct val="100000"/>
              <a:buFont typeface="Roboto"/>
              <a:buChar char="●"/>
            </a:pPr>
            <a:r>
              <a:rPr lang="en" sz="1900">
                <a:solidFill>
                  <a:srgbClr val="202124"/>
                </a:solidFill>
                <a:highlight>
                  <a:srgbClr val="FFFFFF"/>
                </a:highlight>
                <a:latin typeface="Roboto"/>
                <a:ea typeface="Roboto"/>
                <a:cs typeface="Roboto"/>
                <a:sym typeface="Roboto"/>
              </a:rPr>
              <a:t>Training Model</a:t>
            </a:r>
            <a:endParaRPr sz="1900">
              <a:solidFill>
                <a:srgbClr val="202124"/>
              </a:solidFill>
              <a:highlight>
                <a:srgbClr val="FFFFFF"/>
              </a:highlight>
              <a:latin typeface="Roboto"/>
              <a:ea typeface="Roboto"/>
              <a:cs typeface="Roboto"/>
              <a:sym typeface="Roboto"/>
            </a:endParaRPr>
          </a:p>
          <a:p>
            <a:pPr indent="-331152" lvl="0" marL="457200" rtl="0" algn="l">
              <a:spcBef>
                <a:spcPts val="0"/>
              </a:spcBef>
              <a:spcAft>
                <a:spcPts val="0"/>
              </a:spcAft>
              <a:buClr>
                <a:srgbClr val="202124"/>
              </a:buClr>
              <a:buSzPct val="100000"/>
              <a:buFont typeface="Roboto"/>
              <a:buChar char="●"/>
            </a:pPr>
            <a:r>
              <a:rPr lang="en" sz="1900">
                <a:solidFill>
                  <a:srgbClr val="202124"/>
                </a:solidFill>
                <a:highlight>
                  <a:srgbClr val="FFFFFF"/>
                </a:highlight>
                <a:latin typeface="Roboto"/>
                <a:ea typeface="Roboto"/>
                <a:cs typeface="Roboto"/>
                <a:sym typeface="Roboto"/>
              </a:rPr>
              <a:t>Testing Model</a:t>
            </a:r>
            <a:endParaRPr sz="1900">
              <a:solidFill>
                <a:srgbClr val="202124"/>
              </a:solidFill>
              <a:highlight>
                <a:srgbClr val="FFFFFF"/>
              </a:highlight>
              <a:latin typeface="Roboto"/>
              <a:ea typeface="Roboto"/>
              <a:cs typeface="Roboto"/>
              <a:sym typeface="Roboto"/>
            </a:endParaRPr>
          </a:p>
          <a:p>
            <a:pPr indent="-331152" lvl="0" marL="457200" rtl="0" algn="l">
              <a:spcBef>
                <a:spcPts val="0"/>
              </a:spcBef>
              <a:spcAft>
                <a:spcPts val="0"/>
              </a:spcAft>
              <a:buClr>
                <a:srgbClr val="202124"/>
              </a:buClr>
              <a:buSzPct val="100000"/>
              <a:buFont typeface="Roboto"/>
              <a:buChar char="●"/>
            </a:pPr>
            <a:r>
              <a:rPr lang="en" sz="1900">
                <a:solidFill>
                  <a:srgbClr val="202124"/>
                </a:solidFill>
                <a:highlight>
                  <a:srgbClr val="FFFFFF"/>
                </a:highlight>
                <a:latin typeface="Roboto"/>
                <a:ea typeface="Roboto"/>
                <a:cs typeface="Roboto"/>
                <a:sym typeface="Roboto"/>
              </a:rPr>
              <a:t>Deploying Model</a:t>
            </a:r>
            <a:endParaRPr sz="1350">
              <a:solidFill>
                <a:srgbClr val="001D35"/>
              </a:solidFill>
              <a:highlight>
                <a:srgbClr val="FFFFFF"/>
              </a:highlight>
              <a:latin typeface="Roboto"/>
              <a:ea typeface="Roboto"/>
              <a:cs typeface="Roboto"/>
              <a:sym typeface="Roboto"/>
            </a:endParaRPr>
          </a:p>
          <a:p>
            <a:pPr indent="0" lvl="0" marL="0" rtl="0" algn="l">
              <a:spcBef>
                <a:spcPts val="1200"/>
              </a:spcBef>
              <a:spcAft>
                <a:spcPts val="1200"/>
              </a:spcAft>
              <a:buNone/>
            </a:pPr>
            <a:r>
              <a:rPr lang="en" sz="1900">
                <a:solidFill>
                  <a:srgbClr val="202124"/>
                </a:solidFill>
                <a:highlight>
                  <a:srgbClr val="FFFFFF"/>
                </a:highlight>
                <a:latin typeface="Roboto"/>
                <a:ea typeface="Roboto"/>
                <a:cs typeface="Roboto"/>
                <a:sym typeface="Roboto"/>
              </a:rPr>
              <a:t>The ML pipeline is  series of interconnected steps that transform raw data into a usable model, ensuring consistency and efficiency in model development and deployment. </a:t>
            </a:r>
            <a:endParaRPr sz="1350">
              <a:solidFill>
                <a:srgbClr val="001D35"/>
              </a:solidFill>
              <a:highlight>
                <a:srgbClr val="FFFFFF"/>
              </a:highlight>
              <a:latin typeface="Roboto"/>
              <a:ea typeface="Roboto"/>
              <a:cs typeface="Roboto"/>
              <a:sym typeface="Roboto"/>
            </a:endParaRPr>
          </a:p>
        </p:txBody>
      </p:sp>
      <p:sp>
        <p:nvSpPr>
          <p:cNvPr id="116" name="Google Shape;116;p19"/>
          <p:cNvSpPr/>
          <p:nvPr/>
        </p:nvSpPr>
        <p:spPr>
          <a:xfrm>
            <a:off x="1056175" y="3841684"/>
            <a:ext cx="1457400" cy="832200"/>
          </a:xfrm>
          <a:prstGeom prst="rect">
            <a:avLst/>
          </a:prstGeom>
          <a:solidFill>
            <a:srgbClr val="FFF2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t>Build Dataset</a:t>
            </a:r>
            <a:endParaRPr sz="1300"/>
          </a:p>
        </p:txBody>
      </p:sp>
      <p:sp>
        <p:nvSpPr>
          <p:cNvPr id="117" name="Google Shape;117;p19"/>
          <p:cNvSpPr/>
          <p:nvPr/>
        </p:nvSpPr>
        <p:spPr>
          <a:xfrm>
            <a:off x="2829175" y="3873844"/>
            <a:ext cx="1319100" cy="779400"/>
          </a:xfrm>
          <a:prstGeom prst="rect">
            <a:avLst/>
          </a:prstGeom>
          <a:solidFill>
            <a:srgbClr val="FFF2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Train model</a:t>
            </a:r>
            <a:endParaRPr/>
          </a:p>
        </p:txBody>
      </p:sp>
      <p:sp>
        <p:nvSpPr>
          <p:cNvPr id="118" name="Google Shape;118;p19"/>
          <p:cNvSpPr/>
          <p:nvPr/>
        </p:nvSpPr>
        <p:spPr>
          <a:xfrm>
            <a:off x="4429325" y="3847444"/>
            <a:ext cx="1457400" cy="832200"/>
          </a:xfrm>
          <a:prstGeom prst="rect">
            <a:avLst/>
          </a:prstGeom>
          <a:solidFill>
            <a:srgbClr val="FFF2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Test model</a:t>
            </a:r>
            <a:endParaRPr/>
          </a:p>
        </p:txBody>
      </p:sp>
      <p:cxnSp>
        <p:nvCxnSpPr>
          <p:cNvPr id="119" name="Google Shape;119;p19"/>
          <p:cNvCxnSpPr>
            <a:stCxn id="117" idx="3"/>
            <a:endCxn id="118" idx="1"/>
          </p:cNvCxnSpPr>
          <p:nvPr/>
        </p:nvCxnSpPr>
        <p:spPr>
          <a:xfrm>
            <a:off x="4148275" y="4263544"/>
            <a:ext cx="281100" cy="0"/>
          </a:xfrm>
          <a:prstGeom prst="straightConnector1">
            <a:avLst/>
          </a:prstGeom>
          <a:noFill/>
          <a:ln cap="flat" cmpd="sng" w="9525">
            <a:solidFill>
              <a:schemeClr val="dk2"/>
            </a:solidFill>
            <a:prstDash val="solid"/>
            <a:round/>
            <a:headEnd len="med" w="med" type="none"/>
            <a:tailEnd len="med" w="med" type="triangle"/>
          </a:ln>
        </p:spPr>
      </p:cxnSp>
      <p:sp>
        <p:nvSpPr>
          <p:cNvPr id="120" name="Google Shape;120;p19"/>
          <p:cNvSpPr/>
          <p:nvPr/>
        </p:nvSpPr>
        <p:spPr>
          <a:xfrm>
            <a:off x="6186000" y="3873844"/>
            <a:ext cx="1457400" cy="832200"/>
          </a:xfrm>
          <a:prstGeom prst="rect">
            <a:avLst/>
          </a:prstGeom>
          <a:solidFill>
            <a:srgbClr val="FFF2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Deploy model</a:t>
            </a:r>
            <a:endParaRPr/>
          </a:p>
        </p:txBody>
      </p:sp>
      <p:cxnSp>
        <p:nvCxnSpPr>
          <p:cNvPr id="121" name="Google Shape;121;p19"/>
          <p:cNvCxnSpPr>
            <a:endCxn id="120" idx="1"/>
          </p:cNvCxnSpPr>
          <p:nvPr/>
        </p:nvCxnSpPr>
        <p:spPr>
          <a:xfrm>
            <a:off x="5883900" y="4289944"/>
            <a:ext cx="302100" cy="0"/>
          </a:xfrm>
          <a:prstGeom prst="straightConnector1">
            <a:avLst/>
          </a:prstGeom>
          <a:noFill/>
          <a:ln cap="flat" cmpd="sng" w="9525">
            <a:solidFill>
              <a:schemeClr val="dk2"/>
            </a:solidFill>
            <a:prstDash val="solid"/>
            <a:round/>
            <a:headEnd len="med" w="med" type="none"/>
            <a:tailEnd len="med" w="med" type="triangle"/>
          </a:ln>
        </p:spPr>
      </p:cxnSp>
      <p:cxnSp>
        <p:nvCxnSpPr>
          <p:cNvPr id="122" name="Google Shape;122;p19"/>
          <p:cNvCxnSpPr>
            <a:stCxn id="116" idx="3"/>
          </p:cNvCxnSpPr>
          <p:nvPr/>
        </p:nvCxnSpPr>
        <p:spPr>
          <a:xfrm>
            <a:off x="2513575" y="4257784"/>
            <a:ext cx="315600" cy="5700"/>
          </a:xfrm>
          <a:prstGeom prst="straightConnector1">
            <a:avLst/>
          </a:prstGeom>
          <a:noFill/>
          <a:ln cap="flat" cmpd="sng" w="9525">
            <a:solidFill>
              <a:schemeClr val="dk2"/>
            </a:solidFill>
            <a:prstDash val="solid"/>
            <a:round/>
            <a:headEnd len="med" w="med" type="none"/>
            <a:tailEnd len="med" w="med" type="triangle"/>
          </a:ln>
        </p:spPr>
      </p:cxnSp>
      <p:cxnSp>
        <p:nvCxnSpPr>
          <p:cNvPr id="123" name="Google Shape;123;p19"/>
          <p:cNvCxnSpPr>
            <a:stCxn id="118" idx="2"/>
            <a:endCxn id="116" idx="2"/>
          </p:cNvCxnSpPr>
          <p:nvPr/>
        </p:nvCxnSpPr>
        <p:spPr>
          <a:xfrm flipH="1" rot="5400000">
            <a:off x="3468575" y="2990194"/>
            <a:ext cx="5700" cy="3373200"/>
          </a:xfrm>
          <a:prstGeom prst="curvedConnector3">
            <a:avLst>
              <a:gd fmla="val -4177632" name="adj1"/>
            </a:avLst>
          </a:prstGeom>
          <a:noFill/>
          <a:ln cap="flat" cmpd="sng" w="9525">
            <a:solidFill>
              <a:schemeClr val="dk2"/>
            </a:solidFill>
            <a:prstDash val="solid"/>
            <a:round/>
            <a:headEnd len="med" w="med" type="none"/>
            <a:tailEnd len="med" w="med" type="triangle"/>
          </a:ln>
        </p:spPr>
      </p:cxnSp>
      <p:cxnSp>
        <p:nvCxnSpPr>
          <p:cNvPr id="124" name="Google Shape;124;p19"/>
          <p:cNvCxnSpPr>
            <a:stCxn id="118" idx="0"/>
            <a:endCxn id="117" idx="0"/>
          </p:cNvCxnSpPr>
          <p:nvPr/>
        </p:nvCxnSpPr>
        <p:spPr>
          <a:xfrm rot="5400000">
            <a:off x="4310225" y="3026044"/>
            <a:ext cx="26400" cy="1669200"/>
          </a:xfrm>
          <a:prstGeom prst="curvedConnector3">
            <a:avLst>
              <a:gd fmla="val -901989" name="adj1"/>
            </a:avLst>
          </a:prstGeom>
          <a:noFill/>
          <a:ln cap="flat" cmpd="sng" w="9525">
            <a:solidFill>
              <a:schemeClr val="dk2"/>
            </a:solidFill>
            <a:prstDash val="solid"/>
            <a:round/>
            <a:headEnd len="med" w="med" type="triangle"/>
            <a:tailEnd len="med" w="med" type="non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0"/>
          <p:cNvSpPr txBox="1"/>
          <p:nvPr>
            <p:ph type="title"/>
          </p:nvPr>
        </p:nvSpPr>
        <p:spPr>
          <a:xfrm>
            <a:off x="311700" y="445025"/>
            <a:ext cx="4418400" cy="1173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Real World</a:t>
            </a:r>
            <a:endParaRPr/>
          </a:p>
          <a:p>
            <a:pPr indent="0" lvl="0" marL="0" rtl="0" algn="l">
              <a:spcBef>
                <a:spcPts val="0"/>
              </a:spcBef>
              <a:spcAft>
                <a:spcPts val="0"/>
              </a:spcAft>
              <a:buNone/>
            </a:pPr>
            <a:r>
              <a:rPr lang="en"/>
              <a:t>Machine Learning Pipeline</a:t>
            </a:r>
            <a:endParaRPr/>
          </a:p>
        </p:txBody>
      </p:sp>
      <p:pic>
        <p:nvPicPr>
          <p:cNvPr id="130" name="Google Shape;130;p20"/>
          <p:cNvPicPr preferRelativeResize="0"/>
          <p:nvPr/>
        </p:nvPicPr>
        <p:blipFill>
          <a:blip r:embed="rId3">
            <a:alphaModFix/>
          </a:blip>
          <a:stretch>
            <a:fillRect/>
          </a:stretch>
        </p:blipFill>
        <p:spPr>
          <a:xfrm>
            <a:off x="4729976" y="0"/>
            <a:ext cx="4212447" cy="5143500"/>
          </a:xfrm>
          <a:prstGeom prst="rect">
            <a:avLst/>
          </a:prstGeom>
          <a:noFill/>
          <a:ln>
            <a:noFill/>
          </a:ln>
        </p:spPr>
      </p:pic>
      <p:sp>
        <p:nvSpPr>
          <p:cNvPr id="131" name="Google Shape;131;p20"/>
          <p:cNvSpPr txBox="1"/>
          <p:nvPr>
            <p:ph idx="1" type="body"/>
          </p:nvPr>
        </p:nvSpPr>
        <p:spPr>
          <a:xfrm>
            <a:off x="311700" y="1533475"/>
            <a:ext cx="4509000" cy="207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900">
                <a:solidFill>
                  <a:srgbClr val="202124"/>
                </a:solidFill>
                <a:highlight>
                  <a:srgbClr val="FFFFFF"/>
                </a:highlight>
                <a:latin typeface="Roboto"/>
                <a:ea typeface="Roboto"/>
                <a:cs typeface="Roboto"/>
                <a:sym typeface="Roboto"/>
              </a:rPr>
              <a:t>ML Pipelines have one of two functions: </a:t>
            </a:r>
            <a:endParaRPr sz="1900">
              <a:solidFill>
                <a:srgbClr val="202124"/>
              </a:solidFill>
              <a:highlight>
                <a:srgbClr val="FFFFFF"/>
              </a:highlight>
              <a:latin typeface="Roboto"/>
              <a:ea typeface="Roboto"/>
              <a:cs typeface="Roboto"/>
              <a:sym typeface="Roboto"/>
            </a:endParaRPr>
          </a:p>
          <a:p>
            <a:pPr indent="-349250" lvl="0" marL="457200" rtl="0" algn="l">
              <a:spcBef>
                <a:spcPts val="1200"/>
              </a:spcBef>
              <a:spcAft>
                <a:spcPts val="0"/>
              </a:spcAft>
              <a:buClr>
                <a:srgbClr val="202124"/>
              </a:buClr>
              <a:buSzPts val="1900"/>
              <a:buFont typeface="Roboto"/>
              <a:buChar char="●"/>
            </a:pPr>
            <a:r>
              <a:rPr lang="en" sz="1900">
                <a:solidFill>
                  <a:srgbClr val="202124"/>
                </a:solidFill>
                <a:highlight>
                  <a:srgbClr val="FFFFFF"/>
                </a:highlight>
                <a:latin typeface="Roboto"/>
                <a:ea typeface="Roboto"/>
                <a:cs typeface="Roboto"/>
                <a:sym typeface="Roboto"/>
              </a:rPr>
              <a:t>Delivering predictions </a:t>
            </a:r>
            <a:br>
              <a:rPr lang="en" sz="1900">
                <a:solidFill>
                  <a:srgbClr val="202124"/>
                </a:solidFill>
                <a:highlight>
                  <a:srgbClr val="FFFFFF"/>
                </a:highlight>
                <a:latin typeface="Roboto"/>
                <a:ea typeface="Roboto"/>
                <a:cs typeface="Roboto"/>
                <a:sym typeface="Roboto"/>
              </a:rPr>
            </a:br>
            <a:r>
              <a:rPr i="1" lang="en" sz="1900">
                <a:solidFill>
                  <a:schemeClr val="accent5"/>
                </a:solidFill>
                <a:highlight>
                  <a:srgbClr val="FFFFFF"/>
                </a:highlight>
                <a:latin typeface="Roboto"/>
                <a:ea typeface="Roboto"/>
                <a:cs typeface="Roboto"/>
                <a:sym typeface="Roboto"/>
              </a:rPr>
              <a:t>(Deployed models)</a:t>
            </a:r>
            <a:endParaRPr i="1" sz="1900">
              <a:solidFill>
                <a:schemeClr val="accent5"/>
              </a:solidFill>
              <a:highlight>
                <a:srgbClr val="FFFFFF"/>
              </a:highlight>
              <a:latin typeface="Roboto"/>
              <a:ea typeface="Roboto"/>
              <a:cs typeface="Roboto"/>
              <a:sym typeface="Roboto"/>
            </a:endParaRPr>
          </a:p>
          <a:p>
            <a:pPr indent="-349250" lvl="0" marL="457200" rtl="0" algn="l">
              <a:spcBef>
                <a:spcPts val="0"/>
              </a:spcBef>
              <a:spcAft>
                <a:spcPts val="0"/>
              </a:spcAft>
              <a:buClr>
                <a:srgbClr val="202124"/>
              </a:buClr>
              <a:buSzPts val="1900"/>
              <a:buFont typeface="Roboto"/>
              <a:buChar char="●"/>
            </a:pPr>
            <a:r>
              <a:rPr lang="en" sz="1900">
                <a:solidFill>
                  <a:srgbClr val="202124"/>
                </a:solidFill>
                <a:highlight>
                  <a:srgbClr val="FFFFFF"/>
                </a:highlight>
                <a:latin typeface="Roboto"/>
                <a:ea typeface="Roboto"/>
                <a:cs typeface="Roboto"/>
                <a:sym typeface="Roboto"/>
              </a:rPr>
              <a:t>Training or Updating the model </a:t>
            </a:r>
            <a:r>
              <a:rPr i="1" lang="en" sz="1900">
                <a:solidFill>
                  <a:schemeClr val="accent5"/>
                </a:solidFill>
                <a:highlight>
                  <a:srgbClr val="FFFFFF"/>
                </a:highlight>
                <a:latin typeface="Roboto"/>
                <a:ea typeface="Roboto"/>
                <a:cs typeface="Roboto"/>
                <a:sym typeface="Roboto"/>
              </a:rPr>
              <a:t>(Constructing the model)</a:t>
            </a:r>
            <a:endParaRPr i="1" sz="2500">
              <a:solidFill>
                <a:schemeClr val="accent5"/>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1"/>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Pipelines Involved in </a:t>
            </a:r>
            <a:endParaRPr/>
          </a:p>
          <a:p>
            <a:pPr indent="0" lvl="0" marL="0" rtl="0" algn="ctr">
              <a:spcBef>
                <a:spcPts val="0"/>
              </a:spcBef>
              <a:spcAft>
                <a:spcPts val="0"/>
              </a:spcAft>
              <a:buNone/>
            </a:pPr>
            <a:r>
              <a:rPr lang="en"/>
              <a:t>Training and Updating a Model</a:t>
            </a:r>
            <a:endParaRPr/>
          </a:p>
        </p:txBody>
      </p:sp>
      <p:sp>
        <p:nvSpPr>
          <p:cNvPr id="137" name="Google Shape;137;p21"/>
          <p:cNvSpPr txBox="1"/>
          <p:nvPr/>
        </p:nvSpPr>
        <p:spPr>
          <a:xfrm>
            <a:off x="490825" y="3099550"/>
            <a:ext cx="8341500" cy="1533000"/>
          </a:xfrm>
          <a:prstGeom prst="rect">
            <a:avLst/>
          </a:prstGeom>
          <a:noFill/>
          <a:ln>
            <a:noFill/>
          </a:ln>
        </p:spPr>
        <p:txBody>
          <a:bodyPr anchorCtr="0" anchor="t" bIns="91425" lIns="91425" spcFirstLastPara="1" rIns="91425" wrap="square" tIns="91425">
            <a:noAutofit/>
          </a:bodyPr>
          <a:lstStyle/>
          <a:p>
            <a:pPr indent="-361950" lvl="0" marL="457200" rtl="0" algn="l">
              <a:spcBef>
                <a:spcPts val="0"/>
              </a:spcBef>
              <a:spcAft>
                <a:spcPts val="0"/>
              </a:spcAft>
              <a:buSzPts val="2100"/>
              <a:buChar char="●"/>
            </a:pPr>
            <a:r>
              <a:rPr i="1" lang="en" sz="2100"/>
              <a:t>Almost all models go stale. </a:t>
            </a:r>
            <a:endParaRPr i="1" sz="2100"/>
          </a:p>
          <a:p>
            <a:pPr indent="-361950" lvl="0" marL="457200" rtl="0" algn="l">
              <a:spcBef>
                <a:spcPts val="0"/>
              </a:spcBef>
              <a:spcAft>
                <a:spcPts val="0"/>
              </a:spcAft>
              <a:buSzPts val="2100"/>
              <a:buChar char="●"/>
            </a:pPr>
            <a:r>
              <a:rPr i="1" lang="en" sz="2100"/>
              <a:t>Some models go stale faster than others… </a:t>
            </a:r>
            <a:endParaRPr i="1" sz="2100"/>
          </a:p>
          <a:p>
            <a:pPr indent="-361950" lvl="0" marL="457200" rtl="0" algn="l">
              <a:spcBef>
                <a:spcPts val="0"/>
              </a:spcBef>
              <a:spcAft>
                <a:spcPts val="0"/>
              </a:spcAft>
              <a:buSzPts val="2100"/>
              <a:buChar char="●"/>
            </a:pPr>
            <a:r>
              <a:rPr i="1" lang="en" sz="2100"/>
              <a:t>So we need an automated process for collecting updated data and using it to retrain our models</a:t>
            </a:r>
            <a:endParaRPr i="1" sz="21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Pipeline</a:t>
            </a:r>
            <a:endParaRPr/>
          </a:p>
        </p:txBody>
      </p:sp>
      <p:pic>
        <p:nvPicPr>
          <p:cNvPr id="143" name="Google Shape;143;p22"/>
          <p:cNvPicPr preferRelativeResize="0"/>
          <p:nvPr/>
        </p:nvPicPr>
        <p:blipFill>
          <a:blip r:embed="rId3">
            <a:alphaModFix/>
          </a:blip>
          <a:stretch>
            <a:fillRect/>
          </a:stretch>
        </p:blipFill>
        <p:spPr>
          <a:xfrm>
            <a:off x="184150" y="1017725"/>
            <a:ext cx="9144000" cy="3851653"/>
          </a:xfrm>
          <a:prstGeom prst="rect">
            <a:avLst/>
          </a:prstGeom>
          <a:noFill/>
          <a:ln>
            <a:noFill/>
          </a:ln>
        </p:spPr>
      </p:pic>
      <p:sp>
        <p:nvSpPr>
          <p:cNvPr id="144" name="Google Shape;144;p22"/>
          <p:cNvSpPr txBox="1"/>
          <p:nvPr/>
        </p:nvSpPr>
        <p:spPr>
          <a:xfrm>
            <a:off x="184150" y="4869375"/>
            <a:ext cx="8959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rgbClr val="202124"/>
                </a:solidFill>
                <a:highlight>
                  <a:srgbClr val="FFFFFF"/>
                </a:highlight>
                <a:latin typeface="Roboto"/>
                <a:ea typeface="Roboto"/>
                <a:cs typeface="Roboto"/>
                <a:sym typeface="Roboto"/>
              </a:rPr>
              <a:t>Figure 8</a:t>
            </a:r>
            <a:r>
              <a:rPr lang="en" sz="1200">
                <a:solidFill>
                  <a:srgbClr val="202124"/>
                </a:solidFill>
                <a:highlight>
                  <a:srgbClr val="FFFFFF"/>
                </a:highlight>
                <a:latin typeface="Roboto"/>
                <a:ea typeface="Roboto"/>
                <a:cs typeface="Roboto"/>
                <a:sym typeface="Roboto"/>
              </a:rPr>
              <a:t>. Data pipeline processes application data to create datasets for the training and validation pipelines.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Training New Model Pipeline</a:t>
            </a:r>
            <a:endParaRPr/>
          </a:p>
        </p:txBody>
      </p:sp>
      <p:pic>
        <p:nvPicPr>
          <p:cNvPr id="150" name="Google Shape;150;p23"/>
          <p:cNvPicPr preferRelativeResize="0"/>
          <p:nvPr/>
        </p:nvPicPr>
        <p:blipFill>
          <a:blip r:embed="rId3">
            <a:alphaModFix/>
          </a:blip>
          <a:stretch>
            <a:fillRect/>
          </a:stretch>
        </p:blipFill>
        <p:spPr>
          <a:xfrm>
            <a:off x="499538" y="1170125"/>
            <a:ext cx="8144925" cy="3430825"/>
          </a:xfrm>
          <a:prstGeom prst="rect">
            <a:avLst/>
          </a:prstGeom>
          <a:noFill/>
          <a:ln>
            <a:noFill/>
          </a:ln>
        </p:spPr>
      </p:pic>
      <p:sp>
        <p:nvSpPr>
          <p:cNvPr id="151" name="Google Shape;151;p23"/>
          <p:cNvSpPr txBox="1"/>
          <p:nvPr/>
        </p:nvSpPr>
        <p:spPr>
          <a:xfrm>
            <a:off x="499550" y="4600950"/>
            <a:ext cx="8145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rgbClr val="202124"/>
                </a:solidFill>
                <a:highlight>
                  <a:srgbClr val="FFFFFF"/>
                </a:highlight>
                <a:latin typeface="Roboto"/>
                <a:ea typeface="Roboto"/>
                <a:cs typeface="Roboto"/>
                <a:sym typeface="Roboto"/>
              </a:rPr>
              <a:t>Figure 9</a:t>
            </a:r>
            <a:r>
              <a:rPr lang="en" sz="1200">
                <a:solidFill>
                  <a:srgbClr val="202124"/>
                </a:solidFill>
                <a:highlight>
                  <a:srgbClr val="FFFFFF"/>
                </a:highlight>
                <a:latin typeface="Roboto"/>
                <a:ea typeface="Roboto"/>
                <a:cs typeface="Roboto"/>
                <a:sym typeface="Roboto"/>
              </a:rPr>
              <a:t>. The training pipeline trains new models using the most recent training dataset.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Validation Pipeline</a:t>
            </a:r>
            <a:endParaRPr/>
          </a:p>
        </p:txBody>
      </p:sp>
      <p:pic>
        <p:nvPicPr>
          <p:cNvPr id="157" name="Google Shape;157;p24"/>
          <p:cNvPicPr preferRelativeResize="0"/>
          <p:nvPr/>
        </p:nvPicPr>
        <p:blipFill>
          <a:blip r:embed="rId3">
            <a:alphaModFix/>
          </a:blip>
          <a:stretch>
            <a:fillRect/>
          </a:stretch>
        </p:blipFill>
        <p:spPr>
          <a:xfrm>
            <a:off x="472575" y="1017725"/>
            <a:ext cx="8198849" cy="38358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Serving Pipeline</a:t>
            </a:r>
            <a:endParaRPr/>
          </a:p>
        </p:txBody>
      </p:sp>
      <p:sp>
        <p:nvSpPr>
          <p:cNvPr id="163" name="Google Shape;163;p25"/>
          <p:cNvSpPr/>
          <p:nvPr/>
        </p:nvSpPr>
        <p:spPr>
          <a:xfrm>
            <a:off x="1035613" y="2282425"/>
            <a:ext cx="5311800" cy="1511700"/>
          </a:xfrm>
          <a:prstGeom prst="roundRect">
            <a:avLst>
              <a:gd fmla="val 16667" name="adj"/>
            </a:avLst>
          </a:prstGeom>
          <a:solidFill>
            <a:srgbClr val="E9F0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4" name="Google Shape;164;p25"/>
          <p:cNvSpPr/>
          <p:nvPr/>
        </p:nvSpPr>
        <p:spPr>
          <a:xfrm>
            <a:off x="1265188" y="2768106"/>
            <a:ext cx="1173000" cy="572700"/>
          </a:xfrm>
          <a:prstGeom prst="roundRect">
            <a:avLst>
              <a:gd fmla="val 16667" name="adj"/>
            </a:avLst>
          </a:prstGeom>
          <a:solidFill>
            <a:srgbClr val="2A63D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500">
                <a:solidFill>
                  <a:schemeClr val="lt1"/>
                </a:solidFill>
              </a:rPr>
              <a:t>App</a:t>
            </a:r>
            <a:endParaRPr sz="1500">
              <a:solidFill>
                <a:schemeClr val="lt1"/>
              </a:solidFill>
            </a:endParaRPr>
          </a:p>
          <a:p>
            <a:pPr indent="0" lvl="0" marL="0" rtl="0" algn="ctr">
              <a:spcBef>
                <a:spcPts val="0"/>
              </a:spcBef>
              <a:spcAft>
                <a:spcPts val="0"/>
              </a:spcAft>
              <a:buNone/>
            </a:pPr>
            <a:r>
              <a:rPr lang="en" sz="1500">
                <a:solidFill>
                  <a:schemeClr val="lt1"/>
                </a:solidFill>
              </a:rPr>
              <a:t>data</a:t>
            </a:r>
            <a:endParaRPr sz="1500">
              <a:solidFill>
                <a:schemeClr val="lt1"/>
              </a:solidFill>
            </a:endParaRPr>
          </a:p>
        </p:txBody>
      </p:sp>
      <p:sp>
        <p:nvSpPr>
          <p:cNvPr id="165" name="Google Shape;165;p25"/>
          <p:cNvSpPr/>
          <p:nvPr/>
        </p:nvSpPr>
        <p:spPr>
          <a:xfrm>
            <a:off x="4911288" y="2768100"/>
            <a:ext cx="1280400" cy="572700"/>
          </a:xfrm>
          <a:prstGeom prst="roundRect">
            <a:avLst>
              <a:gd fmla="val 16667" name="adj"/>
            </a:avLst>
          </a:prstGeom>
          <a:solidFill>
            <a:srgbClr val="2A63D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500">
                <a:solidFill>
                  <a:schemeClr val="lt1"/>
                </a:solidFill>
              </a:rPr>
              <a:t>Predictions</a:t>
            </a:r>
            <a:endParaRPr sz="1500">
              <a:solidFill>
                <a:schemeClr val="lt1"/>
              </a:solidFill>
            </a:endParaRPr>
          </a:p>
        </p:txBody>
      </p:sp>
      <p:sp>
        <p:nvSpPr>
          <p:cNvPr id="166" name="Google Shape;166;p25"/>
          <p:cNvSpPr/>
          <p:nvPr/>
        </p:nvSpPr>
        <p:spPr>
          <a:xfrm>
            <a:off x="2994638" y="2768094"/>
            <a:ext cx="1360206" cy="572724"/>
          </a:xfrm>
          <a:prstGeom prst="flowChartTerminator">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2A63D2"/>
                </a:solidFill>
              </a:rPr>
              <a:t>Prediction</a:t>
            </a:r>
            <a:r>
              <a:rPr b="1" lang="en">
                <a:solidFill>
                  <a:srgbClr val="2A63D2"/>
                </a:solidFill>
              </a:rPr>
              <a:t> serving</a:t>
            </a:r>
            <a:endParaRPr b="1">
              <a:solidFill>
                <a:srgbClr val="2A63D2"/>
              </a:solidFill>
            </a:endParaRPr>
          </a:p>
        </p:txBody>
      </p:sp>
      <p:cxnSp>
        <p:nvCxnSpPr>
          <p:cNvPr id="167" name="Google Shape;167;p25"/>
          <p:cNvCxnSpPr>
            <a:stCxn id="164" idx="3"/>
            <a:endCxn id="166" idx="1"/>
          </p:cNvCxnSpPr>
          <p:nvPr/>
        </p:nvCxnSpPr>
        <p:spPr>
          <a:xfrm>
            <a:off x="2438188" y="3054456"/>
            <a:ext cx="556500" cy="0"/>
          </a:xfrm>
          <a:prstGeom prst="straightConnector1">
            <a:avLst/>
          </a:prstGeom>
          <a:noFill/>
          <a:ln cap="flat" cmpd="sng" w="19050">
            <a:solidFill>
              <a:schemeClr val="accent3"/>
            </a:solidFill>
            <a:prstDash val="solid"/>
            <a:round/>
            <a:headEnd len="med" w="med" type="oval"/>
            <a:tailEnd len="med" w="med" type="triangle"/>
          </a:ln>
        </p:spPr>
      </p:cxnSp>
      <p:cxnSp>
        <p:nvCxnSpPr>
          <p:cNvPr id="168" name="Google Shape;168;p25"/>
          <p:cNvCxnSpPr>
            <a:stCxn id="166" idx="3"/>
            <a:endCxn id="165" idx="1"/>
          </p:cNvCxnSpPr>
          <p:nvPr/>
        </p:nvCxnSpPr>
        <p:spPr>
          <a:xfrm>
            <a:off x="4354844" y="3054456"/>
            <a:ext cx="556500" cy="0"/>
          </a:xfrm>
          <a:prstGeom prst="straightConnector1">
            <a:avLst/>
          </a:prstGeom>
          <a:noFill/>
          <a:ln cap="flat" cmpd="sng" w="19050">
            <a:solidFill>
              <a:schemeClr val="accent3"/>
            </a:solidFill>
            <a:prstDash val="solid"/>
            <a:round/>
            <a:headEnd len="med" w="med" type="oval"/>
            <a:tailEnd len="med" w="med" type="triangle"/>
          </a:ln>
        </p:spPr>
      </p:cxnSp>
      <p:cxnSp>
        <p:nvCxnSpPr>
          <p:cNvPr id="169" name="Google Shape;169;p25"/>
          <p:cNvCxnSpPr>
            <a:stCxn id="165" idx="3"/>
          </p:cNvCxnSpPr>
          <p:nvPr/>
        </p:nvCxnSpPr>
        <p:spPr>
          <a:xfrm flipH="1" rot="10800000">
            <a:off x="6191688" y="3054150"/>
            <a:ext cx="681900" cy="300"/>
          </a:xfrm>
          <a:prstGeom prst="straightConnector1">
            <a:avLst/>
          </a:prstGeom>
          <a:noFill/>
          <a:ln cap="flat" cmpd="sng" w="19050">
            <a:solidFill>
              <a:schemeClr val="accent3"/>
            </a:solidFill>
            <a:prstDash val="solid"/>
            <a:round/>
            <a:headEnd len="med" w="med" type="oval"/>
            <a:tailEnd len="med" w="med" type="triangle"/>
          </a:ln>
        </p:spPr>
      </p:cxnSp>
      <p:sp>
        <p:nvSpPr>
          <p:cNvPr id="170" name="Google Shape;170;p25"/>
          <p:cNvSpPr/>
          <p:nvPr/>
        </p:nvSpPr>
        <p:spPr>
          <a:xfrm>
            <a:off x="6827988" y="2767950"/>
            <a:ext cx="1280400" cy="572700"/>
          </a:xfrm>
          <a:prstGeom prst="roundRect">
            <a:avLst>
              <a:gd fmla="val 16667" name="adj"/>
            </a:avLst>
          </a:prstGeom>
          <a:solidFill>
            <a:srgbClr val="E9F0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500">
                <a:solidFill>
                  <a:srgbClr val="2A63D2"/>
                </a:solidFill>
              </a:rPr>
              <a:t>Prediction</a:t>
            </a:r>
            <a:endParaRPr sz="1500">
              <a:solidFill>
                <a:srgbClr val="2A63D2"/>
              </a:solidFill>
            </a:endParaRPr>
          </a:p>
          <a:p>
            <a:pPr indent="0" lvl="0" marL="0" rtl="0" algn="ctr">
              <a:spcBef>
                <a:spcPts val="0"/>
              </a:spcBef>
              <a:spcAft>
                <a:spcPts val="0"/>
              </a:spcAft>
              <a:buNone/>
            </a:pPr>
            <a:r>
              <a:rPr lang="en" sz="1500">
                <a:solidFill>
                  <a:srgbClr val="2A63D2"/>
                </a:solidFill>
              </a:rPr>
              <a:t>logging</a:t>
            </a:r>
            <a:endParaRPr sz="1500">
              <a:solidFill>
                <a:srgbClr val="2A63D2"/>
              </a:solidFill>
            </a:endParaRPr>
          </a:p>
        </p:txBody>
      </p:sp>
      <p:cxnSp>
        <p:nvCxnSpPr>
          <p:cNvPr id="171" name="Google Shape;171;p25"/>
          <p:cNvCxnSpPr>
            <a:stCxn id="165" idx="2"/>
            <a:endCxn id="164" idx="2"/>
          </p:cNvCxnSpPr>
          <p:nvPr/>
        </p:nvCxnSpPr>
        <p:spPr>
          <a:xfrm rot="5400000">
            <a:off x="3701238" y="1491150"/>
            <a:ext cx="600" cy="3699900"/>
          </a:xfrm>
          <a:prstGeom prst="curvedConnector3">
            <a:avLst>
              <a:gd fmla="val 39688542" name="adj1"/>
            </a:avLst>
          </a:prstGeom>
          <a:noFill/>
          <a:ln cap="flat" cmpd="sng" w="19050">
            <a:solidFill>
              <a:schemeClr val="accent3"/>
            </a:solidFill>
            <a:prstDash val="solid"/>
            <a:round/>
            <a:headEnd len="med" w="med" type="none"/>
            <a:tailEnd len="med" w="med" type="stealth"/>
          </a:ln>
        </p:spPr>
      </p:cxnSp>
      <p:sp>
        <p:nvSpPr>
          <p:cNvPr id="172" name="Google Shape;172;p25"/>
          <p:cNvSpPr/>
          <p:nvPr/>
        </p:nvSpPr>
        <p:spPr>
          <a:xfrm>
            <a:off x="3024015" y="1606563"/>
            <a:ext cx="1280400" cy="572700"/>
          </a:xfrm>
          <a:prstGeom prst="roundRect">
            <a:avLst>
              <a:gd fmla="val 16667" name="adj"/>
            </a:avLst>
          </a:prstGeom>
          <a:solidFill>
            <a:srgbClr val="F3E8F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solidFill>
                  <a:srgbClr val="8525CE"/>
                </a:solidFill>
              </a:rPr>
              <a:t>Model Storage</a:t>
            </a:r>
            <a:endParaRPr b="1" sz="1500">
              <a:solidFill>
                <a:srgbClr val="8525CE"/>
              </a:solidFill>
            </a:endParaRPr>
          </a:p>
        </p:txBody>
      </p:sp>
      <p:cxnSp>
        <p:nvCxnSpPr>
          <p:cNvPr id="173" name="Google Shape;173;p25"/>
          <p:cNvCxnSpPr>
            <a:stCxn id="172" idx="2"/>
            <a:endCxn id="166" idx="0"/>
          </p:cNvCxnSpPr>
          <p:nvPr/>
        </p:nvCxnSpPr>
        <p:spPr>
          <a:xfrm>
            <a:off x="3664215" y="2179263"/>
            <a:ext cx="10500" cy="588900"/>
          </a:xfrm>
          <a:prstGeom prst="straightConnector1">
            <a:avLst/>
          </a:prstGeom>
          <a:noFill/>
          <a:ln cap="flat" cmpd="sng" w="19050">
            <a:solidFill>
              <a:schemeClr val="accent3"/>
            </a:solidFill>
            <a:prstDash val="solid"/>
            <a:round/>
            <a:headEnd len="med" w="med" type="oval"/>
            <a:tailEnd len="med" w="med" type="triangle"/>
          </a:ln>
        </p:spPr>
      </p:cxnSp>
      <p:cxnSp>
        <p:nvCxnSpPr>
          <p:cNvPr id="174" name="Google Shape;174;p25"/>
          <p:cNvCxnSpPr>
            <a:endCxn id="172" idx="0"/>
          </p:cNvCxnSpPr>
          <p:nvPr/>
        </p:nvCxnSpPr>
        <p:spPr>
          <a:xfrm rot="10800000">
            <a:off x="3664215" y="1606563"/>
            <a:ext cx="5500500" cy="351600"/>
          </a:xfrm>
          <a:prstGeom prst="curvedConnector4">
            <a:avLst>
              <a:gd fmla="val 44181" name="adj1"/>
              <a:gd fmla="val 167726" name="adj2"/>
            </a:avLst>
          </a:prstGeom>
          <a:noFill/>
          <a:ln cap="flat" cmpd="sng" w="19050">
            <a:solidFill>
              <a:schemeClr val="accent3"/>
            </a:solidFill>
            <a:prstDash val="solid"/>
            <a:round/>
            <a:headEnd len="med" w="med" type="none"/>
            <a:tailEnd len="med" w="med" type="stealth"/>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6"/>
          <p:cNvSpPr txBox="1"/>
          <p:nvPr>
            <p:ph type="title"/>
          </p:nvPr>
        </p:nvSpPr>
        <p:spPr>
          <a:xfrm>
            <a:off x="311700" y="445025"/>
            <a:ext cx="4418400" cy="1173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Real World</a:t>
            </a:r>
            <a:endParaRPr/>
          </a:p>
          <a:p>
            <a:pPr indent="0" lvl="0" marL="0" rtl="0" algn="l">
              <a:spcBef>
                <a:spcPts val="0"/>
              </a:spcBef>
              <a:spcAft>
                <a:spcPts val="0"/>
              </a:spcAft>
              <a:buNone/>
            </a:pPr>
            <a:r>
              <a:rPr lang="en"/>
              <a:t>Machine Learning Pipeline</a:t>
            </a:r>
            <a:endParaRPr/>
          </a:p>
        </p:txBody>
      </p:sp>
      <p:pic>
        <p:nvPicPr>
          <p:cNvPr id="180" name="Google Shape;180;p26"/>
          <p:cNvPicPr preferRelativeResize="0"/>
          <p:nvPr/>
        </p:nvPicPr>
        <p:blipFill>
          <a:blip r:embed="rId3">
            <a:alphaModFix/>
          </a:blip>
          <a:stretch>
            <a:fillRect/>
          </a:stretch>
        </p:blipFill>
        <p:spPr>
          <a:xfrm>
            <a:off x="4729976" y="0"/>
            <a:ext cx="4212447" cy="5143500"/>
          </a:xfrm>
          <a:prstGeom prst="rect">
            <a:avLst/>
          </a:prstGeom>
          <a:noFill/>
          <a:ln>
            <a:noFill/>
          </a:ln>
        </p:spPr>
      </p:pic>
      <p:sp>
        <p:nvSpPr>
          <p:cNvPr id="181" name="Google Shape;181;p26"/>
          <p:cNvSpPr txBox="1"/>
          <p:nvPr>
            <p:ph idx="1" type="body"/>
          </p:nvPr>
        </p:nvSpPr>
        <p:spPr>
          <a:xfrm>
            <a:off x="311700" y="1533475"/>
            <a:ext cx="4509000" cy="207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900">
                <a:solidFill>
                  <a:srgbClr val="202124"/>
                </a:solidFill>
                <a:highlight>
                  <a:srgbClr val="FFFFFF"/>
                </a:highlight>
                <a:latin typeface="Roboto"/>
                <a:ea typeface="Roboto"/>
                <a:cs typeface="Roboto"/>
                <a:sym typeface="Roboto"/>
              </a:rPr>
              <a:t>ML Pipelines have one of two functions: </a:t>
            </a:r>
            <a:endParaRPr sz="1900">
              <a:solidFill>
                <a:srgbClr val="202124"/>
              </a:solidFill>
              <a:highlight>
                <a:srgbClr val="FFFFFF"/>
              </a:highlight>
              <a:latin typeface="Roboto"/>
              <a:ea typeface="Roboto"/>
              <a:cs typeface="Roboto"/>
              <a:sym typeface="Roboto"/>
            </a:endParaRPr>
          </a:p>
          <a:p>
            <a:pPr indent="-349250" lvl="0" marL="457200" rtl="0" algn="l">
              <a:spcBef>
                <a:spcPts val="1200"/>
              </a:spcBef>
              <a:spcAft>
                <a:spcPts val="0"/>
              </a:spcAft>
              <a:buClr>
                <a:srgbClr val="202124"/>
              </a:buClr>
              <a:buSzPts val="1900"/>
              <a:buFont typeface="Roboto"/>
              <a:buChar char="●"/>
            </a:pPr>
            <a:r>
              <a:rPr lang="en" sz="1900">
                <a:solidFill>
                  <a:srgbClr val="202124"/>
                </a:solidFill>
                <a:highlight>
                  <a:srgbClr val="FFFFFF"/>
                </a:highlight>
                <a:latin typeface="Roboto"/>
                <a:ea typeface="Roboto"/>
                <a:cs typeface="Roboto"/>
                <a:sym typeface="Roboto"/>
              </a:rPr>
              <a:t>Delivering predictions </a:t>
            </a:r>
            <a:br>
              <a:rPr lang="en" sz="1900">
                <a:solidFill>
                  <a:srgbClr val="202124"/>
                </a:solidFill>
                <a:highlight>
                  <a:srgbClr val="FFFFFF"/>
                </a:highlight>
                <a:latin typeface="Roboto"/>
                <a:ea typeface="Roboto"/>
                <a:cs typeface="Roboto"/>
                <a:sym typeface="Roboto"/>
              </a:rPr>
            </a:br>
            <a:r>
              <a:rPr i="1" lang="en" sz="1900">
                <a:solidFill>
                  <a:schemeClr val="accent5"/>
                </a:solidFill>
                <a:highlight>
                  <a:srgbClr val="FFFFFF"/>
                </a:highlight>
                <a:latin typeface="Roboto"/>
                <a:ea typeface="Roboto"/>
                <a:cs typeface="Roboto"/>
                <a:sym typeface="Roboto"/>
              </a:rPr>
              <a:t>(Deployed models)</a:t>
            </a:r>
            <a:endParaRPr i="1" sz="1900">
              <a:solidFill>
                <a:schemeClr val="accent5"/>
              </a:solidFill>
              <a:highlight>
                <a:srgbClr val="FFFFFF"/>
              </a:highlight>
              <a:latin typeface="Roboto"/>
              <a:ea typeface="Roboto"/>
              <a:cs typeface="Roboto"/>
              <a:sym typeface="Roboto"/>
            </a:endParaRPr>
          </a:p>
          <a:p>
            <a:pPr indent="-349250" lvl="0" marL="457200" rtl="0" algn="l">
              <a:spcBef>
                <a:spcPts val="0"/>
              </a:spcBef>
              <a:spcAft>
                <a:spcPts val="0"/>
              </a:spcAft>
              <a:buClr>
                <a:srgbClr val="202124"/>
              </a:buClr>
              <a:buSzPts val="1900"/>
              <a:buFont typeface="Roboto"/>
              <a:buChar char="●"/>
            </a:pPr>
            <a:r>
              <a:rPr lang="en" sz="1900">
                <a:solidFill>
                  <a:srgbClr val="202124"/>
                </a:solidFill>
                <a:highlight>
                  <a:srgbClr val="FFFFFF"/>
                </a:highlight>
                <a:latin typeface="Roboto"/>
                <a:ea typeface="Roboto"/>
                <a:cs typeface="Roboto"/>
                <a:sym typeface="Roboto"/>
              </a:rPr>
              <a:t>Training or Updating the model </a:t>
            </a:r>
            <a:r>
              <a:rPr i="1" lang="en" sz="1900">
                <a:solidFill>
                  <a:schemeClr val="accent5"/>
                </a:solidFill>
                <a:highlight>
                  <a:srgbClr val="FFFFFF"/>
                </a:highlight>
                <a:latin typeface="Roboto"/>
                <a:ea typeface="Roboto"/>
                <a:cs typeface="Roboto"/>
                <a:sym typeface="Roboto"/>
              </a:rPr>
              <a:t>(Constructing the model)</a:t>
            </a:r>
            <a:endParaRPr i="1" sz="2500">
              <a:solidFill>
                <a:schemeClr val="accent5"/>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Serving Pipeline: Prediction Types</a:t>
            </a:r>
            <a:endParaRPr/>
          </a:p>
        </p:txBody>
      </p:sp>
      <p:pic>
        <p:nvPicPr>
          <p:cNvPr id="187" name="Google Shape;187;p27"/>
          <p:cNvPicPr preferRelativeResize="0"/>
          <p:nvPr/>
        </p:nvPicPr>
        <p:blipFill>
          <a:blip r:embed="rId3">
            <a:alphaModFix/>
          </a:blip>
          <a:stretch>
            <a:fillRect/>
          </a:stretch>
        </p:blipFill>
        <p:spPr>
          <a:xfrm>
            <a:off x="0" y="1170125"/>
            <a:ext cx="9144000" cy="332841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8"/>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Examples: Living &amp; Working with AI </a:t>
            </a:r>
            <a:r>
              <a:rPr lang="en"/>
              <a:t>Curriculum</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9"/>
          <p:cNvSpPr txBox="1"/>
          <p:nvPr>
            <p:ph type="title"/>
          </p:nvPr>
        </p:nvSpPr>
        <p:spPr>
          <a:xfrm>
            <a:off x="150813" y="7498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a:t>
            </a:r>
            <a:r>
              <a:rPr lang="en">
                <a:latin typeface="Alfa Slab One"/>
                <a:ea typeface="Alfa Slab One"/>
                <a:cs typeface="Alfa Slab One"/>
                <a:sym typeface="Alfa Slab One"/>
              </a:rPr>
              <a:t>Teachable Machine Pipeline</a:t>
            </a:r>
            <a:endParaRPr>
              <a:latin typeface="Alfa Slab One"/>
              <a:ea typeface="Alfa Slab One"/>
              <a:cs typeface="Alfa Slab One"/>
              <a:sym typeface="Alfa Slab One"/>
            </a:endParaRPr>
          </a:p>
        </p:txBody>
      </p:sp>
      <p:sp>
        <p:nvSpPr>
          <p:cNvPr id="198" name="Google Shape;198;p29"/>
          <p:cNvSpPr txBox="1"/>
          <p:nvPr/>
        </p:nvSpPr>
        <p:spPr>
          <a:xfrm>
            <a:off x="150925" y="136875"/>
            <a:ext cx="89931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rgbClr val="0000FF"/>
                </a:solidFill>
              </a:rPr>
              <a:t>In Module 3.1, we used Code.org’s AI lab to create a dataset and trained a visual classifier for peace sign vs thumbs up</a:t>
            </a:r>
            <a:endParaRPr sz="1600">
              <a:solidFill>
                <a:srgbClr val="0000FF"/>
              </a:solidFill>
            </a:endParaRPr>
          </a:p>
        </p:txBody>
      </p:sp>
      <p:sp>
        <p:nvSpPr>
          <p:cNvPr id="199" name="Google Shape;199;p29"/>
          <p:cNvSpPr txBox="1"/>
          <p:nvPr>
            <p:ph idx="12" type="sldNum"/>
          </p:nvPr>
        </p:nvSpPr>
        <p:spPr>
          <a:xfrm>
            <a:off x="8472458" y="41298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00" name="Google Shape;200;p29"/>
          <p:cNvSpPr/>
          <p:nvPr/>
        </p:nvSpPr>
        <p:spPr>
          <a:xfrm>
            <a:off x="585000" y="2050484"/>
            <a:ext cx="1457400" cy="832200"/>
          </a:xfrm>
          <a:prstGeom prst="rect">
            <a:avLst/>
          </a:prstGeom>
          <a:solidFill>
            <a:srgbClr val="FFF2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t>Identify the question</a:t>
            </a:r>
            <a:endParaRPr sz="1300"/>
          </a:p>
        </p:txBody>
      </p:sp>
      <p:sp>
        <p:nvSpPr>
          <p:cNvPr id="201" name="Google Shape;201;p29"/>
          <p:cNvSpPr/>
          <p:nvPr/>
        </p:nvSpPr>
        <p:spPr>
          <a:xfrm>
            <a:off x="2489475" y="2082644"/>
            <a:ext cx="1319100" cy="779400"/>
          </a:xfrm>
          <a:prstGeom prst="rect">
            <a:avLst/>
          </a:prstGeom>
          <a:solidFill>
            <a:srgbClr val="FFF2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Identify the classes (labels)</a:t>
            </a:r>
            <a:endParaRPr/>
          </a:p>
        </p:txBody>
      </p:sp>
      <p:sp>
        <p:nvSpPr>
          <p:cNvPr id="202" name="Google Shape;202;p29"/>
          <p:cNvSpPr/>
          <p:nvPr/>
        </p:nvSpPr>
        <p:spPr>
          <a:xfrm>
            <a:off x="4110550" y="2056244"/>
            <a:ext cx="1457400" cy="832200"/>
          </a:xfrm>
          <a:prstGeom prst="rect">
            <a:avLst/>
          </a:prstGeom>
          <a:solidFill>
            <a:srgbClr val="FFF2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Collect your data for each class</a:t>
            </a:r>
            <a:endParaRPr/>
          </a:p>
        </p:txBody>
      </p:sp>
      <p:cxnSp>
        <p:nvCxnSpPr>
          <p:cNvPr id="203" name="Google Shape;203;p29"/>
          <p:cNvCxnSpPr>
            <a:stCxn id="200" idx="3"/>
            <a:endCxn id="201" idx="1"/>
          </p:cNvCxnSpPr>
          <p:nvPr/>
        </p:nvCxnSpPr>
        <p:spPr>
          <a:xfrm>
            <a:off x="2042400" y="2466584"/>
            <a:ext cx="447000" cy="5700"/>
          </a:xfrm>
          <a:prstGeom prst="straightConnector1">
            <a:avLst/>
          </a:prstGeom>
          <a:noFill/>
          <a:ln cap="flat" cmpd="sng" w="9525">
            <a:solidFill>
              <a:schemeClr val="dk2"/>
            </a:solidFill>
            <a:prstDash val="solid"/>
            <a:round/>
            <a:headEnd len="med" w="med" type="none"/>
            <a:tailEnd len="med" w="med" type="triangle"/>
          </a:ln>
        </p:spPr>
      </p:cxnSp>
      <p:cxnSp>
        <p:nvCxnSpPr>
          <p:cNvPr id="204" name="Google Shape;204;p29"/>
          <p:cNvCxnSpPr>
            <a:stCxn id="201" idx="3"/>
            <a:endCxn id="202" idx="1"/>
          </p:cNvCxnSpPr>
          <p:nvPr/>
        </p:nvCxnSpPr>
        <p:spPr>
          <a:xfrm>
            <a:off x="3808575" y="2472344"/>
            <a:ext cx="302100" cy="0"/>
          </a:xfrm>
          <a:prstGeom prst="straightConnector1">
            <a:avLst/>
          </a:prstGeom>
          <a:noFill/>
          <a:ln cap="flat" cmpd="sng" w="9525">
            <a:solidFill>
              <a:schemeClr val="dk2"/>
            </a:solidFill>
            <a:prstDash val="solid"/>
            <a:round/>
            <a:headEnd len="med" w="med" type="none"/>
            <a:tailEnd len="med" w="med" type="triangle"/>
          </a:ln>
        </p:spPr>
      </p:cxnSp>
      <p:cxnSp>
        <p:nvCxnSpPr>
          <p:cNvPr id="205" name="Google Shape;205;p29"/>
          <p:cNvCxnSpPr>
            <a:stCxn id="202" idx="3"/>
            <a:endCxn id="206" idx="1"/>
          </p:cNvCxnSpPr>
          <p:nvPr/>
        </p:nvCxnSpPr>
        <p:spPr>
          <a:xfrm>
            <a:off x="5567950" y="2472344"/>
            <a:ext cx="279900" cy="0"/>
          </a:xfrm>
          <a:prstGeom prst="straightConnector1">
            <a:avLst/>
          </a:prstGeom>
          <a:noFill/>
          <a:ln cap="flat" cmpd="sng" w="9525">
            <a:solidFill>
              <a:schemeClr val="dk2"/>
            </a:solidFill>
            <a:prstDash val="solid"/>
            <a:round/>
            <a:headEnd len="med" w="med" type="none"/>
            <a:tailEnd len="med" w="med" type="triangle"/>
          </a:ln>
        </p:spPr>
      </p:cxnSp>
      <p:cxnSp>
        <p:nvCxnSpPr>
          <p:cNvPr id="207" name="Google Shape;207;p29"/>
          <p:cNvCxnSpPr>
            <a:stCxn id="208" idx="1"/>
            <a:endCxn id="209" idx="3"/>
          </p:cNvCxnSpPr>
          <p:nvPr/>
        </p:nvCxnSpPr>
        <p:spPr>
          <a:xfrm>
            <a:off x="5790775" y="4104344"/>
            <a:ext cx="3273900" cy="0"/>
          </a:xfrm>
          <a:prstGeom prst="straightConnector1">
            <a:avLst/>
          </a:prstGeom>
          <a:noFill/>
          <a:ln cap="flat" cmpd="sng" w="9525">
            <a:solidFill>
              <a:schemeClr val="dk2"/>
            </a:solidFill>
            <a:prstDash val="solid"/>
            <a:round/>
            <a:headEnd len="med" w="med" type="none"/>
            <a:tailEnd len="med" w="med" type="triangle"/>
          </a:ln>
        </p:spPr>
      </p:cxnSp>
      <p:sp>
        <p:nvSpPr>
          <p:cNvPr id="209" name="Google Shape;209;p29"/>
          <p:cNvSpPr/>
          <p:nvPr/>
        </p:nvSpPr>
        <p:spPr>
          <a:xfrm>
            <a:off x="7607225" y="3688241"/>
            <a:ext cx="1457400" cy="832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800">
                <a:solidFill>
                  <a:schemeClr val="dk1"/>
                </a:solidFill>
              </a:rPr>
              <a:t>Test the model</a:t>
            </a:r>
            <a:endParaRPr/>
          </a:p>
        </p:txBody>
      </p:sp>
      <p:sp>
        <p:nvSpPr>
          <p:cNvPr id="208" name="Google Shape;208;p29"/>
          <p:cNvSpPr/>
          <p:nvPr/>
        </p:nvSpPr>
        <p:spPr>
          <a:xfrm>
            <a:off x="5790775" y="3688244"/>
            <a:ext cx="1457400" cy="832200"/>
          </a:xfrm>
          <a:prstGeom prst="rect">
            <a:avLst/>
          </a:prstGeom>
          <a:solidFill>
            <a:srgbClr val="FFF2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Review Accuracy</a:t>
            </a:r>
            <a:endParaRPr/>
          </a:p>
        </p:txBody>
      </p:sp>
      <p:cxnSp>
        <p:nvCxnSpPr>
          <p:cNvPr id="210" name="Google Shape;210;p29"/>
          <p:cNvCxnSpPr>
            <a:stCxn id="208" idx="0"/>
            <a:endCxn id="202" idx="2"/>
          </p:cNvCxnSpPr>
          <p:nvPr/>
        </p:nvCxnSpPr>
        <p:spPr>
          <a:xfrm rot="10800000">
            <a:off x="4839175" y="2888444"/>
            <a:ext cx="1680300" cy="799800"/>
          </a:xfrm>
          <a:prstGeom prst="straightConnector1">
            <a:avLst/>
          </a:prstGeom>
          <a:noFill/>
          <a:ln cap="flat" cmpd="sng" w="9525">
            <a:solidFill>
              <a:schemeClr val="dk2"/>
            </a:solidFill>
            <a:prstDash val="dash"/>
            <a:round/>
            <a:headEnd len="med" w="med" type="none"/>
            <a:tailEnd len="med" w="med" type="triangle"/>
          </a:ln>
        </p:spPr>
      </p:cxnSp>
      <p:sp>
        <p:nvSpPr>
          <p:cNvPr id="211" name="Google Shape;211;p29"/>
          <p:cNvSpPr txBox="1"/>
          <p:nvPr/>
        </p:nvSpPr>
        <p:spPr>
          <a:xfrm>
            <a:off x="4153500" y="3088250"/>
            <a:ext cx="1457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If accuracy low</a:t>
            </a:r>
            <a:endParaRPr/>
          </a:p>
        </p:txBody>
      </p:sp>
      <p:sp>
        <p:nvSpPr>
          <p:cNvPr id="212" name="Google Shape;212;p29"/>
          <p:cNvSpPr/>
          <p:nvPr/>
        </p:nvSpPr>
        <p:spPr>
          <a:xfrm>
            <a:off x="5869925" y="2076644"/>
            <a:ext cx="1457400" cy="832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rPr>
              <a:t>Train a classifier</a:t>
            </a:r>
            <a:endParaRPr/>
          </a:p>
        </p:txBody>
      </p:sp>
      <p:cxnSp>
        <p:nvCxnSpPr>
          <p:cNvPr id="213" name="Google Shape;213;p29"/>
          <p:cNvCxnSpPr>
            <a:stCxn id="208" idx="1"/>
            <a:endCxn id="214" idx="3"/>
          </p:cNvCxnSpPr>
          <p:nvPr/>
        </p:nvCxnSpPr>
        <p:spPr>
          <a:xfrm rot="10800000">
            <a:off x="4486975" y="4104344"/>
            <a:ext cx="1303800" cy="0"/>
          </a:xfrm>
          <a:prstGeom prst="straightConnector1">
            <a:avLst/>
          </a:prstGeom>
          <a:noFill/>
          <a:ln cap="flat" cmpd="sng" w="9525">
            <a:solidFill>
              <a:schemeClr val="dk2"/>
            </a:solidFill>
            <a:prstDash val="solid"/>
            <a:round/>
            <a:headEnd len="med" w="med" type="none"/>
            <a:tailEnd len="med" w="med" type="triangle"/>
          </a:ln>
        </p:spPr>
      </p:cxnSp>
      <p:sp>
        <p:nvSpPr>
          <p:cNvPr id="214" name="Google Shape;214;p29"/>
          <p:cNvSpPr/>
          <p:nvPr/>
        </p:nvSpPr>
        <p:spPr>
          <a:xfrm>
            <a:off x="3029713" y="3688241"/>
            <a:ext cx="1457400" cy="832200"/>
          </a:xfrm>
          <a:prstGeom prst="rect">
            <a:avLst/>
          </a:prstGeom>
          <a:solidFill>
            <a:srgbClr val="FFF2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rPr>
              <a:t>Test the model with users</a:t>
            </a:r>
            <a:endParaRPr/>
          </a:p>
        </p:txBody>
      </p:sp>
      <p:sp>
        <p:nvSpPr>
          <p:cNvPr id="215" name="Google Shape;215;p29"/>
          <p:cNvSpPr/>
          <p:nvPr/>
        </p:nvSpPr>
        <p:spPr>
          <a:xfrm>
            <a:off x="457225" y="3686507"/>
            <a:ext cx="1457400" cy="832200"/>
          </a:xfrm>
          <a:prstGeom prst="rect">
            <a:avLst/>
          </a:prstGeom>
          <a:solidFill>
            <a:srgbClr val="FFF2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rPr>
              <a:t>Use the model in a system</a:t>
            </a:r>
            <a:endParaRPr/>
          </a:p>
        </p:txBody>
      </p:sp>
      <p:cxnSp>
        <p:nvCxnSpPr>
          <p:cNvPr id="216" name="Google Shape;216;p29"/>
          <p:cNvCxnSpPr>
            <a:stCxn id="214" idx="1"/>
            <a:endCxn id="215" idx="3"/>
          </p:cNvCxnSpPr>
          <p:nvPr/>
        </p:nvCxnSpPr>
        <p:spPr>
          <a:xfrm rot="10800000">
            <a:off x="1914613" y="4102541"/>
            <a:ext cx="1115100" cy="1800"/>
          </a:xfrm>
          <a:prstGeom prst="straightConnector1">
            <a:avLst/>
          </a:prstGeom>
          <a:noFill/>
          <a:ln cap="flat" cmpd="sng" w="9525">
            <a:solidFill>
              <a:schemeClr val="dk2"/>
            </a:solidFill>
            <a:prstDash val="solid"/>
            <a:round/>
            <a:headEnd len="med" w="med" type="none"/>
            <a:tailEnd len="med" w="med" type="triangle"/>
          </a:ln>
        </p:spPr>
      </p:cxnSp>
      <p:sp>
        <p:nvSpPr>
          <p:cNvPr id="217" name="Google Shape;217;p29"/>
          <p:cNvSpPr/>
          <p:nvPr/>
        </p:nvSpPr>
        <p:spPr>
          <a:xfrm>
            <a:off x="7607225" y="2055794"/>
            <a:ext cx="1457400" cy="832200"/>
          </a:xfrm>
          <a:prstGeom prst="rect">
            <a:avLst/>
          </a:prstGeom>
          <a:solidFill>
            <a:srgbClr val="FFF2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Collect test data</a:t>
            </a:r>
            <a:endParaRPr/>
          </a:p>
        </p:txBody>
      </p:sp>
      <p:cxnSp>
        <p:nvCxnSpPr>
          <p:cNvPr id="218" name="Google Shape;218;p29"/>
          <p:cNvCxnSpPr/>
          <p:nvPr/>
        </p:nvCxnSpPr>
        <p:spPr>
          <a:xfrm>
            <a:off x="7320550" y="2472344"/>
            <a:ext cx="279900" cy="0"/>
          </a:xfrm>
          <a:prstGeom prst="straightConnector1">
            <a:avLst/>
          </a:prstGeom>
          <a:noFill/>
          <a:ln cap="flat" cmpd="sng" w="9525">
            <a:solidFill>
              <a:schemeClr val="dk2"/>
            </a:solidFill>
            <a:prstDash val="solid"/>
            <a:round/>
            <a:headEnd len="med" w="med" type="none"/>
            <a:tailEnd len="med" w="med" type="triangle"/>
          </a:ln>
        </p:spPr>
      </p:cxnSp>
      <p:cxnSp>
        <p:nvCxnSpPr>
          <p:cNvPr id="219" name="Google Shape;219;p29"/>
          <p:cNvCxnSpPr>
            <a:stCxn id="217" idx="2"/>
            <a:endCxn id="209" idx="0"/>
          </p:cNvCxnSpPr>
          <p:nvPr/>
        </p:nvCxnSpPr>
        <p:spPr>
          <a:xfrm>
            <a:off x="8335925" y="2887994"/>
            <a:ext cx="0" cy="800100"/>
          </a:xfrm>
          <a:prstGeom prst="straightConnector1">
            <a:avLst/>
          </a:prstGeom>
          <a:noFill/>
          <a:ln cap="flat" cmpd="sng" w="9525">
            <a:solidFill>
              <a:schemeClr val="dk2"/>
            </a:solidFill>
            <a:prstDash val="solid"/>
            <a:round/>
            <a:headEnd len="med" w="med" type="none"/>
            <a:tailEnd len="med" w="med" type="triangle"/>
          </a:ln>
        </p:spPr>
      </p:cxnSp>
      <p:sp>
        <p:nvSpPr>
          <p:cNvPr id="220" name="Google Shape;220;p29"/>
          <p:cNvSpPr txBox="1"/>
          <p:nvPr/>
        </p:nvSpPr>
        <p:spPr>
          <a:xfrm>
            <a:off x="4739350" y="3742350"/>
            <a:ext cx="9519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If accuracy is high</a:t>
            </a:r>
            <a:endParaRPr/>
          </a:p>
        </p:txBody>
      </p:sp>
      <p:cxnSp>
        <p:nvCxnSpPr>
          <p:cNvPr id="221" name="Google Shape;221;p29"/>
          <p:cNvCxnSpPr>
            <a:endCxn id="202" idx="2"/>
          </p:cNvCxnSpPr>
          <p:nvPr/>
        </p:nvCxnSpPr>
        <p:spPr>
          <a:xfrm flipH="1" rot="10800000">
            <a:off x="3106150" y="2888444"/>
            <a:ext cx="1733100" cy="798900"/>
          </a:xfrm>
          <a:prstGeom prst="straightConnector1">
            <a:avLst/>
          </a:prstGeom>
          <a:noFill/>
          <a:ln cap="flat" cmpd="sng" w="9525">
            <a:solidFill>
              <a:schemeClr val="dk2"/>
            </a:solidFill>
            <a:prstDash val="dash"/>
            <a:round/>
            <a:headEnd len="med" w="med" type="none"/>
            <a:tailEnd len="med" w="med" type="triangle"/>
          </a:ln>
        </p:spPr>
      </p:cxnSp>
      <p:sp>
        <p:nvSpPr>
          <p:cNvPr id="222" name="Google Shape;222;p29"/>
          <p:cNvSpPr txBox="1"/>
          <p:nvPr/>
        </p:nvSpPr>
        <p:spPr>
          <a:xfrm>
            <a:off x="2007657" y="3742350"/>
            <a:ext cx="9519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If accuracy is high</a:t>
            </a:r>
            <a:endParaRPr/>
          </a:p>
        </p:txBody>
      </p:sp>
      <p:sp>
        <p:nvSpPr>
          <p:cNvPr id="223" name="Google Shape;223;p29"/>
          <p:cNvSpPr txBox="1"/>
          <p:nvPr/>
        </p:nvSpPr>
        <p:spPr>
          <a:xfrm>
            <a:off x="589925" y="1748275"/>
            <a:ext cx="49479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FF0000"/>
                </a:solidFill>
              </a:rPr>
              <a:t>Build Dataset</a:t>
            </a:r>
            <a:endParaRPr>
              <a:solidFill>
                <a:srgbClr val="FF0000"/>
              </a:solidFill>
            </a:endParaRPr>
          </a:p>
        </p:txBody>
      </p:sp>
      <p:sp>
        <p:nvSpPr>
          <p:cNvPr id="224" name="Google Shape;224;p29"/>
          <p:cNvSpPr/>
          <p:nvPr/>
        </p:nvSpPr>
        <p:spPr>
          <a:xfrm>
            <a:off x="402725" y="1748275"/>
            <a:ext cx="5288400" cy="1214700"/>
          </a:xfrm>
          <a:prstGeom prst="rect">
            <a:avLst/>
          </a:prstGeom>
          <a:noFill/>
          <a:ln cap="flat" cmpd="sng" w="9525">
            <a:solidFill>
              <a:schemeClr val="dk2"/>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29"/>
          <p:cNvSpPr/>
          <p:nvPr/>
        </p:nvSpPr>
        <p:spPr>
          <a:xfrm rot="-5400000">
            <a:off x="4595575" y="202625"/>
            <a:ext cx="2899800" cy="6038400"/>
          </a:xfrm>
          <a:prstGeom prst="corner">
            <a:avLst>
              <a:gd fmla="val 50000" name="adj1"/>
              <a:gd fmla="val 36903" name="adj2"/>
            </a:avLst>
          </a:prstGeom>
          <a:noFill/>
          <a:ln cap="flat" cmpd="sng" w="9525">
            <a:solidFill>
              <a:schemeClr val="dk2"/>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29"/>
          <p:cNvSpPr txBox="1"/>
          <p:nvPr/>
        </p:nvSpPr>
        <p:spPr>
          <a:xfrm>
            <a:off x="7747600" y="1723188"/>
            <a:ext cx="1332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FF0000"/>
                </a:solidFill>
              </a:rPr>
              <a:t>Test</a:t>
            </a:r>
            <a:endParaRPr>
              <a:solidFill>
                <a:srgbClr val="FF000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0"/>
          <p:cNvSpPr txBox="1"/>
          <p:nvPr>
            <p:ph type="title"/>
          </p:nvPr>
        </p:nvSpPr>
        <p:spPr>
          <a:xfrm>
            <a:off x="227125" y="597425"/>
            <a:ext cx="8605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a:t>
            </a:r>
            <a:r>
              <a:rPr lang="en">
                <a:latin typeface="Alfa Slab One"/>
                <a:ea typeface="Alfa Slab One"/>
                <a:cs typeface="Alfa Slab One"/>
                <a:sym typeface="Alfa Slab One"/>
              </a:rPr>
              <a:t>ML4K Tool Pipeline </a:t>
            </a:r>
            <a:endParaRPr>
              <a:solidFill>
                <a:srgbClr val="FF0000"/>
              </a:solidFill>
              <a:latin typeface="Alfa Slab One"/>
              <a:ea typeface="Alfa Slab One"/>
              <a:cs typeface="Alfa Slab One"/>
              <a:sym typeface="Alfa Slab One"/>
            </a:endParaRPr>
          </a:p>
        </p:txBody>
      </p:sp>
      <p:sp>
        <p:nvSpPr>
          <p:cNvPr id="232" name="Google Shape;232;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33" name="Google Shape;233;p30"/>
          <p:cNvPicPr preferRelativeResize="0"/>
          <p:nvPr/>
        </p:nvPicPr>
        <p:blipFill>
          <a:blip r:embed="rId3">
            <a:alphaModFix/>
          </a:blip>
          <a:stretch>
            <a:fillRect/>
          </a:stretch>
        </p:blipFill>
        <p:spPr>
          <a:xfrm>
            <a:off x="172600" y="1014100"/>
            <a:ext cx="8390400" cy="4042725"/>
          </a:xfrm>
          <a:prstGeom prst="rect">
            <a:avLst/>
          </a:prstGeom>
          <a:noFill/>
          <a:ln>
            <a:noFill/>
          </a:ln>
        </p:spPr>
      </p:pic>
      <p:cxnSp>
        <p:nvCxnSpPr>
          <p:cNvPr id="234" name="Google Shape;234;p30"/>
          <p:cNvCxnSpPr>
            <a:endCxn id="235" idx="3"/>
          </p:cNvCxnSpPr>
          <p:nvPr/>
        </p:nvCxnSpPr>
        <p:spPr>
          <a:xfrm rot="10800000">
            <a:off x="2655500" y="4726175"/>
            <a:ext cx="601500" cy="9300"/>
          </a:xfrm>
          <a:prstGeom prst="straightConnector1">
            <a:avLst/>
          </a:prstGeom>
          <a:noFill/>
          <a:ln cap="flat" cmpd="sng" w="9525">
            <a:solidFill>
              <a:schemeClr val="dk2"/>
            </a:solidFill>
            <a:prstDash val="solid"/>
            <a:round/>
            <a:headEnd len="med" w="med" type="none"/>
            <a:tailEnd len="med" w="med" type="triangle"/>
          </a:ln>
        </p:spPr>
      </p:cxnSp>
      <p:sp>
        <p:nvSpPr>
          <p:cNvPr id="235" name="Google Shape;235;p30"/>
          <p:cNvSpPr/>
          <p:nvPr/>
        </p:nvSpPr>
        <p:spPr>
          <a:xfrm>
            <a:off x="701900" y="4395575"/>
            <a:ext cx="1953600" cy="661200"/>
          </a:xfrm>
          <a:prstGeom prst="rect">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rPr>
              <a:t>Use the model in a system</a:t>
            </a:r>
            <a:endParaRPr/>
          </a:p>
        </p:txBody>
      </p:sp>
      <p:pic>
        <p:nvPicPr>
          <p:cNvPr id="236" name="Google Shape;236;p30"/>
          <p:cNvPicPr preferRelativeResize="0"/>
          <p:nvPr/>
        </p:nvPicPr>
        <p:blipFill>
          <a:blip r:embed="rId4">
            <a:alphaModFix/>
          </a:blip>
          <a:stretch>
            <a:fillRect/>
          </a:stretch>
        </p:blipFill>
        <p:spPr>
          <a:xfrm>
            <a:off x="949999" y="3574704"/>
            <a:ext cx="1457400" cy="820871"/>
          </a:xfrm>
          <a:prstGeom prst="rect">
            <a:avLst/>
          </a:prstGeom>
          <a:noFill/>
          <a:ln>
            <a:noFill/>
          </a:ln>
        </p:spPr>
      </p:pic>
      <p:sp>
        <p:nvSpPr>
          <p:cNvPr id="237" name="Google Shape;237;p30"/>
          <p:cNvSpPr txBox="1"/>
          <p:nvPr/>
        </p:nvSpPr>
        <p:spPr>
          <a:xfrm>
            <a:off x="970925" y="2357875"/>
            <a:ext cx="49479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FF0000"/>
                </a:solidFill>
              </a:rPr>
              <a:t>Build Dataset</a:t>
            </a:r>
            <a:endParaRPr>
              <a:solidFill>
                <a:srgbClr val="FF0000"/>
              </a:solidFill>
            </a:endParaRPr>
          </a:p>
        </p:txBody>
      </p:sp>
      <p:sp>
        <p:nvSpPr>
          <p:cNvPr id="238" name="Google Shape;238;p30"/>
          <p:cNvSpPr txBox="1"/>
          <p:nvPr/>
        </p:nvSpPr>
        <p:spPr>
          <a:xfrm>
            <a:off x="150925" y="136875"/>
            <a:ext cx="8993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rgbClr val="0000FF"/>
                </a:solidFill>
              </a:rPr>
              <a:t>In Module 3.3, we used ML4K  to create a fish </a:t>
            </a:r>
            <a:r>
              <a:rPr lang="en" sz="1600">
                <a:solidFill>
                  <a:srgbClr val="0000FF"/>
                </a:solidFill>
              </a:rPr>
              <a:t>classifier</a:t>
            </a:r>
            <a:r>
              <a:rPr lang="en" sz="1600">
                <a:solidFill>
                  <a:srgbClr val="0000FF"/>
                </a:solidFill>
              </a:rPr>
              <a:t> from numerical and text dataset</a:t>
            </a:r>
            <a:endParaRPr sz="1600">
              <a:solidFill>
                <a:srgbClr val="0000FF"/>
              </a:solidFill>
            </a:endParaRPr>
          </a:p>
        </p:txBody>
      </p:sp>
      <p:sp>
        <p:nvSpPr>
          <p:cNvPr id="239" name="Google Shape;239;p30"/>
          <p:cNvSpPr txBox="1"/>
          <p:nvPr/>
        </p:nvSpPr>
        <p:spPr>
          <a:xfrm>
            <a:off x="5017325" y="3490475"/>
            <a:ext cx="1457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If accuracy low</a:t>
            </a:r>
            <a:endParaRPr/>
          </a:p>
        </p:txBody>
      </p:sp>
      <p:cxnSp>
        <p:nvCxnSpPr>
          <p:cNvPr id="240" name="Google Shape;240;p30"/>
          <p:cNvCxnSpPr>
            <a:stCxn id="239" idx="0"/>
            <a:endCxn id="233" idx="1"/>
          </p:cNvCxnSpPr>
          <p:nvPr/>
        </p:nvCxnSpPr>
        <p:spPr>
          <a:xfrm flipH="1" rot="5400000">
            <a:off x="2731775" y="476225"/>
            <a:ext cx="455100" cy="5573400"/>
          </a:xfrm>
          <a:prstGeom prst="bentConnector4">
            <a:avLst>
              <a:gd fmla="val -14294" name="adj1"/>
              <a:gd fmla="val 102080" name="adj2"/>
            </a:avLst>
          </a:prstGeom>
          <a:noFill/>
          <a:ln cap="flat" cmpd="sng" w="9525">
            <a:solidFill>
              <a:schemeClr val="dk2"/>
            </a:solidFill>
            <a:prstDash val="dash"/>
            <a:round/>
            <a:headEnd len="med" w="med" type="none"/>
            <a:tailEnd len="med" w="med" type="none"/>
          </a:ln>
        </p:spPr>
      </p:cxnSp>
      <p:cxnSp>
        <p:nvCxnSpPr>
          <p:cNvPr id="241" name="Google Shape;241;p30"/>
          <p:cNvCxnSpPr>
            <a:stCxn id="239" idx="0"/>
            <a:endCxn id="239" idx="0"/>
          </p:cNvCxnSpPr>
          <p:nvPr/>
        </p:nvCxnSpPr>
        <p:spPr>
          <a:xfrm>
            <a:off x="5746025" y="3490475"/>
            <a:ext cx="0" cy="0"/>
          </a:xfrm>
          <a:prstGeom prst="straightConnector1">
            <a:avLst/>
          </a:prstGeom>
          <a:noFill/>
          <a:ln cap="flat" cmpd="sng" w="9525">
            <a:solidFill>
              <a:schemeClr val="dk2"/>
            </a:solidFill>
            <a:prstDash val="dash"/>
            <a:round/>
            <a:headEnd len="med" w="med" type="none"/>
            <a:tailEnd len="med" w="med" type="none"/>
          </a:ln>
        </p:spPr>
      </p:cxnSp>
      <p:cxnSp>
        <p:nvCxnSpPr>
          <p:cNvPr id="242" name="Google Shape;242;p30"/>
          <p:cNvCxnSpPr/>
          <p:nvPr/>
        </p:nvCxnSpPr>
        <p:spPr>
          <a:xfrm rot="10800000">
            <a:off x="5746025" y="3566675"/>
            <a:ext cx="0" cy="400200"/>
          </a:xfrm>
          <a:prstGeom prst="straightConnector1">
            <a:avLst/>
          </a:prstGeom>
          <a:noFill/>
          <a:ln cap="flat" cmpd="sng" w="9525">
            <a:solidFill>
              <a:schemeClr val="dk2"/>
            </a:solidFill>
            <a:prstDash val="dash"/>
            <a:round/>
            <a:headEnd len="med" w="med" type="none"/>
            <a:tailEnd len="med" w="med" type="non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1"/>
          <p:cNvSpPr txBox="1"/>
          <p:nvPr>
            <p:ph type="title"/>
          </p:nvPr>
        </p:nvSpPr>
        <p:spPr>
          <a:xfrm>
            <a:off x="2040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a:t>
            </a:r>
            <a:r>
              <a:rPr lang="en">
                <a:latin typeface="Alfa Slab One"/>
                <a:ea typeface="Alfa Slab One"/>
                <a:cs typeface="Alfa Slab One"/>
                <a:sym typeface="Alfa Slab One"/>
              </a:rPr>
              <a:t>AI Lab Machine Learning Pipeline</a:t>
            </a:r>
            <a:endParaRPr>
              <a:latin typeface="Alfa Slab One"/>
              <a:ea typeface="Alfa Slab One"/>
              <a:cs typeface="Alfa Slab One"/>
              <a:sym typeface="Alfa Slab One"/>
            </a:endParaRPr>
          </a:p>
        </p:txBody>
      </p:sp>
      <p:sp>
        <p:nvSpPr>
          <p:cNvPr id="248" name="Google Shape;248;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49" name="Google Shape;249;p31"/>
          <p:cNvSpPr/>
          <p:nvPr/>
        </p:nvSpPr>
        <p:spPr>
          <a:xfrm>
            <a:off x="127800" y="2583884"/>
            <a:ext cx="1457400" cy="832200"/>
          </a:xfrm>
          <a:prstGeom prst="rect">
            <a:avLst/>
          </a:prstGeom>
          <a:solidFill>
            <a:srgbClr val="FFF2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t>Identify  a dataset &amp; review features</a:t>
            </a:r>
            <a:endParaRPr sz="1300"/>
          </a:p>
        </p:txBody>
      </p:sp>
      <p:sp>
        <p:nvSpPr>
          <p:cNvPr id="250" name="Google Shape;250;p31"/>
          <p:cNvSpPr/>
          <p:nvPr/>
        </p:nvSpPr>
        <p:spPr>
          <a:xfrm>
            <a:off x="2032275" y="2616044"/>
            <a:ext cx="1319100" cy="779400"/>
          </a:xfrm>
          <a:prstGeom prst="rect">
            <a:avLst/>
          </a:prstGeom>
          <a:solidFill>
            <a:srgbClr val="FFF2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Identify a question </a:t>
            </a:r>
            <a:endParaRPr/>
          </a:p>
        </p:txBody>
      </p:sp>
      <p:sp>
        <p:nvSpPr>
          <p:cNvPr id="251" name="Google Shape;251;p31"/>
          <p:cNvSpPr/>
          <p:nvPr/>
        </p:nvSpPr>
        <p:spPr>
          <a:xfrm>
            <a:off x="3653350" y="2589644"/>
            <a:ext cx="1457400" cy="832200"/>
          </a:xfrm>
          <a:prstGeom prst="rect">
            <a:avLst/>
          </a:prstGeom>
          <a:solidFill>
            <a:srgbClr val="FFF2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Select feature to predict</a:t>
            </a:r>
            <a:endParaRPr/>
          </a:p>
        </p:txBody>
      </p:sp>
      <p:sp>
        <p:nvSpPr>
          <p:cNvPr id="252" name="Google Shape;252;p31"/>
          <p:cNvSpPr/>
          <p:nvPr/>
        </p:nvSpPr>
        <p:spPr>
          <a:xfrm>
            <a:off x="5390575" y="2589644"/>
            <a:ext cx="1457400" cy="832200"/>
          </a:xfrm>
          <a:prstGeom prst="rect">
            <a:avLst/>
          </a:prstGeom>
          <a:solidFill>
            <a:srgbClr val="FFF2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Select features that affect the feature to be predicted</a:t>
            </a:r>
            <a:endParaRPr/>
          </a:p>
        </p:txBody>
      </p:sp>
      <p:cxnSp>
        <p:nvCxnSpPr>
          <p:cNvPr id="253" name="Google Shape;253;p31"/>
          <p:cNvCxnSpPr>
            <a:stCxn id="249" idx="3"/>
            <a:endCxn id="250" idx="1"/>
          </p:cNvCxnSpPr>
          <p:nvPr/>
        </p:nvCxnSpPr>
        <p:spPr>
          <a:xfrm>
            <a:off x="1585200" y="2999984"/>
            <a:ext cx="447000" cy="5700"/>
          </a:xfrm>
          <a:prstGeom prst="straightConnector1">
            <a:avLst/>
          </a:prstGeom>
          <a:noFill/>
          <a:ln cap="flat" cmpd="sng" w="9525">
            <a:solidFill>
              <a:schemeClr val="dk2"/>
            </a:solidFill>
            <a:prstDash val="solid"/>
            <a:round/>
            <a:headEnd len="med" w="med" type="none"/>
            <a:tailEnd len="med" w="med" type="triangle"/>
          </a:ln>
        </p:spPr>
      </p:cxnSp>
      <p:cxnSp>
        <p:nvCxnSpPr>
          <p:cNvPr id="254" name="Google Shape;254;p31"/>
          <p:cNvCxnSpPr>
            <a:stCxn id="250" idx="3"/>
            <a:endCxn id="251" idx="1"/>
          </p:cNvCxnSpPr>
          <p:nvPr/>
        </p:nvCxnSpPr>
        <p:spPr>
          <a:xfrm>
            <a:off x="3351375" y="3005744"/>
            <a:ext cx="302100" cy="0"/>
          </a:xfrm>
          <a:prstGeom prst="straightConnector1">
            <a:avLst/>
          </a:prstGeom>
          <a:noFill/>
          <a:ln cap="flat" cmpd="sng" w="9525">
            <a:solidFill>
              <a:schemeClr val="dk2"/>
            </a:solidFill>
            <a:prstDash val="solid"/>
            <a:round/>
            <a:headEnd len="med" w="med" type="none"/>
            <a:tailEnd len="med" w="med" type="triangle"/>
          </a:ln>
        </p:spPr>
      </p:cxnSp>
      <p:cxnSp>
        <p:nvCxnSpPr>
          <p:cNvPr id="255" name="Google Shape;255;p31"/>
          <p:cNvCxnSpPr>
            <a:stCxn id="251" idx="3"/>
            <a:endCxn id="252" idx="1"/>
          </p:cNvCxnSpPr>
          <p:nvPr/>
        </p:nvCxnSpPr>
        <p:spPr>
          <a:xfrm>
            <a:off x="5110750" y="3005744"/>
            <a:ext cx="279900" cy="0"/>
          </a:xfrm>
          <a:prstGeom prst="straightConnector1">
            <a:avLst/>
          </a:prstGeom>
          <a:noFill/>
          <a:ln cap="flat" cmpd="sng" w="9525">
            <a:solidFill>
              <a:schemeClr val="dk2"/>
            </a:solidFill>
            <a:prstDash val="solid"/>
            <a:round/>
            <a:headEnd len="med" w="med" type="none"/>
            <a:tailEnd len="med" w="med" type="triangle"/>
          </a:ln>
        </p:spPr>
      </p:cxnSp>
      <p:cxnSp>
        <p:nvCxnSpPr>
          <p:cNvPr id="256" name="Google Shape;256;p31"/>
          <p:cNvCxnSpPr>
            <a:stCxn id="252" idx="3"/>
            <a:endCxn id="257" idx="1"/>
          </p:cNvCxnSpPr>
          <p:nvPr/>
        </p:nvCxnSpPr>
        <p:spPr>
          <a:xfrm>
            <a:off x="6847975" y="3005744"/>
            <a:ext cx="306900" cy="0"/>
          </a:xfrm>
          <a:prstGeom prst="straightConnector1">
            <a:avLst/>
          </a:prstGeom>
          <a:noFill/>
          <a:ln cap="flat" cmpd="sng" w="9525">
            <a:solidFill>
              <a:schemeClr val="dk2"/>
            </a:solidFill>
            <a:prstDash val="solid"/>
            <a:round/>
            <a:headEnd len="med" w="med" type="none"/>
            <a:tailEnd len="med" w="med" type="triangle"/>
          </a:ln>
        </p:spPr>
      </p:cxnSp>
      <p:cxnSp>
        <p:nvCxnSpPr>
          <p:cNvPr id="258" name="Google Shape;258;p31"/>
          <p:cNvCxnSpPr>
            <a:endCxn id="259" idx="3"/>
          </p:cNvCxnSpPr>
          <p:nvPr/>
        </p:nvCxnSpPr>
        <p:spPr>
          <a:xfrm flipH="1">
            <a:off x="6630850" y="3023819"/>
            <a:ext cx="1983600" cy="1593300"/>
          </a:xfrm>
          <a:prstGeom prst="bentConnector3">
            <a:avLst>
              <a:gd fmla="val 50000" name="adj1"/>
            </a:avLst>
          </a:prstGeom>
          <a:noFill/>
          <a:ln cap="flat" cmpd="sng" w="9525">
            <a:solidFill>
              <a:schemeClr val="dk2"/>
            </a:solidFill>
            <a:prstDash val="solid"/>
            <a:round/>
            <a:headEnd len="med" w="med" type="none"/>
            <a:tailEnd len="med" w="med" type="triangle"/>
          </a:ln>
        </p:spPr>
      </p:cxnSp>
      <p:pic>
        <p:nvPicPr>
          <p:cNvPr id="260" name="Google Shape;260;p31"/>
          <p:cNvPicPr preferRelativeResize="0"/>
          <p:nvPr/>
        </p:nvPicPr>
        <p:blipFill rotWithShape="1">
          <a:blip r:embed="rId3">
            <a:alphaModFix/>
          </a:blip>
          <a:srcRect b="0" l="0" r="34567" t="0"/>
          <a:stretch/>
        </p:blipFill>
        <p:spPr>
          <a:xfrm>
            <a:off x="254675" y="946463"/>
            <a:ext cx="1203650" cy="1106525"/>
          </a:xfrm>
          <a:prstGeom prst="rect">
            <a:avLst/>
          </a:prstGeom>
          <a:noFill/>
          <a:ln>
            <a:noFill/>
          </a:ln>
        </p:spPr>
      </p:pic>
      <p:pic>
        <p:nvPicPr>
          <p:cNvPr id="261" name="Google Shape;261;p31"/>
          <p:cNvPicPr preferRelativeResize="0"/>
          <p:nvPr/>
        </p:nvPicPr>
        <p:blipFill rotWithShape="1">
          <a:blip r:embed="rId4">
            <a:alphaModFix/>
          </a:blip>
          <a:srcRect b="2358" l="0" r="36864" t="14901"/>
          <a:stretch/>
        </p:blipFill>
        <p:spPr>
          <a:xfrm>
            <a:off x="204000" y="1838600"/>
            <a:ext cx="1330524" cy="779401"/>
          </a:xfrm>
          <a:prstGeom prst="rect">
            <a:avLst/>
          </a:prstGeom>
          <a:noFill/>
          <a:ln>
            <a:noFill/>
          </a:ln>
        </p:spPr>
      </p:pic>
      <p:sp>
        <p:nvSpPr>
          <p:cNvPr id="262" name="Google Shape;262;p31"/>
          <p:cNvSpPr txBox="1"/>
          <p:nvPr/>
        </p:nvSpPr>
        <p:spPr>
          <a:xfrm>
            <a:off x="2046375" y="1185850"/>
            <a:ext cx="1330500" cy="1046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What features best predict the price of jeans?</a:t>
            </a:r>
            <a:endParaRPr/>
          </a:p>
        </p:txBody>
      </p:sp>
      <p:sp>
        <p:nvSpPr>
          <p:cNvPr id="263" name="Google Shape;263;p31"/>
          <p:cNvSpPr txBox="1"/>
          <p:nvPr/>
        </p:nvSpPr>
        <p:spPr>
          <a:xfrm>
            <a:off x="3716800" y="1438400"/>
            <a:ext cx="1330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Price of Jeans</a:t>
            </a:r>
            <a:endParaRPr/>
          </a:p>
        </p:txBody>
      </p:sp>
      <p:sp>
        <p:nvSpPr>
          <p:cNvPr id="264" name="Google Shape;264;p31"/>
          <p:cNvSpPr txBox="1"/>
          <p:nvPr/>
        </p:nvSpPr>
        <p:spPr>
          <a:xfrm>
            <a:off x="5314050" y="1082600"/>
            <a:ext cx="1931100" cy="1477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Men’s </a:t>
            </a:r>
            <a:r>
              <a:rPr lang="en">
                <a:solidFill>
                  <a:schemeClr val="dk1"/>
                </a:solidFill>
              </a:rPr>
              <a:t>or </a:t>
            </a:r>
            <a:r>
              <a:rPr lang="en"/>
              <a:t>Women’s</a:t>
            </a:r>
            <a:endParaRPr/>
          </a:p>
          <a:p>
            <a:pPr indent="0" lvl="0" marL="0" rtl="0" algn="ctr">
              <a:spcBef>
                <a:spcPts val="0"/>
              </a:spcBef>
              <a:spcAft>
                <a:spcPts val="0"/>
              </a:spcAft>
              <a:buNone/>
            </a:pPr>
            <a:r>
              <a:rPr lang="en"/>
              <a:t>Style </a:t>
            </a:r>
            <a:endParaRPr/>
          </a:p>
          <a:p>
            <a:pPr indent="0" lvl="0" marL="0" rtl="0" algn="ctr">
              <a:spcBef>
                <a:spcPts val="0"/>
              </a:spcBef>
              <a:spcAft>
                <a:spcPts val="0"/>
              </a:spcAft>
              <a:buNone/>
            </a:pPr>
            <a:r>
              <a:rPr lang="en"/>
              <a:t>Brand</a:t>
            </a:r>
            <a:endParaRPr/>
          </a:p>
          <a:p>
            <a:pPr indent="0" lvl="0" marL="0" rtl="0" algn="ctr">
              <a:spcBef>
                <a:spcPts val="0"/>
              </a:spcBef>
              <a:spcAft>
                <a:spcPts val="0"/>
              </a:spcAft>
              <a:buNone/>
            </a:pPr>
            <a:r>
              <a:rPr lang="en"/>
              <a:t>Cotton content</a:t>
            </a:r>
            <a:endParaRPr/>
          </a:p>
          <a:p>
            <a:pPr indent="0" lvl="0" marL="0" rtl="0" algn="ctr">
              <a:spcBef>
                <a:spcPts val="0"/>
              </a:spcBef>
              <a:spcAft>
                <a:spcPts val="0"/>
              </a:spcAft>
              <a:buNone/>
            </a:pPr>
            <a:r>
              <a:rPr lang="en"/>
              <a:t>Size of pockets</a:t>
            </a:r>
            <a:endParaRPr/>
          </a:p>
          <a:p>
            <a:pPr indent="0" lvl="0" marL="0" rtl="0" algn="ctr">
              <a:spcBef>
                <a:spcPts val="0"/>
              </a:spcBef>
              <a:spcAft>
                <a:spcPts val="0"/>
              </a:spcAft>
              <a:buNone/>
            </a:pPr>
            <a:r>
              <a:t/>
            </a:r>
            <a:endParaRPr/>
          </a:p>
        </p:txBody>
      </p:sp>
      <p:sp>
        <p:nvSpPr>
          <p:cNvPr id="265" name="Google Shape;265;p31"/>
          <p:cNvSpPr txBox="1"/>
          <p:nvPr/>
        </p:nvSpPr>
        <p:spPr>
          <a:xfrm>
            <a:off x="150925" y="136875"/>
            <a:ext cx="8993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rgbClr val="0000FF"/>
                </a:solidFill>
              </a:rPr>
              <a:t>In Module 3.5, we used Code.org’s AI lab  to create a predictive model from an existing dataset</a:t>
            </a:r>
            <a:endParaRPr sz="1600">
              <a:solidFill>
                <a:srgbClr val="0000FF"/>
              </a:solidFill>
            </a:endParaRPr>
          </a:p>
        </p:txBody>
      </p:sp>
      <p:cxnSp>
        <p:nvCxnSpPr>
          <p:cNvPr id="266" name="Google Shape;266;p31"/>
          <p:cNvCxnSpPr>
            <a:stCxn id="259" idx="1"/>
            <a:endCxn id="267" idx="3"/>
          </p:cNvCxnSpPr>
          <p:nvPr/>
        </p:nvCxnSpPr>
        <p:spPr>
          <a:xfrm rot="10800000">
            <a:off x="4572000" y="4607766"/>
            <a:ext cx="601500" cy="9300"/>
          </a:xfrm>
          <a:prstGeom prst="straightConnector1">
            <a:avLst/>
          </a:prstGeom>
          <a:noFill/>
          <a:ln cap="flat" cmpd="sng" w="9525">
            <a:solidFill>
              <a:schemeClr val="dk2"/>
            </a:solidFill>
            <a:prstDash val="solid"/>
            <a:round/>
            <a:headEnd len="med" w="med" type="none"/>
            <a:tailEnd len="med" w="med" type="triangle"/>
          </a:ln>
        </p:spPr>
      </p:cxnSp>
      <p:sp>
        <p:nvSpPr>
          <p:cNvPr id="267" name="Google Shape;267;p31"/>
          <p:cNvSpPr/>
          <p:nvPr/>
        </p:nvSpPr>
        <p:spPr>
          <a:xfrm>
            <a:off x="3114600" y="4191666"/>
            <a:ext cx="1457400" cy="832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800">
                <a:solidFill>
                  <a:schemeClr val="dk1"/>
                </a:solidFill>
              </a:rPr>
              <a:t>Test the model</a:t>
            </a:r>
            <a:endParaRPr/>
          </a:p>
        </p:txBody>
      </p:sp>
      <p:sp>
        <p:nvSpPr>
          <p:cNvPr id="268" name="Google Shape;268;p31"/>
          <p:cNvSpPr/>
          <p:nvPr/>
        </p:nvSpPr>
        <p:spPr>
          <a:xfrm>
            <a:off x="5110750" y="4196369"/>
            <a:ext cx="1457400" cy="832200"/>
          </a:xfrm>
          <a:prstGeom prst="rect">
            <a:avLst/>
          </a:prstGeom>
          <a:solidFill>
            <a:srgbClr val="FFF2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Review Accuracy</a:t>
            </a:r>
            <a:endParaRPr/>
          </a:p>
        </p:txBody>
      </p:sp>
      <p:cxnSp>
        <p:nvCxnSpPr>
          <p:cNvPr id="269" name="Google Shape;269;p31"/>
          <p:cNvCxnSpPr>
            <a:stCxn id="268" idx="0"/>
            <a:endCxn id="252" idx="2"/>
          </p:cNvCxnSpPr>
          <p:nvPr/>
        </p:nvCxnSpPr>
        <p:spPr>
          <a:xfrm flipH="1" rot="10800000">
            <a:off x="5839450" y="3421769"/>
            <a:ext cx="279900" cy="774600"/>
          </a:xfrm>
          <a:prstGeom prst="straightConnector1">
            <a:avLst/>
          </a:prstGeom>
          <a:noFill/>
          <a:ln cap="flat" cmpd="sng" w="9525">
            <a:solidFill>
              <a:schemeClr val="dk2"/>
            </a:solidFill>
            <a:prstDash val="dash"/>
            <a:round/>
            <a:headEnd len="med" w="med" type="none"/>
            <a:tailEnd len="med" w="med" type="triangle"/>
          </a:ln>
        </p:spPr>
      </p:cxnSp>
      <p:sp>
        <p:nvSpPr>
          <p:cNvPr id="270" name="Google Shape;270;p31"/>
          <p:cNvSpPr txBox="1"/>
          <p:nvPr/>
        </p:nvSpPr>
        <p:spPr>
          <a:xfrm>
            <a:off x="5013450" y="3621650"/>
            <a:ext cx="1457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If accuracy low</a:t>
            </a:r>
            <a:endParaRPr/>
          </a:p>
        </p:txBody>
      </p:sp>
      <p:sp>
        <p:nvSpPr>
          <p:cNvPr id="257" name="Google Shape;257;p31"/>
          <p:cNvSpPr/>
          <p:nvPr/>
        </p:nvSpPr>
        <p:spPr>
          <a:xfrm>
            <a:off x="7155000" y="2589644"/>
            <a:ext cx="1457400" cy="832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rPr>
              <a:t>Train a classifier</a:t>
            </a:r>
            <a:endParaRPr/>
          </a:p>
        </p:txBody>
      </p:sp>
      <p:cxnSp>
        <p:nvCxnSpPr>
          <p:cNvPr id="271" name="Google Shape;271;p31"/>
          <p:cNvCxnSpPr>
            <a:endCxn id="272" idx="3"/>
          </p:cNvCxnSpPr>
          <p:nvPr/>
        </p:nvCxnSpPr>
        <p:spPr>
          <a:xfrm rot="10800000">
            <a:off x="2590800" y="4607766"/>
            <a:ext cx="601500" cy="9300"/>
          </a:xfrm>
          <a:prstGeom prst="straightConnector1">
            <a:avLst/>
          </a:prstGeom>
          <a:noFill/>
          <a:ln cap="flat" cmpd="sng" w="9525">
            <a:solidFill>
              <a:schemeClr val="dk2"/>
            </a:solidFill>
            <a:prstDash val="solid"/>
            <a:round/>
            <a:headEnd len="med" w="med" type="none"/>
            <a:tailEnd len="med" w="med" type="triangle"/>
          </a:ln>
        </p:spPr>
      </p:cxnSp>
      <p:sp>
        <p:nvSpPr>
          <p:cNvPr id="272" name="Google Shape;272;p31"/>
          <p:cNvSpPr/>
          <p:nvPr/>
        </p:nvSpPr>
        <p:spPr>
          <a:xfrm>
            <a:off x="1133400" y="4191666"/>
            <a:ext cx="1457400" cy="832200"/>
          </a:xfrm>
          <a:prstGeom prst="rect">
            <a:avLst/>
          </a:prstGeom>
          <a:solidFill>
            <a:srgbClr val="FFF2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rPr>
              <a:t>Use the model in a system</a:t>
            </a:r>
            <a:endParaRPr/>
          </a:p>
        </p:txBody>
      </p:sp>
      <p:sp>
        <p:nvSpPr>
          <p:cNvPr id="273" name="Google Shape;273;p31"/>
          <p:cNvSpPr/>
          <p:nvPr/>
        </p:nvSpPr>
        <p:spPr>
          <a:xfrm>
            <a:off x="21725" y="2281675"/>
            <a:ext cx="6945300" cy="1214700"/>
          </a:xfrm>
          <a:prstGeom prst="rect">
            <a:avLst/>
          </a:prstGeom>
          <a:noFill/>
          <a:ln cap="flat" cmpd="sng" w="9525">
            <a:solidFill>
              <a:schemeClr val="dk2"/>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31"/>
          <p:cNvSpPr txBox="1"/>
          <p:nvPr/>
        </p:nvSpPr>
        <p:spPr>
          <a:xfrm>
            <a:off x="1020425" y="2253075"/>
            <a:ext cx="49479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FF0000"/>
                </a:solidFill>
              </a:rPr>
              <a:t>Build Dataset</a:t>
            </a:r>
            <a:endParaRPr>
              <a:solidFill>
                <a:srgbClr val="FF0000"/>
              </a:solidFill>
            </a:endParaRPr>
          </a:p>
        </p:txBody>
      </p:sp>
      <p:sp>
        <p:nvSpPr>
          <p:cNvPr id="275" name="Google Shape;275;p31"/>
          <p:cNvSpPr/>
          <p:nvPr/>
        </p:nvSpPr>
        <p:spPr>
          <a:xfrm>
            <a:off x="3070300" y="3939450"/>
            <a:ext cx="3636900" cy="1214700"/>
          </a:xfrm>
          <a:prstGeom prst="rect">
            <a:avLst/>
          </a:prstGeom>
          <a:noFill/>
          <a:ln cap="flat" cmpd="sng" w="9525">
            <a:solidFill>
              <a:schemeClr val="dk2"/>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31"/>
          <p:cNvSpPr txBox="1"/>
          <p:nvPr/>
        </p:nvSpPr>
        <p:spPr>
          <a:xfrm>
            <a:off x="3114600" y="3863250"/>
            <a:ext cx="3592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FF0000"/>
                </a:solidFill>
              </a:rPr>
              <a:t>Test</a:t>
            </a:r>
            <a:endParaRPr>
              <a:solidFill>
                <a:srgbClr val="FF0000"/>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Model Card</a:t>
            </a:r>
            <a:endParaRPr/>
          </a:p>
        </p:txBody>
      </p:sp>
      <p:sp>
        <p:nvSpPr>
          <p:cNvPr id="282" name="Google Shape;282;p32"/>
          <p:cNvSpPr txBox="1"/>
          <p:nvPr>
            <p:ph idx="1" type="body"/>
          </p:nvPr>
        </p:nvSpPr>
        <p:spPr>
          <a:xfrm>
            <a:off x="311700" y="1152475"/>
            <a:ext cx="4110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Use model cards to document and share key information about your model, like its purpose, architecture, hardware requirements, evaluation metrics, etc.</a:t>
            </a:r>
            <a:endParaRPr/>
          </a:p>
        </p:txBody>
      </p:sp>
      <p:pic>
        <p:nvPicPr>
          <p:cNvPr id="283" name="Google Shape;283;p32"/>
          <p:cNvPicPr preferRelativeResize="0"/>
          <p:nvPr/>
        </p:nvPicPr>
        <p:blipFill>
          <a:blip r:embed="rId3">
            <a:alphaModFix/>
          </a:blip>
          <a:stretch>
            <a:fillRect/>
          </a:stretch>
        </p:blipFill>
        <p:spPr>
          <a:xfrm>
            <a:off x="4572000" y="1094963"/>
            <a:ext cx="3811700" cy="2953563"/>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Challenges</a:t>
            </a:r>
            <a:r>
              <a:rPr lang="en"/>
              <a:t> Building Pipelines</a:t>
            </a:r>
            <a:endParaRPr/>
          </a:p>
        </p:txBody>
      </p:sp>
      <p:sp>
        <p:nvSpPr>
          <p:cNvPr id="289" name="Google Shape;289;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Getting access to the data you need.</a:t>
            </a:r>
            <a:endParaRPr/>
          </a:p>
          <a:p>
            <a:pPr indent="-342900" lvl="0" marL="457200" rtl="0" algn="l">
              <a:spcBef>
                <a:spcPts val="0"/>
              </a:spcBef>
              <a:spcAft>
                <a:spcPts val="0"/>
              </a:spcAft>
              <a:buSzPts val="1800"/>
              <a:buChar char="●"/>
            </a:pPr>
            <a:r>
              <a:rPr lang="en"/>
              <a:t>Getting the right features.</a:t>
            </a:r>
            <a:endParaRPr/>
          </a:p>
          <a:p>
            <a:pPr indent="-342900" lvl="0" marL="457200" rtl="0" algn="l">
              <a:spcBef>
                <a:spcPts val="0"/>
              </a:spcBef>
              <a:spcAft>
                <a:spcPts val="0"/>
              </a:spcAft>
              <a:buSzPts val="1800"/>
              <a:buChar char="●"/>
            </a:pPr>
            <a:r>
              <a:rPr lang="en"/>
              <a:t>Understanding how the data is collected and represented.</a:t>
            </a:r>
            <a:endParaRPr/>
          </a:p>
          <a:p>
            <a:pPr indent="-342900" lvl="0" marL="457200" rtl="0" algn="l">
              <a:spcBef>
                <a:spcPts val="0"/>
              </a:spcBef>
              <a:spcAft>
                <a:spcPts val="0"/>
              </a:spcAft>
              <a:buSzPts val="1800"/>
              <a:buChar char="●"/>
            </a:pPr>
            <a:r>
              <a:rPr lang="en"/>
              <a:t>Understanding the tradeoffs between effort, cost, and model quality.</a:t>
            </a:r>
            <a:endParaRPr/>
          </a:p>
          <a:p>
            <a:pPr indent="-342900" lvl="0" marL="457200" rtl="0" algn="l">
              <a:spcBef>
                <a:spcPts val="0"/>
              </a:spcBef>
              <a:spcAft>
                <a:spcPts val="0"/>
              </a:spcAft>
              <a:buSzPts val="1800"/>
              <a:buChar char="●"/>
            </a:pPr>
            <a:r>
              <a:rPr lang="en"/>
              <a:t>Getting compute for retraining</a:t>
            </a:r>
            <a:endParaRPr/>
          </a:p>
          <a:p>
            <a:pPr indent="-342900" lvl="0" marL="457200" rtl="0" algn="l">
              <a:spcBef>
                <a:spcPts val="0"/>
              </a:spcBef>
              <a:spcAft>
                <a:spcPts val="0"/>
              </a:spcAft>
              <a:buSzPts val="1800"/>
              <a:buChar char="●"/>
            </a:pPr>
            <a:r>
              <a:rPr lang="en"/>
              <a:t>Finding the right golden dataset (Maintaining consistent and accurate labels can be challenging for data that changes frequently)</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