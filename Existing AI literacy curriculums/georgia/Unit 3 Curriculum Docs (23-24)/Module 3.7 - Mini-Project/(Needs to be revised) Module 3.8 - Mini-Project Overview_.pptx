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Helvetica Neue"/>
      <p:regular r:id="rId29"/>
      <p:bold r:id="rId30"/>
      <p:italic r:id="rId31"/>
      <p:boldItalic r:id="rId32"/>
    </p:embeddedFont>
    <p:embeddedFont>
      <p:font typeface="Merriweather"/>
      <p:regular r:id="rId33"/>
      <p:bold r:id="rId34"/>
      <p:italic r:id="rId35"/>
      <p:boldItalic r:id="rId36"/>
    </p:embeddedFont>
    <p:embeddedFont>
      <p:font typeface="Alfa Slab One"/>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5.xml"/><Relationship Id="rId33" Type="http://schemas.openxmlformats.org/officeDocument/2006/relationships/font" Target="fonts/Merriweather-regular.fntdata"/><Relationship Id="rId10" Type="http://schemas.openxmlformats.org/officeDocument/2006/relationships/slide" Target="slides/slide4.xml"/><Relationship Id="rId32" Type="http://schemas.openxmlformats.org/officeDocument/2006/relationships/font" Target="fonts/HelveticaNeue-boldItalic.fntdata"/><Relationship Id="rId13" Type="http://schemas.openxmlformats.org/officeDocument/2006/relationships/slide" Target="slides/slide7.xml"/><Relationship Id="rId35" Type="http://schemas.openxmlformats.org/officeDocument/2006/relationships/font" Target="fonts/Merriweather-italic.fntdata"/><Relationship Id="rId12" Type="http://schemas.openxmlformats.org/officeDocument/2006/relationships/slide" Target="slides/slide6.xml"/><Relationship Id="rId34" Type="http://schemas.openxmlformats.org/officeDocument/2006/relationships/font" Target="fonts/Merriweather-bold.fntdata"/><Relationship Id="rId15" Type="http://schemas.openxmlformats.org/officeDocument/2006/relationships/slide" Target="slides/slide9.xml"/><Relationship Id="rId37" Type="http://schemas.openxmlformats.org/officeDocument/2006/relationships/font" Target="fonts/AlfaSlabOne-regular.fntdata"/><Relationship Id="rId14" Type="http://schemas.openxmlformats.org/officeDocument/2006/relationships/slide" Target="slides/slide8.xml"/><Relationship Id="rId36" Type="http://schemas.openxmlformats.org/officeDocument/2006/relationships/font" Target="fonts/Merriweather-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e52ed7010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e52ed7010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e320e9d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ee320e9d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3c3fa64dc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13c3fa64dc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3c3fa64dc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3c3fa64dc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3c3fa64dc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3c3fa64dc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13c3fa64dc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13c3fa64d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3c3fa632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3c3fa632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13c3fa64dc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13c3fa64dc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3c3fa64d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3c3fa64d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This pipeline has a lot of similarities to the one we use for machine learning for kids. But it has several differences.</a:t>
            </a:r>
            <a:endParaRPr/>
          </a:p>
          <a:p>
            <a:pPr indent="-298450" lvl="0" marL="457200" rtl="0" algn="l">
              <a:spcBef>
                <a:spcPts val="0"/>
              </a:spcBef>
              <a:spcAft>
                <a:spcPts val="0"/>
              </a:spcAft>
              <a:buSzPts val="1100"/>
              <a:buAutoNum type="arabicPeriod"/>
            </a:pPr>
            <a:r>
              <a:rPr lang="en"/>
              <a:t>Step 1 - We don’t need to collect our own data because we have a datasets that others have already created for us. </a:t>
            </a:r>
            <a:r>
              <a:rPr lang="en">
                <a:solidFill>
                  <a:schemeClr val="dk1"/>
                </a:solidFill>
              </a:rPr>
              <a:t>When we look at this data set we can see that there are already a number of features identified in the columns and the rows of the table are filled with examples. </a:t>
            </a:r>
            <a:endParaRPr/>
          </a:p>
          <a:p>
            <a:pPr indent="-298450" lvl="0" marL="457200" rtl="0" algn="l">
              <a:spcBef>
                <a:spcPts val="0"/>
              </a:spcBef>
              <a:spcAft>
                <a:spcPts val="0"/>
              </a:spcAft>
              <a:buSzPts val="1100"/>
              <a:buAutoNum type="arabicPeriod"/>
            </a:pPr>
            <a:r>
              <a:rPr lang="en"/>
              <a:t>Step 2 -  So instead of defining features, we have to identify a question we want to answer with our data</a:t>
            </a:r>
            <a:endParaRPr/>
          </a:p>
          <a:p>
            <a:pPr indent="-298450" lvl="0" marL="457200" rtl="0" algn="l">
              <a:spcBef>
                <a:spcPts val="0"/>
              </a:spcBef>
              <a:spcAft>
                <a:spcPts val="0"/>
              </a:spcAft>
              <a:buSzPts val="1100"/>
              <a:buAutoNum type="arabicPeriod"/>
            </a:pPr>
            <a:r>
              <a:rPr lang="en"/>
              <a:t>Step 3- then we will select the feature we want to predict </a:t>
            </a:r>
            <a:endParaRPr/>
          </a:p>
          <a:p>
            <a:pPr indent="-298450" lvl="0" marL="457200" rtl="0" algn="l">
              <a:spcBef>
                <a:spcPts val="0"/>
              </a:spcBef>
              <a:spcAft>
                <a:spcPts val="0"/>
              </a:spcAft>
              <a:buSzPts val="1100"/>
              <a:buAutoNum type="arabicPeriod"/>
            </a:pPr>
            <a:r>
              <a:rPr lang="en"/>
              <a:t>Step 4 - then we will select the features we think will help us predict the feature we selected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3c3fa64dc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3c3fa64dc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3c3fa64dc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3c3fa64d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13c3fa64dc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13c3fa64dc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3c3fa632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3c3fa632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acda2da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5acda2da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5acda2da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5acda2da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5acda2dae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5acda2dae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3c3fa64d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13c3fa64d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3c3fa64d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3c3fa64d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3c3fa64d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3c3fa64d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5acda2dae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5acda2dae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5acda2dae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5acda2dae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5acda2dae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5acda2dae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a:solidFill>
                  <a:schemeClr val="dk1"/>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SzPts val="2800"/>
              <a:buNone/>
              <a:defRPr sz="2800"/>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hyperlink" Target="https://creativecommons.org/licenses/by-nc-sa/4.0/" TargetMode="External"/><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youtu.be/59bMh59JQDo" TargetMode="External"/><Relationship Id="rId4" Type="http://schemas.openxmlformats.org/officeDocument/2006/relationships/hyperlink" Target="http://www.youtube.com/watch?v=59bMh59JQDo" TargetMode="External"/><Relationship Id="rId5"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teachablemachine.withgoogle.com/train" TargetMode="External"/><Relationship Id="rId4" Type="http://schemas.openxmlformats.org/officeDocument/2006/relationships/hyperlink" Target="https://www.youtube.com/watch?v=DFBbSTvtpy4" TargetMode="External"/><Relationship Id="rId5" Type="http://schemas.openxmlformats.org/officeDocument/2006/relationships/hyperlink" Target="https://www.youtube.com/watch?v=CO67EQ0ZWgA" TargetMode="External"/><Relationship Id="rId6" Type="http://schemas.openxmlformats.org/officeDocument/2006/relationships/image" Target="../media/image1.png"/><Relationship Id="rId7"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teachablemachine.withgoogle.com/faq#Saving-&amp;-Expor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machinelearningforkids.co.uk/" TargetMode="External"/><Relationship Id="rId4" Type="http://schemas.openxmlformats.org/officeDocument/2006/relationships/image" Target="../media/image13.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studio.code.org/s/ai-lab/lessons/1/levels/2/sublevel/5" TargetMode="External"/><Relationship Id="rId4" Type="http://schemas.openxmlformats.org/officeDocument/2006/relationships/image" Target="../media/image2.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3.7</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Mini-Project Overview</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1" name="Google Shape;101;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2" name="Google Shape;102;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3" name="Google Shape;103;p25"/>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Attribution-NonCommercial-ShareAlike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900"/>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4" name="Google Shape;104;p25"/>
          <p:cNvPicPr preferRelativeResize="0"/>
          <p:nvPr/>
        </p:nvPicPr>
        <p:blipFill rotWithShape="1">
          <a:blip r:embed="rId6">
            <a:alphaModFix/>
          </a:blip>
          <a:srcRect b="7664" l="30410" r="11253" t="16675"/>
          <a:stretch/>
        </p:blipFill>
        <p:spPr>
          <a:xfrm>
            <a:off x="6796118" y="2303750"/>
            <a:ext cx="1612984" cy="1349477"/>
          </a:xfrm>
          <a:prstGeom prst="rect">
            <a:avLst/>
          </a:prstGeom>
          <a:noFill/>
          <a:ln>
            <a:noFill/>
          </a:ln>
        </p:spPr>
      </p:pic>
      <p:pic>
        <p:nvPicPr>
          <p:cNvPr id="105" name="Google Shape;105;p25"/>
          <p:cNvPicPr preferRelativeResize="0"/>
          <p:nvPr/>
        </p:nvPicPr>
        <p:blipFill>
          <a:blip r:embed="rId7">
            <a:alphaModFix/>
          </a:blip>
          <a:stretch>
            <a:fillRect/>
          </a:stretch>
        </p:blipFill>
        <p:spPr>
          <a:xfrm>
            <a:off x="2561502" y="2309060"/>
            <a:ext cx="1344354" cy="1405861"/>
          </a:xfrm>
          <a:prstGeom prst="rect">
            <a:avLst/>
          </a:prstGeom>
          <a:noFill/>
          <a:ln>
            <a:noFill/>
          </a:ln>
        </p:spPr>
      </p:pic>
      <p:pic>
        <p:nvPicPr>
          <p:cNvPr id="106" name="Google Shape;106;p25"/>
          <p:cNvPicPr preferRelativeResize="0"/>
          <p:nvPr/>
        </p:nvPicPr>
        <p:blipFill>
          <a:blip r:embed="rId8">
            <a:alphaModFix/>
          </a:blip>
          <a:stretch>
            <a:fillRect/>
          </a:stretch>
        </p:blipFill>
        <p:spPr>
          <a:xfrm>
            <a:off x="4590840" y="2308705"/>
            <a:ext cx="1444090" cy="14065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26"/>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113" name="Google Shape;113;p26"/>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Understand what makes an AI biased and how to limit bias. </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Build AI models and systems that are fair, ethical, and, transparent.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Consider the users of your AI system.</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the Unit 3 Mini-Projects</a:t>
            </a:r>
            <a:endParaRPr/>
          </a:p>
        </p:txBody>
      </p:sp>
      <p:sp>
        <p:nvSpPr>
          <p:cNvPr id="119" name="Google Shape;11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We want to empower you to create AI models and systems, as AI Designers and Developers.</a:t>
            </a:r>
            <a:endParaRPr b="1"/>
          </a:p>
          <a:p>
            <a:pPr indent="0" lvl="0" marL="0" rtl="0" algn="ctr">
              <a:spcBef>
                <a:spcPts val="1200"/>
              </a:spcBef>
              <a:spcAft>
                <a:spcPts val="0"/>
              </a:spcAft>
              <a:buNone/>
            </a:pPr>
            <a:r>
              <a:rPr i="1" lang="en"/>
              <a:t>Every person involved in the creation of AI at any step is accountable for considering the system’s impact in the world</a:t>
            </a:r>
            <a:endParaRPr i="1"/>
          </a:p>
          <a:p>
            <a:pPr indent="0" lvl="0" marL="0" rtl="0" algn="l">
              <a:spcBef>
                <a:spcPts val="1200"/>
              </a:spcBef>
              <a:spcAft>
                <a:spcPts val="0"/>
              </a:spcAft>
              <a:buNone/>
            </a:pPr>
            <a:r>
              <a:rPr b="1" lang="en"/>
              <a:t>Being an AI Designer has some responsibilities:</a:t>
            </a:r>
            <a:endParaRPr b="1"/>
          </a:p>
          <a:p>
            <a:pPr indent="-334327" lvl="0" marL="457200" rtl="0" algn="l">
              <a:spcBef>
                <a:spcPts val="1200"/>
              </a:spcBef>
              <a:spcAft>
                <a:spcPts val="0"/>
              </a:spcAft>
              <a:buSzPct val="100000"/>
              <a:buAutoNum type="arabicPeriod"/>
            </a:pPr>
            <a:r>
              <a:rPr lang="en"/>
              <a:t>Consider the users of your AI system - evaluate the potential positive and negative impacts at every step of AI design, development, decision processes, and outcomes to your users.</a:t>
            </a:r>
            <a:endParaRPr/>
          </a:p>
          <a:p>
            <a:pPr indent="-334327" lvl="0" marL="457200" rtl="0" algn="l">
              <a:spcBef>
                <a:spcPts val="1000"/>
              </a:spcBef>
              <a:spcAft>
                <a:spcPts val="0"/>
              </a:spcAft>
              <a:buSzPct val="100000"/>
              <a:buAutoNum type="arabicPeriod"/>
            </a:pPr>
            <a:r>
              <a:rPr lang="en"/>
              <a:t>Limit bias in their datasets and training</a:t>
            </a:r>
            <a:endParaRPr/>
          </a:p>
          <a:p>
            <a:pPr indent="-334327" lvl="0" marL="457200" rtl="0" algn="l">
              <a:spcBef>
                <a:spcPts val="1000"/>
              </a:spcBef>
              <a:spcAft>
                <a:spcPts val="1000"/>
              </a:spcAft>
              <a:buSzPct val="100000"/>
              <a:buAutoNum type="arabicPeriod"/>
            </a:pPr>
            <a:r>
              <a:rPr lang="en"/>
              <a:t>Build AI models and systems that are fair, ethical, and, transparent.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Bias in ML - </a:t>
            </a:r>
            <a:r>
              <a:rPr lang="en"/>
              <a:t>Things</a:t>
            </a:r>
            <a:r>
              <a:rPr lang="en"/>
              <a:t> we want to avoid</a:t>
            </a:r>
            <a:endParaRPr/>
          </a:p>
        </p:txBody>
      </p:sp>
      <p:sp>
        <p:nvSpPr>
          <p:cNvPr id="125" name="Google Shape;125;p28"/>
          <p:cNvSpPr txBox="1"/>
          <p:nvPr>
            <p:ph idx="1" type="body"/>
          </p:nvPr>
        </p:nvSpPr>
        <p:spPr>
          <a:xfrm>
            <a:off x="311700" y="4529575"/>
            <a:ext cx="8520600" cy="5727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u="sng">
                <a:solidFill>
                  <a:schemeClr val="hlink"/>
                </a:solidFill>
                <a:hlinkClick r:id="rId3"/>
              </a:rPr>
              <a:t>https://youtu.be/59bMh59JQDo</a:t>
            </a:r>
            <a:r>
              <a:rPr lang="en"/>
              <a:t> (2 mins 33 secs)</a:t>
            </a:r>
            <a:endParaRPr/>
          </a:p>
        </p:txBody>
      </p:sp>
      <p:pic>
        <p:nvPicPr>
          <p:cNvPr descr="As researchers and engineers, our goal is to make machine learning technology work for everyone." id="126" name="Google Shape;126;p28" title="Machine Learning and Human Bias">
            <a:hlinkClick r:id="rId4"/>
          </p:cNvPr>
          <p:cNvPicPr preferRelativeResize="0"/>
          <p:nvPr/>
        </p:nvPicPr>
        <p:blipFill>
          <a:blip r:embed="rId5">
            <a:alphaModFix/>
          </a:blip>
          <a:stretch>
            <a:fillRect/>
          </a:stretch>
        </p:blipFill>
        <p:spPr>
          <a:xfrm>
            <a:off x="2159625" y="1079000"/>
            <a:ext cx="4600775" cy="3450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Cards - Responsible use of AI Models </a:t>
            </a:r>
            <a:endParaRPr/>
          </a:p>
        </p:txBody>
      </p:sp>
      <p:sp>
        <p:nvSpPr>
          <p:cNvPr id="132" name="Google Shape;132;p29"/>
          <p:cNvSpPr txBox="1"/>
          <p:nvPr>
            <p:ph idx="1" type="body"/>
          </p:nvPr>
        </p:nvSpPr>
        <p:spPr>
          <a:xfrm>
            <a:off x="311700" y="1152475"/>
            <a:ext cx="5354700" cy="39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i="1" lang="en"/>
              <a:t>Model cards are an attempt to ensure that machine learning models are used responsibly.</a:t>
            </a:r>
            <a:endParaRPr i="1"/>
          </a:p>
          <a:p>
            <a:pPr indent="-334327" lvl="0" marL="457200" rtl="0" algn="l">
              <a:spcBef>
                <a:spcPts val="1200"/>
              </a:spcBef>
              <a:spcAft>
                <a:spcPts val="0"/>
              </a:spcAft>
              <a:buSzPct val="100000"/>
              <a:buChar char="●"/>
            </a:pPr>
            <a:r>
              <a:rPr b="1" lang="en"/>
              <a:t>Intended Use</a:t>
            </a:r>
            <a:r>
              <a:rPr lang="en"/>
              <a:t>: </a:t>
            </a:r>
            <a:endParaRPr/>
          </a:p>
          <a:p>
            <a:pPr indent="-310832" lvl="1" marL="914400" rtl="0" algn="l">
              <a:spcBef>
                <a:spcPts val="0"/>
              </a:spcBef>
              <a:spcAft>
                <a:spcPts val="0"/>
              </a:spcAft>
              <a:buSzPct val="100000"/>
              <a:buChar char="○"/>
            </a:pPr>
            <a:r>
              <a:rPr lang="en"/>
              <a:t>What problem was this model created to solve?</a:t>
            </a:r>
            <a:endParaRPr/>
          </a:p>
          <a:p>
            <a:pPr indent="-334327" lvl="0" marL="457200" rtl="0" algn="l">
              <a:spcBef>
                <a:spcPts val="0"/>
              </a:spcBef>
              <a:spcAft>
                <a:spcPts val="0"/>
              </a:spcAft>
              <a:buSzPct val="100000"/>
              <a:buChar char="●"/>
            </a:pPr>
            <a:r>
              <a:rPr b="1" lang="en"/>
              <a:t>Limitations and Warnings</a:t>
            </a:r>
            <a:r>
              <a:rPr lang="en"/>
              <a:t>:</a:t>
            </a:r>
            <a:endParaRPr/>
          </a:p>
          <a:p>
            <a:pPr indent="-310832" lvl="1" marL="914400" rtl="0" algn="l">
              <a:spcBef>
                <a:spcPts val="0"/>
              </a:spcBef>
              <a:spcAft>
                <a:spcPts val="0"/>
              </a:spcAft>
              <a:buSzPct val="100000"/>
              <a:buChar char="○"/>
            </a:pPr>
            <a:r>
              <a:rPr lang="en"/>
              <a:t>Does the data represent all possible users and scenarios, or is it limited?</a:t>
            </a:r>
            <a:endParaRPr/>
          </a:p>
          <a:p>
            <a:pPr indent="-310832" lvl="1" marL="914400" rtl="0" algn="l">
              <a:spcBef>
                <a:spcPts val="0"/>
              </a:spcBef>
              <a:spcAft>
                <a:spcPts val="0"/>
              </a:spcAft>
              <a:buSzPct val="100000"/>
              <a:buChar char="○"/>
            </a:pPr>
            <a:r>
              <a:rPr lang="en"/>
              <a:t>Is the dataset large enough to be confident in the model’s accuracy?</a:t>
            </a:r>
            <a:endParaRPr/>
          </a:p>
          <a:p>
            <a:pPr indent="-310832" lvl="1" marL="914400" rtl="0" algn="l">
              <a:spcBef>
                <a:spcPts val="0"/>
              </a:spcBef>
              <a:spcAft>
                <a:spcPts val="0"/>
              </a:spcAft>
              <a:buSzPct val="100000"/>
              <a:buChar char="○"/>
            </a:pPr>
            <a:r>
              <a:rPr lang="en"/>
              <a:t>Are there situations where the model should not be used?</a:t>
            </a:r>
            <a:endParaRPr/>
          </a:p>
          <a:p>
            <a:pPr indent="-334327" lvl="0" marL="457200" rtl="0" algn="l">
              <a:spcBef>
                <a:spcPts val="0"/>
              </a:spcBef>
              <a:spcAft>
                <a:spcPts val="0"/>
              </a:spcAft>
              <a:buSzPct val="100000"/>
              <a:buChar char="●"/>
            </a:pPr>
            <a:r>
              <a:rPr b="1" lang="en"/>
              <a:t>About the Data</a:t>
            </a:r>
            <a:r>
              <a:rPr lang="en"/>
              <a:t>:</a:t>
            </a:r>
            <a:endParaRPr/>
          </a:p>
          <a:p>
            <a:pPr indent="-310832" lvl="1" marL="914400" rtl="0" algn="l">
              <a:spcBef>
                <a:spcPts val="0"/>
              </a:spcBef>
              <a:spcAft>
                <a:spcPts val="0"/>
              </a:spcAft>
              <a:buSzPct val="100000"/>
              <a:buChar char="○"/>
            </a:pPr>
            <a:r>
              <a:rPr lang="en"/>
              <a:t>Where did the data come from?</a:t>
            </a:r>
            <a:endParaRPr/>
          </a:p>
          <a:p>
            <a:pPr indent="-334327" lvl="0" marL="457200" rtl="0" algn="l">
              <a:spcBef>
                <a:spcPts val="0"/>
              </a:spcBef>
              <a:spcAft>
                <a:spcPts val="0"/>
              </a:spcAft>
              <a:buSzPct val="100000"/>
              <a:buChar char="●"/>
            </a:pPr>
            <a:r>
              <a:rPr b="1" lang="en"/>
              <a:t>Features and Label:</a:t>
            </a:r>
            <a:endParaRPr b="1"/>
          </a:p>
          <a:p>
            <a:pPr indent="-310832" lvl="1" marL="914400" rtl="0" algn="l">
              <a:spcBef>
                <a:spcPts val="0"/>
              </a:spcBef>
              <a:spcAft>
                <a:spcPts val="0"/>
              </a:spcAft>
              <a:buSzPct val="100000"/>
              <a:buChar char="○"/>
            </a:pPr>
            <a:r>
              <a:rPr lang="en"/>
              <a:t>What features are being used?</a:t>
            </a:r>
            <a:endParaRPr/>
          </a:p>
          <a:p>
            <a:pPr indent="-310832" lvl="1" marL="914400" rtl="0" algn="l">
              <a:spcBef>
                <a:spcPts val="0"/>
              </a:spcBef>
              <a:spcAft>
                <a:spcPts val="0"/>
              </a:spcAft>
              <a:buSzPct val="100000"/>
              <a:buChar char="○"/>
            </a:pPr>
            <a:r>
              <a:rPr lang="en"/>
              <a:t>How were these feature values measured?</a:t>
            </a:r>
            <a:endParaRPr/>
          </a:p>
          <a:p>
            <a:pPr indent="-310832" lvl="1" marL="914400" rtl="0" algn="l">
              <a:spcBef>
                <a:spcPts val="0"/>
              </a:spcBef>
              <a:spcAft>
                <a:spcPts val="0"/>
              </a:spcAft>
              <a:buSzPct val="100000"/>
              <a:buChar char="○"/>
            </a:pPr>
            <a:r>
              <a:rPr lang="en"/>
              <a:t>How were labels assigned?</a:t>
            </a:r>
            <a:endParaRPr/>
          </a:p>
        </p:txBody>
      </p:sp>
      <p:sp>
        <p:nvSpPr>
          <p:cNvPr id="133" name="Google Shape;13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4" name="Google Shape;134;p29"/>
          <p:cNvPicPr preferRelativeResize="0"/>
          <p:nvPr/>
        </p:nvPicPr>
        <p:blipFill>
          <a:blip r:embed="rId3">
            <a:alphaModFix/>
          </a:blip>
          <a:stretch>
            <a:fillRect/>
          </a:stretch>
        </p:blipFill>
        <p:spPr>
          <a:xfrm>
            <a:off x="5818800" y="1170125"/>
            <a:ext cx="3172800" cy="24585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the Unit 3 Mini-Projects</a:t>
            </a:r>
            <a:endParaRPr/>
          </a:p>
        </p:txBody>
      </p:sp>
      <p:sp>
        <p:nvSpPr>
          <p:cNvPr id="140" name="Google Shape;140;p30"/>
          <p:cNvSpPr txBox="1"/>
          <p:nvPr>
            <p:ph idx="1" type="body"/>
          </p:nvPr>
        </p:nvSpPr>
        <p:spPr>
          <a:xfrm>
            <a:off x="311700" y="1104650"/>
            <a:ext cx="8520600" cy="390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Y</a:t>
            </a:r>
            <a:r>
              <a:rPr lang="en"/>
              <a:t>ou will have the option to use one of three AI Model development tools</a:t>
            </a:r>
            <a:endParaRPr/>
          </a:p>
          <a:p>
            <a:pPr indent="0" lvl="0" marL="0" rtl="0" algn="l">
              <a:spcBef>
                <a:spcPts val="1200"/>
              </a:spcBef>
              <a:spcAft>
                <a:spcPts val="0"/>
              </a:spcAft>
              <a:buNone/>
            </a:pPr>
            <a:r>
              <a:rPr lang="en"/>
              <a:t>You will create an AI model &amp; system using a pre-</a:t>
            </a:r>
            <a:r>
              <a:rPr lang="en"/>
              <a:t>existing project</a:t>
            </a:r>
            <a:r>
              <a:rPr lang="en"/>
              <a:t> template or come up with a project </a:t>
            </a:r>
            <a:r>
              <a:rPr lang="en"/>
              <a:t>idea</a:t>
            </a:r>
            <a:r>
              <a:rPr lang="en"/>
              <a:t> of your own</a:t>
            </a:r>
            <a:endParaRPr/>
          </a:p>
          <a:p>
            <a:pPr indent="0" lvl="0" marL="0" rtl="0" algn="l">
              <a:spcBef>
                <a:spcPts val="1200"/>
              </a:spcBef>
              <a:spcAft>
                <a:spcPts val="0"/>
              </a:spcAft>
              <a:buNone/>
            </a:pPr>
            <a:r>
              <a:rPr lang="en"/>
              <a:t>You will then complete a reflection on the </a:t>
            </a:r>
            <a:r>
              <a:rPr lang="en"/>
              <a:t>AI model &amp; system you created that includes</a:t>
            </a:r>
            <a:endParaRPr/>
          </a:p>
          <a:p>
            <a:pPr indent="-342900" lvl="0" marL="457200" rtl="0" algn="l">
              <a:spcBef>
                <a:spcPts val="1200"/>
              </a:spcBef>
              <a:spcAft>
                <a:spcPts val="0"/>
              </a:spcAft>
              <a:buSzPts val="1800"/>
              <a:buChar char="●"/>
            </a:pPr>
            <a:r>
              <a:rPr lang="en"/>
              <a:t>Description of your system and its goal</a:t>
            </a:r>
            <a:endParaRPr/>
          </a:p>
          <a:p>
            <a:pPr indent="-342900" lvl="0" marL="457200" rtl="0" algn="l">
              <a:spcBef>
                <a:spcPts val="0"/>
              </a:spcBef>
              <a:spcAft>
                <a:spcPts val="0"/>
              </a:spcAft>
              <a:buSzPts val="1800"/>
              <a:buChar char="●"/>
            </a:pPr>
            <a:r>
              <a:rPr lang="en"/>
              <a:t>Description of your target users </a:t>
            </a:r>
            <a:endParaRPr/>
          </a:p>
          <a:p>
            <a:pPr indent="-342900" lvl="0" marL="457200" rtl="0" algn="l">
              <a:spcBef>
                <a:spcPts val="0"/>
              </a:spcBef>
              <a:spcAft>
                <a:spcPts val="0"/>
              </a:spcAft>
              <a:buSzPts val="1800"/>
              <a:buChar char="●"/>
            </a:pPr>
            <a:r>
              <a:rPr lang="en"/>
              <a:t>Evaluate the potential positive and negative your system can have on your users</a:t>
            </a:r>
            <a:endParaRPr/>
          </a:p>
          <a:p>
            <a:pPr indent="-342900" lvl="0" marL="457200" rtl="0" algn="l">
              <a:spcBef>
                <a:spcPts val="0"/>
              </a:spcBef>
              <a:spcAft>
                <a:spcPts val="0"/>
              </a:spcAft>
              <a:buSzPts val="1800"/>
              <a:buChar char="●"/>
            </a:pPr>
            <a:r>
              <a:rPr lang="en"/>
              <a:t>Steps taken to reduce and limit bias in your dataset and model training</a:t>
            </a:r>
            <a:endParaRPr/>
          </a:p>
          <a:p>
            <a:pPr indent="-342900" lvl="0" marL="457200" rtl="0" algn="l">
              <a:spcBef>
                <a:spcPts val="0"/>
              </a:spcBef>
              <a:spcAft>
                <a:spcPts val="0"/>
              </a:spcAft>
              <a:buSzPts val="1800"/>
              <a:buChar char="●"/>
            </a:pPr>
            <a:r>
              <a:rPr lang="en"/>
              <a:t>Create a Model Card - describing the intended use of your system, source of data, limitations, and warnings.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Unit 3 Mini Project Options - Pick a tool &amp; project</a:t>
            </a:r>
            <a:endParaRPr/>
          </a:p>
        </p:txBody>
      </p:sp>
      <p:sp>
        <p:nvSpPr>
          <p:cNvPr id="146" name="Google Shape;146;p31"/>
          <p:cNvSpPr/>
          <p:nvPr/>
        </p:nvSpPr>
        <p:spPr>
          <a:xfrm>
            <a:off x="1193925" y="93560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Train a Visual Classifier</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t>Tool:</a:t>
            </a:r>
            <a:r>
              <a:rPr lang="en"/>
              <a:t> Teachable Machine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Description:</a:t>
            </a:r>
            <a:endParaRPr b="1"/>
          </a:p>
          <a:p>
            <a:pPr indent="0" lvl="0" marL="0" rtl="0" algn="l">
              <a:spcBef>
                <a:spcPts val="0"/>
              </a:spcBef>
              <a:spcAft>
                <a:spcPts val="0"/>
              </a:spcAft>
              <a:buNone/>
            </a:pPr>
            <a:r>
              <a:rPr lang="en" sz="1200">
                <a:solidFill>
                  <a:schemeClr val="dk1"/>
                </a:solidFill>
              </a:rPr>
              <a:t>Use camera or images to </a:t>
            </a:r>
            <a:r>
              <a:rPr lang="en" sz="1200">
                <a:solidFill>
                  <a:schemeClr val="dk1"/>
                </a:solidFill>
              </a:rPr>
              <a:t>create</a:t>
            </a:r>
            <a:r>
              <a:rPr lang="en" sz="1200">
                <a:solidFill>
                  <a:schemeClr val="dk1"/>
                </a:solidFill>
              </a:rPr>
              <a:t> a dataset &amp; create a classifier to recognize different objects, people, or gestures. Extend the project using Scratch into a game.</a:t>
            </a:r>
            <a:endParaRPr sz="1200">
              <a:solidFill>
                <a:srgbClr val="FF0000"/>
              </a:solidFill>
            </a:endParaRPr>
          </a:p>
        </p:txBody>
      </p:sp>
      <p:sp>
        <p:nvSpPr>
          <p:cNvPr id="147" name="Google Shape;147;p31"/>
          <p:cNvSpPr/>
          <p:nvPr/>
        </p:nvSpPr>
        <p:spPr>
          <a:xfrm>
            <a:off x="3443966" y="966285"/>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solidFill>
                  <a:schemeClr val="dk1"/>
                </a:solidFill>
              </a:rPr>
              <a:t>Build a ML for Kids Project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Machine Learning for Kids (ML4K) &amp; Scratch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Pick a project from the ML4K website and complete it. Note: some require using the ML4K model in a Scratch project.</a:t>
            </a:r>
            <a:endParaRPr sz="1200">
              <a:solidFill>
                <a:schemeClr val="dk1"/>
              </a:solidFill>
            </a:endParaRPr>
          </a:p>
          <a:p>
            <a:pPr indent="0" lvl="0" marL="0" rtl="0" algn="l">
              <a:spcBef>
                <a:spcPts val="0"/>
              </a:spcBef>
              <a:spcAft>
                <a:spcPts val="0"/>
              </a:spcAft>
              <a:buNone/>
            </a:pPr>
            <a:r>
              <a:t/>
            </a:r>
            <a:endParaRPr/>
          </a:p>
        </p:txBody>
      </p:sp>
      <p:sp>
        <p:nvSpPr>
          <p:cNvPr id="148" name="Google Shape;148;p31"/>
          <p:cNvSpPr/>
          <p:nvPr/>
        </p:nvSpPr>
        <p:spPr>
          <a:xfrm>
            <a:off x="5701268" y="93873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t>Dataset Classifier or Predictor</a:t>
            </a:r>
            <a:endParaRPr b="1"/>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AI Lab (Code.org)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t>Pick a dataset or create your own dataset, train a classifier or predictor. Use AI lab to extend the project into a mobile app</a:t>
            </a:r>
            <a:endParaRPr sz="1200"/>
          </a:p>
        </p:txBody>
      </p:sp>
      <p:pic>
        <p:nvPicPr>
          <p:cNvPr id="149" name="Google Shape;149;p31"/>
          <p:cNvPicPr preferRelativeResize="0"/>
          <p:nvPr/>
        </p:nvPicPr>
        <p:blipFill rotWithShape="1">
          <a:blip r:embed="rId3">
            <a:alphaModFix/>
          </a:blip>
          <a:srcRect b="7664" l="30410" r="11253" t="16675"/>
          <a:stretch/>
        </p:blipFill>
        <p:spPr>
          <a:xfrm>
            <a:off x="6185736" y="1084550"/>
            <a:ext cx="1212539" cy="1014450"/>
          </a:xfrm>
          <a:prstGeom prst="rect">
            <a:avLst/>
          </a:prstGeom>
          <a:noFill/>
          <a:ln>
            <a:noFill/>
          </a:ln>
        </p:spPr>
      </p:pic>
      <p:pic>
        <p:nvPicPr>
          <p:cNvPr id="150" name="Google Shape;150;p31"/>
          <p:cNvPicPr preferRelativeResize="0"/>
          <p:nvPr/>
        </p:nvPicPr>
        <p:blipFill>
          <a:blip r:embed="rId4">
            <a:alphaModFix/>
          </a:blip>
          <a:stretch>
            <a:fillRect/>
          </a:stretch>
        </p:blipFill>
        <p:spPr>
          <a:xfrm>
            <a:off x="1799493" y="1088542"/>
            <a:ext cx="1010600" cy="1056836"/>
          </a:xfrm>
          <a:prstGeom prst="rect">
            <a:avLst/>
          </a:prstGeom>
          <a:noFill/>
          <a:ln>
            <a:noFill/>
          </a:ln>
        </p:spPr>
      </p:pic>
      <p:pic>
        <p:nvPicPr>
          <p:cNvPr id="151" name="Google Shape;151;p31"/>
          <p:cNvPicPr preferRelativeResize="0"/>
          <p:nvPr/>
        </p:nvPicPr>
        <p:blipFill>
          <a:blip r:embed="rId5">
            <a:alphaModFix/>
          </a:blip>
          <a:stretch>
            <a:fillRect/>
          </a:stretch>
        </p:blipFill>
        <p:spPr>
          <a:xfrm>
            <a:off x="3955125" y="1088275"/>
            <a:ext cx="1085575" cy="1057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Since</a:t>
            </a:r>
            <a:r>
              <a:rPr lang="en"/>
              <a:t> you are developing your own AI models &amp; systems, you need to remember the ML pipeline for each system.</a:t>
            </a:r>
            <a:endParaRPr/>
          </a:p>
        </p:txBody>
      </p:sp>
      <p:sp>
        <p:nvSpPr>
          <p:cNvPr id="157" name="Google Shape;157;p32"/>
          <p:cNvSpPr txBox="1"/>
          <p:nvPr/>
        </p:nvSpPr>
        <p:spPr>
          <a:xfrm>
            <a:off x="805475" y="3774200"/>
            <a:ext cx="7755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t>You’ll notice that the project details follow the steps or stages in these ML pipelines.</a:t>
            </a:r>
            <a:endParaRPr i="1"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2040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AI Lab Machine Learning Pipeline</a:t>
            </a:r>
            <a:endParaRPr>
              <a:latin typeface="Alfa Slab One"/>
              <a:ea typeface="Alfa Slab One"/>
              <a:cs typeface="Alfa Slab One"/>
              <a:sym typeface="Alfa Slab One"/>
            </a:endParaRPr>
          </a:p>
        </p:txBody>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33"/>
          <p:cNvSpPr/>
          <p:nvPr/>
        </p:nvSpPr>
        <p:spPr>
          <a:xfrm>
            <a:off x="127800" y="258388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Identify  a dataset &amp; review features</a:t>
            </a:r>
            <a:endParaRPr sz="1300"/>
          </a:p>
        </p:txBody>
      </p:sp>
      <p:sp>
        <p:nvSpPr>
          <p:cNvPr id="165" name="Google Shape;165;p33"/>
          <p:cNvSpPr/>
          <p:nvPr/>
        </p:nvSpPr>
        <p:spPr>
          <a:xfrm>
            <a:off x="2032275" y="2616044"/>
            <a:ext cx="1319100" cy="779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Identify a question </a:t>
            </a:r>
            <a:endParaRPr/>
          </a:p>
        </p:txBody>
      </p:sp>
      <p:sp>
        <p:nvSpPr>
          <p:cNvPr id="166" name="Google Shape;166;p33"/>
          <p:cNvSpPr/>
          <p:nvPr/>
        </p:nvSpPr>
        <p:spPr>
          <a:xfrm>
            <a:off x="3653350" y="25896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Select feature to predict</a:t>
            </a:r>
            <a:endParaRPr/>
          </a:p>
        </p:txBody>
      </p:sp>
      <p:sp>
        <p:nvSpPr>
          <p:cNvPr id="167" name="Google Shape;167;p33"/>
          <p:cNvSpPr/>
          <p:nvPr/>
        </p:nvSpPr>
        <p:spPr>
          <a:xfrm>
            <a:off x="5390575" y="25896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Select features that affect the feature to be predicted</a:t>
            </a:r>
            <a:endParaRPr/>
          </a:p>
        </p:txBody>
      </p:sp>
      <p:cxnSp>
        <p:nvCxnSpPr>
          <p:cNvPr id="168" name="Google Shape;168;p33"/>
          <p:cNvCxnSpPr>
            <a:stCxn id="164" idx="3"/>
            <a:endCxn id="165" idx="1"/>
          </p:cNvCxnSpPr>
          <p:nvPr/>
        </p:nvCxnSpPr>
        <p:spPr>
          <a:xfrm>
            <a:off x="1585200" y="2999984"/>
            <a:ext cx="447000" cy="57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33"/>
          <p:cNvCxnSpPr>
            <a:stCxn id="165" idx="3"/>
            <a:endCxn id="166" idx="1"/>
          </p:cNvCxnSpPr>
          <p:nvPr/>
        </p:nvCxnSpPr>
        <p:spPr>
          <a:xfrm>
            <a:off x="3351375" y="30057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33"/>
          <p:cNvCxnSpPr>
            <a:stCxn id="166" idx="3"/>
            <a:endCxn id="167" idx="1"/>
          </p:cNvCxnSpPr>
          <p:nvPr/>
        </p:nvCxnSpPr>
        <p:spPr>
          <a:xfrm>
            <a:off x="5110750" y="30057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33"/>
          <p:cNvCxnSpPr>
            <a:stCxn id="167" idx="3"/>
            <a:endCxn id="172" idx="1"/>
          </p:cNvCxnSpPr>
          <p:nvPr/>
        </p:nvCxnSpPr>
        <p:spPr>
          <a:xfrm>
            <a:off x="6847975" y="3005744"/>
            <a:ext cx="306900" cy="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33"/>
          <p:cNvCxnSpPr>
            <a:endCxn id="174" idx="3"/>
          </p:cNvCxnSpPr>
          <p:nvPr/>
        </p:nvCxnSpPr>
        <p:spPr>
          <a:xfrm flipH="1">
            <a:off x="6630850" y="3023819"/>
            <a:ext cx="1983600" cy="1593300"/>
          </a:xfrm>
          <a:prstGeom prst="bentConnector3">
            <a:avLst>
              <a:gd fmla="val 50000" name="adj1"/>
            </a:avLst>
          </a:prstGeom>
          <a:noFill/>
          <a:ln cap="flat" cmpd="sng" w="9525">
            <a:solidFill>
              <a:schemeClr val="dk2"/>
            </a:solidFill>
            <a:prstDash val="solid"/>
            <a:round/>
            <a:headEnd len="med" w="med" type="none"/>
            <a:tailEnd len="med" w="med" type="triangle"/>
          </a:ln>
        </p:spPr>
      </p:cxnSp>
      <p:pic>
        <p:nvPicPr>
          <p:cNvPr id="175" name="Google Shape;175;p33"/>
          <p:cNvPicPr preferRelativeResize="0"/>
          <p:nvPr/>
        </p:nvPicPr>
        <p:blipFill rotWithShape="1">
          <a:blip r:embed="rId3">
            <a:alphaModFix/>
          </a:blip>
          <a:srcRect b="0" l="0" r="34567" t="0"/>
          <a:stretch/>
        </p:blipFill>
        <p:spPr>
          <a:xfrm>
            <a:off x="254675" y="946463"/>
            <a:ext cx="1203650" cy="1106525"/>
          </a:xfrm>
          <a:prstGeom prst="rect">
            <a:avLst/>
          </a:prstGeom>
          <a:noFill/>
          <a:ln>
            <a:noFill/>
          </a:ln>
        </p:spPr>
      </p:pic>
      <p:pic>
        <p:nvPicPr>
          <p:cNvPr id="176" name="Google Shape;176;p33"/>
          <p:cNvPicPr preferRelativeResize="0"/>
          <p:nvPr/>
        </p:nvPicPr>
        <p:blipFill rotWithShape="1">
          <a:blip r:embed="rId4">
            <a:alphaModFix/>
          </a:blip>
          <a:srcRect b="2358" l="0" r="36864" t="14901"/>
          <a:stretch/>
        </p:blipFill>
        <p:spPr>
          <a:xfrm>
            <a:off x="204000" y="1838600"/>
            <a:ext cx="1330524" cy="779401"/>
          </a:xfrm>
          <a:prstGeom prst="rect">
            <a:avLst/>
          </a:prstGeom>
          <a:noFill/>
          <a:ln>
            <a:noFill/>
          </a:ln>
        </p:spPr>
      </p:pic>
      <p:sp>
        <p:nvSpPr>
          <p:cNvPr id="177" name="Google Shape;177;p33"/>
          <p:cNvSpPr txBox="1"/>
          <p:nvPr/>
        </p:nvSpPr>
        <p:spPr>
          <a:xfrm>
            <a:off x="2046375" y="1185850"/>
            <a:ext cx="13305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What features best predict the price of jeans?</a:t>
            </a:r>
            <a:endParaRPr/>
          </a:p>
        </p:txBody>
      </p:sp>
      <p:sp>
        <p:nvSpPr>
          <p:cNvPr id="178" name="Google Shape;178;p33"/>
          <p:cNvSpPr txBox="1"/>
          <p:nvPr/>
        </p:nvSpPr>
        <p:spPr>
          <a:xfrm>
            <a:off x="3716800" y="1438400"/>
            <a:ext cx="133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Price of Jeans</a:t>
            </a:r>
            <a:endParaRPr/>
          </a:p>
        </p:txBody>
      </p:sp>
      <p:sp>
        <p:nvSpPr>
          <p:cNvPr id="179" name="Google Shape;179;p33"/>
          <p:cNvSpPr txBox="1"/>
          <p:nvPr/>
        </p:nvSpPr>
        <p:spPr>
          <a:xfrm>
            <a:off x="5314050" y="1082600"/>
            <a:ext cx="19311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Men’s </a:t>
            </a:r>
            <a:r>
              <a:rPr lang="en">
                <a:solidFill>
                  <a:schemeClr val="dk1"/>
                </a:solidFill>
              </a:rPr>
              <a:t>or </a:t>
            </a:r>
            <a:r>
              <a:rPr lang="en"/>
              <a:t>Women’s</a:t>
            </a:r>
            <a:endParaRPr/>
          </a:p>
          <a:p>
            <a:pPr indent="0" lvl="0" marL="0" rtl="0" algn="ctr">
              <a:spcBef>
                <a:spcPts val="0"/>
              </a:spcBef>
              <a:spcAft>
                <a:spcPts val="0"/>
              </a:spcAft>
              <a:buNone/>
            </a:pPr>
            <a:r>
              <a:rPr lang="en"/>
              <a:t>Style </a:t>
            </a:r>
            <a:endParaRPr/>
          </a:p>
          <a:p>
            <a:pPr indent="0" lvl="0" marL="0" rtl="0" algn="ctr">
              <a:spcBef>
                <a:spcPts val="0"/>
              </a:spcBef>
              <a:spcAft>
                <a:spcPts val="0"/>
              </a:spcAft>
              <a:buNone/>
            </a:pPr>
            <a:r>
              <a:rPr lang="en"/>
              <a:t>Brand</a:t>
            </a:r>
            <a:endParaRPr/>
          </a:p>
          <a:p>
            <a:pPr indent="0" lvl="0" marL="0" rtl="0" algn="ctr">
              <a:spcBef>
                <a:spcPts val="0"/>
              </a:spcBef>
              <a:spcAft>
                <a:spcPts val="0"/>
              </a:spcAft>
              <a:buNone/>
            </a:pPr>
            <a:r>
              <a:rPr lang="en"/>
              <a:t>Cotton content</a:t>
            </a:r>
            <a:endParaRPr/>
          </a:p>
          <a:p>
            <a:pPr indent="0" lvl="0" marL="0" rtl="0" algn="ctr">
              <a:spcBef>
                <a:spcPts val="0"/>
              </a:spcBef>
              <a:spcAft>
                <a:spcPts val="0"/>
              </a:spcAft>
              <a:buNone/>
            </a:pPr>
            <a:r>
              <a:rPr lang="en"/>
              <a:t>Size of pockets</a:t>
            </a:r>
            <a:endParaRPr/>
          </a:p>
          <a:p>
            <a:pPr indent="0" lvl="0" marL="0" rtl="0" algn="ctr">
              <a:spcBef>
                <a:spcPts val="0"/>
              </a:spcBef>
              <a:spcAft>
                <a:spcPts val="0"/>
              </a:spcAft>
              <a:buNone/>
            </a:pPr>
            <a:r>
              <a:t/>
            </a:r>
            <a:endParaRPr/>
          </a:p>
        </p:txBody>
      </p:sp>
      <p:sp>
        <p:nvSpPr>
          <p:cNvPr id="180" name="Google Shape;180;p33"/>
          <p:cNvSpPr txBox="1"/>
          <p:nvPr/>
        </p:nvSpPr>
        <p:spPr>
          <a:xfrm>
            <a:off x="150925" y="136875"/>
            <a:ext cx="899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3.5, we used Code.org’s AI lab  to create a predictive model from an existing dataset</a:t>
            </a:r>
            <a:endParaRPr sz="1600">
              <a:solidFill>
                <a:srgbClr val="0000FF"/>
              </a:solidFill>
            </a:endParaRPr>
          </a:p>
        </p:txBody>
      </p:sp>
      <p:cxnSp>
        <p:nvCxnSpPr>
          <p:cNvPr id="181" name="Google Shape;181;p33"/>
          <p:cNvCxnSpPr>
            <a:stCxn id="174" idx="1"/>
            <a:endCxn id="182" idx="3"/>
          </p:cNvCxnSpPr>
          <p:nvPr/>
        </p:nvCxnSpPr>
        <p:spPr>
          <a:xfrm rot="10800000">
            <a:off x="4572000" y="4607766"/>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182" name="Google Shape;182;p33"/>
          <p:cNvSpPr/>
          <p:nvPr/>
        </p:nvSpPr>
        <p:spPr>
          <a:xfrm>
            <a:off x="3114600" y="4191666"/>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rPr>
              <a:t>Test the model</a:t>
            </a:r>
            <a:endParaRPr/>
          </a:p>
        </p:txBody>
      </p:sp>
      <p:sp>
        <p:nvSpPr>
          <p:cNvPr id="183" name="Google Shape;183;p33"/>
          <p:cNvSpPr/>
          <p:nvPr/>
        </p:nvSpPr>
        <p:spPr>
          <a:xfrm>
            <a:off x="5110750" y="4196369"/>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Review Accuracy</a:t>
            </a:r>
            <a:endParaRPr/>
          </a:p>
        </p:txBody>
      </p:sp>
      <p:cxnSp>
        <p:nvCxnSpPr>
          <p:cNvPr id="184" name="Google Shape;184;p33"/>
          <p:cNvCxnSpPr>
            <a:stCxn id="183" idx="0"/>
            <a:endCxn id="167" idx="2"/>
          </p:cNvCxnSpPr>
          <p:nvPr/>
        </p:nvCxnSpPr>
        <p:spPr>
          <a:xfrm flipH="1" rot="10800000">
            <a:off x="5839450" y="3421769"/>
            <a:ext cx="279900" cy="774600"/>
          </a:xfrm>
          <a:prstGeom prst="straightConnector1">
            <a:avLst/>
          </a:prstGeom>
          <a:noFill/>
          <a:ln cap="flat" cmpd="sng" w="9525">
            <a:solidFill>
              <a:schemeClr val="dk2"/>
            </a:solidFill>
            <a:prstDash val="dash"/>
            <a:round/>
            <a:headEnd len="med" w="med" type="none"/>
            <a:tailEnd len="med" w="med" type="triangle"/>
          </a:ln>
        </p:spPr>
      </p:cxnSp>
      <p:sp>
        <p:nvSpPr>
          <p:cNvPr id="185" name="Google Shape;185;p33"/>
          <p:cNvSpPr txBox="1"/>
          <p:nvPr/>
        </p:nvSpPr>
        <p:spPr>
          <a:xfrm>
            <a:off x="5013450" y="362165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accuracy low</a:t>
            </a:r>
            <a:endParaRPr/>
          </a:p>
        </p:txBody>
      </p:sp>
      <p:sp>
        <p:nvSpPr>
          <p:cNvPr id="172" name="Google Shape;172;p33"/>
          <p:cNvSpPr/>
          <p:nvPr/>
        </p:nvSpPr>
        <p:spPr>
          <a:xfrm>
            <a:off x="7155000" y="25896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cxnSp>
        <p:nvCxnSpPr>
          <p:cNvPr id="186" name="Google Shape;186;p33"/>
          <p:cNvCxnSpPr>
            <a:endCxn id="187" idx="3"/>
          </p:cNvCxnSpPr>
          <p:nvPr/>
        </p:nvCxnSpPr>
        <p:spPr>
          <a:xfrm rot="10800000">
            <a:off x="2590800" y="4607766"/>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187" name="Google Shape;187;p33"/>
          <p:cNvSpPr/>
          <p:nvPr/>
        </p:nvSpPr>
        <p:spPr>
          <a:xfrm>
            <a:off x="1133400" y="4191666"/>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sp>
        <p:nvSpPr>
          <p:cNvPr id="188" name="Google Shape;188;p33"/>
          <p:cNvSpPr/>
          <p:nvPr/>
        </p:nvSpPr>
        <p:spPr>
          <a:xfrm>
            <a:off x="21725" y="2281675"/>
            <a:ext cx="69453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3"/>
          <p:cNvSpPr txBox="1"/>
          <p:nvPr/>
        </p:nvSpPr>
        <p:spPr>
          <a:xfrm>
            <a:off x="1020425" y="22530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
        <p:nvSpPr>
          <p:cNvPr id="190" name="Google Shape;190;p33"/>
          <p:cNvSpPr/>
          <p:nvPr/>
        </p:nvSpPr>
        <p:spPr>
          <a:xfrm>
            <a:off x="3070300" y="3939450"/>
            <a:ext cx="36369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3"/>
          <p:cNvSpPr txBox="1"/>
          <p:nvPr/>
        </p:nvSpPr>
        <p:spPr>
          <a:xfrm>
            <a:off x="3114600" y="3863250"/>
            <a:ext cx="3592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Test</a:t>
            </a:r>
            <a:endParaRPr>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150813" y="749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Teachable Machine Pipeline</a:t>
            </a:r>
            <a:endParaRPr>
              <a:latin typeface="Alfa Slab One"/>
              <a:ea typeface="Alfa Slab One"/>
              <a:cs typeface="Alfa Slab One"/>
              <a:sym typeface="Alfa Slab One"/>
            </a:endParaRPr>
          </a:p>
        </p:txBody>
      </p:sp>
      <p:sp>
        <p:nvSpPr>
          <p:cNvPr id="197" name="Google Shape;197;p34"/>
          <p:cNvSpPr txBox="1"/>
          <p:nvPr/>
        </p:nvSpPr>
        <p:spPr>
          <a:xfrm>
            <a:off x="150925" y="136875"/>
            <a:ext cx="899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3.1, we used Code.org’s AI lab to create a dataset and trained a visual classifier for peace sign vs thumbs up</a:t>
            </a:r>
            <a:endParaRPr sz="1600">
              <a:solidFill>
                <a:srgbClr val="0000FF"/>
              </a:solidFill>
            </a:endParaRPr>
          </a:p>
        </p:txBody>
      </p:sp>
      <p:sp>
        <p:nvSpPr>
          <p:cNvPr id="198" name="Google Shape;198;p34"/>
          <p:cNvSpPr txBox="1"/>
          <p:nvPr>
            <p:ph idx="12" type="sldNum"/>
          </p:nvPr>
        </p:nvSpPr>
        <p:spPr>
          <a:xfrm>
            <a:off x="8472458" y="41298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4"/>
          <p:cNvSpPr/>
          <p:nvPr/>
        </p:nvSpPr>
        <p:spPr>
          <a:xfrm>
            <a:off x="585000" y="205048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Identify the question</a:t>
            </a:r>
            <a:endParaRPr sz="1300"/>
          </a:p>
        </p:txBody>
      </p:sp>
      <p:sp>
        <p:nvSpPr>
          <p:cNvPr id="200" name="Google Shape;200;p34"/>
          <p:cNvSpPr/>
          <p:nvPr/>
        </p:nvSpPr>
        <p:spPr>
          <a:xfrm>
            <a:off x="2489475" y="2082644"/>
            <a:ext cx="1319100" cy="779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Identify the classes (labels)</a:t>
            </a:r>
            <a:endParaRPr/>
          </a:p>
        </p:txBody>
      </p:sp>
      <p:sp>
        <p:nvSpPr>
          <p:cNvPr id="201" name="Google Shape;201;p34"/>
          <p:cNvSpPr/>
          <p:nvPr/>
        </p:nvSpPr>
        <p:spPr>
          <a:xfrm>
            <a:off x="4110550" y="20562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your data for each class</a:t>
            </a:r>
            <a:endParaRPr/>
          </a:p>
        </p:txBody>
      </p:sp>
      <p:cxnSp>
        <p:nvCxnSpPr>
          <p:cNvPr id="202" name="Google Shape;202;p34"/>
          <p:cNvCxnSpPr>
            <a:stCxn id="199" idx="3"/>
            <a:endCxn id="200" idx="1"/>
          </p:cNvCxnSpPr>
          <p:nvPr/>
        </p:nvCxnSpPr>
        <p:spPr>
          <a:xfrm>
            <a:off x="2042400" y="2466584"/>
            <a:ext cx="447000" cy="570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p34"/>
          <p:cNvCxnSpPr>
            <a:stCxn id="200" idx="3"/>
            <a:endCxn id="201" idx="1"/>
          </p:cNvCxnSpPr>
          <p:nvPr/>
        </p:nvCxnSpPr>
        <p:spPr>
          <a:xfrm>
            <a:off x="3808575" y="24723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34"/>
          <p:cNvCxnSpPr>
            <a:stCxn id="201" idx="3"/>
            <a:endCxn id="205" idx="1"/>
          </p:cNvCxnSpPr>
          <p:nvPr/>
        </p:nvCxnSpPr>
        <p:spPr>
          <a:xfrm>
            <a:off x="5567950" y="2472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34"/>
          <p:cNvCxnSpPr>
            <a:stCxn id="207" idx="1"/>
            <a:endCxn id="208" idx="3"/>
          </p:cNvCxnSpPr>
          <p:nvPr/>
        </p:nvCxnSpPr>
        <p:spPr>
          <a:xfrm>
            <a:off x="5790775" y="4104344"/>
            <a:ext cx="3273900" cy="0"/>
          </a:xfrm>
          <a:prstGeom prst="straightConnector1">
            <a:avLst/>
          </a:prstGeom>
          <a:noFill/>
          <a:ln cap="flat" cmpd="sng" w="9525">
            <a:solidFill>
              <a:schemeClr val="dk2"/>
            </a:solidFill>
            <a:prstDash val="solid"/>
            <a:round/>
            <a:headEnd len="med" w="med" type="none"/>
            <a:tailEnd len="med" w="med" type="triangle"/>
          </a:ln>
        </p:spPr>
      </p:cxnSp>
      <p:sp>
        <p:nvSpPr>
          <p:cNvPr id="208" name="Google Shape;208;p34"/>
          <p:cNvSpPr/>
          <p:nvPr/>
        </p:nvSpPr>
        <p:spPr>
          <a:xfrm>
            <a:off x="7607225" y="3688241"/>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rPr>
              <a:t>Test the model</a:t>
            </a:r>
            <a:endParaRPr/>
          </a:p>
        </p:txBody>
      </p:sp>
      <p:sp>
        <p:nvSpPr>
          <p:cNvPr id="207" name="Google Shape;207;p34"/>
          <p:cNvSpPr/>
          <p:nvPr/>
        </p:nvSpPr>
        <p:spPr>
          <a:xfrm>
            <a:off x="5790775" y="368824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Review Accuracy</a:t>
            </a:r>
            <a:endParaRPr/>
          </a:p>
        </p:txBody>
      </p:sp>
      <p:cxnSp>
        <p:nvCxnSpPr>
          <p:cNvPr id="209" name="Google Shape;209;p34"/>
          <p:cNvCxnSpPr>
            <a:stCxn id="207" idx="0"/>
            <a:endCxn id="201" idx="2"/>
          </p:cNvCxnSpPr>
          <p:nvPr/>
        </p:nvCxnSpPr>
        <p:spPr>
          <a:xfrm rot="10800000">
            <a:off x="4839175" y="2888444"/>
            <a:ext cx="1680300" cy="799800"/>
          </a:xfrm>
          <a:prstGeom prst="straightConnector1">
            <a:avLst/>
          </a:prstGeom>
          <a:noFill/>
          <a:ln cap="flat" cmpd="sng" w="9525">
            <a:solidFill>
              <a:schemeClr val="dk2"/>
            </a:solidFill>
            <a:prstDash val="dash"/>
            <a:round/>
            <a:headEnd len="med" w="med" type="none"/>
            <a:tailEnd len="med" w="med" type="triangle"/>
          </a:ln>
        </p:spPr>
      </p:cxnSp>
      <p:sp>
        <p:nvSpPr>
          <p:cNvPr id="210" name="Google Shape;210;p34"/>
          <p:cNvSpPr txBox="1"/>
          <p:nvPr/>
        </p:nvSpPr>
        <p:spPr>
          <a:xfrm>
            <a:off x="4153500" y="308825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accuracy low</a:t>
            </a:r>
            <a:endParaRPr/>
          </a:p>
        </p:txBody>
      </p:sp>
      <p:sp>
        <p:nvSpPr>
          <p:cNvPr id="211" name="Google Shape;211;p34"/>
          <p:cNvSpPr/>
          <p:nvPr/>
        </p:nvSpPr>
        <p:spPr>
          <a:xfrm>
            <a:off x="5869925" y="20766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cxnSp>
        <p:nvCxnSpPr>
          <p:cNvPr id="212" name="Google Shape;212;p34"/>
          <p:cNvCxnSpPr>
            <a:stCxn id="207" idx="1"/>
            <a:endCxn id="213" idx="3"/>
          </p:cNvCxnSpPr>
          <p:nvPr/>
        </p:nvCxnSpPr>
        <p:spPr>
          <a:xfrm rot="10800000">
            <a:off x="4486975" y="4104344"/>
            <a:ext cx="1303800" cy="0"/>
          </a:xfrm>
          <a:prstGeom prst="straightConnector1">
            <a:avLst/>
          </a:prstGeom>
          <a:noFill/>
          <a:ln cap="flat" cmpd="sng" w="9525">
            <a:solidFill>
              <a:schemeClr val="dk2"/>
            </a:solidFill>
            <a:prstDash val="solid"/>
            <a:round/>
            <a:headEnd len="med" w="med" type="none"/>
            <a:tailEnd len="med" w="med" type="triangle"/>
          </a:ln>
        </p:spPr>
      </p:cxnSp>
      <p:sp>
        <p:nvSpPr>
          <p:cNvPr id="213" name="Google Shape;213;p34"/>
          <p:cNvSpPr/>
          <p:nvPr/>
        </p:nvSpPr>
        <p:spPr>
          <a:xfrm>
            <a:off x="3029713" y="3688241"/>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Test the model with users</a:t>
            </a:r>
            <a:endParaRPr/>
          </a:p>
        </p:txBody>
      </p:sp>
      <p:sp>
        <p:nvSpPr>
          <p:cNvPr id="214" name="Google Shape;214;p34"/>
          <p:cNvSpPr/>
          <p:nvPr/>
        </p:nvSpPr>
        <p:spPr>
          <a:xfrm>
            <a:off x="457225" y="3686507"/>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cxnSp>
        <p:nvCxnSpPr>
          <p:cNvPr id="215" name="Google Shape;215;p34"/>
          <p:cNvCxnSpPr>
            <a:stCxn id="213" idx="1"/>
            <a:endCxn id="214" idx="3"/>
          </p:cNvCxnSpPr>
          <p:nvPr/>
        </p:nvCxnSpPr>
        <p:spPr>
          <a:xfrm rot="10800000">
            <a:off x="1914613" y="4102541"/>
            <a:ext cx="1115100" cy="1800"/>
          </a:xfrm>
          <a:prstGeom prst="straightConnector1">
            <a:avLst/>
          </a:prstGeom>
          <a:noFill/>
          <a:ln cap="flat" cmpd="sng" w="9525">
            <a:solidFill>
              <a:schemeClr val="dk2"/>
            </a:solidFill>
            <a:prstDash val="solid"/>
            <a:round/>
            <a:headEnd len="med" w="med" type="none"/>
            <a:tailEnd len="med" w="med" type="triangle"/>
          </a:ln>
        </p:spPr>
      </p:cxnSp>
      <p:sp>
        <p:nvSpPr>
          <p:cNvPr id="216" name="Google Shape;216;p34"/>
          <p:cNvSpPr/>
          <p:nvPr/>
        </p:nvSpPr>
        <p:spPr>
          <a:xfrm>
            <a:off x="7607225" y="2055794"/>
            <a:ext cx="1457400" cy="832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test data</a:t>
            </a:r>
            <a:endParaRPr/>
          </a:p>
        </p:txBody>
      </p:sp>
      <p:cxnSp>
        <p:nvCxnSpPr>
          <p:cNvPr id="217" name="Google Shape;217;p34"/>
          <p:cNvCxnSpPr/>
          <p:nvPr/>
        </p:nvCxnSpPr>
        <p:spPr>
          <a:xfrm>
            <a:off x="7320550" y="2472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34"/>
          <p:cNvCxnSpPr>
            <a:stCxn id="216" idx="2"/>
            <a:endCxn id="208" idx="0"/>
          </p:cNvCxnSpPr>
          <p:nvPr/>
        </p:nvCxnSpPr>
        <p:spPr>
          <a:xfrm>
            <a:off x="8335925" y="2887994"/>
            <a:ext cx="0" cy="800100"/>
          </a:xfrm>
          <a:prstGeom prst="straightConnector1">
            <a:avLst/>
          </a:prstGeom>
          <a:noFill/>
          <a:ln cap="flat" cmpd="sng" w="9525">
            <a:solidFill>
              <a:schemeClr val="dk2"/>
            </a:solidFill>
            <a:prstDash val="solid"/>
            <a:round/>
            <a:headEnd len="med" w="med" type="none"/>
            <a:tailEnd len="med" w="med" type="triangle"/>
          </a:ln>
        </p:spPr>
      </p:cxnSp>
      <p:sp>
        <p:nvSpPr>
          <p:cNvPr id="219" name="Google Shape;219;p34"/>
          <p:cNvSpPr txBox="1"/>
          <p:nvPr/>
        </p:nvSpPr>
        <p:spPr>
          <a:xfrm>
            <a:off x="4739350" y="3742350"/>
            <a:ext cx="951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If accuracy is high</a:t>
            </a:r>
            <a:endParaRPr/>
          </a:p>
        </p:txBody>
      </p:sp>
      <p:cxnSp>
        <p:nvCxnSpPr>
          <p:cNvPr id="220" name="Google Shape;220;p34"/>
          <p:cNvCxnSpPr>
            <a:endCxn id="201" idx="2"/>
          </p:cNvCxnSpPr>
          <p:nvPr/>
        </p:nvCxnSpPr>
        <p:spPr>
          <a:xfrm flipH="1" rot="10800000">
            <a:off x="3106150" y="2888444"/>
            <a:ext cx="1733100" cy="798900"/>
          </a:xfrm>
          <a:prstGeom prst="straightConnector1">
            <a:avLst/>
          </a:prstGeom>
          <a:noFill/>
          <a:ln cap="flat" cmpd="sng" w="9525">
            <a:solidFill>
              <a:schemeClr val="dk2"/>
            </a:solidFill>
            <a:prstDash val="dash"/>
            <a:round/>
            <a:headEnd len="med" w="med" type="none"/>
            <a:tailEnd len="med" w="med" type="triangle"/>
          </a:ln>
        </p:spPr>
      </p:cxnSp>
      <p:sp>
        <p:nvSpPr>
          <p:cNvPr id="221" name="Google Shape;221;p34"/>
          <p:cNvSpPr txBox="1"/>
          <p:nvPr/>
        </p:nvSpPr>
        <p:spPr>
          <a:xfrm>
            <a:off x="2007657" y="3742350"/>
            <a:ext cx="951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If accuracy is high</a:t>
            </a:r>
            <a:endParaRPr/>
          </a:p>
        </p:txBody>
      </p:sp>
      <p:sp>
        <p:nvSpPr>
          <p:cNvPr id="222" name="Google Shape;222;p34"/>
          <p:cNvSpPr txBox="1"/>
          <p:nvPr/>
        </p:nvSpPr>
        <p:spPr>
          <a:xfrm>
            <a:off x="589925" y="17482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
        <p:nvSpPr>
          <p:cNvPr id="223" name="Google Shape;223;p34"/>
          <p:cNvSpPr/>
          <p:nvPr/>
        </p:nvSpPr>
        <p:spPr>
          <a:xfrm>
            <a:off x="402725" y="1748275"/>
            <a:ext cx="5288400" cy="1214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4"/>
          <p:cNvSpPr/>
          <p:nvPr/>
        </p:nvSpPr>
        <p:spPr>
          <a:xfrm rot="-5400000">
            <a:off x="4595575" y="202625"/>
            <a:ext cx="2899800" cy="6038400"/>
          </a:xfrm>
          <a:prstGeom prst="corner">
            <a:avLst>
              <a:gd fmla="val 50000" name="adj1"/>
              <a:gd fmla="val 36903" name="adj2"/>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4"/>
          <p:cNvSpPr txBox="1"/>
          <p:nvPr/>
        </p:nvSpPr>
        <p:spPr>
          <a:xfrm>
            <a:off x="7747600" y="1723188"/>
            <a:ext cx="13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Test</a:t>
            </a:r>
            <a:endParaRPr>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227125" y="597425"/>
            <a:ext cx="860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ML4K Tool Pipeline </a:t>
            </a:r>
            <a:endParaRPr>
              <a:solidFill>
                <a:srgbClr val="FF0000"/>
              </a:solidFill>
              <a:latin typeface="Alfa Slab One"/>
              <a:ea typeface="Alfa Slab One"/>
              <a:cs typeface="Alfa Slab One"/>
              <a:sym typeface="Alfa Slab One"/>
            </a:endParaRPr>
          </a:p>
        </p:txBody>
      </p:sp>
      <p:sp>
        <p:nvSpPr>
          <p:cNvPr id="231" name="Google Shape;23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2" name="Google Shape;232;p35"/>
          <p:cNvPicPr preferRelativeResize="0"/>
          <p:nvPr/>
        </p:nvPicPr>
        <p:blipFill>
          <a:blip r:embed="rId3">
            <a:alphaModFix/>
          </a:blip>
          <a:stretch>
            <a:fillRect/>
          </a:stretch>
        </p:blipFill>
        <p:spPr>
          <a:xfrm>
            <a:off x="172600" y="1014100"/>
            <a:ext cx="8390400" cy="4042725"/>
          </a:xfrm>
          <a:prstGeom prst="rect">
            <a:avLst/>
          </a:prstGeom>
          <a:noFill/>
          <a:ln>
            <a:noFill/>
          </a:ln>
        </p:spPr>
      </p:pic>
      <p:cxnSp>
        <p:nvCxnSpPr>
          <p:cNvPr id="233" name="Google Shape;233;p35"/>
          <p:cNvCxnSpPr>
            <a:endCxn id="234" idx="3"/>
          </p:cNvCxnSpPr>
          <p:nvPr/>
        </p:nvCxnSpPr>
        <p:spPr>
          <a:xfrm rot="10800000">
            <a:off x="2655500" y="4726175"/>
            <a:ext cx="601500" cy="9300"/>
          </a:xfrm>
          <a:prstGeom prst="straightConnector1">
            <a:avLst/>
          </a:prstGeom>
          <a:noFill/>
          <a:ln cap="flat" cmpd="sng" w="9525">
            <a:solidFill>
              <a:schemeClr val="dk2"/>
            </a:solidFill>
            <a:prstDash val="solid"/>
            <a:round/>
            <a:headEnd len="med" w="med" type="none"/>
            <a:tailEnd len="med" w="med" type="triangle"/>
          </a:ln>
        </p:spPr>
      </p:cxnSp>
      <p:sp>
        <p:nvSpPr>
          <p:cNvPr id="234" name="Google Shape;234;p35"/>
          <p:cNvSpPr/>
          <p:nvPr/>
        </p:nvSpPr>
        <p:spPr>
          <a:xfrm>
            <a:off x="701900" y="4395575"/>
            <a:ext cx="1953600" cy="661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Use the model in a system</a:t>
            </a:r>
            <a:endParaRPr/>
          </a:p>
        </p:txBody>
      </p:sp>
      <p:pic>
        <p:nvPicPr>
          <p:cNvPr id="235" name="Google Shape;235;p35"/>
          <p:cNvPicPr preferRelativeResize="0"/>
          <p:nvPr/>
        </p:nvPicPr>
        <p:blipFill>
          <a:blip r:embed="rId4">
            <a:alphaModFix/>
          </a:blip>
          <a:stretch>
            <a:fillRect/>
          </a:stretch>
        </p:blipFill>
        <p:spPr>
          <a:xfrm>
            <a:off x="949999" y="3574704"/>
            <a:ext cx="1457400" cy="820871"/>
          </a:xfrm>
          <a:prstGeom prst="rect">
            <a:avLst/>
          </a:prstGeom>
          <a:noFill/>
          <a:ln>
            <a:noFill/>
          </a:ln>
        </p:spPr>
      </p:pic>
      <p:sp>
        <p:nvSpPr>
          <p:cNvPr id="236" name="Google Shape;236;p35"/>
          <p:cNvSpPr txBox="1"/>
          <p:nvPr/>
        </p:nvSpPr>
        <p:spPr>
          <a:xfrm>
            <a:off x="970925" y="2357875"/>
            <a:ext cx="494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Build Dataset</a:t>
            </a:r>
            <a:endParaRPr>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Project Tools &amp; Details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nvSpPr>
        <p:spPr>
          <a:xfrm>
            <a:off x="2610350" y="1401900"/>
            <a:ext cx="42969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Step 1: Open Teachable  Machine in the browser </a:t>
            </a:r>
            <a:endParaRPr b="1"/>
          </a:p>
          <a:p>
            <a:pPr indent="0" lvl="0" marL="0" rtl="0" algn="l">
              <a:spcBef>
                <a:spcPts val="0"/>
              </a:spcBef>
              <a:spcAft>
                <a:spcPts val="0"/>
              </a:spcAft>
              <a:buNone/>
            </a:pPr>
            <a:r>
              <a:rPr lang="en" u="sng">
                <a:solidFill>
                  <a:schemeClr val="hlink"/>
                </a:solidFill>
                <a:hlinkClick r:id="rId3"/>
              </a:rPr>
              <a:t>https://teachablemachine.withgoogle.com/train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Step 2: </a:t>
            </a:r>
            <a:r>
              <a:rPr b="1" lang="en"/>
              <a:t>Select the Image Project</a:t>
            </a:r>
            <a:endParaRPr b="1"/>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Step 3: Create the Image Classifier</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Identify a problem you want to solve</a:t>
            </a:r>
            <a:endParaRPr>
              <a:solidFill>
                <a:schemeClr val="dk1"/>
              </a:solidFill>
            </a:endParaRPr>
          </a:p>
          <a:p>
            <a:pPr indent="-317500" lvl="0" marL="457200" rtl="0" algn="l">
              <a:spcBef>
                <a:spcPts val="0"/>
              </a:spcBef>
              <a:spcAft>
                <a:spcPts val="0"/>
              </a:spcAft>
              <a:buClr>
                <a:schemeClr val="dk1"/>
              </a:buClr>
              <a:buSzPts val="1400"/>
              <a:buAutoNum type="arabicPeriod"/>
            </a:pPr>
            <a:r>
              <a:rPr lang="en" u="sng">
                <a:solidFill>
                  <a:schemeClr val="accent5"/>
                </a:solidFill>
                <a:hlinkClick r:id="rId4">
                  <a:extLst>
                    <a:ext uri="{A12FA001-AC4F-418D-AE19-62706E023703}">
                      <ahyp:hlinkClr val="tx"/>
                    </a:ext>
                  </a:extLst>
                </a:hlinkClick>
              </a:rPr>
              <a:t>Gather Samples</a:t>
            </a:r>
            <a:endParaRPr>
              <a:solidFill>
                <a:schemeClr val="dk1"/>
              </a:solidFill>
            </a:endParaRPr>
          </a:p>
          <a:p>
            <a:pPr indent="-317500" lvl="0" marL="457200" rtl="0" algn="l">
              <a:spcBef>
                <a:spcPts val="0"/>
              </a:spcBef>
              <a:spcAft>
                <a:spcPts val="0"/>
              </a:spcAft>
              <a:buClr>
                <a:schemeClr val="dk1"/>
              </a:buClr>
              <a:buSzPts val="1400"/>
              <a:buAutoNum type="arabicPeriod"/>
            </a:pPr>
            <a:r>
              <a:rPr lang="en" u="sng">
                <a:solidFill>
                  <a:schemeClr val="accent5"/>
                </a:solidFill>
                <a:hlinkClick r:id="rId5">
                  <a:extLst>
                    <a:ext uri="{A12FA001-AC4F-418D-AE19-62706E023703}">
                      <ahyp:hlinkClr val="tx"/>
                    </a:ext>
                  </a:extLst>
                </a:hlinkClick>
              </a:rPr>
              <a:t>Train Model</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Test Model</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Measure accuracy </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Improve the accuracy of the  model </a:t>
            </a:r>
            <a:br>
              <a:rPr lang="en">
                <a:solidFill>
                  <a:schemeClr val="dk1"/>
                </a:solidFill>
              </a:rPr>
            </a:br>
            <a:r>
              <a:rPr lang="en">
                <a:solidFill>
                  <a:schemeClr val="dk1"/>
                </a:solidFill>
              </a:rPr>
              <a:t>(repeat steps 1-4)</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Test it out with your friends</a:t>
            </a:r>
            <a:br>
              <a:rPr lang="en">
                <a:solidFill>
                  <a:schemeClr val="dk1"/>
                </a:solidFill>
              </a:rPr>
            </a:br>
            <a:r>
              <a:rPr lang="en">
                <a:solidFill>
                  <a:schemeClr val="dk1"/>
                </a:solidFill>
              </a:rPr>
              <a:t>&amp; improve the model.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47" name="Google Shape;247;p37"/>
          <p:cNvSpPr txBox="1"/>
          <p:nvPr/>
        </p:nvSpPr>
        <p:spPr>
          <a:xfrm>
            <a:off x="2610350" y="591675"/>
            <a:ext cx="6279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t>Train a Visual Classifier</a:t>
            </a:r>
            <a:endParaRPr sz="2900"/>
          </a:p>
        </p:txBody>
      </p:sp>
      <p:sp>
        <p:nvSpPr>
          <p:cNvPr id="248" name="Google Shape;248;p37"/>
          <p:cNvSpPr/>
          <p:nvPr/>
        </p:nvSpPr>
        <p:spPr>
          <a:xfrm>
            <a:off x="203325" y="70700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Train a Visual Classifier</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t>Tool:</a:t>
            </a:r>
            <a:r>
              <a:rPr lang="en"/>
              <a:t> Teachable Machine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Description:</a:t>
            </a:r>
            <a:endParaRPr b="1"/>
          </a:p>
          <a:p>
            <a:pPr indent="0" lvl="0" marL="0" rtl="0" algn="l">
              <a:spcBef>
                <a:spcPts val="0"/>
              </a:spcBef>
              <a:spcAft>
                <a:spcPts val="0"/>
              </a:spcAft>
              <a:buNone/>
            </a:pPr>
            <a:r>
              <a:rPr lang="en" sz="1200">
                <a:solidFill>
                  <a:schemeClr val="dk1"/>
                </a:solidFill>
              </a:rPr>
              <a:t>Use camera or images to create a dataset &amp; create a classifier to recognize different objects, people, or gestures. Extend the project using Scratch into a game.</a:t>
            </a:r>
            <a:endParaRPr sz="1200">
              <a:solidFill>
                <a:srgbClr val="FF0000"/>
              </a:solidFill>
            </a:endParaRPr>
          </a:p>
        </p:txBody>
      </p:sp>
      <p:pic>
        <p:nvPicPr>
          <p:cNvPr id="249" name="Google Shape;249;p37"/>
          <p:cNvPicPr preferRelativeResize="0"/>
          <p:nvPr/>
        </p:nvPicPr>
        <p:blipFill>
          <a:blip r:embed="rId6">
            <a:alphaModFix/>
          </a:blip>
          <a:stretch>
            <a:fillRect/>
          </a:stretch>
        </p:blipFill>
        <p:spPr>
          <a:xfrm>
            <a:off x="808893" y="859942"/>
            <a:ext cx="1010600" cy="1056836"/>
          </a:xfrm>
          <a:prstGeom prst="rect">
            <a:avLst/>
          </a:prstGeom>
          <a:noFill/>
          <a:ln>
            <a:noFill/>
          </a:ln>
        </p:spPr>
      </p:pic>
      <p:pic>
        <p:nvPicPr>
          <p:cNvPr id="250" name="Google Shape;250;p37"/>
          <p:cNvPicPr preferRelativeResize="0"/>
          <p:nvPr/>
        </p:nvPicPr>
        <p:blipFill>
          <a:blip r:embed="rId7">
            <a:alphaModFix/>
          </a:blip>
          <a:stretch>
            <a:fillRect/>
          </a:stretch>
        </p:blipFill>
        <p:spPr>
          <a:xfrm>
            <a:off x="6481375" y="2203750"/>
            <a:ext cx="2408876" cy="2514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56" name="Google Shape;256;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57" name="Google Shape;257;p38"/>
          <p:cNvPicPr preferRelativeResize="0"/>
          <p:nvPr/>
        </p:nvPicPr>
        <p:blipFill>
          <a:blip r:embed="rId3">
            <a:alphaModFix/>
          </a:blip>
          <a:stretch>
            <a:fillRect/>
          </a:stretch>
        </p:blipFill>
        <p:spPr>
          <a:xfrm>
            <a:off x="0" y="283086"/>
            <a:ext cx="9144002" cy="45773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9"/>
          <p:cNvPicPr preferRelativeResize="0"/>
          <p:nvPr/>
        </p:nvPicPr>
        <p:blipFill>
          <a:blip r:embed="rId3">
            <a:alphaModFix/>
          </a:blip>
          <a:stretch>
            <a:fillRect/>
          </a:stretch>
        </p:blipFill>
        <p:spPr>
          <a:xfrm>
            <a:off x="464100" y="1193150"/>
            <a:ext cx="8111570" cy="3820977"/>
          </a:xfrm>
          <a:prstGeom prst="rect">
            <a:avLst/>
          </a:prstGeom>
          <a:noFill/>
          <a:ln>
            <a:noFill/>
          </a:ln>
        </p:spPr>
      </p:pic>
      <p:sp>
        <p:nvSpPr>
          <p:cNvPr id="263" name="Google Shape;263;p39"/>
          <p:cNvSpPr txBox="1"/>
          <p:nvPr>
            <p:ph type="title"/>
          </p:nvPr>
        </p:nvSpPr>
        <p:spPr>
          <a:xfrm>
            <a:off x="150813" y="749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latin typeface="Alfa Slab One"/>
                <a:ea typeface="Alfa Slab One"/>
                <a:cs typeface="Alfa Slab One"/>
                <a:sym typeface="Alfa Slab One"/>
              </a:rPr>
              <a:t>Teachable Machine Pipeline</a:t>
            </a:r>
            <a:endParaRPr>
              <a:latin typeface="Alfa Slab One"/>
              <a:ea typeface="Alfa Slab One"/>
              <a:cs typeface="Alfa Slab One"/>
              <a:sym typeface="Alfa Slab One"/>
            </a:endParaRPr>
          </a:p>
        </p:txBody>
      </p:sp>
      <p:sp>
        <p:nvSpPr>
          <p:cNvPr id="264" name="Google Shape;264;p39"/>
          <p:cNvSpPr txBox="1"/>
          <p:nvPr/>
        </p:nvSpPr>
        <p:spPr>
          <a:xfrm>
            <a:off x="150925" y="136875"/>
            <a:ext cx="899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3.1, we used teachable machine to create a dataset and trained a visual classifier for peace sign vs thumbs up</a:t>
            </a:r>
            <a:endParaRPr sz="1600">
              <a:solidFill>
                <a:srgbClr val="0000FF"/>
              </a:solidFill>
            </a:endParaRPr>
          </a:p>
        </p:txBody>
      </p:sp>
      <p:sp>
        <p:nvSpPr>
          <p:cNvPr id="265" name="Google Shape;265;p39"/>
          <p:cNvSpPr txBox="1"/>
          <p:nvPr/>
        </p:nvSpPr>
        <p:spPr>
          <a:xfrm>
            <a:off x="678900" y="1658250"/>
            <a:ext cx="4062000" cy="3256500"/>
          </a:xfrm>
          <a:prstGeom prst="rect">
            <a:avLst/>
          </a:prstGeom>
          <a:solidFill>
            <a:srgbClr val="F4F4F4">
              <a:alpha val="36870"/>
            </a:srgbClr>
          </a:solidFill>
          <a:ln cap="flat" cmpd="sng" w="28575">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a:p>
            <a:pPr indent="0" lvl="0" marL="0" rtl="0" algn="ctr">
              <a:spcBef>
                <a:spcPts val="0"/>
              </a:spcBef>
              <a:spcAft>
                <a:spcPts val="0"/>
              </a:spcAft>
              <a:buNone/>
            </a:pPr>
            <a:r>
              <a:t/>
            </a:r>
            <a:endParaRPr>
              <a:solidFill>
                <a:srgbClr val="FF0000"/>
              </a:solidFill>
            </a:endParaRPr>
          </a:p>
          <a:p>
            <a:pPr indent="0" lvl="0" marL="0" rtl="0" algn="ctr">
              <a:spcBef>
                <a:spcPts val="0"/>
              </a:spcBef>
              <a:spcAft>
                <a:spcPts val="0"/>
              </a:spcAft>
              <a:buNone/>
            </a:pPr>
            <a:r>
              <a:t/>
            </a:r>
            <a:endParaRPr>
              <a:solidFill>
                <a:srgbClr val="FF0000"/>
              </a:solidFill>
            </a:endParaRPr>
          </a:p>
          <a:p>
            <a:pPr indent="0" lvl="0" marL="0" rtl="0" algn="ctr">
              <a:spcBef>
                <a:spcPts val="0"/>
              </a:spcBef>
              <a:spcAft>
                <a:spcPts val="0"/>
              </a:spcAft>
              <a:buNone/>
            </a:pPr>
            <a:r>
              <a:t/>
            </a:r>
            <a:endParaRPr>
              <a:solidFill>
                <a:srgbClr val="FF0000"/>
              </a:solidFill>
            </a:endParaRPr>
          </a:p>
          <a:p>
            <a:pPr indent="0" lvl="0" marL="0" rtl="0" algn="ctr">
              <a:spcBef>
                <a:spcPts val="0"/>
              </a:spcBef>
              <a:spcAft>
                <a:spcPts val="0"/>
              </a:spcAft>
              <a:buNone/>
            </a:pPr>
            <a:r>
              <a:rPr lang="en">
                <a:solidFill>
                  <a:srgbClr val="FF0000"/>
                </a:solidFill>
              </a:rPr>
              <a:t>Collect image data or upload image dataset</a:t>
            </a:r>
            <a:endParaRPr>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Teachable Machine - </a:t>
            </a:r>
            <a:r>
              <a:rPr lang="en" sz="2677"/>
              <a:t>Exporting your model &amp; saving dataset</a:t>
            </a:r>
            <a:endParaRPr sz="2677"/>
          </a:p>
        </p:txBody>
      </p:sp>
      <p:sp>
        <p:nvSpPr>
          <p:cNvPr id="271" name="Google Shape;27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Check out this </a:t>
            </a:r>
            <a:r>
              <a:rPr lang="en" u="sng">
                <a:solidFill>
                  <a:schemeClr val="hlink"/>
                </a:solidFill>
                <a:hlinkClick r:id="rId3"/>
              </a:rPr>
              <a:t>link</a:t>
            </a:r>
            <a:r>
              <a:rPr lang="en"/>
              <a:t> for details about </a:t>
            </a:r>
            <a:endParaRPr/>
          </a:p>
          <a:p>
            <a:pPr indent="-314325" lvl="0" marL="457200" rtl="0" algn="l">
              <a:spcBef>
                <a:spcPts val="1400"/>
              </a:spcBef>
              <a:spcAft>
                <a:spcPts val="0"/>
              </a:spcAft>
              <a:buClr>
                <a:schemeClr val="dk1"/>
              </a:buClr>
              <a:buSzPts val="1350"/>
              <a:buChar char="●"/>
            </a:pPr>
            <a:r>
              <a:rPr b="1" lang="en" sz="1350">
                <a:solidFill>
                  <a:schemeClr val="dk1"/>
                </a:solidFill>
              </a:rPr>
              <a:t>Save your entire project to Google Drive</a:t>
            </a:r>
            <a:r>
              <a:rPr lang="en" sz="1350">
                <a:solidFill>
                  <a:schemeClr val="dk1"/>
                </a:solidFill>
              </a:rPr>
              <a:t>. </a:t>
            </a:r>
            <a:br>
              <a:rPr lang="en" sz="1350">
                <a:solidFill>
                  <a:schemeClr val="dk1"/>
                </a:solidFill>
              </a:rPr>
            </a:br>
            <a:r>
              <a:rPr lang="en" sz="1350">
                <a:solidFill>
                  <a:schemeClr val="dk1"/>
                </a:solidFill>
              </a:rPr>
              <a:t>You can save your project to your Google Drive. This saves a .zip file that contains all the samples in each of your classes to Drive. You can then open that .zip again from Teachable Machine later to pick up where you left off.</a:t>
            </a:r>
            <a:endParaRPr sz="1350">
              <a:solidFill>
                <a:schemeClr val="dk1"/>
              </a:solidFill>
            </a:endParaRPr>
          </a:p>
          <a:p>
            <a:pPr indent="-314325" lvl="0" marL="457200" rtl="0" algn="l">
              <a:spcBef>
                <a:spcPts val="0"/>
              </a:spcBef>
              <a:spcAft>
                <a:spcPts val="0"/>
              </a:spcAft>
              <a:buClr>
                <a:schemeClr val="dk1"/>
              </a:buClr>
              <a:buSzPts val="1350"/>
              <a:buChar char="●"/>
            </a:pPr>
            <a:r>
              <a:rPr b="1" lang="en" sz="1350">
                <a:solidFill>
                  <a:schemeClr val="dk1"/>
                </a:solidFill>
              </a:rPr>
              <a:t>Download your samples</a:t>
            </a:r>
            <a:r>
              <a:rPr lang="en" sz="1350">
                <a:solidFill>
                  <a:schemeClr val="dk1"/>
                </a:solidFill>
              </a:rPr>
              <a:t>. </a:t>
            </a:r>
            <a:br>
              <a:rPr lang="en" sz="1350">
                <a:solidFill>
                  <a:schemeClr val="dk1"/>
                </a:solidFill>
              </a:rPr>
            </a:br>
            <a:r>
              <a:rPr lang="en" sz="1350">
                <a:solidFill>
                  <a:schemeClr val="dk1"/>
                </a:solidFill>
              </a:rPr>
              <a:t>You can download all the samples in each class, and upload them later if you want to keep working with the same data.</a:t>
            </a:r>
            <a:endParaRPr sz="1350">
              <a:solidFill>
                <a:schemeClr val="dk1"/>
              </a:solidFill>
            </a:endParaRPr>
          </a:p>
          <a:p>
            <a:pPr indent="-314325" lvl="0" marL="457200" rtl="0" algn="l">
              <a:spcBef>
                <a:spcPts val="0"/>
              </a:spcBef>
              <a:spcAft>
                <a:spcPts val="0"/>
              </a:spcAft>
              <a:buClr>
                <a:schemeClr val="dk1"/>
              </a:buClr>
              <a:buSzPts val="1350"/>
              <a:buChar char="●"/>
            </a:pPr>
            <a:r>
              <a:rPr b="1" lang="en" sz="1350">
                <a:solidFill>
                  <a:schemeClr val="dk1"/>
                </a:solidFill>
              </a:rPr>
              <a:t>Download your model</a:t>
            </a:r>
            <a:r>
              <a:rPr lang="en" sz="1350">
                <a:solidFill>
                  <a:schemeClr val="dk1"/>
                </a:solidFill>
              </a:rPr>
              <a:t>. </a:t>
            </a:r>
            <a:br>
              <a:rPr lang="en" sz="1350">
                <a:solidFill>
                  <a:schemeClr val="dk1"/>
                </a:solidFill>
              </a:rPr>
            </a:br>
            <a:r>
              <a:rPr lang="en" sz="1350">
                <a:solidFill>
                  <a:schemeClr val="dk1"/>
                </a:solidFill>
              </a:rPr>
              <a:t>If you download your model, and close your tab, you can use that downloaded model later — and nothing is saved on any servers.</a:t>
            </a:r>
            <a:endParaRPr sz="1350">
              <a:solidFill>
                <a:schemeClr val="dk1"/>
              </a:solidFill>
            </a:endParaRPr>
          </a:p>
          <a:p>
            <a:pPr indent="-314325" lvl="0" marL="457200" rtl="0" algn="l">
              <a:spcBef>
                <a:spcPts val="0"/>
              </a:spcBef>
              <a:spcAft>
                <a:spcPts val="0"/>
              </a:spcAft>
              <a:buClr>
                <a:schemeClr val="dk1"/>
              </a:buClr>
              <a:buSzPts val="1350"/>
              <a:buChar char="●"/>
            </a:pPr>
            <a:r>
              <a:rPr b="1" lang="en" sz="1350">
                <a:solidFill>
                  <a:srgbClr val="FF0000"/>
                </a:solidFill>
              </a:rPr>
              <a:t>Save nothing</a:t>
            </a:r>
            <a:r>
              <a:rPr lang="en" sz="1350">
                <a:solidFill>
                  <a:srgbClr val="FF0000"/>
                </a:solidFill>
              </a:rPr>
              <a:t>. </a:t>
            </a:r>
            <a:br>
              <a:rPr lang="en" sz="1350">
                <a:solidFill>
                  <a:schemeClr val="dk1"/>
                </a:solidFill>
              </a:rPr>
            </a:br>
            <a:r>
              <a:rPr lang="en" sz="1350">
                <a:solidFill>
                  <a:srgbClr val="FF0000"/>
                </a:solidFill>
              </a:rPr>
              <a:t>If you close your tab and do none of the above, nothing is saved in your browser or on any servers.</a:t>
            </a:r>
            <a:endParaRPr>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nvSpPr>
        <p:spPr>
          <a:xfrm>
            <a:off x="2379200" y="575450"/>
            <a:ext cx="6634200" cy="21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Step 1:Open ML for Kids - </a:t>
            </a:r>
            <a:r>
              <a:rPr lang="en" sz="1100" u="sng">
                <a:solidFill>
                  <a:schemeClr val="hlink"/>
                </a:solidFill>
                <a:hlinkClick r:id="rId3"/>
              </a:rPr>
              <a:t>https://machinelearningforkids.co.uk/</a:t>
            </a:r>
            <a:br>
              <a:rPr lang="en" sz="1100"/>
            </a:br>
            <a:endParaRPr sz="600"/>
          </a:p>
          <a:p>
            <a:pPr indent="0" lvl="0" marL="0" rtl="0" algn="l">
              <a:spcBef>
                <a:spcPts val="0"/>
              </a:spcBef>
              <a:spcAft>
                <a:spcPts val="0"/>
              </a:spcAft>
              <a:buNone/>
            </a:pPr>
            <a:r>
              <a:rPr b="1" lang="en" sz="1100">
                <a:solidFill>
                  <a:schemeClr val="dk1"/>
                </a:solidFill>
              </a:rPr>
              <a:t>Step 2: Pick a project </a:t>
            </a:r>
            <a:br>
              <a:rPr b="1" lang="en" sz="1100">
                <a:solidFill>
                  <a:schemeClr val="dk1"/>
                </a:solidFill>
              </a:rPr>
            </a:br>
            <a:r>
              <a:rPr lang="en" sz="1100">
                <a:solidFill>
                  <a:schemeClr val="dk1"/>
                </a:solidFill>
              </a:rPr>
              <a:t>Select </a:t>
            </a:r>
            <a:r>
              <a:rPr i="1" lang="en" sz="1100">
                <a:solidFill>
                  <a:schemeClr val="dk1"/>
                </a:solidFill>
              </a:rPr>
              <a:t>Worksheets</a:t>
            </a:r>
            <a:r>
              <a:rPr lang="en" sz="1100">
                <a:solidFill>
                  <a:schemeClr val="dk1"/>
                </a:solidFill>
              </a:rPr>
              <a:t> from the top menu and then </a:t>
            </a:r>
            <a:r>
              <a:rPr i="1" lang="en" sz="1100">
                <a:solidFill>
                  <a:schemeClr val="dk1"/>
                </a:solidFill>
              </a:rPr>
              <a:t>Beginner projects</a:t>
            </a:r>
            <a:r>
              <a:rPr lang="en" sz="1100">
                <a:solidFill>
                  <a:schemeClr val="dk1"/>
                </a:solidFill>
              </a:rPr>
              <a:t> from the project search options</a:t>
            </a:r>
            <a:endParaRPr sz="1100">
              <a:solidFill>
                <a:schemeClr val="dk1"/>
              </a:solidFill>
            </a:endParaRPr>
          </a:p>
          <a:p>
            <a:pPr indent="0" lvl="0" marL="0" rtl="0" algn="l">
              <a:spcBef>
                <a:spcPts val="0"/>
              </a:spcBef>
              <a:spcAft>
                <a:spcPts val="0"/>
              </a:spcAft>
              <a:buNone/>
            </a:pPr>
            <a:r>
              <a:rPr lang="en" sz="1100">
                <a:solidFill>
                  <a:schemeClr val="dk1"/>
                </a:solidFill>
              </a:rPr>
              <a:t>Browse the projects and click download the student project worksheet.</a:t>
            </a:r>
            <a:endParaRPr sz="1100">
              <a:solidFill>
                <a:schemeClr val="dk1"/>
              </a:solidFill>
            </a:endParaRPr>
          </a:p>
          <a:p>
            <a:pPr indent="0" lvl="0" marL="0" rtl="0" algn="l">
              <a:spcBef>
                <a:spcPts val="0"/>
              </a:spcBef>
              <a:spcAft>
                <a:spcPts val="0"/>
              </a:spcAft>
              <a:buNone/>
            </a:pPr>
            <a:r>
              <a:t/>
            </a:r>
            <a:endParaRPr b="1" sz="1100"/>
          </a:p>
          <a:p>
            <a:pPr indent="0" lvl="0" marL="0" rtl="0" algn="l">
              <a:spcBef>
                <a:spcPts val="0"/>
              </a:spcBef>
              <a:spcAft>
                <a:spcPts val="0"/>
              </a:spcAft>
              <a:buNone/>
            </a:pPr>
            <a:r>
              <a:rPr b="1" lang="en" sz="1100">
                <a:solidFill>
                  <a:schemeClr val="dk1"/>
                </a:solidFill>
              </a:rPr>
              <a:t>Step 3: Follow the instructions on the worksheet to create a ML4K Model </a:t>
            </a:r>
            <a:endParaRPr b="1" sz="1100">
              <a:solidFill>
                <a:schemeClr val="dk1"/>
              </a:solidFill>
            </a:endParaRPr>
          </a:p>
          <a:p>
            <a:pPr indent="0" lvl="0" marL="0" rtl="0" algn="l">
              <a:spcBef>
                <a:spcPts val="0"/>
              </a:spcBef>
              <a:spcAft>
                <a:spcPts val="0"/>
              </a:spcAft>
              <a:buNone/>
            </a:pPr>
            <a:r>
              <a:t/>
            </a:r>
            <a:endParaRPr i="1" sz="600">
              <a:solidFill>
                <a:schemeClr val="dk1"/>
              </a:solidFill>
            </a:endParaRPr>
          </a:p>
          <a:p>
            <a:pPr indent="0" lvl="0" marL="0" rtl="0" algn="l">
              <a:lnSpc>
                <a:spcPct val="115000"/>
              </a:lnSpc>
              <a:spcBef>
                <a:spcPts val="0"/>
              </a:spcBef>
              <a:spcAft>
                <a:spcPts val="0"/>
              </a:spcAft>
              <a:buNone/>
            </a:pPr>
            <a:r>
              <a:rPr b="1" lang="en" sz="1100">
                <a:solidFill>
                  <a:schemeClr val="dk1"/>
                </a:solidFill>
              </a:rPr>
              <a:t>Step 4: </a:t>
            </a:r>
            <a:r>
              <a:rPr b="1" lang="en" sz="1100">
                <a:solidFill>
                  <a:schemeClr val="dk1"/>
                </a:solidFill>
              </a:rPr>
              <a:t>Follow the instructions on the worksheet to import and use your model in Scratch</a:t>
            </a:r>
            <a:br>
              <a:rPr b="1" lang="en" sz="1100">
                <a:solidFill>
                  <a:schemeClr val="dk1"/>
                </a:solidFill>
              </a:rPr>
            </a:br>
            <a:endParaRPr b="1" sz="1100">
              <a:solidFill>
                <a:schemeClr val="dk1"/>
              </a:solidFill>
            </a:endParaRPr>
          </a:p>
          <a:p>
            <a:pPr indent="0" lvl="0" marL="0" rtl="0" algn="l">
              <a:lnSpc>
                <a:spcPct val="115000"/>
              </a:lnSpc>
              <a:spcBef>
                <a:spcPts val="0"/>
              </a:spcBef>
              <a:spcAft>
                <a:spcPts val="0"/>
              </a:spcAft>
              <a:buNone/>
            </a:pPr>
            <a:r>
              <a:rPr b="1" lang="en" sz="1100">
                <a:solidFill>
                  <a:schemeClr val="dk1"/>
                </a:solidFill>
              </a:rPr>
              <a:t>Step 5: Test the model &amp; evaluate the accuracy</a:t>
            </a:r>
            <a:endParaRPr b="1"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277" name="Google Shape;277;p41"/>
          <p:cNvSpPr txBox="1"/>
          <p:nvPr/>
        </p:nvSpPr>
        <p:spPr>
          <a:xfrm>
            <a:off x="1934675" y="58275"/>
            <a:ext cx="6955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t>Build a ML for Kids Project</a:t>
            </a:r>
            <a:endParaRPr sz="2900"/>
          </a:p>
        </p:txBody>
      </p:sp>
      <p:sp>
        <p:nvSpPr>
          <p:cNvPr id="278" name="Google Shape;278;p41"/>
          <p:cNvSpPr/>
          <p:nvPr/>
        </p:nvSpPr>
        <p:spPr>
          <a:xfrm>
            <a:off x="191591" y="85746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solidFill>
                  <a:schemeClr val="dk1"/>
                </a:solidFill>
              </a:rPr>
              <a:t>Build a ML for Kids Project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Machine Learning for Kids (ML4K) &amp; Scratch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Pick a project from the ML4K website and complete it. Note: some require using the ML4K model in a Scratch project.</a:t>
            </a:r>
            <a:endParaRPr sz="1200">
              <a:solidFill>
                <a:schemeClr val="dk1"/>
              </a:solidFill>
            </a:endParaRPr>
          </a:p>
          <a:p>
            <a:pPr indent="0" lvl="0" marL="0" rtl="0" algn="l">
              <a:spcBef>
                <a:spcPts val="0"/>
              </a:spcBef>
              <a:spcAft>
                <a:spcPts val="0"/>
              </a:spcAft>
              <a:buNone/>
            </a:pPr>
            <a:r>
              <a:t/>
            </a:r>
            <a:endParaRPr/>
          </a:p>
        </p:txBody>
      </p:sp>
      <p:pic>
        <p:nvPicPr>
          <p:cNvPr id="279" name="Google Shape;279;p41"/>
          <p:cNvPicPr preferRelativeResize="0"/>
          <p:nvPr/>
        </p:nvPicPr>
        <p:blipFill>
          <a:blip r:embed="rId4">
            <a:alphaModFix/>
          </a:blip>
          <a:stretch>
            <a:fillRect/>
          </a:stretch>
        </p:blipFill>
        <p:spPr>
          <a:xfrm>
            <a:off x="742613" y="997175"/>
            <a:ext cx="1085575" cy="1057375"/>
          </a:xfrm>
          <a:prstGeom prst="rect">
            <a:avLst/>
          </a:prstGeom>
          <a:noFill/>
          <a:ln>
            <a:noFill/>
          </a:ln>
        </p:spPr>
      </p:pic>
      <p:pic>
        <p:nvPicPr>
          <p:cNvPr id="280" name="Google Shape;280;p41"/>
          <p:cNvPicPr preferRelativeResize="0"/>
          <p:nvPr/>
        </p:nvPicPr>
        <p:blipFill>
          <a:blip r:embed="rId5">
            <a:alphaModFix/>
          </a:blip>
          <a:stretch>
            <a:fillRect/>
          </a:stretch>
        </p:blipFill>
        <p:spPr>
          <a:xfrm>
            <a:off x="2622114" y="2571750"/>
            <a:ext cx="5580624" cy="2495250"/>
          </a:xfrm>
          <a:prstGeom prst="rect">
            <a:avLst/>
          </a:prstGeom>
          <a:noFill/>
          <a:ln>
            <a:noFill/>
          </a:ln>
        </p:spPr>
      </p:pic>
      <p:sp>
        <p:nvSpPr>
          <p:cNvPr id="281" name="Google Shape;281;p41"/>
          <p:cNvSpPr txBox="1"/>
          <p:nvPr/>
        </p:nvSpPr>
        <p:spPr>
          <a:xfrm>
            <a:off x="5791975" y="2264450"/>
            <a:ext cx="2455500" cy="41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522">
                <a:solidFill>
                  <a:srgbClr val="0000FF"/>
                </a:solidFill>
              </a:rPr>
              <a:t>example beginner projects</a:t>
            </a:r>
            <a:endParaRPr i="1" sz="900">
              <a:solidFill>
                <a:srgbClr val="0000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2"/>
          <p:cNvPicPr preferRelativeResize="0"/>
          <p:nvPr/>
        </p:nvPicPr>
        <p:blipFill rotWithShape="1">
          <a:blip r:embed="rId3">
            <a:alphaModFix/>
          </a:blip>
          <a:srcRect b="12869" l="0" r="0" t="0"/>
          <a:stretch/>
        </p:blipFill>
        <p:spPr>
          <a:xfrm>
            <a:off x="271425" y="1930600"/>
            <a:ext cx="8385202" cy="3140025"/>
          </a:xfrm>
          <a:prstGeom prst="rect">
            <a:avLst/>
          </a:prstGeom>
          <a:noFill/>
          <a:ln>
            <a:noFill/>
          </a:ln>
        </p:spPr>
      </p:pic>
      <p:sp>
        <p:nvSpPr>
          <p:cNvPr id="287" name="Google Shape;287;p42"/>
          <p:cNvSpPr txBox="1"/>
          <p:nvPr>
            <p:ph type="title"/>
          </p:nvPr>
        </p:nvSpPr>
        <p:spPr>
          <a:xfrm>
            <a:off x="1237950" y="445025"/>
            <a:ext cx="7594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Projects in ML for Kids</a:t>
            </a:r>
            <a:endParaRPr/>
          </a:p>
        </p:txBody>
      </p:sp>
      <p:sp>
        <p:nvSpPr>
          <p:cNvPr id="288" name="Google Shape;288;p42"/>
          <p:cNvSpPr/>
          <p:nvPr/>
        </p:nvSpPr>
        <p:spPr>
          <a:xfrm>
            <a:off x="1070125" y="2062270"/>
            <a:ext cx="782400" cy="264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2"/>
          <p:cNvSpPr/>
          <p:nvPr/>
        </p:nvSpPr>
        <p:spPr>
          <a:xfrm>
            <a:off x="3178675" y="4470000"/>
            <a:ext cx="2517000" cy="264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0" name="Google Shape;290;p42"/>
          <p:cNvPicPr preferRelativeResize="0"/>
          <p:nvPr/>
        </p:nvPicPr>
        <p:blipFill>
          <a:blip r:embed="rId4">
            <a:alphaModFix/>
          </a:blip>
          <a:stretch>
            <a:fillRect/>
          </a:stretch>
        </p:blipFill>
        <p:spPr>
          <a:xfrm>
            <a:off x="152388" y="53625"/>
            <a:ext cx="1085575" cy="1057375"/>
          </a:xfrm>
          <a:prstGeom prst="rect">
            <a:avLst/>
          </a:prstGeom>
          <a:noFill/>
          <a:ln>
            <a:noFill/>
          </a:ln>
        </p:spPr>
      </p:pic>
      <p:sp>
        <p:nvSpPr>
          <p:cNvPr id="291" name="Google Shape;291;p42"/>
          <p:cNvSpPr txBox="1"/>
          <p:nvPr/>
        </p:nvSpPr>
        <p:spPr>
          <a:xfrm>
            <a:off x="149575" y="1380800"/>
            <a:ext cx="86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Select </a:t>
            </a:r>
            <a:r>
              <a:rPr i="1" lang="en">
                <a:solidFill>
                  <a:srgbClr val="FF0000"/>
                </a:solidFill>
              </a:rPr>
              <a:t>Worksheets </a:t>
            </a:r>
            <a:r>
              <a:rPr lang="en"/>
              <a:t>from the top menu and then </a:t>
            </a:r>
            <a:r>
              <a:rPr i="1" lang="en">
                <a:solidFill>
                  <a:srgbClr val="FF0000"/>
                </a:solidFill>
              </a:rPr>
              <a:t>Beginner projects</a:t>
            </a:r>
            <a:r>
              <a:rPr lang="en"/>
              <a:t> from the </a:t>
            </a:r>
            <a:r>
              <a:rPr i="1" lang="en">
                <a:solidFill>
                  <a:srgbClr val="FF0000"/>
                </a:solidFill>
              </a:rPr>
              <a:t>All difficulties </a:t>
            </a:r>
            <a:r>
              <a:rPr lang="en"/>
              <a:t>search options</a:t>
            </a:r>
            <a:endParaRPr/>
          </a:p>
        </p:txBody>
      </p:sp>
      <p:cxnSp>
        <p:nvCxnSpPr>
          <p:cNvPr id="292" name="Google Shape;292;p42"/>
          <p:cNvCxnSpPr>
            <a:endCxn id="288" idx="0"/>
          </p:cNvCxnSpPr>
          <p:nvPr/>
        </p:nvCxnSpPr>
        <p:spPr>
          <a:xfrm>
            <a:off x="1277125" y="1702870"/>
            <a:ext cx="184200" cy="359400"/>
          </a:xfrm>
          <a:prstGeom prst="straightConnector1">
            <a:avLst/>
          </a:prstGeom>
          <a:noFill/>
          <a:ln cap="flat" cmpd="sng" w="28575">
            <a:solidFill>
              <a:srgbClr val="FF0000"/>
            </a:solidFill>
            <a:prstDash val="solid"/>
            <a:round/>
            <a:headEnd len="med" w="med" type="none"/>
            <a:tailEnd len="med" w="med" type="triangle"/>
          </a:ln>
        </p:spPr>
      </p:cxnSp>
      <p:cxnSp>
        <p:nvCxnSpPr>
          <p:cNvPr id="293" name="Google Shape;293;p42"/>
          <p:cNvCxnSpPr>
            <a:endCxn id="289" idx="0"/>
          </p:cNvCxnSpPr>
          <p:nvPr/>
        </p:nvCxnSpPr>
        <p:spPr>
          <a:xfrm flipH="1">
            <a:off x="4437175" y="1781100"/>
            <a:ext cx="53700" cy="26889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263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 for Kids Projects </a:t>
            </a:r>
            <a:r>
              <a:rPr lang="en" sz="2022"/>
              <a:t>(example beginner </a:t>
            </a:r>
            <a:r>
              <a:rPr lang="en" sz="2022"/>
              <a:t>projects</a:t>
            </a:r>
            <a:r>
              <a:rPr lang="en" sz="2022"/>
              <a:t>)</a:t>
            </a:r>
            <a:endParaRPr sz="2022"/>
          </a:p>
        </p:txBody>
      </p:sp>
      <p:pic>
        <p:nvPicPr>
          <p:cNvPr id="299" name="Google Shape;299;p43"/>
          <p:cNvPicPr preferRelativeResize="0"/>
          <p:nvPr/>
        </p:nvPicPr>
        <p:blipFill>
          <a:blip r:embed="rId3">
            <a:alphaModFix/>
          </a:blip>
          <a:stretch>
            <a:fillRect/>
          </a:stretch>
        </p:blipFill>
        <p:spPr>
          <a:xfrm>
            <a:off x="6900" y="789125"/>
            <a:ext cx="3080974" cy="2216750"/>
          </a:xfrm>
          <a:prstGeom prst="rect">
            <a:avLst/>
          </a:prstGeom>
          <a:noFill/>
          <a:ln>
            <a:noFill/>
          </a:ln>
        </p:spPr>
      </p:pic>
      <p:pic>
        <p:nvPicPr>
          <p:cNvPr id="300" name="Google Shape;300;p43"/>
          <p:cNvPicPr preferRelativeResize="0"/>
          <p:nvPr/>
        </p:nvPicPr>
        <p:blipFill>
          <a:blip r:embed="rId4">
            <a:alphaModFix/>
          </a:blip>
          <a:stretch>
            <a:fillRect/>
          </a:stretch>
        </p:blipFill>
        <p:spPr>
          <a:xfrm>
            <a:off x="3083525" y="771364"/>
            <a:ext cx="3080975" cy="2252274"/>
          </a:xfrm>
          <a:prstGeom prst="rect">
            <a:avLst/>
          </a:prstGeom>
          <a:noFill/>
          <a:ln>
            <a:noFill/>
          </a:ln>
        </p:spPr>
      </p:pic>
      <p:pic>
        <p:nvPicPr>
          <p:cNvPr id="301" name="Google Shape;301;p43"/>
          <p:cNvPicPr preferRelativeResize="0"/>
          <p:nvPr/>
        </p:nvPicPr>
        <p:blipFill>
          <a:blip r:embed="rId5">
            <a:alphaModFix/>
          </a:blip>
          <a:stretch>
            <a:fillRect/>
          </a:stretch>
        </p:blipFill>
        <p:spPr>
          <a:xfrm>
            <a:off x="83100" y="3023650"/>
            <a:ext cx="2954547" cy="2071025"/>
          </a:xfrm>
          <a:prstGeom prst="rect">
            <a:avLst/>
          </a:prstGeom>
          <a:noFill/>
          <a:ln>
            <a:noFill/>
          </a:ln>
        </p:spPr>
      </p:pic>
      <p:pic>
        <p:nvPicPr>
          <p:cNvPr id="302" name="Google Shape;302;p43"/>
          <p:cNvPicPr preferRelativeResize="0"/>
          <p:nvPr/>
        </p:nvPicPr>
        <p:blipFill>
          <a:blip r:embed="rId6">
            <a:alphaModFix/>
          </a:blip>
          <a:stretch>
            <a:fillRect/>
          </a:stretch>
        </p:blipFill>
        <p:spPr>
          <a:xfrm>
            <a:off x="6127225" y="836425"/>
            <a:ext cx="3016775" cy="4084100"/>
          </a:xfrm>
          <a:prstGeom prst="rect">
            <a:avLst/>
          </a:prstGeom>
          <a:noFill/>
          <a:ln>
            <a:noFill/>
          </a:ln>
        </p:spPr>
      </p:pic>
      <p:pic>
        <p:nvPicPr>
          <p:cNvPr id="303" name="Google Shape;303;p43"/>
          <p:cNvPicPr preferRelativeResize="0"/>
          <p:nvPr/>
        </p:nvPicPr>
        <p:blipFill>
          <a:blip r:embed="rId7">
            <a:alphaModFix/>
          </a:blip>
          <a:stretch>
            <a:fillRect/>
          </a:stretch>
        </p:blipFill>
        <p:spPr>
          <a:xfrm>
            <a:off x="3074050" y="3099856"/>
            <a:ext cx="3016775" cy="191271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Unit 3 Mini Project Options - Pick a tool &amp; project</a:t>
            </a:r>
            <a:endParaRPr/>
          </a:p>
        </p:txBody>
      </p:sp>
      <p:sp>
        <p:nvSpPr>
          <p:cNvPr id="309" name="Google Shape;309;p44"/>
          <p:cNvSpPr/>
          <p:nvPr/>
        </p:nvSpPr>
        <p:spPr>
          <a:xfrm>
            <a:off x="1193925" y="93560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Train a Visual Classifier</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t>Tool:</a:t>
            </a:r>
            <a:r>
              <a:rPr lang="en"/>
              <a:t> Teachable Machine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Description:</a:t>
            </a:r>
            <a:endParaRPr b="1"/>
          </a:p>
          <a:p>
            <a:pPr indent="0" lvl="0" marL="0" rtl="0" algn="l">
              <a:spcBef>
                <a:spcPts val="0"/>
              </a:spcBef>
              <a:spcAft>
                <a:spcPts val="0"/>
              </a:spcAft>
              <a:buNone/>
            </a:pPr>
            <a:r>
              <a:rPr lang="en" sz="1200">
                <a:solidFill>
                  <a:schemeClr val="dk1"/>
                </a:solidFill>
              </a:rPr>
              <a:t>Use camera or images to create a dataset &amp; create a classifier to recognize different objects, people, or gestures. Extend the project using Scratch into a game.</a:t>
            </a:r>
            <a:endParaRPr sz="1200">
              <a:solidFill>
                <a:srgbClr val="FF0000"/>
              </a:solidFill>
            </a:endParaRPr>
          </a:p>
        </p:txBody>
      </p:sp>
      <p:sp>
        <p:nvSpPr>
          <p:cNvPr id="310" name="Google Shape;310;p44"/>
          <p:cNvSpPr/>
          <p:nvPr/>
        </p:nvSpPr>
        <p:spPr>
          <a:xfrm>
            <a:off x="3443966" y="966285"/>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solidFill>
                  <a:schemeClr val="dk1"/>
                </a:solidFill>
              </a:rPr>
              <a:t>Build a ML for Kids Project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Machine Learning for Kids (ML4K) &amp; Scratch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Pick a project from the ML4K website and complete it. Note: some require using the ML4K model in a Scratch project.</a:t>
            </a:r>
            <a:endParaRPr sz="1200">
              <a:solidFill>
                <a:schemeClr val="dk1"/>
              </a:solidFill>
            </a:endParaRPr>
          </a:p>
          <a:p>
            <a:pPr indent="0" lvl="0" marL="0" rtl="0" algn="l">
              <a:spcBef>
                <a:spcPts val="0"/>
              </a:spcBef>
              <a:spcAft>
                <a:spcPts val="0"/>
              </a:spcAft>
              <a:buNone/>
            </a:pPr>
            <a:r>
              <a:t/>
            </a:r>
            <a:endParaRPr/>
          </a:p>
        </p:txBody>
      </p:sp>
      <p:sp>
        <p:nvSpPr>
          <p:cNvPr id="311" name="Google Shape;311;p44"/>
          <p:cNvSpPr/>
          <p:nvPr/>
        </p:nvSpPr>
        <p:spPr>
          <a:xfrm>
            <a:off x="5701268" y="93873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t>Dataset Classifier or Predictor</a:t>
            </a:r>
            <a:endParaRPr b="1"/>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AI Lab (Code.org)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t>Pick a dataset or create your own dataset, train a classifier or predictor. Use AI lab to extend the project into a mobile app</a:t>
            </a:r>
            <a:endParaRPr sz="1200"/>
          </a:p>
        </p:txBody>
      </p:sp>
      <p:pic>
        <p:nvPicPr>
          <p:cNvPr id="312" name="Google Shape;312;p44"/>
          <p:cNvPicPr preferRelativeResize="0"/>
          <p:nvPr/>
        </p:nvPicPr>
        <p:blipFill rotWithShape="1">
          <a:blip r:embed="rId3">
            <a:alphaModFix/>
          </a:blip>
          <a:srcRect b="7664" l="30410" r="11253" t="16675"/>
          <a:stretch/>
        </p:blipFill>
        <p:spPr>
          <a:xfrm>
            <a:off x="6185736" y="1084550"/>
            <a:ext cx="1212539" cy="1014450"/>
          </a:xfrm>
          <a:prstGeom prst="rect">
            <a:avLst/>
          </a:prstGeom>
          <a:noFill/>
          <a:ln>
            <a:noFill/>
          </a:ln>
        </p:spPr>
      </p:pic>
      <p:pic>
        <p:nvPicPr>
          <p:cNvPr id="313" name="Google Shape;313;p44"/>
          <p:cNvPicPr preferRelativeResize="0"/>
          <p:nvPr/>
        </p:nvPicPr>
        <p:blipFill>
          <a:blip r:embed="rId4">
            <a:alphaModFix/>
          </a:blip>
          <a:stretch>
            <a:fillRect/>
          </a:stretch>
        </p:blipFill>
        <p:spPr>
          <a:xfrm>
            <a:off x="1799493" y="1088542"/>
            <a:ext cx="1010600" cy="1056836"/>
          </a:xfrm>
          <a:prstGeom prst="rect">
            <a:avLst/>
          </a:prstGeom>
          <a:noFill/>
          <a:ln>
            <a:noFill/>
          </a:ln>
        </p:spPr>
      </p:pic>
      <p:pic>
        <p:nvPicPr>
          <p:cNvPr id="314" name="Google Shape;314;p44"/>
          <p:cNvPicPr preferRelativeResize="0"/>
          <p:nvPr/>
        </p:nvPicPr>
        <p:blipFill>
          <a:blip r:embed="rId5">
            <a:alphaModFix/>
          </a:blip>
          <a:stretch>
            <a:fillRect/>
          </a:stretch>
        </p:blipFill>
        <p:spPr>
          <a:xfrm>
            <a:off x="3955125" y="1088275"/>
            <a:ext cx="1085575" cy="1057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nvSpPr>
        <p:spPr>
          <a:xfrm>
            <a:off x="2610350" y="1401900"/>
            <a:ext cx="4296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Step 1: Open Code.org’s AI Lab in the browser </a:t>
            </a:r>
            <a:endParaRPr b="1"/>
          </a:p>
          <a:p>
            <a:pPr indent="0" lvl="0" marL="0" rtl="0" algn="l">
              <a:spcBef>
                <a:spcPts val="0"/>
              </a:spcBef>
              <a:spcAft>
                <a:spcPts val="0"/>
              </a:spcAft>
              <a:buNone/>
            </a:pPr>
            <a:r>
              <a:rPr lang="en" u="sng">
                <a:solidFill>
                  <a:schemeClr val="hlink"/>
                </a:solidFill>
                <a:hlinkClick r:id="rId3"/>
              </a:rPr>
              <a:t>https://studio.code.org/s/ai-lab/lessons/1/levels/2/sublevel/5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Step 2: </a:t>
            </a:r>
            <a:r>
              <a:rPr b="1" lang="en"/>
              <a:t>Select a dataset</a:t>
            </a:r>
            <a:endParaRPr b="1"/>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Step 3: Create the Classifier or Predictor</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20" name="Google Shape;320;p45"/>
          <p:cNvSpPr txBox="1"/>
          <p:nvPr/>
        </p:nvSpPr>
        <p:spPr>
          <a:xfrm>
            <a:off x="2610350" y="591675"/>
            <a:ext cx="6279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t>Train a Classifier or Predictor</a:t>
            </a:r>
            <a:endParaRPr sz="2900"/>
          </a:p>
        </p:txBody>
      </p:sp>
      <p:sp>
        <p:nvSpPr>
          <p:cNvPr id="321" name="Google Shape;321;p45"/>
          <p:cNvSpPr/>
          <p:nvPr/>
        </p:nvSpPr>
        <p:spPr>
          <a:xfrm>
            <a:off x="291068" y="938730"/>
            <a:ext cx="2187600" cy="4152000"/>
          </a:xfrm>
          <a:prstGeom prst="roundRect">
            <a:avLst>
              <a:gd fmla="val 16667" name="adj"/>
            </a:avLst>
          </a:prstGeom>
          <a:solidFill>
            <a:srgbClr val="CFE2F3"/>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ctr">
              <a:spcBef>
                <a:spcPts val="0"/>
              </a:spcBef>
              <a:spcAft>
                <a:spcPts val="0"/>
              </a:spcAft>
              <a:buClr>
                <a:schemeClr val="dk1"/>
              </a:buClr>
              <a:buSzPts val="1100"/>
              <a:buFont typeface="Arial"/>
              <a:buNone/>
            </a:pPr>
            <a:r>
              <a:rPr b="1" lang="en"/>
              <a:t>Dataset Classifier or Predictor</a:t>
            </a:r>
            <a:endParaRPr b="1"/>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Tool:</a:t>
            </a:r>
            <a:r>
              <a:rPr lang="en">
                <a:solidFill>
                  <a:schemeClr val="dk1"/>
                </a:solidFill>
              </a:rPr>
              <a:t> AI Lab (Code.org)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Description:</a:t>
            </a:r>
            <a:endParaRPr b="1">
              <a:solidFill>
                <a:schemeClr val="dk1"/>
              </a:solidFill>
            </a:endParaRPr>
          </a:p>
          <a:p>
            <a:pPr indent="0" lvl="0" marL="0" rtl="0" algn="l">
              <a:spcBef>
                <a:spcPts val="0"/>
              </a:spcBef>
              <a:spcAft>
                <a:spcPts val="0"/>
              </a:spcAft>
              <a:buClr>
                <a:schemeClr val="dk1"/>
              </a:buClr>
              <a:buSzPts val="1100"/>
              <a:buFont typeface="Arial"/>
              <a:buNone/>
            </a:pPr>
            <a:r>
              <a:rPr lang="en" sz="1200"/>
              <a:t>Pick a dataset or create your own dataset, train a classifier or predictor. Use AI lab to extend the project into a mobile app</a:t>
            </a:r>
            <a:endParaRPr sz="1200"/>
          </a:p>
        </p:txBody>
      </p:sp>
      <p:pic>
        <p:nvPicPr>
          <p:cNvPr id="322" name="Google Shape;322;p45"/>
          <p:cNvPicPr preferRelativeResize="0"/>
          <p:nvPr/>
        </p:nvPicPr>
        <p:blipFill rotWithShape="1">
          <a:blip r:embed="rId4">
            <a:alphaModFix/>
          </a:blip>
          <a:srcRect b="7664" l="30410" r="11253" t="16675"/>
          <a:stretch/>
        </p:blipFill>
        <p:spPr>
          <a:xfrm>
            <a:off x="775536" y="1084550"/>
            <a:ext cx="1212539" cy="1014450"/>
          </a:xfrm>
          <a:prstGeom prst="rect">
            <a:avLst/>
          </a:prstGeom>
          <a:noFill/>
          <a:ln>
            <a:noFill/>
          </a:ln>
        </p:spPr>
      </p:pic>
      <p:pic>
        <p:nvPicPr>
          <p:cNvPr id="323" name="Google Shape;323;p45"/>
          <p:cNvPicPr preferRelativeResize="0"/>
          <p:nvPr/>
        </p:nvPicPr>
        <p:blipFill rotWithShape="1">
          <a:blip r:embed="rId5">
            <a:alphaModFix/>
          </a:blip>
          <a:srcRect b="26613" l="-1337" r="66945" t="31828"/>
          <a:stretch/>
        </p:blipFill>
        <p:spPr>
          <a:xfrm>
            <a:off x="6245350" y="2946976"/>
            <a:ext cx="2298651" cy="16648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6"/>
          <p:cNvPicPr preferRelativeResize="0"/>
          <p:nvPr/>
        </p:nvPicPr>
        <p:blipFill>
          <a:blip r:embed="rId3">
            <a:alphaModFix/>
          </a:blip>
          <a:stretch>
            <a:fillRect/>
          </a:stretch>
        </p:blipFill>
        <p:spPr>
          <a:xfrm>
            <a:off x="217524" y="936261"/>
            <a:ext cx="8520600" cy="3883532"/>
          </a:xfrm>
          <a:prstGeom prst="rect">
            <a:avLst/>
          </a:prstGeom>
          <a:noFill/>
          <a:ln>
            <a:noFill/>
          </a:ln>
        </p:spPr>
      </p:pic>
      <p:pic>
        <p:nvPicPr>
          <p:cNvPr id="329" name="Google Shape;329;p46"/>
          <p:cNvPicPr preferRelativeResize="0"/>
          <p:nvPr/>
        </p:nvPicPr>
        <p:blipFill>
          <a:blip r:embed="rId4">
            <a:alphaModFix/>
          </a:blip>
          <a:stretch>
            <a:fillRect/>
          </a:stretch>
        </p:blipFill>
        <p:spPr>
          <a:xfrm>
            <a:off x="217525" y="2862777"/>
            <a:ext cx="6683575" cy="4006074"/>
          </a:xfrm>
          <a:prstGeom prst="rect">
            <a:avLst/>
          </a:prstGeom>
          <a:noFill/>
          <a:ln>
            <a:noFill/>
          </a:ln>
        </p:spPr>
      </p:pic>
      <p:sp>
        <p:nvSpPr>
          <p:cNvPr id="330" name="Google Shape;330;p46"/>
          <p:cNvSpPr txBox="1"/>
          <p:nvPr/>
        </p:nvSpPr>
        <p:spPr>
          <a:xfrm>
            <a:off x="217525" y="259150"/>
            <a:ext cx="899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In Module 3.4, we used code.org’s AI Lab to create a dataset and trained a visual classifier for peace sign vs thumbs up</a:t>
            </a:r>
            <a:endParaRPr sz="1600">
              <a:solidFill>
                <a:srgbClr val="00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