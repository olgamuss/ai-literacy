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Helvetica Neue"/>
      <p:regular r:id="rId31"/>
      <p:bold r:id="rId32"/>
      <p:italic r:id="rId33"/>
      <p:boldItalic r:id="rId34"/>
    </p:embeddedFont>
    <p:embeddedFont>
      <p:font typeface="Merriweather"/>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HelveticaNeue-italic.fntdata"/><Relationship Id="rId10" Type="http://schemas.openxmlformats.org/officeDocument/2006/relationships/slide" Target="slides/slide4.xml"/><Relationship Id="rId32" Type="http://schemas.openxmlformats.org/officeDocument/2006/relationships/font" Target="fonts/HelveticaNeue-bold.fntdata"/><Relationship Id="rId13" Type="http://schemas.openxmlformats.org/officeDocument/2006/relationships/slide" Target="slides/slide7.xml"/><Relationship Id="rId35" Type="http://schemas.openxmlformats.org/officeDocument/2006/relationships/font" Target="fonts/Merriweather-regular.fntdata"/><Relationship Id="rId12" Type="http://schemas.openxmlformats.org/officeDocument/2006/relationships/slide" Target="slides/slide6.xml"/><Relationship Id="rId34" Type="http://schemas.openxmlformats.org/officeDocument/2006/relationships/font" Target="fonts/HelveticaNeue-boldItalic.fntdata"/><Relationship Id="rId15" Type="http://schemas.openxmlformats.org/officeDocument/2006/relationships/slide" Target="slides/slide9.xml"/><Relationship Id="rId37" Type="http://schemas.openxmlformats.org/officeDocument/2006/relationships/font" Target="fonts/Merriweather-italic.fntdata"/><Relationship Id="rId14" Type="http://schemas.openxmlformats.org/officeDocument/2006/relationships/slide" Target="slides/slide8.xml"/><Relationship Id="rId36" Type="http://schemas.openxmlformats.org/officeDocument/2006/relationships/font" Target="fonts/Merriweather-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Merriweath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c2d28b75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c2d28b75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44f2c4cb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44f2c4cb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144f2c4cb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144f2c4cb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44f2c4cb4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144f2c4cb4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44f2c4cb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44f2c4cb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Articles - https://www.vox.com/recode/2019/8/15/20806384/social-media-hate-speech-bias-black-african-american-facebook-twitter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44f2c4cb4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44f2c4cb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44f2c4cb4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44f2c4cb4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44f2c4cb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44f2c4cb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44f2c4cb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44f2c4cb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44f2c4cb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44f2c4cb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44f2c4cb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44f2c4cb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144f2c4cb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144f2c4cb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44f2c4cb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44f2c4cb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44f2c4cb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44f2c4cb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44f2c4cb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44f2c4cb4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44f2c4cb4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44f2c4cb4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144f2c4cb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144f2c4cb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144f2c4cb4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144f2c4cb4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44f2c4cb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44f2c4cb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144f2c4cb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144f2c4cb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44f2c4cb4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144f2c4cb4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44f2c4cb4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44f2c4cb4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972a5a8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6972a5a8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972a5a8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972a5a8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5.png"/><Relationship Id="rId7" Type="http://schemas.openxmlformats.org/officeDocument/2006/relationships/image" Target="../media/image10.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www.youtube.com/watch?v=2E7l1hdjHsg" TargetMode="External"/><Relationship Id="rId4" Type="http://schemas.openxmlformats.org/officeDocument/2006/relationships/hyperlink" Target="http://www.youtube.com/watch?v=2E7l1hdjHsg" TargetMode="External"/><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www.youtube.com/watch?v=LZPBqTJd8ek" TargetMode="External"/><Relationship Id="rId4" Type="http://schemas.openxmlformats.org/officeDocument/2006/relationships/hyperlink" Target="http://www.youtube.com/watch?v=LZPBqTJd8ek" TargetMode="External"/><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youtu.be/QfY3AhKmB3c" TargetMode="External"/><Relationship Id="rId4" Type="http://schemas.openxmlformats.org/officeDocument/2006/relationships/hyperlink" Target="http://www.youtube.com/watch?v=QfY3AhKmB3c" TargetMode="External"/><Relationship Id="rId5"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hyperlink" Target="https://www.youtube.com/watch?v=2E7l1hdjHsg" TargetMode="External"/><Relationship Id="rId4" Type="http://schemas.openxmlformats.org/officeDocument/2006/relationships/hyperlink" Target="http://www.youtube.com/watch?v=2E7l1hdjHsg" TargetMode="External"/><Relationship Id="rId5"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www.youtube.com/watch?v=LZPBqTJd8ek" TargetMode="External"/><Relationship Id="rId4" Type="http://schemas.openxmlformats.org/officeDocument/2006/relationships/hyperlink" Target="http://www.youtube.com/watch?v=LZPBqTJd8ek" TargetMode="External"/><Relationship Id="rId5" Type="http://schemas.openxmlformats.org/officeDocument/2006/relationships/image" Target="../media/image6.jpg"/><Relationship Id="rId6" Type="http://schemas.openxmlformats.org/officeDocument/2006/relationships/hyperlink" Target="https://tech.humanrights.gov.au/sites/default/files/2021-05/AHRC_RightsTech_2021_Easy_English.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peak.ai/hub/blog/ai-decision-making-the-future-of-business-intelligence/" TargetMode="Externa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www.forbes.com/sites/danielnewman/2020/02/06/why-we-need-to-focus-on-the-positives-of-ai/?sh=40603ce775ae" TargetMode="External"/><Relationship Id="rId4" Type="http://schemas.openxmlformats.org/officeDocument/2006/relationships/image" Target="../media/image8.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3.6</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Case Study: Does AI Make Better Decisions than People?</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1" name="Google Shape;101;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2" name="Google Shape;102;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3" name="Google Shape;103;p25"/>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4" name="Google Shape;104;p25"/>
          <p:cNvPicPr preferRelativeResize="0"/>
          <p:nvPr/>
        </p:nvPicPr>
        <p:blipFill>
          <a:blip r:embed="rId6">
            <a:alphaModFix/>
          </a:blip>
          <a:stretch>
            <a:fillRect/>
          </a:stretch>
        </p:blipFill>
        <p:spPr>
          <a:xfrm>
            <a:off x="3298871" y="1968825"/>
            <a:ext cx="4327290" cy="2476900"/>
          </a:xfrm>
          <a:prstGeom prst="rect">
            <a:avLst/>
          </a:prstGeom>
          <a:noFill/>
          <a:ln>
            <a:noFill/>
          </a:ln>
        </p:spPr>
      </p:pic>
      <p:pic>
        <p:nvPicPr>
          <p:cNvPr id="105" name="Google Shape;105;p25"/>
          <p:cNvPicPr preferRelativeResize="0"/>
          <p:nvPr/>
        </p:nvPicPr>
        <p:blipFill>
          <a:blip r:embed="rId7">
            <a:alphaModFix/>
          </a:blip>
          <a:stretch>
            <a:fillRect/>
          </a:stretch>
        </p:blipFill>
        <p:spPr>
          <a:xfrm>
            <a:off x="541700" y="2724138"/>
            <a:ext cx="1615046" cy="16150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Teacher Notes</a:t>
            </a:r>
            <a:endParaRPr>
              <a:solidFill>
                <a:schemeClr val="lt1"/>
              </a:solidFill>
            </a:endParaRPr>
          </a:p>
        </p:txBody>
      </p:sp>
      <p:sp>
        <p:nvSpPr>
          <p:cNvPr id="111" name="Google Shape;11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lt1"/>
                </a:solidFill>
              </a:rPr>
              <a:t>In this case study we have several options</a:t>
            </a:r>
            <a:endParaRPr>
              <a:solidFill>
                <a:schemeClr val="lt1"/>
              </a:solidFill>
            </a:endParaRPr>
          </a:p>
          <a:p>
            <a:pPr indent="-342900" lvl="0" marL="457200" rtl="0" algn="l">
              <a:spcBef>
                <a:spcPts val="1200"/>
              </a:spcBef>
              <a:spcAft>
                <a:spcPts val="0"/>
              </a:spcAft>
              <a:buClr>
                <a:schemeClr val="lt1"/>
              </a:buClr>
              <a:buSzPts val="1800"/>
              <a:buAutoNum type="arabicPeriod"/>
            </a:pPr>
            <a:r>
              <a:rPr lang="en">
                <a:solidFill>
                  <a:schemeClr val="lt1"/>
                </a:solidFill>
              </a:rPr>
              <a:t>Videos, Reflection, &amp; Discussion</a:t>
            </a:r>
            <a:endParaRPr>
              <a:solidFill>
                <a:schemeClr val="lt1"/>
              </a:solidFill>
            </a:endParaRPr>
          </a:p>
          <a:p>
            <a:pPr indent="-317500" lvl="1" marL="914400" rtl="0" algn="l">
              <a:spcBef>
                <a:spcPts val="0"/>
              </a:spcBef>
              <a:spcAft>
                <a:spcPts val="0"/>
              </a:spcAft>
              <a:buClr>
                <a:schemeClr val="lt1"/>
              </a:buClr>
              <a:buSzPts val="1400"/>
              <a:buAutoNum type="alphaLcPeriod"/>
            </a:pPr>
            <a:r>
              <a:rPr lang="en">
                <a:solidFill>
                  <a:schemeClr val="lt1"/>
                </a:solidFill>
              </a:rPr>
              <a:t>Watch videos  and answer questions. </a:t>
            </a:r>
            <a:endParaRPr>
              <a:solidFill>
                <a:schemeClr val="lt1"/>
              </a:solidFill>
            </a:endParaRPr>
          </a:p>
          <a:p>
            <a:pPr indent="-317500" lvl="1" marL="914400" rtl="0" algn="l">
              <a:spcBef>
                <a:spcPts val="0"/>
              </a:spcBef>
              <a:spcAft>
                <a:spcPts val="0"/>
              </a:spcAft>
              <a:buClr>
                <a:schemeClr val="lt1"/>
              </a:buClr>
              <a:buSzPts val="1400"/>
              <a:buAutoNum type="alphaLcPeriod"/>
            </a:pPr>
            <a:r>
              <a:rPr lang="en">
                <a:solidFill>
                  <a:schemeClr val="lt1"/>
                </a:solidFill>
              </a:rPr>
              <a:t>Followed by a class </a:t>
            </a:r>
            <a:r>
              <a:rPr lang="en">
                <a:solidFill>
                  <a:schemeClr val="lt1"/>
                </a:solidFill>
              </a:rPr>
              <a:t>discussion</a:t>
            </a:r>
            <a:r>
              <a:rPr lang="en">
                <a:solidFill>
                  <a:schemeClr val="lt1"/>
                </a:solidFill>
              </a:rPr>
              <a:t>.</a:t>
            </a:r>
            <a:endParaRPr>
              <a:solidFill>
                <a:schemeClr val="lt1"/>
              </a:solidFill>
            </a:endParaRPr>
          </a:p>
          <a:p>
            <a:pPr indent="-342900" lvl="0" marL="457200" rtl="0" algn="l">
              <a:spcBef>
                <a:spcPts val="0"/>
              </a:spcBef>
              <a:spcAft>
                <a:spcPts val="0"/>
              </a:spcAft>
              <a:buClr>
                <a:schemeClr val="lt1"/>
              </a:buClr>
              <a:buSzPts val="1800"/>
              <a:buAutoNum type="arabicPeriod"/>
            </a:pPr>
            <a:r>
              <a:rPr lang="en">
                <a:solidFill>
                  <a:schemeClr val="lt1"/>
                </a:solidFill>
              </a:rPr>
              <a:t>Classroom debate</a:t>
            </a:r>
            <a:endParaRPr>
              <a:solidFill>
                <a:schemeClr val="lt1"/>
              </a:solidFill>
            </a:endParaRPr>
          </a:p>
          <a:p>
            <a:pPr indent="-317500" lvl="1" marL="914400" rtl="0" algn="l">
              <a:spcBef>
                <a:spcPts val="0"/>
              </a:spcBef>
              <a:spcAft>
                <a:spcPts val="0"/>
              </a:spcAft>
              <a:buClr>
                <a:schemeClr val="lt1"/>
              </a:buClr>
              <a:buSzPts val="1400"/>
              <a:buAutoNum type="alphaLcPeriod"/>
            </a:pPr>
            <a:r>
              <a:rPr lang="en">
                <a:solidFill>
                  <a:schemeClr val="lt1"/>
                </a:solidFill>
              </a:rPr>
              <a:t>Watch videos and read articles to prepare for debate arguments</a:t>
            </a:r>
            <a:endParaRPr>
              <a:solidFill>
                <a:schemeClr val="lt1"/>
              </a:solidFill>
            </a:endParaRPr>
          </a:p>
          <a:p>
            <a:pPr indent="-317500" lvl="1" marL="914400" rtl="0" algn="l">
              <a:spcBef>
                <a:spcPts val="0"/>
              </a:spcBef>
              <a:spcAft>
                <a:spcPts val="0"/>
              </a:spcAft>
              <a:buClr>
                <a:schemeClr val="lt1"/>
              </a:buClr>
              <a:buSzPts val="1400"/>
              <a:buAutoNum type="alphaLcPeriod"/>
            </a:pPr>
            <a:r>
              <a:rPr lang="en">
                <a:solidFill>
                  <a:schemeClr val="lt1"/>
                </a:solidFill>
              </a:rPr>
              <a:t>Each side gets to present their arguments in 3 rounds</a:t>
            </a:r>
            <a:endParaRPr>
              <a:solidFill>
                <a:schemeClr val="lt1"/>
              </a:solidFill>
            </a:endParaRPr>
          </a:p>
          <a:p>
            <a:pPr indent="-317500" lvl="1" marL="914400" rtl="0" algn="l">
              <a:spcBef>
                <a:spcPts val="0"/>
              </a:spcBef>
              <a:spcAft>
                <a:spcPts val="0"/>
              </a:spcAft>
              <a:buClr>
                <a:schemeClr val="lt1"/>
              </a:buClr>
              <a:buSzPts val="1400"/>
              <a:buAutoNum type="alphaLcPeriod"/>
            </a:pPr>
            <a:r>
              <a:rPr lang="en">
                <a:solidFill>
                  <a:schemeClr val="lt1"/>
                </a:solidFill>
              </a:rPr>
              <a:t>Setup - </a:t>
            </a:r>
            <a:endParaRPr>
              <a:solidFill>
                <a:schemeClr val="lt1"/>
              </a:solidFill>
            </a:endParaRPr>
          </a:p>
          <a:p>
            <a:pPr indent="-317500" lvl="2" marL="1371600" rtl="0" algn="l">
              <a:spcBef>
                <a:spcPts val="0"/>
              </a:spcBef>
              <a:spcAft>
                <a:spcPts val="0"/>
              </a:spcAft>
              <a:buClr>
                <a:schemeClr val="lt1"/>
              </a:buClr>
              <a:buSzPts val="1400"/>
              <a:buAutoNum type="romanLcPeriod"/>
            </a:pPr>
            <a:r>
              <a:rPr lang="en">
                <a:solidFill>
                  <a:schemeClr val="lt1"/>
                </a:solidFill>
              </a:rPr>
              <a:t>split the class into two </a:t>
            </a:r>
            <a:r>
              <a:rPr lang="en">
                <a:solidFill>
                  <a:schemeClr val="lt1"/>
                </a:solidFill>
              </a:rPr>
              <a:t>groups</a:t>
            </a:r>
            <a:r>
              <a:rPr lang="en">
                <a:solidFill>
                  <a:schemeClr val="lt1"/>
                </a:solidFill>
              </a:rPr>
              <a:t> pro or con, then split into 3 teams for each side</a:t>
            </a:r>
            <a:endParaRPr>
              <a:solidFill>
                <a:schemeClr val="lt1"/>
              </a:solidFill>
            </a:endParaRPr>
          </a:p>
          <a:p>
            <a:pPr indent="-317500" lvl="2" marL="1371600" rtl="0" algn="l">
              <a:spcBef>
                <a:spcPts val="0"/>
              </a:spcBef>
              <a:spcAft>
                <a:spcPts val="0"/>
              </a:spcAft>
              <a:buClr>
                <a:schemeClr val="lt1"/>
              </a:buClr>
              <a:buSzPts val="1400"/>
              <a:buAutoNum type="romanLcPeriod"/>
            </a:pPr>
            <a:r>
              <a:rPr lang="en">
                <a:solidFill>
                  <a:schemeClr val="lt1"/>
                </a:solidFill>
              </a:rPr>
              <a:t>Each team can identify an issue and build their argument for it.</a:t>
            </a:r>
            <a:endParaRPr>
              <a:solidFill>
                <a:schemeClr val="lt1"/>
              </a:solidFill>
            </a:endParaRPr>
          </a:p>
          <a:p>
            <a:pPr indent="0" lvl="0" marL="457200" rtl="0" algn="l">
              <a:spcBef>
                <a:spcPts val="1200"/>
              </a:spcBef>
              <a:spcAft>
                <a:spcPts val="1200"/>
              </a:spcAft>
              <a:buNone/>
            </a:pPr>
            <a:r>
              <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Objectives</a:t>
            </a:r>
            <a:endParaRPr/>
          </a:p>
        </p:txBody>
      </p:sp>
      <p:sp>
        <p:nvSpPr>
          <p:cNvPr id="117" name="Google Shape;11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Identify current uses of AI to make decisions and how it has impacted society or people</a:t>
            </a:r>
            <a:endParaRPr sz="1700"/>
          </a:p>
          <a:p>
            <a:pPr indent="-336550" lvl="0" marL="457200" rtl="0" algn="l">
              <a:spcBef>
                <a:spcPts val="0"/>
              </a:spcBef>
              <a:spcAft>
                <a:spcPts val="0"/>
              </a:spcAft>
              <a:buSzPts val="1700"/>
              <a:buChar char="●"/>
            </a:pPr>
            <a:r>
              <a:rPr lang="en" sz="1700"/>
              <a:t>Evaluate the ways various stakeholders' values influence the design of an AI System </a:t>
            </a:r>
            <a:endParaRPr sz="1700"/>
          </a:p>
          <a:p>
            <a:pPr indent="-336550" lvl="0" marL="457200" rtl="0" algn="l">
              <a:spcBef>
                <a:spcPts val="0"/>
              </a:spcBef>
              <a:spcAft>
                <a:spcPts val="0"/>
              </a:spcAft>
              <a:buSzPts val="1700"/>
              <a:buChar char="●"/>
            </a:pPr>
            <a:r>
              <a:rPr lang="en" sz="1700"/>
              <a:t>Identify and explain sources of bias in an AI system and decision making process </a:t>
            </a:r>
            <a:endParaRPr sz="1700"/>
          </a:p>
          <a:p>
            <a:pPr indent="-336550" lvl="0" marL="457200" rtl="0" algn="l">
              <a:spcBef>
                <a:spcPts val="0"/>
              </a:spcBef>
              <a:spcAft>
                <a:spcPts val="0"/>
              </a:spcAft>
              <a:buSzPts val="1700"/>
              <a:buChar char="●"/>
            </a:pPr>
            <a:r>
              <a:rPr lang="en" sz="1700"/>
              <a:t>Explain how and why issues of bias, fairness, and transparency affect the design and use of AI systems and impacts on people</a:t>
            </a:r>
            <a:endParaRPr sz="1700"/>
          </a:p>
          <a:p>
            <a:pPr indent="-336550" lvl="0" marL="457200" rtl="0" algn="l">
              <a:spcBef>
                <a:spcPts val="0"/>
              </a:spcBef>
              <a:spcAft>
                <a:spcPts val="0"/>
              </a:spcAft>
              <a:buSzPts val="1700"/>
              <a:buChar char="●"/>
            </a:pPr>
            <a:r>
              <a:rPr lang="en" sz="1700"/>
              <a:t>Create example laws, policies, and procedures that regulate the design and use of AI Systems that make decisions about people.</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Case Study Option 1:</a:t>
            </a:r>
            <a:endParaRPr>
              <a:solidFill>
                <a:schemeClr val="lt1"/>
              </a:solidFill>
            </a:endParaRPr>
          </a:p>
          <a:p>
            <a:pPr indent="0" lvl="0" marL="0" rtl="0" algn="ctr">
              <a:spcBef>
                <a:spcPts val="0"/>
              </a:spcBef>
              <a:spcAft>
                <a:spcPts val="0"/>
              </a:spcAft>
              <a:buNone/>
            </a:pPr>
            <a:r>
              <a:rPr lang="en">
                <a:solidFill>
                  <a:schemeClr val="lt1"/>
                </a:solidFill>
              </a:rPr>
              <a:t> Videos, Reflection, Discussion</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AI Make Better Decisions than People?</a:t>
            </a:r>
            <a:endParaRPr/>
          </a:p>
        </p:txBody>
      </p:sp>
      <p:sp>
        <p:nvSpPr>
          <p:cNvPr id="128" name="Google Shape;128;p29"/>
          <p:cNvSpPr txBox="1"/>
          <p:nvPr>
            <p:ph idx="1" type="body"/>
          </p:nvPr>
        </p:nvSpPr>
        <p:spPr>
          <a:xfrm>
            <a:off x="33800" y="4114800"/>
            <a:ext cx="3723000" cy="454200"/>
          </a:xfrm>
          <a:prstGeom prst="rect">
            <a:avLst/>
          </a:prstGeom>
        </p:spPr>
        <p:txBody>
          <a:bodyPr anchorCtr="0" anchor="t" bIns="91425" lIns="91425" spcFirstLastPara="1" rIns="91425" wrap="square" tIns="91425">
            <a:normAutofit fontScale="47500" lnSpcReduction="10000"/>
          </a:bodyPr>
          <a:lstStyle/>
          <a:p>
            <a:pPr indent="0" lvl="0" marL="0" rtl="0" algn="ctr">
              <a:spcBef>
                <a:spcPts val="0"/>
              </a:spcBef>
              <a:spcAft>
                <a:spcPts val="1200"/>
              </a:spcAft>
              <a:buNone/>
            </a:pPr>
            <a:r>
              <a:rPr lang="en" u="sng">
                <a:solidFill>
                  <a:schemeClr val="hlink"/>
                </a:solidFill>
                <a:hlinkClick r:id="rId3"/>
              </a:rPr>
              <a:t>https://www.youtube.com/watch?v=2E7l1hdjHsg</a:t>
            </a:r>
            <a:r>
              <a:rPr lang="en"/>
              <a:t> </a:t>
            </a:r>
            <a:br>
              <a:rPr lang="en"/>
            </a:br>
            <a:r>
              <a:rPr lang="en"/>
              <a:t>(5 mins, 33)</a:t>
            </a:r>
            <a:endParaRPr/>
          </a:p>
        </p:txBody>
      </p:sp>
      <p:pic>
        <p:nvPicPr>
          <p:cNvPr descr="Do you think that you are always making decisions by yourself? Maybe not. &#10;Your decisions may be guided by Artificial Intelligence (AI). We make many decisions everyday, where to go, what to eat, what to buy, what to read, who to meet… You may listen to someone’s advice, look for reviews to make your choices. But what happens if such information is biased? &#10;&#10;AI is increasingly used to assist in decision making. AI collects and analyze a large amount of data and present you its conclusions. AI is not only used for shopping and restaurant advice, but also for more critical decision makings in our society such as medical treatment, verdict, health insurance, etc.&#10;&#10;What are the ethical concerns in using AI for decision making? What do we need to know?&#10;&#10;A new video “Does AI make better decisions than humans?” of the video series “Thinking Ethics of AI” is now available with English, French, Japanese and other languages subtitles.&#10;&#10;&#10;L'IA prend-elle de meilleures décisions que les humains ? Penser l’éthique de l'IA&#10;&#10;Pensez-vous toujours prendre vos décisions par vous-même ? Ce n’est peut-être pas le cas.&#10;Vos décisions sont en effet peut-être guidées par une intelligence artificielle (IA). Nous prenons de nombreuses décisions chaque jour : où aller, quoi manger, quoi acheter, quoi lire, qui rencontrer... Vous pouvez écouter les conseils d’un proche, chercher des critiques pour vous aider à faire vos choix, mais que se passe-t-il si ces informations sont biaisées ? &#10;&#10;L'IA est de plus en plus utilisée pour aider à la prise de décision. L'IA collecte et analyse un grand nombre de données et vous présente ses conclusions. Cela peut être de simples conseils en matière de shopping ou des choix de restaurants, mais l'IA est désormais aussi utilisée pour des prises de décision cruciales dans nos sociétés, telles que le traitement médical, les verdicts, l'assurance maladie, etc.&#10;&#10;Quelles sont les préoccupations éthiques liées à l'utilisation de l'IA pour la prise de décision ? Que devons-nous savoir ?&#10;&#10;Une nouvelle vidéo « L'IA prend-elle de meilleures décisions que les humains ? » de la série intitulée « Penser l'éthique de l'IA » est maintenant disponible avec des sous-titres en anglais, français, japonais et d'autres langues." id="129" name="Google Shape;129;p29" title="Does AI make better decisions than humans? Thinking Ethics of AI">
            <a:hlinkClick r:id="rId4"/>
          </p:cNvPr>
          <p:cNvPicPr preferRelativeResize="0"/>
          <p:nvPr/>
        </p:nvPicPr>
        <p:blipFill>
          <a:blip r:embed="rId5">
            <a:alphaModFix/>
          </a:blip>
          <a:stretch>
            <a:fillRect/>
          </a:stretch>
        </p:blipFill>
        <p:spPr>
          <a:xfrm>
            <a:off x="105150" y="1170125"/>
            <a:ext cx="3723034" cy="2792275"/>
          </a:xfrm>
          <a:prstGeom prst="rect">
            <a:avLst/>
          </a:prstGeom>
          <a:noFill/>
          <a:ln>
            <a:noFill/>
          </a:ln>
        </p:spPr>
      </p:pic>
      <p:sp>
        <p:nvSpPr>
          <p:cNvPr id="130" name="Google Shape;130;p29"/>
          <p:cNvSpPr txBox="1"/>
          <p:nvPr/>
        </p:nvSpPr>
        <p:spPr>
          <a:xfrm>
            <a:off x="4795075" y="1061875"/>
            <a:ext cx="40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1" name="Google Shape;131;p29"/>
          <p:cNvSpPr txBox="1"/>
          <p:nvPr>
            <p:ph idx="1" type="body"/>
          </p:nvPr>
        </p:nvSpPr>
        <p:spPr>
          <a:xfrm>
            <a:off x="4286250" y="1152475"/>
            <a:ext cx="4898700" cy="3893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Video reflection</a:t>
            </a:r>
            <a:endParaRPr/>
          </a:p>
          <a:p>
            <a:pPr indent="-317182" lvl="0" marL="457200" rtl="0" algn="l">
              <a:spcBef>
                <a:spcPts val="1200"/>
              </a:spcBef>
              <a:spcAft>
                <a:spcPts val="0"/>
              </a:spcAft>
              <a:buSzPct val="100000"/>
              <a:buAutoNum type="arabicPeriod"/>
            </a:pPr>
            <a:r>
              <a:rPr lang="en"/>
              <a:t>What are some of the benefits of using AI?</a:t>
            </a:r>
            <a:endParaRPr/>
          </a:p>
          <a:p>
            <a:pPr indent="-317182" lvl="0" marL="457200" rtl="0" algn="l">
              <a:spcBef>
                <a:spcPts val="0"/>
              </a:spcBef>
              <a:spcAft>
                <a:spcPts val="0"/>
              </a:spcAft>
              <a:buSzPct val="100000"/>
              <a:buAutoNum type="arabicPeriod"/>
            </a:pPr>
            <a:r>
              <a:rPr lang="en"/>
              <a:t>What are some of the disadvantages of using AI?</a:t>
            </a:r>
            <a:endParaRPr/>
          </a:p>
          <a:p>
            <a:pPr indent="-317182" lvl="0" marL="457200" rtl="0" algn="l">
              <a:spcBef>
                <a:spcPts val="0"/>
              </a:spcBef>
              <a:spcAft>
                <a:spcPts val="0"/>
              </a:spcAft>
              <a:buSzPct val="100000"/>
              <a:buAutoNum type="arabicPeriod"/>
            </a:pPr>
            <a:r>
              <a:rPr lang="en"/>
              <a:t>What kinds of decisions are AI making?</a:t>
            </a:r>
            <a:endParaRPr/>
          </a:p>
          <a:p>
            <a:pPr indent="-317182" lvl="0" marL="457200" rtl="0" algn="l">
              <a:spcBef>
                <a:spcPts val="0"/>
              </a:spcBef>
              <a:spcAft>
                <a:spcPts val="0"/>
              </a:spcAft>
              <a:buSzPct val="100000"/>
              <a:buAutoNum type="arabicPeriod"/>
            </a:pPr>
            <a:r>
              <a:rPr lang="en"/>
              <a:t>What are some of the concerns?</a:t>
            </a:r>
            <a:endParaRPr/>
          </a:p>
          <a:p>
            <a:pPr indent="-317182" lvl="0" marL="457200" rtl="0" algn="l">
              <a:spcBef>
                <a:spcPts val="0"/>
              </a:spcBef>
              <a:spcAft>
                <a:spcPts val="0"/>
              </a:spcAft>
              <a:buSzPct val="100000"/>
              <a:buAutoNum type="arabicPeriod"/>
            </a:pPr>
            <a:r>
              <a:rPr lang="en"/>
              <a:t>What are the sources of Bias in AI?</a:t>
            </a:r>
            <a:endParaRPr/>
          </a:p>
          <a:p>
            <a:pPr indent="-317182" lvl="0" marL="457200" rtl="0" algn="l">
              <a:spcBef>
                <a:spcPts val="0"/>
              </a:spcBef>
              <a:spcAft>
                <a:spcPts val="0"/>
              </a:spcAft>
              <a:buSzPct val="100000"/>
              <a:buAutoNum type="arabicPeriod"/>
            </a:pPr>
            <a:r>
              <a:rPr lang="en"/>
              <a:t>What is transparency and why is it important?</a:t>
            </a:r>
            <a:endParaRPr/>
          </a:p>
          <a:p>
            <a:pPr indent="-317182" lvl="0" marL="457200" rtl="0" algn="l">
              <a:spcBef>
                <a:spcPts val="0"/>
              </a:spcBef>
              <a:spcAft>
                <a:spcPts val="0"/>
              </a:spcAft>
              <a:buSzPct val="100000"/>
              <a:buAutoNum type="arabicPeriod"/>
            </a:pPr>
            <a:r>
              <a:rPr lang="en"/>
              <a:t>What are the limitations of AI?</a:t>
            </a:r>
            <a:endParaRPr/>
          </a:p>
          <a:p>
            <a:pPr indent="0" lvl="0" marL="0" rtl="0" algn="l">
              <a:spcBef>
                <a:spcPts val="1200"/>
              </a:spcBef>
              <a:spcAft>
                <a:spcPts val="0"/>
              </a:spcAft>
              <a:buNone/>
            </a:pPr>
            <a:r>
              <a:rPr lang="en"/>
              <a:t>What do you think? </a:t>
            </a:r>
            <a:endParaRPr/>
          </a:p>
          <a:p>
            <a:pPr indent="-317182" lvl="0" marL="457200" rtl="0" algn="l">
              <a:spcBef>
                <a:spcPts val="1200"/>
              </a:spcBef>
              <a:spcAft>
                <a:spcPts val="0"/>
              </a:spcAft>
              <a:buSzPct val="100000"/>
              <a:buAutoNum type="arabicPeriod"/>
            </a:pPr>
            <a:r>
              <a:rPr lang="en"/>
              <a:t>Does AI Make Better Decisions than People?</a:t>
            </a:r>
            <a:endParaRPr/>
          </a:p>
          <a:p>
            <a:pPr indent="-317182" lvl="0" marL="457200" rtl="0" algn="l">
              <a:spcBef>
                <a:spcPts val="0"/>
              </a:spcBef>
              <a:spcAft>
                <a:spcPts val="0"/>
              </a:spcAft>
              <a:buSzPct val="100000"/>
              <a:buAutoNum type="arabicPeriod"/>
            </a:pPr>
            <a:r>
              <a:rPr lang="en"/>
              <a:t>Should AI be used to make decisions about people?</a:t>
            </a:r>
            <a:endParaRPr/>
          </a:p>
          <a:p>
            <a:pPr indent="-317182" lvl="0" marL="457200" rtl="0" algn="l">
              <a:spcBef>
                <a:spcPts val="0"/>
              </a:spcBef>
              <a:spcAft>
                <a:spcPts val="0"/>
              </a:spcAft>
              <a:buSzPct val="100000"/>
              <a:buAutoNum type="arabicPeriod"/>
            </a:pPr>
            <a:r>
              <a:rPr lang="en"/>
              <a:t>How should AI be used to make decisions about people?</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Accountable AI decision making: Human Rights and Technology 2021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 name="Google Shape;137;p30"/>
          <p:cNvSpPr txBox="1"/>
          <p:nvPr>
            <p:ph idx="1" type="body"/>
          </p:nvPr>
        </p:nvSpPr>
        <p:spPr>
          <a:xfrm>
            <a:off x="311700" y="4395475"/>
            <a:ext cx="8520600" cy="402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u="sng">
                <a:solidFill>
                  <a:schemeClr val="hlink"/>
                </a:solidFill>
                <a:hlinkClick r:id="rId3"/>
              </a:rPr>
              <a:t>https://www.youtube.com/watch?v=LZPBqTJd8ek</a:t>
            </a:r>
            <a:r>
              <a:rPr lang="en"/>
              <a:t> (1 min 23 sec)</a:t>
            </a:r>
            <a:endParaRPr/>
          </a:p>
        </p:txBody>
      </p:sp>
      <p:pic>
        <p:nvPicPr>
          <p:cNvPr descr="Artificial Intelligence offers great opportunities – but it also has the potential to do great harm. The Australian Human Rights Commission’s new Human Rights and Technology report recommends safeguards to protect the community, as Human Rights Commissioner Ed Santow explains.&#10;&#10;Read more: https://tech.humanrights.gov.au" id="138" name="Google Shape;138;p30" title="Accountable AI decision making: Human Rights and Technology 2021">
            <a:hlinkClick r:id="rId4"/>
          </p:cNvPr>
          <p:cNvPicPr preferRelativeResize="0"/>
          <p:nvPr/>
        </p:nvPicPr>
        <p:blipFill>
          <a:blip r:embed="rId5">
            <a:alphaModFix/>
          </a:blip>
          <a:stretch>
            <a:fillRect/>
          </a:stretch>
        </p:blipFill>
        <p:spPr>
          <a:xfrm>
            <a:off x="311700" y="1322525"/>
            <a:ext cx="4097267" cy="3072950"/>
          </a:xfrm>
          <a:prstGeom prst="rect">
            <a:avLst/>
          </a:prstGeom>
          <a:noFill/>
          <a:ln>
            <a:noFill/>
          </a:ln>
        </p:spPr>
      </p:pic>
      <p:sp>
        <p:nvSpPr>
          <p:cNvPr id="139" name="Google Shape;139;p30"/>
          <p:cNvSpPr txBox="1"/>
          <p:nvPr>
            <p:ph idx="1" type="body"/>
          </p:nvPr>
        </p:nvSpPr>
        <p:spPr>
          <a:xfrm>
            <a:off x="4731300" y="1381075"/>
            <a:ext cx="4119600" cy="3416400"/>
          </a:xfrm>
          <a:prstGeom prst="rect">
            <a:avLst/>
          </a:prstGeom>
        </p:spPr>
        <p:txBody>
          <a:bodyPr anchorCtr="0" anchor="t" bIns="91425" lIns="91425" spcFirstLastPara="1" rIns="91425" wrap="square" tIns="91425">
            <a:normAutofit/>
          </a:bodyPr>
          <a:lstStyle/>
          <a:p>
            <a:pPr indent="-317500" lvl="0" marL="457200" rtl="0" algn="l">
              <a:lnSpc>
                <a:spcPct val="95000"/>
              </a:lnSpc>
              <a:spcBef>
                <a:spcPts val="0"/>
              </a:spcBef>
              <a:spcAft>
                <a:spcPts val="0"/>
              </a:spcAft>
              <a:buSzPts val="1400"/>
              <a:buAutoNum type="arabicPeriod"/>
            </a:pPr>
            <a:r>
              <a:rPr lang="en" sz="1400"/>
              <a:t>What issues does this video raise about human rights?</a:t>
            </a:r>
            <a:endParaRPr sz="1400"/>
          </a:p>
          <a:p>
            <a:pPr indent="-317500" lvl="0" marL="457200" rtl="0" algn="l">
              <a:lnSpc>
                <a:spcPct val="95000"/>
              </a:lnSpc>
              <a:spcBef>
                <a:spcPts val="0"/>
              </a:spcBef>
              <a:spcAft>
                <a:spcPts val="0"/>
              </a:spcAft>
              <a:buSzPts val="1400"/>
              <a:buAutoNum type="arabicPeriod"/>
            </a:pPr>
            <a:r>
              <a:rPr lang="en" sz="1400"/>
              <a:t>What decisions are being made about people?</a:t>
            </a:r>
            <a:endParaRPr sz="1400"/>
          </a:p>
          <a:p>
            <a:pPr indent="-317500" lvl="0" marL="457200" rtl="0" algn="l">
              <a:lnSpc>
                <a:spcPct val="95000"/>
              </a:lnSpc>
              <a:spcBef>
                <a:spcPts val="0"/>
              </a:spcBef>
              <a:spcAft>
                <a:spcPts val="0"/>
              </a:spcAft>
              <a:buSzPts val="1400"/>
              <a:buAutoNum type="arabicPeriod"/>
            </a:pPr>
            <a:r>
              <a:rPr lang="en" sz="1400"/>
              <a:t>Who are using AI to make decisions about people?</a:t>
            </a:r>
            <a:endParaRPr sz="1400"/>
          </a:p>
          <a:p>
            <a:pPr indent="-317500" lvl="0" marL="457200" rtl="0" algn="l">
              <a:lnSpc>
                <a:spcPct val="95000"/>
              </a:lnSpc>
              <a:spcBef>
                <a:spcPts val="0"/>
              </a:spcBef>
              <a:spcAft>
                <a:spcPts val="0"/>
              </a:spcAft>
              <a:buSzPts val="1400"/>
              <a:buAutoNum type="arabicPeriod"/>
            </a:pPr>
            <a:r>
              <a:rPr lang="en" sz="1400"/>
              <a:t>What solutions are presented in this video to address the issues raised?</a:t>
            </a:r>
            <a:endParaRPr sz="1400"/>
          </a:p>
          <a:p>
            <a:pPr indent="-317500" lvl="0" marL="457200" rtl="0" algn="l">
              <a:lnSpc>
                <a:spcPct val="95000"/>
              </a:lnSpc>
              <a:spcBef>
                <a:spcPts val="0"/>
              </a:spcBef>
              <a:spcAft>
                <a:spcPts val="0"/>
              </a:spcAft>
              <a:buSzPts val="1400"/>
              <a:buAutoNum type="arabicPeriod"/>
            </a:pPr>
            <a:r>
              <a:rPr lang="en" sz="1400"/>
              <a:t>Who was this video produced by</a:t>
            </a:r>
            <a:endParaRPr sz="1400"/>
          </a:p>
          <a:p>
            <a:pPr indent="0" lvl="0" marL="0" rtl="0" algn="l">
              <a:lnSpc>
                <a:spcPct val="95000"/>
              </a:lnSpc>
              <a:spcBef>
                <a:spcPts val="1200"/>
              </a:spcBef>
              <a:spcAft>
                <a:spcPts val="120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2258125" y="2800725"/>
            <a:ext cx="6755400" cy="572700"/>
          </a:xfrm>
          <a:prstGeom prst="rect">
            <a:avLst/>
          </a:prstGeom>
          <a:solidFill>
            <a:srgbClr val="FCE5CD"/>
          </a:solidFill>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Discussion</a:t>
            </a:r>
            <a:endParaRPr/>
          </a:p>
        </p:txBody>
      </p:sp>
      <p:sp>
        <p:nvSpPr>
          <p:cNvPr id="145" name="Google Shape;145;p31"/>
          <p:cNvSpPr txBox="1"/>
          <p:nvPr>
            <p:ph idx="1" type="body"/>
          </p:nvPr>
        </p:nvSpPr>
        <p:spPr>
          <a:xfrm>
            <a:off x="0" y="1282400"/>
            <a:ext cx="9013500" cy="1446300"/>
          </a:xfrm>
          <a:prstGeom prst="rect">
            <a:avLst/>
          </a:prstGeom>
        </p:spPr>
        <p:txBody>
          <a:bodyPr anchorCtr="0" anchor="t" bIns="91425" lIns="91425" spcFirstLastPara="1" rIns="91425" wrap="square" tIns="91425">
            <a:normAutofit fontScale="92500"/>
          </a:bodyPr>
          <a:lstStyle/>
          <a:p>
            <a:pPr indent="0" lvl="0" marL="0" rtl="0" algn="r">
              <a:lnSpc>
                <a:spcPct val="95000"/>
              </a:lnSpc>
              <a:spcBef>
                <a:spcPts val="0"/>
              </a:spcBef>
              <a:spcAft>
                <a:spcPts val="0"/>
              </a:spcAft>
              <a:buNone/>
            </a:pPr>
            <a:r>
              <a:rPr lang="en" sz="2100"/>
              <a:t>Does AI Make Better Decisions than People?</a:t>
            </a:r>
            <a:endParaRPr sz="2100"/>
          </a:p>
          <a:p>
            <a:pPr indent="0" lvl="0" marL="0" rtl="0" algn="r">
              <a:lnSpc>
                <a:spcPct val="95000"/>
              </a:lnSpc>
              <a:spcBef>
                <a:spcPts val="1200"/>
              </a:spcBef>
              <a:spcAft>
                <a:spcPts val="0"/>
              </a:spcAft>
              <a:buNone/>
            </a:pPr>
            <a:r>
              <a:rPr lang="en" sz="2100"/>
              <a:t>What should we consider when using AI to make decisions about people?</a:t>
            </a:r>
            <a:endParaRPr sz="2100"/>
          </a:p>
          <a:p>
            <a:pPr indent="0" lvl="0" marL="0" rtl="0" algn="r">
              <a:lnSpc>
                <a:spcPct val="95000"/>
              </a:lnSpc>
              <a:spcBef>
                <a:spcPts val="1200"/>
              </a:spcBef>
              <a:spcAft>
                <a:spcPts val="1200"/>
              </a:spcAft>
              <a:buClr>
                <a:schemeClr val="dk1"/>
              </a:buClr>
              <a:buSzPct val="52380"/>
              <a:buFont typeface="Arial"/>
              <a:buNone/>
            </a:pPr>
            <a:r>
              <a:rPr lang="en" sz="2100"/>
              <a:t>What kinds of policies should we put in place to protect people while using AI?</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9" name="Shape 149"/>
        <p:cNvGrpSpPr/>
        <p:nvPr/>
      </p:nvGrpSpPr>
      <p:grpSpPr>
        <a:xfrm>
          <a:off x="0" y="0"/>
          <a:ext cx="0" cy="0"/>
          <a:chOff x="0" y="0"/>
          <a:chExt cx="0" cy="0"/>
        </a:xfrm>
      </p:grpSpPr>
      <p:sp>
        <p:nvSpPr>
          <p:cNvPr id="150" name="Google Shape;150;p3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Case Study Option 2 - Classroom Debate</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Today, we are going to have a class debate on the topic: </a:t>
            </a:r>
            <a:br>
              <a:rPr lang="en"/>
            </a:br>
            <a:r>
              <a:rPr lang="en"/>
              <a:t>Does AI Make Better Decisions than People?</a:t>
            </a:r>
            <a:endParaRPr/>
          </a:p>
          <a:p>
            <a:pPr indent="0" lvl="0" marL="0" rtl="0" algn="l">
              <a:spcBef>
                <a:spcPts val="0"/>
              </a:spcBef>
              <a:spcAft>
                <a:spcPts val="0"/>
              </a:spcAft>
              <a:buNone/>
            </a:pPr>
            <a:r>
              <a:t/>
            </a:r>
            <a:endParaRPr/>
          </a:p>
        </p:txBody>
      </p:sp>
      <p:sp>
        <p:nvSpPr>
          <p:cNvPr id="156" name="Google Shape;156;p33"/>
          <p:cNvSpPr txBox="1"/>
          <p:nvPr>
            <p:ph idx="1" type="body"/>
          </p:nvPr>
        </p:nvSpPr>
        <p:spPr>
          <a:xfrm>
            <a:off x="311700" y="2156950"/>
            <a:ext cx="3999900" cy="1503000"/>
          </a:xfrm>
          <a:prstGeom prst="rect">
            <a:avLst/>
          </a:prstGeom>
          <a:solidFill>
            <a:srgbClr val="D9EAD3"/>
          </a:solidFill>
        </p:spPr>
        <p:txBody>
          <a:bodyPr anchorCtr="0" anchor="t" bIns="91425" lIns="91425" spcFirstLastPara="1" rIns="91425" wrap="square" tIns="91425">
            <a:normAutofit/>
          </a:bodyPr>
          <a:lstStyle/>
          <a:p>
            <a:pPr indent="0" lvl="0" marL="0" rtl="0" algn="ctr">
              <a:spcBef>
                <a:spcPts val="0"/>
              </a:spcBef>
              <a:spcAft>
                <a:spcPts val="0"/>
              </a:spcAft>
              <a:buNone/>
            </a:pPr>
            <a:r>
              <a:rPr b="1" lang="en"/>
              <a:t>Yes, AI makes better decisions than people…</a:t>
            </a:r>
            <a:endParaRPr b="1"/>
          </a:p>
          <a:p>
            <a:pPr indent="0" lvl="0" marL="0" rtl="0" algn="l">
              <a:lnSpc>
                <a:spcPct val="100000"/>
              </a:lnSpc>
              <a:spcBef>
                <a:spcPts val="1200"/>
              </a:spcBef>
              <a:spcAft>
                <a:spcPts val="0"/>
              </a:spcAft>
              <a:buClr>
                <a:schemeClr val="dk1"/>
              </a:buClr>
              <a:buSzPts val="1100"/>
              <a:buFont typeface="Arial"/>
              <a:buNone/>
            </a:pPr>
            <a:r>
              <a:rPr lang="en">
                <a:solidFill>
                  <a:schemeClr val="dk1"/>
                </a:solidFill>
              </a:rPr>
              <a:t>Team 1 - Argument #1</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Team 2 - Argument #2</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Team 3 - Argument #3</a:t>
            </a:r>
            <a:endParaRPr b="1"/>
          </a:p>
        </p:txBody>
      </p:sp>
      <p:sp>
        <p:nvSpPr>
          <p:cNvPr id="157" name="Google Shape;157;p33"/>
          <p:cNvSpPr txBox="1"/>
          <p:nvPr>
            <p:ph idx="2" type="body"/>
          </p:nvPr>
        </p:nvSpPr>
        <p:spPr>
          <a:xfrm>
            <a:off x="4832400" y="2156950"/>
            <a:ext cx="3999900" cy="1516200"/>
          </a:xfrm>
          <a:prstGeom prst="rect">
            <a:avLst/>
          </a:prstGeom>
          <a:solidFill>
            <a:srgbClr val="F4CCCC"/>
          </a:solidFill>
        </p:spPr>
        <p:txBody>
          <a:bodyPr anchorCtr="0" anchor="t" bIns="91425" lIns="91425" spcFirstLastPara="1" rIns="91425" wrap="square" tIns="91425">
            <a:normAutofit/>
          </a:bodyPr>
          <a:lstStyle/>
          <a:p>
            <a:pPr indent="0" lvl="0" marL="0" rtl="0" algn="ctr">
              <a:spcBef>
                <a:spcPts val="0"/>
              </a:spcBef>
              <a:spcAft>
                <a:spcPts val="0"/>
              </a:spcAft>
              <a:buNone/>
            </a:pPr>
            <a:r>
              <a:rPr b="1" lang="en"/>
              <a:t>No</a:t>
            </a:r>
            <a:r>
              <a:rPr b="1" lang="en"/>
              <a:t>, AI does not makes better decisions than people….</a:t>
            </a:r>
            <a:endParaRPr b="1"/>
          </a:p>
          <a:p>
            <a:pPr indent="0" lvl="0" marL="0" rtl="0" algn="l">
              <a:lnSpc>
                <a:spcPct val="100000"/>
              </a:lnSpc>
              <a:spcBef>
                <a:spcPts val="1200"/>
              </a:spcBef>
              <a:spcAft>
                <a:spcPts val="0"/>
              </a:spcAft>
              <a:buNone/>
            </a:pPr>
            <a:r>
              <a:rPr lang="en">
                <a:solidFill>
                  <a:schemeClr val="dk1"/>
                </a:solidFill>
              </a:rPr>
              <a:t>Team 1 - Argument #1</a:t>
            </a:r>
            <a:endParaRPr>
              <a:solidFill>
                <a:schemeClr val="dk1"/>
              </a:solidFill>
            </a:endParaRPr>
          </a:p>
          <a:p>
            <a:pPr indent="0" lvl="0" marL="0" rtl="0" algn="l">
              <a:lnSpc>
                <a:spcPct val="100000"/>
              </a:lnSpc>
              <a:spcBef>
                <a:spcPts val="0"/>
              </a:spcBef>
              <a:spcAft>
                <a:spcPts val="0"/>
              </a:spcAft>
              <a:buNone/>
            </a:pPr>
            <a:r>
              <a:rPr lang="en">
                <a:solidFill>
                  <a:schemeClr val="dk1"/>
                </a:solidFill>
              </a:rPr>
              <a:t>Team 2 - Argument #2</a:t>
            </a:r>
            <a:endParaRPr>
              <a:solidFill>
                <a:schemeClr val="dk1"/>
              </a:solidFill>
            </a:endParaRPr>
          </a:p>
          <a:p>
            <a:pPr indent="0" lvl="0" marL="0" rtl="0" algn="l">
              <a:lnSpc>
                <a:spcPct val="100000"/>
              </a:lnSpc>
              <a:spcBef>
                <a:spcPts val="0"/>
              </a:spcBef>
              <a:spcAft>
                <a:spcPts val="0"/>
              </a:spcAft>
              <a:buNone/>
            </a:pPr>
            <a:r>
              <a:rPr lang="en">
                <a:solidFill>
                  <a:schemeClr val="dk1"/>
                </a:solidFill>
              </a:rPr>
              <a:t>Team 3 - Argument #3</a:t>
            </a:r>
            <a:endParaRPr b="1"/>
          </a:p>
        </p:txBody>
      </p:sp>
      <p:sp>
        <p:nvSpPr>
          <p:cNvPr id="158" name="Google Shape;158;p33"/>
          <p:cNvSpPr txBox="1"/>
          <p:nvPr>
            <p:ph idx="1" type="body"/>
          </p:nvPr>
        </p:nvSpPr>
        <p:spPr>
          <a:xfrm>
            <a:off x="381150" y="1479750"/>
            <a:ext cx="8520600" cy="4947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b="1" i="1" lang="en" sz="1600"/>
              <a:t>We will split up into two groups and present </a:t>
            </a:r>
            <a:r>
              <a:rPr b="1" i="1" lang="en" sz="1600"/>
              <a:t>arguments and evidence for each case:</a:t>
            </a:r>
            <a:endParaRPr b="1" i="1" sz="1600"/>
          </a:p>
        </p:txBody>
      </p:sp>
      <p:sp>
        <p:nvSpPr>
          <p:cNvPr id="159" name="Google Shape;159;p33"/>
          <p:cNvSpPr txBox="1"/>
          <p:nvPr/>
        </p:nvSpPr>
        <p:spPr>
          <a:xfrm>
            <a:off x="382475" y="3809550"/>
            <a:ext cx="842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Each group will be made up of 3 teams and together will present 3 arguments with evidence. </a:t>
            </a:r>
            <a:endParaRPr b="1"/>
          </a:p>
          <a:p>
            <a:pPr indent="0" lvl="0" marL="0" rtl="0" algn="l">
              <a:spcBef>
                <a:spcPts val="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Debate Format</a:t>
            </a:r>
            <a:endParaRPr/>
          </a:p>
        </p:txBody>
      </p:sp>
      <p:sp>
        <p:nvSpPr>
          <p:cNvPr id="165" name="Google Shape;165;p34"/>
          <p:cNvSpPr txBox="1"/>
          <p:nvPr>
            <p:ph idx="1" type="body"/>
          </p:nvPr>
        </p:nvSpPr>
        <p:spPr>
          <a:xfrm>
            <a:off x="3169500" y="615600"/>
            <a:ext cx="5561400" cy="7296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365"/>
              <a:t>Each team will have 2 mins to present</a:t>
            </a:r>
            <a:endParaRPr sz="1365"/>
          </a:p>
          <a:p>
            <a:pPr indent="0" lvl="0" marL="0" rtl="0" algn="l">
              <a:lnSpc>
                <a:spcPct val="95000"/>
              </a:lnSpc>
              <a:spcBef>
                <a:spcPts val="1200"/>
              </a:spcBef>
              <a:spcAft>
                <a:spcPts val="1200"/>
              </a:spcAft>
              <a:buSzPts val="1018"/>
              <a:buNone/>
            </a:pPr>
            <a:r>
              <a:rPr lang="en" sz="1365"/>
              <a:t>We will have three rounds of debate and alternate between teams. </a:t>
            </a:r>
            <a:endParaRPr sz="1365"/>
          </a:p>
        </p:txBody>
      </p:sp>
      <p:sp>
        <p:nvSpPr>
          <p:cNvPr id="166" name="Google Shape;166;p34"/>
          <p:cNvSpPr txBox="1"/>
          <p:nvPr>
            <p:ph idx="1" type="body"/>
          </p:nvPr>
        </p:nvSpPr>
        <p:spPr>
          <a:xfrm>
            <a:off x="713658" y="1688870"/>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1 - Argument #1</a:t>
            </a:r>
            <a:endParaRPr b="1"/>
          </a:p>
        </p:txBody>
      </p:sp>
      <p:sp>
        <p:nvSpPr>
          <p:cNvPr id="167" name="Google Shape;167;p34"/>
          <p:cNvSpPr txBox="1"/>
          <p:nvPr>
            <p:ph idx="4294967295" type="body"/>
          </p:nvPr>
        </p:nvSpPr>
        <p:spPr>
          <a:xfrm>
            <a:off x="4572000" y="168887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1 - Argument #1</a:t>
            </a:r>
            <a:endParaRPr b="1" sz="1250"/>
          </a:p>
        </p:txBody>
      </p:sp>
      <p:sp>
        <p:nvSpPr>
          <p:cNvPr id="168" name="Google Shape;168;p34"/>
          <p:cNvSpPr txBox="1"/>
          <p:nvPr/>
        </p:nvSpPr>
        <p:spPr>
          <a:xfrm>
            <a:off x="0" y="0"/>
            <a:ext cx="883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dk1"/>
                </a:solidFill>
              </a:rPr>
              <a:t>Does AI Make Better Decisions than People?</a:t>
            </a:r>
            <a:endParaRPr sz="2800">
              <a:solidFill>
                <a:schemeClr val="dk1"/>
              </a:solidFill>
            </a:endParaRPr>
          </a:p>
        </p:txBody>
      </p:sp>
      <p:sp>
        <p:nvSpPr>
          <p:cNvPr id="169" name="Google Shape;169;p34"/>
          <p:cNvSpPr txBox="1"/>
          <p:nvPr/>
        </p:nvSpPr>
        <p:spPr>
          <a:xfrm>
            <a:off x="713658" y="1277825"/>
            <a:ext cx="77796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1 </a:t>
            </a:r>
            <a:endParaRPr/>
          </a:p>
        </p:txBody>
      </p:sp>
      <p:sp>
        <p:nvSpPr>
          <p:cNvPr id="170" name="Google Shape;170;p34"/>
          <p:cNvSpPr txBox="1"/>
          <p:nvPr>
            <p:ph idx="1" type="body"/>
          </p:nvPr>
        </p:nvSpPr>
        <p:spPr>
          <a:xfrm>
            <a:off x="713658" y="2980616"/>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2 - Argument #2</a:t>
            </a:r>
            <a:endParaRPr b="1"/>
          </a:p>
        </p:txBody>
      </p:sp>
      <p:sp>
        <p:nvSpPr>
          <p:cNvPr id="171" name="Google Shape;171;p34"/>
          <p:cNvSpPr txBox="1"/>
          <p:nvPr>
            <p:ph idx="4294967295" type="body"/>
          </p:nvPr>
        </p:nvSpPr>
        <p:spPr>
          <a:xfrm>
            <a:off x="4572075" y="298062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2 - Argument #2</a:t>
            </a:r>
            <a:endParaRPr b="1" sz="1250"/>
          </a:p>
        </p:txBody>
      </p:sp>
      <p:sp>
        <p:nvSpPr>
          <p:cNvPr id="172" name="Google Shape;172;p34"/>
          <p:cNvSpPr txBox="1"/>
          <p:nvPr/>
        </p:nvSpPr>
        <p:spPr>
          <a:xfrm>
            <a:off x="685275" y="2569571"/>
            <a:ext cx="77796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2</a:t>
            </a:r>
            <a:endParaRPr/>
          </a:p>
        </p:txBody>
      </p:sp>
      <p:sp>
        <p:nvSpPr>
          <p:cNvPr id="173" name="Google Shape;173;p34"/>
          <p:cNvSpPr txBox="1"/>
          <p:nvPr>
            <p:ph idx="1" type="body"/>
          </p:nvPr>
        </p:nvSpPr>
        <p:spPr>
          <a:xfrm>
            <a:off x="713658" y="4207775"/>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3 - Argument #3</a:t>
            </a:r>
            <a:endParaRPr b="1"/>
          </a:p>
        </p:txBody>
      </p:sp>
      <p:sp>
        <p:nvSpPr>
          <p:cNvPr id="174" name="Google Shape;174;p34"/>
          <p:cNvSpPr txBox="1"/>
          <p:nvPr>
            <p:ph idx="4294967295" type="body"/>
          </p:nvPr>
        </p:nvSpPr>
        <p:spPr>
          <a:xfrm>
            <a:off x="4572150" y="420777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3 - Argument #3</a:t>
            </a:r>
            <a:endParaRPr b="1" sz="1250"/>
          </a:p>
        </p:txBody>
      </p:sp>
      <p:sp>
        <p:nvSpPr>
          <p:cNvPr id="175" name="Google Shape;175;p34"/>
          <p:cNvSpPr txBox="1"/>
          <p:nvPr/>
        </p:nvSpPr>
        <p:spPr>
          <a:xfrm>
            <a:off x="713658" y="3830266"/>
            <a:ext cx="77514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3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We will use the following </a:t>
            </a:r>
            <a:r>
              <a:rPr lang="en"/>
              <a:t>videos and article to help us prepare our cases</a:t>
            </a:r>
            <a:endParaRPr/>
          </a:p>
        </p:txBody>
      </p:sp>
      <p:sp>
        <p:nvSpPr>
          <p:cNvPr id="181" name="Google Shape;181;p35"/>
          <p:cNvSpPr txBox="1"/>
          <p:nvPr>
            <p:ph idx="1" type="body"/>
          </p:nvPr>
        </p:nvSpPr>
        <p:spPr>
          <a:xfrm>
            <a:off x="311700" y="1327350"/>
            <a:ext cx="8520600" cy="3684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Things to consider when putting together your case:</a:t>
            </a:r>
            <a:endParaRPr b="1"/>
          </a:p>
          <a:p>
            <a:pPr indent="-334327" lvl="0" marL="457200" rtl="0" algn="l">
              <a:spcBef>
                <a:spcPts val="1200"/>
              </a:spcBef>
              <a:spcAft>
                <a:spcPts val="0"/>
              </a:spcAft>
              <a:buSzPct val="100000"/>
              <a:buChar char="●"/>
            </a:pPr>
            <a:r>
              <a:rPr lang="en"/>
              <a:t>Advantages or Disadvantages of using AI to make decisions</a:t>
            </a:r>
            <a:endParaRPr/>
          </a:p>
          <a:p>
            <a:pPr indent="-334327" lvl="0" marL="457200" rtl="0" algn="l">
              <a:spcBef>
                <a:spcPts val="0"/>
              </a:spcBef>
              <a:spcAft>
                <a:spcPts val="0"/>
              </a:spcAft>
              <a:buSzPct val="100000"/>
              <a:buChar char="●"/>
            </a:pPr>
            <a:r>
              <a:rPr lang="en"/>
              <a:t>Types of decisions being made</a:t>
            </a:r>
            <a:endParaRPr/>
          </a:p>
          <a:p>
            <a:pPr indent="-334327" lvl="0" marL="457200" rtl="0" algn="l">
              <a:spcBef>
                <a:spcPts val="0"/>
              </a:spcBef>
              <a:spcAft>
                <a:spcPts val="0"/>
              </a:spcAft>
              <a:buSzPct val="100000"/>
              <a:buChar char="●"/>
            </a:pPr>
            <a:r>
              <a:rPr lang="en"/>
              <a:t>How decisions are being made</a:t>
            </a:r>
            <a:endParaRPr/>
          </a:p>
          <a:p>
            <a:pPr indent="-334327" lvl="0" marL="457200" rtl="0" algn="l">
              <a:spcBef>
                <a:spcPts val="0"/>
              </a:spcBef>
              <a:spcAft>
                <a:spcPts val="0"/>
              </a:spcAft>
              <a:buSzPct val="100000"/>
              <a:buChar char="●"/>
            </a:pPr>
            <a:r>
              <a:rPr lang="en"/>
              <a:t>Sources of data and potential biases in data or decision making</a:t>
            </a:r>
            <a:endParaRPr/>
          </a:p>
          <a:p>
            <a:pPr indent="-334327" lvl="0" marL="457200" rtl="0" algn="l">
              <a:spcBef>
                <a:spcPts val="0"/>
              </a:spcBef>
              <a:spcAft>
                <a:spcPts val="0"/>
              </a:spcAft>
              <a:buSzPct val="100000"/>
              <a:buChar char="●"/>
            </a:pPr>
            <a:r>
              <a:rPr lang="en"/>
              <a:t>Concerns about using AI</a:t>
            </a:r>
            <a:endParaRPr/>
          </a:p>
          <a:p>
            <a:pPr indent="-334327" lvl="0" marL="457200" rtl="0" algn="l">
              <a:spcBef>
                <a:spcPts val="0"/>
              </a:spcBef>
              <a:spcAft>
                <a:spcPts val="0"/>
              </a:spcAft>
              <a:buSzPct val="100000"/>
              <a:buChar char="●"/>
            </a:pPr>
            <a:r>
              <a:rPr lang="en"/>
              <a:t>Who is impacted by AI decisions</a:t>
            </a:r>
            <a:endParaRPr/>
          </a:p>
          <a:p>
            <a:pPr indent="-334327" lvl="0" marL="457200" rtl="0" algn="l">
              <a:spcBef>
                <a:spcPts val="0"/>
              </a:spcBef>
              <a:spcAft>
                <a:spcPts val="0"/>
              </a:spcAft>
              <a:buSzPct val="100000"/>
              <a:buChar char="●"/>
            </a:pPr>
            <a:r>
              <a:rPr lang="en"/>
              <a:t>What are the Impacts on people </a:t>
            </a:r>
            <a:endParaRPr/>
          </a:p>
          <a:p>
            <a:pPr indent="-334327" lvl="0" marL="457200" rtl="0" algn="l">
              <a:spcBef>
                <a:spcPts val="0"/>
              </a:spcBef>
              <a:spcAft>
                <a:spcPts val="0"/>
              </a:spcAft>
              <a:buSzPct val="100000"/>
              <a:buChar char="●"/>
            </a:pPr>
            <a:r>
              <a:rPr lang="en"/>
              <a:t>What kinds of things do we need to consider with using AI?</a:t>
            </a:r>
            <a:endParaRPr/>
          </a:p>
          <a:p>
            <a:pPr indent="-334327" lvl="0" marL="457200" rtl="0" algn="l">
              <a:spcBef>
                <a:spcPts val="0"/>
              </a:spcBef>
              <a:spcAft>
                <a:spcPts val="0"/>
              </a:spcAft>
              <a:buSzPct val="100000"/>
              <a:buChar char="●"/>
            </a:pPr>
            <a:r>
              <a:rPr lang="en"/>
              <a:t>Should AI be used independently or with people?</a:t>
            </a:r>
            <a:endParaRPr/>
          </a:p>
          <a:p>
            <a:pPr indent="-334327" lvl="0" marL="457200" rtl="0" algn="l">
              <a:spcBef>
                <a:spcPts val="0"/>
              </a:spcBef>
              <a:spcAft>
                <a:spcPts val="0"/>
              </a:spcAft>
              <a:buSzPct val="100000"/>
              <a:buChar char="●"/>
            </a:pPr>
            <a:r>
              <a:rPr lang="en"/>
              <a:t>Who is using AI to make decisions?</a:t>
            </a:r>
            <a:endParaRPr/>
          </a:p>
          <a:p>
            <a:pPr indent="-334327" lvl="0" marL="457200" rtl="0" algn="l">
              <a:spcBef>
                <a:spcPts val="0"/>
              </a:spcBef>
              <a:spcAft>
                <a:spcPts val="0"/>
              </a:spcAft>
              <a:buSzPct val="100000"/>
              <a:buChar char="●"/>
            </a:pPr>
            <a:r>
              <a:rPr lang="en"/>
              <a:t>Human Rights that need to be protected</a:t>
            </a:r>
            <a:endParaRPr/>
          </a:p>
          <a:p>
            <a:pPr indent="0" lvl="0" marL="0" rtl="0" algn="l">
              <a:spcBef>
                <a:spcPts val="1200"/>
              </a:spcBef>
              <a:spcAft>
                <a:spcPts val="1200"/>
              </a:spcAft>
              <a:buNone/>
            </a:pPr>
            <a:r>
              <a:t/>
            </a:r>
            <a:endParaRPr/>
          </a:p>
        </p:txBody>
      </p:sp>
      <p:sp>
        <p:nvSpPr>
          <p:cNvPr id="182" name="Google Shape;182;p35"/>
          <p:cNvSpPr txBox="1"/>
          <p:nvPr/>
        </p:nvSpPr>
        <p:spPr>
          <a:xfrm>
            <a:off x="6251325" y="1200150"/>
            <a:ext cx="247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Artificial Intelligence</a:t>
            </a:r>
            <a:endParaRPr/>
          </a:p>
        </p:txBody>
      </p:sp>
      <p:sp>
        <p:nvSpPr>
          <p:cNvPr id="188" name="Google Shape;188;p36"/>
          <p:cNvSpPr txBox="1"/>
          <p:nvPr>
            <p:ph idx="1" type="body"/>
          </p:nvPr>
        </p:nvSpPr>
        <p:spPr>
          <a:xfrm>
            <a:off x="2252000" y="4377375"/>
            <a:ext cx="4355100" cy="414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u="sng">
                <a:solidFill>
                  <a:schemeClr val="hlink"/>
                </a:solidFill>
                <a:hlinkClick r:id="rId3"/>
              </a:rPr>
              <a:t>https://youtu.be/QfY3AhKmB3c</a:t>
            </a:r>
            <a:r>
              <a:rPr lang="en"/>
              <a:t> (2 min 25 sec)</a:t>
            </a:r>
            <a:endParaRPr/>
          </a:p>
        </p:txBody>
      </p:sp>
      <p:pic>
        <p:nvPicPr>
          <p:cNvPr descr="#AI #ArtificialIntelligence #TrendingTechnologies&#10;&#10;In this video we will talk about the main advantages of AI.&#10;Some of the benefits already exist, others will come soon.&#10;Enjoy viewing.&#10;More about AI Advantages and Disadvantages you can read at our blog - https://www.zfort.com/blog/pros-and-cons-of-ai&#10;&#10;► Would you like to stay tuned?◄&#10; &#10;► Subscribe to our channel&#10;https://bit.ly/2FWD5SW  &#10; &#10;►Join us on social networks for more on AI:&#10; &#10;✔ Facebook:&#10;https://www.facebook.com/zfortgroup/&#10;✔ Twitter:&#10;https://twitter.com/zfort&#10;✔ LinkedIn:&#10;https://www.linkedin.com/company/436691 &#10; &#10;►Stay awesome!&#10; &#10;Still here? Wow! Perhaps, you still have some questions unanswered and wrap your head around the ways of using the latest tech for your software product scaling? Think no more and get in touch with one of our tech gurus and don’t waste the time!&#10; &#10;► https://bit.ly/2sHboFU ◄&#10;&#10;&#10;&#10;Main points that we discuss &#10;&#10;Main Advantages of AI&#10;&#10;AI is becoming popular among companies of all sizes. It drives dramatic transformations across various organizations and industries. So, it would be useful to get into some exciting pros of these changes.&#10;&#10;LESS ROUTINE&#10;&#10;Artificial intelligence brings about evolution by automating our day-to-day work.&#10;&#10;Undoubtedly, machines surpass humanity in meticulous tasks. With routine tasks automated, the robots can assume work related to analyses, subtle judgments, and problem-solving. &#10;&#10;Thus, applying artificial intelligence at work will decrease the workload, empower humans to upgrade their skills. Free from monotonous work, employees will be able to focus on the creative aspects of their jobs. Eventually, this combination of man and machine will make the world a better place.&#10;&#10;LESS RISK&#10;&#10;Employing AI capabilities for dangerous tasks will reduce the risk to human well-being and safety. Artificial intelligence technologies will overcome many limitations. For example, it can help to predict wildfire threats and fight it with the help of drones. Aside from that, artificial intelligence takes part in tackling one of the primary causes of climate change - deforestation. AI systems can detect and transmit sounds of illegal logging. Modern AI-driven robotics and autonomous underwater vehicles allow access to the seabed to collect marine ecosystem data and shed new light on the variety of species.&#10;&#10;AI-powered robots can handle radiation, so they are frequently used in the nuclear energy industry to remove pieces of debris, especially after disasters. Even if they do not eliminate the danger, robots bring great value helping to deal with a catastrophe. &#10;&#10;NO HUMAN ERROR&#10;&#10;Human beings are prone to physiology, fatigue, stress, emotions, aging, etc. All of these might poorly reflect on decision-making. For example, an overly-stressed doctor or pilot of a falling plane might make a fatal mistake, which will lead to a tragedy, to say nothing of the accidents caused by drunk drivers. &#10;&#10;AI computers are error-free (if adequately programmed, of course). &#10;&#10;Industries that aim at ensuring a high level of correctness and precision can benefit from adopting artificially intelligent machines. Eliminating costly errors leads these businesses to higher output. Unlike emotional humanity, customized AI can improve the decision-making process, when its set of algorithms uses nothing but previously collected information." id="189" name="Google Shape;189;p36" title="Advantages of Artificial Intelligence (AI)">
            <a:hlinkClick r:id="rId4"/>
          </p:cNvPr>
          <p:cNvPicPr preferRelativeResize="0"/>
          <p:nvPr/>
        </p:nvPicPr>
        <p:blipFill>
          <a:blip r:embed="rId5">
            <a:alphaModFix/>
          </a:blip>
          <a:stretch>
            <a:fillRect/>
          </a:stretch>
        </p:blipFill>
        <p:spPr>
          <a:xfrm>
            <a:off x="2684100" y="1379225"/>
            <a:ext cx="3775800" cy="2831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AI Make Better Decisions than People?</a:t>
            </a:r>
            <a:endParaRPr/>
          </a:p>
        </p:txBody>
      </p:sp>
      <p:sp>
        <p:nvSpPr>
          <p:cNvPr id="195" name="Google Shape;195;p37"/>
          <p:cNvSpPr txBox="1"/>
          <p:nvPr>
            <p:ph idx="1" type="body"/>
          </p:nvPr>
        </p:nvSpPr>
        <p:spPr>
          <a:xfrm>
            <a:off x="2167400" y="4114800"/>
            <a:ext cx="3723000" cy="454200"/>
          </a:xfrm>
          <a:prstGeom prst="rect">
            <a:avLst/>
          </a:prstGeom>
        </p:spPr>
        <p:txBody>
          <a:bodyPr anchorCtr="0" anchor="t" bIns="91425" lIns="91425" spcFirstLastPara="1" rIns="91425" wrap="square" tIns="91425">
            <a:normAutofit fontScale="47500" lnSpcReduction="10000"/>
          </a:bodyPr>
          <a:lstStyle/>
          <a:p>
            <a:pPr indent="0" lvl="0" marL="0" rtl="0" algn="ctr">
              <a:spcBef>
                <a:spcPts val="0"/>
              </a:spcBef>
              <a:spcAft>
                <a:spcPts val="1200"/>
              </a:spcAft>
              <a:buNone/>
            </a:pPr>
            <a:r>
              <a:rPr lang="en" u="sng">
                <a:solidFill>
                  <a:schemeClr val="hlink"/>
                </a:solidFill>
                <a:hlinkClick r:id="rId3"/>
              </a:rPr>
              <a:t>https://www.youtube.com/watch?v=2E7l1hdjHsg</a:t>
            </a:r>
            <a:r>
              <a:rPr lang="en"/>
              <a:t> </a:t>
            </a:r>
            <a:br>
              <a:rPr lang="en"/>
            </a:br>
            <a:r>
              <a:rPr lang="en"/>
              <a:t>(5 mins, 33)</a:t>
            </a:r>
            <a:endParaRPr/>
          </a:p>
        </p:txBody>
      </p:sp>
      <p:pic>
        <p:nvPicPr>
          <p:cNvPr descr="Do you think that you are always making decisions by yourself? Maybe not. &#10;Your decisions may be guided by Artificial Intelligence (AI). We make many decisions everyday, where to go, what to eat, what to buy, what to read, who to meet… You may listen to someone’s advice, look for reviews to make your choices. But what happens if such information is biased? &#10;&#10;AI is increasingly used to assist in decision making. AI collects and analyze a large amount of data and present you its conclusions. AI is not only used for shopping and restaurant advice, but also for more critical decision makings in our society such as medical treatment, verdict, health insurance, etc.&#10;&#10;What are the ethical concerns in using AI for decision making? What do we need to know?&#10;&#10;A new video “Does AI make better decisions than humans?” of the video series “Thinking Ethics of AI” is now available with English, French, Japanese and other languages subtitles.&#10;&#10;&#10;L'IA prend-elle de meilleures décisions que les humains ? Penser l’éthique de l'IA&#10;&#10;Pensez-vous toujours prendre vos décisions par vous-même ? Ce n’est peut-être pas le cas.&#10;Vos décisions sont en effet peut-être guidées par une intelligence artificielle (IA). Nous prenons de nombreuses décisions chaque jour : où aller, quoi manger, quoi acheter, quoi lire, qui rencontrer... Vous pouvez écouter les conseils d’un proche, chercher des critiques pour vous aider à faire vos choix, mais que se passe-t-il si ces informations sont biaisées ? &#10;&#10;L'IA est de plus en plus utilisée pour aider à la prise de décision. L'IA collecte et analyse un grand nombre de données et vous présente ses conclusions. Cela peut être de simples conseils en matière de shopping ou des choix de restaurants, mais l'IA est désormais aussi utilisée pour des prises de décision cruciales dans nos sociétés, telles que le traitement médical, les verdicts, l'assurance maladie, etc.&#10;&#10;Quelles sont les préoccupations éthiques liées à l'utilisation de l'IA pour la prise de décision ? Que devons-nous savoir ?&#10;&#10;Une nouvelle vidéo « L'IA prend-elle de meilleures décisions que les humains ? » de la série intitulée « Penser l'éthique de l'IA » est maintenant disponible avec des sous-titres en anglais, français, japonais et d'autres langues." id="196" name="Google Shape;196;p37" title="Does AI make better decisions than humans? Thinking Ethics of AI">
            <a:hlinkClick r:id="rId4"/>
          </p:cNvPr>
          <p:cNvPicPr preferRelativeResize="0"/>
          <p:nvPr/>
        </p:nvPicPr>
        <p:blipFill>
          <a:blip r:embed="rId5">
            <a:alphaModFix/>
          </a:blip>
          <a:stretch>
            <a:fillRect/>
          </a:stretch>
        </p:blipFill>
        <p:spPr>
          <a:xfrm>
            <a:off x="2238750" y="1170125"/>
            <a:ext cx="3723034" cy="2792275"/>
          </a:xfrm>
          <a:prstGeom prst="rect">
            <a:avLst/>
          </a:prstGeom>
          <a:noFill/>
          <a:ln>
            <a:noFill/>
          </a:ln>
        </p:spPr>
      </p:pic>
      <p:sp>
        <p:nvSpPr>
          <p:cNvPr id="197" name="Google Shape;197;p37"/>
          <p:cNvSpPr txBox="1"/>
          <p:nvPr/>
        </p:nvSpPr>
        <p:spPr>
          <a:xfrm>
            <a:off x="4795075" y="1061875"/>
            <a:ext cx="40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Accountable AI decision making: Human Rights and Technology 2021</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203" name="Google Shape;203;p38"/>
          <p:cNvSpPr txBox="1"/>
          <p:nvPr>
            <p:ph idx="1" type="body"/>
          </p:nvPr>
        </p:nvSpPr>
        <p:spPr>
          <a:xfrm>
            <a:off x="311700" y="4395475"/>
            <a:ext cx="8520600" cy="402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u="sng">
                <a:solidFill>
                  <a:schemeClr val="hlink"/>
                </a:solidFill>
                <a:hlinkClick r:id="rId3"/>
              </a:rPr>
              <a:t>https://www.youtube.com/watch?v=LZPBqTJd8ek</a:t>
            </a:r>
            <a:r>
              <a:rPr lang="en"/>
              <a:t> (1 min 23 sec)</a:t>
            </a:r>
            <a:endParaRPr/>
          </a:p>
        </p:txBody>
      </p:sp>
      <p:pic>
        <p:nvPicPr>
          <p:cNvPr descr="Artificial Intelligence offers great opportunities – but it also has the potential to do great harm. The Australian Human Rights Commission’s new Human Rights and Technology report recommends safeguards to protect the community, as Human Rights Commissioner Ed Santow explains.&#10;&#10;Read more: https://tech.humanrights.gov.au" id="204" name="Google Shape;204;p38" title="Accountable AI decision making: Human Rights and Technology 2021">
            <a:hlinkClick r:id="rId4"/>
          </p:cNvPr>
          <p:cNvPicPr preferRelativeResize="0"/>
          <p:nvPr/>
        </p:nvPicPr>
        <p:blipFill>
          <a:blip r:embed="rId5">
            <a:alphaModFix/>
          </a:blip>
          <a:stretch>
            <a:fillRect/>
          </a:stretch>
        </p:blipFill>
        <p:spPr>
          <a:xfrm>
            <a:off x="2375725" y="1322525"/>
            <a:ext cx="4097267" cy="3072950"/>
          </a:xfrm>
          <a:prstGeom prst="rect">
            <a:avLst/>
          </a:prstGeom>
          <a:noFill/>
          <a:ln>
            <a:noFill/>
          </a:ln>
        </p:spPr>
      </p:pic>
      <p:sp>
        <p:nvSpPr>
          <p:cNvPr id="205" name="Google Shape;205;p38"/>
          <p:cNvSpPr txBox="1"/>
          <p:nvPr/>
        </p:nvSpPr>
        <p:spPr>
          <a:xfrm>
            <a:off x="6000750" y="4576400"/>
            <a:ext cx="284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6"/>
              </a:rPr>
              <a:t>High-level summary report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Decision making: the future of business intelligence</a:t>
            </a:r>
            <a:endParaRPr/>
          </a:p>
        </p:txBody>
      </p:sp>
      <p:sp>
        <p:nvSpPr>
          <p:cNvPr id="211" name="Google Shape;211;p39"/>
          <p:cNvSpPr txBox="1"/>
          <p:nvPr>
            <p:ph idx="1" type="body"/>
          </p:nvPr>
        </p:nvSpPr>
        <p:spPr>
          <a:xfrm>
            <a:off x="311700" y="4544125"/>
            <a:ext cx="8520600" cy="32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050"/>
              <a:t>Article - </a:t>
            </a:r>
            <a:r>
              <a:rPr lang="en" sz="1050" u="sng">
                <a:solidFill>
                  <a:schemeClr val="hlink"/>
                </a:solidFill>
                <a:hlinkClick r:id="rId3"/>
              </a:rPr>
              <a:t>https://peak.ai/hub/blog/ai-decision-making-the-future-of-business-intelligence/</a:t>
            </a:r>
            <a:endParaRPr sz="1050"/>
          </a:p>
          <a:p>
            <a:pPr indent="0" lvl="0" marL="0" rtl="0" algn="l">
              <a:lnSpc>
                <a:spcPct val="95000"/>
              </a:lnSpc>
              <a:spcBef>
                <a:spcPts val="1200"/>
              </a:spcBef>
              <a:spcAft>
                <a:spcPts val="1200"/>
              </a:spcAft>
              <a:buSzPts val="275"/>
              <a:buNone/>
            </a:pPr>
            <a:r>
              <a:t/>
            </a:r>
            <a:endParaRPr sz="1050"/>
          </a:p>
        </p:txBody>
      </p:sp>
      <p:pic>
        <p:nvPicPr>
          <p:cNvPr id="212" name="Google Shape;212;p39"/>
          <p:cNvPicPr preferRelativeResize="0"/>
          <p:nvPr/>
        </p:nvPicPr>
        <p:blipFill>
          <a:blip r:embed="rId4">
            <a:alphaModFix/>
          </a:blip>
          <a:stretch>
            <a:fillRect/>
          </a:stretch>
        </p:blipFill>
        <p:spPr>
          <a:xfrm>
            <a:off x="2299025" y="1322525"/>
            <a:ext cx="4278686" cy="32215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focus on the positives of AI</a:t>
            </a:r>
            <a:endParaRPr/>
          </a:p>
        </p:txBody>
      </p:sp>
      <p:sp>
        <p:nvSpPr>
          <p:cNvPr id="218" name="Google Shape;218;p40"/>
          <p:cNvSpPr txBox="1"/>
          <p:nvPr>
            <p:ph idx="1" type="body"/>
          </p:nvPr>
        </p:nvSpPr>
        <p:spPr>
          <a:xfrm>
            <a:off x="291275" y="4592450"/>
            <a:ext cx="8520600" cy="470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u="sng">
                <a:solidFill>
                  <a:srgbClr val="1155CC"/>
                </a:solidFill>
                <a:hlinkClick r:id="rId3">
                  <a:extLst>
                    <a:ext uri="{A12FA001-AC4F-418D-AE19-62706E023703}">
                      <ahyp:hlinkClr val="tx"/>
                    </a:ext>
                  </a:extLst>
                </a:hlinkClick>
              </a:rPr>
              <a:t>https://www.forbes.com/sites/danielnewman/2020/02/06/why-we-need-to-focus-on-the-positives-of-ai/?sh=40603ce775ae</a:t>
            </a:r>
            <a:endParaRPr/>
          </a:p>
        </p:txBody>
      </p:sp>
      <p:pic>
        <p:nvPicPr>
          <p:cNvPr id="219" name="Google Shape;219;p40"/>
          <p:cNvPicPr preferRelativeResize="0"/>
          <p:nvPr/>
        </p:nvPicPr>
        <p:blipFill>
          <a:blip r:embed="rId4">
            <a:alphaModFix/>
          </a:blip>
          <a:stretch>
            <a:fillRect/>
          </a:stretch>
        </p:blipFill>
        <p:spPr>
          <a:xfrm>
            <a:off x="311700" y="1295600"/>
            <a:ext cx="5910782" cy="2775550"/>
          </a:xfrm>
          <a:prstGeom prst="rect">
            <a:avLst/>
          </a:prstGeom>
          <a:noFill/>
          <a:ln>
            <a:noFill/>
          </a:ln>
        </p:spPr>
      </p:pic>
      <p:pic>
        <p:nvPicPr>
          <p:cNvPr id="220" name="Google Shape;220;p40"/>
          <p:cNvPicPr preferRelativeResize="0"/>
          <p:nvPr/>
        </p:nvPicPr>
        <p:blipFill>
          <a:blip r:embed="rId5">
            <a:alphaModFix/>
          </a:blip>
          <a:stretch>
            <a:fillRect/>
          </a:stretch>
        </p:blipFill>
        <p:spPr>
          <a:xfrm>
            <a:off x="5372951" y="2143525"/>
            <a:ext cx="3771049" cy="2285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4" name="Shape 224"/>
        <p:cNvGrpSpPr/>
        <p:nvPr/>
      </p:nvGrpSpPr>
      <p:grpSpPr>
        <a:xfrm>
          <a:off x="0" y="0"/>
          <a:ext cx="0" cy="0"/>
          <a:chOff x="0" y="0"/>
          <a:chExt cx="0" cy="0"/>
        </a:xfrm>
      </p:grpSpPr>
      <p:sp>
        <p:nvSpPr>
          <p:cNvPr id="225" name="Google Shape;225;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880">
                <a:solidFill>
                  <a:srgbClr val="FFFFFF"/>
                </a:solidFill>
              </a:rPr>
              <a:t>The following two pages may help structure or </a:t>
            </a:r>
            <a:r>
              <a:rPr lang="en" sz="3880">
                <a:solidFill>
                  <a:srgbClr val="FFFFFF"/>
                </a:solidFill>
              </a:rPr>
              <a:t>scaffold</a:t>
            </a:r>
            <a:r>
              <a:rPr lang="en" sz="3880">
                <a:solidFill>
                  <a:srgbClr val="FFFFFF"/>
                </a:solidFill>
              </a:rPr>
              <a:t> how teams in defining </a:t>
            </a:r>
            <a:r>
              <a:rPr lang="en" sz="3880">
                <a:solidFill>
                  <a:srgbClr val="FFFFFF"/>
                </a:solidFill>
              </a:rPr>
              <a:t>their</a:t>
            </a:r>
            <a:r>
              <a:rPr lang="en" sz="3880">
                <a:solidFill>
                  <a:srgbClr val="FFFFFF"/>
                </a:solidFill>
              </a:rPr>
              <a:t> arguments. </a:t>
            </a:r>
            <a:endParaRPr sz="3880">
              <a:solidFill>
                <a:srgbClr val="FFFFFF"/>
              </a:solidFill>
            </a:endParaRPr>
          </a:p>
        </p:txBody>
      </p:sp>
      <p:sp>
        <p:nvSpPr>
          <p:cNvPr id="226" name="Google Shape;226;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i="1" lang="en">
                <a:solidFill>
                  <a:schemeClr val="lt1"/>
                </a:solidFill>
              </a:rPr>
              <a:t>Use only if they are helpful or </a:t>
            </a:r>
            <a:endParaRPr i="1">
              <a:solidFill>
                <a:schemeClr val="lt1"/>
              </a:solidFill>
            </a:endParaRPr>
          </a:p>
          <a:p>
            <a:pPr indent="0" lvl="0" marL="0" rtl="0" algn="ctr">
              <a:spcBef>
                <a:spcPts val="0"/>
              </a:spcBef>
              <a:spcAft>
                <a:spcPts val="0"/>
              </a:spcAft>
              <a:buNone/>
            </a:pPr>
            <a:r>
              <a:rPr i="1" lang="en">
                <a:solidFill>
                  <a:schemeClr val="lt1"/>
                </a:solidFill>
              </a:rPr>
              <a:t>reformat in whatever ways best serve your students.</a:t>
            </a:r>
            <a:endParaRPr i="1">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445025"/>
            <a:ext cx="8520600" cy="572700"/>
          </a:xfrm>
          <a:prstGeom prst="rect">
            <a:avLst/>
          </a:prstGeom>
          <a:solidFill>
            <a:srgbClr val="D9EAD3"/>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Yes, AI makes better decisions than people because</a:t>
            </a:r>
            <a:endParaRPr/>
          </a:p>
        </p:txBody>
      </p:sp>
      <p:sp>
        <p:nvSpPr>
          <p:cNvPr id="232" name="Google Shape;23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solves problem  __________________</a:t>
            </a:r>
            <a:endParaRPr/>
          </a:p>
          <a:p>
            <a:pPr indent="0" lvl="0" marL="0" rtl="0" algn="l">
              <a:spcBef>
                <a:spcPts val="1200"/>
              </a:spcBef>
              <a:spcAft>
                <a:spcPts val="0"/>
              </a:spcAft>
              <a:buNone/>
            </a:pPr>
            <a:r>
              <a:rPr lang="en"/>
              <a:t>Benefit ______________________</a:t>
            </a:r>
            <a:endParaRPr/>
          </a:p>
          <a:p>
            <a:pPr indent="0" lvl="0" marL="0" rtl="0" algn="l">
              <a:spcBef>
                <a:spcPts val="1200"/>
              </a:spcBef>
              <a:spcAft>
                <a:spcPts val="0"/>
              </a:spcAft>
              <a:buNone/>
            </a:pPr>
            <a:r>
              <a:rPr lang="en"/>
              <a:t>Who this solution benefits  ____________________</a:t>
            </a:r>
            <a:endParaRPr/>
          </a:p>
          <a:p>
            <a:pPr indent="0" lvl="0" marL="0" rtl="0" algn="l">
              <a:spcBef>
                <a:spcPts val="1200"/>
              </a:spcBef>
              <a:spcAft>
                <a:spcPts val="0"/>
              </a:spcAft>
              <a:buNone/>
            </a:pPr>
            <a:r>
              <a:rPr lang="en"/>
              <a:t>Examples or other evidence to consider:</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3"/>
          <p:cNvSpPr txBox="1"/>
          <p:nvPr>
            <p:ph type="title"/>
          </p:nvPr>
        </p:nvSpPr>
        <p:spPr>
          <a:xfrm>
            <a:off x="311700" y="445025"/>
            <a:ext cx="8520600" cy="913500"/>
          </a:xfrm>
          <a:prstGeom prst="rect">
            <a:avLst/>
          </a:prstGeom>
          <a:solidFill>
            <a:srgbClr val="F4CCCC"/>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a:t>
            </a:r>
            <a:r>
              <a:rPr lang="en"/>
              <a:t>, AI does not make better decisions than people because</a:t>
            </a:r>
            <a:endParaRPr/>
          </a:p>
        </p:txBody>
      </p:sp>
      <p:sp>
        <p:nvSpPr>
          <p:cNvPr id="238" name="Google Shape;238;p43"/>
          <p:cNvSpPr txBox="1"/>
          <p:nvPr>
            <p:ph idx="1" type="body"/>
          </p:nvPr>
        </p:nvSpPr>
        <p:spPr>
          <a:xfrm>
            <a:off x="311700" y="15613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a:t>
            </a:r>
            <a:r>
              <a:rPr lang="en"/>
              <a:t>solves</a:t>
            </a:r>
            <a:r>
              <a:rPr lang="en"/>
              <a:t> problem  __________________</a:t>
            </a:r>
            <a:endParaRPr/>
          </a:p>
          <a:p>
            <a:pPr indent="0" lvl="0" marL="0" rtl="0" algn="l">
              <a:spcBef>
                <a:spcPts val="1200"/>
              </a:spcBef>
              <a:spcAft>
                <a:spcPts val="0"/>
              </a:spcAft>
              <a:buClr>
                <a:schemeClr val="dk1"/>
              </a:buClr>
              <a:buSzPts val="1100"/>
              <a:buFont typeface="Arial"/>
              <a:buNone/>
            </a:pPr>
            <a:r>
              <a:rPr lang="en">
                <a:solidFill>
                  <a:schemeClr val="dk1"/>
                </a:solidFill>
              </a:rPr>
              <a:t>Use of AI decision making causes problem  __________________</a:t>
            </a:r>
            <a:endParaRPr/>
          </a:p>
          <a:p>
            <a:pPr indent="0" lvl="0" marL="0" rtl="0" algn="l">
              <a:spcBef>
                <a:spcPts val="1200"/>
              </a:spcBef>
              <a:spcAft>
                <a:spcPts val="0"/>
              </a:spcAft>
              <a:buNone/>
            </a:pPr>
            <a:r>
              <a:rPr lang="en"/>
              <a:t>Disadvantage______________________</a:t>
            </a:r>
            <a:endParaRPr/>
          </a:p>
          <a:p>
            <a:pPr indent="0" lvl="0" marL="0" rtl="0" algn="l">
              <a:spcBef>
                <a:spcPts val="1200"/>
              </a:spcBef>
              <a:spcAft>
                <a:spcPts val="0"/>
              </a:spcAft>
              <a:buNone/>
            </a:pPr>
            <a:r>
              <a:rPr lang="en"/>
              <a:t>Who this solution disadvantages  ____________________</a:t>
            </a:r>
            <a:endParaRPr/>
          </a:p>
          <a:p>
            <a:pPr indent="0" lvl="0" marL="0" rtl="0" algn="l">
              <a:spcBef>
                <a:spcPts val="1200"/>
              </a:spcBef>
              <a:spcAft>
                <a:spcPts val="0"/>
              </a:spcAft>
              <a:buNone/>
            </a:pPr>
            <a:r>
              <a:rPr lang="en"/>
              <a:t>Examples or other evidence to consider:</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4"/>
          <p:cNvSpPr txBox="1"/>
          <p:nvPr>
            <p:ph idx="1" type="body"/>
          </p:nvPr>
        </p:nvSpPr>
        <p:spPr>
          <a:xfrm>
            <a:off x="685275" y="615600"/>
            <a:ext cx="8045700" cy="5445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365"/>
              <a:t>Each team will have 2 mins to present</a:t>
            </a:r>
            <a:endParaRPr sz="1365"/>
          </a:p>
          <a:p>
            <a:pPr indent="0" lvl="0" marL="0" rtl="0" algn="l">
              <a:lnSpc>
                <a:spcPct val="95000"/>
              </a:lnSpc>
              <a:spcBef>
                <a:spcPts val="0"/>
              </a:spcBef>
              <a:spcAft>
                <a:spcPts val="0"/>
              </a:spcAft>
              <a:buSzPts val="1018"/>
              <a:buNone/>
            </a:pPr>
            <a:r>
              <a:rPr lang="en" sz="1365"/>
              <a:t>We will have three rounds of debate and alternate between teams. </a:t>
            </a:r>
            <a:endParaRPr sz="1365"/>
          </a:p>
        </p:txBody>
      </p:sp>
      <p:sp>
        <p:nvSpPr>
          <p:cNvPr id="244" name="Google Shape;244;p44"/>
          <p:cNvSpPr txBox="1"/>
          <p:nvPr>
            <p:ph idx="1" type="body"/>
          </p:nvPr>
        </p:nvSpPr>
        <p:spPr>
          <a:xfrm>
            <a:off x="713658" y="1460270"/>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1 ______________  Argument #1</a:t>
            </a:r>
            <a:endParaRPr b="1"/>
          </a:p>
        </p:txBody>
      </p:sp>
      <p:sp>
        <p:nvSpPr>
          <p:cNvPr id="245" name="Google Shape;245;p44"/>
          <p:cNvSpPr txBox="1"/>
          <p:nvPr>
            <p:ph idx="4294967295" type="body"/>
          </p:nvPr>
        </p:nvSpPr>
        <p:spPr>
          <a:xfrm>
            <a:off x="4572000" y="146027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1</a:t>
            </a:r>
            <a:r>
              <a:rPr lang="en">
                <a:solidFill>
                  <a:schemeClr val="dk1"/>
                </a:solidFill>
              </a:rPr>
              <a:t>______________</a:t>
            </a:r>
            <a:r>
              <a:rPr lang="en" sz="1250">
                <a:solidFill>
                  <a:schemeClr val="dk1"/>
                </a:solidFill>
              </a:rPr>
              <a:t> - Argument #1</a:t>
            </a:r>
            <a:endParaRPr b="1" sz="1250"/>
          </a:p>
        </p:txBody>
      </p:sp>
      <p:sp>
        <p:nvSpPr>
          <p:cNvPr id="246" name="Google Shape;246;p44"/>
          <p:cNvSpPr txBox="1"/>
          <p:nvPr/>
        </p:nvSpPr>
        <p:spPr>
          <a:xfrm>
            <a:off x="0" y="0"/>
            <a:ext cx="883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dk1"/>
                </a:solidFill>
              </a:rPr>
              <a:t>Does AI Make Better Decisions than People?</a:t>
            </a:r>
            <a:endParaRPr sz="2800">
              <a:solidFill>
                <a:schemeClr val="dk1"/>
              </a:solidFill>
            </a:endParaRPr>
          </a:p>
        </p:txBody>
      </p:sp>
      <p:sp>
        <p:nvSpPr>
          <p:cNvPr id="247" name="Google Shape;247;p44"/>
          <p:cNvSpPr txBox="1"/>
          <p:nvPr/>
        </p:nvSpPr>
        <p:spPr>
          <a:xfrm>
            <a:off x="713658" y="1049225"/>
            <a:ext cx="77796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1 </a:t>
            </a:r>
            <a:endParaRPr/>
          </a:p>
        </p:txBody>
      </p:sp>
      <p:sp>
        <p:nvSpPr>
          <p:cNvPr id="248" name="Google Shape;248;p44"/>
          <p:cNvSpPr txBox="1"/>
          <p:nvPr>
            <p:ph idx="1" type="body"/>
          </p:nvPr>
        </p:nvSpPr>
        <p:spPr>
          <a:xfrm>
            <a:off x="713658" y="2752016"/>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2 </a:t>
            </a:r>
            <a:r>
              <a:rPr lang="en">
                <a:solidFill>
                  <a:schemeClr val="dk1"/>
                </a:solidFill>
              </a:rPr>
              <a:t>______________</a:t>
            </a:r>
            <a:r>
              <a:rPr lang="en">
                <a:solidFill>
                  <a:schemeClr val="dk1"/>
                </a:solidFill>
              </a:rPr>
              <a:t> - Argument #2</a:t>
            </a:r>
            <a:endParaRPr b="1"/>
          </a:p>
        </p:txBody>
      </p:sp>
      <p:sp>
        <p:nvSpPr>
          <p:cNvPr id="249" name="Google Shape;249;p44"/>
          <p:cNvSpPr txBox="1"/>
          <p:nvPr>
            <p:ph idx="4294967295" type="body"/>
          </p:nvPr>
        </p:nvSpPr>
        <p:spPr>
          <a:xfrm>
            <a:off x="4572075" y="275202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2 </a:t>
            </a:r>
            <a:r>
              <a:rPr lang="en">
                <a:solidFill>
                  <a:schemeClr val="dk1"/>
                </a:solidFill>
              </a:rPr>
              <a:t>______________</a:t>
            </a:r>
            <a:r>
              <a:rPr lang="en" sz="1250">
                <a:solidFill>
                  <a:schemeClr val="dk1"/>
                </a:solidFill>
              </a:rPr>
              <a:t> - Argument #2</a:t>
            </a:r>
            <a:endParaRPr b="1" sz="1250"/>
          </a:p>
        </p:txBody>
      </p:sp>
      <p:sp>
        <p:nvSpPr>
          <p:cNvPr id="250" name="Google Shape;250;p44"/>
          <p:cNvSpPr txBox="1"/>
          <p:nvPr/>
        </p:nvSpPr>
        <p:spPr>
          <a:xfrm>
            <a:off x="685275" y="2340971"/>
            <a:ext cx="77796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2</a:t>
            </a:r>
            <a:endParaRPr/>
          </a:p>
        </p:txBody>
      </p:sp>
      <p:sp>
        <p:nvSpPr>
          <p:cNvPr id="251" name="Google Shape;251;p44"/>
          <p:cNvSpPr txBox="1"/>
          <p:nvPr>
            <p:ph idx="1" type="body"/>
          </p:nvPr>
        </p:nvSpPr>
        <p:spPr>
          <a:xfrm>
            <a:off x="713658" y="3979175"/>
            <a:ext cx="3639000" cy="762900"/>
          </a:xfrm>
          <a:prstGeom prst="rect">
            <a:avLst/>
          </a:prstGeom>
          <a:solidFill>
            <a:srgbClr val="D9EAD3"/>
          </a:solidFill>
        </p:spPr>
        <p:txBody>
          <a:bodyPr anchorCtr="0" anchor="t" bIns="91425" lIns="91425" spcFirstLastPara="1" rIns="91425" wrap="square" tIns="91425">
            <a:normAutofit fontScale="70000"/>
          </a:bodyPr>
          <a:lstStyle/>
          <a:p>
            <a:pPr indent="0" lvl="0" marL="0" rtl="0" algn="ctr">
              <a:spcBef>
                <a:spcPts val="0"/>
              </a:spcBef>
              <a:spcAft>
                <a:spcPts val="0"/>
              </a:spcAft>
              <a:buNone/>
            </a:pPr>
            <a:r>
              <a:rPr b="1" lang="en"/>
              <a:t>Yes, AI makes better decisions than people…</a:t>
            </a:r>
            <a:endParaRPr b="1"/>
          </a:p>
          <a:p>
            <a:pPr indent="0" lvl="0" marL="0" rtl="0" algn="ctr">
              <a:lnSpc>
                <a:spcPct val="100000"/>
              </a:lnSpc>
              <a:spcBef>
                <a:spcPts val="1200"/>
              </a:spcBef>
              <a:spcAft>
                <a:spcPts val="0"/>
              </a:spcAft>
              <a:buNone/>
            </a:pPr>
            <a:r>
              <a:rPr lang="en">
                <a:solidFill>
                  <a:schemeClr val="dk1"/>
                </a:solidFill>
              </a:rPr>
              <a:t>Team 3 </a:t>
            </a:r>
            <a:r>
              <a:rPr lang="en">
                <a:solidFill>
                  <a:schemeClr val="dk1"/>
                </a:solidFill>
              </a:rPr>
              <a:t>______________</a:t>
            </a:r>
            <a:r>
              <a:rPr lang="en">
                <a:solidFill>
                  <a:schemeClr val="dk1"/>
                </a:solidFill>
              </a:rPr>
              <a:t> - Argument #3</a:t>
            </a:r>
            <a:endParaRPr b="1"/>
          </a:p>
        </p:txBody>
      </p:sp>
      <p:sp>
        <p:nvSpPr>
          <p:cNvPr id="252" name="Google Shape;252;p44"/>
          <p:cNvSpPr txBox="1"/>
          <p:nvPr>
            <p:ph idx="4294967295" type="body"/>
          </p:nvPr>
        </p:nvSpPr>
        <p:spPr>
          <a:xfrm>
            <a:off x="4572150" y="3979175"/>
            <a:ext cx="3893100" cy="762900"/>
          </a:xfrm>
          <a:prstGeom prst="rect">
            <a:avLst/>
          </a:prstGeom>
          <a:solidFill>
            <a:srgbClr val="F4CCCC"/>
          </a:solidFill>
        </p:spPr>
        <p:txBody>
          <a:bodyPr anchorCtr="0" anchor="t" bIns="91425" lIns="91425" spcFirstLastPara="1" rIns="91425" wrap="square" tIns="91425">
            <a:noAutofit/>
          </a:bodyPr>
          <a:lstStyle/>
          <a:p>
            <a:pPr indent="0" lvl="0" marL="0" rtl="0" algn="ctr">
              <a:spcBef>
                <a:spcPts val="0"/>
              </a:spcBef>
              <a:spcAft>
                <a:spcPts val="1200"/>
              </a:spcAft>
              <a:buSzPts val="605"/>
              <a:buNone/>
            </a:pPr>
            <a:r>
              <a:rPr b="1" lang="en" sz="1250"/>
              <a:t>No, AI does not makes better decisions than people….</a:t>
            </a:r>
            <a:br>
              <a:rPr b="1" lang="en" sz="1250"/>
            </a:br>
            <a:r>
              <a:rPr lang="en" sz="1250">
                <a:solidFill>
                  <a:schemeClr val="dk1"/>
                </a:solidFill>
              </a:rPr>
              <a:t>Team 3 </a:t>
            </a:r>
            <a:r>
              <a:rPr lang="en">
                <a:solidFill>
                  <a:schemeClr val="dk1"/>
                </a:solidFill>
              </a:rPr>
              <a:t>______________</a:t>
            </a:r>
            <a:r>
              <a:rPr lang="en" sz="1250">
                <a:solidFill>
                  <a:schemeClr val="dk1"/>
                </a:solidFill>
              </a:rPr>
              <a:t> - Argument #3</a:t>
            </a:r>
            <a:endParaRPr b="1" sz="1250"/>
          </a:p>
        </p:txBody>
      </p:sp>
      <p:sp>
        <p:nvSpPr>
          <p:cNvPr id="253" name="Google Shape;253;p44"/>
          <p:cNvSpPr txBox="1"/>
          <p:nvPr/>
        </p:nvSpPr>
        <p:spPr>
          <a:xfrm>
            <a:off x="713658" y="3601666"/>
            <a:ext cx="7751400" cy="400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Round 3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Ticket out the Door</a:t>
            </a:r>
            <a:endParaRPr/>
          </a:p>
        </p:txBody>
      </p:sp>
      <p:sp>
        <p:nvSpPr>
          <p:cNvPr id="259" name="Google Shape;259;p45"/>
          <p:cNvSpPr txBox="1"/>
          <p:nvPr/>
        </p:nvSpPr>
        <p:spPr>
          <a:xfrm>
            <a:off x="0" y="1066800"/>
            <a:ext cx="883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dk1"/>
                </a:solidFill>
              </a:rPr>
              <a:t>Does AI Make Better Decisions than People?</a:t>
            </a:r>
            <a:endParaRPr sz="2800">
              <a:solidFill>
                <a:schemeClr val="dk1"/>
              </a:solidFill>
            </a:endParaRPr>
          </a:p>
        </p:txBody>
      </p:sp>
      <p:sp>
        <p:nvSpPr>
          <p:cNvPr id="260" name="Google Shape;260;p45"/>
          <p:cNvSpPr txBox="1"/>
          <p:nvPr/>
        </p:nvSpPr>
        <p:spPr>
          <a:xfrm>
            <a:off x="342900" y="1846375"/>
            <a:ext cx="8489400" cy="298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What is your answer to this question?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Partial Answers for teachers</a:t>
            </a:r>
            <a:endParaRPr/>
          </a:p>
        </p:txBody>
      </p:sp>
      <p:sp>
        <p:nvSpPr>
          <p:cNvPr id="266" name="Google Shape;266;p46"/>
          <p:cNvSpPr txBox="1"/>
          <p:nvPr>
            <p:ph idx="1" type="body"/>
          </p:nvPr>
        </p:nvSpPr>
        <p:spPr>
          <a:xfrm>
            <a:off x="311700" y="1017725"/>
            <a:ext cx="8520600" cy="4056900"/>
          </a:xfrm>
          <a:prstGeom prst="rect">
            <a:avLst/>
          </a:prstGeom>
        </p:spPr>
        <p:txBody>
          <a:bodyPr anchorCtr="0" anchor="t" bIns="91425" lIns="91425" spcFirstLastPara="1" rIns="91425" wrap="square" tIns="91425">
            <a:noAutofit/>
          </a:bodyPr>
          <a:lstStyle/>
          <a:p>
            <a:pPr indent="-346392" lvl="0" marL="457200" rtl="0" algn="l">
              <a:lnSpc>
                <a:spcPct val="105000"/>
              </a:lnSpc>
              <a:spcBef>
                <a:spcPts val="0"/>
              </a:spcBef>
              <a:spcAft>
                <a:spcPts val="0"/>
              </a:spcAft>
              <a:buSzPts val="1855"/>
              <a:buChar char="●"/>
            </a:pPr>
            <a:r>
              <a:rPr lang="en" sz="1854"/>
              <a:t>AI is is faster than humans (pro)</a:t>
            </a:r>
            <a:endParaRPr sz="1854"/>
          </a:p>
          <a:p>
            <a:pPr indent="-346392" lvl="0" marL="457200" rtl="0" algn="l">
              <a:lnSpc>
                <a:spcPct val="105000"/>
              </a:lnSpc>
              <a:spcBef>
                <a:spcPts val="0"/>
              </a:spcBef>
              <a:spcAft>
                <a:spcPts val="0"/>
              </a:spcAft>
              <a:buSzPts val="1855"/>
              <a:buChar char="●"/>
            </a:pPr>
            <a:r>
              <a:rPr lang="en" sz="1854"/>
              <a:t>Positive and Negative Ways AI can be used</a:t>
            </a:r>
            <a:endParaRPr sz="1854"/>
          </a:p>
          <a:p>
            <a:pPr indent="-334327" lvl="1" marL="914400" rtl="0" algn="l">
              <a:lnSpc>
                <a:spcPct val="105000"/>
              </a:lnSpc>
              <a:spcBef>
                <a:spcPts val="0"/>
              </a:spcBef>
              <a:spcAft>
                <a:spcPts val="0"/>
              </a:spcAft>
              <a:buSzPts val="1665"/>
              <a:buChar char="○"/>
            </a:pPr>
            <a:r>
              <a:rPr b="1" lang="en" sz="1665"/>
              <a:t>Medical</a:t>
            </a:r>
            <a:endParaRPr b="1" sz="1665"/>
          </a:p>
          <a:p>
            <a:pPr indent="-334327" lvl="1" marL="914400" rtl="0" algn="l">
              <a:lnSpc>
                <a:spcPct val="105000"/>
              </a:lnSpc>
              <a:spcBef>
                <a:spcPts val="0"/>
              </a:spcBef>
              <a:spcAft>
                <a:spcPts val="0"/>
              </a:spcAft>
              <a:buSzPts val="1665"/>
              <a:buChar char="○"/>
            </a:pPr>
            <a:r>
              <a:rPr b="1" lang="en" sz="1665"/>
              <a:t>Policing and judicial/courtroom sentencing</a:t>
            </a:r>
            <a:endParaRPr b="1" sz="1665"/>
          </a:p>
          <a:p>
            <a:pPr indent="-334327" lvl="1" marL="914400" rtl="0" algn="l">
              <a:lnSpc>
                <a:spcPct val="105000"/>
              </a:lnSpc>
              <a:spcBef>
                <a:spcPts val="0"/>
              </a:spcBef>
              <a:spcAft>
                <a:spcPts val="0"/>
              </a:spcAft>
              <a:buSzPts val="1665"/>
              <a:buChar char="○"/>
            </a:pPr>
            <a:r>
              <a:rPr b="1" lang="en" sz="1665"/>
              <a:t>Hate speech detection</a:t>
            </a:r>
            <a:endParaRPr b="1" sz="1665"/>
          </a:p>
          <a:p>
            <a:pPr indent="-334327" lvl="1" marL="914400" rtl="0" algn="l">
              <a:lnSpc>
                <a:spcPct val="105000"/>
              </a:lnSpc>
              <a:spcBef>
                <a:spcPts val="0"/>
              </a:spcBef>
              <a:spcAft>
                <a:spcPts val="0"/>
              </a:spcAft>
              <a:buSzPts val="1665"/>
              <a:buChar char="○"/>
            </a:pPr>
            <a:r>
              <a:rPr b="1" lang="en" sz="1665"/>
              <a:t>Credit ratings</a:t>
            </a:r>
            <a:endParaRPr b="1" sz="1665"/>
          </a:p>
          <a:p>
            <a:pPr indent="-334327" lvl="1" marL="914400" rtl="0" algn="l">
              <a:lnSpc>
                <a:spcPct val="105000"/>
              </a:lnSpc>
              <a:spcBef>
                <a:spcPts val="0"/>
              </a:spcBef>
              <a:spcAft>
                <a:spcPts val="0"/>
              </a:spcAft>
              <a:buSzPts val="1665"/>
              <a:buChar char="○"/>
            </a:pPr>
            <a:r>
              <a:rPr b="1" lang="en" sz="1665"/>
              <a:t>Discrimination</a:t>
            </a:r>
            <a:endParaRPr b="1" sz="1665"/>
          </a:p>
          <a:p>
            <a:pPr indent="-334327" lvl="1" marL="914400" rtl="0" algn="l">
              <a:lnSpc>
                <a:spcPct val="105000"/>
              </a:lnSpc>
              <a:spcBef>
                <a:spcPts val="0"/>
              </a:spcBef>
              <a:spcAft>
                <a:spcPts val="0"/>
              </a:spcAft>
              <a:buSzPts val="1665"/>
              <a:buChar char="○"/>
            </a:pPr>
            <a:r>
              <a:rPr b="1" lang="en" sz="1665"/>
              <a:t>Important decisions</a:t>
            </a:r>
            <a:endParaRPr b="1" sz="1665"/>
          </a:p>
          <a:p>
            <a:pPr indent="-334327" lvl="1" marL="914400" rtl="0" algn="l">
              <a:lnSpc>
                <a:spcPct val="105000"/>
              </a:lnSpc>
              <a:spcBef>
                <a:spcPts val="0"/>
              </a:spcBef>
              <a:spcAft>
                <a:spcPts val="0"/>
              </a:spcAft>
              <a:buSzPts val="1665"/>
              <a:buChar char="○"/>
            </a:pPr>
            <a:r>
              <a:rPr lang="en" sz="1665"/>
              <a:t>Doctors making diagnosis with AI </a:t>
            </a:r>
            <a:endParaRPr sz="1665"/>
          </a:p>
          <a:p>
            <a:pPr indent="-334327" lvl="2" marL="1371600" rtl="0" algn="l">
              <a:lnSpc>
                <a:spcPct val="105000"/>
              </a:lnSpc>
              <a:spcBef>
                <a:spcPts val="0"/>
              </a:spcBef>
              <a:spcAft>
                <a:spcPts val="0"/>
              </a:spcAft>
              <a:buSzPts val="1665"/>
              <a:buChar char="■"/>
            </a:pPr>
            <a:r>
              <a:rPr lang="en" sz="1665"/>
              <a:t>Using AI/ML trained to interpret medical imaging and detect cancer (positive)</a:t>
            </a:r>
            <a:endParaRPr sz="1665"/>
          </a:p>
          <a:p>
            <a:pPr indent="-334327" lvl="2" marL="1371600" rtl="0" algn="l">
              <a:lnSpc>
                <a:spcPct val="105000"/>
              </a:lnSpc>
              <a:spcBef>
                <a:spcPts val="0"/>
              </a:spcBef>
              <a:spcAft>
                <a:spcPts val="0"/>
              </a:spcAft>
              <a:buSzPts val="1665"/>
              <a:buChar char="■"/>
            </a:pPr>
            <a:r>
              <a:rPr lang="en" sz="1665"/>
              <a:t>Used in conjunction with humans</a:t>
            </a:r>
            <a:endParaRPr sz="1665"/>
          </a:p>
          <a:p>
            <a:pPr indent="-334327" lvl="2" marL="1371600" rtl="0" algn="l">
              <a:lnSpc>
                <a:spcPct val="105000"/>
              </a:lnSpc>
              <a:spcBef>
                <a:spcPts val="0"/>
              </a:spcBef>
              <a:spcAft>
                <a:spcPts val="0"/>
              </a:spcAft>
              <a:buSzPts val="1665"/>
              <a:buChar char="■"/>
            </a:pPr>
            <a:r>
              <a:rPr lang="en" sz="1665"/>
              <a:t>Too uniform - different opinions about how to proceed is ok. But Uses of AI may limit the diversity of approaches to treating a disease (con)</a:t>
            </a:r>
            <a:endParaRPr sz="1665"/>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Partial Answers for teachers</a:t>
            </a:r>
            <a:endParaRPr/>
          </a:p>
        </p:txBody>
      </p:sp>
      <p:sp>
        <p:nvSpPr>
          <p:cNvPr id="272" name="Google Shape;272;p47"/>
          <p:cNvSpPr txBox="1"/>
          <p:nvPr>
            <p:ph idx="1" type="body"/>
          </p:nvPr>
        </p:nvSpPr>
        <p:spPr>
          <a:xfrm>
            <a:off x="311700" y="1017725"/>
            <a:ext cx="8520600" cy="4056900"/>
          </a:xfrm>
          <a:prstGeom prst="rect">
            <a:avLst/>
          </a:prstGeom>
        </p:spPr>
        <p:txBody>
          <a:bodyPr anchorCtr="0" anchor="t" bIns="91425" lIns="91425" spcFirstLastPara="1" rIns="91425" wrap="square" tIns="91425">
            <a:noAutofit/>
          </a:bodyPr>
          <a:lstStyle/>
          <a:p>
            <a:pPr indent="-346392" lvl="0" marL="457200" rtl="0" algn="l">
              <a:lnSpc>
                <a:spcPct val="105000"/>
              </a:lnSpc>
              <a:spcBef>
                <a:spcPts val="0"/>
              </a:spcBef>
              <a:spcAft>
                <a:spcPts val="0"/>
              </a:spcAft>
              <a:buSzPts val="1855"/>
              <a:buChar char="●"/>
            </a:pPr>
            <a:r>
              <a:rPr lang="en" sz="1854"/>
              <a:t>Positive and Negative Ways AI can be used(cont.)</a:t>
            </a:r>
            <a:endParaRPr b="1" sz="1665"/>
          </a:p>
          <a:p>
            <a:pPr indent="-334327" lvl="1" marL="914400" rtl="0" algn="l">
              <a:lnSpc>
                <a:spcPct val="105000"/>
              </a:lnSpc>
              <a:spcBef>
                <a:spcPts val="0"/>
              </a:spcBef>
              <a:spcAft>
                <a:spcPts val="0"/>
              </a:spcAft>
              <a:buSzPts val="1665"/>
              <a:buChar char="○"/>
            </a:pPr>
            <a:r>
              <a:rPr lang="en" sz="1665"/>
              <a:t>Can be biased</a:t>
            </a:r>
            <a:endParaRPr sz="1665"/>
          </a:p>
          <a:p>
            <a:pPr indent="-334327" lvl="2" marL="1371600" rtl="0" algn="l">
              <a:lnSpc>
                <a:spcPct val="105000"/>
              </a:lnSpc>
              <a:spcBef>
                <a:spcPts val="0"/>
              </a:spcBef>
              <a:spcAft>
                <a:spcPts val="0"/>
              </a:spcAft>
              <a:buSzPts val="1665"/>
              <a:buChar char="■"/>
            </a:pPr>
            <a:r>
              <a:rPr lang="en" sz="1665"/>
              <a:t>Datasets could be bias</a:t>
            </a:r>
            <a:endParaRPr sz="1665"/>
          </a:p>
          <a:p>
            <a:pPr indent="-334327" lvl="2" marL="1371600" rtl="0" algn="l">
              <a:lnSpc>
                <a:spcPct val="105000"/>
              </a:lnSpc>
              <a:spcBef>
                <a:spcPts val="0"/>
              </a:spcBef>
              <a:spcAft>
                <a:spcPts val="0"/>
              </a:spcAft>
              <a:buSzPts val="1665"/>
              <a:buChar char="■"/>
            </a:pPr>
            <a:r>
              <a:rPr lang="en" sz="1665"/>
              <a:t>Collected in certain areas than others -&gt; high crime areas -&gt; bias against certain groups -&gt; certain groups are seen to commit more </a:t>
            </a:r>
            <a:endParaRPr sz="1665"/>
          </a:p>
          <a:p>
            <a:pPr indent="-334327" lvl="2" marL="1371600" rtl="0" algn="l">
              <a:lnSpc>
                <a:spcPct val="105000"/>
              </a:lnSpc>
              <a:spcBef>
                <a:spcPts val="0"/>
              </a:spcBef>
              <a:spcAft>
                <a:spcPts val="0"/>
              </a:spcAft>
              <a:buSzPts val="1665"/>
              <a:buChar char="■"/>
            </a:pPr>
            <a:r>
              <a:rPr lang="en" sz="1665"/>
              <a:t>Bias in systems reflect the bias already existing in society</a:t>
            </a:r>
            <a:endParaRPr sz="1665"/>
          </a:p>
          <a:p>
            <a:pPr indent="-334327" lvl="2" marL="1371600" rtl="0" algn="l">
              <a:lnSpc>
                <a:spcPct val="105000"/>
              </a:lnSpc>
              <a:spcBef>
                <a:spcPts val="0"/>
              </a:spcBef>
              <a:spcAft>
                <a:spcPts val="0"/>
              </a:spcAft>
              <a:buSzPts val="1665"/>
              <a:buChar char="■"/>
            </a:pPr>
            <a:r>
              <a:rPr lang="en" sz="1665"/>
              <a:t>There is racial bias in language understanding</a:t>
            </a:r>
            <a:endParaRPr sz="1665"/>
          </a:p>
          <a:p>
            <a:pPr indent="-334327" lvl="1" marL="914400" rtl="0" algn="l">
              <a:lnSpc>
                <a:spcPct val="105000"/>
              </a:lnSpc>
              <a:spcBef>
                <a:spcPts val="0"/>
              </a:spcBef>
              <a:spcAft>
                <a:spcPts val="0"/>
              </a:spcAft>
              <a:buSzPts val="1665"/>
              <a:buChar char="○"/>
            </a:pPr>
            <a:r>
              <a:rPr lang="en" sz="1665"/>
              <a:t>Use of AI in Policing and sentencing</a:t>
            </a:r>
            <a:endParaRPr sz="1665"/>
          </a:p>
          <a:p>
            <a:pPr indent="-334327" lvl="2" marL="1371600" rtl="0" algn="l">
              <a:lnSpc>
                <a:spcPct val="105000"/>
              </a:lnSpc>
              <a:spcBef>
                <a:spcPts val="0"/>
              </a:spcBef>
              <a:spcAft>
                <a:spcPts val="0"/>
              </a:spcAft>
              <a:buSzPts val="1665"/>
              <a:buChar char="■"/>
            </a:pPr>
            <a:r>
              <a:rPr lang="en" sz="1665"/>
              <a:t>Determining who is more likely to commit a crime</a:t>
            </a:r>
            <a:endParaRPr sz="1665"/>
          </a:p>
          <a:p>
            <a:pPr indent="-334327" lvl="3" marL="1828800" rtl="0" algn="l">
              <a:lnSpc>
                <a:spcPct val="105000"/>
              </a:lnSpc>
              <a:spcBef>
                <a:spcPts val="0"/>
              </a:spcBef>
              <a:spcAft>
                <a:spcPts val="0"/>
              </a:spcAft>
              <a:buSzPts val="1665"/>
              <a:buChar char="●"/>
            </a:pPr>
            <a:r>
              <a:rPr lang="en" sz="1665"/>
              <a:t>Collected in certain areas than others -&gt; high crime areas</a:t>
            </a:r>
            <a:endParaRPr sz="1665"/>
          </a:p>
          <a:p>
            <a:pPr indent="-334327" lvl="2" marL="1371600" rtl="0" algn="l">
              <a:lnSpc>
                <a:spcPct val="105000"/>
              </a:lnSpc>
              <a:spcBef>
                <a:spcPts val="0"/>
              </a:spcBef>
              <a:spcAft>
                <a:spcPts val="0"/>
              </a:spcAft>
              <a:buSzPts val="1665"/>
              <a:buChar char="■"/>
            </a:pPr>
            <a:r>
              <a:rPr lang="en" sz="1665"/>
              <a:t>Judges coming to verdict with the use of AI (positive/negative)</a:t>
            </a:r>
            <a:endParaRPr sz="1665"/>
          </a:p>
          <a:p>
            <a:pPr indent="-334327" lvl="3" marL="1828800" rtl="0" algn="l">
              <a:lnSpc>
                <a:spcPct val="105000"/>
              </a:lnSpc>
              <a:spcBef>
                <a:spcPts val="0"/>
              </a:spcBef>
              <a:spcAft>
                <a:spcPts val="0"/>
              </a:spcAft>
              <a:buSzPts val="1665"/>
              <a:buChar char="●"/>
            </a:pPr>
            <a:r>
              <a:rPr lang="en" sz="1665"/>
              <a:t>Collected in certain areas than others -&gt; high crime areas</a:t>
            </a:r>
            <a:endParaRPr sz="1665"/>
          </a:p>
          <a:p>
            <a:pPr indent="-334327" lvl="3" marL="1828800" rtl="0" algn="l">
              <a:lnSpc>
                <a:spcPct val="105000"/>
              </a:lnSpc>
              <a:spcBef>
                <a:spcPts val="0"/>
              </a:spcBef>
              <a:spcAft>
                <a:spcPts val="0"/>
              </a:spcAft>
              <a:buSzPts val="1665"/>
              <a:buChar char="●"/>
            </a:pPr>
            <a:r>
              <a:rPr lang="en" sz="1665"/>
              <a:t>Likelihodd to reaffend (missing)</a:t>
            </a:r>
            <a:endParaRPr sz="1665"/>
          </a:p>
          <a:p>
            <a:pPr indent="-334327" lvl="2" marL="1371600" rtl="0" algn="l">
              <a:lnSpc>
                <a:spcPct val="105000"/>
              </a:lnSpc>
              <a:spcBef>
                <a:spcPts val="0"/>
              </a:spcBef>
              <a:spcAft>
                <a:spcPts val="0"/>
              </a:spcAft>
              <a:buSzPts val="1665"/>
              <a:buChar char="■"/>
            </a:pPr>
            <a:r>
              <a:rPr lang="en" sz="1665"/>
              <a:t>Social injustice -&gt; we could be feeding AI with data that is already biased -&gt; not making better decisions</a:t>
            </a:r>
            <a:endParaRPr sz="1665"/>
          </a:p>
          <a:p>
            <a:pPr indent="-334327" lvl="1" marL="914400" rtl="0" algn="l">
              <a:lnSpc>
                <a:spcPct val="105000"/>
              </a:lnSpc>
              <a:spcBef>
                <a:spcPts val="0"/>
              </a:spcBef>
              <a:spcAft>
                <a:spcPts val="0"/>
              </a:spcAft>
              <a:buSzPts val="1665"/>
              <a:buChar char="○"/>
            </a:pPr>
            <a:r>
              <a:rPr lang="en" sz="1665"/>
              <a:t>Use AI to solve hate speech</a:t>
            </a:r>
            <a:endParaRPr sz="1665"/>
          </a:p>
          <a:p>
            <a:pPr indent="-334327" lvl="2" marL="1371600" rtl="0" algn="l">
              <a:lnSpc>
                <a:spcPct val="105000"/>
              </a:lnSpc>
              <a:spcBef>
                <a:spcPts val="0"/>
              </a:spcBef>
              <a:spcAft>
                <a:spcPts val="0"/>
              </a:spcAft>
              <a:buSzPts val="1665"/>
              <a:buChar char="■"/>
            </a:pPr>
            <a:r>
              <a:rPr lang="en" sz="1665"/>
              <a:t>Issues hate speech isn’t well defined or agreed upon. It depends on context</a:t>
            </a:r>
            <a:endParaRPr sz="1665"/>
          </a:p>
          <a:p>
            <a:pPr indent="-334327" lvl="2" marL="1371600" rtl="0" algn="l">
              <a:lnSpc>
                <a:spcPct val="105000"/>
              </a:lnSpc>
              <a:spcBef>
                <a:spcPts val="0"/>
              </a:spcBef>
              <a:spcAft>
                <a:spcPts val="0"/>
              </a:spcAft>
              <a:buSzPts val="1665"/>
              <a:buChar char="■"/>
            </a:pPr>
            <a:r>
              <a:rPr lang="en" sz="1665"/>
              <a:t>It is a complete problem of human nature</a:t>
            </a:r>
            <a:endParaRPr sz="1665"/>
          </a:p>
          <a:p>
            <a:pPr indent="-334327" lvl="2" marL="1371600" rtl="0" algn="l">
              <a:lnSpc>
                <a:spcPct val="105000"/>
              </a:lnSpc>
              <a:spcBef>
                <a:spcPts val="0"/>
              </a:spcBef>
              <a:spcAft>
                <a:spcPts val="0"/>
              </a:spcAft>
              <a:buSzPts val="1665"/>
              <a:buChar char="■"/>
            </a:pPr>
            <a:r>
              <a:rPr lang="en" sz="1665"/>
              <a:t>AI isn’t good at </a:t>
            </a:r>
            <a:endParaRPr sz="1665"/>
          </a:p>
          <a:p>
            <a:pPr indent="-334327" lvl="2" marL="1371600" rtl="0" algn="l">
              <a:lnSpc>
                <a:spcPct val="105000"/>
              </a:lnSpc>
              <a:spcBef>
                <a:spcPts val="0"/>
              </a:spcBef>
              <a:spcAft>
                <a:spcPts val="0"/>
              </a:spcAft>
              <a:buSzPts val="1665"/>
              <a:buChar char="■"/>
            </a:pPr>
            <a:r>
              <a:rPr lang="en" sz="1665"/>
              <a:t>AI doesn’t understand sadness or </a:t>
            </a:r>
            <a:endParaRPr sz="1665"/>
          </a:p>
          <a:p>
            <a:pPr indent="-334327" lvl="2" marL="1371600" rtl="0" algn="l">
              <a:lnSpc>
                <a:spcPct val="105000"/>
              </a:lnSpc>
              <a:spcBef>
                <a:spcPts val="0"/>
              </a:spcBef>
              <a:spcAft>
                <a:spcPts val="0"/>
              </a:spcAft>
              <a:buSzPts val="1665"/>
              <a:buChar char="■"/>
            </a:pPr>
            <a:r>
              <a:rPr lang="en" sz="1665"/>
              <a:t>AI understand certain types of language better than others</a:t>
            </a:r>
            <a:endParaRPr sz="1665"/>
          </a:p>
          <a:p>
            <a:pPr indent="-334327" lvl="2" marL="1371600" rtl="0" algn="l">
              <a:lnSpc>
                <a:spcPct val="105000"/>
              </a:lnSpc>
              <a:spcBef>
                <a:spcPts val="0"/>
              </a:spcBef>
              <a:spcAft>
                <a:spcPts val="0"/>
              </a:spcAft>
              <a:buSzPts val="1665"/>
              <a:buChar char="■"/>
            </a:pPr>
            <a:r>
              <a:rPr lang="en" sz="1665"/>
              <a:t>English of a dialect vs good english - Have views censored or social media accounts banned</a:t>
            </a:r>
            <a:endParaRPr sz="1665"/>
          </a:p>
          <a:p>
            <a:pPr indent="-346392" lvl="0" marL="457200" rtl="0" algn="l">
              <a:lnSpc>
                <a:spcPct val="105000"/>
              </a:lnSpc>
              <a:spcBef>
                <a:spcPts val="0"/>
              </a:spcBef>
              <a:spcAft>
                <a:spcPts val="0"/>
              </a:spcAft>
              <a:buSzPts val="1855"/>
              <a:buChar char="●"/>
            </a:pPr>
            <a:r>
              <a:rPr lang="en" sz="1854"/>
              <a:t>Don’t know how AI makes decisions</a:t>
            </a:r>
            <a:endParaRPr sz="1854"/>
          </a:p>
          <a:p>
            <a:pPr indent="-334327" lvl="1" marL="914400" rtl="0" algn="l">
              <a:lnSpc>
                <a:spcPct val="105000"/>
              </a:lnSpc>
              <a:spcBef>
                <a:spcPts val="0"/>
              </a:spcBef>
              <a:spcAft>
                <a:spcPts val="0"/>
              </a:spcAft>
              <a:buSzPts val="1665"/>
              <a:buChar char="○"/>
            </a:pPr>
            <a:r>
              <a:rPr lang="en" sz="1665"/>
              <a:t>AI makes decisions which are too uniform (negative)</a:t>
            </a:r>
            <a:endParaRPr sz="1665"/>
          </a:p>
          <a:p>
            <a:pPr indent="-346392" lvl="0" marL="457200" rtl="0" algn="l">
              <a:lnSpc>
                <a:spcPct val="105000"/>
              </a:lnSpc>
              <a:spcBef>
                <a:spcPts val="0"/>
              </a:spcBef>
              <a:spcAft>
                <a:spcPts val="0"/>
              </a:spcAft>
              <a:buSzPts val="1855"/>
              <a:buChar char="●"/>
            </a:pPr>
            <a:r>
              <a:rPr lang="en" sz="1854"/>
              <a:t>Need to understand the limitations of systems</a:t>
            </a:r>
            <a:endParaRPr sz="1854"/>
          </a:p>
          <a:p>
            <a:pPr indent="-334327" lvl="1" marL="914400" rtl="0" algn="l">
              <a:lnSpc>
                <a:spcPct val="105000"/>
              </a:lnSpc>
              <a:spcBef>
                <a:spcPts val="0"/>
              </a:spcBef>
              <a:spcAft>
                <a:spcPts val="0"/>
              </a:spcAft>
              <a:buSzPts val="1665"/>
              <a:buChar char="○"/>
            </a:pPr>
            <a:r>
              <a:rPr lang="en" sz="1665"/>
              <a:t>If we are not critical of AI we could be perpetuate existing bias</a:t>
            </a:r>
            <a:endParaRPr sz="1665"/>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Partial Answers for teachers</a:t>
            </a:r>
            <a:endParaRPr/>
          </a:p>
        </p:txBody>
      </p:sp>
      <p:sp>
        <p:nvSpPr>
          <p:cNvPr id="278" name="Google Shape;278;p48"/>
          <p:cNvSpPr txBox="1"/>
          <p:nvPr>
            <p:ph idx="1" type="body"/>
          </p:nvPr>
        </p:nvSpPr>
        <p:spPr>
          <a:xfrm>
            <a:off x="311700" y="1017725"/>
            <a:ext cx="8520600" cy="4056900"/>
          </a:xfrm>
          <a:prstGeom prst="rect">
            <a:avLst/>
          </a:prstGeom>
        </p:spPr>
        <p:txBody>
          <a:bodyPr anchorCtr="0" anchor="t" bIns="91425" lIns="91425" spcFirstLastPara="1" rIns="91425" wrap="square" tIns="91425">
            <a:noAutofit/>
          </a:bodyPr>
          <a:lstStyle/>
          <a:p>
            <a:pPr indent="-346392" lvl="0" marL="457200" rtl="0" algn="l">
              <a:lnSpc>
                <a:spcPct val="105000"/>
              </a:lnSpc>
              <a:spcBef>
                <a:spcPts val="0"/>
              </a:spcBef>
              <a:spcAft>
                <a:spcPts val="0"/>
              </a:spcAft>
              <a:buSzPts val="1855"/>
              <a:buChar char="●"/>
            </a:pPr>
            <a:r>
              <a:rPr lang="en" sz="1854"/>
              <a:t>Positive and Negative Ways AI can be used(cont.)</a:t>
            </a:r>
            <a:endParaRPr b="1" sz="1665"/>
          </a:p>
          <a:p>
            <a:pPr indent="-334327" lvl="1" marL="914400" rtl="0" algn="l">
              <a:lnSpc>
                <a:spcPct val="105000"/>
              </a:lnSpc>
              <a:spcBef>
                <a:spcPts val="0"/>
              </a:spcBef>
              <a:spcAft>
                <a:spcPts val="0"/>
              </a:spcAft>
              <a:buSzPts val="1665"/>
              <a:buChar char="○"/>
            </a:pPr>
            <a:r>
              <a:rPr lang="en" sz="1665"/>
              <a:t>Use AI to solve hate speech</a:t>
            </a:r>
            <a:endParaRPr sz="1665"/>
          </a:p>
          <a:p>
            <a:pPr indent="-334327" lvl="2" marL="1371600" rtl="0" algn="l">
              <a:lnSpc>
                <a:spcPct val="105000"/>
              </a:lnSpc>
              <a:spcBef>
                <a:spcPts val="0"/>
              </a:spcBef>
              <a:spcAft>
                <a:spcPts val="0"/>
              </a:spcAft>
              <a:buSzPts val="1665"/>
              <a:buChar char="■"/>
            </a:pPr>
            <a:r>
              <a:rPr lang="en" sz="1665"/>
              <a:t>Issues hate speech isn’t well defined or agreed upon. It depends on context</a:t>
            </a:r>
            <a:endParaRPr sz="1665"/>
          </a:p>
          <a:p>
            <a:pPr indent="-334327" lvl="2" marL="1371600" rtl="0" algn="l">
              <a:lnSpc>
                <a:spcPct val="105000"/>
              </a:lnSpc>
              <a:spcBef>
                <a:spcPts val="0"/>
              </a:spcBef>
              <a:spcAft>
                <a:spcPts val="0"/>
              </a:spcAft>
              <a:buSzPts val="1665"/>
              <a:buChar char="■"/>
            </a:pPr>
            <a:r>
              <a:rPr lang="en" sz="1665"/>
              <a:t>It is a complete problem of human nature</a:t>
            </a:r>
            <a:endParaRPr sz="1665"/>
          </a:p>
          <a:p>
            <a:pPr indent="-334327" lvl="2" marL="1371600" rtl="0" algn="l">
              <a:lnSpc>
                <a:spcPct val="105000"/>
              </a:lnSpc>
              <a:spcBef>
                <a:spcPts val="0"/>
              </a:spcBef>
              <a:spcAft>
                <a:spcPts val="0"/>
              </a:spcAft>
              <a:buSzPts val="1665"/>
              <a:buChar char="■"/>
            </a:pPr>
            <a:r>
              <a:rPr lang="en" sz="1665"/>
              <a:t>AI isn’t good at </a:t>
            </a:r>
            <a:endParaRPr sz="1665"/>
          </a:p>
          <a:p>
            <a:pPr indent="-334327" lvl="2" marL="1371600" rtl="0" algn="l">
              <a:lnSpc>
                <a:spcPct val="105000"/>
              </a:lnSpc>
              <a:spcBef>
                <a:spcPts val="0"/>
              </a:spcBef>
              <a:spcAft>
                <a:spcPts val="0"/>
              </a:spcAft>
              <a:buSzPts val="1665"/>
              <a:buChar char="■"/>
            </a:pPr>
            <a:r>
              <a:rPr lang="en" sz="1665"/>
              <a:t>AI doesn’t understand sadness or </a:t>
            </a:r>
            <a:endParaRPr sz="1665"/>
          </a:p>
          <a:p>
            <a:pPr indent="-334327" lvl="2" marL="1371600" rtl="0" algn="l">
              <a:lnSpc>
                <a:spcPct val="105000"/>
              </a:lnSpc>
              <a:spcBef>
                <a:spcPts val="0"/>
              </a:spcBef>
              <a:spcAft>
                <a:spcPts val="0"/>
              </a:spcAft>
              <a:buSzPts val="1665"/>
              <a:buChar char="■"/>
            </a:pPr>
            <a:r>
              <a:rPr lang="en" sz="1665"/>
              <a:t>AI understand certain types of language better than others</a:t>
            </a:r>
            <a:endParaRPr sz="1665"/>
          </a:p>
          <a:p>
            <a:pPr indent="-334327" lvl="2" marL="1371600" rtl="0" algn="l">
              <a:lnSpc>
                <a:spcPct val="105000"/>
              </a:lnSpc>
              <a:spcBef>
                <a:spcPts val="0"/>
              </a:spcBef>
              <a:spcAft>
                <a:spcPts val="0"/>
              </a:spcAft>
              <a:buSzPts val="1665"/>
              <a:buChar char="■"/>
            </a:pPr>
            <a:r>
              <a:rPr lang="en" sz="1665"/>
              <a:t>English of a dialect vs good english - Have views censored or social media accounts banned</a:t>
            </a:r>
            <a:endParaRPr sz="1665"/>
          </a:p>
          <a:p>
            <a:pPr indent="-346392" lvl="0" marL="457200" rtl="0" algn="l">
              <a:lnSpc>
                <a:spcPct val="105000"/>
              </a:lnSpc>
              <a:spcBef>
                <a:spcPts val="0"/>
              </a:spcBef>
              <a:spcAft>
                <a:spcPts val="0"/>
              </a:spcAft>
              <a:buSzPts val="1855"/>
              <a:buChar char="●"/>
            </a:pPr>
            <a:r>
              <a:rPr lang="en" sz="1854"/>
              <a:t>Don’t know how AI makes decisions</a:t>
            </a:r>
            <a:endParaRPr sz="1854"/>
          </a:p>
          <a:p>
            <a:pPr indent="-334327" lvl="1" marL="914400" rtl="0" algn="l">
              <a:lnSpc>
                <a:spcPct val="105000"/>
              </a:lnSpc>
              <a:spcBef>
                <a:spcPts val="0"/>
              </a:spcBef>
              <a:spcAft>
                <a:spcPts val="0"/>
              </a:spcAft>
              <a:buSzPts val="1665"/>
              <a:buChar char="○"/>
            </a:pPr>
            <a:r>
              <a:rPr lang="en" sz="1665"/>
              <a:t>AI makes decisions which are too uniform (negative)</a:t>
            </a:r>
            <a:endParaRPr sz="1665"/>
          </a:p>
          <a:p>
            <a:pPr indent="-346392" lvl="0" marL="457200" rtl="0" algn="l">
              <a:lnSpc>
                <a:spcPct val="105000"/>
              </a:lnSpc>
              <a:spcBef>
                <a:spcPts val="0"/>
              </a:spcBef>
              <a:spcAft>
                <a:spcPts val="0"/>
              </a:spcAft>
              <a:buSzPts val="1855"/>
              <a:buChar char="●"/>
            </a:pPr>
            <a:r>
              <a:rPr lang="en" sz="1854"/>
              <a:t>Need to understand the limitations of systems</a:t>
            </a:r>
            <a:endParaRPr sz="1854"/>
          </a:p>
          <a:p>
            <a:pPr indent="-334327" lvl="1" marL="914400" rtl="0" algn="l">
              <a:lnSpc>
                <a:spcPct val="105000"/>
              </a:lnSpc>
              <a:spcBef>
                <a:spcPts val="0"/>
              </a:spcBef>
              <a:spcAft>
                <a:spcPts val="0"/>
              </a:spcAft>
              <a:buSzPts val="1665"/>
              <a:buChar char="○"/>
            </a:pPr>
            <a:r>
              <a:rPr lang="en" sz="1665"/>
              <a:t>If we are not critical of AI we could be perpetuate existing bias</a:t>
            </a:r>
            <a:endParaRPr sz="1665"/>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