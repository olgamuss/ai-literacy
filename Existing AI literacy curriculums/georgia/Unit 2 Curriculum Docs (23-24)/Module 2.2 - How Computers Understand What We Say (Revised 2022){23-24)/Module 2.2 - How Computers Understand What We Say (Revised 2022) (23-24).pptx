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embeddedFontLst>
    <p:embeddedFont>
      <p:font typeface="Roboto"/>
      <p:regular r:id="rId49"/>
      <p:bold r:id="rId50"/>
      <p:italic r:id="rId51"/>
      <p:boldItalic r:id="rId52"/>
    </p:embeddedFont>
    <p:embeddedFont>
      <p:font typeface="Permanent Marker"/>
      <p:regular r:id="rId53"/>
    </p:embeddedFont>
    <p:embeddedFont>
      <p:font typeface="EB Garamond"/>
      <p:regular r:id="rId54"/>
      <p:bold r:id="rId55"/>
      <p:italic r:id="rId56"/>
      <p:boldItalic r:id="rId57"/>
    </p:embeddedFont>
    <p:embeddedFont>
      <p:font typeface="Helvetica Neue"/>
      <p:regular r:id="rId58"/>
      <p:bold r:id="rId59"/>
      <p:italic r:id="rId60"/>
      <p:boldItalic r:id="rId61"/>
    </p:embeddedFont>
    <p:embeddedFont>
      <p:font typeface="Merriweather"/>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erriweather-regular.fntdata"/><Relationship Id="rId61" Type="http://schemas.openxmlformats.org/officeDocument/2006/relationships/font" Target="fonts/HelveticaNeue-boldItalic.fntdata"/><Relationship Id="rId20" Type="http://schemas.openxmlformats.org/officeDocument/2006/relationships/slide" Target="slides/slide15.xml"/><Relationship Id="rId64" Type="http://schemas.openxmlformats.org/officeDocument/2006/relationships/font" Target="fonts/Merriweather-italic.fntdata"/><Relationship Id="rId63" Type="http://schemas.openxmlformats.org/officeDocument/2006/relationships/font" Target="fonts/Merriweather-bold.fntdata"/><Relationship Id="rId22" Type="http://schemas.openxmlformats.org/officeDocument/2006/relationships/slide" Target="slides/slide17.xml"/><Relationship Id="rId21" Type="http://schemas.openxmlformats.org/officeDocument/2006/relationships/slide" Target="slides/slide16.xml"/><Relationship Id="rId65" Type="http://schemas.openxmlformats.org/officeDocument/2006/relationships/font" Target="fonts/Merriweather-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HelveticaNeue-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italic.fntdata"/><Relationship Id="rId50" Type="http://schemas.openxmlformats.org/officeDocument/2006/relationships/font" Target="fonts/Roboto-bold.fntdata"/><Relationship Id="rId53" Type="http://schemas.openxmlformats.org/officeDocument/2006/relationships/font" Target="fonts/PermanentMarker-regular.fntdata"/><Relationship Id="rId52" Type="http://schemas.openxmlformats.org/officeDocument/2006/relationships/font" Target="fonts/Roboto-boldItalic.fntdata"/><Relationship Id="rId11" Type="http://schemas.openxmlformats.org/officeDocument/2006/relationships/slide" Target="slides/slide6.xml"/><Relationship Id="rId55" Type="http://schemas.openxmlformats.org/officeDocument/2006/relationships/font" Target="fonts/EBGaramond-bold.fntdata"/><Relationship Id="rId10" Type="http://schemas.openxmlformats.org/officeDocument/2006/relationships/slide" Target="slides/slide5.xml"/><Relationship Id="rId54" Type="http://schemas.openxmlformats.org/officeDocument/2006/relationships/font" Target="fonts/EBGaramond-regular.fntdata"/><Relationship Id="rId13" Type="http://schemas.openxmlformats.org/officeDocument/2006/relationships/slide" Target="slides/slide8.xml"/><Relationship Id="rId57" Type="http://schemas.openxmlformats.org/officeDocument/2006/relationships/font" Target="fonts/EBGaramond-boldItalic.fntdata"/><Relationship Id="rId12" Type="http://schemas.openxmlformats.org/officeDocument/2006/relationships/slide" Target="slides/slide7.xml"/><Relationship Id="rId56" Type="http://schemas.openxmlformats.org/officeDocument/2006/relationships/font" Target="fonts/EBGaramond-italic.fntdata"/><Relationship Id="rId15" Type="http://schemas.openxmlformats.org/officeDocument/2006/relationships/slide" Target="slides/slide10.xml"/><Relationship Id="rId59" Type="http://schemas.openxmlformats.org/officeDocument/2006/relationships/font" Target="fonts/HelveticaNeue-bold.fntdata"/><Relationship Id="rId14" Type="http://schemas.openxmlformats.org/officeDocument/2006/relationships/slide" Target="slides/slide9.xml"/><Relationship Id="rId58" Type="http://schemas.openxmlformats.org/officeDocument/2006/relationships/font" Target="fonts/HelveticaNeue-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urses.lumenlearning.com/boundless-psychology/chapter/introduction-to-language/"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iNbOOgXjnzE"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s.cmu.edu/~dst/SpeechDemo" TargetMode="External"/><Relationship Id="rId3" Type="http://schemas.openxmlformats.org/officeDocument/2006/relationships/hyperlink" Target="https://www.cs.cmu.edu/~dst/SpeechDemo"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e52edc5c1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e52edc5c1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Discussion 3-5 mins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76eb0c6a3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g276eb0c6a3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1:17</a:t>
            </a:r>
            <a:endParaRPr/>
          </a:p>
          <a:p>
            <a:pPr indent="0" lvl="0" marL="0" rtl="0" algn="l">
              <a:spcBef>
                <a:spcPts val="0"/>
              </a:spcBef>
              <a:spcAft>
                <a:spcPts val="0"/>
              </a:spcAft>
              <a:buClr>
                <a:schemeClr val="dk1"/>
              </a:buClr>
              <a:buSzPts val="1100"/>
              <a:buFont typeface="Arial"/>
              <a:buNone/>
            </a:pPr>
            <a:r>
              <a:rPr lang="en"/>
              <a:t>Start for How speech recognition works</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Teacher Note: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Remind them that we did this the day before</a:t>
            </a:r>
            <a:endParaRPr/>
          </a:p>
          <a:p>
            <a:pPr indent="0" lvl="0" marL="0" rtl="0" algn="l">
              <a:lnSpc>
                <a:spcPct val="100000"/>
              </a:lnSpc>
              <a:spcBef>
                <a:spcPts val="0"/>
              </a:spcBef>
              <a:spcAft>
                <a:spcPts val="0"/>
              </a:spcAft>
              <a:buSzPts val="1100"/>
              <a:buNone/>
            </a:pPr>
            <a:r>
              <a:rPr lang="en"/>
              <a:t>Slides 3-5 - 5 mins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We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Vo</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669fb89e68_3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669fb89e68_3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Vocabulary - A waveform is a plot of a time varying signal such as sound. They have time on the x axis and amplitude on the 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1 min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Timing - 3-5 mins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t>Teacher Note:</a:t>
            </a:r>
            <a:r>
              <a:rPr lang="en"/>
              <a:t> Humans have a very complex vocal instrument that includes the lips, tongue, and vocal cords. The lungs provide air that power the voice and the </a:t>
            </a:r>
            <a:r>
              <a:rPr lang="en">
                <a:solidFill>
                  <a:schemeClr val="dk1"/>
                </a:solidFill>
              </a:rPr>
              <a:t>diaphragm controls the flow of air from the lungs through the vocal cords.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Vocabulary - Articulatory, Apparatus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Timing - 30 sec - 1 min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These are optional if you have time and what the students to see more</a:t>
            </a:r>
            <a:endParaRPr/>
          </a:p>
          <a:p>
            <a:pPr indent="0" lvl="0" marL="0" rtl="0" algn="l">
              <a:lnSpc>
                <a:spcPct val="100000"/>
              </a:lnSpc>
              <a:spcBef>
                <a:spcPts val="0"/>
              </a:spcBef>
              <a:spcAft>
                <a:spcPts val="0"/>
              </a:spcAft>
              <a:buSzPts val="1100"/>
              <a:buNone/>
            </a:pPr>
            <a:r>
              <a:rPr lang="en"/>
              <a:t>Timing - 2-3 mins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Activity for the future</a:t>
            </a:r>
            <a:endParaRPr/>
          </a:p>
          <a:p>
            <a:pPr indent="0" lvl="0" marL="0" rtl="0" algn="l">
              <a:lnSpc>
                <a:spcPct val="100000"/>
              </a:lnSpc>
              <a:spcBef>
                <a:spcPts val="0"/>
              </a:spcBef>
              <a:spcAft>
                <a:spcPts val="0"/>
              </a:spcAft>
              <a:buSzPts val="1100"/>
              <a:buNone/>
            </a:pPr>
            <a:r>
              <a:rPr lang="en"/>
              <a:t>What are the settings (diagram) to get the following sounds</a:t>
            </a:r>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E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A</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OO</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What are the settings (diagram) to get the following sounds</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FFFFF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SSSSS</a:t>
            </a:r>
            <a:endParaRPr>
              <a:solidFill>
                <a:schemeClr val="dk1"/>
              </a:solidFill>
            </a:endParaRPr>
          </a:p>
          <a:p>
            <a:pPr indent="0" lvl="0" marL="45720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4fd9115b2d_0_1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14fd9115b2d_0_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To Do: Add a screenshot of the oscilloscope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4fd9115b2d_0_1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14fd9115b2d_0_1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To Do: Add a screenshot of the oscilloscope</a:t>
            </a:r>
            <a:endParaRPr/>
          </a:p>
          <a:p>
            <a:pPr indent="0" lvl="0" marL="0" rtl="0" algn="l">
              <a:lnSpc>
                <a:spcPct val="100000"/>
              </a:lnSpc>
              <a:spcBef>
                <a:spcPts val="0"/>
              </a:spcBef>
              <a:spcAft>
                <a:spcPts val="0"/>
              </a:spcAft>
              <a:buSzPts val="1100"/>
              <a:buNone/>
            </a:pPr>
            <a:r>
              <a:rPr lang="en"/>
              <a:t>Timing - 10 mins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4fd9115b2d_0_1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g14fd9115b2d_0_1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a:t>
            </a:r>
            <a:endParaRPr/>
          </a:p>
          <a:p>
            <a:pPr indent="0" lvl="0" marL="0" rtl="0" algn="l">
              <a:lnSpc>
                <a:spcPct val="100000"/>
              </a:lnSpc>
              <a:spcBef>
                <a:spcPts val="0"/>
              </a:spcBef>
              <a:spcAft>
                <a:spcPts val="0"/>
              </a:spcAft>
              <a:buSzPts val="1100"/>
              <a:buNone/>
            </a:pPr>
            <a:r>
              <a:rPr lang="en"/>
              <a:t>Low notes - have a smaller number of cycles per second</a:t>
            </a:r>
            <a:endParaRPr/>
          </a:p>
          <a:p>
            <a:pPr indent="0" lvl="0" marL="0" rtl="0" algn="l">
              <a:lnSpc>
                <a:spcPct val="100000"/>
              </a:lnSpc>
              <a:spcBef>
                <a:spcPts val="0"/>
              </a:spcBef>
              <a:spcAft>
                <a:spcPts val="0"/>
              </a:spcAft>
              <a:buSzPts val="1100"/>
              <a:buNone/>
            </a:pPr>
            <a:r>
              <a:rPr lang="en"/>
              <a:t>High notes - have a larger number of </a:t>
            </a:r>
            <a:r>
              <a:rPr lang="en">
                <a:solidFill>
                  <a:schemeClr val="dk1"/>
                </a:solidFill>
              </a:rPr>
              <a:t>cycles per second</a:t>
            </a:r>
            <a:endParaRPr/>
          </a:p>
          <a:p>
            <a:pPr indent="0" lvl="0" marL="0" rtl="0" algn="l">
              <a:lnSpc>
                <a:spcPct val="100000"/>
              </a:lnSpc>
              <a:spcBef>
                <a:spcPts val="0"/>
              </a:spcBef>
              <a:spcAft>
                <a:spcPts val="0"/>
              </a:spcAft>
              <a:buSzPts val="1100"/>
              <a:buNone/>
            </a:pPr>
            <a:r>
              <a:rPr lang="en"/>
              <a:t>Low+high notes - when you combine these together you get a complex waveform where it is not so obvious how you count cycles per second. This is closer to what human speech looks like.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4fd9115b2d_0_2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14fd9115b2d_0_2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Vocabulary - waveform, spectogram, Oscillascope</a:t>
            </a:r>
            <a:endParaRPr/>
          </a:p>
          <a:p>
            <a:pPr indent="0" lvl="0" marL="0" rtl="0" algn="l">
              <a:lnSpc>
                <a:spcPct val="100000"/>
              </a:lnSpc>
              <a:spcBef>
                <a:spcPts val="0"/>
              </a:spcBef>
              <a:spcAft>
                <a:spcPts val="0"/>
              </a:spcAft>
              <a:buSzPts val="1100"/>
              <a:buNone/>
            </a:pPr>
            <a:r>
              <a:rPr lang="en"/>
              <a:t>Teacher Note: </a:t>
            </a:r>
            <a:endParaRPr/>
          </a:p>
          <a:p>
            <a:pPr indent="0" lvl="0" marL="0" rtl="0" algn="l">
              <a:lnSpc>
                <a:spcPct val="100000"/>
              </a:lnSpc>
              <a:spcBef>
                <a:spcPts val="0"/>
              </a:spcBef>
              <a:spcAft>
                <a:spcPts val="0"/>
              </a:spcAft>
              <a:buSzPts val="1100"/>
              <a:buNone/>
            </a:pPr>
            <a:r>
              <a:rPr lang="en"/>
              <a:t>Slides 7-9  - 10 mins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Although the waveform is very complex, there is still structure here. It is just hard to see. So let’s look at it a different way using a spectrogram. </a:t>
            </a:r>
            <a:endParaRPr/>
          </a:p>
          <a:p>
            <a:pPr indent="0" lvl="0" marL="0" rtl="0" algn="l">
              <a:lnSpc>
                <a:spcPct val="100000"/>
              </a:lnSpc>
              <a:spcBef>
                <a:spcPts val="0"/>
              </a:spcBef>
              <a:spcAft>
                <a:spcPts val="0"/>
              </a:spcAft>
              <a:buSzPts val="1100"/>
              <a:buNone/>
            </a:pPr>
            <a:r>
              <a:rPr lang="en"/>
              <a:t>Timing - slides 14-15 - 1 min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Notice the difference in the axis. For the oscilloscope the y-axis is amplitude. For the spectrogram the y-axis is frequency. We’ve chosen to go to the frequency domain because it reveals structure in the waveform that is hard to see when we look at amplitude.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ADD To student resources how to do a split screen</a:t>
            </a:r>
            <a:endParaRPr/>
          </a:p>
          <a:p>
            <a:pPr indent="0" lvl="0" marL="0" rtl="0" algn="l">
              <a:lnSpc>
                <a:spcPct val="100000"/>
              </a:lnSpc>
              <a:spcBef>
                <a:spcPts val="0"/>
              </a:spcBef>
              <a:spcAft>
                <a:spcPts val="0"/>
              </a:spcAft>
              <a:buSzPts val="1100"/>
              <a:buNone/>
            </a:pPr>
            <a:r>
              <a:rPr lang="en"/>
              <a:t>Timing - 10 mins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Notice the frequency bands in these images. Formats are some of the structure in a spectrogram. </a:t>
            </a:r>
            <a:endParaRPr/>
          </a:p>
          <a:p>
            <a:pPr indent="0" lvl="0" marL="0" rtl="0" algn="l">
              <a:lnSpc>
                <a:spcPct val="100000"/>
              </a:lnSpc>
              <a:spcBef>
                <a:spcPts val="0"/>
              </a:spcBef>
              <a:spcAft>
                <a:spcPts val="0"/>
              </a:spcAft>
              <a:buSzPts val="1100"/>
              <a:buNone/>
            </a:pPr>
            <a:r>
              <a:rPr lang="en"/>
              <a:t>Slides 21-22 - 1 min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In-class exercise: have a student speak the three vowels shown and ask the class to describe how their spectrograms differ. Then ask another student to leave the room. Have the first student speak a vowel at random and freeze the spectrogram display. Then bring the second student back and see if they can guess which vowel was spoken.</a:t>
            </a:r>
            <a:r>
              <a:rPr lang="en">
                <a:highlight>
                  <a:srgbClr val="FFFF00"/>
                </a:highlight>
              </a:rPr>
              <a:t> {This is a good stopping point for the 1st day; after a quick review begin with slide 24 the following day}</a:t>
            </a:r>
            <a:endParaRPr>
              <a:highlight>
                <a:srgbClr val="FFFF00"/>
              </a:highlight>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highlight>
                  <a:schemeClr val="accent4"/>
                </a:highlight>
              </a:rPr>
              <a:t>In the future - This will be a demo</a:t>
            </a:r>
            <a:endParaRPr b="1">
              <a:highlight>
                <a:schemeClr val="accent4"/>
              </a:highlight>
            </a:endParaRPr>
          </a:p>
          <a:p>
            <a:pPr indent="0" lvl="0" marL="0" rtl="0" algn="l">
              <a:lnSpc>
                <a:spcPct val="100000"/>
              </a:lnSpc>
              <a:spcBef>
                <a:spcPts val="0"/>
              </a:spcBef>
              <a:spcAft>
                <a:spcPts val="0"/>
              </a:spcAft>
              <a:buSzPts val="1100"/>
              <a:buNone/>
            </a:pPr>
            <a:r>
              <a:rPr lang="en"/>
              <a:t>Vocabulary - Neural Network</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Teacher Note: This is a simplified form of how modern day speech recognition works. We start with the waveform and transform it into a spectrogram and then we feed it into a neural network that recognizes sounds based on their spectrogram patterns. Out comes the sounds it recognizes. This is a very simple example that only recognized b, d, g. To do full blown speech recognition requires a much larger and more complicated neural network.</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Possibly make this the start of the slide deck and make the other things activities for the students to do.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Understanding implies grasping the meaning. So where does meaning come from? </a:t>
            </a:r>
            <a:endParaRPr/>
          </a:p>
          <a:p>
            <a:pPr indent="0" lvl="0" marL="0" rtl="0" algn="l">
              <a:lnSpc>
                <a:spcPct val="100000"/>
              </a:lnSpc>
              <a:spcBef>
                <a:spcPts val="0"/>
              </a:spcBef>
              <a:spcAft>
                <a:spcPts val="0"/>
              </a:spcAft>
              <a:buSzPts val="1100"/>
              <a:buNone/>
            </a:pPr>
            <a:r>
              <a:rPr lang="en"/>
              <a:t>The few slide ago we highlighted the first three stages of the audio abstraction pipeline. Now we will learn about the remaining stages.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Note: </a:t>
            </a:r>
            <a:r>
              <a:rPr lang="en">
                <a:solidFill>
                  <a:schemeClr val="dk1"/>
                </a:solidFill>
              </a:rPr>
              <a:t>It is a pipeline because you are feeding information/representations from one stage to the next and each stage is doing some type of transformation.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4fd9115b2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g14fd9115b2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This slide is animated.</a:t>
            </a:r>
            <a:endParaRPr/>
          </a:p>
          <a:p>
            <a:pPr indent="0" lvl="0" marL="0" rtl="0" algn="l">
              <a:lnSpc>
                <a:spcPct val="100000"/>
              </a:lnSpc>
              <a:spcBef>
                <a:spcPts val="0"/>
              </a:spcBef>
              <a:spcAft>
                <a:spcPts val="0"/>
              </a:spcAft>
              <a:buSzPts val="1100"/>
              <a:buNone/>
            </a:pPr>
            <a:r>
              <a:rPr lang="en"/>
              <a:t>Vocabulary - subconscious (learning from exposure), </a:t>
            </a:r>
            <a:br>
              <a:rPr lang="en"/>
            </a:br>
            <a:r>
              <a:rPr lang="en"/>
              <a:t>combinatorial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a:t>
            </a:r>
            <a:r>
              <a:rPr lang="en" u="sng">
                <a:solidFill>
                  <a:schemeClr val="hlink"/>
                </a:solidFill>
                <a:hlinkClick r:id="rId2"/>
              </a:rPr>
              <a:t>https://courses.lumenlearning.com/boundless-psychology/chapter/introduction-to-language/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Image Source: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4fd9115b2d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g14fd9115b2d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Meet our resident sound expert - Xenomorph from the movie Alien. He will tell us all about the stages of the audio abstraction pipeline.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N</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waveforms are representations of sound</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5" name="Google Shape;42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Teacher Note: Notice that we have added a spectrum analyzer and it produces a spectrogram. Spectrum Analyzers transform waveforms into spectrograms. Usually this is done in software by a computer, but there are also special-purpose spectrum analyzers you can purchase for laboratory use.</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Then spectrogram is fed into a phoneme recognizer. The phonemes (sounds) are written in linguistic notation, using special symbols to denote </a:t>
            </a:r>
            <a:r>
              <a:rPr i="1" lang="en"/>
              <a:t>sounds</a:t>
            </a:r>
            <a:r>
              <a:rPr lang="en"/>
              <a:t> rather than </a:t>
            </a:r>
            <a:r>
              <a:rPr i="1" lang="en"/>
              <a:t>letters. The “#” symbol denotes a word boundary. </a:t>
            </a:r>
            <a:r>
              <a:rPr lang="en"/>
              <a:t>Sounds (phonemes) can be extracted from the spectrogram.</a:t>
            </a:r>
            <a:endParaRPr/>
          </a:p>
          <a:p>
            <a:pPr indent="0" lvl="0" marL="0" rtl="0" algn="l">
              <a:lnSpc>
                <a:spcPct val="100000"/>
              </a:lnSpc>
              <a:spcBef>
                <a:spcPts val="0"/>
              </a:spcBef>
              <a:spcAft>
                <a:spcPts val="0"/>
              </a:spcAft>
              <a:buSzPts val="1100"/>
              <a:buNone/>
            </a:pPr>
            <a:r>
              <a:t/>
            </a:r>
            <a:endParaRPr i="1"/>
          </a:p>
          <a:p>
            <a:pPr indent="0" lvl="0" marL="0" rtl="0" algn="l">
              <a:lnSpc>
                <a:spcPct val="100000"/>
              </a:lnSpc>
              <a:spcBef>
                <a:spcPts val="0"/>
              </a:spcBef>
              <a:spcAft>
                <a:spcPts val="0"/>
              </a:spcAft>
              <a:buSzPts val="1100"/>
              <a:buNone/>
            </a:pPr>
            <a:r>
              <a:rPr lang="en"/>
              <a:t>As we move through this description of the audio abstraction pipeline, we are alternating between the representation (e.g.,  sound waves, spectrogram) and the transformer (e.g., microphones, spectrum analyzer, phoneme recognizer)</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5" name="Google Shape;465;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The phoneme representation is fed into the morpheme recognizer. Morphemes (word stems and affixes) can be assembled from phonemes. Notice that </a:t>
            </a:r>
            <a:r>
              <a:rPr i="1" lang="en"/>
              <a:t>/s aI t/</a:t>
            </a:r>
            <a:r>
              <a:rPr lang="en"/>
              <a:t> has three possible words listed. This is because “sight”, “site”, and “cite” are homophones: words that sound the same but are spelled differently.</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The morepheme representation is then transformed by the parser. A parser assigns grammatical categories to words and groups them into phrases. “NP” means noun phrase. Notice that </a:t>
            </a:r>
            <a:r>
              <a:rPr i="1" lang="en"/>
              <a:t>sight</a:t>
            </a:r>
            <a:r>
              <a:rPr lang="en"/>
              <a:t> has three possible words listed. This is because sight is a homophone (two or more words that sound the same but are spelled differently) - site, sight, and cite.</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1" name="Google Shape;521;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In the last stage of our audio abstraction pipeline, the parsed representation is fed into semantic analyzer. A semantic analyzer gives the meaning of the phrase and resolves the ambiguity. Notice that </a:t>
            </a:r>
            <a:r>
              <a:rPr i="1" lang="en"/>
              <a:t>sight</a:t>
            </a:r>
            <a:r>
              <a:rPr lang="en"/>
              <a:t> has two possible words listed. This is because sight is a homophone (two or more words that sound the same but are spelled differently) - site and sight.</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Note the difference between the representation of the audio abstract pipeline on this slide vs. the previous slide. Slide 25 includes the transformations between stages and this one does not.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276eb0c6a3b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276eb0c6a3b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as of July 2024 - Christina Added</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2d51d071556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2d51d071556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as of July 2024 - Christina Added</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1" name="Google Shape;611;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New Video - </a:t>
            </a:r>
            <a:endParaRPr/>
          </a:p>
          <a:p>
            <a:pPr indent="0" lvl="0" marL="0" rtl="0" algn="l">
              <a:lnSpc>
                <a:spcPct val="100000"/>
              </a:lnSpc>
              <a:spcBef>
                <a:spcPts val="0"/>
              </a:spcBef>
              <a:spcAft>
                <a:spcPts val="0"/>
              </a:spcAft>
              <a:buSzPts val="1100"/>
              <a:buNone/>
            </a:pPr>
            <a:r>
              <a:rPr lang="en"/>
              <a:t>Parsing Tree Video - </a:t>
            </a:r>
            <a:r>
              <a:rPr lang="en" u="sng">
                <a:solidFill>
                  <a:schemeClr val="hlink"/>
                </a:solidFill>
                <a:hlinkClick r:id="rId2"/>
              </a:rPr>
              <a:t>https://www.youtube.com/watch?v=iNbOOgXjnzE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9" name="Google Shape;619;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7" name="Google Shape;627;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Notes: </a:t>
            </a:r>
            <a:endParaRPr/>
          </a:p>
          <a:p>
            <a:pPr indent="0" lvl="0" marL="0" rtl="0" algn="l">
              <a:lnSpc>
                <a:spcPct val="100000"/>
              </a:lnSpc>
              <a:spcBef>
                <a:spcPts val="0"/>
              </a:spcBef>
              <a:spcAft>
                <a:spcPts val="0"/>
              </a:spcAft>
              <a:buSzPts val="1100"/>
              <a:buNone/>
            </a:pPr>
            <a:r>
              <a:rPr lang="en" sz="1400">
                <a:solidFill>
                  <a:schemeClr val="dk1"/>
                </a:solidFill>
              </a:rPr>
              <a:t>What do you observe about how this demo works?</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rPr>
              <a:t>It has multiple guesses of what you might have said</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rPr>
              <a:t>These alternative are ranked</a:t>
            </a:r>
            <a:endParaRPr sz="1400">
              <a:solidFill>
                <a:schemeClr val="dk1"/>
              </a:solidFill>
            </a:endParaRPr>
          </a:p>
          <a:p>
            <a:pPr indent="-317500" lvl="1" marL="914400" rtl="0" algn="l">
              <a:lnSpc>
                <a:spcPct val="100000"/>
              </a:lnSpc>
              <a:spcBef>
                <a:spcPts val="0"/>
              </a:spcBef>
              <a:spcAft>
                <a:spcPts val="0"/>
              </a:spcAft>
              <a:buClr>
                <a:schemeClr val="dk1"/>
              </a:buClr>
              <a:buSzPts val="1400"/>
              <a:buChar char="-"/>
            </a:pPr>
            <a:r>
              <a:rPr lang="en" sz="1400">
                <a:solidFill>
                  <a:schemeClr val="dk1"/>
                </a:solidFill>
              </a:rPr>
              <a:t>The first guess is usually correct</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The question is how does it figure out which guess is correct? </a:t>
            </a:r>
            <a:endParaRPr sz="1400">
              <a:solidFill>
                <a:schemeClr val="dk1"/>
              </a:solidFill>
            </a:endParaRPr>
          </a:p>
          <a:p>
            <a:pPr indent="0" lvl="0" marL="0" rtl="0" algn="l">
              <a:lnSpc>
                <a:spcPct val="100000"/>
              </a:lnSpc>
              <a:spcBef>
                <a:spcPts val="0"/>
              </a:spcBef>
              <a:spcAft>
                <a:spcPts val="0"/>
              </a:spcAft>
              <a:buSzPts val="1100"/>
              <a:buNone/>
            </a:pPr>
            <a:br>
              <a:rPr lang="en" sz="1400">
                <a:solidFill>
                  <a:schemeClr val="dk1"/>
                </a:solidFill>
              </a:rPr>
            </a:br>
            <a:r>
              <a:rPr lang="en">
                <a:solidFill>
                  <a:schemeClr val="dk1"/>
                </a:solidFill>
              </a:rPr>
              <a:t>Do </a:t>
            </a:r>
            <a:r>
              <a:rPr lang="en" u="sng">
                <a:solidFill>
                  <a:srgbClr val="1155CC"/>
                </a:solidFill>
                <a:hlinkClick r:id="rId2">
                  <a:extLst>
                    <a:ext uri="{A12FA001-AC4F-418D-AE19-62706E023703}">
                      <ahyp:hlinkClr val="tx"/>
                    </a:ext>
                  </a:extLst>
                </a:hlinkClick>
              </a:rPr>
              <a:t>SpeechDemo</a:t>
            </a:r>
            <a:r>
              <a:rPr lang="en">
                <a:solidFill>
                  <a:schemeClr val="dk1"/>
                </a:solidFill>
              </a:rPr>
              <a:t> exercises on homophones etc.</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Take-away - Google is really good at disambiguating homophones when they are used in sentences.</a:t>
            </a:r>
            <a:endParaRPr>
              <a:solidFill>
                <a:schemeClr val="dk1"/>
              </a:solidFill>
            </a:endParaRPr>
          </a:p>
          <a:p>
            <a:pPr indent="0" lvl="0" marL="0" rtl="0" algn="l">
              <a:lnSpc>
                <a:spcPct val="100000"/>
              </a:lnSpc>
              <a:spcBef>
                <a:spcPts val="0"/>
              </a:spcBef>
              <a:spcAft>
                <a:spcPts val="0"/>
              </a:spcAft>
              <a:buSzPts val="1100"/>
              <a:buNone/>
            </a:pPr>
            <a:r>
              <a:rPr b="1" lang="en">
                <a:solidFill>
                  <a:schemeClr val="dk1"/>
                </a:solidFill>
              </a:rPr>
              <a:t>Discussion</a:t>
            </a:r>
            <a:r>
              <a:rPr lang="en">
                <a:solidFill>
                  <a:schemeClr val="dk1"/>
                </a:solidFill>
              </a:rPr>
              <a:t>: What knowledge is Google using to choose the most likely words? </a:t>
            </a:r>
            <a:endParaRPr>
              <a:solidFill>
                <a:schemeClr val="dk1"/>
              </a:solidFill>
            </a:endParaRPr>
          </a:p>
          <a:p>
            <a:pPr indent="0" lvl="0" marL="0" rtl="0" algn="l">
              <a:lnSpc>
                <a:spcPct val="100000"/>
              </a:lnSpc>
              <a:spcBef>
                <a:spcPts val="0"/>
              </a:spcBef>
              <a:spcAft>
                <a:spcPts val="0"/>
              </a:spcAft>
              <a:buSzPts val="1100"/>
              <a:buNone/>
            </a:pPr>
            <a:r>
              <a:t/>
            </a:r>
            <a:endParaRPr b="1">
              <a:solidFill>
                <a:schemeClr val="dk1"/>
              </a:solidFill>
            </a:endParaRPr>
          </a:p>
          <a:p>
            <a:pPr indent="0" lvl="0" marL="0" rtl="0" algn="l">
              <a:lnSpc>
                <a:spcPct val="100000"/>
              </a:lnSpc>
              <a:spcBef>
                <a:spcPts val="0"/>
              </a:spcBef>
              <a:spcAft>
                <a:spcPts val="0"/>
              </a:spcAft>
              <a:buSzPts val="1100"/>
              <a:buNone/>
            </a:pPr>
            <a:r>
              <a:rPr b="1" lang="en">
                <a:solidFill>
                  <a:schemeClr val="dk1"/>
                </a:solidFill>
              </a:rPr>
              <a:t>Demo</a:t>
            </a:r>
            <a:r>
              <a:rPr lang="en">
                <a:solidFill>
                  <a:schemeClr val="dk1"/>
                </a:solidFill>
              </a:rPr>
              <a:t> - Try giving words and non-words to </a:t>
            </a:r>
            <a:r>
              <a:rPr lang="en" u="sng">
                <a:solidFill>
                  <a:srgbClr val="1155CC"/>
                </a:solidFill>
                <a:hlinkClick r:id="rId3">
                  <a:extLst>
                    <a:ext uri="{A12FA001-AC4F-418D-AE19-62706E023703}">
                      <ahyp:hlinkClr val="tx"/>
                    </a:ext>
                  </a:extLst>
                </a:hlinkClick>
              </a:rPr>
              <a:t>SpeechDemo</a:t>
            </a:r>
            <a:r>
              <a:rPr lang="en">
                <a:solidFill>
                  <a:schemeClr val="dk1"/>
                </a:solidFill>
              </a:rPr>
              <a:t> and see which ones it can handle.</a:t>
            </a:r>
            <a:endParaRPr>
              <a:solidFill>
                <a:schemeClr val="dk1"/>
              </a:solidFill>
            </a:endParaRPr>
          </a:p>
          <a:p>
            <a:pPr indent="-171450" lvl="0" marL="171450" rtl="0" algn="l">
              <a:lnSpc>
                <a:spcPct val="100000"/>
              </a:lnSpc>
              <a:spcBef>
                <a:spcPts val="0"/>
              </a:spcBef>
              <a:spcAft>
                <a:spcPts val="0"/>
              </a:spcAft>
              <a:buClr>
                <a:schemeClr val="dk1"/>
              </a:buClr>
              <a:buSzPts val="1100"/>
              <a:buChar char="●"/>
            </a:pPr>
            <a:r>
              <a:rPr b="1" lang="en">
                <a:solidFill>
                  <a:schemeClr val="dk1"/>
                </a:solidFill>
              </a:rPr>
              <a:t>Discussion</a:t>
            </a:r>
            <a:r>
              <a:rPr lang="en">
                <a:solidFill>
                  <a:schemeClr val="dk1"/>
                </a:solidFill>
              </a:rPr>
              <a:t> -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Which ones of these could be words in English, and which ones could not? Why?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“Floop”, “fnoop”, “froop”, “fsoop”</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i="1" lang="en">
                <a:solidFill>
                  <a:schemeClr val="dk1"/>
                </a:solidFill>
              </a:rPr>
              <a:t>Take-away</a:t>
            </a:r>
            <a:r>
              <a:rPr lang="en">
                <a:solidFill>
                  <a:schemeClr val="dk1"/>
                </a:solidFill>
              </a:rPr>
              <a:t> - Speech understanding systems need to understand the phonology (the way things sound) of languages. English and languages have phonological rules for words, vowels, and constant pronunciation.  Opportunity to bring in other cultures and languages.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May need to provide resources</a:t>
            </a:r>
            <a:endParaRPr sz="1400">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8" name="Google Shape;638;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Vocabulary: Corpora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Teacher note: Have the students try saying these two sentences so that they can see that they sound very similar.</a:t>
            </a:r>
            <a:endParaRPr/>
          </a:p>
          <a:p>
            <a:pPr indent="0" lvl="0" marL="0" rtl="0" algn="l">
              <a:lnSpc>
                <a:spcPct val="100000"/>
              </a:lnSpc>
              <a:spcBef>
                <a:spcPts val="0"/>
              </a:spcBef>
              <a:spcAft>
                <a:spcPts val="0"/>
              </a:spcAft>
              <a:buSzPts val="1100"/>
              <a:buNone/>
            </a:pPr>
            <a:r>
              <a:rPr lang="en"/>
              <a:t>Teacher Note: The speech recognition system knows about the sound patterns of the language, its stems and affixes, and its grammar, and it uses all this knowledge to resolve ambiguities.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Optional Details if students have questions:</a:t>
            </a:r>
            <a:endParaRPr/>
          </a:p>
          <a:p>
            <a:pPr indent="0" lvl="0" marL="0" rtl="0" algn="l">
              <a:lnSpc>
                <a:spcPct val="100000"/>
              </a:lnSpc>
              <a:spcBef>
                <a:spcPts val="0"/>
              </a:spcBef>
              <a:spcAft>
                <a:spcPts val="0"/>
              </a:spcAft>
              <a:buSzPts val="1100"/>
              <a:buNone/>
            </a:pPr>
            <a:r>
              <a:rPr lang="en"/>
              <a:t>Sound constraints - The system knows the allowable phonemes for each language. For example Chinese has allowable sounds that english doesn’t have. </a:t>
            </a:r>
            <a:endParaRPr/>
          </a:p>
          <a:p>
            <a:pPr indent="0" lvl="0" marL="0" rtl="0" algn="l">
              <a:lnSpc>
                <a:spcPct val="100000"/>
              </a:lnSpc>
              <a:spcBef>
                <a:spcPts val="0"/>
              </a:spcBef>
              <a:spcAft>
                <a:spcPts val="0"/>
              </a:spcAft>
              <a:buSzPts val="1100"/>
              <a:buNone/>
            </a:pPr>
            <a:r>
              <a:rPr lang="en"/>
              <a:t>Languages have rules for the letters that appear together. Computers use these rules to resolve ambiguities. </a:t>
            </a:r>
            <a:br>
              <a:rPr lang="en"/>
            </a:b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hyperlink" Target="https://creativecommons.org/licenses/by-nc-sa/4.0/" TargetMode="External"/><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12.gif"/><Relationship Id="rId6" Type="http://schemas.openxmlformats.org/officeDocument/2006/relationships/image" Target="../media/image1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youtube.com/watch?v=2RRT1YuyBCo" TargetMode="External"/><Relationship Id="rId4" Type="http://schemas.openxmlformats.org/officeDocument/2006/relationships/hyperlink" Target="http://www.youtube.com/watch?v=2RRT1YuyBCo" TargetMode="External"/><Relationship Id="rId5"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26.png"/><Relationship Id="rId5"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www.youtube.com/watch?v=Wh4aEc4yPh0" TargetMode="External"/><Relationship Id="rId4" Type="http://schemas.openxmlformats.org/officeDocument/2006/relationships/image" Target="../media/image18.jpg"/><Relationship Id="rId5" Type="http://schemas.openxmlformats.org/officeDocument/2006/relationships/hyperlink" Target="https://www.youtube.com/watch?v=Wh4aEc4yPh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www.youtube.com/watch?v=Naeze0cvM9A" TargetMode="External"/><Relationship Id="rId4" Type="http://schemas.openxmlformats.org/officeDocument/2006/relationships/image" Target="../media/image9.jpg"/><Relationship Id="rId5" Type="http://schemas.openxmlformats.org/officeDocument/2006/relationships/hyperlink" Target="http://www.youtube.com/watch?v=m0yAVe2Sz5M" TargetMode="External"/><Relationship Id="rId6" Type="http://schemas.openxmlformats.org/officeDocument/2006/relationships/image" Target="../media/image24.jpg"/><Relationship Id="rId7" Type="http://schemas.openxmlformats.org/officeDocument/2006/relationships/hyperlink" Target="https://www.youtube.com/watch?v=m0yAVe2Sz5M" TargetMode="External"/><Relationship Id="rId8" Type="http://schemas.openxmlformats.org/officeDocument/2006/relationships/hyperlink" Target="https://www.youtube.com/watch?v=Naeze0cvM9A"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4.png"/><Relationship Id="rId4" Type="http://schemas.openxmlformats.org/officeDocument/2006/relationships/hyperlink" Target="https://www.cs.cmu.edu/~dst/VocalTractDemo" TargetMode="External"/><Relationship Id="rId5" Type="http://schemas.openxmlformats.org/officeDocument/2006/relationships/image" Target="../media/image29.png"/><Relationship Id="rId6" Type="http://schemas.openxmlformats.org/officeDocument/2006/relationships/hyperlink" Target="https://experiments.withgoogle.com/pink-trombon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academo.org/demos/virtual-oscilloscope/" TargetMode="Externa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igorski.nl/application/websid/" TargetMode="External"/><Relationship Id="rId4" Type="http://schemas.openxmlformats.org/officeDocument/2006/relationships/hyperlink" Target="https://www.onlinepianist.com/virtual-piano" TargetMode="External"/><Relationship Id="rId5" Type="http://schemas.openxmlformats.org/officeDocument/2006/relationships/image" Target="../media/image14.png"/><Relationship Id="rId6" Type="http://schemas.openxmlformats.org/officeDocument/2006/relationships/image" Target="../media/image25.png"/><Relationship Id="rId7"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spectrogram.sciencemusic.org/" TargetMode="External"/><Relationship Id="rId4" Type="http://schemas.openxmlformats.org/officeDocument/2006/relationships/image" Target="../media/image28.png"/><Relationship Id="rId5" Type="http://schemas.openxmlformats.org/officeDocument/2006/relationships/image" Target="../media/image41.png"/><Relationship Id="rId6" Type="http://schemas.openxmlformats.org/officeDocument/2006/relationships/hyperlink" Target="https://docs.google.com/document/d/1qrow6lfjERdKdSdMUjGQoAuQJbyBFqQ0hMaGz0-8xoo/edit?usp=sharin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45.png"/><Relationship Id="rId5" Type="http://schemas.openxmlformats.org/officeDocument/2006/relationships/image" Target="../media/image27.png"/><Relationship Id="rId6"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38.png"/><Relationship Id="rId5" Type="http://schemas.openxmlformats.org/officeDocument/2006/relationships/image" Target="../media/image40.png"/><Relationship Id="rId6" Type="http://schemas.openxmlformats.org/officeDocument/2006/relationships/image" Target="../media/image4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8.png"/><Relationship Id="rId4" Type="http://schemas.openxmlformats.org/officeDocument/2006/relationships/image" Target="../media/image5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36.png"/><Relationship Id="rId4" Type="http://schemas.openxmlformats.org/officeDocument/2006/relationships/image" Target="../media/image46.png"/><Relationship Id="rId5" Type="http://schemas.openxmlformats.org/officeDocument/2006/relationships/image" Target="../media/image4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2.png"/><Relationship Id="rId4" Type="http://schemas.openxmlformats.org/officeDocument/2006/relationships/image" Target="../media/image28.png"/><Relationship Id="rId5"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5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2.png"/><Relationship Id="rId4" Type="http://schemas.openxmlformats.org/officeDocument/2006/relationships/image" Target="../media/image50.png"/><Relationship Id="rId5" Type="http://schemas.openxmlformats.org/officeDocument/2006/relationships/image" Target="../media/image6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6.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6.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6.pn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28.png"/><Relationship Id="rId8" Type="http://schemas.openxmlformats.org/officeDocument/2006/relationships/image" Target="../media/image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6.pn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28.png"/><Relationship Id="rId8" Type="http://schemas.openxmlformats.org/officeDocument/2006/relationships/image" Target="../media/image4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6.pn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28.png"/><Relationship Id="rId8"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6.pn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28.png"/><Relationship Id="rId8" Type="http://schemas.openxmlformats.org/officeDocument/2006/relationships/image" Target="../media/image4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6.pn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28.png"/><Relationship Id="rId8" Type="http://schemas.openxmlformats.org/officeDocument/2006/relationships/image" Target="../media/image4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8.png"/><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www.youtube.com/watch?v=eQfqcYR3HJo" TargetMode="External"/><Relationship Id="rId4" Type="http://schemas.openxmlformats.org/officeDocument/2006/relationships/image" Target="../media/image59.jpg"/><Relationship Id="rId5" Type="http://schemas.openxmlformats.org/officeDocument/2006/relationships/hyperlink" Target="https://www.youtube.com/watch?v=eQfqcYR3HJo"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57.png"/><Relationship Id="rId7" Type="http://schemas.openxmlformats.org/officeDocument/2006/relationships/image" Target="../media/image6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youtu.be/uSNUmJffK4c?si=NqHPMVY5bX2EavL6" TargetMode="External"/><Relationship Id="rId4" Type="http://schemas.openxmlformats.org/officeDocument/2006/relationships/hyperlink" Target="http://www.youtube.com/watch?v=uSNUmJffK4c" TargetMode="External"/><Relationship Id="rId5" Type="http://schemas.openxmlformats.org/officeDocument/2006/relationships/image" Target="../media/image6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65.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www.cs.cmu.edu/~dst/SpeechDemo" TargetMode="External"/><Relationship Id="rId4" Type="http://schemas.openxmlformats.org/officeDocument/2006/relationships/image" Target="../media/image63.png"/><Relationship Id="rId5" Type="http://schemas.openxmlformats.org/officeDocument/2006/relationships/hyperlink" Target="https://github.com/touretzkyds/ai4k12/wiki/Demo%3A-Speech-Recognition-in-Chrome" TargetMode="External"/><Relationship Id="rId6" Type="http://schemas.openxmlformats.org/officeDocument/2006/relationships/image" Target="../media/image5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i.pinimg/" TargetMode="External"/><Relationship Id="rId4" Type="http://schemas.openxmlformats.org/officeDocument/2006/relationships/hyperlink" Target="https://i.pinimg.com/originals/00/57/eb/0057eb7ebba044b1faec62f46eae1462.jpg" TargetMode="External"/><Relationship Id="rId5" Type="http://schemas.openxmlformats.org/officeDocument/2006/relationships/hyperlink" Target="https://i.pinimg.com/474x/38/9a/ee/389aeee6471d961267acef6b4e80cc6d.jpg" TargetMode="External"/><Relationship Id="rId6"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156750" y="733775"/>
            <a:ext cx="6987300" cy="1189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2.2</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355">
                <a:solidFill>
                  <a:schemeClr val="dk2"/>
                </a:solidFill>
                <a:latin typeface="Merriweather"/>
                <a:ea typeface="Merriweather"/>
                <a:cs typeface="Merriweather"/>
                <a:sym typeface="Merriweather"/>
              </a:rPr>
              <a:t>How Do Computers Understand What We Say?</a:t>
            </a:r>
            <a:endParaRPr sz="2355">
              <a:solidFill>
                <a:schemeClr val="dk2"/>
              </a:solidFill>
              <a:latin typeface="Merriweather"/>
              <a:ea typeface="Merriweather"/>
              <a:cs typeface="Merriweather"/>
              <a:sym typeface="Merriweather"/>
            </a:endParaRPr>
          </a:p>
        </p:txBody>
      </p:sp>
      <p:pic>
        <p:nvPicPr>
          <p:cNvPr id="55" name="Google Shape;55;p13"/>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56" name="Google Shape;56;p13"/>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57" name="Google Shape;57;p13"/>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58" name="Google Shape;58;p13"/>
          <p:cNvSpPr txBox="1"/>
          <p:nvPr/>
        </p:nvSpPr>
        <p:spPr>
          <a:xfrm>
            <a:off x="1377450" y="4491585"/>
            <a:ext cx="90531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Developed for the AI4GA (Artificial Intelligence for Georgia) project funded by National Science Foundation awards DRL-2049029 and DRL-2048502.</a:t>
            </a:r>
            <a:endParaRPr sz="900"/>
          </a:p>
          <a:p>
            <a:pPr indent="0" lvl="0" marL="0" rtl="0" algn="l">
              <a:spcBef>
                <a:spcPts val="0"/>
              </a:spcBef>
              <a:spcAft>
                <a:spcPts val="0"/>
              </a:spcAft>
              <a:buNone/>
            </a:pPr>
            <a:r>
              <a:rPr b="1" lang="en" sz="900"/>
              <a:t>This work is licensed under the Creative Commons. Attribution-NonCommercial-ShareAlike 4.0 International License. </a:t>
            </a:r>
            <a:r>
              <a:rPr b="1" lang="en" sz="900" u="sng">
                <a:solidFill>
                  <a:srgbClr val="0097A7"/>
                </a:solidFill>
                <a:hlinkClick r:id="rId5">
                  <a:extLst>
                    <a:ext uri="{A12FA001-AC4F-418D-AE19-62706E023703}">
                      <ahyp:hlinkClr val="tx"/>
                    </a:ext>
                  </a:extLst>
                </a:hlinkClick>
              </a:rPr>
              <a:t>https://creativecommons.org/licenses/by-nc-sa/4.0/</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500"/>
          </a:p>
        </p:txBody>
      </p:sp>
      <p:pic>
        <p:nvPicPr>
          <p:cNvPr id="59" name="Google Shape;59;p13"/>
          <p:cNvPicPr preferRelativeResize="0"/>
          <p:nvPr/>
        </p:nvPicPr>
        <p:blipFill rotWithShape="1">
          <a:blip r:embed="rId6">
            <a:alphaModFix/>
          </a:blip>
          <a:srcRect b="0" l="0" r="0" t="0"/>
          <a:stretch/>
        </p:blipFill>
        <p:spPr>
          <a:xfrm>
            <a:off x="3202135" y="1922975"/>
            <a:ext cx="4161316" cy="2334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p14"/>
          <p:cNvSpPr/>
          <p:nvPr/>
        </p:nvSpPr>
        <p:spPr>
          <a:xfrm>
            <a:off x="6057045" y="-1"/>
            <a:ext cx="60985" cy="5143501"/>
          </a:xfrm>
          <a:prstGeom prst="rect">
            <a:avLst/>
          </a:prstGeom>
          <a:gradFill>
            <a:gsLst>
              <a:gs pos="0">
                <a:srgbClr val="BBBBBB"/>
              </a:gs>
              <a:gs pos="7000">
                <a:srgbClr val="8A8A8A"/>
              </a:gs>
              <a:gs pos="15928">
                <a:srgbClr val="B5B5B5"/>
              </a:gs>
              <a:gs pos="44260">
                <a:srgbClr val="D5D5D5"/>
              </a:gs>
              <a:gs pos="50447">
                <a:srgbClr val="E6E6E6"/>
              </a:gs>
              <a:gs pos="60158">
                <a:srgbClr val="D5D5D5"/>
              </a:gs>
              <a:gs pos="84000">
                <a:srgbClr val="B5B5B5"/>
              </a:gs>
              <a:gs pos="93000">
                <a:srgbClr val="8A8A8A"/>
              </a:gs>
              <a:gs pos="100000">
                <a:srgbClr val="BBBBBB"/>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Twentieth Century"/>
              <a:ea typeface="Twentieth Century"/>
              <a:cs typeface="Twentieth Century"/>
              <a:sym typeface="Twentieth Century"/>
            </a:endParaRPr>
          </a:p>
        </p:txBody>
      </p:sp>
      <p:pic>
        <p:nvPicPr>
          <p:cNvPr descr="A picture containing person, wall, yellow, young&#10;&#10;Description automatically generated" id="65" name="Google Shape;65;p14"/>
          <p:cNvPicPr preferRelativeResize="0"/>
          <p:nvPr/>
        </p:nvPicPr>
        <p:blipFill rotWithShape="1">
          <a:blip r:embed="rId3">
            <a:alphaModFix/>
          </a:blip>
          <a:srcRect b="0" l="34490" r="26240" t="0"/>
          <a:stretch/>
        </p:blipFill>
        <p:spPr>
          <a:xfrm>
            <a:off x="6118030" y="10"/>
            <a:ext cx="3025969" cy="5143490"/>
          </a:xfrm>
          <a:prstGeom prst="rect">
            <a:avLst/>
          </a:prstGeom>
          <a:noFill/>
          <a:ln>
            <a:noFill/>
          </a:ln>
        </p:spPr>
      </p:pic>
      <p:sp>
        <p:nvSpPr>
          <p:cNvPr id="66" name="Google Shape;66;p14"/>
          <p:cNvSpPr txBox="1"/>
          <p:nvPr>
            <p:ph type="title"/>
          </p:nvPr>
        </p:nvSpPr>
        <p:spPr>
          <a:xfrm>
            <a:off x="685332" y="463887"/>
            <a:ext cx="5004664" cy="119713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Twentieth Century"/>
              <a:buNone/>
            </a:pPr>
            <a:r>
              <a:rPr lang="en" sz="3600"/>
              <a:t>OBJECTIVES</a:t>
            </a:r>
            <a:endParaRPr/>
          </a:p>
        </p:txBody>
      </p:sp>
      <p:sp>
        <p:nvSpPr>
          <p:cNvPr id="67" name="Google Shape;67;p14"/>
          <p:cNvSpPr txBox="1"/>
          <p:nvPr>
            <p:ph idx="12" type="sldNum"/>
          </p:nvPr>
        </p:nvSpPr>
        <p:spPr>
          <a:xfrm>
            <a:off x="7885508" y="4412456"/>
            <a:ext cx="573161" cy="273844"/>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grpSp>
        <p:nvGrpSpPr>
          <p:cNvPr id="68" name="Google Shape;68;p14"/>
          <p:cNvGrpSpPr/>
          <p:nvPr/>
        </p:nvGrpSpPr>
        <p:grpSpPr>
          <a:xfrm>
            <a:off x="685292" y="1371054"/>
            <a:ext cx="5004703" cy="2891942"/>
            <a:chOff x="-37" y="-404265"/>
            <a:chExt cx="5004703" cy="2891942"/>
          </a:xfrm>
        </p:grpSpPr>
        <p:sp>
          <p:nvSpPr>
            <p:cNvPr id="69" name="Google Shape;69;p14"/>
            <p:cNvSpPr/>
            <p:nvPr/>
          </p:nvSpPr>
          <p:spPr>
            <a:xfrm>
              <a:off x="-5" y="-404265"/>
              <a:ext cx="5004600" cy="665700"/>
            </a:xfrm>
            <a:prstGeom prst="roundRect">
              <a:avLst>
                <a:gd fmla="val 16667" name="adj"/>
              </a:avLst>
            </a:prstGeom>
            <a:gradFill>
              <a:gsLst>
                <a:gs pos="0">
                  <a:srgbClr val="73D3BB"/>
                </a:gs>
                <a:gs pos="50000">
                  <a:srgbClr val="52CAAE"/>
                </a:gs>
                <a:gs pos="100000">
                  <a:srgbClr val="32B89B"/>
                </a:gs>
              </a:gsLst>
              <a:lin ang="5400000" scaled="0"/>
            </a:gradFill>
            <a:ln>
              <a:noFill/>
            </a:ln>
            <a:effectLst>
              <a:outerShdw blurRad="50800" rotWithShape="0" dir="5400000" dist="25400">
                <a:srgbClr val="000000">
                  <a:alpha val="2705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4"/>
            <p:cNvSpPr txBox="1"/>
            <p:nvPr/>
          </p:nvSpPr>
          <p:spPr>
            <a:xfrm>
              <a:off x="64970" y="-339274"/>
              <a:ext cx="4874700" cy="600600"/>
            </a:xfrm>
            <a:prstGeom prst="rect">
              <a:avLst/>
            </a:prstGeom>
            <a:noFill/>
            <a:ln>
              <a:noFill/>
            </a:ln>
          </p:spPr>
          <p:txBody>
            <a:bodyPr anchorCtr="0" anchor="ctr" bIns="137150" lIns="137150" spcFirstLastPara="1" rIns="137150" wrap="square" tIns="137150">
              <a:noAutofit/>
            </a:bodyPr>
            <a:lstStyle/>
            <a:p>
              <a:pPr indent="0" lvl="0" marL="0" marR="0" rtl="0" algn="l">
                <a:lnSpc>
                  <a:spcPct val="90000"/>
                </a:lnSpc>
                <a:spcBef>
                  <a:spcPts val="0"/>
                </a:spcBef>
                <a:spcAft>
                  <a:spcPts val="0"/>
                </a:spcAft>
                <a:buClr>
                  <a:schemeClr val="lt1"/>
                </a:buClr>
                <a:buSzPts val="3600"/>
                <a:buFont typeface="Twentieth Century"/>
                <a:buNone/>
              </a:pPr>
              <a:r>
                <a:rPr b="0" i="0" lang="en" sz="3200" u="none" cap="none" strike="noStrike">
                  <a:solidFill>
                    <a:schemeClr val="lt1"/>
                  </a:solidFill>
                  <a:latin typeface="Twentieth Century"/>
                  <a:ea typeface="Twentieth Century"/>
                  <a:cs typeface="Twentieth Century"/>
                  <a:sym typeface="Twentieth Century"/>
                </a:rPr>
                <a:t>Students should be able to:</a:t>
              </a:r>
              <a:endParaRPr b="0" i="0" sz="3200" u="none" cap="none" strike="noStrike">
                <a:solidFill>
                  <a:schemeClr val="lt1"/>
                </a:solidFill>
                <a:latin typeface="Twentieth Century"/>
                <a:ea typeface="Twentieth Century"/>
                <a:cs typeface="Twentieth Century"/>
                <a:sym typeface="Twentieth Century"/>
              </a:endParaRPr>
            </a:p>
          </p:txBody>
        </p:sp>
        <p:sp>
          <p:nvSpPr>
            <p:cNvPr id="71" name="Google Shape;71;p14"/>
            <p:cNvSpPr/>
            <p:nvPr/>
          </p:nvSpPr>
          <p:spPr>
            <a:xfrm>
              <a:off x="0" y="1411277"/>
              <a:ext cx="5004665" cy="1076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4"/>
            <p:cNvSpPr txBox="1"/>
            <p:nvPr/>
          </p:nvSpPr>
          <p:spPr>
            <a:xfrm>
              <a:off x="-37" y="334877"/>
              <a:ext cx="5004600" cy="1076400"/>
            </a:xfrm>
            <a:prstGeom prst="rect">
              <a:avLst/>
            </a:prstGeom>
            <a:noFill/>
            <a:ln>
              <a:noFill/>
            </a:ln>
          </p:spPr>
          <p:txBody>
            <a:bodyPr anchorCtr="0" anchor="t" bIns="45700" lIns="158875" spcFirstLastPara="1" rIns="256025" wrap="square" tIns="45700">
              <a:noAutofit/>
            </a:bodyPr>
            <a:lstStyle/>
            <a:p>
              <a:pPr indent="-196850" lvl="1" marL="285750" marR="0" rtl="0" algn="l">
                <a:lnSpc>
                  <a:spcPct val="90000"/>
                </a:lnSpc>
                <a:spcBef>
                  <a:spcPts val="0"/>
                </a:spcBef>
                <a:spcAft>
                  <a:spcPts val="0"/>
                </a:spcAft>
                <a:buClr>
                  <a:schemeClr val="dk1"/>
                </a:buClr>
                <a:buSzPts val="2200"/>
                <a:buFont typeface="Twentieth Century"/>
                <a:buChar char="•"/>
              </a:pPr>
              <a:r>
                <a:rPr b="0" i="0" lang="en" sz="2200" u="none" cap="none" strike="noStrike">
                  <a:solidFill>
                    <a:schemeClr val="dk1"/>
                  </a:solidFill>
                  <a:latin typeface="Twentieth Century"/>
                  <a:ea typeface="Twentieth Century"/>
                  <a:cs typeface="Twentieth Century"/>
                  <a:sym typeface="Twentieth Century"/>
                </a:rPr>
                <a:t>Explain how speech recognition works</a:t>
              </a:r>
              <a:endParaRPr sz="2200">
                <a:solidFill>
                  <a:schemeClr val="dk1"/>
                </a:solidFill>
                <a:latin typeface="Twentieth Century"/>
                <a:ea typeface="Twentieth Century"/>
                <a:cs typeface="Twentieth Century"/>
                <a:sym typeface="Twentieth Century"/>
              </a:endParaRPr>
            </a:p>
            <a:p>
              <a:pPr indent="-196850" lvl="1" marL="285750" marR="0" rtl="0" algn="l">
                <a:lnSpc>
                  <a:spcPct val="90000"/>
                </a:lnSpc>
                <a:spcBef>
                  <a:spcPts val="0"/>
                </a:spcBef>
                <a:spcAft>
                  <a:spcPts val="0"/>
                </a:spcAft>
                <a:buClr>
                  <a:schemeClr val="dk1"/>
                </a:buClr>
                <a:buSzPts val="2200"/>
                <a:buFont typeface="Twentieth Century"/>
                <a:buChar char="•"/>
              </a:pPr>
              <a:r>
                <a:rPr lang="en" sz="2200">
                  <a:solidFill>
                    <a:schemeClr val="dk1"/>
                  </a:solidFill>
                  <a:latin typeface="Twentieth Century"/>
                  <a:ea typeface="Twentieth Century"/>
                  <a:cs typeface="Twentieth Century"/>
                  <a:sym typeface="Twentieth Century"/>
                </a:rPr>
                <a:t>Explain what waveforms and spectrograms are.</a:t>
              </a:r>
              <a:endParaRPr sz="2200">
                <a:solidFill>
                  <a:schemeClr val="dk1"/>
                </a:solidFill>
                <a:latin typeface="Twentieth Century"/>
                <a:ea typeface="Twentieth Century"/>
                <a:cs typeface="Twentieth Century"/>
                <a:sym typeface="Twentieth Century"/>
              </a:endParaRPr>
            </a:p>
            <a:p>
              <a:pPr indent="-196850" lvl="1" marL="285750" marR="0" rtl="0" algn="l">
                <a:lnSpc>
                  <a:spcPct val="90000"/>
                </a:lnSpc>
                <a:spcBef>
                  <a:spcPts val="0"/>
                </a:spcBef>
                <a:spcAft>
                  <a:spcPts val="0"/>
                </a:spcAft>
                <a:buClr>
                  <a:schemeClr val="dk1"/>
                </a:buClr>
                <a:buSzPts val="2200"/>
                <a:buFont typeface="Twentieth Century"/>
                <a:buChar char="•"/>
              </a:pPr>
              <a:r>
                <a:rPr lang="en" sz="2200">
                  <a:solidFill>
                    <a:schemeClr val="dk1"/>
                  </a:solidFill>
                  <a:latin typeface="Twentieth Century"/>
                  <a:ea typeface="Twentieth Century"/>
                  <a:cs typeface="Twentieth Century"/>
                  <a:sym typeface="Twentieth Century"/>
                </a:rPr>
                <a:t>Explain the components of the human vocal tract.</a:t>
              </a:r>
              <a:endParaRPr sz="2200">
                <a:solidFill>
                  <a:schemeClr val="dk1"/>
                </a:solidFill>
                <a:latin typeface="Twentieth Century"/>
                <a:ea typeface="Twentieth Century"/>
                <a:cs typeface="Twentieth Century"/>
                <a:sym typeface="Twentieth Century"/>
              </a:endParaRPr>
            </a:p>
            <a:p>
              <a:pPr indent="-196850" lvl="1" marL="285750" marR="0" rtl="0" algn="l">
                <a:lnSpc>
                  <a:spcPct val="90000"/>
                </a:lnSpc>
                <a:spcBef>
                  <a:spcPts val="0"/>
                </a:spcBef>
                <a:spcAft>
                  <a:spcPts val="0"/>
                </a:spcAft>
                <a:buClr>
                  <a:schemeClr val="dk1"/>
                </a:buClr>
                <a:buSzPts val="2200"/>
                <a:buFont typeface="Twentieth Century"/>
                <a:buChar char="•"/>
              </a:pPr>
              <a:r>
                <a:rPr lang="en" sz="2200">
                  <a:solidFill>
                    <a:schemeClr val="dk1"/>
                  </a:solidFill>
                  <a:latin typeface="Twentieth Century"/>
                  <a:ea typeface="Twentieth Century"/>
                  <a:cs typeface="Twentieth Century"/>
                  <a:sym typeface="Twentieth Century"/>
                </a:rPr>
                <a:t>Give examples of how knowledge is used to disambiguate speech, e.g., disambiguating homophones based on context.</a:t>
              </a:r>
              <a:endParaRPr sz="2200">
                <a:solidFill>
                  <a:schemeClr val="dk1"/>
                </a:solidFill>
                <a:latin typeface="Twentieth Century"/>
                <a:ea typeface="Twentieth Century"/>
                <a:cs typeface="Twentieth Century"/>
                <a:sym typeface="Twentieth Century"/>
              </a:endParaRPr>
            </a:p>
            <a:p>
              <a:pPr indent="0" lvl="0" marL="457200" marR="0" rtl="0" algn="l">
                <a:lnSpc>
                  <a:spcPct val="90000"/>
                </a:lnSpc>
                <a:spcBef>
                  <a:spcPts val="0"/>
                </a:spcBef>
                <a:spcAft>
                  <a:spcPts val="0"/>
                </a:spcAft>
                <a:buNone/>
              </a:pPr>
              <a:r>
                <a:t/>
              </a:r>
              <a:endParaRPr sz="2200">
                <a:solidFill>
                  <a:schemeClr val="dk1"/>
                </a:solidFill>
                <a:latin typeface="Twentieth Century"/>
                <a:ea typeface="Twentieth Century"/>
                <a:cs typeface="Twentieth Century"/>
                <a:sym typeface="Twentieth Century"/>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8" name="Google Shape;78;p15"/>
          <p:cNvSpPr/>
          <p:nvPr/>
        </p:nvSpPr>
        <p:spPr>
          <a:xfrm>
            <a:off x="0" y="2675626"/>
            <a:ext cx="9144000" cy="644700"/>
          </a:xfrm>
          <a:prstGeom prst="rect">
            <a:avLst/>
          </a:prstGeom>
          <a:solidFill>
            <a:srgbClr val="FCE5C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400"/>
              <a:buFont typeface="Twentieth Century"/>
              <a:buNone/>
            </a:pPr>
            <a:r>
              <a:rPr b="0" i="0" lang="en" sz="2400" u="none" cap="none" strike="noStrike">
                <a:solidFill>
                  <a:schemeClr val="dk1"/>
                </a:solidFill>
                <a:latin typeface="Twentieth Century"/>
                <a:ea typeface="Twentieth Century"/>
                <a:cs typeface="Twentieth Century"/>
                <a:sym typeface="Twentieth Century"/>
              </a:rPr>
              <a:t>Discussion</a:t>
            </a:r>
            <a:endParaRPr b="0" i="0" sz="2400" u="none" cap="none" strike="noStrike">
              <a:solidFill>
                <a:schemeClr val="dk1"/>
              </a:solidFill>
              <a:latin typeface="Twentieth Century"/>
              <a:ea typeface="Twentieth Century"/>
              <a:cs typeface="Twentieth Century"/>
              <a:sym typeface="Twentieth Century"/>
            </a:endParaRPr>
          </a:p>
        </p:txBody>
      </p:sp>
      <p:grpSp>
        <p:nvGrpSpPr>
          <p:cNvPr id="79" name="Google Shape;79;p15"/>
          <p:cNvGrpSpPr/>
          <p:nvPr/>
        </p:nvGrpSpPr>
        <p:grpSpPr>
          <a:xfrm>
            <a:off x="2756352" y="3483032"/>
            <a:ext cx="3253579" cy="1495964"/>
            <a:chOff x="2633510" y="83317"/>
            <a:chExt cx="3253579" cy="1495964"/>
          </a:xfrm>
        </p:grpSpPr>
        <p:sp>
          <p:nvSpPr>
            <p:cNvPr id="80" name="Google Shape;80;p15"/>
            <p:cNvSpPr/>
            <p:nvPr/>
          </p:nvSpPr>
          <p:spPr>
            <a:xfrm>
              <a:off x="3044882" y="83317"/>
              <a:ext cx="673154" cy="673154"/>
            </a:xfrm>
            <a:prstGeom prst="rect">
              <a:avLst/>
            </a:prstGeom>
            <a:blipFill rotWithShape="1">
              <a:blip r:embed="rId3">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5"/>
            <p:cNvSpPr/>
            <p:nvPr/>
          </p:nvSpPr>
          <p:spPr>
            <a:xfrm>
              <a:off x="2633510" y="980922"/>
              <a:ext cx="1495898" cy="59835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5"/>
            <p:cNvSpPr txBox="1"/>
            <p:nvPr/>
          </p:nvSpPr>
          <p:spPr>
            <a:xfrm>
              <a:off x="2633510" y="980922"/>
              <a:ext cx="1495898" cy="59835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Do you use speech recognition on your device? </a:t>
              </a:r>
              <a:endParaRPr b="0" i="0" sz="1400" u="none" cap="none" strike="noStrike">
                <a:solidFill>
                  <a:schemeClr val="dk1"/>
                </a:solidFill>
                <a:latin typeface="Twentieth Century"/>
                <a:ea typeface="Twentieth Century"/>
                <a:cs typeface="Twentieth Century"/>
                <a:sym typeface="Twentieth Century"/>
              </a:endParaRPr>
            </a:p>
          </p:txBody>
        </p:sp>
        <p:sp>
          <p:nvSpPr>
            <p:cNvPr id="83" name="Google Shape;83;p15"/>
            <p:cNvSpPr/>
            <p:nvPr/>
          </p:nvSpPr>
          <p:spPr>
            <a:xfrm>
              <a:off x="4802563" y="83317"/>
              <a:ext cx="673154" cy="673154"/>
            </a:xfrm>
            <a:prstGeom prst="rect">
              <a:avLst/>
            </a:prstGeom>
            <a:blipFill rotWithShape="1">
              <a:blip r:embed="rId4">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5"/>
            <p:cNvSpPr/>
            <p:nvPr/>
          </p:nvSpPr>
          <p:spPr>
            <a:xfrm>
              <a:off x="4391191" y="980922"/>
              <a:ext cx="1495898" cy="59835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5"/>
            <p:cNvSpPr txBox="1"/>
            <p:nvPr/>
          </p:nvSpPr>
          <p:spPr>
            <a:xfrm>
              <a:off x="4391191" y="980922"/>
              <a:ext cx="1495898" cy="59835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If so, which apps do you use and how well does it work?</a:t>
              </a:r>
              <a:endParaRPr b="0" i="0" sz="1400" u="none" cap="none" strike="noStrike">
                <a:solidFill>
                  <a:schemeClr val="dk1"/>
                </a:solidFill>
                <a:latin typeface="Twentieth Century"/>
                <a:ea typeface="Twentieth Century"/>
                <a:cs typeface="Twentieth Century"/>
                <a:sym typeface="Twentieth Century"/>
              </a:endParaRPr>
            </a:p>
          </p:txBody>
        </p:sp>
      </p:grpSp>
      <p:pic>
        <p:nvPicPr>
          <p:cNvPr descr="Any questions GIFs - Get the best gif on GIFER" id="86" name="Google Shape;86;p15"/>
          <p:cNvPicPr preferRelativeResize="0"/>
          <p:nvPr/>
        </p:nvPicPr>
        <p:blipFill rotWithShape="1">
          <a:blip r:embed="rId5">
            <a:alphaModFix/>
          </a:blip>
          <a:srcRect b="0" l="0" r="0" t="0"/>
          <a:stretch/>
        </p:blipFill>
        <p:spPr>
          <a:xfrm>
            <a:off x="6901324" y="3626396"/>
            <a:ext cx="1458021" cy="1334089"/>
          </a:xfrm>
          <a:prstGeom prst="rect">
            <a:avLst/>
          </a:prstGeom>
          <a:noFill/>
          <a:ln>
            <a:noFill/>
          </a:ln>
        </p:spPr>
      </p:pic>
      <p:pic>
        <p:nvPicPr>
          <p:cNvPr descr="A group of people holding a computer&#10;&#10;Description automatically generated with low confidence" id="87" name="Google Shape;87;p15"/>
          <p:cNvPicPr preferRelativeResize="0"/>
          <p:nvPr/>
        </p:nvPicPr>
        <p:blipFill rotWithShape="1">
          <a:blip r:embed="rId6">
            <a:alphaModFix/>
          </a:blip>
          <a:srcRect b="0" l="0" r="0" t="0"/>
          <a:stretch/>
        </p:blipFill>
        <p:spPr>
          <a:xfrm>
            <a:off x="2787804" y="137221"/>
            <a:ext cx="3464313" cy="225510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6"/>
          <p:cNvSpPr txBox="1"/>
          <p:nvPr>
            <p:ph type="title"/>
          </p:nvPr>
        </p:nvSpPr>
        <p:spPr>
          <a:xfrm>
            <a:off x="311700" y="31090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262626"/>
              </a:buClr>
              <a:buSzPts val="3600"/>
              <a:buFont typeface="Garamond"/>
              <a:buNone/>
            </a:pPr>
            <a:r>
              <a:rPr lang="en"/>
              <a:t>How Speech Recognition Works</a:t>
            </a:r>
            <a:endParaRPr/>
          </a:p>
        </p:txBody>
      </p:sp>
      <p:sp>
        <p:nvSpPr>
          <p:cNvPr id="93" name="Google Shape;9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4" name="Google Shape;94;p16"/>
          <p:cNvSpPr txBox="1"/>
          <p:nvPr/>
        </p:nvSpPr>
        <p:spPr>
          <a:xfrm>
            <a:off x="1962863" y="4590889"/>
            <a:ext cx="5422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Arial"/>
                <a:ea typeface="Arial"/>
                <a:cs typeface="Arial"/>
                <a:sym typeface="Arial"/>
                <a:hlinkClick r:id="rId3"/>
              </a:rPr>
              <a:t>https://www.youtube.com/watch?v=2RRT1YuyBCo</a:t>
            </a:r>
            <a:r>
              <a:rPr b="0" i="0" lang="en" sz="1400" u="none" cap="none" strike="noStrike">
                <a:solidFill>
                  <a:srgbClr val="000000"/>
                </a:solidFill>
                <a:latin typeface="Arial"/>
                <a:ea typeface="Arial"/>
                <a:cs typeface="Arial"/>
                <a:sym typeface="Arial"/>
              </a:rPr>
              <a:t> (5 mins)</a:t>
            </a:r>
            <a:endParaRPr b="0" i="0" sz="1400" u="none" cap="none" strike="noStrike">
              <a:solidFill>
                <a:srgbClr val="000000"/>
              </a:solidFill>
              <a:latin typeface="Arial"/>
              <a:ea typeface="Arial"/>
              <a:cs typeface="Arial"/>
              <a:sym typeface="Arial"/>
            </a:endParaRPr>
          </a:p>
        </p:txBody>
      </p:sp>
      <p:pic>
        <p:nvPicPr>
          <p:cNvPr descr="Look around. We’re surrounded by technology that until recently seemed like it could only exist in the realm of science fiction. The most prominent example? Computers we can talk to.&#10; &#10;In 2020, it was estimated that there were as many as 4.2 billion voice assistant devices being used worldwide, and that number is expected to reach a whopping 8 billion by 2023. &#10; &#10;The launch of Google’s voice search in 2011, and Apple’s Siri shortly afterwards, signalled the beginning of a new era for this technology - an era that is now in full swing since Amazon’s Alexa joined the party. &#10; &#10;But the increased ubiquity and improved computing power of these devices doesn’t mean a free ticket to unlimited progress. There are still significant challenges: understanding natural speech, tackling error rates and earning trust, to name but a few.&#10; &#10;Learn how voice recognition works, and the challenges it faces, in this explainer video from iluli by Mike Lamb – explaining the ideas and innovations changing our lives. &#10;&#10;*New videos on the 1st of every month. Don't forget to like and subscribe:* https://bit.ly/subscribe_to_iluli&#10;&#10;*Or visit the iluli website:* https://www.iluli.eu&#10;&#10;_____&#10;&#10;*Sources and Further Reading:*&#10;&#10;• _The machines that learned to listen:_ https://www.bbc.com/future/article/20170214-the-machines-that-learned-to-listen &#10;• _Digital Voice Assistants in Use to Triple to 8 Billion by 2023, Driven by Smart Home:_ https://www.juniperresearch.com/press/digital-voice-assistants-in-use-to-8-million-2023 &#10;• _How does speech recognition software work?_ https://www.explainthatstuff.com/voicerecognition.html&#10;&#10;_____&#10;&#10;0:00 Introduction&#10;0:19 History of speech recognition&#10;0:41 Recent progress&#10;1:17 Spectogram&#10;1:56 How it works&#10;3:00 Challenges&#10;3:47 Winograd Schema&#10;4:07 Ethics and trust&#10;4:24 Conclusion" id="95" name="Google Shape;95;p16" title="How Voice Recognition Works">
            <a:hlinkClick r:id="rId4"/>
          </p:cNvPr>
          <p:cNvPicPr preferRelativeResize="0"/>
          <p:nvPr/>
        </p:nvPicPr>
        <p:blipFill>
          <a:blip r:embed="rId5">
            <a:alphaModFix/>
          </a:blip>
          <a:stretch>
            <a:fillRect/>
          </a:stretch>
        </p:blipFill>
        <p:spPr>
          <a:xfrm>
            <a:off x="1478913" y="1115525"/>
            <a:ext cx="6186178" cy="3479725"/>
          </a:xfrm>
          <a:prstGeom prst="rect">
            <a:avLst/>
          </a:prstGeom>
          <a:noFill/>
          <a:ln>
            <a:noFill/>
          </a:ln>
        </p:spPr>
      </p:pic>
      <p:sp>
        <p:nvSpPr>
          <p:cNvPr id="96" name="Google Shape;96;p16"/>
          <p:cNvSpPr txBox="1"/>
          <p:nvPr/>
        </p:nvSpPr>
        <p:spPr>
          <a:xfrm>
            <a:off x="191200" y="3021675"/>
            <a:ext cx="2868000" cy="64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1000"/>
                                        <p:tgtEl>
                                          <p:spTgt spid="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txBox="1"/>
          <p:nvPr>
            <p:ph type="title"/>
          </p:nvPr>
        </p:nvSpPr>
        <p:spPr>
          <a:xfrm>
            <a:off x="311700" y="3420050"/>
            <a:ext cx="8520600" cy="8418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90000"/>
              </a:lnSpc>
              <a:spcBef>
                <a:spcPts val="0"/>
              </a:spcBef>
              <a:spcAft>
                <a:spcPts val="0"/>
              </a:spcAft>
              <a:buClr>
                <a:schemeClr val="dk1"/>
              </a:buClr>
              <a:buSzPct val="111111"/>
              <a:buFont typeface="Twentieth Century"/>
              <a:buNone/>
            </a:pPr>
            <a:r>
              <a:rPr lang="en"/>
              <a:t>TODAY WE ARE GOING TO LEARN </a:t>
            </a:r>
            <a:endParaRPr/>
          </a:p>
          <a:p>
            <a:pPr indent="0" lvl="0" marL="0" rtl="0" algn="ctr">
              <a:lnSpc>
                <a:spcPct val="90000"/>
              </a:lnSpc>
              <a:spcBef>
                <a:spcPts val="0"/>
              </a:spcBef>
              <a:spcAft>
                <a:spcPts val="0"/>
              </a:spcAft>
              <a:buClr>
                <a:schemeClr val="dk1"/>
              </a:buClr>
              <a:buSzPct val="111111"/>
              <a:buFont typeface="Twentieth Century"/>
              <a:buNone/>
            </a:pPr>
            <a:r>
              <a:rPr lang="en"/>
              <a:t>HOW SPEECH RECOGNITION WORKS</a:t>
            </a:r>
            <a:endParaRPr/>
          </a:p>
        </p:txBody>
      </p:sp>
      <p:sp>
        <p:nvSpPr>
          <p:cNvPr id="102" name="Google Shape;102;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3" name="Google Shape;103;p17"/>
          <p:cNvPicPr preferRelativeResize="0"/>
          <p:nvPr/>
        </p:nvPicPr>
        <p:blipFill rotWithShape="1">
          <a:blip r:embed="rId3">
            <a:alphaModFix/>
          </a:blip>
          <a:srcRect b="0" l="0" r="0" t="0"/>
          <a:stretch/>
        </p:blipFill>
        <p:spPr>
          <a:xfrm>
            <a:off x="1935100" y="525375"/>
            <a:ext cx="5009933" cy="28104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18"/>
          <p:cNvPicPr preferRelativeResize="0"/>
          <p:nvPr/>
        </p:nvPicPr>
        <p:blipFill rotWithShape="1">
          <a:blip r:embed="rId3">
            <a:alphaModFix/>
          </a:blip>
          <a:srcRect b="0" l="0" r="0" t="0"/>
          <a:stretch/>
        </p:blipFill>
        <p:spPr>
          <a:xfrm>
            <a:off x="225025" y="1651318"/>
            <a:ext cx="2617551" cy="3492182"/>
          </a:xfrm>
          <a:prstGeom prst="rect">
            <a:avLst/>
          </a:prstGeom>
          <a:noFill/>
          <a:ln>
            <a:noFill/>
          </a:ln>
        </p:spPr>
      </p:pic>
      <p:sp>
        <p:nvSpPr>
          <p:cNvPr id="109" name="Google Shape;109;p18"/>
          <p:cNvSpPr txBox="1"/>
          <p:nvPr>
            <p:ph type="title"/>
          </p:nvPr>
        </p:nvSpPr>
        <p:spPr>
          <a:xfrm>
            <a:off x="2051291" y="114140"/>
            <a:ext cx="5964900" cy="10200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1000"/>
              </a:spcAft>
              <a:buClr>
                <a:schemeClr val="dk1"/>
              </a:buClr>
              <a:buSzPts val="2700"/>
              <a:buFont typeface="Twentieth Century"/>
              <a:buNone/>
            </a:pPr>
            <a:r>
              <a:rPr lang="en"/>
              <a:t>SPEECH RECOGNITION STARTS WITH SOUND</a:t>
            </a:r>
            <a:endParaRPr/>
          </a:p>
        </p:txBody>
      </p:sp>
      <p:sp>
        <p:nvSpPr>
          <p:cNvPr id="110" name="Google Shape;11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11" name="Google Shape;111;p18"/>
          <p:cNvPicPr preferRelativeResize="0"/>
          <p:nvPr/>
        </p:nvPicPr>
        <p:blipFill rotWithShape="1">
          <a:blip r:embed="rId4">
            <a:alphaModFix/>
          </a:blip>
          <a:srcRect b="0" l="0" r="0" t="0"/>
          <a:stretch/>
        </p:blipFill>
        <p:spPr>
          <a:xfrm>
            <a:off x="6455450" y="2358100"/>
            <a:ext cx="2617550" cy="2394725"/>
          </a:xfrm>
          <a:prstGeom prst="rect">
            <a:avLst/>
          </a:prstGeom>
          <a:noFill/>
          <a:ln>
            <a:noFill/>
          </a:ln>
        </p:spPr>
      </p:pic>
      <p:pic>
        <p:nvPicPr>
          <p:cNvPr id="112" name="Google Shape;112;p18"/>
          <p:cNvPicPr preferRelativeResize="0"/>
          <p:nvPr/>
        </p:nvPicPr>
        <p:blipFill rotWithShape="1">
          <a:blip r:embed="rId5">
            <a:alphaModFix/>
          </a:blip>
          <a:srcRect b="17754" l="17799" r="15157" t="0"/>
          <a:stretch/>
        </p:blipFill>
        <p:spPr>
          <a:xfrm>
            <a:off x="3107763" y="2787054"/>
            <a:ext cx="3058800" cy="1876174"/>
          </a:xfrm>
          <a:prstGeom prst="rect">
            <a:avLst/>
          </a:prstGeom>
          <a:noFill/>
          <a:ln>
            <a:noFill/>
          </a:ln>
        </p:spPr>
      </p:pic>
      <p:sp>
        <p:nvSpPr>
          <p:cNvPr id="113" name="Google Shape;113;p18"/>
          <p:cNvSpPr/>
          <p:nvPr/>
        </p:nvSpPr>
        <p:spPr>
          <a:xfrm>
            <a:off x="5849325" y="1195900"/>
            <a:ext cx="1938900" cy="1249200"/>
          </a:xfrm>
          <a:prstGeom prst="wedgeRectCallout">
            <a:avLst>
              <a:gd fmla="val -7756" name="adj1"/>
              <a:gd fmla="val 98082"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Because there’s no sound in a vacuum.</a:t>
            </a:r>
            <a:endParaRPr b="0" i="0" sz="1800" u="none" cap="none" strike="noStrike">
              <a:solidFill>
                <a:schemeClr val="dk1"/>
              </a:solidFill>
              <a:latin typeface="Twentieth Century"/>
              <a:ea typeface="Twentieth Century"/>
              <a:cs typeface="Twentieth Century"/>
              <a:sym typeface="Twentieth Century"/>
            </a:endParaRPr>
          </a:p>
        </p:txBody>
      </p:sp>
      <p:sp>
        <p:nvSpPr>
          <p:cNvPr id="114" name="Google Shape;114;p18"/>
          <p:cNvSpPr/>
          <p:nvPr/>
        </p:nvSpPr>
        <p:spPr>
          <a:xfrm>
            <a:off x="2443800" y="1335400"/>
            <a:ext cx="2128200" cy="1175100"/>
          </a:xfrm>
          <a:prstGeom prst="wedgeRoundRectCallout">
            <a:avLst>
              <a:gd fmla="val -69083" name="adj1"/>
              <a:gd fmla="val 59091"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In space, no one can hear you scream.</a:t>
            </a:r>
            <a:endParaRPr b="0" i="0" sz="1800" u="none" cap="none" strike="noStrike">
              <a:solidFill>
                <a:schemeClr val="dk1"/>
              </a:solidFill>
              <a:latin typeface="Twentieth Century"/>
              <a:ea typeface="Twentieth Century"/>
              <a:cs typeface="Twentieth Century"/>
              <a:sym typeface="Twentieth Century"/>
            </a:endParaRPr>
          </a:p>
        </p:txBody>
      </p:sp>
      <p:sp>
        <p:nvSpPr>
          <p:cNvPr id="115" name="Google Shape;115;p18"/>
          <p:cNvSpPr txBox="1"/>
          <p:nvPr/>
        </p:nvSpPr>
        <p:spPr>
          <a:xfrm>
            <a:off x="613459" y="810717"/>
            <a:ext cx="8630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1800" u="none" cap="none" strike="noStrike">
                <a:solidFill>
                  <a:schemeClr val="dk1"/>
                </a:solidFill>
                <a:latin typeface="Twentieth Century"/>
                <a:ea typeface="Twentieth Century"/>
                <a:cs typeface="Twentieth Century"/>
                <a:sym typeface="Twentieth Century"/>
              </a:rPr>
              <a:t>Physics tells us </a:t>
            </a:r>
            <a:r>
              <a:rPr b="0" i="0" lang="en" sz="1800" u="none" cap="none" strike="noStrike">
                <a:solidFill>
                  <a:srgbClr val="FF0000"/>
                </a:solidFill>
                <a:latin typeface="Permanent Marker"/>
                <a:ea typeface="Permanent Marker"/>
                <a:cs typeface="Permanent Marker"/>
                <a:sym typeface="Permanent Marker"/>
              </a:rPr>
              <a:t>Sound</a:t>
            </a:r>
            <a:r>
              <a:rPr b="0" i="0" lang="en" sz="1800" u="none" cap="none" strike="noStrike">
                <a:solidFill>
                  <a:schemeClr val="dk1"/>
                </a:solidFill>
                <a:latin typeface="Twentieth Century"/>
                <a:ea typeface="Twentieth Century"/>
                <a:cs typeface="Twentieth Century"/>
                <a:sym typeface="Twentieth Century"/>
              </a:rPr>
              <a:t> is a rapid variation in air pressure</a:t>
            </a:r>
            <a:endParaRPr b="0" i="0" sz="4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chemeClr val="dk1"/>
              </a:buClr>
              <a:buSzPct val="100000"/>
              <a:buFont typeface="Twentieth Century"/>
              <a:buNone/>
            </a:pPr>
            <a:r>
              <a:rPr lang="en" sz="2200"/>
              <a:t>A </a:t>
            </a:r>
            <a:r>
              <a:rPr lang="en" sz="2200">
                <a:solidFill>
                  <a:srgbClr val="FF0000"/>
                </a:solidFill>
                <a:latin typeface="Permanent Marker"/>
                <a:ea typeface="Permanent Marker"/>
                <a:cs typeface="Permanent Marker"/>
                <a:sym typeface="Permanent Marker"/>
              </a:rPr>
              <a:t>MICROPHONE</a:t>
            </a:r>
            <a:r>
              <a:rPr lang="en" sz="2200"/>
              <a:t> IS A SENSOR THAT TURNS SOUND INTO AN ELECTRICAL SIGNAL, OR “WAVEFORM”.</a:t>
            </a:r>
            <a:endParaRPr sz="2200"/>
          </a:p>
        </p:txBody>
      </p:sp>
      <p:sp>
        <p:nvSpPr>
          <p:cNvPr id="121" name="Google Shape;12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22" name="Google Shape;122;p19"/>
          <p:cNvPicPr preferRelativeResize="0"/>
          <p:nvPr/>
        </p:nvPicPr>
        <p:blipFill rotWithShape="1">
          <a:blip r:embed="rId3">
            <a:alphaModFix/>
          </a:blip>
          <a:srcRect b="0" l="0" r="0" t="0"/>
          <a:stretch/>
        </p:blipFill>
        <p:spPr>
          <a:xfrm>
            <a:off x="2967713" y="1724339"/>
            <a:ext cx="3208574" cy="2136396"/>
          </a:xfrm>
          <a:prstGeom prst="rect">
            <a:avLst/>
          </a:prstGeom>
          <a:noFill/>
          <a:ln>
            <a:noFill/>
          </a:ln>
        </p:spPr>
      </p:pic>
      <p:pic>
        <p:nvPicPr>
          <p:cNvPr id="123" name="Google Shape;123;p19"/>
          <p:cNvPicPr preferRelativeResize="0"/>
          <p:nvPr/>
        </p:nvPicPr>
        <p:blipFill rotWithShape="1">
          <a:blip r:embed="rId4">
            <a:alphaModFix/>
          </a:blip>
          <a:srcRect b="17797" l="8578" r="7809" t="10120"/>
          <a:stretch/>
        </p:blipFill>
        <p:spPr>
          <a:xfrm flipH="1">
            <a:off x="590024" y="1329786"/>
            <a:ext cx="2256300" cy="2053250"/>
          </a:xfrm>
          <a:prstGeom prst="rect">
            <a:avLst/>
          </a:prstGeom>
          <a:noFill/>
          <a:ln>
            <a:noFill/>
          </a:ln>
        </p:spPr>
      </p:pic>
      <p:sp>
        <p:nvSpPr>
          <p:cNvPr id="124" name="Google Shape;124;p19"/>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pic>
        <p:nvPicPr>
          <p:cNvPr id="125" name="Google Shape;125;p19"/>
          <p:cNvPicPr preferRelativeResize="0"/>
          <p:nvPr/>
        </p:nvPicPr>
        <p:blipFill rotWithShape="1">
          <a:blip r:embed="rId5">
            <a:alphaModFix/>
          </a:blip>
          <a:srcRect b="0" l="25214" r="39035" t="48599"/>
          <a:stretch/>
        </p:blipFill>
        <p:spPr>
          <a:xfrm>
            <a:off x="6783304" y="2082154"/>
            <a:ext cx="1507099" cy="1328193"/>
          </a:xfrm>
          <a:prstGeom prst="rect">
            <a:avLst/>
          </a:prstGeom>
          <a:noFill/>
          <a:ln>
            <a:noFill/>
          </a:ln>
        </p:spPr>
      </p:pic>
      <p:cxnSp>
        <p:nvCxnSpPr>
          <p:cNvPr id="126" name="Google Shape;126;p19"/>
          <p:cNvCxnSpPr/>
          <p:nvPr/>
        </p:nvCxnSpPr>
        <p:spPr>
          <a:xfrm>
            <a:off x="3180215" y="2592052"/>
            <a:ext cx="807300" cy="3600"/>
          </a:xfrm>
          <a:prstGeom prst="straightConnector1">
            <a:avLst/>
          </a:prstGeom>
          <a:noFill/>
          <a:ln cap="flat" cmpd="sng" w="38100">
            <a:solidFill>
              <a:srgbClr val="1155CC"/>
            </a:solidFill>
            <a:prstDash val="solid"/>
            <a:round/>
            <a:headEnd len="sm" w="sm" type="none"/>
            <a:tailEnd len="med" w="med" type="triangle"/>
          </a:ln>
        </p:spPr>
      </p:cxnSp>
      <p:cxnSp>
        <p:nvCxnSpPr>
          <p:cNvPr id="127" name="Google Shape;127;p19"/>
          <p:cNvCxnSpPr/>
          <p:nvPr/>
        </p:nvCxnSpPr>
        <p:spPr>
          <a:xfrm>
            <a:off x="5313744" y="2519452"/>
            <a:ext cx="807300" cy="3600"/>
          </a:xfrm>
          <a:prstGeom prst="straightConnector1">
            <a:avLst/>
          </a:prstGeom>
          <a:noFill/>
          <a:ln cap="flat" cmpd="sng" w="38100">
            <a:solidFill>
              <a:srgbClr val="1155CC"/>
            </a:solidFill>
            <a:prstDash val="solid"/>
            <a:round/>
            <a:headEnd len="sm" w="sm" type="none"/>
            <a:tailEnd len="med" w="med" type="triangle"/>
          </a:ln>
        </p:spPr>
      </p:cxnSp>
      <p:sp>
        <p:nvSpPr>
          <p:cNvPr id="128" name="Google Shape;128;p19"/>
          <p:cNvSpPr txBox="1"/>
          <p:nvPr/>
        </p:nvSpPr>
        <p:spPr>
          <a:xfrm>
            <a:off x="6312325" y="3535425"/>
            <a:ext cx="2956800" cy="1293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 </a:t>
            </a:r>
            <a:r>
              <a:rPr b="0" i="0" lang="en" sz="1800" u="none" cap="none" strike="noStrike">
                <a:solidFill>
                  <a:srgbClr val="FF0000"/>
                </a:solidFill>
                <a:latin typeface="Permanent Marker"/>
                <a:ea typeface="Permanent Marker"/>
                <a:cs typeface="Permanent Marker"/>
                <a:sym typeface="Permanent Marker"/>
              </a:rPr>
              <a:t>Waveform</a:t>
            </a:r>
            <a:endParaRPr b="0" i="0" sz="1800" u="none" cap="none" strike="noStrike">
              <a:solidFill>
                <a:srgbClr val="FF0000"/>
              </a:solidFill>
              <a:latin typeface="Permanent Marker"/>
              <a:ea typeface="Permanent Marker"/>
              <a:cs typeface="Permanent Marker"/>
              <a:sym typeface="Permanent Marker"/>
            </a:endParaRPr>
          </a:p>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is a plot of the voltage over time.</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dk1"/>
              </a:buClr>
              <a:buSzPts val="1800"/>
              <a:buFont typeface="Twentieth Century"/>
              <a:buNone/>
            </a:pPr>
            <a:r>
              <a:t/>
            </a:r>
            <a:endParaRPr sz="1800">
              <a:solidFill>
                <a:schemeClr val="dk1"/>
              </a:solidFill>
              <a:latin typeface="Twentieth Century"/>
              <a:ea typeface="Twentieth Century"/>
              <a:cs typeface="Twentieth Century"/>
              <a:sym typeface="Twentieth Century"/>
            </a:endParaRPr>
          </a:p>
        </p:txBody>
      </p:sp>
      <p:sp>
        <p:nvSpPr>
          <p:cNvPr id="129" name="Google Shape;129;p19"/>
          <p:cNvSpPr txBox="1"/>
          <p:nvPr/>
        </p:nvSpPr>
        <p:spPr>
          <a:xfrm>
            <a:off x="96643" y="3573870"/>
            <a:ext cx="2957100" cy="1569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Sound waves are variations in air pressure.</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When we make sounds the air is vibrating.</a:t>
            </a:r>
            <a:endParaRPr b="0" i="0" sz="1800" u="none" cap="none" strike="noStrike">
              <a:solidFill>
                <a:schemeClr val="dk1"/>
              </a:solidFill>
              <a:latin typeface="Twentieth Century"/>
              <a:ea typeface="Twentieth Century"/>
              <a:cs typeface="Twentieth Century"/>
              <a:sym typeface="Twentieth Century"/>
            </a:endParaRPr>
          </a:p>
        </p:txBody>
      </p:sp>
      <p:sp>
        <p:nvSpPr>
          <p:cNvPr id="130" name="Google Shape;130;p19"/>
          <p:cNvSpPr txBox="1"/>
          <p:nvPr/>
        </p:nvSpPr>
        <p:spPr>
          <a:xfrm>
            <a:off x="3468325" y="3799981"/>
            <a:ext cx="2844000" cy="1293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The microphone is converting </a:t>
            </a:r>
            <a:br>
              <a:rPr b="0" i="0" lang="en" sz="1800" u="none" cap="none" strike="noStrike">
                <a:solidFill>
                  <a:schemeClr val="dk1"/>
                </a:solidFill>
                <a:latin typeface="Twentieth Century"/>
                <a:ea typeface="Twentieth Century"/>
                <a:cs typeface="Twentieth Century"/>
                <a:sym typeface="Twentieth Century"/>
              </a:rPr>
            </a:br>
            <a:r>
              <a:rPr b="0" i="0" lang="en" sz="1800" u="none" cap="none" strike="noStrike">
                <a:solidFill>
                  <a:schemeClr val="dk1"/>
                </a:solidFill>
                <a:latin typeface="Twentieth Century"/>
                <a:ea typeface="Twentieth Century"/>
                <a:cs typeface="Twentieth Century"/>
                <a:sym typeface="Twentieth Century"/>
              </a:rPr>
              <a:t>air pressure to voltage.</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Twentieth Century"/>
              <a:buNone/>
            </a:pPr>
            <a:r>
              <a:t/>
            </a:r>
            <a:endParaRPr sz="1800">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Twentieth Century"/>
              <a:buNone/>
            </a:pPr>
            <a:r>
              <a:t/>
            </a:r>
            <a:endParaRPr sz="18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Clr>
                <a:schemeClr val="dk1"/>
              </a:buClr>
              <a:buSzPts val="2800"/>
              <a:buFont typeface="Twentieth Century"/>
              <a:buNone/>
            </a:pPr>
            <a:r>
              <a:rPr lang="en"/>
              <a:t>LET’S LOOK AT HOW PEOPLE CREATE SOUNDS</a:t>
            </a:r>
            <a:endParaRPr/>
          </a:p>
        </p:txBody>
      </p:sp>
      <p:sp>
        <p:nvSpPr>
          <p:cNvPr id="136" name="Google Shape;136;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The tongue in beatbox mode: Gaucho (Timo Schnepf) performs freestyle inside a real-time MRI scanner (50 images per second).&#10;&#10;Credit: Jens Frahm / Max Planck Institute for Biophysical Chemistry&#10;More about Timo Schnepf: https://m.youtube.com/channel/UCVdDOVHO5dvzbL7BmlwmgFg" id="137" name="Google Shape;137;p20" title="Beatboxing in real time (long version)">
            <a:hlinkClick r:id="rId3"/>
          </p:cNvPr>
          <p:cNvPicPr preferRelativeResize="0"/>
          <p:nvPr/>
        </p:nvPicPr>
        <p:blipFill rotWithShape="1">
          <a:blip r:embed="rId4">
            <a:alphaModFix/>
          </a:blip>
          <a:srcRect b="0" l="0" r="0" t="0"/>
          <a:stretch/>
        </p:blipFill>
        <p:spPr>
          <a:xfrm>
            <a:off x="2420875" y="1170125"/>
            <a:ext cx="4572000" cy="2940958"/>
          </a:xfrm>
          <a:prstGeom prst="rect">
            <a:avLst/>
          </a:prstGeom>
          <a:noFill/>
          <a:ln>
            <a:noFill/>
          </a:ln>
        </p:spPr>
      </p:pic>
      <p:sp>
        <p:nvSpPr>
          <p:cNvPr id="138" name="Google Shape;138;p20"/>
          <p:cNvSpPr txBox="1"/>
          <p:nvPr/>
        </p:nvSpPr>
        <p:spPr>
          <a:xfrm>
            <a:off x="2325179" y="4270546"/>
            <a:ext cx="4946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hlink"/>
              </a:buClr>
              <a:buSzPts val="1800"/>
              <a:buFont typeface="Twentieth Century"/>
              <a:buNone/>
            </a:pPr>
            <a:r>
              <a:rPr b="0" i="0" lang="en" sz="1800" u="sng" cap="none" strike="noStrike">
                <a:solidFill>
                  <a:schemeClr val="hlink"/>
                </a:solidFill>
                <a:latin typeface="Twentieth Century"/>
                <a:ea typeface="Twentieth Century"/>
                <a:cs typeface="Twentieth Century"/>
                <a:sym typeface="Twentieth Century"/>
                <a:hlinkClick r:id="rId5"/>
              </a:rPr>
              <a:t>https://www.youtube.com/watch?v=Wh4aEc4yPh0</a:t>
            </a:r>
            <a:r>
              <a:rPr b="0" i="0" lang="en" sz="1800" u="none" cap="none" strike="noStrike">
                <a:solidFill>
                  <a:schemeClr val="dk1"/>
                </a:solidFill>
                <a:latin typeface="Twentieth Century"/>
                <a:ea typeface="Twentieth Century"/>
                <a:cs typeface="Twentieth Century"/>
                <a:sym typeface="Twentieth Century"/>
              </a:rPr>
              <a:t> (1 min)</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1"/>
          <p:cNvSpPr txBox="1"/>
          <p:nvPr>
            <p:ph type="title"/>
          </p:nvPr>
        </p:nvSpPr>
        <p:spPr>
          <a:xfrm>
            <a:off x="226208" y="714850"/>
            <a:ext cx="8520600" cy="1662600"/>
          </a:xfrm>
          <a:prstGeom prst="rect">
            <a:avLst/>
          </a:prstGeom>
          <a:noFill/>
          <a:ln>
            <a:noFill/>
          </a:ln>
        </p:spPr>
        <p:txBody>
          <a:bodyPr anchorCtr="0" anchor="ctr" bIns="91425" lIns="91425" spcFirstLastPara="1" rIns="91425" wrap="square" tIns="91425">
            <a:normAutofit/>
          </a:bodyPr>
          <a:lstStyle/>
          <a:p>
            <a:pPr indent="0" lvl="0" marL="0" rtl="0" algn="ctr">
              <a:lnSpc>
                <a:spcPct val="120000"/>
              </a:lnSpc>
              <a:spcBef>
                <a:spcPts val="0"/>
              </a:spcBef>
              <a:spcAft>
                <a:spcPts val="0"/>
              </a:spcAft>
              <a:buClr>
                <a:schemeClr val="dk1"/>
              </a:buClr>
              <a:buSzPts val="3600"/>
              <a:buFont typeface="Twentieth Century"/>
              <a:buNone/>
            </a:pPr>
            <a:r>
              <a:rPr lang="en" sz="2800"/>
              <a:t>WHAT DID YOU NOTICE ABOUT HOW THE TONGUE AND LIPS WERE INVOLVED IN BEATBOXING?</a:t>
            </a:r>
            <a:endParaRPr sz="2800"/>
          </a:p>
        </p:txBody>
      </p:sp>
      <p:sp>
        <p:nvSpPr>
          <p:cNvPr id="144" name="Google Shape;144;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1"/>
          <p:cNvSpPr/>
          <p:nvPr/>
        </p:nvSpPr>
        <p:spPr>
          <a:xfrm>
            <a:off x="0" y="3391271"/>
            <a:ext cx="9021125" cy="644700"/>
          </a:xfrm>
          <a:prstGeom prst="rect">
            <a:avLst/>
          </a:prstGeom>
          <a:solidFill>
            <a:srgbClr val="FCE5C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4000"/>
              <a:buFont typeface="Twentieth Century"/>
              <a:buNone/>
            </a:pPr>
            <a:r>
              <a:rPr b="0" i="0" lang="en" sz="4000" u="none" cap="none" strike="noStrike">
                <a:solidFill>
                  <a:schemeClr val="dk1"/>
                </a:solidFill>
                <a:latin typeface="Twentieth Century"/>
                <a:ea typeface="Twentieth Century"/>
                <a:cs typeface="Twentieth Century"/>
                <a:sym typeface="Twentieth Century"/>
              </a:rPr>
              <a:t>Discussion</a:t>
            </a:r>
            <a:endParaRPr b="0" i="0" sz="4000" u="none" cap="none" strike="noStrike">
              <a:solidFill>
                <a:schemeClr val="dk1"/>
              </a:solidFill>
              <a:latin typeface="Twentieth Century"/>
              <a:ea typeface="Twentieth Century"/>
              <a:cs typeface="Twentieth Century"/>
              <a:sym typeface="Twentieth Century"/>
            </a:endParaRPr>
          </a:p>
        </p:txBody>
      </p:sp>
      <p:pic>
        <p:nvPicPr>
          <p:cNvPr descr="Any questions GIFs - Get the best gif on GIFER" id="146" name="Google Shape;146;p21"/>
          <p:cNvPicPr preferRelativeResize="0"/>
          <p:nvPr/>
        </p:nvPicPr>
        <p:blipFill rotWithShape="1">
          <a:blip r:embed="rId3">
            <a:alphaModFix/>
          </a:blip>
          <a:srcRect b="0" l="0" r="0" t="0"/>
          <a:stretch/>
        </p:blipFill>
        <p:spPr>
          <a:xfrm>
            <a:off x="616105" y="3038360"/>
            <a:ext cx="1905000" cy="1743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title"/>
          </p:nvPr>
        </p:nvSpPr>
        <p:spPr>
          <a:xfrm>
            <a:off x="311700" y="2926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chemeClr val="dk1"/>
              </a:buClr>
              <a:buSzPct val="111109"/>
              <a:buFont typeface="Twentieth Century"/>
              <a:buNone/>
            </a:pPr>
            <a:r>
              <a:rPr lang="en"/>
              <a:t>HUMAN ARTICULATORY APPARATUS: </a:t>
            </a:r>
            <a:br>
              <a:rPr lang="en"/>
            </a:br>
            <a:r>
              <a:rPr lang="en"/>
              <a:t>HOW WE PRODUCE SPEECH</a:t>
            </a:r>
            <a:endParaRPr/>
          </a:p>
        </p:txBody>
      </p:sp>
      <p:sp>
        <p:nvSpPr>
          <p:cNvPr id="152" name="Google Shape;15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53" name="Google Shape;153;p22"/>
          <p:cNvPicPr preferRelativeResize="0"/>
          <p:nvPr/>
        </p:nvPicPr>
        <p:blipFill rotWithShape="1">
          <a:blip r:embed="rId3">
            <a:alphaModFix/>
          </a:blip>
          <a:srcRect b="0" l="0" r="0" t="0"/>
          <a:stretch/>
        </p:blipFill>
        <p:spPr>
          <a:xfrm>
            <a:off x="550500" y="1175929"/>
            <a:ext cx="7809975" cy="3599746"/>
          </a:xfrm>
          <a:prstGeom prst="rect">
            <a:avLst/>
          </a:prstGeom>
          <a:noFill/>
          <a:ln>
            <a:noFill/>
          </a:ln>
        </p:spPr>
      </p:pic>
      <p:sp>
        <p:nvSpPr>
          <p:cNvPr id="154" name="Google Shape;154;p22"/>
          <p:cNvSpPr txBox="1"/>
          <p:nvPr/>
        </p:nvSpPr>
        <p:spPr>
          <a:xfrm>
            <a:off x="57525" y="4859625"/>
            <a:ext cx="7748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000"/>
              <a:buFont typeface="Twentieth Century"/>
              <a:buNone/>
            </a:pPr>
            <a:r>
              <a:rPr b="0" i="0" lang="en" sz="1000" u="none" cap="none" strike="noStrike">
                <a:solidFill>
                  <a:schemeClr val="dk1"/>
                </a:solidFill>
                <a:latin typeface="Twentieth Century"/>
                <a:ea typeface="Twentieth Century"/>
                <a:cs typeface="Twentieth Century"/>
                <a:sym typeface="Twentieth Century"/>
              </a:rPr>
              <a:t>Source: https://link.springer.com/referenceworkentry/10.1007%2F978-0-387-73003-5_199</a:t>
            </a:r>
            <a:endParaRPr b="0" i="0" sz="10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Clr>
                <a:schemeClr val="dk1"/>
              </a:buClr>
              <a:buSzPts val="2800"/>
              <a:buFont typeface="Twentieth Century"/>
              <a:buNone/>
            </a:pPr>
            <a:r>
              <a:rPr lang="en"/>
              <a:t>ADDITIONAL MRI VOCAL TRACT VIDEOS</a:t>
            </a:r>
            <a:endParaRPr/>
          </a:p>
        </p:txBody>
      </p:sp>
      <p:sp>
        <p:nvSpPr>
          <p:cNvPr id="160" name="Google Shape;16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Here you see what happens while whistling - Live MRI.&#10;&#10;Thanks to Max Planck Institute Göttingen (GER), especially to the Inventor Prof. Dr. Jens Frahm and his Team for making this great experiment possible.&#10;&#10;https://www.youtube.com/user/MaxPlanckSociety/featured" id="161" name="Google Shape;161;p23" title="Real-time MRI whistling / Sirus the whistler">
            <a:hlinkClick r:id="rId3"/>
          </p:cNvPr>
          <p:cNvPicPr preferRelativeResize="0"/>
          <p:nvPr/>
        </p:nvPicPr>
        <p:blipFill rotWithShape="1">
          <a:blip r:embed="rId4">
            <a:alphaModFix/>
          </a:blip>
          <a:srcRect b="0" l="0" r="0" t="0"/>
          <a:stretch/>
        </p:blipFill>
        <p:spPr>
          <a:xfrm>
            <a:off x="152400" y="1170125"/>
            <a:ext cx="4267200" cy="3200400"/>
          </a:xfrm>
          <a:prstGeom prst="rect">
            <a:avLst/>
          </a:prstGeom>
          <a:noFill/>
          <a:ln>
            <a:noFill/>
          </a:ln>
        </p:spPr>
      </p:pic>
      <p:pic>
        <p:nvPicPr>
          <p:cNvPr descr="This video is discussed in Douglas Yeo's article: &#10;&#10;https://thelasttrombone.com/2017/08/22/seeing-the-unseen-trombone-playing-through-the-eye-of-a-mri-scanner-with-the-mri-brass-repository-project/&#10;&#10;This real-time MRI video is part of the MRI Brass Repository Project, www.gordon.edu/mrihorn&#10;&#10;Recorded in April 2017 at the Max Planck Institute for Biophysical Chemistry, Göttingen, Germany" id="162" name="Google Shape;162;p23" title="Douglas Yeo, trombone - MRI video 3 - articulated arpeggio">
            <a:hlinkClick r:id="rId5"/>
          </p:cNvPr>
          <p:cNvPicPr preferRelativeResize="0"/>
          <p:nvPr/>
        </p:nvPicPr>
        <p:blipFill rotWithShape="1">
          <a:blip r:embed="rId6">
            <a:alphaModFix/>
          </a:blip>
          <a:srcRect b="0" l="0" r="0" t="0"/>
          <a:stretch/>
        </p:blipFill>
        <p:spPr>
          <a:xfrm>
            <a:off x="4724400" y="1193503"/>
            <a:ext cx="4267200" cy="3200400"/>
          </a:xfrm>
          <a:prstGeom prst="rect">
            <a:avLst/>
          </a:prstGeom>
          <a:noFill/>
          <a:ln>
            <a:noFill/>
          </a:ln>
        </p:spPr>
      </p:pic>
      <p:sp>
        <p:nvSpPr>
          <p:cNvPr id="163" name="Google Shape;163;p23"/>
          <p:cNvSpPr txBox="1"/>
          <p:nvPr/>
        </p:nvSpPr>
        <p:spPr>
          <a:xfrm>
            <a:off x="4594500" y="4370525"/>
            <a:ext cx="4314600" cy="703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Trombone: </a:t>
            </a:r>
            <a:r>
              <a:rPr b="0" i="0" lang="en" sz="1300" u="sng" cap="none" strike="noStrike">
                <a:solidFill>
                  <a:schemeClr val="accent5"/>
                </a:solidFill>
                <a:latin typeface="Twentieth Century"/>
                <a:ea typeface="Twentieth Century"/>
                <a:cs typeface="Twentieth Century"/>
                <a:sym typeface="Twentieth Century"/>
                <a:hlinkClick r:id="rId7">
                  <a:extLst>
                    <a:ext uri="{A12FA001-AC4F-418D-AE19-62706E023703}">
                      <ahyp:hlinkClr val="tx"/>
                    </a:ext>
                  </a:extLst>
                </a:hlinkClick>
              </a:rPr>
              <a:t>https://www.youtube.com/watch?v=m0yAVe2Sz5M</a:t>
            </a:r>
            <a:endParaRPr b="0" i="0" sz="900" u="none" cap="none" strike="noStrike">
              <a:solidFill>
                <a:schemeClr val="dk1"/>
              </a:solidFill>
              <a:latin typeface="Twentieth Century"/>
              <a:ea typeface="Twentieth Century"/>
              <a:cs typeface="Twentieth Century"/>
              <a:sym typeface="Twentieth Century"/>
            </a:endParaRPr>
          </a:p>
        </p:txBody>
      </p:sp>
      <p:sp>
        <p:nvSpPr>
          <p:cNvPr id="164" name="Google Shape;164;p23"/>
          <p:cNvSpPr txBox="1"/>
          <p:nvPr/>
        </p:nvSpPr>
        <p:spPr>
          <a:xfrm>
            <a:off x="152400" y="4385050"/>
            <a:ext cx="4314600" cy="904833"/>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Whistler</a:t>
            </a:r>
            <a:r>
              <a:rPr b="0" i="0" lang="en" sz="1400" u="none" cap="none" strike="noStrike">
                <a:solidFill>
                  <a:schemeClr val="dk1"/>
                </a:solidFill>
                <a:latin typeface="Twentieth Century"/>
                <a:ea typeface="Twentieth Century"/>
                <a:cs typeface="Twentieth Century"/>
                <a:sym typeface="Twentieth Century"/>
              </a:rPr>
              <a:t>: </a:t>
            </a:r>
            <a:r>
              <a:rPr b="0" i="0" lang="en" sz="1400" u="sng" cap="none" strike="noStrike">
                <a:solidFill>
                  <a:schemeClr val="hlink"/>
                </a:solidFill>
                <a:latin typeface="Twentieth Century"/>
                <a:ea typeface="Twentieth Century"/>
                <a:cs typeface="Twentieth Century"/>
                <a:sym typeface="Twentieth Century"/>
                <a:hlinkClick r:id="rId8"/>
              </a:rPr>
              <a:t>https://www.youtube.com/watch?v=Naeze0cvM9A</a:t>
            </a:r>
            <a:endParaRPr b="0" i="0" sz="1400" u="none" cap="none" strike="noStrike">
              <a:solidFill>
                <a:schemeClr val="dk1"/>
              </a:solidFill>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4"/>
          <p:cNvPicPr preferRelativeResize="0"/>
          <p:nvPr/>
        </p:nvPicPr>
        <p:blipFill rotWithShape="1">
          <a:blip r:embed="rId3">
            <a:alphaModFix/>
          </a:blip>
          <a:srcRect b="0" l="0" r="0" t="0"/>
          <a:stretch/>
        </p:blipFill>
        <p:spPr>
          <a:xfrm>
            <a:off x="4347337" y="76200"/>
            <a:ext cx="4720463" cy="4587025"/>
          </a:xfrm>
          <a:prstGeom prst="rect">
            <a:avLst/>
          </a:prstGeom>
          <a:noFill/>
          <a:ln>
            <a:noFill/>
          </a:ln>
        </p:spPr>
      </p:pic>
      <p:sp>
        <p:nvSpPr>
          <p:cNvPr id="170" name="Google Shape;170;p24"/>
          <p:cNvSpPr txBox="1"/>
          <p:nvPr>
            <p:ph type="title"/>
          </p:nvPr>
        </p:nvSpPr>
        <p:spPr>
          <a:xfrm>
            <a:off x="311700" y="368825"/>
            <a:ext cx="49368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chemeClr val="dk1"/>
              </a:buClr>
              <a:buSzPct val="111109"/>
              <a:buFont typeface="Twentieth Century"/>
              <a:buNone/>
            </a:pPr>
            <a:r>
              <a:rPr lang="en"/>
              <a:t>PLAY WITH THE VOCAL TRACT DEMO</a:t>
            </a:r>
            <a:br>
              <a:rPr lang="en"/>
            </a:br>
            <a:r>
              <a:rPr i="1" lang="en"/>
              <a:t>(HUMAN VOCAL TRACT)</a:t>
            </a:r>
            <a:endParaRPr i="1"/>
          </a:p>
        </p:txBody>
      </p:sp>
      <p:sp>
        <p:nvSpPr>
          <p:cNvPr id="171" name="Google Shape;171;p24"/>
          <p:cNvSpPr txBox="1"/>
          <p:nvPr>
            <p:ph idx="1" type="body"/>
          </p:nvPr>
        </p:nvSpPr>
        <p:spPr>
          <a:xfrm>
            <a:off x="311700" y="4453375"/>
            <a:ext cx="8520600" cy="3393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1350"/>
              <a:t>VOCAL TRACT DEMO: </a:t>
            </a:r>
            <a:r>
              <a:rPr lang="en" sz="1350" u="sng">
                <a:solidFill>
                  <a:schemeClr val="hlink"/>
                </a:solidFill>
                <a:hlinkClick r:id="rId4"/>
              </a:rPr>
              <a:t>HTTPS://WWW.CS.CMU.EDU/~DST/VOCALTRACTDEMO</a:t>
            </a:r>
            <a:endParaRPr sz="1350"/>
          </a:p>
          <a:p>
            <a:pPr indent="0" lvl="0" marL="0" rtl="0" algn="l">
              <a:lnSpc>
                <a:spcPct val="95000"/>
              </a:lnSpc>
              <a:spcBef>
                <a:spcPts val="1200"/>
              </a:spcBef>
              <a:spcAft>
                <a:spcPts val="0"/>
              </a:spcAft>
              <a:buClr>
                <a:schemeClr val="dk1"/>
              </a:buClr>
              <a:buSzPts val="275"/>
              <a:buFont typeface="Arial"/>
              <a:buNone/>
            </a:pPr>
            <a:r>
              <a:t/>
            </a:r>
            <a:endParaRPr sz="1350"/>
          </a:p>
          <a:p>
            <a:pPr indent="0" lvl="0" marL="0" rtl="0" algn="l">
              <a:lnSpc>
                <a:spcPct val="95000"/>
              </a:lnSpc>
              <a:spcBef>
                <a:spcPts val="1200"/>
              </a:spcBef>
              <a:spcAft>
                <a:spcPts val="1200"/>
              </a:spcAft>
              <a:buSzPts val="275"/>
              <a:buNone/>
            </a:pPr>
            <a:r>
              <a:t/>
            </a:r>
            <a:endParaRPr sz="1350"/>
          </a:p>
        </p:txBody>
      </p:sp>
      <p:sp>
        <p:nvSpPr>
          <p:cNvPr id="172" name="Google Shape;172;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73" name="Google Shape;173;p24"/>
          <p:cNvPicPr preferRelativeResize="0"/>
          <p:nvPr/>
        </p:nvPicPr>
        <p:blipFill rotWithShape="1">
          <a:blip r:embed="rId5">
            <a:alphaModFix/>
          </a:blip>
          <a:srcRect b="0" l="0" r="0" t="0"/>
          <a:stretch/>
        </p:blipFill>
        <p:spPr>
          <a:xfrm>
            <a:off x="1068625" y="1322525"/>
            <a:ext cx="2437395" cy="3130850"/>
          </a:xfrm>
          <a:prstGeom prst="rect">
            <a:avLst/>
          </a:prstGeom>
          <a:noFill/>
          <a:ln>
            <a:noFill/>
          </a:ln>
        </p:spPr>
      </p:pic>
      <p:sp>
        <p:nvSpPr>
          <p:cNvPr id="174" name="Google Shape;174;p24"/>
          <p:cNvSpPr txBox="1"/>
          <p:nvPr/>
        </p:nvSpPr>
        <p:spPr>
          <a:xfrm>
            <a:off x="311700" y="4792675"/>
            <a:ext cx="6388500" cy="3822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1200"/>
              </a:spcAft>
              <a:buClr>
                <a:schemeClr val="dk1"/>
              </a:buClr>
              <a:buSzPts val="275"/>
              <a:buFont typeface="Arial"/>
              <a:buNone/>
            </a:pPr>
            <a:r>
              <a:rPr b="0" i="0" lang="en" sz="1350" u="none" cap="none" strike="noStrike">
                <a:solidFill>
                  <a:schemeClr val="dk2"/>
                </a:solidFill>
                <a:latin typeface="Twentieth Century"/>
                <a:ea typeface="Twentieth Century"/>
                <a:cs typeface="Twentieth Century"/>
                <a:sym typeface="Twentieth Century"/>
              </a:rPr>
              <a:t>Video of the demo: </a:t>
            </a:r>
            <a:r>
              <a:rPr b="0" i="0" lang="en" sz="1350" u="sng" cap="none" strike="noStrike">
                <a:solidFill>
                  <a:schemeClr val="accent5"/>
                </a:solidFill>
                <a:latin typeface="Twentieth Century"/>
                <a:ea typeface="Twentieth Century"/>
                <a:cs typeface="Twentieth Century"/>
                <a:sym typeface="Twentieth Century"/>
                <a:hlinkClick r:id="rId6">
                  <a:extLst>
                    <a:ext uri="{A12FA001-AC4F-418D-AE19-62706E023703}">
                      <ahyp:hlinkClr val="tx"/>
                    </a:ext>
                  </a:extLst>
                </a:hlinkClick>
              </a:rPr>
              <a:t>https://experiments.withgoogle.com/pink-trombone</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5"/>
          <p:cNvSpPr txBox="1"/>
          <p:nvPr>
            <p:ph type="title"/>
          </p:nvPr>
        </p:nvSpPr>
        <p:spPr>
          <a:xfrm>
            <a:off x="311700" y="2926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dk1"/>
              </a:buClr>
              <a:buSzPts val="2800"/>
              <a:buFont typeface="Twentieth Century"/>
              <a:buNone/>
            </a:pPr>
            <a:r>
              <a:rPr lang="en"/>
              <a:t>WHAT DOES SOUND LOOK LIKE?</a:t>
            </a:r>
            <a:endParaRPr/>
          </a:p>
        </p:txBody>
      </p:sp>
      <p:sp>
        <p:nvSpPr>
          <p:cNvPr id="180" name="Google Shape;180;p25"/>
          <p:cNvSpPr txBox="1"/>
          <p:nvPr>
            <p:ph idx="1" type="body"/>
          </p:nvPr>
        </p:nvSpPr>
        <p:spPr>
          <a:xfrm>
            <a:off x="311700" y="8476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t/>
            </a:r>
            <a:endParaRPr/>
          </a:p>
          <a:p>
            <a:pPr indent="0" lvl="0" marL="0" rtl="0" algn="l">
              <a:lnSpc>
                <a:spcPct val="120000"/>
              </a:lnSpc>
              <a:spcBef>
                <a:spcPts val="1200"/>
              </a:spcBef>
              <a:spcAft>
                <a:spcPts val="0"/>
              </a:spcAft>
              <a:buSzPts val="1800"/>
              <a:buNone/>
            </a:pPr>
            <a:r>
              <a:t/>
            </a:r>
            <a:endParaRPr/>
          </a:p>
          <a:p>
            <a:pPr indent="0" lvl="0" marL="0" rtl="0" algn="l">
              <a:lnSpc>
                <a:spcPct val="120000"/>
              </a:lnSpc>
              <a:spcBef>
                <a:spcPts val="1200"/>
              </a:spcBef>
              <a:spcAft>
                <a:spcPts val="1200"/>
              </a:spcAft>
              <a:buSzPts val="1800"/>
              <a:buNone/>
            </a:pPr>
            <a:r>
              <a:t/>
            </a:r>
            <a:endParaRPr/>
          </a:p>
        </p:txBody>
      </p:sp>
      <p:sp>
        <p:nvSpPr>
          <p:cNvPr id="181" name="Google Shape;181;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2" name="Google Shape;182;p25"/>
          <p:cNvPicPr preferRelativeResize="0"/>
          <p:nvPr/>
        </p:nvPicPr>
        <p:blipFill rotWithShape="1">
          <a:blip r:embed="rId3">
            <a:alphaModFix/>
          </a:blip>
          <a:srcRect b="0" l="0" r="0" t="0"/>
          <a:stretch/>
        </p:blipFill>
        <p:spPr>
          <a:xfrm>
            <a:off x="3464275" y="1171267"/>
            <a:ext cx="3754310" cy="3017325"/>
          </a:xfrm>
          <a:prstGeom prst="rect">
            <a:avLst/>
          </a:prstGeom>
          <a:noFill/>
          <a:ln>
            <a:noFill/>
          </a:ln>
        </p:spPr>
      </p:pic>
      <p:sp>
        <p:nvSpPr>
          <p:cNvPr id="183" name="Google Shape;183;p25"/>
          <p:cNvSpPr txBox="1"/>
          <p:nvPr/>
        </p:nvSpPr>
        <p:spPr>
          <a:xfrm>
            <a:off x="4944950" y="4339275"/>
            <a:ext cx="9039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sp>
        <p:nvSpPr>
          <p:cNvPr id="184" name="Google Shape;184;p25"/>
          <p:cNvSpPr txBox="1"/>
          <p:nvPr/>
        </p:nvSpPr>
        <p:spPr>
          <a:xfrm rot="-5400000">
            <a:off x="2426275" y="2371160"/>
            <a:ext cx="1597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Amplitude</a:t>
            </a:r>
            <a:endParaRPr b="0" i="0" sz="1800" u="none" cap="none" strike="noStrike">
              <a:solidFill>
                <a:schemeClr val="dk1"/>
              </a:solidFill>
              <a:latin typeface="Twentieth Century"/>
              <a:ea typeface="Twentieth Century"/>
              <a:cs typeface="Twentieth Century"/>
              <a:sym typeface="Twentieth Century"/>
            </a:endParaRPr>
          </a:p>
        </p:txBody>
      </p:sp>
      <p:sp>
        <p:nvSpPr>
          <p:cNvPr id="185" name="Google Shape;185;p25"/>
          <p:cNvSpPr txBox="1"/>
          <p:nvPr/>
        </p:nvSpPr>
        <p:spPr>
          <a:xfrm>
            <a:off x="5939475" y="126425"/>
            <a:ext cx="3000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0000"/>
              </a:buClr>
              <a:buSzPts val="1800"/>
              <a:buFont typeface="Permanent Marker"/>
              <a:buNone/>
            </a:pPr>
            <a:r>
              <a:rPr b="0" i="0" lang="en" sz="1800" u="none" cap="none" strike="noStrike">
                <a:solidFill>
                  <a:srgbClr val="FF0000"/>
                </a:solidFill>
                <a:latin typeface="Permanent Marker"/>
                <a:ea typeface="Permanent Marker"/>
                <a:cs typeface="Permanent Marker"/>
                <a:sym typeface="Permanent Marker"/>
              </a:rPr>
              <a:t>Oscilloscope</a:t>
            </a:r>
            <a:r>
              <a:rPr b="0" i="0" lang="en" sz="1800" u="none" cap="none" strike="noStrike">
                <a:solidFill>
                  <a:schemeClr val="dk1"/>
                </a:solidFill>
                <a:latin typeface="Twentieth Century"/>
                <a:ea typeface="Twentieth Century"/>
                <a:cs typeface="Twentieth Century"/>
                <a:sym typeface="Twentieth Century"/>
              </a:rPr>
              <a:t> - a device for displaying waveforms</a:t>
            </a:r>
            <a:endParaRPr b="0" i="0" sz="1800" u="none" cap="none" strike="noStrike">
              <a:solidFill>
                <a:schemeClr val="dk1"/>
              </a:solidFill>
              <a:latin typeface="Twentieth Century"/>
              <a:ea typeface="Twentieth Century"/>
              <a:cs typeface="Twentieth Century"/>
              <a:sym typeface="Twentieth Century"/>
            </a:endParaRPr>
          </a:p>
        </p:txBody>
      </p:sp>
      <p:pic>
        <p:nvPicPr>
          <p:cNvPr id="186" name="Google Shape;186;p25"/>
          <p:cNvPicPr preferRelativeResize="0"/>
          <p:nvPr/>
        </p:nvPicPr>
        <p:blipFill rotWithShape="1">
          <a:blip r:embed="rId4">
            <a:alphaModFix/>
          </a:blip>
          <a:srcRect b="0" l="0" r="39039" t="0"/>
          <a:stretch/>
        </p:blipFill>
        <p:spPr>
          <a:xfrm>
            <a:off x="741878" y="1924925"/>
            <a:ext cx="1692600" cy="1701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6"/>
          <p:cNvSpPr txBox="1"/>
          <p:nvPr>
            <p:ph type="title"/>
          </p:nvPr>
        </p:nvSpPr>
        <p:spPr>
          <a:xfrm>
            <a:off x="311700" y="2926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dk1"/>
              </a:buClr>
              <a:buSzPts val="2800"/>
              <a:buFont typeface="Twentieth Century"/>
              <a:buNone/>
            </a:pPr>
            <a:r>
              <a:rPr lang="en"/>
              <a:t>TRY IT: OSCILLOSCOPE DEMO </a:t>
            </a:r>
            <a:endParaRPr/>
          </a:p>
        </p:txBody>
      </p:sp>
      <p:sp>
        <p:nvSpPr>
          <p:cNvPr id="192" name="Google Shape;192;p26"/>
          <p:cNvSpPr txBox="1"/>
          <p:nvPr>
            <p:ph idx="1" type="body"/>
          </p:nvPr>
        </p:nvSpPr>
        <p:spPr>
          <a:xfrm>
            <a:off x="311700" y="8476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rPr lang="en"/>
              <a:t>STEP 1: OPEN: </a:t>
            </a:r>
            <a:r>
              <a:rPr lang="en" sz="1600" u="sng">
                <a:solidFill>
                  <a:schemeClr val="hlink"/>
                </a:solidFill>
                <a:hlinkClick r:id="rId3"/>
              </a:rPr>
              <a:t>HTTPS://ACADEMO.ORG/DEMOS/VIRTUAL-OSCILLOSCOPE/</a:t>
            </a:r>
            <a:endParaRPr sz="1600"/>
          </a:p>
          <a:p>
            <a:pPr indent="0" lvl="0" marL="0" rtl="0" algn="l">
              <a:lnSpc>
                <a:spcPct val="120000"/>
              </a:lnSpc>
              <a:spcBef>
                <a:spcPts val="1200"/>
              </a:spcBef>
              <a:spcAft>
                <a:spcPts val="0"/>
              </a:spcAft>
              <a:buSzPts val="1800"/>
              <a:buNone/>
            </a:pPr>
            <a:r>
              <a:rPr lang="en"/>
              <a:t>STEP 2: SET SECONDS/DIV TO 5 MS</a:t>
            </a:r>
            <a:endParaRPr/>
          </a:p>
          <a:p>
            <a:pPr indent="0" lvl="0" marL="0" rtl="0" algn="l">
              <a:lnSpc>
                <a:spcPct val="120000"/>
              </a:lnSpc>
              <a:spcBef>
                <a:spcPts val="1200"/>
              </a:spcBef>
              <a:spcAft>
                <a:spcPts val="0"/>
              </a:spcAft>
              <a:buSzPts val="1800"/>
              <a:buNone/>
            </a:pPr>
            <a:r>
              <a:rPr lang="en"/>
              <a:t>STEP 3: TALK INTO THE MIC </a:t>
            </a:r>
            <a:br>
              <a:rPr lang="en"/>
            </a:br>
            <a:r>
              <a:rPr lang="en"/>
              <a:t>	      TO SEE WHAT YOUR </a:t>
            </a:r>
            <a:br>
              <a:rPr lang="en"/>
            </a:br>
            <a:r>
              <a:rPr lang="en"/>
              <a:t>             SPEECH LOOKS LIKE</a:t>
            </a:r>
            <a:endParaRPr/>
          </a:p>
          <a:p>
            <a:pPr indent="0" lvl="0" marL="0" rtl="0" algn="l">
              <a:lnSpc>
                <a:spcPct val="120000"/>
              </a:lnSpc>
              <a:spcBef>
                <a:spcPts val="1200"/>
              </a:spcBef>
              <a:spcAft>
                <a:spcPts val="0"/>
              </a:spcAft>
              <a:buSzPts val="1800"/>
              <a:buNone/>
            </a:pPr>
            <a:r>
              <a:t/>
            </a:r>
            <a:endParaRPr/>
          </a:p>
          <a:p>
            <a:pPr indent="0" lvl="0" marL="0" rtl="0" algn="l">
              <a:lnSpc>
                <a:spcPct val="120000"/>
              </a:lnSpc>
              <a:spcBef>
                <a:spcPts val="1200"/>
              </a:spcBef>
              <a:spcAft>
                <a:spcPts val="1200"/>
              </a:spcAft>
              <a:buSzPts val="1800"/>
              <a:buNone/>
            </a:pPr>
            <a:r>
              <a:t/>
            </a:r>
            <a:endParaRPr/>
          </a:p>
        </p:txBody>
      </p:sp>
      <p:sp>
        <p:nvSpPr>
          <p:cNvPr id="193" name="Google Shape;19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194" name="Google Shape;194;p26"/>
          <p:cNvGrpSpPr/>
          <p:nvPr/>
        </p:nvGrpSpPr>
        <p:grpSpPr>
          <a:xfrm>
            <a:off x="3207325" y="1736025"/>
            <a:ext cx="5741600" cy="3040125"/>
            <a:chOff x="1769275" y="1929125"/>
            <a:chExt cx="5741600" cy="3040125"/>
          </a:xfrm>
        </p:grpSpPr>
        <p:pic>
          <p:nvPicPr>
            <p:cNvPr id="195" name="Google Shape;195;p26"/>
            <p:cNvPicPr preferRelativeResize="0"/>
            <p:nvPr/>
          </p:nvPicPr>
          <p:blipFill rotWithShape="1">
            <a:blip r:embed="rId4">
              <a:alphaModFix/>
            </a:blip>
            <a:srcRect b="0" l="0" r="0" t="0"/>
            <a:stretch/>
          </p:blipFill>
          <p:spPr>
            <a:xfrm>
              <a:off x="1769275" y="1929125"/>
              <a:ext cx="5741600" cy="3040125"/>
            </a:xfrm>
            <a:prstGeom prst="rect">
              <a:avLst/>
            </a:prstGeom>
            <a:noFill/>
            <a:ln>
              <a:noFill/>
            </a:ln>
          </p:spPr>
        </p:pic>
        <p:sp>
          <p:nvSpPr>
            <p:cNvPr id="196" name="Google Shape;196;p26"/>
            <p:cNvSpPr/>
            <p:nvPr/>
          </p:nvSpPr>
          <p:spPr>
            <a:xfrm>
              <a:off x="6117825" y="4092050"/>
              <a:ext cx="1315200" cy="4716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90000"/>
              </a:lnSpc>
              <a:spcBef>
                <a:spcPts val="0"/>
              </a:spcBef>
              <a:spcAft>
                <a:spcPts val="0"/>
              </a:spcAft>
              <a:buClr>
                <a:schemeClr val="dk1"/>
              </a:buClr>
              <a:buSzPct val="111109"/>
              <a:buFont typeface="Twentieth Century"/>
              <a:buNone/>
            </a:pPr>
            <a:r>
              <a:rPr lang="en"/>
              <a:t>LET’S CHOOSE A SIMPLE TYPE OF SOUND TO MAKE THE WAVEFORM UNDERSTANDABLE</a:t>
            </a:r>
            <a:endParaRPr/>
          </a:p>
        </p:txBody>
      </p:sp>
      <p:sp>
        <p:nvSpPr>
          <p:cNvPr id="202" name="Google Shape;202;p27"/>
          <p:cNvSpPr txBox="1"/>
          <p:nvPr>
            <p:ph idx="1" type="body"/>
          </p:nvPr>
        </p:nvSpPr>
        <p:spPr>
          <a:xfrm>
            <a:off x="311700" y="1304875"/>
            <a:ext cx="8520600" cy="10497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523"/>
              <a:buNone/>
            </a:pPr>
            <a:r>
              <a:rPr lang="en" sz="1055"/>
              <a:t>STEP 3: IF YOU HAVE AN ELECTRONIC KEYBOARD YOU SHOULD SELECT AN ELECTRONIC ORGAN VOICE</a:t>
            </a:r>
            <a:br>
              <a:rPr lang="en" sz="1055"/>
            </a:br>
            <a:r>
              <a:rPr lang="en" sz="1055"/>
              <a:t>IF NOT, YOU CAN USE A VIRTUAL KEYBOARD:</a:t>
            </a:r>
            <a:endParaRPr sz="1055"/>
          </a:p>
          <a:p>
            <a:pPr indent="-295592" lvl="0" marL="457200" rtl="0" algn="l">
              <a:lnSpc>
                <a:spcPct val="105000"/>
              </a:lnSpc>
              <a:spcBef>
                <a:spcPts val="0"/>
              </a:spcBef>
              <a:spcAft>
                <a:spcPts val="0"/>
              </a:spcAft>
              <a:buSzPts val="1055"/>
              <a:buChar char="●"/>
            </a:pPr>
            <a:r>
              <a:rPr lang="en" sz="1055" u="sng">
                <a:solidFill>
                  <a:schemeClr val="hlink"/>
                </a:solidFill>
                <a:hlinkClick r:id="rId3"/>
              </a:rPr>
              <a:t>HTTPS://WWW.IGORSKI.NL/APPLICATION/WEBSID/</a:t>
            </a:r>
            <a:endParaRPr sz="1055"/>
          </a:p>
          <a:p>
            <a:pPr indent="-295592" lvl="0" marL="457200" rtl="0" algn="l">
              <a:lnSpc>
                <a:spcPct val="105000"/>
              </a:lnSpc>
              <a:spcBef>
                <a:spcPts val="0"/>
              </a:spcBef>
              <a:spcAft>
                <a:spcPts val="0"/>
              </a:spcAft>
              <a:buSzPts val="1055"/>
              <a:buChar char="●"/>
            </a:pPr>
            <a:r>
              <a:rPr lang="en" sz="1055" u="sng">
                <a:solidFill>
                  <a:schemeClr val="hlink"/>
                </a:solidFill>
                <a:hlinkClick r:id="rId4"/>
              </a:rPr>
              <a:t>HTTPS://WWW.ONLINEPIANIST.COM/VIRTUAL-PIANO</a:t>
            </a:r>
            <a:endParaRPr sz="1055"/>
          </a:p>
          <a:p>
            <a:pPr indent="0" lvl="0" marL="0" rtl="0" algn="l">
              <a:lnSpc>
                <a:spcPct val="105000"/>
              </a:lnSpc>
              <a:spcBef>
                <a:spcPts val="1200"/>
              </a:spcBef>
              <a:spcAft>
                <a:spcPts val="0"/>
              </a:spcAft>
              <a:buSzPts val="1800"/>
              <a:buNone/>
            </a:pPr>
            <a:r>
              <a:rPr lang="en" sz="1055"/>
              <a:t>STEP 4: PLAY A LOW NOTE AND THEN PLAY A HIGH NOTE. HOW DO THEY DIFFER?</a:t>
            </a:r>
            <a:br>
              <a:rPr lang="en" sz="1055"/>
            </a:br>
            <a:r>
              <a:rPr lang="en" sz="1055"/>
              <a:t>STEP 5: PLAY A LOW NOTE AND A HIGH NOTE AT THE SAME TIME. HOW DO THE WAVEFORMS COMBINE?</a:t>
            </a:r>
            <a:endParaRPr sz="1055"/>
          </a:p>
          <a:p>
            <a:pPr indent="0" lvl="0" marL="0" rtl="0" algn="l">
              <a:lnSpc>
                <a:spcPct val="105000"/>
              </a:lnSpc>
              <a:spcBef>
                <a:spcPts val="1200"/>
              </a:spcBef>
              <a:spcAft>
                <a:spcPts val="0"/>
              </a:spcAft>
              <a:buSzPts val="1800"/>
              <a:buNone/>
            </a:pPr>
            <a:r>
              <a:t/>
            </a:r>
            <a:endParaRPr sz="1055"/>
          </a:p>
          <a:p>
            <a:pPr indent="0" lvl="0" marL="0" rtl="0" algn="l">
              <a:lnSpc>
                <a:spcPct val="105000"/>
              </a:lnSpc>
              <a:spcBef>
                <a:spcPts val="1200"/>
              </a:spcBef>
              <a:spcAft>
                <a:spcPts val="1200"/>
              </a:spcAft>
              <a:buSzPts val="523"/>
              <a:buNone/>
            </a:pPr>
            <a:r>
              <a:t/>
            </a:r>
            <a:endParaRPr sz="1055"/>
          </a:p>
        </p:txBody>
      </p:sp>
      <p:sp>
        <p:nvSpPr>
          <p:cNvPr id="203" name="Google Shape;203;p27"/>
          <p:cNvSpPr txBox="1"/>
          <p:nvPr>
            <p:ph idx="12" type="sldNum"/>
          </p:nvPr>
        </p:nvSpPr>
        <p:spPr>
          <a:xfrm>
            <a:off x="8472458" y="53490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04" name="Google Shape;204;p27"/>
          <p:cNvPicPr preferRelativeResize="0"/>
          <p:nvPr/>
        </p:nvPicPr>
        <p:blipFill rotWithShape="1">
          <a:blip r:embed="rId5">
            <a:alphaModFix/>
          </a:blip>
          <a:srcRect b="0" l="0" r="0" t="0"/>
          <a:stretch/>
        </p:blipFill>
        <p:spPr>
          <a:xfrm>
            <a:off x="3218801" y="2576313"/>
            <a:ext cx="2743200" cy="2204720"/>
          </a:xfrm>
          <a:prstGeom prst="rect">
            <a:avLst/>
          </a:prstGeom>
          <a:noFill/>
          <a:ln>
            <a:noFill/>
          </a:ln>
        </p:spPr>
      </p:pic>
      <p:pic>
        <p:nvPicPr>
          <p:cNvPr id="205" name="Google Shape;205;p27"/>
          <p:cNvPicPr preferRelativeResize="0"/>
          <p:nvPr/>
        </p:nvPicPr>
        <p:blipFill rotWithShape="1">
          <a:blip r:embed="rId6">
            <a:alphaModFix/>
          </a:blip>
          <a:srcRect b="0" l="0" r="0" t="0"/>
          <a:stretch/>
        </p:blipFill>
        <p:spPr>
          <a:xfrm>
            <a:off x="6089099" y="2576313"/>
            <a:ext cx="2743200" cy="2204720"/>
          </a:xfrm>
          <a:prstGeom prst="rect">
            <a:avLst/>
          </a:prstGeom>
          <a:noFill/>
          <a:ln>
            <a:noFill/>
          </a:ln>
        </p:spPr>
      </p:pic>
      <p:pic>
        <p:nvPicPr>
          <p:cNvPr id="206" name="Google Shape;206;p27"/>
          <p:cNvPicPr preferRelativeResize="0"/>
          <p:nvPr/>
        </p:nvPicPr>
        <p:blipFill rotWithShape="1">
          <a:blip r:embed="rId7">
            <a:alphaModFix/>
          </a:blip>
          <a:srcRect b="0" l="0" r="0" t="0"/>
          <a:stretch/>
        </p:blipFill>
        <p:spPr>
          <a:xfrm>
            <a:off x="311699" y="2596513"/>
            <a:ext cx="2743200" cy="2204720"/>
          </a:xfrm>
          <a:prstGeom prst="rect">
            <a:avLst/>
          </a:prstGeom>
          <a:noFill/>
          <a:ln>
            <a:noFill/>
          </a:ln>
        </p:spPr>
      </p:pic>
      <p:sp>
        <p:nvSpPr>
          <p:cNvPr id="207" name="Google Shape;207;p27"/>
          <p:cNvSpPr txBox="1"/>
          <p:nvPr/>
        </p:nvSpPr>
        <p:spPr>
          <a:xfrm>
            <a:off x="865800" y="4706683"/>
            <a:ext cx="16350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low C</a:t>
            </a:r>
            <a:endParaRPr b="0" i="0" sz="1800" u="none" cap="none" strike="noStrike">
              <a:solidFill>
                <a:schemeClr val="dk1"/>
              </a:solidFill>
              <a:latin typeface="Twentieth Century"/>
              <a:ea typeface="Twentieth Century"/>
              <a:cs typeface="Twentieth Century"/>
              <a:sym typeface="Twentieth Century"/>
            </a:endParaRPr>
          </a:p>
        </p:txBody>
      </p:sp>
      <p:sp>
        <p:nvSpPr>
          <p:cNvPr id="208" name="Google Shape;208;p27"/>
          <p:cNvSpPr txBox="1"/>
          <p:nvPr/>
        </p:nvSpPr>
        <p:spPr>
          <a:xfrm>
            <a:off x="3772900" y="4706683"/>
            <a:ext cx="16350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very high C</a:t>
            </a:r>
            <a:endParaRPr b="0" i="0" sz="1800" u="none" cap="none" strike="noStrike">
              <a:solidFill>
                <a:schemeClr val="dk1"/>
              </a:solidFill>
              <a:latin typeface="Twentieth Century"/>
              <a:ea typeface="Twentieth Century"/>
              <a:cs typeface="Twentieth Century"/>
              <a:sym typeface="Twentieth Century"/>
            </a:endParaRPr>
          </a:p>
        </p:txBody>
      </p:sp>
      <p:sp>
        <p:nvSpPr>
          <p:cNvPr id="209" name="Google Shape;209;p27"/>
          <p:cNvSpPr txBox="1"/>
          <p:nvPr/>
        </p:nvSpPr>
        <p:spPr>
          <a:xfrm>
            <a:off x="6379468" y="4706683"/>
            <a:ext cx="20931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low + very high C</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8"/>
          <p:cNvSpPr txBox="1"/>
          <p:nvPr>
            <p:ph type="title"/>
          </p:nvPr>
        </p:nvSpPr>
        <p:spPr>
          <a:xfrm>
            <a:off x="311700" y="2926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90000"/>
              </a:lnSpc>
              <a:spcBef>
                <a:spcPts val="0"/>
              </a:spcBef>
              <a:spcAft>
                <a:spcPts val="0"/>
              </a:spcAft>
              <a:buClr>
                <a:schemeClr val="dk1"/>
              </a:buClr>
              <a:buSzPct val="111109"/>
              <a:buFont typeface="Twentieth Century"/>
              <a:buNone/>
            </a:pPr>
            <a:r>
              <a:rPr lang="en"/>
              <a:t>TRY PLAYING A CHORD: </a:t>
            </a:r>
            <a:br>
              <a:rPr lang="en"/>
            </a:br>
            <a:r>
              <a:rPr lang="en"/>
              <a:t>MIDDLE C PLUS G GIVES A MORE COMPLEX WAVEFORM</a:t>
            </a:r>
            <a:endParaRPr/>
          </a:p>
        </p:txBody>
      </p:sp>
      <p:sp>
        <p:nvSpPr>
          <p:cNvPr id="215" name="Google Shape;215;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16" name="Google Shape;216;p28"/>
          <p:cNvPicPr preferRelativeResize="0"/>
          <p:nvPr/>
        </p:nvPicPr>
        <p:blipFill rotWithShape="1">
          <a:blip r:embed="rId3">
            <a:alphaModFix/>
          </a:blip>
          <a:srcRect b="0" l="0" r="0" t="0"/>
          <a:stretch/>
        </p:blipFill>
        <p:spPr>
          <a:xfrm>
            <a:off x="2556950" y="1584700"/>
            <a:ext cx="4486324" cy="3043975"/>
          </a:xfrm>
          <a:prstGeom prst="rect">
            <a:avLst/>
          </a:prstGeom>
          <a:noFill/>
          <a:ln>
            <a:noFill/>
          </a:ln>
        </p:spPr>
      </p:pic>
      <p:sp>
        <p:nvSpPr>
          <p:cNvPr id="217" name="Google Shape;217;p28"/>
          <p:cNvSpPr txBox="1"/>
          <p:nvPr/>
        </p:nvSpPr>
        <p:spPr>
          <a:xfrm>
            <a:off x="4030550" y="4491675"/>
            <a:ext cx="9039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sp>
        <p:nvSpPr>
          <p:cNvPr id="218" name="Google Shape;218;p28"/>
          <p:cNvSpPr txBox="1"/>
          <p:nvPr/>
        </p:nvSpPr>
        <p:spPr>
          <a:xfrm rot="-5400000">
            <a:off x="1511875" y="2523560"/>
            <a:ext cx="1597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Amplitude</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chemeClr val="dk1"/>
              </a:buClr>
              <a:buSzPct val="111109"/>
              <a:buFont typeface="Twentieth Century"/>
              <a:buNone/>
            </a:pPr>
            <a:r>
              <a:rPr lang="en"/>
              <a:t>HOWEVER, HUMAN SPEECH IS A VERY COMPLEX WAVEFORM</a:t>
            </a:r>
            <a:endParaRPr/>
          </a:p>
        </p:txBody>
      </p:sp>
      <p:sp>
        <p:nvSpPr>
          <p:cNvPr id="224" name="Google Shape;224;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25" name="Google Shape;225;p29"/>
          <p:cNvPicPr preferRelativeResize="0"/>
          <p:nvPr/>
        </p:nvPicPr>
        <p:blipFill rotWithShape="1">
          <a:blip r:embed="rId3">
            <a:alphaModFix/>
          </a:blip>
          <a:srcRect b="0" l="0" r="0" t="0"/>
          <a:stretch/>
        </p:blipFill>
        <p:spPr>
          <a:xfrm>
            <a:off x="1828800" y="1133775"/>
            <a:ext cx="4754574" cy="3212551"/>
          </a:xfrm>
          <a:prstGeom prst="rect">
            <a:avLst/>
          </a:prstGeom>
          <a:noFill/>
          <a:ln>
            <a:noFill/>
          </a:ln>
        </p:spPr>
      </p:pic>
      <p:sp>
        <p:nvSpPr>
          <p:cNvPr id="226" name="Google Shape;226;p29"/>
          <p:cNvSpPr txBox="1"/>
          <p:nvPr/>
        </p:nvSpPr>
        <p:spPr>
          <a:xfrm>
            <a:off x="3344750" y="4415475"/>
            <a:ext cx="903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sp>
        <p:nvSpPr>
          <p:cNvPr id="227" name="Google Shape;227;p29"/>
          <p:cNvSpPr txBox="1"/>
          <p:nvPr/>
        </p:nvSpPr>
        <p:spPr>
          <a:xfrm rot="-5400000">
            <a:off x="795325" y="2249510"/>
            <a:ext cx="1597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Amplitude</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0"/>
          <p:cNvSpPr txBox="1"/>
          <p:nvPr>
            <p:ph type="title"/>
          </p:nvPr>
        </p:nvSpPr>
        <p:spPr>
          <a:xfrm>
            <a:off x="311700" y="445025"/>
            <a:ext cx="85950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chemeClr val="dk1"/>
              </a:buClr>
              <a:buSzPct val="111109"/>
              <a:buFont typeface="Twentieth Century"/>
              <a:buNone/>
            </a:pPr>
            <a:r>
              <a:rPr lang="en"/>
              <a:t>A </a:t>
            </a:r>
            <a:r>
              <a:rPr lang="en">
                <a:solidFill>
                  <a:srgbClr val="FF0000"/>
                </a:solidFill>
                <a:latin typeface="Permanent Marker"/>
                <a:ea typeface="Permanent Marker"/>
                <a:cs typeface="Permanent Marker"/>
                <a:sym typeface="Permanent Marker"/>
              </a:rPr>
              <a:t>SPECTROGRAM</a:t>
            </a:r>
            <a:r>
              <a:rPr lang="en"/>
              <a:t> SHOWS THE FREQUENCY COMPONENTS OF SOUNDS</a:t>
            </a:r>
            <a:endParaRPr/>
          </a:p>
        </p:txBody>
      </p:sp>
      <p:sp>
        <p:nvSpPr>
          <p:cNvPr id="233" name="Google Shape;233;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1200"/>
              </a:spcAft>
              <a:buSzPts val="1800"/>
              <a:buNone/>
            </a:pPr>
            <a:br>
              <a:rPr lang="en"/>
            </a:br>
            <a:endParaRPr/>
          </a:p>
        </p:txBody>
      </p:sp>
      <p:sp>
        <p:nvSpPr>
          <p:cNvPr id="234" name="Google Shape;23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35" name="Google Shape;235;p30"/>
          <p:cNvPicPr preferRelativeResize="0"/>
          <p:nvPr/>
        </p:nvPicPr>
        <p:blipFill rotWithShape="1">
          <a:blip r:embed="rId3">
            <a:alphaModFix/>
          </a:blip>
          <a:srcRect b="0" l="0" r="0" t="0"/>
          <a:stretch/>
        </p:blipFill>
        <p:spPr>
          <a:xfrm>
            <a:off x="2681250" y="1152475"/>
            <a:ext cx="3578225" cy="3665850"/>
          </a:xfrm>
          <a:prstGeom prst="rect">
            <a:avLst/>
          </a:prstGeom>
          <a:noFill/>
          <a:ln>
            <a:noFill/>
          </a:ln>
        </p:spPr>
      </p:pic>
      <p:sp>
        <p:nvSpPr>
          <p:cNvPr id="236" name="Google Shape;236;p30"/>
          <p:cNvSpPr txBox="1"/>
          <p:nvPr/>
        </p:nvSpPr>
        <p:spPr>
          <a:xfrm rot="-5400000">
            <a:off x="1698700" y="2974260"/>
            <a:ext cx="1597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Frequency</a:t>
            </a:r>
            <a:endParaRPr b="0" i="0" sz="1800" u="none" cap="none" strike="noStrike">
              <a:solidFill>
                <a:schemeClr val="dk1"/>
              </a:solidFill>
              <a:latin typeface="Twentieth Century"/>
              <a:ea typeface="Twentieth Century"/>
              <a:cs typeface="Twentieth Century"/>
              <a:sym typeface="Twentieth Century"/>
            </a:endParaRPr>
          </a:p>
        </p:txBody>
      </p:sp>
      <p:sp>
        <p:nvSpPr>
          <p:cNvPr id="237" name="Google Shape;237;p30"/>
          <p:cNvSpPr txBox="1"/>
          <p:nvPr/>
        </p:nvSpPr>
        <p:spPr>
          <a:xfrm>
            <a:off x="4291625" y="4752325"/>
            <a:ext cx="903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sp>
        <p:nvSpPr>
          <p:cNvPr id="238" name="Google Shape;238;p30"/>
          <p:cNvSpPr txBox="1"/>
          <p:nvPr/>
        </p:nvSpPr>
        <p:spPr>
          <a:xfrm>
            <a:off x="6501525" y="2210700"/>
            <a:ext cx="20502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Twentieth Century"/>
              <a:buNone/>
            </a:pPr>
            <a:r>
              <a:rPr b="0" i="0" lang="en" sz="2000" u="none" cap="none" strike="noStrike">
                <a:solidFill>
                  <a:schemeClr val="dk1"/>
                </a:solidFill>
                <a:latin typeface="Twentieth Century"/>
                <a:ea typeface="Twentieth Century"/>
                <a:cs typeface="Twentieth Century"/>
                <a:sym typeface="Twentieth Century"/>
              </a:rPr>
              <a:t>Do you see any differences in the axis labels?</a:t>
            </a:r>
            <a:endParaRPr b="0" i="0" sz="2000" u="none" cap="none" strike="noStrike">
              <a:solidFill>
                <a:schemeClr val="dk1"/>
              </a:solidFill>
              <a:latin typeface="Twentieth Century"/>
              <a:ea typeface="Twentieth Century"/>
              <a:cs typeface="Twentieth Century"/>
              <a:sym typeface="Twentieth Century"/>
            </a:endParaRPr>
          </a:p>
        </p:txBody>
      </p:sp>
      <p:sp>
        <p:nvSpPr>
          <p:cNvPr id="239" name="Google Shape;239;p30"/>
          <p:cNvSpPr txBox="1"/>
          <p:nvPr/>
        </p:nvSpPr>
        <p:spPr>
          <a:xfrm>
            <a:off x="479575" y="1824825"/>
            <a:ext cx="2201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This is human speech.</a:t>
            </a:r>
            <a:endParaRPr b="0" i="0" sz="1800" u="none" cap="none" strike="noStrike">
              <a:solidFill>
                <a:schemeClr val="dk1"/>
              </a:solidFill>
              <a:latin typeface="Twentieth Century"/>
              <a:ea typeface="Twentieth Century"/>
              <a:cs typeface="Twentieth Century"/>
              <a:sym typeface="Twentieth Century"/>
            </a:endParaRPr>
          </a:p>
        </p:txBody>
      </p:sp>
      <p:cxnSp>
        <p:nvCxnSpPr>
          <p:cNvPr id="240" name="Google Shape;240;p30"/>
          <p:cNvCxnSpPr>
            <a:stCxn id="239" idx="2"/>
          </p:cNvCxnSpPr>
          <p:nvPr/>
        </p:nvCxnSpPr>
        <p:spPr>
          <a:xfrm>
            <a:off x="1580425" y="2225025"/>
            <a:ext cx="1062300" cy="126000"/>
          </a:xfrm>
          <a:prstGeom prst="straightConnector1">
            <a:avLst/>
          </a:prstGeom>
          <a:noFill/>
          <a:ln cap="flat" cmpd="sng" w="38100">
            <a:solidFill>
              <a:srgbClr val="980000"/>
            </a:solidFill>
            <a:prstDash val="solid"/>
            <a:round/>
            <a:headEnd len="sm" w="sm"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txBox="1"/>
          <p:nvPr>
            <p:ph type="title"/>
          </p:nvPr>
        </p:nvSpPr>
        <p:spPr>
          <a:xfrm>
            <a:off x="311700" y="445025"/>
            <a:ext cx="8595000" cy="572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dk1"/>
              </a:buClr>
              <a:buSzPts val="2800"/>
              <a:buFont typeface="Twentieth Century"/>
              <a:buNone/>
            </a:pPr>
            <a:r>
              <a:rPr lang="en"/>
              <a:t>TRY IT: SPECTROGRAM DEMO</a:t>
            </a:r>
            <a:endParaRPr/>
          </a:p>
        </p:txBody>
      </p:sp>
      <p:sp>
        <p:nvSpPr>
          <p:cNvPr id="246" name="Google Shape;246;p31"/>
          <p:cNvSpPr txBox="1"/>
          <p:nvPr>
            <p:ph idx="1" type="body"/>
          </p:nvPr>
        </p:nvSpPr>
        <p:spPr>
          <a:xfrm>
            <a:off x="311700" y="1152475"/>
            <a:ext cx="8520600" cy="38061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20000"/>
              </a:lnSpc>
              <a:spcBef>
                <a:spcPts val="0"/>
              </a:spcBef>
              <a:spcAft>
                <a:spcPts val="0"/>
              </a:spcAft>
              <a:buSzPct val="129729"/>
              <a:buNone/>
            </a:pPr>
            <a:r>
              <a:rPr lang="en"/>
              <a:t>STEP 1: OPEN </a:t>
            </a:r>
            <a:r>
              <a:rPr lang="en" sz="1500" u="sng">
                <a:solidFill>
                  <a:schemeClr val="hlink"/>
                </a:solidFill>
                <a:hlinkClick r:id="rId3"/>
              </a:rPr>
              <a:t>HTTPS://SPECTROGRAM.SCIENCEMUSIC.ORG/</a:t>
            </a:r>
            <a:r>
              <a:rPr lang="en" sz="1500"/>
              <a:t> </a:t>
            </a:r>
            <a:endParaRPr sz="1500"/>
          </a:p>
          <a:p>
            <a:pPr indent="0" lvl="0" marL="0" rtl="0" algn="l">
              <a:lnSpc>
                <a:spcPct val="120000"/>
              </a:lnSpc>
              <a:spcBef>
                <a:spcPts val="1200"/>
              </a:spcBef>
              <a:spcAft>
                <a:spcPts val="0"/>
              </a:spcAft>
              <a:buSzPct val="108107"/>
              <a:buNone/>
            </a:pPr>
            <a:r>
              <a:rPr lang="en"/>
              <a:t>STEP 2: CLICK ON THE MICROPHONE ICON </a:t>
            </a:r>
            <a:r>
              <a:rPr i="1" lang="en"/>
              <a:t>TWICE</a:t>
            </a:r>
            <a:r>
              <a:rPr lang="en"/>
              <a:t> TO</a:t>
            </a:r>
            <a:br>
              <a:rPr lang="en"/>
            </a:br>
            <a:r>
              <a:rPr lang="en"/>
              <a:t>START THE DEMO.</a:t>
            </a:r>
            <a:endParaRPr/>
          </a:p>
          <a:p>
            <a:pPr indent="0" lvl="0" marL="0" rtl="0" algn="l">
              <a:lnSpc>
                <a:spcPct val="120000"/>
              </a:lnSpc>
              <a:spcBef>
                <a:spcPts val="1200"/>
              </a:spcBef>
              <a:spcAft>
                <a:spcPts val="0"/>
              </a:spcAft>
              <a:buSzPct val="108107"/>
              <a:buNone/>
            </a:pPr>
            <a:r>
              <a:t/>
            </a:r>
            <a:endParaRPr/>
          </a:p>
          <a:p>
            <a:pPr indent="0" lvl="0" marL="0" rtl="0" algn="l">
              <a:lnSpc>
                <a:spcPct val="120000"/>
              </a:lnSpc>
              <a:spcBef>
                <a:spcPts val="1200"/>
              </a:spcBef>
              <a:spcAft>
                <a:spcPts val="0"/>
              </a:spcAft>
              <a:buSzPct val="108107"/>
              <a:buNone/>
            </a:pPr>
            <a:r>
              <a:t/>
            </a:r>
            <a:endParaRPr/>
          </a:p>
          <a:p>
            <a:pPr indent="0" lvl="0" marL="0" rtl="0" algn="l">
              <a:lnSpc>
                <a:spcPct val="120000"/>
              </a:lnSpc>
              <a:spcBef>
                <a:spcPts val="1200"/>
              </a:spcBef>
              <a:spcAft>
                <a:spcPts val="0"/>
              </a:spcAft>
              <a:buSzPct val="108107"/>
              <a:buNone/>
            </a:pPr>
            <a:r>
              <a:t/>
            </a:r>
            <a:endParaRPr/>
          </a:p>
          <a:p>
            <a:pPr indent="0" lvl="0" marL="0" rtl="0" algn="l">
              <a:lnSpc>
                <a:spcPct val="120000"/>
              </a:lnSpc>
              <a:spcBef>
                <a:spcPts val="1200"/>
              </a:spcBef>
              <a:spcAft>
                <a:spcPts val="0"/>
              </a:spcAft>
              <a:buSzPct val="108107"/>
              <a:buNone/>
            </a:pPr>
            <a:r>
              <a:t/>
            </a:r>
            <a:endParaRPr/>
          </a:p>
          <a:p>
            <a:pPr indent="0" lvl="0" marL="0" rtl="0" algn="l">
              <a:lnSpc>
                <a:spcPct val="120000"/>
              </a:lnSpc>
              <a:spcBef>
                <a:spcPts val="1200"/>
              </a:spcBef>
              <a:spcAft>
                <a:spcPts val="0"/>
              </a:spcAft>
              <a:buSzPct val="108107"/>
              <a:buNone/>
            </a:pPr>
            <a:r>
              <a:t/>
            </a:r>
            <a:endParaRPr/>
          </a:p>
          <a:p>
            <a:pPr indent="0" lvl="0" marL="0" rtl="0" algn="l">
              <a:lnSpc>
                <a:spcPct val="120000"/>
              </a:lnSpc>
              <a:spcBef>
                <a:spcPts val="1200"/>
              </a:spcBef>
              <a:spcAft>
                <a:spcPts val="1200"/>
              </a:spcAft>
              <a:buSzPct val="108107"/>
              <a:buNone/>
            </a:pPr>
            <a:r>
              <a:rPr lang="en"/>
              <a:t>STEP 3: MAKE SOUNDS AND OBSERVE THE </a:t>
            </a:r>
            <a:br>
              <a:rPr lang="en"/>
            </a:br>
            <a:r>
              <a:rPr lang="en"/>
              <a:t>SPECTROGRAM.</a:t>
            </a:r>
            <a:endParaRPr/>
          </a:p>
        </p:txBody>
      </p:sp>
      <p:sp>
        <p:nvSpPr>
          <p:cNvPr id="247" name="Google Shape;24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48" name="Google Shape;248;p31"/>
          <p:cNvPicPr preferRelativeResize="0"/>
          <p:nvPr/>
        </p:nvPicPr>
        <p:blipFill rotWithShape="1">
          <a:blip r:embed="rId4">
            <a:alphaModFix/>
          </a:blip>
          <a:srcRect b="0" l="0" r="0" t="0"/>
          <a:stretch/>
        </p:blipFill>
        <p:spPr>
          <a:xfrm>
            <a:off x="5195850" y="1152475"/>
            <a:ext cx="3578225" cy="3665850"/>
          </a:xfrm>
          <a:prstGeom prst="rect">
            <a:avLst/>
          </a:prstGeom>
          <a:noFill/>
          <a:ln>
            <a:noFill/>
          </a:ln>
        </p:spPr>
      </p:pic>
      <p:sp>
        <p:nvSpPr>
          <p:cNvPr id="249" name="Google Shape;249;p31"/>
          <p:cNvSpPr txBox="1"/>
          <p:nvPr/>
        </p:nvSpPr>
        <p:spPr>
          <a:xfrm rot="-5400000">
            <a:off x="4213300" y="2974260"/>
            <a:ext cx="1597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Frequency</a:t>
            </a:r>
            <a:endParaRPr b="0" i="0" sz="1800" u="none" cap="none" strike="noStrike">
              <a:solidFill>
                <a:schemeClr val="dk1"/>
              </a:solidFill>
              <a:latin typeface="Twentieth Century"/>
              <a:ea typeface="Twentieth Century"/>
              <a:cs typeface="Twentieth Century"/>
              <a:sym typeface="Twentieth Century"/>
            </a:endParaRPr>
          </a:p>
        </p:txBody>
      </p:sp>
      <p:sp>
        <p:nvSpPr>
          <p:cNvPr id="250" name="Google Shape;250;p31"/>
          <p:cNvSpPr txBox="1"/>
          <p:nvPr/>
        </p:nvSpPr>
        <p:spPr>
          <a:xfrm>
            <a:off x="6806225" y="4752325"/>
            <a:ext cx="903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pic>
        <p:nvPicPr>
          <p:cNvPr id="251" name="Google Shape;251;p31"/>
          <p:cNvPicPr preferRelativeResize="0"/>
          <p:nvPr/>
        </p:nvPicPr>
        <p:blipFill rotWithShape="1">
          <a:blip r:embed="rId5">
            <a:alphaModFix/>
          </a:blip>
          <a:srcRect b="0" l="0" r="45566" t="0"/>
          <a:stretch/>
        </p:blipFill>
        <p:spPr>
          <a:xfrm>
            <a:off x="436700" y="2313925"/>
            <a:ext cx="3878225" cy="1895475"/>
          </a:xfrm>
          <a:prstGeom prst="rect">
            <a:avLst/>
          </a:prstGeom>
          <a:noFill/>
          <a:ln>
            <a:noFill/>
          </a:ln>
        </p:spPr>
      </p:pic>
      <p:cxnSp>
        <p:nvCxnSpPr>
          <p:cNvPr id="252" name="Google Shape;252;p31"/>
          <p:cNvCxnSpPr/>
          <p:nvPr/>
        </p:nvCxnSpPr>
        <p:spPr>
          <a:xfrm flipH="1">
            <a:off x="1871000" y="2000225"/>
            <a:ext cx="1613700" cy="1403100"/>
          </a:xfrm>
          <a:prstGeom prst="straightConnector1">
            <a:avLst/>
          </a:prstGeom>
          <a:noFill/>
          <a:ln cap="flat" cmpd="sng" w="38100">
            <a:solidFill>
              <a:srgbClr val="38761D"/>
            </a:solidFill>
            <a:prstDash val="solid"/>
            <a:round/>
            <a:headEnd len="sm" w="sm" type="none"/>
            <a:tailEnd len="med" w="med" type="triangle"/>
          </a:ln>
        </p:spPr>
      </p:cxnSp>
      <p:sp>
        <p:nvSpPr>
          <p:cNvPr id="253" name="Google Shape;253;p31"/>
          <p:cNvSpPr txBox="1"/>
          <p:nvPr/>
        </p:nvSpPr>
        <p:spPr>
          <a:xfrm>
            <a:off x="2159619" y="4583093"/>
            <a:ext cx="276921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sng" cap="none" strike="noStrike">
                <a:solidFill>
                  <a:schemeClr val="dk1"/>
                </a:solidFill>
                <a:latin typeface="Twentieth Century"/>
                <a:ea typeface="Twentieth Century"/>
                <a:cs typeface="Twentieth Century"/>
                <a:sym typeface="Twentieth Century"/>
                <a:hlinkClick r:id="rId6">
                  <a:extLst>
                    <a:ext uri="{A12FA001-AC4F-418D-AE19-62706E023703}">
                      <ahyp:hlinkClr val="tx"/>
                    </a:ext>
                  </a:extLst>
                </a:hlinkClick>
              </a:rPr>
              <a:t>Spectrogram Activity Sheet</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Clr>
                <a:schemeClr val="dk1"/>
              </a:buClr>
              <a:buSzPts val="2800"/>
              <a:buFont typeface="Twentieth Century"/>
              <a:buNone/>
            </a:pPr>
            <a:r>
              <a:rPr lang="en"/>
              <a:t>HOW TO READ A SPECTROGRAM</a:t>
            </a:r>
            <a:endParaRPr/>
          </a:p>
        </p:txBody>
      </p:sp>
      <p:sp>
        <p:nvSpPr>
          <p:cNvPr id="259" name="Google Shape;259;p32"/>
          <p:cNvSpPr txBox="1"/>
          <p:nvPr>
            <p:ph idx="12" type="sldNum"/>
          </p:nvPr>
        </p:nvSpPr>
        <p:spPr>
          <a:xfrm>
            <a:off x="8472458" y="4661571"/>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260" name="Google Shape;260;p32"/>
          <p:cNvGrpSpPr/>
          <p:nvPr/>
        </p:nvGrpSpPr>
        <p:grpSpPr>
          <a:xfrm>
            <a:off x="101732" y="2264959"/>
            <a:ext cx="2091342" cy="1956887"/>
            <a:chOff x="933910" y="1994154"/>
            <a:chExt cx="3287639" cy="2885398"/>
          </a:xfrm>
        </p:grpSpPr>
        <p:pic>
          <p:nvPicPr>
            <p:cNvPr id="261" name="Google Shape;261;p32"/>
            <p:cNvPicPr preferRelativeResize="0"/>
            <p:nvPr/>
          </p:nvPicPr>
          <p:blipFill rotWithShape="1">
            <a:blip r:embed="rId3">
              <a:alphaModFix/>
            </a:blip>
            <a:srcRect b="0" l="0" r="0" t="0"/>
            <a:stretch/>
          </p:blipFill>
          <p:spPr>
            <a:xfrm>
              <a:off x="1478349" y="1994154"/>
              <a:ext cx="2743200" cy="2204720"/>
            </a:xfrm>
            <a:prstGeom prst="rect">
              <a:avLst/>
            </a:prstGeom>
            <a:noFill/>
            <a:ln>
              <a:noFill/>
            </a:ln>
          </p:spPr>
        </p:pic>
        <p:sp>
          <p:nvSpPr>
            <p:cNvPr id="262" name="Google Shape;262;p32"/>
            <p:cNvSpPr txBox="1"/>
            <p:nvPr/>
          </p:nvSpPr>
          <p:spPr>
            <a:xfrm rot="-5400000">
              <a:off x="194400" y="2733664"/>
              <a:ext cx="2204721" cy="725701"/>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Amplitude</a:t>
              </a:r>
              <a:endParaRPr b="0" i="0" sz="1800" u="none" cap="none" strike="noStrike">
                <a:solidFill>
                  <a:schemeClr val="dk1"/>
                </a:solidFill>
                <a:latin typeface="Twentieth Century"/>
                <a:ea typeface="Twentieth Century"/>
                <a:cs typeface="Twentieth Century"/>
                <a:sym typeface="Twentieth Century"/>
              </a:endParaRPr>
            </a:p>
          </p:txBody>
        </p:sp>
        <p:sp>
          <p:nvSpPr>
            <p:cNvPr id="263" name="Google Shape;263;p32"/>
            <p:cNvSpPr txBox="1"/>
            <p:nvPr/>
          </p:nvSpPr>
          <p:spPr>
            <a:xfrm>
              <a:off x="1907592" y="4198879"/>
              <a:ext cx="1394309" cy="680673"/>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grpSp>
      <p:sp>
        <p:nvSpPr>
          <p:cNvPr id="264" name="Google Shape;264;p32"/>
          <p:cNvSpPr txBox="1"/>
          <p:nvPr/>
        </p:nvSpPr>
        <p:spPr>
          <a:xfrm>
            <a:off x="119718" y="1500133"/>
            <a:ext cx="5419492" cy="43085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This spectrogram shows the frequency: low C</a:t>
            </a:r>
            <a:endParaRPr b="0" i="0" sz="1600" u="none" cap="none" strike="noStrike">
              <a:solidFill>
                <a:schemeClr val="dk1"/>
              </a:solidFill>
              <a:latin typeface="Twentieth Century"/>
              <a:ea typeface="Twentieth Century"/>
              <a:cs typeface="Twentieth Century"/>
              <a:sym typeface="Twentieth Century"/>
            </a:endParaRPr>
          </a:p>
        </p:txBody>
      </p:sp>
      <p:pic>
        <p:nvPicPr>
          <p:cNvPr id="265" name="Google Shape;265;p32"/>
          <p:cNvPicPr preferRelativeResize="0"/>
          <p:nvPr/>
        </p:nvPicPr>
        <p:blipFill rotWithShape="1">
          <a:blip r:embed="rId4">
            <a:alphaModFix/>
          </a:blip>
          <a:srcRect b="0" l="0" r="0" t="0"/>
          <a:stretch/>
        </p:blipFill>
        <p:spPr>
          <a:xfrm>
            <a:off x="2711186" y="2063133"/>
            <a:ext cx="1263024" cy="1898899"/>
          </a:xfrm>
          <a:prstGeom prst="rect">
            <a:avLst/>
          </a:prstGeom>
          <a:noFill/>
          <a:ln>
            <a:noFill/>
          </a:ln>
        </p:spPr>
      </p:pic>
      <p:sp>
        <p:nvSpPr>
          <p:cNvPr id="266" name="Google Shape;266;p32"/>
          <p:cNvSpPr txBox="1"/>
          <p:nvPr/>
        </p:nvSpPr>
        <p:spPr>
          <a:xfrm rot="-5400000">
            <a:off x="1935297" y="2902653"/>
            <a:ext cx="1253474"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Frequency</a:t>
            </a:r>
            <a:endParaRPr b="0" i="0" sz="1800" u="none" cap="none" strike="noStrike">
              <a:solidFill>
                <a:schemeClr val="dk1"/>
              </a:solidFill>
              <a:latin typeface="Twentieth Century"/>
              <a:ea typeface="Twentieth Century"/>
              <a:cs typeface="Twentieth Century"/>
              <a:sym typeface="Twentieth Century"/>
            </a:endParaRPr>
          </a:p>
        </p:txBody>
      </p:sp>
      <p:sp>
        <p:nvSpPr>
          <p:cNvPr id="267" name="Google Shape;267;p32"/>
          <p:cNvSpPr txBox="1"/>
          <p:nvPr/>
        </p:nvSpPr>
        <p:spPr>
          <a:xfrm>
            <a:off x="2829464" y="3991028"/>
            <a:ext cx="742628"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sp>
        <p:nvSpPr>
          <p:cNvPr id="268" name="Google Shape;268;p32"/>
          <p:cNvSpPr/>
          <p:nvPr/>
        </p:nvSpPr>
        <p:spPr>
          <a:xfrm>
            <a:off x="3176052" y="2962431"/>
            <a:ext cx="568527" cy="271012"/>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cxnSp>
        <p:nvCxnSpPr>
          <p:cNvPr id="269" name="Google Shape;269;p32"/>
          <p:cNvCxnSpPr/>
          <p:nvPr/>
        </p:nvCxnSpPr>
        <p:spPr>
          <a:xfrm>
            <a:off x="4572000" y="1715561"/>
            <a:ext cx="0" cy="3109200"/>
          </a:xfrm>
          <a:prstGeom prst="straightConnector1">
            <a:avLst/>
          </a:prstGeom>
          <a:noFill/>
          <a:ln cap="rnd" cmpd="tri" w="28575">
            <a:solidFill>
              <a:srgbClr val="426625"/>
            </a:solidFill>
            <a:prstDash val="solid"/>
            <a:round/>
            <a:headEnd len="sm" w="sm" type="none"/>
            <a:tailEnd len="sm" w="sm" type="none"/>
          </a:ln>
        </p:spPr>
      </p:cxnSp>
      <p:pic>
        <p:nvPicPr>
          <p:cNvPr id="270" name="Google Shape;270;p32"/>
          <p:cNvPicPr preferRelativeResize="0"/>
          <p:nvPr/>
        </p:nvPicPr>
        <p:blipFill rotWithShape="1">
          <a:blip r:embed="rId5">
            <a:alphaModFix/>
          </a:blip>
          <a:srcRect b="19" l="0" r="0" t="19"/>
          <a:stretch/>
        </p:blipFill>
        <p:spPr>
          <a:xfrm>
            <a:off x="7392579" y="2241416"/>
            <a:ext cx="1526783" cy="1518792"/>
          </a:xfrm>
          <a:prstGeom prst="rect">
            <a:avLst/>
          </a:prstGeom>
          <a:noFill/>
          <a:ln>
            <a:noFill/>
          </a:ln>
        </p:spPr>
      </p:pic>
      <p:sp>
        <p:nvSpPr>
          <p:cNvPr id="271" name="Google Shape;271;p32"/>
          <p:cNvSpPr txBox="1"/>
          <p:nvPr/>
        </p:nvSpPr>
        <p:spPr>
          <a:xfrm rot="-5400000">
            <a:off x="6622323" y="2763030"/>
            <a:ext cx="1238294"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Frequency</a:t>
            </a:r>
            <a:endParaRPr b="0" i="0" sz="1800" u="none" cap="none" strike="noStrike">
              <a:solidFill>
                <a:schemeClr val="dk1"/>
              </a:solidFill>
              <a:latin typeface="Twentieth Century"/>
              <a:ea typeface="Twentieth Century"/>
              <a:cs typeface="Twentieth Century"/>
              <a:sym typeface="Twentieth Century"/>
            </a:endParaRPr>
          </a:p>
        </p:txBody>
      </p:sp>
      <p:sp>
        <p:nvSpPr>
          <p:cNvPr id="272" name="Google Shape;272;p32"/>
          <p:cNvSpPr txBox="1"/>
          <p:nvPr/>
        </p:nvSpPr>
        <p:spPr>
          <a:xfrm>
            <a:off x="7896675" y="3956404"/>
            <a:ext cx="1052423"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sp>
        <p:nvSpPr>
          <p:cNvPr id="273" name="Google Shape;273;p32"/>
          <p:cNvSpPr txBox="1"/>
          <p:nvPr/>
        </p:nvSpPr>
        <p:spPr>
          <a:xfrm rot="-5400000">
            <a:off x="4258839" y="2917623"/>
            <a:ext cx="1283415"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Amplitude</a:t>
            </a:r>
            <a:endParaRPr b="0" i="0" sz="1800" u="none" cap="none" strike="noStrike">
              <a:solidFill>
                <a:schemeClr val="dk1"/>
              </a:solidFill>
              <a:latin typeface="Twentieth Century"/>
              <a:ea typeface="Twentieth Century"/>
              <a:cs typeface="Twentieth Century"/>
              <a:sym typeface="Twentieth Century"/>
            </a:endParaRPr>
          </a:p>
        </p:txBody>
      </p:sp>
      <p:sp>
        <p:nvSpPr>
          <p:cNvPr id="274" name="Google Shape;274;p32"/>
          <p:cNvSpPr txBox="1"/>
          <p:nvPr/>
        </p:nvSpPr>
        <p:spPr>
          <a:xfrm>
            <a:off x="5559819" y="3944951"/>
            <a:ext cx="661905"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pic>
        <p:nvPicPr>
          <p:cNvPr id="275" name="Google Shape;275;p32"/>
          <p:cNvPicPr preferRelativeResize="0"/>
          <p:nvPr/>
        </p:nvPicPr>
        <p:blipFill rotWithShape="1">
          <a:blip r:embed="rId6">
            <a:alphaModFix/>
          </a:blip>
          <a:srcRect b="0" l="0" r="0" t="0"/>
          <a:stretch/>
        </p:blipFill>
        <p:spPr>
          <a:xfrm>
            <a:off x="5003247" y="2197122"/>
            <a:ext cx="2008783" cy="1771248"/>
          </a:xfrm>
          <a:prstGeom prst="rect">
            <a:avLst/>
          </a:prstGeom>
          <a:noFill/>
          <a:ln>
            <a:noFill/>
          </a:ln>
        </p:spPr>
      </p:pic>
      <p:sp>
        <p:nvSpPr>
          <p:cNvPr id="276" name="Google Shape;276;p32"/>
          <p:cNvSpPr/>
          <p:nvPr/>
        </p:nvSpPr>
        <p:spPr>
          <a:xfrm>
            <a:off x="7967184" y="2374700"/>
            <a:ext cx="865116" cy="3039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277" name="Google Shape;277;p32"/>
          <p:cNvSpPr txBox="1"/>
          <p:nvPr/>
        </p:nvSpPr>
        <p:spPr>
          <a:xfrm>
            <a:off x="4669729" y="1503812"/>
            <a:ext cx="4433799" cy="43085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This spectrogram shows the frequency: very high C</a:t>
            </a:r>
            <a:endParaRPr b="0" i="0" sz="16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Clr>
                <a:schemeClr val="dk1"/>
              </a:buClr>
              <a:buSzPts val="2800"/>
              <a:buFont typeface="Twentieth Century"/>
              <a:buNone/>
            </a:pPr>
            <a:r>
              <a:rPr lang="en"/>
              <a:t>HOW TO READ A SPECTROGRAM</a:t>
            </a:r>
            <a:endParaRPr/>
          </a:p>
        </p:txBody>
      </p:sp>
      <p:sp>
        <p:nvSpPr>
          <p:cNvPr id="283" name="Google Shape;283;p33"/>
          <p:cNvSpPr txBox="1"/>
          <p:nvPr>
            <p:ph idx="12" type="sldNum"/>
          </p:nvPr>
        </p:nvSpPr>
        <p:spPr>
          <a:xfrm>
            <a:off x="8472458" y="4661571"/>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84" name="Google Shape;284;p33"/>
          <p:cNvCxnSpPr/>
          <p:nvPr/>
        </p:nvCxnSpPr>
        <p:spPr>
          <a:xfrm>
            <a:off x="4572000" y="1715561"/>
            <a:ext cx="0" cy="3109200"/>
          </a:xfrm>
          <a:prstGeom prst="straightConnector1">
            <a:avLst/>
          </a:prstGeom>
          <a:noFill/>
          <a:ln cap="rnd" cmpd="tri" w="28575">
            <a:solidFill>
              <a:srgbClr val="426625"/>
            </a:solidFill>
            <a:prstDash val="solid"/>
            <a:round/>
            <a:headEnd len="sm" w="sm" type="none"/>
            <a:tailEnd len="sm" w="sm" type="none"/>
          </a:ln>
        </p:spPr>
      </p:cxnSp>
      <p:sp>
        <p:nvSpPr>
          <p:cNvPr id="285" name="Google Shape;285;p33"/>
          <p:cNvSpPr txBox="1"/>
          <p:nvPr/>
        </p:nvSpPr>
        <p:spPr>
          <a:xfrm rot="-5400000">
            <a:off x="6403813" y="2771721"/>
            <a:ext cx="1238294"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Frequency</a:t>
            </a:r>
            <a:endParaRPr b="0" i="0" sz="1800" u="none" cap="none" strike="noStrike">
              <a:solidFill>
                <a:schemeClr val="dk1"/>
              </a:solidFill>
              <a:latin typeface="Twentieth Century"/>
              <a:ea typeface="Twentieth Century"/>
              <a:cs typeface="Twentieth Century"/>
              <a:sym typeface="Twentieth Century"/>
            </a:endParaRPr>
          </a:p>
        </p:txBody>
      </p:sp>
      <p:sp>
        <p:nvSpPr>
          <p:cNvPr id="286" name="Google Shape;286;p33"/>
          <p:cNvSpPr txBox="1"/>
          <p:nvPr/>
        </p:nvSpPr>
        <p:spPr>
          <a:xfrm>
            <a:off x="7525883" y="3902209"/>
            <a:ext cx="1052423"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pic>
        <p:nvPicPr>
          <p:cNvPr id="287" name="Google Shape;287;p33"/>
          <p:cNvPicPr preferRelativeResize="0"/>
          <p:nvPr/>
        </p:nvPicPr>
        <p:blipFill rotWithShape="1">
          <a:blip r:embed="rId3">
            <a:alphaModFix/>
          </a:blip>
          <a:srcRect b="0" l="0" r="0" t="0"/>
          <a:stretch/>
        </p:blipFill>
        <p:spPr>
          <a:xfrm>
            <a:off x="454176" y="2194257"/>
            <a:ext cx="1662926" cy="1691053"/>
          </a:xfrm>
          <a:prstGeom prst="rect">
            <a:avLst/>
          </a:prstGeom>
          <a:noFill/>
          <a:ln>
            <a:noFill/>
          </a:ln>
        </p:spPr>
      </p:pic>
      <p:sp>
        <p:nvSpPr>
          <p:cNvPr id="288" name="Google Shape;288;p33"/>
          <p:cNvSpPr txBox="1"/>
          <p:nvPr/>
        </p:nvSpPr>
        <p:spPr>
          <a:xfrm rot="-5400000">
            <a:off x="-415400" y="2919068"/>
            <a:ext cx="1225306" cy="242601"/>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Amplitude</a:t>
            </a:r>
            <a:endParaRPr b="0" i="0" sz="1800" u="none" cap="none" strike="noStrike">
              <a:solidFill>
                <a:schemeClr val="dk1"/>
              </a:solidFill>
              <a:latin typeface="Twentieth Century"/>
              <a:ea typeface="Twentieth Century"/>
              <a:cs typeface="Twentieth Century"/>
              <a:sym typeface="Twentieth Century"/>
            </a:endParaRPr>
          </a:p>
        </p:txBody>
      </p:sp>
      <p:sp>
        <p:nvSpPr>
          <p:cNvPr id="289" name="Google Shape;289;p33"/>
          <p:cNvSpPr txBox="1"/>
          <p:nvPr/>
        </p:nvSpPr>
        <p:spPr>
          <a:xfrm>
            <a:off x="892099" y="3885899"/>
            <a:ext cx="665707"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pic>
        <p:nvPicPr>
          <p:cNvPr id="290" name="Google Shape;290;p33"/>
          <p:cNvPicPr preferRelativeResize="0"/>
          <p:nvPr/>
        </p:nvPicPr>
        <p:blipFill rotWithShape="1">
          <a:blip r:embed="rId4">
            <a:alphaModFix/>
          </a:blip>
          <a:srcRect b="19" l="0" r="0" t="19"/>
          <a:stretch/>
        </p:blipFill>
        <p:spPr>
          <a:xfrm>
            <a:off x="2597759" y="2165232"/>
            <a:ext cx="1758618" cy="1671159"/>
          </a:xfrm>
          <a:prstGeom prst="rect">
            <a:avLst/>
          </a:prstGeom>
          <a:noFill/>
          <a:ln>
            <a:noFill/>
          </a:ln>
        </p:spPr>
      </p:pic>
      <p:sp>
        <p:nvSpPr>
          <p:cNvPr id="291" name="Google Shape;291;p33"/>
          <p:cNvSpPr/>
          <p:nvPr/>
        </p:nvSpPr>
        <p:spPr>
          <a:xfrm>
            <a:off x="3261330" y="2352278"/>
            <a:ext cx="879424" cy="326322"/>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292" name="Google Shape;292;p33"/>
          <p:cNvSpPr txBox="1"/>
          <p:nvPr/>
        </p:nvSpPr>
        <p:spPr>
          <a:xfrm rot="-5400000">
            <a:off x="1546558" y="2723751"/>
            <a:ext cx="1671158"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Frequency</a:t>
            </a:r>
            <a:endParaRPr b="0" i="0" sz="1800" u="none" cap="none" strike="noStrike">
              <a:solidFill>
                <a:schemeClr val="dk1"/>
              </a:solidFill>
              <a:latin typeface="Twentieth Century"/>
              <a:ea typeface="Twentieth Century"/>
              <a:cs typeface="Twentieth Century"/>
              <a:sym typeface="Twentieth Century"/>
            </a:endParaRPr>
          </a:p>
        </p:txBody>
      </p:sp>
      <p:sp>
        <p:nvSpPr>
          <p:cNvPr id="293" name="Google Shape;293;p33"/>
          <p:cNvSpPr txBox="1"/>
          <p:nvPr/>
        </p:nvSpPr>
        <p:spPr>
          <a:xfrm>
            <a:off x="3231873" y="3836391"/>
            <a:ext cx="652995"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sp>
        <p:nvSpPr>
          <p:cNvPr id="294" name="Google Shape;294;p33"/>
          <p:cNvSpPr txBox="1"/>
          <p:nvPr/>
        </p:nvSpPr>
        <p:spPr>
          <a:xfrm>
            <a:off x="166761" y="1514502"/>
            <a:ext cx="4356375" cy="572700"/>
          </a:xfrm>
          <a:prstGeom prst="rect">
            <a:avLst/>
          </a:prstGeom>
          <a:noFill/>
          <a:ln>
            <a:noFill/>
          </a:ln>
        </p:spPr>
        <p:txBody>
          <a:bodyPr anchorCtr="0" anchor="t" bIns="91425" lIns="91425" spcFirstLastPara="1" rIns="91425" wrap="square" tIns="91425">
            <a:normAutofit/>
          </a:bodyPr>
          <a:lstStyle/>
          <a:p>
            <a:pPr indent="0" lvl="0" marL="0" marR="0" rtl="0" algn="l">
              <a:lnSpc>
                <a:spcPct val="90000"/>
              </a:lnSpc>
              <a:spcBef>
                <a:spcPts val="0"/>
              </a:spcBef>
              <a:spcAft>
                <a:spcPts val="0"/>
              </a:spcAft>
              <a:buClr>
                <a:schemeClr val="dk1"/>
              </a:buClr>
              <a:buSzPts val="990"/>
              <a:buFont typeface="Twentieth Century"/>
              <a:buNone/>
            </a:pPr>
            <a:r>
              <a:rPr b="0" i="0" lang="en" sz="1200" u="none" cap="none" strike="noStrike">
                <a:solidFill>
                  <a:schemeClr val="dk1"/>
                </a:solidFill>
                <a:latin typeface="Twentieth Century"/>
                <a:ea typeface="Twentieth Century"/>
                <a:cs typeface="Twentieth Century"/>
                <a:sym typeface="Twentieth Century"/>
              </a:rPr>
              <a:t>THIS SPECTROGRAM SHOWS THE CHORD: LOW + VERY HIGH CC</a:t>
            </a:r>
            <a:endParaRPr b="0" i="0" sz="1400" u="none" cap="none" strike="noStrike">
              <a:solidFill>
                <a:srgbClr val="000000"/>
              </a:solidFill>
              <a:latin typeface="Arial"/>
              <a:ea typeface="Arial"/>
              <a:cs typeface="Arial"/>
              <a:sym typeface="Arial"/>
            </a:endParaRPr>
          </a:p>
        </p:txBody>
      </p:sp>
      <p:sp>
        <p:nvSpPr>
          <p:cNvPr id="295" name="Google Shape;295;p33"/>
          <p:cNvSpPr txBox="1"/>
          <p:nvPr/>
        </p:nvSpPr>
        <p:spPr>
          <a:xfrm rot="-5400000">
            <a:off x="3773689" y="2957362"/>
            <a:ext cx="1790553" cy="256029"/>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Amplitude</a:t>
            </a:r>
            <a:endParaRPr b="0" i="0" sz="1800" u="none" cap="none" strike="noStrike">
              <a:solidFill>
                <a:schemeClr val="dk1"/>
              </a:solidFill>
              <a:latin typeface="Twentieth Century"/>
              <a:ea typeface="Twentieth Century"/>
              <a:cs typeface="Twentieth Century"/>
              <a:sym typeface="Twentieth Century"/>
            </a:endParaRPr>
          </a:p>
        </p:txBody>
      </p:sp>
      <p:sp>
        <p:nvSpPr>
          <p:cNvPr id="296" name="Google Shape;296;p33"/>
          <p:cNvSpPr txBox="1"/>
          <p:nvPr/>
        </p:nvSpPr>
        <p:spPr>
          <a:xfrm>
            <a:off x="5349954" y="3863013"/>
            <a:ext cx="781517"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pic>
        <p:nvPicPr>
          <p:cNvPr id="297" name="Google Shape;297;p33"/>
          <p:cNvPicPr preferRelativeResize="0"/>
          <p:nvPr/>
        </p:nvPicPr>
        <p:blipFill rotWithShape="1">
          <a:blip r:embed="rId5">
            <a:alphaModFix/>
          </a:blip>
          <a:srcRect b="0" l="0" r="0" t="0"/>
          <a:stretch/>
        </p:blipFill>
        <p:spPr>
          <a:xfrm>
            <a:off x="4913842" y="2118989"/>
            <a:ext cx="1665564" cy="1717402"/>
          </a:xfrm>
          <a:prstGeom prst="rect">
            <a:avLst/>
          </a:prstGeom>
          <a:noFill/>
          <a:ln>
            <a:noFill/>
          </a:ln>
        </p:spPr>
      </p:pic>
      <p:pic>
        <p:nvPicPr>
          <p:cNvPr id="298" name="Google Shape;298;p33"/>
          <p:cNvPicPr preferRelativeResize="0"/>
          <p:nvPr/>
        </p:nvPicPr>
        <p:blipFill rotWithShape="1">
          <a:blip r:embed="rId6">
            <a:alphaModFix/>
          </a:blip>
          <a:srcRect b="19" l="0" r="0" t="19"/>
          <a:stretch/>
        </p:blipFill>
        <p:spPr>
          <a:xfrm>
            <a:off x="7154948" y="1934669"/>
            <a:ext cx="1677349" cy="1950641"/>
          </a:xfrm>
          <a:prstGeom prst="rect">
            <a:avLst/>
          </a:prstGeom>
          <a:noFill/>
          <a:ln>
            <a:noFill/>
          </a:ln>
        </p:spPr>
      </p:pic>
      <p:sp>
        <p:nvSpPr>
          <p:cNvPr id="299" name="Google Shape;299;p33"/>
          <p:cNvSpPr/>
          <p:nvPr/>
        </p:nvSpPr>
        <p:spPr>
          <a:xfrm>
            <a:off x="8303327" y="2533212"/>
            <a:ext cx="406630" cy="353834"/>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300" name="Google Shape;300;p33"/>
          <p:cNvSpPr txBox="1"/>
          <p:nvPr/>
        </p:nvSpPr>
        <p:spPr>
          <a:xfrm>
            <a:off x="7265190" y="2753553"/>
            <a:ext cx="191909" cy="2472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FF"/>
              </a:buClr>
              <a:buSzPts val="1800"/>
              <a:buFont typeface="Twentieth Century"/>
              <a:buNone/>
            </a:pPr>
            <a:r>
              <a:rPr b="0" i="0" lang="en" sz="1800" u="none" cap="none" strike="noStrike">
                <a:solidFill>
                  <a:srgbClr val="FFFFFF"/>
                </a:solidFill>
                <a:latin typeface="Twentieth Century"/>
                <a:ea typeface="Twentieth Century"/>
                <a:cs typeface="Twentieth Century"/>
                <a:sym typeface="Twentieth Century"/>
              </a:rPr>
              <a:t>C</a:t>
            </a:r>
            <a:endParaRPr b="0" i="0" sz="1800" u="none" cap="none" strike="noStrike">
              <a:solidFill>
                <a:srgbClr val="FFFFFF"/>
              </a:solidFill>
              <a:latin typeface="Twentieth Century"/>
              <a:ea typeface="Twentieth Century"/>
              <a:cs typeface="Twentieth Century"/>
              <a:sym typeface="Twentieth Century"/>
            </a:endParaRPr>
          </a:p>
        </p:txBody>
      </p:sp>
      <p:sp>
        <p:nvSpPr>
          <p:cNvPr id="301" name="Google Shape;301;p33"/>
          <p:cNvSpPr txBox="1"/>
          <p:nvPr/>
        </p:nvSpPr>
        <p:spPr>
          <a:xfrm>
            <a:off x="7893090" y="2786906"/>
            <a:ext cx="191909" cy="2472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FF"/>
              </a:buClr>
              <a:buSzPts val="1800"/>
              <a:buFont typeface="Twentieth Century"/>
              <a:buNone/>
            </a:pPr>
            <a:r>
              <a:rPr b="0" i="0" lang="en" sz="1800" u="none" cap="none" strike="noStrike">
                <a:solidFill>
                  <a:srgbClr val="FFFFFF"/>
                </a:solidFill>
                <a:latin typeface="Twentieth Century"/>
                <a:ea typeface="Twentieth Century"/>
                <a:cs typeface="Twentieth Century"/>
                <a:sym typeface="Twentieth Century"/>
              </a:rPr>
              <a:t>C</a:t>
            </a:r>
            <a:endParaRPr b="0" i="0" sz="1800" u="none" cap="none" strike="noStrike">
              <a:solidFill>
                <a:srgbClr val="FFFFFF"/>
              </a:solidFill>
              <a:latin typeface="Twentieth Century"/>
              <a:ea typeface="Twentieth Century"/>
              <a:cs typeface="Twentieth Century"/>
              <a:sym typeface="Twentieth Century"/>
            </a:endParaRPr>
          </a:p>
        </p:txBody>
      </p:sp>
      <p:sp>
        <p:nvSpPr>
          <p:cNvPr id="302" name="Google Shape;302;p33"/>
          <p:cNvSpPr txBox="1"/>
          <p:nvPr/>
        </p:nvSpPr>
        <p:spPr>
          <a:xfrm>
            <a:off x="7501529" y="2191292"/>
            <a:ext cx="343629" cy="89959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FF"/>
              </a:buClr>
              <a:buSzPts val="1800"/>
              <a:buFont typeface="Twentieth Century"/>
              <a:buNone/>
            </a:pPr>
            <a:r>
              <a:rPr b="0" i="0" lang="en" sz="1800" u="none" cap="none" strike="noStrike">
                <a:solidFill>
                  <a:srgbClr val="FFFFFF"/>
                </a:solidFill>
                <a:latin typeface="Twentieth Century"/>
                <a:ea typeface="Twentieth Century"/>
                <a:cs typeface="Twentieth Century"/>
                <a:sym typeface="Twentieth Century"/>
              </a:rPr>
              <a:t>G</a:t>
            </a:r>
            <a:endParaRPr b="0" i="0" sz="1800" u="none" cap="none" strike="noStrike">
              <a:solidFill>
                <a:srgbClr val="FFFFFF"/>
              </a:solidFill>
              <a:latin typeface="Twentieth Century"/>
              <a:ea typeface="Twentieth Century"/>
              <a:cs typeface="Twentieth Century"/>
              <a:sym typeface="Twentieth Century"/>
            </a:endParaRPr>
          </a:p>
        </p:txBody>
      </p:sp>
      <p:sp>
        <p:nvSpPr>
          <p:cNvPr id="303" name="Google Shape;303;p33"/>
          <p:cNvSpPr txBox="1"/>
          <p:nvPr/>
        </p:nvSpPr>
        <p:spPr>
          <a:xfrm>
            <a:off x="8299732" y="2833990"/>
            <a:ext cx="430443" cy="247258"/>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FFFFFF"/>
              </a:buClr>
              <a:buSzPts val="1800"/>
              <a:buFont typeface="Twentieth Century"/>
              <a:buNone/>
            </a:pPr>
            <a:r>
              <a:rPr b="0" i="0" lang="en" sz="1800" u="none" cap="none" strike="noStrike">
                <a:solidFill>
                  <a:srgbClr val="FFFFFF"/>
                </a:solidFill>
                <a:latin typeface="Twentieth Century"/>
                <a:ea typeface="Twentieth Century"/>
                <a:cs typeface="Twentieth Century"/>
                <a:sym typeface="Twentieth Century"/>
              </a:rPr>
              <a:t>C+G</a:t>
            </a:r>
            <a:endParaRPr b="0" i="0" sz="1800" u="none" cap="none" strike="noStrike">
              <a:solidFill>
                <a:srgbClr val="FFFFFF"/>
              </a:solidFill>
              <a:latin typeface="Twentieth Century"/>
              <a:ea typeface="Twentieth Century"/>
              <a:cs typeface="Twentieth Century"/>
              <a:sym typeface="Twentieth Century"/>
            </a:endParaRPr>
          </a:p>
        </p:txBody>
      </p:sp>
      <p:sp>
        <p:nvSpPr>
          <p:cNvPr id="304" name="Google Shape;304;p33"/>
          <p:cNvSpPr txBox="1"/>
          <p:nvPr/>
        </p:nvSpPr>
        <p:spPr>
          <a:xfrm>
            <a:off x="4662620" y="1482201"/>
            <a:ext cx="4169671" cy="369302"/>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This spectrogram shows shows the chord: middle C plus G</a:t>
            </a:r>
            <a:endParaRPr b="0" i="0" sz="12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Clr>
                <a:schemeClr val="dk1"/>
              </a:buClr>
              <a:buSzPts val="2800"/>
              <a:buFont typeface="Twentieth Century"/>
              <a:buNone/>
            </a:pPr>
            <a:r>
              <a:rPr lang="en"/>
              <a:t>HUMAN SPEECH</a:t>
            </a:r>
            <a:endParaRPr/>
          </a:p>
        </p:txBody>
      </p:sp>
      <p:sp>
        <p:nvSpPr>
          <p:cNvPr id="310" name="Google Shape;310;p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rPr lang="en"/>
              <a:t>SPEECH SPECTROGRAM OF DAVE SAYING:</a:t>
            </a:r>
            <a:br>
              <a:rPr lang="en"/>
            </a:br>
            <a:br>
              <a:rPr lang="en"/>
            </a:br>
            <a:r>
              <a:rPr lang="en"/>
              <a:t> </a:t>
            </a:r>
            <a:r>
              <a:rPr i="1" lang="en"/>
              <a:t>“EVERY CHILD DESERVES TO LEARN</a:t>
            </a:r>
            <a:br>
              <a:rPr i="1" lang="en"/>
            </a:br>
            <a:r>
              <a:rPr i="1" lang="en"/>
              <a:t>  ABOUT ARTIFICIAL INTELLIGENCE.”</a:t>
            </a:r>
            <a:endParaRPr/>
          </a:p>
          <a:p>
            <a:pPr indent="0" lvl="0" marL="0" rtl="0" algn="l">
              <a:lnSpc>
                <a:spcPct val="120000"/>
              </a:lnSpc>
              <a:spcBef>
                <a:spcPts val="1200"/>
              </a:spcBef>
              <a:spcAft>
                <a:spcPts val="1200"/>
              </a:spcAft>
              <a:buSzPts val="1800"/>
              <a:buNone/>
            </a:pPr>
            <a:r>
              <a:t/>
            </a:r>
            <a:endParaRPr/>
          </a:p>
        </p:txBody>
      </p:sp>
      <p:sp>
        <p:nvSpPr>
          <p:cNvPr id="311" name="Google Shape;311;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12" name="Google Shape;312;p34"/>
          <p:cNvPicPr preferRelativeResize="0"/>
          <p:nvPr/>
        </p:nvPicPr>
        <p:blipFill rotWithShape="1">
          <a:blip r:embed="rId3">
            <a:alphaModFix/>
          </a:blip>
          <a:srcRect b="0" l="0" r="0" t="0"/>
          <a:stretch/>
        </p:blipFill>
        <p:spPr>
          <a:xfrm>
            <a:off x="5254075" y="1152475"/>
            <a:ext cx="3578224" cy="3665850"/>
          </a:xfrm>
          <a:prstGeom prst="rect">
            <a:avLst/>
          </a:prstGeom>
          <a:noFill/>
          <a:ln>
            <a:noFill/>
          </a:ln>
        </p:spPr>
      </p:pic>
      <p:pic>
        <p:nvPicPr>
          <p:cNvPr descr="A picture containing indoor, floor, window, table&#10;&#10;Description automatically generated" id="313" name="Google Shape;313;p34"/>
          <p:cNvPicPr preferRelativeResize="0"/>
          <p:nvPr/>
        </p:nvPicPr>
        <p:blipFill rotWithShape="1">
          <a:blip r:embed="rId4">
            <a:alphaModFix/>
          </a:blip>
          <a:srcRect b="0" l="0" r="0" t="0"/>
          <a:stretch/>
        </p:blipFill>
        <p:spPr>
          <a:xfrm>
            <a:off x="311700" y="2561287"/>
            <a:ext cx="3385557" cy="225703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5"/>
          <p:cNvSpPr txBox="1"/>
          <p:nvPr>
            <p:ph type="title"/>
          </p:nvPr>
        </p:nvSpPr>
        <p:spPr>
          <a:xfrm>
            <a:off x="311700" y="216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90000"/>
              </a:lnSpc>
              <a:spcBef>
                <a:spcPts val="0"/>
              </a:spcBef>
              <a:spcAft>
                <a:spcPts val="0"/>
              </a:spcAft>
              <a:buClr>
                <a:schemeClr val="dk1"/>
              </a:buClr>
              <a:buSzPct val="111109"/>
              <a:buFont typeface="Twentieth Century"/>
              <a:buNone/>
            </a:pPr>
            <a:r>
              <a:rPr lang="en"/>
              <a:t>READING A SPECTROGRAM OF HUMAN SPEECH: </a:t>
            </a:r>
            <a:br>
              <a:rPr lang="en"/>
            </a:br>
            <a:r>
              <a:rPr lang="en"/>
              <a:t>FORMANTS F1, F2, AND F3</a:t>
            </a:r>
            <a:endParaRPr/>
          </a:p>
        </p:txBody>
      </p:sp>
      <p:sp>
        <p:nvSpPr>
          <p:cNvPr id="319" name="Google Shape;319;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0" name="Google Shape;320;p35"/>
          <p:cNvSpPr txBox="1"/>
          <p:nvPr/>
        </p:nvSpPr>
        <p:spPr>
          <a:xfrm>
            <a:off x="1299808" y="4533350"/>
            <a:ext cx="7330042" cy="73863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0000"/>
              </a:buClr>
              <a:buSzPts val="1800"/>
              <a:buFont typeface="Permanent Marker"/>
              <a:buNone/>
            </a:pPr>
            <a:r>
              <a:rPr b="0" i="1" lang="en" sz="1800" u="none" cap="none" strike="noStrike">
                <a:solidFill>
                  <a:srgbClr val="FF0000"/>
                </a:solidFill>
                <a:latin typeface="Permanent Marker"/>
                <a:ea typeface="Permanent Marker"/>
                <a:cs typeface="Permanent Marker"/>
                <a:sym typeface="Permanent Marker"/>
              </a:rPr>
              <a:t>Formants</a:t>
            </a:r>
            <a:r>
              <a:rPr b="0" i="0" lang="en" sz="1800" u="none" cap="none" strike="noStrike">
                <a:solidFill>
                  <a:schemeClr val="dk1"/>
                </a:solidFill>
                <a:latin typeface="Twentieth Century"/>
                <a:ea typeface="Twentieth Century"/>
                <a:cs typeface="Twentieth Century"/>
                <a:sym typeface="Twentieth Century"/>
              </a:rPr>
              <a:t> are bands of high energy in the speech signal. </a:t>
            </a:r>
            <a:br>
              <a:rPr b="0" i="0" lang="en" sz="1800" u="none" cap="none" strike="noStrike">
                <a:solidFill>
                  <a:schemeClr val="dk1"/>
                </a:solidFill>
                <a:latin typeface="Twentieth Century"/>
                <a:ea typeface="Twentieth Century"/>
                <a:cs typeface="Twentieth Century"/>
                <a:sym typeface="Twentieth Century"/>
              </a:rPr>
            </a:br>
            <a:r>
              <a:rPr b="0" i="0" lang="en" sz="1800" u="none" cap="none" strike="noStrike">
                <a:solidFill>
                  <a:schemeClr val="dk1"/>
                </a:solidFill>
                <a:latin typeface="Twentieth Century"/>
                <a:ea typeface="Twentieth Century"/>
                <a:cs typeface="Twentieth Century"/>
                <a:sym typeface="Twentieth Century"/>
              </a:rPr>
              <a:t>Different vowels and consonants have different formant patterns.</a:t>
            </a:r>
            <a:endParaRPr b="0" i="0" sz="1800" u="none" cap="none" strike="noStrike">
              <a:solidFill>
                <a:schemeClr val="dk1"/>
              </a:solidFill>
              <a:latin typeface="Twentieth Century"/>
              <a:ea typeface="Twentieth Century"/>
              <a:cs typeface="Twentieth Century"/>
              <a:sym typeface="Twentieth Century"/>
            </a:endParaRPr>
          </a:p>
        </p:txBody>
      </p:sp>
      <p:grpSp>
        <p:nvGrpSpPr>
          <p:cNvPr id="321" name="Google Shape;321;p35"/>
          <p:cNvGrpSpPr/>
          <p:nvPr/>
        </p:nvGrpSpPr>
        <p:grpSpPr>
          <a:xfrm>
            <a:off x="311700" y="1228680"/>
            <a:ext cx="8454959" cy="3363075"/>
            <a:chOff x="311700" y="923880"/>
            <a:chExt cx="8454959" cy="3363075"/>
          </a:xfrm>
        </p:grpSpPr>
        <p:pic>
          <p:nvPicPr>
            <p:cNvPr id="322" name="Google Shape;322;p35"/>
            <p:cNvPicPr preferRelativeResize="0"/>
            <p:nvPr/>
          </p:nvPicPr>
          <p:blipFill rotWithShape="1">
            <a:blip r:embed="rId3">
              <a:alphaModFix/>
            </a:blip>
            <a:srcRect b="0" l="0" r="0" t="0"/>
            <a:stretch/>
          </p:blipFill>
          <p:spPr>
            <a:xfrm>
              <a:off x="311700" y="923880"/>
              <a:ext cx="8454959" cy="3363075"/>
            </a:xfrm>
            <a:prstGeom prst="rect">
              <a:avLst/>
            </a:prstGeom>
            <a:noFill/>
            <a:ln>
              <a:noFill/>
            </a:ln>
          </p:spPr>
        </p:pic>
        <p:sp>
          <p:nvSpPr>
            <p:cNvPr id="323" name="Google Shape;323;p35"/>
            <p:cNvSpPr txBox="1"/>
            <p:nvPr/>
          </p:nvSpPr>
          <p:spPr>
            <a:xfrm>
              <a:off x="915550" y="1846725"/>
              <a:ext cx="478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00"/>
                </a:buClr>
                <a:buSzPts val="1800"/>
                <a:buFont typeface="Twentieth Century"/>
                <a:buNone/>
              </a:pPr>
              <a:r>
                <a:rPr b="1" i="0" lang="en" sz="1800" u="none" cap="none" strike="noStrike">
                  <a:solidFill>
                    <a:srgbClr val="FFFF00"/>
                  </a:solidFill>
                  <a:latin typeface="Twentieth Century"/>
                  <a:ea typeface="Twentieth Century"/>
                  <a:cs typeface="Twentieth Century"/>
                  <a:sym typeface="Twentieth Century"/>
                </a:rPr>
                <a:t>F3</a:t>
              </a:r>
              <a:endParaRPr b="1" i="0" sz="1800" u="none" cap="none" strike="noStrike">
                <a:solidFill>
                  <a:srgbClr val="FFFF00"/>
                </a:solidFill>
                <a:latin typeface="Twentieth Century"/>
                <a:ea typeface="Twentieth Century"/>
                <a:cs typeface="Twentieth Century"/>
                <a:sym typeface="Twentieth Century"/>
              </a:endParaRPr>
            </a:p>
          </p:txBody>
        </p:sp>
        <p:sp>
          <p:nvSpPr>
            <p:cNvPr id="324" name="Google Shape;324;p35"/>
            <p:cNvSpPr txBox="1"/>
            <p:nvPr/>
          </p:nvSpPr>
          <p:spPr>
            <a:xfrm>
              <a:off x="915550" y="2913525"/>
              <a:ext cx="47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00"/>
                </a:buClr>
                <a:buSzPts val="1800"/>
                <a:buFont typeface="Twentieth Century"/>
                <a:buNone/>
              </a:pPr>
              <a:r>
                <a:rPr b="1" i="0" lang="en" sz="1800" u="none" cap="none" strike="noStrike">
                  <a:solidFill>
                    <a:srgbClr val="FFFF00"/>
                  </a:solidFill>
                  <a:latin typeface="Twentieth Century"/>
                  <a:ea typeface="Twentieth Century"/>
                  <a:cs typeface="Twentieth Century"/>
                  <a:sym typeface="Twentieth Century"/>
                </a:rPr>
                <a:t>F2</a:t>
              </a:r>
              <a:endParaRPr b="1" i="0" sz="1800" u="none" cap="none" strike="noStrike">
                <a:solidFill>
                  <a:srgbClr val="FFFF00"/>
                </a:solidFill>
                <a:latin typeface="Twentieth Century"/>
                <a:ea typeface="Twentieth Century"/>
                <a:cs typeface="Twentieth Century"/>
                <a:sym typeface="Twentieth Century"/>
              </a:endParaRPr>
            </a:p>
          </p:txBody>
        </p:sp>
        <p:sp>
          <p:nvSpPr>
            <p:cNvPr id="325" name="Google Shape;325;p35"/>
            <p:cNvSpPr txBox="1"/>
            <p:nvPr/>
          </p:nvSpPr>
          <p:spPr>
            <a:xfrm>
              <a:off x="915550" y="3370725"/>
              <a:ext cx="478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00"/>
                </a:buClr>
                <a:buSzPts val="1800"/>
                <a:buFont typeface="Twentieth Century"/>
                <a:buNone/>
              </a:pPr>
              <a:r>
                <a:rPr b="1" i="0" lang="en" sz="1800" u="none" cap="none" strike="noStrike">
                  <a:solidFill>
                    <a:srgbClr val="FFFF00"/>
                  </a:solidFill>
                  <a:latin typeface="Twentieth Century"/>
                  <a:ea typeface="Twentieth Century"/>
                  <a:cs typeface="Twentieth Century"/>
                  <a:sym typeface="Twentieth Century"/>
                </a:rPr>
                <a:t>F1</a:t>
              </a:r>
              <a:endParaRPr b="1" i="0" sz="1800" u="none" cap="none" strike="noStrike">
                <a:solidFill>
                  <a:srgbClr val="FFFF00"/>
                </a:solidFill>
                <a:latin typeface="Twentieth Century"/>
                <a:ea typeface="Twentieth Century"/>
                <a:cs typeface="Twentieth Century"/>
                <a:sym typeface="Twentieth Century"/>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id="330" name="Google Shape;330;p36"/>
          <p:cNvPicPr preferRelativeResize="0"/>
          <p:nvPr/>
        </p:nvPicPr>
        <p:blipFill rotWithShape="1">
          <a:blip r:embed="rId3">
            <a:alphaModFix/>
          </a:blip>
          <a:srcRect b="0" l="0" r="0" t="0"/>
          <a:stretch/>
        </p:blipFill>
        <p:spPr>
          <a:xfrm>
            <a:off x="155448" y="155448"/>
            <a:ext cx="2689212" cy="4343400"/>
          </a:xfrm>
          <a:prstGeom prst="rect">
            <a:avLst/>
          </a:prstGeom>
          <a:noFill/>
          <a:ln>
            <a:noFill/>
          </a:ln>
        </p:spPr>
      </p:pic>
      <p:sp>
        <p:nvSpPr>
          <p:cNvPr id="331" name="Google Shape;331;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32" name="Google Shape;332;p36"/>
          <p:cNvPicPr preferRelativeResize="0"/>
          <p:nvPr/>
        </p:nvPicPr>
        <p:blipFill rotWithShape="1">
          <a:blip r:embed="rId4">
            <a:alphaModFix/>
          </a:blip>
          <a:srcRect b="0" l="0" r="0" t="0"/>
          <a:stretch/>
        </p:blipFill>
        <p:spPr>
          <a:xfrm>
            <a:off x="6400800" y="155448"/>
            <a:ext cx="2689212" cy="4343400"/>
          </a:xfrm>
          <a:prstGeom prst="rect">
            <a:avLst/>
          </a:prstGeom>
          <a:noFill/>
          <a:ln>
            <a:noFill/>
          </a:ln>
        </p:spPr>
      </p:pic>
      <p:pic>
        <p:nvPicPr>
          <p:cNvPr id="333" name="Google Shape;333;p36"/>
          <p:cNvPicPr preferRelativeResize="0"/>
          <p:nvPr/>
        </p:nvPicPr>
        <p:blipFill rotWithShape="1">
          <a:blip r:embed="rId5">
            <a:alphaModFix/>
          </a:blip>
          <a:srcRect b="0" l="0" r="0" t="0"/>
          <a:stretch/>
        </p:blipFill>
        <p:spPr>
          <a:xfrm>
            <a:off x="3304228" y="155448"/>
            <a:ext cx="2689212" cy="4343400"/>
          </a:xfrm>
          <a:prstGeom prst="rect">
            <a:avLst/>
          </a:prstGeom>
          <a:noFill/>
          <a:ln>
            <a:noFill/>
          </a:ln>
        </p:spPr>
      </p:pic>
      <p:sp>
        <p:nvSpPr>
          <p:cNvPr id="334" name="Google Shape;334;p36"/>
          <p:cNvSpPr/>
          <p:nvPr/>
        </p:nvSpPr>
        <p:spPr>
          <a:xfrm>
            <a:off x="7009450" y="725450"/>
            <a:ext cx="2080500" cy="5676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335" name="Google Shape;335;p36"/>
          <p:cNvSpPr/>
          <p:nvPr/>
        </p:nvSpPr>
        <p:spPr>
          <a:xfrm>
            <a:off x="4457325" y="725450"/>
            <a:ext cx="1508400" cy="8457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336" name="Google Shape;336;p36"/>
          <p:cNvSpPr/>
          <p:nvPr/>
        </p:nvSpPr>
        <p:spPr>
          <a:xfrm>
            <a:off x="708850" y="725450"/>
            <a:ext cx="2080500" cy="8457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337" name="Google Shape;337;p36"/>
          <p:cNvSpPr/>
          <p:nvPr/>
        </p:nvSpPr>
        <p:spPr>
          <a:xfrm>
            <a:off x="7009450" y="1487450"/>
            <a:ext cx="2080500" cy="5676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338" name="Google Shape;338;p36"/>
          <p:cNvSpPr/>
          <p:nvPr/>
        </p:nvSpPr>
        <p:spPr>
          <a:xfrm>
            <a:off x="4457325" y="1639850"/>
            <a:ext cx="1508400" cy="5676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339" name="Google Shape;339;p36"/>
          <p:cNvSpPr/>
          <p:nvPr/>
        </p:nvSpPr>
        <p:spPr>
          <a:xfrm>
            <a:off x="708843" y="1792250"/>
            <a:ext cx="2080500" cy="5676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340" name="Google Shape;340;p36"/>
          <p:cNvSpPr txBox="1"/>
          <p:nvPr/>
        </p:nvSpPr>
        <p:spPr>
          <a:xfrm>
            <a:off x="3776250" y="4578725"/>
            <a:ext cx="1799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 as in “block”</a:t>
            </a:r>
            <a:endParaRPr b="0" i="0" sz="1800" u="none" cap="none" strike="noStrike">
              <a:solidFill>
                <a:schemeClr val="dk1"/>
              </a:solidFill>
              <a:latin typeface="Twentieth Century"/>
              <a:ea typeface="Twentieth Century"/>
              <a:cs typeface="Twentieth Century"/>
              <a:sym typeface="Twentieth Century"/>
            </a:endParaRPr>
          </a:p>
        </p:txBody>
      </p:sp>
      <p:sp>
        <p:nvSpPr>
          <p:cNvPr id="341" name="Google Shape;341;p36"/>
          <p:cNvSpPr txBox="1"/>
          <p:nvPr/>
        </p:nvSpPr>
        <p:spPr>
          <a:xfrm>
            <a:off x="6900450" y="4578725"/>
            <a:ext cx="1799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/u/ as in “blue”</a:t>
            </a:r>
            <a:endParaRPr b="0" i="0" sz="1800" u="none" cap="none" strike="noStrike">
              <a:solidFill>
                <a:schemeClr val="dk1"/>
              </a:solidFill>
              <a:latin typeface="Twentieth Century"/>
              <a:ea typeface="Twentieth Century"/>
              <a:cs typeface="Twentieth Century"/>
              <a:sym typeface="Twentieth Century"/>
            </a:endParaRPr>
          </a:p>
        </p:txBody>
      </p:sp>
      <p:sp>
        <p:nvSpPr>
          <p:cNvPr id="342" name="Google Shape;342;p36"/>
          <p:cNvSpPr txBox="1"/>
          <p:nvPr/>
        </p:nvSpPr>
        <p:spPr>
          <a:xfrm>
            <a:off x="676043" y="4578725"/>
            <a:ext cx="1799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/i/ as in “bleed”</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dk1"/>
              </a:buClr>
              <a:buSzPts val="2800"/>
              <a:buFont typeface="Twentieth Century"/>
              <a:buNone/>
            </a:pPr>
            <a:r>
              <a:rPr lang="en"/>
              <a:t>FROM SPECTROGRAMS TO SOUNDS</a:t>
            </a:r>
            <a:endParaRPr/>
          </a:p>
        </p:txBody>
      </p:sp>
      <p:sp>
        <p:nvSpPr>
          <p:cNvPr id="348" name="Google Shape;348;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rPr lang="en" sz="1700"/>
              <a:t>THIS IS AN EARLY 1980S CONVOLUTIONAL NEURAL NET </a:t>
            </a:r>
            <a:br>
              <a:rPr lang="en" sz="1700"/>
            </a:br>
            <a:r>
              <a:rPr lang="en" sz="1700"/>
              <a:t>THAT RECOGNIZES SOUNDS.</a:t>
            </a:r>
            <a:endParaRPr sz="1700"/>
          </a:p>
          <a:p>
            <a:pPr indent="0" lvl="0" marL="0" rtl="0" algn="l">
              <a:lnSpc>
                <a:spcPct val="120000"/>
              </a:lnSpc>
              <a:spcBef>
                <a:spcPts val="1200"/>
              </a:spcBef>
              <a:spcAft>
                <a:spcPts val="1200"/>
              </a:spcAft>
              <a:buSzPts val="1800"/>
              <a:buNone/>
            </a:pPr>
            <a:r>
              <a:rPr lang="en" sz="1700"/>
              <a:t>SPECTROGRAMS GO IN; SOUNDS (PHONEMES) COME OUT:</a:t>
            </a:r>
            <a:br>
              <a:rPr lang="en" sz="1700"/>
            </a:br>
            <a:r>
              <a:rPr lang="en" sz="1700"/>
              <a:t>IN THIS CASE /B/, /D/, OR /G/.</a:t>
            </a:r>
            <a:endParaRPr sz="1700"/>
          </a:p>
        </p:txBody>
      </p:sp>
      <p:sp>
        <p:nvSpPr>
          <p:cNvPr id="349" name="Google Shape;349;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50" name="Google Shape;350;p37"/>
          <p:cNvPicPr preferRelativeResize="0"/>
          <p:nvPr/>
        </p:nvPicPr>
        <p:blipFill rotWithShape="1">
          <a:blip r:embed="rId3">
            <a:alphaModFix/>
          </a:blip>
          <a:srcRect b="0" l="0" r="0" t="0"/>
          <a:stretch/>
        </p:blipFill>
        <p:spPr>
          <a:xfrm>
            <a:off x="5754733" y="7434"/>
            <a:ext cx="3066931" cy="5143499"/>
          </a:xfrm>
          <a:prstGeom prst="rect">
            <a:avLst/>
          </a:prstGeom>
          <a:noFill/>
          <a:ln>
            <a:noFill/>
          </a:ln>
        </p:spPr>
      </p:pic>
      <p:pic>
        <p:nvPicPr>
          <p:cNvPr id="351" name="Google Shape;351;p37"/>
          <p:cNvPicPr preferRelativeResize="0"/>
          <p:nvPr/>
        </p:nvPicPr>
        <p:blipFill rotWithShape="1">
          <a:blip r:embed="rId4">
            <a:alphaModFix/>
          </a:blip>
          <a:srcRect b="0" l="0" r="0" t="0"/>
          <a:stretch/>
        </p:blipFill>
        <p:spPr>
          <a:xfrm>
            <a:off x="2785525" y="2918350"/>
            <a:ext cx="1888725" cy="1934975"/>
          </a:xfrm>
          <a:prstGeom prst="rect">
            <a:avLst/>
          </a:prstGeom>
          <a:noFill/>
          <a:ln>
            <a:noFill/>
          </a:ln>
        </p:spPr>
      </p:pic>
      <p:sp>
        <p:nvSpPr>
          <p:cNvPr id="352" name="Google Shape;352;p37"/>
          <p:cNvSpPr/>
          <p:nvPr/>
        </p:nvSpPr>
        <p:spPr>
          <a:xfrm>
            <a:off x="4743125" y="3561625"/>
            <a:ext cx="748500" cy="393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pic>
        <p:nvPicPr>
          <p:cNvPr id="353" name="Google Shape;353;p37"/>
          <p:cNvPicPr preferRelativeResize="0"/>
          <p:nvPr/>
        </p:nvPicPr>
        <p:blipFill rotWithShape="1">
          <a:blip r:embed="rId5">
            <a:alphaModFix/>
          </a:blip>
          <a:srcRect b="0" l="0" r="39039" t="0"/>
          <a:stretch/>
        </p:blipFill>
        <p:spPr>
          <a:xfrm>
            <a:off x="275578" y="3034950"/>
            <a:ext cx="1692600" cy="1701775"/>
          </a:xfrm>
          <a:prstGeom prst="rect">
            <a:avLst/>
          </a:prstGeom>
          <a:noFill/>
          <a:ln>
            <a:noFill/>
          </a:ln>
        </p:spPr>
      </p:pic>
      <p:sp>
        <p:nvSpPr>
          <p:cNvPr id="354" name="Google Shape;354;p37"/>
          <p:cNvSpPr/>
          <p:nvPr/>
        </p:nvSpPr>
        <p:spPr>
          <a:xfrm>
            <a:off x="1847525" y="3561625"/>
            <a:ext cx="748500" cy="393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355" name="Google Shape;355;p37"/>
          <p:cNvSpPr txBox="1"/>
          <p:nvPr/>
        </p:nvSpPr>
        <p:spPr>
          <a:xfrm>
            <a:off x="580575" y="4797775"/>
            <a:ext cx="1266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waveform</a:t>
            </a:r>
            <a:endParaRPr b="0" i="0" sz="1800" u="none" cap="none" strike="noStrike">
              <a:solidFill>
                <a:schemeClr val="dk1"/>
              </a:solidFill>
              <a:latin typeface="Twentieth Century"/>
              <a:ea typeface="Twentieth Century"/>
              <a:cs typeface="Twentieth Century"/>
              <a:sym typeface="Twentieth Century"/>
            </a:endParaRPr>
          </a:p>
        </p:txBody>
      </p:sp>
      <p:sp>
        <p:nvSpPr>
          <p:cNvPr id="356" name="Google Shape;356;p37"/>
          <p:cNvSpPr txBox="1"/>
          <p:nvPr/>
        </p:nvSpPr>
        <p:spPr>
          <a:xfrm>
            <a:off x="3011434" y="4748090"/>
            <a:ext cx="1697253"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spectrogram</a:t>
            </a:r>
            <a:endParaRPr b="0" i="0" sz="1800" u="none" cap="none" strike="noStrike">
              <a:solidFill>
                <a:schemeClr val="dk1"/>
              </a:solidFill>
              <a:latin typeface="Twentieth Century"/>
              <a:ea typeface="Twentieth Century"/>
              <a:cs typeface="Twentieth Century"/>
              <a:sym typeface="Twentieth Century"/>
            </a:endParaRPr>
          </a:p>
        </p:txBody>
      </p:sp>
      <p:sp>
        <p:nvSpPr>
          <p:cNvPr id="357" name="Google Shape;357;p37"/>
          <p:cNvSpPr txBox="1"/>
          <p:nvPr/>
        </p:nvSpPr>
        <p:spPr>
          <a:xfrm>
            <a:off x="5313750" y="4809525"/>
            <a:ext cx="36264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neural network (phoneme recognizer)</a:t>
            </a:r>
            <a:endParaRPr b="0" i="0" sz="1800" u="none" cap="none" strike="noStrike">
              <a:solidFill>
                <a:schemeClr val="dk1"/>
              </a:solidFill>
              <a:latin typeface="Twentieth Century"/>
              <a:ea typeface="Twentieth Century"/>
              <a:cs typeface="Twentieth Century"/>
              <a:sym typeface="Twentieth Century"/>
            </a:endParaRPr>
          </a:p>
        </p:txBody>
      </p:sp>
      <p:sp>
        <p:nvSpPr>
          <p:cNvPr id="358" name="Google Shape;358;p37"/>
          <p:cNvSpPr/>
          <p:nvPr/>
        </p:nvSpPr>
        <p:spPr>
          <a:xfrm>
            <a:off x="5858100" y="145025"/>
            <a:ext cx="2974200" cy="723000"/>
          </a:xfrm>
          <a:prstGeom prst="roundRect">
            <a:avLst>
              <a:gd fmla="val 16667" name="adj"/>
            </a:avLst>
          </a:prstGeom>
          <a:solidFill>
            <a:srgbClr val="EEB4B4">
              <a:alpha val="4117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8"/>
          <p:cNvSpPr txBox="1"/>
          <p:nvPr>
            <p:ph type="ctrTitle"/>
          </p:nvPr>
        </p:nvSpPr>
        <p:spPr>
          <a:xfrm>
            <a:off x="311708" y="1887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90000"/>
              </a:lnSpc>
              <a:spcBef>
                <a:spcPts val="0"/>
              </a:spcBef>
              <a:spcAft>
                <a:spcPts val="0"/>
              </a:spcAft>
              <a:buClr>
                <a:schemeClr val="dk1"/>
              </a:buClr>
              <a:buSzPts val="4500"/>
              <a:buFont typeface="Twentieth Century"/>
              <a:buNone/>
            </a:pPr>
            <a:r>
              <a:rPr lang="en" sz="4500"/>
              <a:t>HOW DO COMPUTERS UNDERSTAND WHAT WE SAY?</a:t>
            </a:r>
            <a:endParaRPr sz="4500"/>
          </a:p>
        </p:txBody>
      </p:sp>
      <p:sp>
        <p:nvSpPr>
          <p:cNvPr id="364" name="Google Shape;364;p38"/>
          <p:cNvSpPr txBox="1"/>
          <p:nvPr>
            <p:ph idx="1" type="subTitle"/>
          </p:nvPr>
        </p:nvSpPr>
        <p:spPr>
          <a:xfrm>
            <a:off x="311700" y="3977125"/>
            <a:ext cx="8520600" cy="7926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ctr">
              <a:lnSpc>
                <a:spcPct val="120000"/>
              </a:lnSpc>
              <a:spcBef>
                <a:spcPts val="0"/>
              </a:spcBef>
              <a:spcAft>
                <a:spcPts val="0"/>
              </a:spcAft>
              <a:buSzPct val="57142"/>
              <a:buNone/>
            </a:pPr>
            <a:r>
              <a:rPr lang="en"/>
              <a:t>UNDERSTANDING IMPLIES GRASPING THE MEANING OF WHAT WE SAY.</a:t>
            </a:r>
            <a:endParaRPr/>
          </a:p>
        </p:txBody>
      </p:sp>
      <p:sp>
        <p:nvSpPr>
          <p:cNvPr id="365" name="Google Shape;365;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6" name="Google Shape;366;p38"/>
          <p:cNvSpPr/>
          <p:nvPr/>
        </p:nvSpPr>
        <p:spPr>
          <a:xfrm rot="-845048">
            <a:off x="126049" y="667148"/>
            <a:ext cx="2959979" cy="1401735"/>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2400" u="none" cap="none" strike="noStrike">
                <a:solidFill>
                  <a:schemeClr val="dk1"/>
                </a:solidFill>
                <a:latin typeface="Twentieth Century"/>
                <a:ea typeface="Twentieth Century"/>
                <a:cs typeface="Twentieth Century"/>
                <a:sym typeface="Twentieth Century"/>
              </a:rPr>
              <a:t>Let’s return to our original question:</a:t>
            </a:r>
            <a:endParaRPr b="0" i="0" sz="1000" u="none" cap="none" strike="noStrike">
              <a:solidFill>
                <a:schemeClr val="dk1"/>
              </a:solidFill>
              <a:latin typeface="Twentieth Century"/>
              <a:ea typeface="Twentieth Century"/>
              <a:cs typeface="Twentieth Century"/>
              <a:sym typeface="Twentieth Century"/>
            </a:endParaRPr>
          </a:p>
        </p:txBody>
      </p:sp>
      <p:pic>
        <p:nvPicPr>
          <p:cNvPr descr="Two people wearing headphones and looking at a computer&#10;&#10;Description automatically generated with low confidence" id="367" name="Google Shape;367;p38"/>
          <p:cNvPicPr preferRelativeResize="0"/>
          <p:nvPr/>
        </p:nvPicPr>
        <p:blipFill rotWithShape="1">
          <a:blip r:embed="rId3">
            <a:alphaModFix/>
          </a:blip>
          <a:srcRect b="0" l="0" r="0" t="0"/>
          <a:stretch/>
        </p:blipFill>
        <p:spPr>
          <a:xfrm rot="930593">
            <a:off x="6458219" y="290925"/>
            <a:ext cx="2393188" cy="15954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9"/>
          <p:cNvSpPr txBox="1"/>
          <p:nvPr>
            <p:ph type="title"/>
          </p:nvPr>
        </p:nvSpPr>
        <p:spPr>
          <a:xfrm>
            <a:off x="311700" y="445025"/>
            <a:ext cx="86277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Clr>
                <a:schemeClr val="dk1"/>
              </a:buClr>
              <a:buSzPts val="2800"/>
              <a:buFont typeface="Twentieth Century"/>
              <a:buNone/>
            </a:pPr>
            <a:r>
              <a:rPr lang="en"/>
              <a:t>WHERE DOES MEANING COME FROM?</a:t>
            </a:r>
            <a:endParaRPr/>
          </a:p>
        </p:txBody>
      </p:sp>
      <p:sp>
        <p:nvSpPr>
          <p:cNvPr id="373" name="Google Shape;373;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4" name="Google Shape;374;p39"/>
          <p:cNvSpPr txBox="1"/>
          <p:nvPr/>
        </p:nvSpPr>
        <p:spPr>
          <a:xfrm>
            <a:off x="446043" y="1876659"/>
            <a:ext cx="3811800" cy="2031900"/>
          </a:xfrm>
          <a:prstGeom prst="rect">
            <a:avLst/>
          </a:prstGeom>
          <a:solidFill>
            <a:srgbClr val="F9CB9C"/>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Twentieth Century"/>
              <a:buNone/>
            </a:pPr>
            <a:r>
              <a:rPr b="0" i="0" lang="en" sz="2000" u="none" cap="none" strike="noStrike">
                <a:solidFill>
                  <a:schemeClr val="dk1"/>
                </a:solidFill>
                <a:latin typeface="Twentieth Century"/>
                <a:ea typeface="Twentieth Century"/>
                <a:cs typeface="Twentieth Century"/>
                <a:sym typeface="Twentieth Century"/>
              </a:rPr>
              <a:t>The transformation from sound to meaning takes place in </a:t>
            </a:r>
            <a:r>
              <a:rPr b="1" i="0" lang="en" sz="2000" u="none" cap="none" strike="noStrike">
                <a:solidFill>
                  <a:schemeClr val="dk1"/>
                </a:solidFill>
                <a:latin typeface="Twentieth Century"/>
                <a:ea typeface="Twentieth Century"/>
                <a:cs typeface="Twentieth Century"/>
                <a:sym typeface="Twentieth Century"/>
              </a:rPr>
              <a:t>stages</a:t>
            </a:r>
            <a:r>
              <a:rPr b="0" i="0" lang="en" sz="2000" u="none" cap="none" strike="noStrike">
                <a:solidFill>
                  <a:schemeClr val="dk1"/>
                </a:solidFill>
                <a:latin typeface="Twentieth Century"/>
                <a:ea typeface="Twentieth Century"/>
                <a:cs typeface="Twentieth Century"/>
                <a:sym typeface="Twentieth Century"/>
              </a:rPr>
              <a:t>, with increasingly abstract features and higher level knowledge applied at each stage.</a:t>
            </a:r>
            <a:endParaRPr b="0" i="0" sz="2000" u="none" cap="none" strike="noStrike">
              <a:solidFill>
                <a:schemeClr val="dk1"/>
              </a:solidFill>
              <a:latin typeface="Twentieth Century"/>
              <a:ea typeface="Twentieth Century"/>
              <a:cs typeface="Twentieth Century"/>
              <a:sym typeface="Twentieth Century"/>
            </a:endParaRPr>
          </a:p>
        </p:txBody>
      </p:sp>
      <p:sp>
        <p:nvSpPr>
          <p:cNvPr id="375" name="Google Shape;375;p39"/>
          <p:cNvSpPr txBox="1"/>
          <p:nvPr/>
        </p:nvSpPr>
        <p:spPr>
          <a:xfrm>
            <a:off x="4415225" y="1071275"/>
            <a:ext cx="4901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Twentieth Century"/>
              <a:buNone/>
            </a:pPr>
            <a:r>
              <a:rPr b="0" i="0" lang="en" sz="2000" u="none" cap="none" strike="noStrike">
                <a:solidFill>
                  <a:schemeClr val="dk1"/>
                </a:solidFill>
                <a:latin typeface="Twentieth Century"/>
                <a:ea typeface="Twentieth Century"/>
                <a:cs typeface="Twentieth Century"/>
                <a:sym typeface="Twentieth Century"/>
              </a:rPr>
              <a:t>The audio abstraction pipeline</a:t>
            </a:r>
            <a:endParaRPr b="0" i="0" sz="2000" u="none" cap="none" strike="noStrike">
              <a:solidFill>
                <a:schemeClr val="dk1"/>
              </a:solidFill>
              <a:latin typeface="Twentieth Century"/>
              <a:ea typeface="Twentieth Century"/>
              <a:cs typeface="Twentieth Century"/>
              <a:sym typeface="Twentieth Century"/>
            </a:endParaRPr>
          </a:p>
        </p:txBody>
      </p:sp>
      <p:pic>
        <p:nvPicPr>
          <p:cNvPr id="376" name="Google Shape;376;p39"/>
          <p:cNvPicPr preferRelativeResize="0"/>
          <p:nvPr/>
        </p:nvPicPr>
        <p:blipFill rotWithShape="1">
          <a:blip r:embed="rId3">
            <a:alphaModFix/>
          </a:blip>
          <a:srcRect b="0" l="0" r="0" t="0"/>
          <a:stretch/>
        </p:blipFill>
        <p:spPr>
          <a:xfrm>
            <a:off x="4522500" y="1557425"/>
            <a:ext cx="4175457" cy="280099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0"/>
          <p:cNvSpPr txBox="1"/>
          <p:nvPr>
            <p:ph type="title"/>
          </p:nvPr>
        </p:nvSpPr>
        <p:spPr>
          <a:xfrm>
            <a:off x="484816"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20000"/>
              </a:lnSpc>
              <a:spcBef>
                <a:spcPts val="0"/>
              </a:spcBef>
              <a:spcAft>
                <a:spcPts val="0"/>
              </a:spcAft>
              <a:buClr>
                <a:srgbClr val="262626"/>
              </a:buClr>
              <a:buSzPct val="111111"/>
              <a:buFont typeface="Garamond"/>
              <a:buNone/>
            </a:pPr>
            <a:r>
              <a:rPr lang="en" sz="2800"/>
              <a:t>What people understand about their own language</a:t>
            </a:r>
            <a:endParaRPr/>
          </a:p>
        </p:txBody>
      </p:sp>
      <p:sp>
        <p:nvSpPr>
          <p:cNvPr id="382" name="Google Shape;382;p40"/>
          <p:cNvSpPr txBox="1"/>
          <p:nvPr>
            <p:ph idx="1" type="body"/>
          </p:nvPr>
        </p:nvSpPr>
        <p:spPr>
          <a:xfrm>
            <a:off x="1839950" y="1017725"/>
            <a:ext cx="3664200" cy="8082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1200"/>
              </a:spcAft>
              <a:buSzPct val="117666"/>
              <a:buNone/>
            </a:pPr>
            <a:r>
              <a:rPr b="1" lang="en"/>
              <a:t>Every language has a lexicon consisting of all the words in that language.</a:t>
            </a:r>
            <a:endParaRPr/>
          </a:p>
        </p:txBody>
      </p:sp>
      <p:sp>
        <p:nvSpPr>
          <p:cNvPr id="383" name="Google Shape;383;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4" name="Google Shape;384;p40"/>
          <p:cNvSpPr txBox="1"/>
          <p:nvPr>
            <p:ph idx="4294967295" type="body"/>
          </p:nvPr>
        </p:nvSpPr>
        <p:spPr>
          <a:xfrm>
            <a:off x="583550" y="2002075"/>
            <a:ext cx="3006600" cy="247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553"/>
              <a:buNone/>
            </a:pPr>
            <a:r>
              <a:rPr lang="en" sz="1350"/>
              <a:t>All languages have a grammar: a set of rules for generating logical communication. </a:t>
            </a:r>
            <a:endParaRPr sz="1350"/>
          </a:p>
          <a:p>
            <a:pPr indent="0" lvl="0" marL="0" rtl="0" algn="l">
              <a:lnSpc>
                <a:spcPct val="100000"/>
              </a:lnSpc>
              <a:spcBef>
                <a:spcPts val="1200"/>
              </a:spcBef>
              <a:spcAft>
                <a:spcPts val="0"/>
              </a:spcAft>
              <a:buSzPts val="1553"/>
              <a:buNone/>
            </a:pPr>
            <a:r>
              <a:rPr lang="en" sz="1350"/>
              <a:t>While every language has a different set of rules, all languages do obey rules.</a:t>
            </a:r>
            <a:endParaRPr sz="1350"/>
          </a:p>
          <a:p>
            <a:pPr indent="0" lvl="0" marL="0" rtl="0" algn="l">
              <a:lnSpc>
                <a:spcPct val="100000"/>
              </a:lnSpc>
              <a:spcBef>
                <a:spcPts val="1200"/>
              </a:spcBef>
              <a:spcAft>
                <a:spcPts val="1200"/>
              </a:spcAft>
              <a:buSzPts val="1553"/>
              <a:buNone/>
            </a:pPr>
            <a:r>
              <a:rPr lang="en" sz="1350"/>
              <a:t>You subconsciously know the rules of your language even though you probably can’t say what they are.</a:t>
            </a:r>
            <a:endParaRPr sz="1350"/>
          </a:p>
        </p:txBody>
      </p:sp>
      <p:pic>
        <p:nvPicPr>
          <p:cNvPr id="385" name="Google Shape;385;p40"/>
          <p:cNvPicPr preferRelativeResize="0"/>
          <p:nvPr/>
        </p:nvPicPr>
        <p:blipFill rotWithShape="1">
          <a:blip r:embed="rId3">
            <a:alphaModFix/>
          </a:blip>
          <a:srcRect b="0" l="0" r="0" t="0"/>
          <a:stretch/>
        </p:blipFill>
        <p:spPr>
          <a:xfrm>
            <a:off x="5432620" y="1094063"/>
            <a:ext cx="3115761" cy="3533225"/>
          </a:xfrm>
          <a:prstGeom prst="rect">
            <a:avLst/>
          </a:prstGeom>
          <a:noFill/>
          <a:ln>
            <a:noFill/>
          </a:ln>
        </p:spPr>
      </p:pic>
      <p:sp>
        <p:nvSpPr>
          <p:cNvPr id="386" name="Google Shape;386;p40"/>
          <p:cNvSpPr txBox="1"/>
          <p:nvPr/>
        </p:nvSpPr>
        <p:spPr>
          <a:xfrm>
            <a:off x="5604300" y="4694200"/>
            <a:ext cx="3533100" cy="3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50"/>
              <a:buFont typeface="Arial"/>
              <a:buNone/>
            </a:pPr>
            <a:r>
              <a:rPr b="1" i="0" lang="en" sz="1250" u="none" cap="none" strike="noStrike">
                <a:solidFill>
                  <a:srgbClr val="373D3F"/>
                </a:solidFill>
                <a:latin typeface="Arial"/>
                <a:ea typeface="Arial"/>
                <a:cs typeface="Arial"/>
                <a:sym typeface="Arial"/>
              </a:rPr>
              <a:t>Major Levels of Linguistics</a:t>
            </a:r>
            <a:endParaRPr b="1" i="0" sz="1700" u="none" cap="none" strike="noStrike">
              <a:solidFill>
                <a:srgbClr val="000000"/>
              </a:solidFill>
              <a:latin typeface="Arial"/>
              <a:ea typeface="Arial"/>
              <a:cs typeface="Arial"/>
              <a:sym typeface="Arial"/>
            </a:endParaRPr>
          </a:p>
        </p:txBody>
      </p:sp>
      <p:pic>
        <p:nvPicPr>
          <p:cNvPr id="387" name="Google Shape;387;p40"/>
          <p:cNvPicPr preferRelativeResize="0"/>
          <p:nvPr/>
        </p:nvPicPr>
        <p:blipFill rotWithShape="1">
          <a:blip r:embed="rId4">
            <a:alphaModFix/>
          </a:blip>
          <a:srcRect b="0" l="0" r="0" t="0"/>
          <a:stretch/>
        </p:blipFill>
        <p:spPr>
          <a:xfrm>
            <a:off x="659759" y="1094063"/>
            <a:ext cx="1059875" cy="933750"/>
          </a:xfrm>
          <a:prstGeom prst="rect">
            <a:avLst/>
          </a:prstGeom>
          <a:noFill/>
          <a:ln>
            <a:noFill/>
          </a:ln>
        </p:spPr>
      </p:pic>
      <p:grpSp>
        <p:nvGrpSpPr>
          <p:cNvPr id="388" name="Google Shape;388;p40"/>
          <p:cNvGrpSpPr/>
          <p:nvPr/>
        </p:nvGrpSpPr>
        <p:grpSpPr>
          <a:xfrm>
            <a:off x="3534938" y="2266087"/>
            <a:ext cx="1897992" cy="1557874"/>
            <a:chOff x="3649210" y="1290625"/>
            <a:chExt cx="2160000" cy="1746300"/>
          </a:xfrm>
        </p:grpSpPr>
        <p:pic>
          <p:nvPicPr>
            <p:cNvPr id="389" name="Google Shape;389;p40"/>
            <p:cNvPicPr preferRelativeResize="0"/>
            <p:nvPr/>
          </p:nvPicPr>
          <p:blipFill rotWithShape="1">
            <a:blip r:embed="rId5">
              <a:alphaModFix/>
            </a:blip>
            <a:srcRect b="0" l="0" r="0" t="0"/>
            <a:stretch/>
          </p:blipFill>
          <p:spPr>
            <a:xfrm>
              <a:off x="3944302" y="1661517"/>
              <a:ext cx="1659998" cy="933749"/>
            </a:xfrm>
            <a:prstGeom prst="rect">
              <a:avLst/>
            </a:prstGeom>
            <a:noFill/>
            <a:ln>
              <a:noFill/>
            </a:ln>
          </p:spPr>
        </p:pic>
        <p:sp>
          <p:nvSpPr>
            <p:cNvPr id="390" name="Google Shape;390;p40"/>
            <p:cNvSpPr/>
            <p:nvPr/>
          </p:nvSpPr>
          <p:spPr>
            <a:xfrm>
              <a:off x="3649210" y="1290625"/>
              <a:ext cx="2160000" cy="1746300"/>
            </a:xfrm>
            <a:prstGeom prst="bracePair">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par>
                                <p:cTn fill="hold" nodeType="with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1000"/>
                                        <p:tgtEl>
                                          <p:spTgt spid="385"/>
                                        </p:tgtEl>
                                      </p:cBhvr>
                                    </p:animEffect>
                                  </p:childTnLst>
                                </p:cTn>
                              </p:par>
                              <p:par>
                                <p:cTn fill="hold" nodeType="with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1000"/>
                                        <p:tgtEl>
                                          <p:spTgt spid="3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1"/>
          <p:cNvSpPr txBox="1"/>
          <p:nvPr>
            <p:ph type="title"/>
          </p:nvPr>
        </p:nvSpPr>
        <p:spPr>
          <a:xfrm>
            <a:off x="570676" y="445025"/>
            <a:ext cx="82617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rgbClr val="262626"/>
              </a:buClr>
              <a:buSzPct val="111110"/>
              <a:buFont typeface="Garamond"/>
              <a:buNone/>
            </a:pPr>
            <a:r>
              <a:rPr lang="en"/>
              <a:t>What knowledge do smart assistants need to understand human speech</a:t>
            </a:r>
            <a:endParaRPr/>
          </a:p>
        </p:txBody>
      </p:sp>
      <p:sp>
        <p:nvSpPr>
          <p:cNvPr id="396" name="Google Shape;396;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97" name="Google Shape;397;p41"/>
          <p:cNvPicPr preferRelativeResize="0"/>
          <p:nvPr/>
        </p:nvPicPr>
        <p:blipFill rotWithShape="1">
          <a:blip r:embed="rId3">
            <a:alphaModFix/>
          </a:blip>
          <a:srcRect b="0" l="0" r="0" t="0"/>
          <a:stretch/>
        </p:blipFill>
        <p:spPr>
          <a:xfrm>
            <a:off x="4625798" y="1187445"/>
            <a:ext cx="3159185" cy="3306051"/>
          </a:xfrm>
          <a:prstGeom prst="rect">
            <a:avLst/>
          </a:prstGeom>
          <a:noFill/>
          <a:ln>
            <a:noFill/>
          </a:ln>
        </p:spPr>
      </p:pic>
      <p:sp>
        <p:nvSpPr>
          <p:cNvPr id="398" name="Google Shape;398;p41"/>
          <p:cNvSpPr txBox="1"/>
          <p:nvPr/>
        </p:nvSpPr>
        <p:spPr>
          <a:xfrm>
            <a:off x="1057239" y="1841257"/>
            <a:ext cx="2466900" cy="169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Notice any similarities for earlier slides?</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Smart assistant use the same information that humans use to understand speech.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pic>
        <p:nvPicPr>
          <p:cNvPr id="403" name="Google Shape;403;p42"/>
          <p:cNvPicPr preferRelativeResize="0"/>
          <p:nvPr/>
        </p:nvPicPr>
        <p:blipFill rotWithShape="1">
          <a:blip r:embed="rId3">
            <a:alphaModFix/>
          </a:blip>
          <a:srcRect b="0" l="0" r="0" t="0"/>
          <a:stretch/>
        </p:blipFill>
        <p:spPr>
          <a:xfrm>
            <a:off x="6455450" y="2358100"/>
            <a:ext cx="2617550" cy="2394725"/>
          </a:xfrm>
          <a:prstGeom prst="rect">
            <a:avLst/>
          </a:prstGeom>
          <a:noFill/>
          <a:ln>
            <a:noFill/>
          </a:ln>
        </p:spPr>
      </p:pic>
      <p:pic>
        <p:nvPicPr>
          <p:cNvPr id="404" name="Google Shape;404;p42"/>
          <p:cNvPicPr preferRelativeResize="0"/>
          <p:nvPr/>
        </p:nvPicPr>
        <p:blipFill rotWithShape="1">
          <a:blip r:embed="rId4">
            <a:alphaModFix/>
          </a:blip>
          <a:srcRect b="17801" l="8578" r="7808" t="10118"/>
          <a:stretch/>
        </p:blipFill>
        <p:spPr>
          <a:xfrm flipH="1">
            <a:off x="238750" y="2168500"/>
            <a:ext cx="2256300" cy="2053250"/>
          </a:xfrm>
          <a:prstGeom prst="rect">
            <a:avLst/>
          </a:prstGeom>
          <a:noFill/>
          <a:ln>
            <a:noFill/>
          </a:ln>
        </p:spPr>
      </p:pic>
      <p:sp>
        <p:nvSpPr>
          <p:cNvPr id="405" name="Google Shape;405;p42"/>
          <p:cNvSpPr/>
          <p:nvPr/>
        </p:nvSpPr>
        <p:spPr>
          <a:xfrm>
            <a:off x="4856450" y="1298550"/>
            <a:ext cx="1599000" cy="1273200"/>
          </a:xfrm>
          <a:prstGeom prst="wedgeRectCallout">
            <a:avLst>
              <a:gd fmla="val 55219" name="adj1"/>
              <a:gd fmla="val 108842"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Sound is variations in air pressure.</a:t>
            </a:r>
            <a:endParaRPr b="0" i="0" sz="1800" u="none" cap="none" strike="noStrike">
              <a:solidFill>
                <a:schemeClr val="dk1"/>
              </a:solidFill>
              <a:latin typeface="Twentieth Century"/>
              <a:ea typeface="Twentieth Century"/>
              <a:cs typeface="Twentieth Century"/>
              <a:sym typeface="Twentieth Century"/>
            </a:endParaRPr>
          </a:p>
        </p:txBody>
      </p:sp>
      <p:sp>
        <p:nvSpPr>
          <p:cNvPr id="406" name="Google Shape;406;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7" name="Google Shape;407;p42"/>
          <p:cNvSpPr/>
          <p:nvPr/>
        </p:nvSpPr>
        <p:spPr>
          <a:xfrm>
            <a:off x="1258075" y="1196775"/>
            <a:ext cx="2856900" cy="1140600"/>
          </a:xfrm>
          <a:prstGeom prst="wedgeEllipseCallout">
            <a:avLst>
              <a:gd fmla="val -29968" name="adj1"/>
              <a:gd fmla="val 7948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“unforgettable sight”</a:t>
            </a:r>
            <a:endParaRPr b="0" i="0" sz="1600" u="none" cap="none" strike="noStrike">
              <a:solidFill>
                <a:schemeClr val="dk1"/>
              </a:solidFill>
              <a:latin typeface="Twentieth Century"/>
              <a:ea typeface="Twentieth Century"/>
              <a:cs typeface="Twentieth Century"/>
              <a:sym typeface="Twentieth Century"/>
            </a:endParaRPr>
          </a:p>
        </p:txBody>
      </p:sp>
      <p:sp>
        <p:nvSpPr>
          <p:cNvPr id="408" name="Google Shape;408;p42"/>
          <p:cNvSpPr/>
          <p:nvPr/>
        </p:nvSpPr>
        <p:spPr>
          <a:xfrm>
            <a:off x="297750" y="257950"/>
            <a:ext cx="8477400" cy="7485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Twentieth Century"/>
              <a:buNone/>
            </a:pPr>
            <a:r>
              <a:rPr b="0" i="0" lang="en" sz="2000" u="none" cap="none" strike="noStrike">
                <a:solidFill>
                  <a:schemeClr val="dk1"/>
                </a:solidFill>
                <a:latin typeface="Twentieth Century"/>
                <a:ea typeface="Twentieth Century"/>
                <a:cs typeface="Twentieth Century"/>
                <a:sym typeface="Twentieth Century"/>
              </a:rPr>
              <a:t>Meet our resident sound expert - Xenomorph from the movie Alien. </a:t>
            </a:r>
            <a:br>
              <a:rPr b="0" i="0" lang="en" sz="2000" u="none" cap="none" strike="noStrike">
                <a:solidFill>
                  <a:schemeClr val="dk1"/>
                </a:solidFill>
                <a:latin typeface="Twentieth Century"/>
                <a:ea typeface="Twentieth Century"/>
                <a:cs typeface="Twentieth Century"/>
                <a:sym typeface="Twentieth Century"/>
              </a:rPr>
            </a:br>
            <a:r>
              <a:rPr b="0" i="0" lang="en" sz="2000" u="none" cap="none" strike="noStrike">
                <a:solidFill>
                  <a:schemeClr val="dk1"/>
                </a:solidFill>
                <a:latin typeface="Twentieth Century"/>
                <a:ea typeface="Twentieth Century"/>
                <a:cs typeface="Twentieth Century"/>
                <a:sym typeface="Twentieth Century"/>
              </a:rPr>
              <a:t>She will tell us all about the </a:t>
            </a:r>
            <a:r>
              <a:rPr b="0" i="0" lang="en" sz="2000" u="sng" cap="none" strike="noStrike">
                <a:solidFill>
                  <a:schemeClr val="dk1"/>
                </a:solidFill>
                <a:latin typeface="Twentieth Century"/>
                <a:ea typeface="Twentieth Century"/>
                <a:cs typeface="Twentieth Century"/>
                <a:sym typeface="Twentieth Century"/>
              </a:rPr>
              <a:t>stages of the audio abstraction pipeline.</a:t>
            </a:r>
            <a:endParaRPr b="0" i="0" sz="2000" u="sng" cap="none" strike="noStrike">
              <a:solidFill>
                <a:schemeClr val="dk1"/>
              </a:solidFill>
              <a:latin typeface="Twentieth Century"/>
              <a:ea typeface="Twentieth Century"/>
              <a:cs typeface="Twentieth Century"/>
              <a:sym typeface="Twentieth Century"/>
            </a:endParaRPr>
          </a:p>
        </p:txBody>
      </p:sp>
      <p:sp>
        <p:nvSpPr>
          <p:cNvPr id="409" name="Google Shape;409;p42"/>
          <p:cNvSpPr txBox="1"/>
          <p:nvPr/>
        </p:nvSpPr>
        <p:spPr>
          <a:xfrm>
            <a:off x="297750" y="4276539"/>
            <a:ext cx="20997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When we speak, the air is vibrating.</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pic>
        <p:nvPicPr>
          <p:cNvPr id="414" name="Google Shape;414;p43"/>
          <p:cNvPicPr preferRelativeResize="0"/>
          <p:nvPr/>
        </p:nvPicPr>
        <p:blipFill rotWithShape="1">
          <a:blip r:embed="rId3">
            <a:alphaModFix/>
          </a:blip>
          <a:srcRect b="0" l="0" r="0" t="0"/>
          <a:stretch/>
        </p:blipFill>
        <p:spPr>
          <a:xfrm>
            <a:off x="6455450" y="2358100"/>
            <a:ext cx="2617550" cy="2394725"/>
          </a:xfrm>
          <a:prstGeom prst="rect">
            <a:avLst/>
          </a:prstGeom>
          <a:noFill/>
          <a:ln>
            <a:noFill/>
          </a:ln>
        </p:spPr>
      </p:pic>
      <p:pic>
        <p:nvPicPr>
          <p:cNvPr id="415" name="Google Shape;415;p43"/>
          <p:cNvPicPr preferRelativeResize="0"/>
          <p:nvPr/>
        </p:nvPicPr>
        <p:blipFill rotWithShape="1">
          <a:blip r:embed="rId4">
            <a:alphaModFix/>
          </a:blip>
          <a:srcRect b="0" l="0" r="0" t="0"/>
          <a:stretch/>
        </p:blipFill>
        <p:spPr>
          <a:xfrm>
            <a:off x="1741725" y="2082500"/>
            <a:ext cx="3208574" cy="2136396"/>
          </a:xfrm>
          <a:prstGeom prst="rect">
            <a:avLst/>
          </a:prstGeom>
          <a:noFill/>
          <a:ln>
            <a:noFill/>
          </a:ln>
        </p:spPr>
      </p:pic>
      <p:pic>
        <p:nvPicPr>
          <p:cNvPr id="416" name="Google Shape;416;p43"/>
          <p:cNvPicPr preferRelativeResize="0"/>
          <p:nvPr/>
        </p:nvPicPr>
        <p:blipFill rotWithShape="1">
          <a:blip r:embed="rId5">
            <a:alphaModFix/>
          </a:blip>
          <a:srcRect b="0" l="24926" r="39037" t="43738"/>
          <a:stretch/>
        </p:blipFill>
        <p:spPr>
          <a:xfrm>
            <a:off x="3983575" y="2350338"/>
            <a:ext cx="1672782" cy="1600725"/>
          </a:xfrm>
          <a:prstGeom prst="rect">
            <a:avLst/>
          </a:prstGeom>
          <a:noFill/>
          <a:ln>
            <a:noFill/>
          </a:ln>
        </p:spPr>
      </p:pic>
      <p:sp>
        <p:nvSpPr>
          <p:cNvPr id="417" name="Google Shape;417;p43"/>
          <p:cNvSpPr/>
          <p:nvPr/>
        </p:nvSpPr>
        <p:spPr>
          <a:xfrm>
            <a:off x="1942350" y="258425"/>
            <a:ext cx="4635000" cy="767100"/>
          </a:xfrm>
          <a:prstGeom prst="wedgeRectCallout">
            <a:avLst>
              <a:gd fmla="val 51079" name="adj1"/>
              <a:gd fmla="val 357525"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 microphone turns sound into an electrical signal, or “waveform”.</a:t>
            </a:r>
            <a:endParaRPr b="0" i="0" sz="1800" u="none" cap="none" strike="noStrike">
              <a:solidFill>
                <a:schemeClr val="dk1"/>
              </a:solidFill>
              <a:latin typeface="Twentieth Century"/>
              <a:ea typeface="Twentieth Century"/>
              <a:cs typeface="Twentieth Century"/>
              <a:sym typeface="Twentieth Century"/>
            </a:endParaRPr>
          </a:p>
        </p:txBody>
      </p:sp>
      <p:sp>
        <p:nvSpPr>
          <p:cNvPr id="418" name="Google Shape;41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9" name="Google Shape;419;p43"/>
          <p:cNvSpPr txBox="1"/>
          <p:nvPr/>
        </p:nvSpPr>
        <p:spPr>
          <a:xfrm>
            <a:off x="3647075" y="3461275"/>
            <a:ext cx="20676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“unforgettable sight”</a:t>
            </a:r>
            <a:endParaRPr b="0" i="0" sz="1200" u="none" cap="none" strike="noStrike">
              <a:solidFill>
                <a:schemeClr val="dk1"/>
              </a:solidFill>
              <a:latin typeface="Twentieth Century"/>
              <a:ea typeface="Twentieth Century"/>
              <a:cs typeface="Twentieth Century"/>
              <a:sym typeface="Twentieth Century"/>
            </a:endParaRPr>
          </a:p>
        </p:txBody>
      </p:sp>
      <p:pic>
        <p:nvPicPr>
          <p:cNvPr id="420" name="Google Shape;420;p43"/>
          <p:cNvPicPr preferRelativeResize="0"/>
          <p:nvPr/>
        </p:nvPicPr>
        <p:blipFill rotWithShape="1">
          <a:blip r:embed="rId6">
            <a:alphaModFix/>
          </a:blip>
          <a:srcRect b="17801" l="8578" r="7808" t="10118"/>
          <a:stretch/>
        </p:blipFill>
        <p:spPr>
          <a:xfrm flipH="1">
            <a:off x="238750" y="2168500"/>
            <a:ext cx="2256300" cy="2053250"/>
          </a:xfrm>
          <a:prstGeom prst="rect">
            <a:avLst/>
          </a:prstGeom>
          <a:noFill/>
          <a:ln>
            <a:noFill/>
          </a:ln>
        </p:spPr>
      </p:pic>
      <p:sp>
        <p:nvSpPr>
          <p:cNvPr id="421" name="Google Shape;421;p43"/>
          <p:cNvSpPr/>
          <p:nvPr/>
        </p:nvSpPr>
        <p:spPr>
          <a:xfrm>
            <a:off x="1258075" y="1196775"/>
            <a:ext cx="2856900" cy="1140600"/>
          </a:xfrm>
          <a:prstGeom prst="wedgeEllipseCallout">
            <a:avLst>
              <a:gd fmla="val -29968" name="adj1"/>
              <a:gd fmla="val 7948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“unforgettable sight”</a:t>
            </a:r>
            <a:endParaRPr b="0" i="0" sz="1600" u="none" cap="none" strike="noStrike">
              <a:solidFill>
                <a:schemeClr val="dk1"/>
              </a:solidFill>
              <a:latin typeface="Twentieth Century"/>
              <a:ea typeface="Twentieth Century"/>
              <a:cs typeface="Twentieth Century"/>
              <a:sym typeface="Twentieth Century"/>
            </a:endParaRPr>
          </a:p>
        </p:txBody>
      </p:sp>
      <p:sp>
        <p:nvSpPr>
          <p:cNvPr id="422" name="Google Shape;422;p43"/>
          <p:cNvSpPr txBox="1"/>
          <p:nvPr/>
        </p:nvSpPr>
        <p:spPr>
          <a:xfrm>
            <a:off x="3733625" y="2218175"/>
            <a:ext cx="1894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waveform</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pic>
        <p:nvPicPr>
          <p:cNvPr id="427" name="Google Shape;427;p44"/>
          <p:cNvPicPr preferRelativeResize="0"/>
          <p:nvPr/>
        </p:nvPicPr>
        <p:blipFill rotWithShape="1">
          <a:blip r:embed="rId3">
            <a:alphaModFix/>
          </a:blip>
          <a:srcRect b="0" l="0" r="0" t="0"/>
          <a:stretch/>
        </p:blipFill>
        <p:spPr>
          <a:xfrm>
            <a:off x="4358238" y="3194039"/>
            <a:ext cx="1981004" cy="1812375"/>
          </a:xfrm>
          <a:prstGeom prst="rect">
            <a:avLst/>
          </a:prstGeom>
          <a:noFill/>
          <a:ln>
            <a:noFill/>
          </a:ln>
        </p:spPr>
      </p:pic>
      <p:pic>
        <p:nvPicPr>
          <p:cNvPr id="428" name="Google Shape;428;p44"/>
          <p:cNvPicPr preferRelativeResize="0"/>
          <p:nvPr/>
        </p:nvPicPr>
        <p:blipFill rotWithShape="1">
          <a:blip r:embed="rId4">
            <a:alphaModFix/>
          </a:blip>
          <a:srcRect b="0" l="0" r="0" t="0"/>
          <a:stretch/>
        </p:blipFill>
        <p:spPr>
          <a:xfrm>
            <a:off x="1389973" y="558158"/>
            <a:ext cx="2566365" cy="1708792"/>
          </a:xfrm>
          <a:prstGeom prst="rect">
            <a:avLst/>
          </a:prstGeom>
          <a:noFill/>
          <a:ln>
            <a:noFill/>
          </a:ln>
        </p:spPr>
      </p:pic>
      <p:pic>
        <p:nvPicPr>
          <p:cNvPr id="429" name="Google Shape;429;p44"/>
          <p:cNvPicPr preferRelativeResize="0"/>
          <p:nvPr/>
        </p:nvPicPr>
        <p:blipFill rotWithShape="1">
          <a:blip r:embed="rId5">
            <a:alphaModFix/>
          </a:blip>
          <a:srcRect b="17801" l="8578" r="7808" t="10118"/>
          <a:stretch/>
        </p:blipFill>
        <p:spPr>
          <a:xfrm flipH="1">
            <a:off x="187825" y="444100"/>
            <a:ext cx="1804692" cy="1642286"/>
          </a:xfrm>
          <a:prstGeom prst="rect">
            <a:avLst/>
          </a:prstGeom>
          <a:noFill/>
          <a:ln>
            <a:noFill/>
          </a:ln>
        </p:spPr>
      </p:pic>
      <p:pic>
        <p:nvPicPr>
          <p:cNvPr id="430" name="Google Shape;430;p44"/>
          <p:cNvPicPr preferRelativeResize="0"/>
          <p:nvPr/>
        </p:nvPicPr>
        <p:blipFill rotWithShape="1">
          <a:blip r:embed="rId6">
            <a:alphaModFix/>
          </a:blip>
          <a:srcRect b="0" l="24926" r="39037" t="43738"/>
          <a:stretch/>
        </p:blipFill>
        <p:spPr>
          <a:xfrm>
            <a:off x="3183108" y="772388"/>
            <a:ext cx="1337966" cy="1280338"/>
          </a:xfrm>
          <a:prstGeom prst="rect">
            <a:avLst/>
          </a:prstGeom>
          <a:noFill/>
          <a:ln>
            <a:noFill/>
          </a:ln>
        </p:spPr>
      </p:pic>
      <p:sp>
        <p:nvSpPr>
          <p:cNvPr id="431" name="Google Shape;431;p44"/>
          <p:cNvSpPr/>
          <p:nvPr/>
        </p:nvSpPr>
        <p:spPr>
          <a:xfrm>
            <a:off x="1750375" y="2432583"/>
            <a:ext cx="2191800" cy="1273200"/>
          </a:xfrm>
          <a:prstGeom prst="wedgeRectCallout">
            <a:avLst>
              <a:gd fmla="val 69221" name="adj1"/>
              <a:gd fmla="val 93585"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 spectrum analyzer turns the waveform into a spectrogram.</a:t>
            </a:r>
            <a:endParaRPr b="0" i="0" sz="1800" u="none" cap="none" strike="noStrike">
              <a:solidFill>
                <a:schemeClr val="dk1"/>
              </a:solidFill>
              <a:latin typeface="Twentieth Century"/>
              <a:ea typeface="Twentieth Century"/>
              <a:cs typeface="Twentieth Century"/>
              <a:sym typeface="Twentieth Century"/>
            </a:endParaRPr>
          </a:p>
        </p:txBody>
      </p:sp>
      <p:sp>
        <p:nvSpPr>
          <p:cNvPr id="432" name="Google Shape;432;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33" name="Google Shape;433;p44"/>
          <p:cNvPicPr preferRelativeResize="0"/>
          <p:nvPr/>
        </p:nvPicPr>
        <p:blipFill rotWithShape="1">
          <a:blip r:embed="rId7">
            <a:alphaModFix/>
          </a:blip>
          <a:srcRect b="0" l="0" r="0" t="0"/>
          <a:stretch/>
        </p:blipFill>
        <p:spPr>
          <a:xfrm>
            <a:off x="7434100" y="796320"/>
            <a:ext cx="1058325" cy="1084250"/>
          </a:xfrm>
          <a:prstGeom prst="rect">
            <a:avLst/>
          </a:prstGeom>
          <a:noFill/>
          <a:ln>
            <a:noFill/>
          </a:ln>
        </p:spPr>
      </p:pic>
      <p:pic>
        <p:nvPicPr>
          <p:cNvPr id="434" name="Google Shape;434;p44"/>
          <p:cNvPicPr preferRelativeResize="0"/>
          <p:nvPr/>
        </p:nvPicPr>
        <p:blipFill rotWithShape="1">
          <a:blip r:embed="rId8">
            <a:alphaModFix/>
          </a:blip>
          <a:srcRect b="0" l="0" r="0" t="0"/>
          <a:stretch/>
        </p:blipFill>
        <p:spPr>
          <a:xfrm>
            <a:off x="4614988" y="733414"/>
            <a:ext cx="2191800" cy="1216048"/>
          </a:xfrm>
          <a:prstGeom prst="rect">
            <a:avLst/>
          </a:prstGeom>
          <a:noFill/>
          <a:ln>
            <a:noFill/>
          </a:ln>
        </p:spPr>
      </p:pic>
      <p:cxnSp>
        <p:nvCxnSpPr>
          <p:cNvPr id="435" name="Google Shape;435;p44"/>
          <p:cNvCxnSpPr/>
          <p:nvPr/>
        </p:nvCxnSpPr>
        <p:spPr>
          <a:xfrm>
            <a:off x="6854645" y="1286925"/>
            <a:ext cx="509400" cy="0"/>
          </a:xfrm>
          <a:prstGeom prst="straightConnector1">
            <a:avLst/>
          </a:prstGeom>
          <a:noFill/>
          <a:ln cap="flat" cmpd="sng" w="28575">
            <a:solidFill>
              <a:srgbClr val="980000"/>
            </a:solidFill>
            <a:prstDash val="solid"/>
            <a:round/>
            <a:headEnd len="sm" w="sm" type="none"/>
            <a:tailEnd len="med" w="med" type="triangle"/>
          </a:ln>
        </p:spPr>
      </p:cxnSp>
      <p:sp>
        <p:nvSpPr>
          <p:cNvPr id="436" name="Google Shape;436;p44"/>
          <p:cNvSpPr txBox="1"/>
          <p:nvPr/>
        </p:nvSpPr>
        <p:spPr>
          <a:xfrm>
            <a:off x="4685575" y="392525"/>
            <a:ext cx="1894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spectrum analyzer</a:t>
            </a:r>
            <a:endParaRPr b="0" i="0" sz="1800" u="none" cap="none" strike="noStrike">
              <a:solidFill>
                <a:schemeClr val="dk1"/>
              </a:solidFill>
              <a:latin typeface="Twentieth Century"/>
              <a:ea typeface="Twentieth Century"/>
              <a:cs typeface="Twentieth Century"/>
              <a:sym typeface="Twentieth Century"/>
            </a:endParaRPr>
          </a:p>
        </p:txBody>
      </p:sp>
      <p:sp>
        <p:nvSpPr>
          <p:cNvPr id="437" name="Google Shape;437;p44"/>
          <p:cNvSpPr txBox="1"/>
          <p:nvPr/>
        </p:nvSpPr>
        <p:spPr>
          <a:xfrm>
            <a:off x="2932975" y="392525"/>
            <a:ext cx="1894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waveform</a:t>
            </a:r>
            <a:endParaRPr b="0" i="0" sz="1800" u="none" cap="none" strike="noStrike">
              <a:solidFill>
                <a:schemeClr val="dk1"/>
              </a:solidFill>
              <a:latin typeface="Twentieth Century"/>
              <a:ea typeface="Twentieth Century"/>
              <a:cs typeface="Twentieth Century"/>
              <a:sym typeface="Twentieth Century"/>
            </a:endParaRPr>
          </a:p>
        </p:txBody>
      </p:sp>
      <p:sp>
        <p:nvSpPr>
          <p:cNvPr id="438" name="Google Shape;438;p44"/>
          <p:cNvSpPr txBox="1"/>
          <p:nvPr/>
        </p:nvSpPr>
        <p:spPr>
          <a:xfrm>
            <a:off x="951775" y="392525"/>
            <a:ext cx="1894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sound waves</a:t>
            </a:r>
            <a:endParaRPr b="0" i="0" sz="1800" u="none" cap="none" strike="noStrike">
              <a:solidFill>
                <a:schemeClr val="dk1"/>
              </a:solidFill>
              <a:latin typeface="Twentieth Century"/>
              <a:ea typeface="Twentieth Century"/>
              <a:cs typeface="Twentieth Century"/>
              <a:sym typeface="Twentieth Century"/>
            </a:endParaRPr>
          </a:p>
        </p:txBody>
      </p:sp>
      <p:sp>
        <p:nvSpPr>
          <p:cNvPr id="439" name="Google Shape;439;p44"/>
          <p:cNvSpPr txBox="1"/>
          <p:nvPr/>
        </p:nvSpPr>
        <p:spPr>
          <a:xfrm>
            <a:off x="7047775" y="392525"/>
            <a:ext cx="1894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spectrogram</a:t>
            </a:r>
            <a:endParaRPr b="0" i="0" sz="1800" u="none" cap="none" strike="noStrike">
              <a:solidFill>
                <a:schemeClr val="dk1"/>
              </a:solidFill>
              <a:latin typeface="Twentieth Century"/>
              <a:ea typeface="Twentieth Century"/>
              <a:cs typeface="Twentieth Century"/>
              <a:sym typeface="Twentieth Century"/>
            </a:endParaRPr>
          </a:p>
        </p:txBody>
      </p:sp>
      <p:sp>
        <p:nvSpPr>
          <p:cNvPr id="440" name="Google Shape;440;p44"/>
          <p:cNvSpPr txBox="1"/>
          <p:nvPr/>
        </p:nvSpPr>
        <p:spPr>
          <a:xfrm>
            <a:off x="6882975" y="1884175"/>
            <a:ext cx="20676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“unforgettable sight”</a:t>
            </a:r>
            <a:endParaRPr b="0" i="0" sz="12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pic>
        <p:nvPicPr>
          <p:cNvPr id="445" name="Google Shape;445;p45"/>
          <p:cNvPicPr preferRelativeResize="0"/>
          <p:nvPr/>
        </p:nvPicPr>
        <p:blipFill rotWithShape="1">
          <a:blip r:embed="rId3">
            <a:alphaModFix/>
          </a:blip>
          <a:srcRect b="0" l="0" r="0" t="0"/>
          <a:stretch/>
        </p:blipFill>
        <p:spPr>
          <a:xfrm>
            <a:off x="7162995" y="3244450"/>
            <a:ext cx="1981004" cy="1812375"/>
          </a:xfrm>
          <a:prstGeom prst="rect">
            <a:avLst/>
          </a:prstGeom>
          <a:noFill/>
          <a:ln>
            <a:noFill/>
          </a:ln>
        </p:spPr>
      </p:pic>
      <p:pic>
        <p:nvPicPr>
          <p:cNvPr id="446" name="Google Shape;446;p45"/>
          <p:cNvPicPr preferRelativeResize="0"/>
          <p:nvPr/>
        </p:nvPicPr>
        <p:blipFill rotWithShape="1">
          <a:blip r:embed="rId4">
            <a:alphaModFix/>
          </a:blip>
          <a:srcRect b="0" l="0" r="0" t="0"/>
          <a:stretch/>
        </p:blipFill>
        <p:spPr>
          <a:xfrm>
            <a:off x="1004382" y="505031"/>
            <a:ext cx="1743200" cy="1160693"/>
          </a:xfrm>
          <a:prstGeom prst="rect">
            <a:avLst/>
          </a:prstGeom>
          <a:noFill/>
          <a:ln>
            <a:noFill/>
          </a:ln>
        </p:spPr>
      </p:pic>
      <p:pic>
        <p:nvPicPr>
          <p:cNvPr id="447" name="Google Shape;447;p45"/>
          <p:cNvPicPr preferRelativeResize="0"/>
          <p:nvPr/>
        </p:nvPicPr>
        <p:blipFill rotWithShape="1">
          <a:blip r:embed="rId5">
            <a:alphaModFix/>
          </a:blip>
          <a:srcRect b="17801" l="8578" r="7808" t="10118"/>
          <a:stretch/>
        </p:blipFill>
        <p:spPr>
          <a:xfrm flipH="1">
            <a:off x="187827" y="427557"/>
            <a:ext cx="1225832" cy="1115521"/>
          </a:xfrm>
          <a:prstGeom prst="rect">
            <a:avLst/>
          </a:prstGeom>
          <a:noFill/>
          <a:ln>
            <a:noFill/>
          </a:ln>
        </p:spPr>
      </p:pic>
      <p:pic>
        <p:nvPicPr>
          <p:cNvPr id="448" name="Google Shape;448;p45"/>
          <p:cNvPicPr preferRelativeResize="0"/>
          <p:nvPr/>
        </p:nvPicPr>
        <p:blipFill rotWithShape="1">
          <a:blip r:embed="rId6">
            <a:alphaModFix/>
          </a:blip>
          <a:srcRect b="0" l="24926" r="39037" t="43738"/>
          <a:stretch/>
        </p:blipFill>
        <p:spPr>
          <a:xfrm>
            <a:off x="2222366" y="650546"/>
            <a:ext cx="908812" cy="869668"/>
          </a:xfrm>
          <a:prstGeom prst="rect">
            <a:avLst/>
          </a:prstGeom>
          <a:noFill/>
          <a:ln>
            <a:noFill/>
          </a:ln>
        </p:spPr>
      </p:pic>
      <p:sp>
        <p:nvSpPr>
          <p:cNvPr id="449" name="Google Shape;449;p45"/>
          <p:cNvSpPr/>
          <p:nvPr/>
        </p:nvSpPr>
        <p:spPr>
          <a:xfrm>
            <a:off x="4172075" y="3041438"/>
            <a:ext cx="2553000" cy="1273200"/>
          </a:xfrm>
          <a:prstGeom prst="wedgeRectCallout">
            <a:avLst>
              <a:gd fmla="val 74623" name="adj1"/>
              <a:gd fmla="val 4155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Sounds (</a:t>
            </a:r>
            <a:r>
              <a:rPr b="0" i="1" lang="en" sz="1800" u="none" cap="none" strike="noStrike">
                <a:solidFill>
                  <a:schemeClr val="dk1"/>
                </a:solidFill>
                <a:latin typeface="Twentieth Century"/>
                <a:ea typeface="Twentieth Century"/>
                <a:cs typeface="Twentieth Century"/>
                <a:sym typeface="Twentieth Century"/>
              </a:rPr>
              <a:t>phonemes</a:t>
            </a:r>
            <a:r>
              <a:rPr b="0" i="0" lang="en" sz="1800" u="none" cap="none" strike="noStrike">
                <a:solidFill>
                  <a:schemeClr val="dk1"/>
                </a:solidFill>
                <a:latin typeface="Twentieth Century"/>
                <a:ea typeface="Twentieth Century"/>
                <a:cs typeface="Twentieth Century"/>
                <a:sym typeface="Twentieth Century"/>
              </a:rPr>
              <a:t>) can be extracted from the spectrogram.</a:t>
            </a:r>
            <a:endParaRPr b="0" i="0" sz="1800" u="none" cap="none" strike="noStrike">
              <a:solidFill>
                <a:schemeClr val="dk1"/>
              </a:solidFill>
              <a:latin typeface="Twentieth Century"/>
              <a:ea typeface="Twentieth Century"/>
              <a:cs typeface="Twentieth Century"/>
              <a:sym typeface="Twentieth Century"/>
            </a:endParaRPr>
          </a:p>
        </p:txBody>
      </p:sp>
      <p:sp>
        <p:nvSpPr>
          <p:cNvPr id="450" name="Google Shape;450;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51" name="Google Shape;451;p45"/>
          <p:cNvPicPr preferRelativeResize="0"/>
          <p:nvPr/>
        </p:nvPicPr>
        <p:blipFill rotWithShape="1">
          <a:blip r:embed="rId7">
            <a:alphaModFix/>
          </a:blip>
          <a:srcRect b="0" l="0" r="0" t="0"/>
          <a:stretch/>
        </p:blipFill>
        <p:spPr>
          <a:xfrm>
            <a:off x="5109845" y="666802"/>
            <a:ext cx="718866" cy="736475"/>
          </a:xfrm>
          <a:prstGeom prst="rect">
            <a:avLst/>
          </a:prstGeom>
          <a:noFill/>
          <a:ln>
            <a:noFill/>
          </a:ln>
        </p:spPr>
      </p:pic>
      <p:pic>
        <p:nvPicPr>
          <p:cNvPr id="452" name="Google Shape;452;p45"/>
          <p:cNvPicPr preferRelativeResize="0"/>
          <p:nvPr/>
        </p:nvPicPr>
        <p:blipFill rotWithShape="1">
          <a:blip r:embed="rId8">
            <a:alphaModFix/>
          </a:blip>
          <a:srcRect b="0" l="0" r="0" t="0"/>
          <a:stretch/>
        </p:blipFill>
        <p:spPr>
          <a:xfrm>
            <a:off x="3194968" y="624073"/>
            <a:ext cx="1488776" cy="825999"/>
          </a:xfrm>
          <a:prstGeom prst="rect">
            <a:avLst/>
          </a:prstGeom>
          <a:noFill/>
          <a:ln>
            <a:noFill/>
          </a:ln>
        </p:spPr>
      </p:pic>
      <p:cxnSp>
        <p:nvCxnSpPr>
          <p:cNvPr id="453" name="Google Shape;453;p45"/>
          <p:cNvCxnSpPr/>
          <p:nvPr/>
        </p:nvCxnSpPr>
        <p:spPr>
          <a:xfrm>
            <a:off x="4716251" y="1000045"/>
            <a:ext cx="345900" cy="0"/>
          </a:xfrm>
          <a:prstGeom prst="straightConnector1">
            <a:avLst/>
          </a:prstGeom>
          <a:noFill/>
          <a:ln cap="flat" cmpd="sng" w="28575">
            <a:solidFill>
              <a:srgbClr val="980000"/>
            </a:solidFill>
            <a:prstDash val="solid"/>
            <a:round/>
            <a:headEnd len="sm" w="sm" type="none"/>
            <a:tailEnd len="med" w="med" type="triangle"/>
          </a:ln>
        </p:spPr>
      </p:cxnSp>
      <p:sp>
        <p:nvSpPr>
          <p:cNvPr id="454" name="Google Shape;454;p45"/>
          <p:cNvSpPr txBox="1"/>
          <p:nvPr/>
        </p:nvSpPr>
        <p:spPr>
          <a:xfrm>
            <a:off x="3131175" y="316325"/>
            <a:ext cx="15528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spectrum analyzer</a:t>
            </a:r>
            <a:endParaRPr b="0" i="0" sz="1200" u="none" cap="none" strike="noStrike">
              <a:solidFill>
                <a:schemeClr val="dk1"/>
              </a:solidFill>
              <a:latin typeface="Twentieth Century"/>
              <a:ea typeface="Twentieth Century"/>
              <a:cs typeface="Twentieth Century"/>
              <a:sym typeface="Twentieth Century"/>
            </a:endParaRPr>
          </a:p>
        </p:txBody>
      </p:sp>
      <p:sp>
        <p:nvSpPr>
          <p:cNvPr id="455" name="Google Shape;455;p45"/>
          <p:cNvSpPr txBox="1"/>
          <p:nvPr/>
        </p:nvSpPr>
        <p:spPr>
          <a:xfrm>
            <a:off x="2052463"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waveform</a:t>
            </a:r>
            <a:endParaRPr b="0" i="0" sz="1200" u="none" cap="none" strike="noStrike">
              <a:solidFill>
                <a:schemeClr val="dk1"/>
              </a:solidFill>
              <a:latin typeface="Twentieth Century"/>
              <a:ea typeface="Twentieth Century"/>
              <a:cs typeface="Twentieth Century"/>
              <a:sym typeface="Twentieth Century"/>
            </a:endParaRPr>
          </a:p>
        </p:txBody>
      </p:sp>
      <p:sp>
        <p:nvSpPr>
          <p:cNvPr id="456" name="Google Shape;456;p45"/>
          <p:cNvSpPr txBox="1"/>
          <p:nvPr/>
        </p:nvSpPr>
        <p:spPr>
          <a:xfrm>
            <a:off x="706737"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sound waves</a:t>
            </a:r>
            <a:endParaRPr b="0" i="0" sz="1200" u="none" cap="none" strike="noStrike">
              <a:solidFill>
                <a:schemeClr val="dk1"/>
              </a:solidFill>
              <a:latin typeface="Twentieth Century"/>
              <a:ea typeface="Twentieth Century"/>
              <a:cs typeface="Twentieth Century"/>
              <a:sym typeface="Twentieth Century"/>
            </a:endParaRPr>
          </a:p>
        </p:txBody>
      </p:sp>
      <p:sp>
        <p:nvSpPr>
          <p:cNvPr id="457" name="Google Shape;457;p45"/>
          <p:cNvSpPr txBox="1"/>
          <p:nvPr/>
        </p:nvSpPr>
        <p:spPr>
          <a:xfrm>
            <a:off x="4847434"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spectrogram</a:t>
            </a:r>
            <a:endParaRPr b="0" i="0" sz="1200" u="none" cap="none" strike="noStrike">
              <a:solidFill>
                <a:schemeClr val="dk1"/>
              </a:solidFill>
              <a:latin typeface="Twentieth Century"/>
              <a:ea typeface="Twentieth Century"/>
              <a:cs typeface="Twentieth Century"/>
              <a:sym typeface="Twentieth Century"/>
            </a:endParaRPr>
          </a:p>
        </p:txBody>
      </p:sp>
      <p:sp>
        <p:nvSpPr>
          <p:cNvPr id="458" name="Google Shape;458;p45"/>
          <p:cNvSpPr txBox="1"/>
          <p:nvPr/>
        </p:nvSpPr>
        <p:spPr>
          <a:xfrm>
            <a:off x="4761425" y="1306705"/>
            <a:ext cx="13743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“unforgettable sight”</a:t>
            </a:r>
            <a:endParaRPr b="0" i="0" sz="1200" u="none" cap="none" strike="noStrike">
              <a:solidFill>
                <a:schemeClr val="dk1"/>
              </a:solidFill>
              <a:latin typeface="Twentieth Century"/>
              <a:ea typeface="Twentieth Century"/>
              <a:cs typeface="Twentieth Century"/>
              <a:sym typeface="Twentieth Century"/>
            </a:endParaRPr>
          </a:p>
        </p:txBody>
      </p:sp>
      <p:sp>
        <p:nvSpPr>
          <p:cNvPr id="459" name="Google Shape;459;p45"/>
          <p:cNvSpPr/>
          <p:nvPr/>
        </p:nvSpPr>
        <p:spPr>
          <a:xfrm>
            <a:off x="1069475" y="2210750"/>
            <a:ext cx="1446300" cy="825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phoneme recognizer</a:t>
            </a:r>
            <a:br>
              <a:rPr b="0" i="0" lang="en" sz="1800" u="none" cap="none" strike="noStrike">
                <a:solidFill>
                  <a:schemeClr val="dk1"/>
                </a:solidFill>
                <a:latin typeface="Twentieth Century"/>
                <a:ea typeface="Twentieth Century"/>
                <a:cs typeface="Twentieth Century"/>
                <a:sym typeface="Twentieth Century"/>
              </a:rPr>
            </a:br>
            <a:r>
              <a:rPr b="0" i="0" lang="en" sz="1800" u="none" cap="none" strike="noStrike">
                <a:solidFill>
                  <a:schemeClr val="dk1"/>
                </a:solidFill>
                <a:latin typeface="Twentieth Century"/>
                <a:ea typeface="Twentieth Century"/>
                <a:cs typeface="Twentieth Century"/>
                <a:sym typeface="Twentieth Century"/>
              </a:rPr>
              <a:t>(sounds)</a:t>
            </a:r>
            <a:endParaRPr b="0" i="0" sz="1800" u="none" cap="none" strike="noStrike">
              <a:solidFill>
                <a:schemeClr val="dk1"/>
              </a:solidFill>
              <a:latin typeface="Twentieth Century"/>
              <a:ea typeface="Twentieth Century"/>
              <a:cs typeface="Twentieth Century"/>
              <a:sym typeface="Twentieth Century"/>
            </a:endParaRPr>
          </a:p>
        </p:txBody>
      </p:sp>
      <p:sp>
        <p:nvSpPr>
          <p:cNvPr id="460" name="Google Shape;460;p45"/>
          <p:cNvSpPr txBox="1"/>
          <p:nvPr/>
        </p:nvSpPr>
        <p:spPr>
          <a:xfrm>
            <a:off x="3131175" y="2371650"/>
            <a:ext cx="3051300" cy="431100"/>
          </a:xfrm>
          <a:prstGeom prst="rect">
            <a:avLst/>
          </a:prstGeom>
          <a:solidFill>
            <a:srgbClr val="FFF2CC"/>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 ^ n f o r g ɜ t a b ʊ l # s a</a:t>
            </a:r>
            <a:r>
              <a:rPr b="0" i="0" lang="en" sz="1600" u="none" cap="none" strike="noStrike">
                <a:solidFill>
                  <a:schemeClr val="dk1"/>
                </a:solidFill>
                <a:latin typeface="EB Garamond"/>
                <a:ea typeface="EB Garamond"/>
                <a:cs typeface="EB Garamond"/>
                <a:sym typeface="EB Garamond"/>
              </a:rPr>
              <a:t>I</a:t>
            </a:r>
            <a:r>
              <a:rPr b="0" i="0" lang="en" sz="1600" u="none" cap="none" strike="noStrike">
                <a:solidFill>
                  <a:schemeClr val="dk1"/>
                </a:solidFill>
                <a:latin typeface="Twentieth Century"/>
                <a:ea typeface="Twentieth Century"/>
                <a:cs typeface="Twentieth Century"/>
                <a:sym typeface="Twentieth Century"/>
              </a:rPr>
              <a:t> t /</a:t>
            </a:r>
            <a:endParaRPr b="0" i="0" sz="1600" u="none" cap="none" strike="noStrike">
              <a:solidFill>
                <a:schemeClr val="dk1"/>
              </a:solidFill>
              <a:latin typeface="Twentieth Century"/>
              <a:ea typeface="Twentieth Century"/>
              <a:cs typeface="Twentieth Century"/>
              <a:sym typeface="Twentieth Century"/>
            </a:endParaRPr>
          </a:p>
        </p:txBody>
      </p:sp>
      <p:cxnSp>
        <p:nvCxnSpPr>
          <p:cNvPr id="461" name="Google Shape;461;p45"/>
          <p:cNvCxnSpPr/>
          <p:nvPr/>
        </p:nvCxnSpPr>
        <p:spPr>
          <a:xfrm>
            <a:off x="2650526" y="2571745"/>
            <a:ext cx="345900" cy="0"/>
          </a:xfrm>
          <a:prstGeom prst="straightConnector1">
            <a:avLst/>
          </a:prstGeom>
          <a:noFill/>
          <a:ln cap="flat" cmpd="sng" w="28575">
            <a:solidFill>
              <a:srgbClr val="980000"/>
            </a:solidFill>
            <a:prstDash val="solid"/>
            <a:round/>
            <a:headEnd len="sm" w="sm" type="none"/>
            <a:tailEnd len="med" w="med" type="triangle"/>
          </a:ln>
        </p:spPr>
      </p:cxnSp>
      <p:sp>
        <p:nvSpPr>
          <p:cNvPr id="462" name="Google Shape;462;p45"/>
          <p:cNvSpPr/>
          <p:nvPr/>
        </p:nvSpPr>
        <p:spPr>
          <a:xfrm>
            <a:off x="448175" y="1029275"/>
            <a:ext cx="6090725" cy="1558325"/>
          </a:xfrm>
          <a:custGeom>
            <a:rect b="b" l="l" r="r" t="t"/>
            <a:pathLst>
              <a:path extrusionOk="0" h="62333" w="243629">
                <a:moveTo>
                  <a:pt x="220407" y="0"/>
                </a:moveTo>
                <a:lnTo>
                  <a:pt x="243629" y="0"/>
                </a:lnTo>
                <a:lnTo>
                  <a:pt x="243629" y="37481"/>
                </a:lnTo>
                <a:lnTo>
                  <a:pt x="0" y="37481"/>
                </a:lnTo>
                <a:lnTo>
                  <a:pt x="0" y="62333"/>
                </a:lnTo>
                <a:lnTo>
                  <a:pt x="23222" y="62333"/>
                </a:lnTo>
              </a:path>
            </a:pathLst>
          </a:custGeom>
          <a:noFill/>
          <a:ln cap="flat" cmpd="sng" w="28575">
            <a:solidFill>
              <a:srgbClr val="980000"/>
            </a:solidFill>
            <a:prstDash val="solid"/>
            <a:round/>
            <a:headEnd len="sm" w="sm" type="none"/>
            <a:tailEnd len="med" w="med" type="triangle"/>
          </a:ln>
        </p:spPr>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pic>
        <p:nvPicPr>
          <p:cNvPr id="467" name="Google Shape;467;p46"/>
          <p:cNvPicPr preferRelativeResize="0"/>
          <p:nvPr/>
        </p:nvPicPr>
        <p:blipFill rotWithShape="1">
          <a:blip r:embed="rId3">
            <a:alphaModFix/>
          </a:blip>
          <a:srcRect b="0" l="0" r="0" t="0"/>
          <a:stretch/>
        </p:blipFill>
        <p:spPr>
          <a:xfrm>
            <a:off x="7057995" y="3244450"/>
            <a:ext cx="1981004" cy="1812375"/>
          </a:xfrm>
          <a:prstGeom prst="rect">
            <a:avLst/>
          </a:prstGeom>
          <a:noFill/>
          <a:ln>
            <a:noFill/>
          </a:ln>
        </p:spPr>
      </p:pic>
      <p:pic>
        <p:nvPicPr>
          <p:cNvPr id="468" name="Google Shape;468;p46"/>
          <p:cNvPicPr preferRelativeResize="0"/>
          <p:nvPr/>
        </p:nvPicPr>
        <p:blipFill rotWithShape="1">
          <a:blip r:embed="rId4">
            <a:alphaModFix/>
          </a:blip>
          <a:srcRect b="0" l="0" r="0" t="0"/>
          <a:stretch/>
        </p:blipFill>
        <p:spPr>
          <a:xfrm>
            <a:off x="928182" y="505031"/>
            <a:ext cx="1743200" cy="1160693"/>
          </a:xfrm>
          <a:prstGeom prst="rect">
            <a:avLst/>
          </a:prstGeom>
          <a:noFill/>
          <a:ln>
            <a:noFill/>
          </a:ln>
        </p:spPr>
      </p:pic>
      <p:pic>
        <p:nvPicPr>
          <p:cNvPr id="469" name="Google Shape;469;p46"/>
          <p:cNvPicPr preferRelativeResize="0"/>
          <p:nvPr/>
        </p:nvPicPr>
        <p:blipFill rotWithShape="1">
          <a:blip r:embed="rId5">
            <a:alphaModFix/>
          </a:blip>
          <a:srcRect b="17801" l="8578" r="7808" t="10118"/>
          <a:stretch/>
        </p:blipFill>
        <p:spPr>
          <a:xfrm flipH="1">
            <a:off x="111627" y="427557"/>
            <a:ext cx="1225832" cy="1115521"/>
          </a:xfrm>
          <a:prstGeom prst="rect">
            <a:avLst/>
          </a:prstGeom>
          <a:noFill/>
          <a:ln>
            <a:noFill/>
          </a:ln>
        </p:spPr>
      </p:pic>
      <p:pic>
        <p:nvPicPr>
          <p:cNvPr id="470" name="Google Shape;470;p46"/>
          <p:cNvPicPr preferRelativeResize="0"/>
          <p:nvPr/>
        </p:nvPicPr>
        <p:blipFill rotWithShape="1">
          <a:blip r:embed="rId6">
            <a:alphaModFix/>
          </a:blip>
          <a:srcRect b="0" l="24926" r="39037" t="43738"/>
          <a:stretch/>
        </p:blipFill>
        <p:spPr>
          <a:xfrm>
            <a:off x="2146166" y="650546"/>
            <a:ext cx="908812" cy="869668"/>
          </a:xfrm>
          <a:prstGeom prst="rect">
            <a:avLst/>
          </a:prstGeom>
          <a:noFill/>
          <a:ln>
            <a:noFill/>
          </a:ln>
        </p:spPr>
      </p:pic>
      <p:sp>
        <p:nvSpPr>
          <p:cNvPr id="471" name="Google Shape;471;p46"/>
          <p:cNvSpPr/>
          <p:nvPr/>
        </p:nvSpPr>
        <p:spPr>
          <a:xfrm>
            <a:off x="2729650" y="3347000"/>
            <a:ext cx="4117800" cy="1273200"/>
          </a:xfrm>
          <a:prstGeom prst="wedgeRectCallout">
            <a:avLst>
              <a:gd fmla="val 60262" name="adj1"/>
              <a:gd fmla="val 3151"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Morphemes (word stems and affixes) can be assembled from phonemes. But /s a</a:t>
            </a:r>
            <a:r>
              <a:rPr b="0" i="0" lang="en" sz="1800" u="none" cap="none" strike="noStrike">
                <a:solidFill>
                  <a:schemeClr val="dk1"/>
                </a:solidFill>
                <a:latin typeface="EB Garamond"/>
                <a:ea typeface="EB Garamond"/>
                <a:cs typeface="EB Garamond"/>
                <a:sym typeface="EB Garamond"/>
              </a:rPr>
              <a:t>I</a:t>
            </a:r>
            <a:r>
              <a:rPr b="0" i="0" lang="en" sz="1800" u="none" cap="none" strike="noStrike">
                <a:solidFill>
                  <a:schemeClr val="dk1"/>
                </a:solidFill>
                <a:latin typeface="Twentieth Century"/>
                <a:ea typeface="Twentieth Century"/>
                <a:cs typeface="Twentieth Century"/>
                <a:sym typeface="Twentieth Century"/>
              </a:rPr>
              <a:t> t/ is ambiguous: is it “site” or “sight” or “cite”?</a:t>
            </a:r>
            <a:endParaRPr b="0" i="0" sz="1800" u="none" cap="none" strike="noStrike">
              <a:solidFill>
                <a:schemeClr val="dk1"/>
              </a:solidFill>
              <a:latin typeface="Twentieth Century"/>
              <a:ea typeface="Twentieth Century"/>
              <a:cs typeface="Twentieth Century"/>
              <a:sym typeface="Twentieth Century"/>
            </a:endParaRPr>
          </a:p>
        </p:txBody>
      </p:sp>
      <p:sp>
        <p:nvSpPr>
          <p:cNvPr id="472" name="Google Shape;47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73" name="Google Shape;473;p46"/>
          <p:cNvPicPr preferRelativeResize="0"/>
          <p:nvPr/>
        </p:nvPicPr>
        <p:blipFill rotWithShape="1">
          <a:blip r:embed="rId7">
            <a:alphaModFix/>
          </a:blip>
          <a:srcRect b="0" l="0" r="0" t="0"/>
          <a:stretch/>
        </p:blipFill>
        <p:spPr>
          <a:xfrm>
            <a:off x="5033645" y="666802"/>
            <a:ext cx="718866" cy="736475"/>
          </a:xfrm>
          <a:prstGeom prst="rect">
            <a:avLst/>
          </a:prstGeom>
          <a:noFill/>
          <a:ln>
            <a:noFill/>
          </a:ln>
        </p:spPr>
      </p:pic>
      <p:pic>
        <p:nvPicPr>
          <p:cNvPr id="474" name="Google Shape;474;p46"/>
          <p:cNvPicPr preferRelativeResize="0"/>
          <p:nvPr/>
        </p:nvPicPr>
        <p:blipFill rotWithShape="1">
          <a:blip r:embed="rId8">
            <a:alphaModFix/>
          </a:blip>
          <a:srcRect b="0" l="0" r="0" t="0"/>
          <a:stretch/>
        </p:blipFill>
        <p:spPr>
          <a:xfrm>
            <a:off x="3118768" y="624073"/>
            <a:ext cx="1488776" cy="825999"/>
          </a:xfrm>
          <a:prstGeom prst="rect">
            <a:avLst/>
          </a:prstGeom>
          <a:noFill/>
          <a:ln>
            <a:noFill/>
          </a:ln>
        </p:spPr>
      </p:pic>
      <p:cxnSp>
        <p:nvCxnSpPr>
          <p:cNvPr id="475" name="Google Shape;475;p46"/>
          <p:cNvCxnSpPr/>
          <p:nvPr/>
        </p:nvCxnSpPr>
        <p:spPr>
          <a:xfrm>
            <a:off x="4640051" y="1000045"/>
            <a:ext cx="345900" cy="0"/>
          </a:xfrm>
          <a:prstGeom prst="straightConnector1">
            <a:avLst/>
          </a:prstGeom>
          <a:noFill/>
          <a:ln cap="flat" cmpd="sng" w="28575">
            <a:solidFill>
              <a:srgbClr val="980000"/>
            </a:solidFill>
            <a:prstDash val="solid"/>
            <a:round/>
            <a:headEnd len="sm" w="sm" type="none"/>
            <a:tailEnd len="med" w="med" type="triangle"/>
          </a:ln>
        </p:spPr>
      </p:cxnSp>
      <p:sp>
        <p:nvSpPr>
          <p:cNvPr id="476" name="Google Shape;476;p46"/>
          <p:cNvSpPr txBox="1"/>
          <p:nvPr/>
        </p:nvSpPr>
        <p:spPr>
          <a:xfrm>
            <a:off x="3054975" y="316325"/>
            <a:ext cx="15528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spectrum analyzer</a:t>
            </a:r>
            <a:endParaRPr b="0" i="0" sz="1200" u="none" cap="none" strike="noStrike">
              <a:solidFill>
                <a:schemeClr val="dk1"/>
              </a:solidFill>
              <a:latin typeface="Twentieth Century"/>
              <a:ea typeface="Twentieth Century"/>
              <a:cs typeface="Twentieth Century"/>
              <a:sym typeface="Twentieth Century"/>
            </a:endParaRPr>
          </a:p>
        </p:txBody>
      </p:sp>
      <p:sp>
        <p:nvSpPr>
          <p:cNvPr id="477" name="Google Shape;477;p46"/>
          <p:cNvSpPr txBox="1"/>
          <p:nvPr/>
        </p:nvSpPr>
        <p:spPr>
          <a:xfrm>
            <a:off x="1976263"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waveform</a:t>
            </a:r>
            <a:endParaRPr b="0" i="0" sz="1200" u="none" cap="none" strike="noStrike">
              <a:solidFill>
                <a:schemeClr val="dk1"/>
              </a:solidFill>
              <a:latin typeface="Twentieth Century"/>
              <a:ea typeface="Twentieth Century"/>
              <a:cs typeface="Twentieth Century"/>
              <a:sym typeface="Twentieth Century"/>
            </a:endParaRPr>
          </a:p>
        </p:txBody>
      </p:sp>
      <p:sp>
        <p:nvSpPr>
          <p:cNvPr id="478" name="Google Shape;478;p46"/>
          <p:cNvSpPr txBox="1"/>
          <p:nvPr/>
        </p:nvSpPr>
        <p:spPr>
          <a:xfrm>
            <a:off x="630537"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sound waves</a:t>
            </a:r>
            <a:endParaRPr b="0" i="0" sz="1200" u="none" cap="none" strike="noStrike">
              <a:solidFill>
                <a:schemeClr val="dk1"/>
              </a:solidFill>
              <a:latin typeface="Twentieth Century"/>
              <a:ea typeface="Twentieth Century"/>
              <a:cs typeface="Twentieth Century"/>
              <a:sym typeface="Twentieth Century"/>
            </a:endParaRPr>
          </a:p>
        </p:txBody>
      </p:sp>
      <p:sp>
        <p:nvSpPr>
          <p:cNvPr id="479" name="Google Shape;479;p46"/>
          <p:cNvSpPr txBox="1"/>
          <p:nvPr/>
        </p:nvSpPr>
        <p:spPr>
          <a:xfrm>
            <a:off x="4771234"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spectrogram</a:t>
            </a:r>
            <a:endParaRPr b="0" i="0" sz="1200" u="none" cap="none" strike="noStrike">
              <a:solidFill>
                <a:schemeClr val="dk1"/>
              </a:solidFill>
              <a:latin typeface="Twentieth Century"/>
              <a:ea typeface="Twentieth Century"/>
              <a:cs typeface="Twentieth Century"/>
              <a:sym typeface="Twentieth Century"/>
            </a:endParaRPr>
          </a:p>
        </p:txBody>
      </p:sp>
      <p:sp>
        <p:nvSpPr>
          <p:cNvPr id="480" name="Google Shape;480;p46"/>
          <p:cNvSpPr txBox="1"/>
          <p:nvPr/>
        </p:nvSpPr>
        <p:spPr>
          <a:xfrm>
            <a:off x="4685225" y="1306705"/>
            <a:ext cx="13743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“unforgettable sight”</a:t>
            </a:r>
            <a:endParaRPr b="0" i="0" sz="1200" u="none" cap="none" strike="noStrike">
              <a:solidFill>
                <a:schemeClr val="dk1"/>
              </a:solidFill>
              <a:latin typeface="Twentieth Century"/>
              <a:ea typeface="Twentieth Century"/>
              <a:cs typeface="Twentieth Century"/>
              <a:sym typeface="Twentieth Century"/>
            </a:endParaRPr>
          </a:p>
        </p:txBody>
      </p:sp>
      <p:sp>
        <p:nvSpPr>
          <p:cNvPr id="481" name="Google Shape;481;p46"/>
          <p:cNvSpPr/>
          <p:nvPr/>
        </p:nvSpPr>
        <p:spPr>
          <a:xfrm>
            <a:off x="6060200" y="811900"/>
            <a:ext cx="997800" cy="554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phoneme recognizer</a:t>
            </a:r>
            <a:endParaRPr b="0" i="0" sz="1200" u="none" cap="none" strike="noStrike">
              <a:solidFill>
                <a:schemeClr val="dk1"/>
              </a:solidFill>
              <a:latin typeface="Twentieth Century"/>
              <a:ea typeface="Twentieth Century"/>
              <a:cs typeface="Twentieth Century"/>
              <a:sym typeface="Twentieth Century"/>
            </a:endParaRPr>
          </a:p>
        </p:txBody>
      </p:sp>
      <p:sp>
        <p:nvSpPr>
          <p:cNvPr id="482" name="Google Shape;482;p46"/>
          <p:cNvSpPr txBox="1"/>
          <p:nvPr/>
        </p:nvSpPr>
        <p:spPr>
          <a:xfrm>
            <a:off x="7500855" y="800663"/>
            <a:ext cx="1630200" cy="554100"/>
          </a:xfrm>
          <a:prstGeom prst="rect">
            <a:avLst/>
          </a:prstGeom>
          <a:solidFill>
            <a:srgbClr val="FFF2CC"/>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 ^ n f o r g ɜ t a b ʊ l</a:t>
            </a:r>
            <a:endParaRPr b="0" i="0" sz="12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 # s a</a:t>
            </a:r>
            <a:r>
              <a:rPr b="0" i="0" lang="en" sz="1200" u="none" cap="none" strike="noStrike">
                <a:solidFill>
                  <a:schemeClr val="dk1"/>
                </a:solidFill>
                <a:latin typeface="EB Garamond"/>
                <a:ea typeface="EB Garamond"/>
                <a:cs typeface="EB Garamond"/>
                <a:sym typeface="EB Garamond"/>
              </a:rPr>
              <a:t>I</a:t>
            </a:r>
            <a:r>
              <a:rPr b="0" i="0" lang="en" sz="1200" u="none" cap="none" strike="noStrike">
                <a:solidFill>
                  <a:schemeClr val="dk1"/>
                </a:solidFill>
                <a:latin typeface="Twentieth Century"/>
                <a:ea typeface="Twentieth Century"/>
                <a:cs typeface="Twentieth Century"/>
                <a:sym typeface="Twentieth Century"/>
              </a:rPr>
              <a:t> t /</a:t>
            </a:r>
            <a:endParaRPr b="0" i="0" sz="1200" u="none" cap="none" strike="noStrike">
              <a:solidFill>
                <a:schemeClr val="dk1"/>
              </a:solidFill>
              <a:latin typeface="Twentieth Century"/>
              <a:ea typeface="Twentieth Century"/>
              <a:cs typeface="Twentieth Century"/>
              <a:sym typeface="Twentieth Century"/>
            </a:endParaRPr>
          </a:p>
        </p:txBody>
      </p:sp>
      <p:cxnSp>
        <p:nvCxnSpPr>
          <p:cNvPr id="483" name="Google Shape;483;p46"/>
          <p:cNvCxnSpPr/>
          <p:nvPr/>
        </p:nvCxnSpPr>
        <p:spPr>
          <a:xfrm>
            <a:off x="7121680" y="1071402"/>
            <a:ext cx="345900" cy="0"/>
          </a:xfrm>
          <a:prstGeom prst="straightConnector1">
            <a:avLst/>
          </a:prstGeom>
          <a:noFill/>
          <a:ln cap="flat" cmpd="sng" w="28575">
            <a:solidFill>
              <a:srgbClr val="980000"/>
            </a:solidFill>
            <a:prstDash val="solid"/>
            <a:round/>
            <a:headEnd len="sm" w="sm" type="none"/>
            <a:tailEnd len="med" w="med" type="triangle"/>
          </a:ln>
        </p:spPr>
      </p:cxnSp>
      <p:sp>
        <p:nvSpPr>
          <p:cNvPr id="484" name="Google Shape;484;p46"/>
          <p:cNvSpPr/>
          <p:nvPr/>
        </p:nvSpPr>
        <p:spPr>
          <a:xfrm>
            <a:off x="1225074" y="2373332"/>
            <a:ext cx="1504575" cy="869668"/>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morpheme recognizer</a:t>
            </a:r>
            <a:endParaRPr b="0" i="0" sz="14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(stems and affixes)</a:t>
            </a:r>
            <a:endParaRPr b="0" i="0" sz="1400" u="none" cap="none" strike="noStrike">
              <a:solidFill>
                <a:schemeClr val="dk1"/>
              </a:solidFill>
              <a:latin typeface="Twentieth Century"/>
              <a:ea typeface="Twentieth Century"/>
              <a:cs typeface="Twentieth Century"/>
              <a:sym typeface="Twentieth Century"/>
            </a:endParaRPr>
          </a:p>
        </p:txBody>
      </p:sp>
      <p:cxnSp>
        <p:nvCxnSpPr>
          <p:cNvPr id="485" name="Google Shape;485;p46"/>
          <p:cNvCxnSpPr/>
          <p:nvPr/>
        </p:nvCxnSpPr>
        <p:spPr>
          <a:xfrm>
            <a:off x="5750080" y="1056313"/>
            <a:ext cx="345900" cy="0"/>
          </a:xfrm>
          <a:prstGeom prst="straightConnector1">
            <a:avLst/>
          </a:prstGeom>
          <a:noFill/>
          <a:ln cap="flat" cmpd="sng" w="28575">
            <a:solidFill>
              <a:srgbClr val="980000"/>
            </a:solidFill>
            <a:prstDash val="solid"/>
            <a:round/>
            <a:headEnd len="sm" w="sm" type="none"/>
            <a:tailEnd len="med" w="med" type="triangle"/>
          </a:ln>
        </p:spPr>
      </p:cxnSp>
      <p:sp>
        <p:nvSpPr>
          <p:cNvPr id="486" name="Google Shape;486;p46"/>
          <p:cNvSpPr/>
          <p:nvPr/>
        </p:nvSpPr>
        <p:spPr>
          <a:xfrm>
            <a:off x="713000" y="1395950"/>
            <a:ext cx="7628675" cy="1456475"/>
          </a:xfrm>
          <a:custGeom>
            <a:rect b="b" l="l" r="r" t="t"/>
            <a:pathLst>
              <a:path extrusionOk="0" h="58259" w="305147">
                <a:moveTo>
                  <a:pt x="305147" y="0"/>
                </a:moveTo>
                <a:lnTo>
                  <a:pt x="305147" y="17111"/>
                </a:lnTo>
                <a:lnTo>
                  <a:pt x="0" y="17111"/>
                </a:lnTo>
                <a:lnTo>
                  <a:pt x="0" y="58259"/>
                </a:lnTo>
                <a:lnTo>
                  <a:pt x="17925" y="58259"/>
                </a:lnTo>
              </a:path>
            </a:pathLst>
          </a:custGeom>
          <a:noFill/>
          <a:ln cap="flat" cmpd="sng" w="28575">
            <a:solidFill>
              <a:srgbClr val="980000"/>
            </a:solidFill>
            <a:prstDash val="solid"/>
            <a:round/>
            <a:headEnd len="sm" w="sm" type="none"/>
            <a:tailEnd len="med" w="med" type="triangle"/>
          </a:ln>
        </p:spPr>
      </p:sp>
      <p:sp>
        <p:nvSpPr>
          <p:cNvPr id="487" name="Google Shape;487;p46"/>
          <p:cNvSpPr txBox="1"/>
          <p:nvPr/>
        </p:nvSpPr>
        <p:spPr>
          <a:xfrm>
            <a:off x="3339175" y="2647200"/>
            <a:ext cx="2863500" cy="677078"/>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un + forget + able     site/sight/cite</a:t>
            </a:r>
            <a:endParaRPr b="0" i="0" sz="1600" u="none" cap="none" strike="noStrike">
              <a:solidFill>
                <a:schemeClr val="dk1"/>
              </a:solidFill>
              <a:latin typeface="Twentieth Century"/>
              <a:ea typeface="Twentieth Century"/>
              <a:cs typeface="Twentieth Century"/>
              <a:sym typeface="Twentieth Century"/>
            </a:endParaRPr>
          </a:p>
        </p:txBody>
      </p:sp>
      <p:cxnSp>
        <p:nvCxnSpPr>
          <p:cNvPr id="488" name="Google Shape;488;p46"/>
          <p:cNvCxnSpPr/>
          <p:nvPr/>
        </p:nvCxnSpPr>
        <p:spPr>
          <a:xfrm>
            <a:off x="2778280" y="2839469"/>
            <a:ext cx="399600" cy="0"/>
          </a:xfrm>
          <a:prstGeom prst="straightConnector1">
            <a:avLst/>
          </a:prstGeom>
          <a:noFill/>
          <a:ln cap="flat" cmpd="sng" w="28575">
            <a:solidFill>
              <a:srgbClr val="980000"/>
            </a:solidFill>
            <a:prstDash val="solid"/>
            <a:round/>
            <a:headEnd len="sm" w="sm" type="non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pic>
        <p:nvPicPr>
          <p:cNvPr id="493" name="Google Shape;493;p47"/>
          <p:cNvPicPr preferRelativeResize="0"/>
          <p:nvPr/>
        </p:nvPicPr>
        <p:blipFill rotWithShape="1">
          <a:blip r:embed="rId3">
            <a:alphaModFix/>
          </a:blip>
          <a:srcRect b="0" l="0" r="0" t="0"/>
          <a:stretch/>
        </p:blipFill>
        <p:spPr>
          <a:xfrm>
            <a:off x="7057995" y="3244450"/>
            <a:ext cx="1981004" cy="1812375"/>
          </a:xfrm>
          <a:prstGeom prst="rect">
            <a:avLst/>
          </a:prstGeom>
          <a:noFill/>
          <a:ln>
            <a:noFill/>
          </a:ln>
        </p:spPr>
      </p:pic>
      <p:pic>
        <p:nvPicPr>
          <p:cNvPr id="494" name="Google Shape;494;p47"/>
          <p:cNvPicPr preferRelativeResize="0"/>
          <p:nvPr/>
        </p:nvPicPr>
        <p:blipFill rotWithShape="1">
          <a:blip r:embed="rId4">
            <a:alphaModFix/>
          </a:blip>
          <a:srcRect b="0" l="0" r="0" t="0"/>
          <a:stretch/>
        </p:blipFill>
        <p:spPr>
          <a:xfrm>
            <a:off x="928182" y="505031"/>
            <a:ext cx="1743200" cy="1160693"/>
          </a:xfrm>
          <a:prstGeom prst="rect">
            <a:avLst/>
          </a:prstGeom>
          <a:noFill/>
          <a:ln>
            <a:noFill/>
          </a:ln>
        </p:spPr>
      </p:pic>
      <p:pic>
        <p:nvPicPr>
          <p:cNvPr id="495" name="Google Shape;495;p47"/>
          <p:cNvPicPr preferRelativeResize="0"/>
          <p:nvPr/>
        </p:nvPicPr>
        <p:blipFill rotWithShape="1">
          <a:blip r:embed="rId5">
            <a:alphaModFix/>
          </a:blip>
          <a:srcRect b="17801" l="8578" r="7808" t="10118"/>
          <a:stretch/>
        </p:blipFill>
        <p:spPr>
          <a:xfrm flipH="1">
            <a:off x="111627" y="427557"/>
            <a:ext cx="1225832" cy="1115521"/>
          </a:xfrm>
          <a:prstGeom prst="rect">
            <a:avLst/>
          </a:prstGeom>
          <a:noFill/>
          <a:ln>
            <a:noFill/>
          </a:ln>
        </p:spPr>
      </p:pic>
      <p:pic>
        <p:nvPicPr>
          <p:cNvPr id="496" name="Google Shape;496;p47"/>
          <p:cNvPicPr preferRelativeResize="0"/>
          <p:nvPr/>
        </p:nvPicPr>
        <p:blipFill rotWithShape="1">
          <a:blip r:embed="rId6">
            <a:alphaModFix/>
          </a:blip>
          <a:srcRect b="0" l="24926" r="39037" t="43738"/>
          <a:stretch/>
        </p:blipFill>
        <p:spPr>
          <a:xfrm>
            <a:off x="2146166" y="650546"/>
            <a:ext cx="908812" cy="869668"/>
          </a:xfrm>
          <a:prstGeom prst="rect">
            <a:avLst/>
          </a:prstGeom>
          <a:noFill/>
          <a:ln>
            <a:noFill/>
          </a:ln>
        </p:spPr>
      </p:pic>
      <p:sp>
        <p:nvSpPr>
          <p:cNvPr id="497" name="Google Shape;497;p47"/>
          <p:cNvSpPr/>
          <p:nvPr/>
        </p:nvSpPr>
        <p:spPr>
          <a:xfrm>
            <a:off x="3262975" y="3347000"/>
            <a:ext cx="3584400" cy="1273200"/>
          </a:xfrm>
          <a:prstGeom prst="wedgeRectCallout">
            <a:avLst>
              <a:gd fmla="val 60262" name="adj1"/>
              <a:gd fmla="val 3151"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 parser assigns grammatical categories to words and groups them into phrases. “NP” means noun phrase.</a:t>
            </a:r>
            <a:endParaRPr b="0" i="0" sz="1800" u="none" cap="none" strike="noStrike">
              <a:solidFill>
                <a:schemeClr val="dk1"/>
              </a:solidFill>
              <a:latin typeface="Twentieth Century"/>
              <a:ea typeface="Twentieth Century"/>
              <a:cs typeface="Twentieth Century"/>
              <a:sym typeface="Twentieth Century"/>
            </a:endParaRPr>
          </a:p>
        </p:txBody>
      </p:sp>
      <p:sp>
        <p:nvSpPr>
          <p:cNvPr id="498" name="Google Shape;498;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99" name="Google Shape;499;p47"/>
          <p:cNvPicPr preferRelativeResize="0"/>
          <p:nvPr/>
        </p:nvPicPr>
        <p:blipFill rotWithShape="1">
          <a:blip r:embed="rId7">
            <a:alphaModFix/>
          </a:blip>
          <a:srcRect b="0" l="0" r="0" t="0"/>
          <a:stretch/>
        </p:blipFill>
        <p:spPr>
          <a:xfrm>
            <a:off x="5033645" y="666802"/>
            <a:ext cx="718866" cy="736475"/>
          </a:xfrm>
          <a:prstGeom prst="rect">
            <a:avLst/>
          </a:prstGeom>
          <a:noFill/>
          <a:ln>
            <a:noFill/>
          </a:ln>
        </p:spPr>
      </p:pic>
      <p:pic>
        <p:nvPicPr>
          <p:cNvPr id="500" name="Google Shape;500;p47"/>
          <p:cNvPicPr preferRelativeResize="0"/>
          <p:nvPr/>
        </p:nvPicPr>
        <p:blipFill rotWithShape="1">
          <a:blip r:embed="rId8">
            <a:alphaModFix/>
          </a:blip>
          <a:srcRect b="0" l="0" r="0" t="0"/>
          <a:stretch/>
        </p:blipFill>
        <p:spPr>
          <a:xfrm>
            <a:off x="3118768" y="624073"/>
            <a:ext cx="1488776" cy="825999"/>
          </a:xfrm>
          <a:prstGeom prst="rect">
            <a:avLst/>
          </a:prstGeom>
          <a:noFill/>
          <a:ln>
            <a:noFill/>
          </a:ln>
        </p:spPr>
      </p:pic>
      <p:cxnSp>
        <p:nvCxnSpPr>
          <p:cNvPr id="501" name="Google Shape;501;p47"/>
          <p:cNvCxnSpPr/>
          <p:nvPr/>
        </p:nvCxnSpPr>
        <p:spPr>
          <a:xfrm>
            <a:off x="4640051" y="1000045"/>
            <a:ext cx="345900" cy="0"/>
          </a:xfrm>
          <a:prstGeom prst="straightConnector1">
            <a:avLst/>
          </a:prstGeom>
          <a:noFill/>
          <a:ln cap="flat" cmpd="sng" w="28575">
            <a:solidFill>
              <a:srgbClr val="980000"/>
            </a:solidFill>
            <a:prstDash val="solid"/>
            <a:round/>
            <a:headEnd len="sm" w="sm" type="none"/>
            <a:tailEnd len="med" w="med" type="triangle"/>
          </a:ln>
        </p:spPr>
      </p:cxnSp>
      <p:sp>
        <p:nvSpPr>
          <p:cNvPr id="502" name="Google Shape;502;p47"/>
          <p:cNvSpPr txBox="1"/>
          <p:nvPr/>
        </p:nvSpPr>
        <p:spPr>
          <a:xfrm>
            <a:off x="3054975" y="316325"/>
            <a:ext cx="15528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spectrum analyzer</a:t>
            </a:r>
            <a:endParaRPr b="0" i="0" sz="1200" u="none" cap="none" strike="noStrike">
              <a:solidFill>
                <a:schemeClr val="dk1"/>
              </a:solidFill>
              <a:latin typeface="Twentieth Century"/>
              <a:ea typeface="Twentieth Century"/>
              <a:cs typeface="Twentieth Century"/>
              <a:sym typeface="Twentieth Century"/>
            </a:endParaRPr>
          </a:p>
        </p:txBody>
      </p:sp>
      <p:sp>
        <p:nvSpPr>
          <p:cNvPr id="503" name="Google Shape;503;p47"/>
          <p:cNvSpPr txBox="1"/>
          <p:nvPr/>
        </p:nvSpPr>
        <p:spPr>
          <a:xfrm>
            <a:off x="1976263"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waveform</a:t>
            </a:r>
            <a:endParaRPr b="0" i="0" sz="1200" u="none" cap="none" strike="noStrike">
              <a:solidFill>
                <a:schemeClr val="dk1"/>
              </a:solidFill>
              <a:latin typeface="Twentieth Century"/>
              <a:ea typeface="Twentieth Century"/>
              <a:cs typeface="Twentieth Century"/>
              <a:sym typeface="Twentieth Century"/>
            </a:endParaRPr>
          </a:p>
        </p:txBody>
      </p:sp>
      <p:sp>
        <p:nvSpPr>
          <p:cNvPr id="504" name="Google Shape;504;p47"/>
          <p:cNvSpPr txBox="1"/>
          <p:nvPr/>
        </p:nvSpPr>
        <p:spPr>
          <a:xfrm>
            <a:off x="630537"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sound waves</a:t>
            </a:r>
            <a:endParaRPr b="0" i="0" sz="1200" u="none" cap="none" strike="noStrike">
              <a:solidFill>
                <a:schemeClr val="dk1"/>
              </a:solidFill>
              <a:latin typeface="Twentieth Century"/>
              <a:ea typeface="Twentieth Century"/>
              <a:cs typeface="Twentieth Century"/>
              <a:sym typeface="Twentieth Century"/>
            </a:endParaRPr>
          </a:p>
        </p:txBody>
      </p:sp>
      <p:sp>
        <p:nvSpPr>
          <p:cNvPr id="505" name="Google Shape;505;p47"/>
          <p:cNvSpPr txBox="1"/>
          <p:nvPr/>
        </p:nvSpPr>
        <p:spPr>
          <a:xfrm>
            <a:off x="4771234"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spectrogram</a:t>
            </a:r>
            <a:endParaRPr b="0" i="0" sz="1200" u="none" cap="none" strike="noStrike">
              <a:solidFill>
                <a:schemeClr val="dk1"/>
              </a:solidFill>
              <a:latin typeface="Twentieth Century"/>
              <a:ea typeface="Twentieth Century"/>
              <a:cs typeface="Twentieth Century"/>
              <a:sym typeface="Twentieth Century"/>
            </a:endParaRPr>
          </a:p>
        </p:txBody>
      </p:sp>
      <p:sp>
        <p:nvSpPr>
          <p:cNvPr id="506" name="Google Shape;506;p47"/>
          <p:cNvSpPr txBox="1"/>
          <p:nvPr/>
        </p:nvSpPr>
        <p:spPr>
          <a:xfrm>
            <a:off x="4685225" y="1306705"/>
            <a:ext cx="13743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“unforgettable sight”</a:t>
            </a:r>
            <a:endParaRPr b="0" i="0" sz="1200" u="none" cap="none" strike="noStrike">
              <a:solidFill>
                <a:schemeClr val="dk1"/>
              </a:solidFill>
              <a:latin typeface="Twentieth Century"/>
              <a:ea typeface="Twentieth Century"/>
              <a:cs typeface="Twentieth Century"/>
              <a:sym typeface="Twentieth Century"/>
            </a:endParaRPr>
          </a:p>
        </p:txBody>
      </p:sp>
      <p:sp>
        <p:nvSpPr>
          <p:cNvPr id="507" name="Google Shape;507;p47"/>
          <p:cNvSpPr/>
          <p:nvPr/>
        </p:nvSpPr>
        <p:spPr>
          <a:xfrm>
            <a:off x="6060200" y="811900"/>
            <a:ext cx="997800" cy="554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phoneme recognizer</a:t>
            </a:r>
            <a:endParaRPr b="0" i="0" sz="1200" u="none" cap="none" strike="noStrike">
              <a:solidFill>
                <a:schemeClr val="dk1"/>
              </a:solidFill>
              <a:latin typeface="Twentieth Century"/>
              <a:ea typeface="Twentieth Century"/>
              <a:cs typeface="Twentieth Century"/>
              <a:sym typeface="Twentieth Century"/>
            </a:endParaRPr>
          </a:p>
        </p:txBody>
      </p:sp>
      <p:sp>
        <p:nvSpPr>
          <p:cNvPr id="508" name="Google Shape;508;p47"/>
          <p:cNvSpPr txBox="1"/>
          <p:nvPr/>
        </p:nvSpPr>
        <p:spPr>
          <a:xfrm>
            <a:off x="7500855" y="800663"/>
            <a:ext cx="1630200" cy="554100"/>
          </a:xfrm>
          <a:prstGeom prst="rect">
            <a:avLst/>
          </a:prstGeom>
          <a:solidFill>
            <a:srgbClr val="FFF2CC"/>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 ^ n f o r g ɜ t a b ʊ l</a:t>
            </a:r>
            <a:endParaRPr b="0" i="0" sz="12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 # s a</a:t>
            </a:r>
            <a:r>
              <a:rPr b="0" i="0" lang="en" sz="1200" u="none" cap="none" strike="noStrike">
                <a:solidFill>
                  <a:schemeClr val="dk1"/>
                </a:solidFill>
                <a:latin typeface="EB Garamond"/>
                <a:ea typeface="EB Garamond"/>
                <a:cs typeface="EB Garamond"/>
                <a:sym typeface="EB Garamond"/>
              </a:rPr>
              <a:t>I</a:t>
            </a:r>
            <a:r>
              <a:rPr b="0" i="0" lang="en" sz="1200" u="none" cap="none" strike="noStrike">
                <a:solidFill>
                  <a:schemeClr val="dk1"/>
                </a:solidFill>
                <a:latin typeface="Twentieth Century"/>
                <a:ea typeface="Twentieth Century"/>
                <a:cs typeface="Twentieth Century"/>
                <a:sym typeface="Twentieth Century"/>
              </a:rPr>
              <a:t> t /</a:t>
            </a:r>
            <a:endParaRPr b="0" i="0" sz="1200" u="none" cap="none" strike="noStrike">
              <a:solidFill>
                <a:schemeClr val="dk1"/>
              </a:solidFill>
              <a:latin typeface="Twentieth Century"/>
              <a:ea typeface="Twentieth Century"/>
              <a:cs typeface="Twentieth Century"/>
              <a:sym typeface="Twentieth Century"/>
            </a:endParaRPr>
          </a:p>
        </p:txBody>
      </p:sp>
      <p:cxnSp>
        <p:nvCxnSpPr>
          <p:cNvPr id="509" name="Google Shape;509;p47"/>
          <p:cNvCxnSpPr/>
          <p:nvPr/>
        </p:nvCxnSpPr>
        <p:spPr>
          <a:xfrm>
            <a:off x="7121680" y="1071402"/>
            <a:ext cx="345900" cy="0"/>
          </a:xfrm>
          <a:prstGeom prst="straightConnector1">
            <a:avLst/>
          </a:prstGeom>
          <a:noFill/>
          <a:ln cap="flat" cmpd="sng" w="28575">
            <a:solidFill>
              <a:srgbClr val="980000"/>
            </a:solidFill>
            <a:prstDash val="solid"/>
            <a:round/>
            <a:headEnd len="sm" w="sm" type="none"/>
            <a:tailEnd len="med" w="med" type="triangle"/>
          </a:ln>
        </p:spPr>
      </p:cxnSp>
      <p:sp>
        <p:nvSpPr>
          <p:cNvPr id="510" name="Google Shape;510;p47"/>
          <p:cNvSpPr/>
          <p:nvPr/>
        </p:nvSpPr>
        <p:spPr>
          <a:xfrm>
            <a:off x="844075" y="2417100"/>
            <a:ext cx="1446300" cy="825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morpheme recognizer</a:t>
            </a:r>
            <a:endParaRPr b="0" i="0" sz="14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(stems and affixes)</a:t>
            </a:r>
            <a:endParaRPr b="0" i="0" sz="1400" u="none" cap="none" strike="noStrike">
              <a:solidFill>
                <a:schemeClr val="dk1"/>
              </a:solidFill>
              <a:latin typeface="Twentieth Century"/>
              <a:ea typeface="Twentieth Century"/>
              <a:cs typeface="Twentieth Century"/>
              <a:sym typeface="Twentieth Century"/>
            </a:endParaRPr>
          </a:p>
        </p:txBody>
      </p:sp>
      <p:cxnSp>
        <p:nvCxnSpPr>
          <p:cNvPr id="511" name="Google Shape;511;p47"/>
          <p:cNvCxnSpPr/>
          <p:nvPr/>
        </p:nvCxnSpPr>
        <p:spPr>
          <a:xfrm>
            <a:off x="5750080" y="1056313"/>
            <a:ext cx="345900" cy="0"/>
          </a:xfrm>
          <a:prstGeom prst="straightConnector1">
            <a:avLst/>
          </a:prstGeom>
          <a:noFill/>
          <a:ln cap="flat" cmpd="sng" w="28575">
            <a:solidFill>
              <a:srgbClr val="980000"/>
            </a:solidFill>
            <a:prstDash val="solid"/>
            <a:round/>
            <a:headEnd len="sm" w="sm" type="none"/>
            <a:tailEnd len="med" w="med" type="triangle"/>
          </a:ln>
        </p:spPr>
      </p:cxnSp>
      <p:sp>
        <p:nvSpPr>
          <p:cNvPr id="512" name="Google Shape;512;p47"/>
          <p:cNvSpPr/>
          <p:nvPr/>
        </p:nvSpPr>
        <p:spPr>
          <a:xfrm>
            <a:off x="234275" y="1395950"/>
            <a:ext cx="8107756" cy="1456475"/>
          </a:xfrm>
          <a:custGeom>
            <a:rect b="b" l="l" r="r" t="t"/>
            <a:pathLst>
              <a:path extrusionOk="0" h="58259" w="305147">
                <a:moveTo>
                  <a:pt x="305147" y="0"/>
                </a:moveTo>
                <a:lnTo>
                  <a:pt x="305147" y="17111"/>
                </a:lnTo>
                <a:lnTo>
                  <a:pt x="0" y="17111"/>
                </a:lnTo>
                <a:lnTo>
                  <a:pt x="0" y="58259"/>
                </a:lnTo>
                <a:lnTo>
                  <a:pt x="17925" y="58259"/>
                </a:lnTo>
              </a:path>
            </a:pathLst>
          </a:custGeom>
          <a:noFill/>
          <a:ln cap="flat" cmpd="sng" w="28575">
            <a:solidFill>
              <a:srgbClr val="980000"/>
            </a:solidFill>
            <a:prstDash val="solid"/>
            <a:round/>
            <a:headEnd len="sm" w="sm" type="none"/>
            <a:tailEnd len="med" w="med" type="triangle"/>
          </a:ln>
        </p:spPr>
      </p:sp>
      <p:sp>
        <p:nvSpPr>
          <p:cNvPr id="513" name="Google Shape;513;p47"/>
          <p:cNvSpPr txBox="1"/>
          <p:nvPr/>
        </p:nvSpPr>
        <p:spPr>
          <a:xfrm>
            <a:off x="2727790" y="2343876"/>
            <a:ext cx="1630200" cy="923299"/>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un + forget + able</a:t>
            </a:r>
            <a:endParaRPr b="0" i="0" sz="16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site/sight/cite</a:t>
            </a:r>
            <a:endParaRPr b="0" i="0" sz="1600" u="none" cap="none" strike="noStrike">
              <a:solidFill>
                <a:schemeClr val="dk1"/>
              </a:solidFill>
              <a:latin typeface="Twentieth Century"/>
              <a:ea typeface="Twentieth Century"/>
              <a:cs typeface="Twentieth Century"/>
              <a:sym typeface="Twentieth Century"/>
            </a:endParaRPr>
          </a:p>
        </p:txBody>
      </p:sp>
      <p:cxnSp>
        <p:nvCxnSpPr>
          <p:cNvPr id="514" name="Google Shape;514;p47"/>
          <p:cNvCxnSpPr/>
          <p:nvPr/>
        </p:nvCxnSpPr>
        <p:spPr>
          <a:xfrm>
            <a:off x="2321080" y="2839469"/>
            <a:ext cx="399600" cy="0"/>
          </a:xfrm>
          <a:prstGeom prst="straightConnector1">
            <a:avLst/>
          </a:prstGeom>
          <a:noFill/>
          <a:ln cap="flat" cmpd="sng" w="28575">
            <a:solidFill>
              <a:srgbClr val="980000"/>
            </a:solidFill>
            <a:prstDash val="solid"/>
            <a:round/>
            <a:headEnd len="sm" w="sm" type="none"/>
            <a:tailEnd len="med" w="med" type="triangle"/>
          </a:ln>
        </p:spPr>
      </p:cxnSp>
      <p:sp>
        <p:nvSpPr>
          <p:cNvPr id="515" name="Google Shape;515;p47"/>
          <p:cNvSpPr txBox="1"/>
          <p:nvPr/>
        </p:nvSpPr>
        <p:spPr>
          <a:xfrm>
            <a:off x="6642075" y="2571750"/>
            <a:ext cx="2404500" cy="615600"/>
          </a:xfrm>
          <a:prstGeom prst="rect">
            <a:avLst/>
          </a:prstGeom>
          <a:solidFill>
            <a:srgbClr val="D9EAD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(NP (ADJ “unforgettable”)</a:t>
            </a:r>
            <a:br>
              <a:rPr b="0" i="0" lang="en" sz="1400" u="none" cap="none" strike="noStrike">
                <a:solidFill>
                  <a:schemeClr val="dk1"/>
                </a:solidFill>
                <a:latin typeface="Twentieth Century"/>
                <a:ea typeface="Twentieth Century"/>
                <a:cs typeface="Twentieth Century"/>
                <a:sym typeface="Twentieth Century"/>
              </a:rPr>
            </a:br>
            <a:r>
              <a:rPr b="0" i="0" lang="en" sz="1400" u="none" cap="none" strike="noStrike">
                <a:solidFill>
                  <a:schemeClr val="dk1"/>
                </a:solidFill>
                <a:latin typeface="Twentieth Century"/>
                <a:ea typeface="Twentieth Century"/>
                <a:cs typeface="Twentieth Century"/>
                <a:sym typeface="Twentieth Century"/>
              </a:rPr>
              <a:t>       (N “site”/”sight”/”cite”))</a:t>
            </a:r>
            <a:endParaRPr b="0" i="0" sz="1400" u="none" cap="none" strike="noStrike">
              <a:solidFill>
                <a:schemeClr val="dk1"/>
              </a:solidFill>
              <a:latin typeface="Twentieth Century"/>
              <a:ea typeface="Twentieth Century"/>
              <a:cs typeface="Twentieth Century"/>
              <a:sym typeface="Twentieth Century"/>
            </a:endParaRPr>
          </a:p>
        </p:txBody>
      </p:sp>
      <p:sp>
        <p:nvSpPr>
          <p:cNvPr id="516" name="Google Shape;516;p47"/>
          <p:cNvSpPr/>
          <p:nvPr/>
        </p:nvSpPr>
        <p:spPr>
          <a:xfrm>
            <a:off x="4730275" y="2417100"/>
            <a:ext cx="1446300" cy="825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parser</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(syntax)</a:t>
            </a:r>
            <a:endParaRPr b="0" i="0" sz="1800" u="none" cap="none" strike="noStrike">
              <a:solidFill>
                <a:schemeClr val="dk1"/>
              </a:solidFill>
              <a:latin typeface="Twentieth Century"/>
              <a:ea typeface="Twentieth Century"/>
              <a:cs typeface="Twentieth Century"/>
              <a:sym typeface="Twentieth Century"/>
            </a:endParaRPr>
          </a:p>
        </p:txBody>
      </p:sp>
      <p:cxnSp>
        <p:nvCxnSpPr>
          <p:cNvPr id="517" name="Google Shape;517;p47"/>
          <p:cNvCxnSpPr/>
          <p:nvPr/>
        </p:nvCxnSpPr>
        <p:spPr>
          <a:xfrm>
            <a:off x="4378480" y="2839469"/>
            <a:ext cx="399600" cy="0"/>
          </a:xfrm>
          <a:prstGeom prst="straightConnector1">
            <a:avLst/>
          </a:prstGeom>
          <a:noFill/>
          <a:ln cap="flat" cmpd="sng" w="28575">
            <a:solidFill>
              <a:srgbClr val="980000"/>
            </a:solidFill>
            <a:prstDash val="solid"/>
            <a:round/>
            <a:headEnd len="sm" w="sm" type="none"/>
            <a:tailEnd len="med" w="med" type="triangle"/>
          </a:ln>
        </p:spPr>
      </p:cxnSp>
      <p:cxnSp>
        <p:nvCxnSpPr>
          <p:cNvPr id="518" name="Google Shape;518;p47"/>
          <p:cNvCxnSpPr/>
          <p:nvPr/>
        </p:nvCxnSpPr>
        <p:spPr>
          <a:xfrm>
            <a:off x="6207280" y="2839469"/>
            <a:ext cx="399600" cy="0"/>
          </a:xfrm>
          <a:prstGeom prst="straightConnector1">
            <a:avLst/>
          </a:prstGeom>
          <a:noFill/>
          <a:ln cap="flat" cmpd="sng" w="28575">
            <a:solidFill>
              <a:srgbClr val="980000"/>
            </a:solidFill>
            <a:prstDash val="solid"/>
            <a:round/>
            <a:headEnd len="sm" w="sm"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pic>
        <p:nvPicPr>
          <p:cNvPr id="523" name="Google Shape;523;p48"/>
          <p:cNvPicPr preferRelativeResize="0"/>
          <p:nvPr/>
        </p:nvPicPr>
        <p:blipFill rotWithShape="1">
          <a:blip r:embed="rId3">
            <a:alphaModFix/>
          </a:blip>
          <a:srcRect b="0" l="0" r="0" t="0"/>
          <a:stretch/>
        </p:blipFill>
        <p:spPr>
          <a:xfrm>
            <a:off x="7057995" y="3244450"/>
            <a:ext cx="1981004" cy="1812375"/>
          </a:xfrm>
          <a:prstGeom prst="rect">
            <a:avLst/>
          </a:prstGeom>
          <a:noFill/>
          <a:ln>
            <a:noFill/>
          </a:ln>
        </p:spPr>
      </p:pic>
      <p:pic>
        <p:nvPicPr>
          <p:cNvPr id="524" name="Google Shape;524;p48"/>
          <p:cNvPicPr preferRelativeResize="0"/>
          <p:nvPr/>
        </p:nvPicPr>
        <p:blipFill rotWithShape="1">
          <a:blip r:embed="rId4">
            <a:alphaModFix/>
          </a:blip>
          <a:srcRect b="0" l="0" r="0" t="0"/>
          <a:stretch/>
        </p:blipFill>
        <p:spPr>
          <a:xfrm>
            <a:off x="928182" y="505031"/>
            <a:ext cx="1743200" cy="1160693"/>
          </a:xfrm>
          <a:prstGeom prst="rect">
            <a:avLst/>
          </a:prstGeom>
          <a:noFill/>
          <a:ln>
            <a:noFill/>
          </a:ln>
        </p:spPr>
      </p:pic>
      <p:pic>
        <p:nvPicPr>
          <p:cNvPr id="525" name="Google Shape;525;p48"/>
          <p:cNvPicPr preferRelativeResize="0"/>
          <p:nvPr/>
        </p:nvPicPr>
        <p:blipFill rotWithShape="1">
          <a:blip r:embed="rId5">
            <a:alphaModFix/>
          </a:blip>
          <a:srcRect b="17801" l="8578" r="7808" t="10118"/>
          <a:stretch/>
        </p:blipFill>
        <p:spPr>
          <a:xfrm flipH="1">
            <a:off x="111627" y="427557"/>
            <a:ext cx="1225832" cy="1115521"/>
          </a:xfrm>
          <a:prstGeom prst="rect">
            <a:avLst/>
          </a:prstGeom>
          <a:noFill/>
          <a:ln>
            <a:noFill/>
          </a:ln>
        </p:spPr>
      </p:pic>
      <p:pic>
        <p:nvPicPr>
          <p:cNvPr id="526" name="Google Shape;526;p48"/>
          <p:cNvPicPr preferRelativeResize="0"/>
          <p:nvPr/>
        </p:nvPicPr>
        <p:blipFill rotWithShape="1">
          <a:blip r:embed="rId6">
            <a:alphaModFix/>
          </a:blip>
          <a:srcRect b="0" l="24926" r="39037" t="43738"/>
          <a:stretch/>
        </p:blipFill>
        <p:spPr>
          <a:xfrm>
            <a:off x="2146166" y="650546"/>
            <a:ext cx="908812" cy="869668"/>
          </a:xfrm>
          <a:prstGeom prst="rect">
            <a:avLst/>
          </a:prstGeom>
          <a:noFill/>
          <a:ln>
            <a:noFill/>
          </a:ln>
        </p:spPr>
      </p:pic>
      <p:sp>
        <p:nvSpPr>
          <p:cNvPr id="527" name="Google Shape;527;p48"/>
          <p:cNvSpPr/>
          <p:nvPr/>
        </p:nvSpPr>
        <p:spPr>
          <a:xfrm>
            <a:off x="4778075" y="3787750"/>
            <a:ext cx="2262600" cy="1269000"/>
          </a:xfrm>
          <a:prstGeom prst="wedgeRectCallout">
            <a:avLst>
              <a:gd fmla="val 58141" name="adj1"/>
              <a:gd fmla="val -28608"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A semantic analyzer gives the meaning of the phrase and resolves the ambiguity.</a:t>
            </a:r>
            <a:endParaRPr b="0" i="0" sz="1600" u="none" cap="none" strike="noStrike">
              <a:solidFill>
                <a:schemeClr val="dk1"/>
              </a:solidFill>
              <a:latin typeface="Twentieth Century"/>
              <a:ea typeface="Twentieth Century"/>
              <a:cs typeface="Twentieth Century"/>
              <a:sym typeface="Twentieth Century"/>
            </a:endParaRPr>
          </a:p>
        </p:txBody>
      </p:sp>
      <p:sp>
        <p:nvSpPr>
          <p:cNvPr id="528" name="Google Shape;528;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529" name="Google Shape;529;p48"/>
          <p:cNvPicPr preferRelativeResize="0"/>
          <p:nvPr/>
        </p:nvPicPr>
        <p:blipFill rotWithShape="1">
          <a:blip r:embed="rId7">
            <a:alphaModFix/>
          </a:blip>
          <a:srcRect b="0" l="0" r="0" t="0"/>
          <a:stretch/>
        </p:blipFill>
        <p:spPr>
          <a:xfrm>
            <a:off x="5033645" y="666802"/>
            <a:ext cx="718866" cy="736475"/>
          </a:xfrm>
          <a:prstGeom prst="rect">
            <a:avLst/>
          </a:prstGeom>
          <a:noFill/>
          <a:ln>
            <a:noFill/>
          </a:ln>
        </p:spPr>
      </p:pic>
      <p:pic>
        <p:nvPicPr>
          <p:cNvPr id="530" name="Google Shape;530;p48"/>
          <p:cNvPicPr preferRelativeResize="0"/>
          <p:nvPr/>
        </p:nvPicPr>
        <p:blipFill rotWithShape="1">
          <a:blip r:embed="rId8">
            <a:alphaModFix/>
          </a:blip>
          <a:srcRect b="0" l="0" r="0" t="0"/>
          <a:stretch/>
        </p:blipFill>
        <p:spPr>
          <a:xfrm>
            <a:off x="3118768" y="624073"/>
            <a:ext cx="1488776" cy="825999"/>
          </a:xfrm>
          <a:prstGeom prst="rect">
            <a:avLst/>
          </a:prstGeom>
          <a:noFill/>
          <a:ln>
            <a:noFill/>
          </a:ln>
        </p:spPr>
      </p:pic>
      <p:cxnSp>
        <p:nvCxnSpPr>
          <p:cNvPr id="531" name="Google Shape;531;p48"/>
          <p:cNvCxnSpPr/>
          <p:nvPr/>
        </p:nvCxnSpPr>
        <p:spPr>
          <a:xfrm>
            <a:off x="4640051" y="1000045"/>
            <a:ext cx="345900" cy="0"/>
          </a:xfrm>
          <a:prstGeom prst="straightConnector1">
            <a:avLst/>
          </a:prstGeom>
          <a:noFill/>
          <a:ln cap="flat" cmpd="sng" w="28575">
            <a:solidFill>
              <a:srgbClr val="980000"/>
            </a:solidFill>
            <a:prstDash val="solid"/>
            <a:round/>
            <a:headEnd len="sm" w="sm" type="none"/>
            <a:tailEnd len="med" w="med" type="triangle"/>
          </a:ln>
        </p:spPr>
      </p:cxnSp>
      <p:sp>
        <p:nvSpPr>
          <p:cNvPr id="532" name="Google Shape;532;p48"/>
          <p:cNvSpPr txBox="1"/>
          <p:nvPr/>
        </p:nvSpPr>
        <p:spPr>
          <a:xfrm>
            <a:off x="3054975" y="316325"/>
            <a:ext cx="15528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spectrum analyzer</a:t>
            </a:r>
            <a:endParaRPr b="0" i="0" sz="1200" u="none" cap="none" strike="noStrike">
              <a:solidFill>
                <a:schemeClr val="dk1"/>
              </a:solidFill>
              <a:latin typeface="Twentieth Century"/>
              <a:ea typeface="Twentieth Century"/>
              <a:cs typeface="Twentieth Century"/>
              <a:sym typeface="Twentieth Century"/>
            </a:endParaRPr>
          </a:p>
        </p:txBody>
      </p:sp>
      <p:sp>
        <p:nvSpPr>
          <p:cNvPr id="533" name="Google Shape;533;p48"/>
          <p:cNvSpPr txBox="1"/>
          <p:nvPr/>
        </p:nvSpPr>
        <p:spPr>
          <a:xfrm>
            <a:off x="1976263"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waveform</a:t>
            </a:r>
            <a:endParaRPr b="0" i="0" sz="1200" u="none" cap="none" strike="noStrike">
              <a:solidFill>
                <a:schemeClr val="dk1"/>
              </a:solidFill>
              <a:latin typeface="Twentieth Century"/>
              <a:ea typeface="Twentieth Century"/>
              <a:cs typeface="Twentieth Century"/>
              <a:sym typeface="Twentieth Century"/>
            </a:endParaRPr>
          </a:p>
        </p:txBody>
      </p:sp>
      <p:sp>
        <p:nvSpPr>
          <p:cNvPr id="534" name="Google Shape;534;p48"/>
          <p:cNvSpPr txBox="1"/>
          <p:nvPr/>
        </p:nvSpPr>
        <p:spPr>
          <a:xfrm>
            <a:off x="630537"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sound waves</a:t>
            </a:r>
            <a:endParaRPr b="0" i="0" sz="1200" u="none" cap="none" strike="noStrike">
              <a:solidFill>
                <a:schemeClr val="dk1"/>
              </a:solidFill>
              <a:latin typeface="Twentieth Century"/>
              <a:ea typeface="Twentieth Century"/>
              <a:cs typeface="Twentieth Century"/>
              <a:sym typeface="Twentieth Century"/>
            </a:endParaRPr>
          </a:p>
        </p:txBody>
      </p:sp>
      <p:sp>
        <p:nvSpPr>
          <p:cNvPr id="535" name="Google Shape;535;p48"/>
          <p:cNvSpPr txBox="1"/>
          <p:nvPr/>
        </p:nvSpPr>
        <p:spPr>
          <a:xfrm>
            <a:off x="4771234"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spectrogram</a:t>
            </a:r>
            <a:endParaRPr b="0" i="0" sz="1200" u="none" cap="none" strike="noStrike">
              <a:solidFill>
                <a:schemeClr val="dk1"/>
              </a:solidFill>
              <a:latin typeface="Twentieth Century"/>
              <a:ea typeface="Twentieth Century"/>
              <a:cs typeface="Twentieth Century"/>
              <a:sym typeface="Twentieth Century"/>
            </a:endParaRPr>
          </a:p>
        </p:txBody>
      </p:sp>
      <p:sp>
        <p:nvSpPr>
          <p:cNvPr id="536" name="Google Shape;536;p48"/>
          <p:cNvSpPr txBox="1"/>
          <p:nvPr/>
        </p:nvSpPr>
        <p:spPr>
          <a:xfrm>
            <a:off x="4685225" y="1306705"/>
            <a:ext cx="13743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“unforgettable sight”</a:t>
            </a:r>
            <a:endParaRPr b="0" i="0" sz="1200" u="none" cap="none" strike="noStrike">
              <a:solidFill>
                <a:schemeClr val="dk1"/>
              </a:solidFill>
              <a:latin typeface="Twentieth Century"/>
              <a:ea typeface="Twentieth Century"/>
              <a:cs typeface="Twentieth Century"/>
              <a:sym typeface="Twentieth Century"/>
            </a:endParaRPr>
          </a:p>
        </p:txBody>
      </p:sp>
      <p:sp>
        <p:nvSpPr>
          <p:cNvPr id="537" name="Google Shape;537;p48"/>
          <p:cNvSpPr/>
          <p:nvPr/>
        </p:nvSpPr>
        <p:spPr>
          <a:xfrm>
            <a:off x="6060200" y="811900"/>
            <a:ext cx="997800" cy="554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phoneme recognizer</a:t>
            </a:r>
            <a:endParaRPr b="0" i="0" sz="1200" u="none" cap="none" strike="noStrike">
              <a:solidFill>
                <a:schemeClr val="dk1"/>
              </a:solidFill>
              <a:latin typeface="Twentieth Century"/>
              <a:ea typeface="Twentieth Century"/>
              <a:cs typeface="Twentieth Century"/>
              <a:sym typeface="Twentieth Century"/>
            </a:endParaRPr>
          </a:p>
        </p:txBody>
      </p:sp>
      <p:sp>
        <p:nvSpPr>
          <p:cNvPr id="538" name="Google Shape;538;p48"/>
          <p:cNvSpPr txBox="1"/>
          <p:nvPr/>
        </p:nvSpPr>
        <p:spPr>
          <a:xfrm>
            <a:off x="7500855" y="800663"/>
            <a:ext cx="1630200" cy="554100"/>
          </a:xfrm>
          <a:prstGeom prst="rect">
            <a:avLst/>
          </a:prstGeom>
          <a:solidFill>
            <a:srgbClr val="FFF2CC"/>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 ^ n f o r g ɜ t a b ʊ l</a:t>
            </a:r>
            <a:endParaRPr b="0" i="0" sz="12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 # s a</a:t>
            </a:r>
            <a:r>
              <a:rPr b="0" i="0" lang="en" sz="1200" u="none" cap="none" strike="noStrike">
                <a:solidFill>
                  <a:schemeClr val="dk1"/>
                </a:solidFill>
                <a:latin typeface="EB Garamond"/>
                <a:ea typeface="EB Garamond"/>
                <a:cs typeface="EB Garamond"/>
                <a:sym typeface="EB Garamond"/>
              </a:rPr>
              <a:t>I</a:t>
            </a:r>
            <a:r>
              <a:rPr b="0" i="0" lang="en" sz="1200" u="none" cap="none" strike="noStrike">
                <a:solidFill>
                  <a:schemeClr val="dk1"/>
                </a:solidFill>
                <a:latin typeface="Twentieth Century"/>
                <a:ea typeface="Twentieth Century"/>
                <a:cs typeface="Twentieth Century"/>
                <a:sym typeface="Twentieth Century"/>
              </a:rPr>
              <a:t> t /</a:t>
            </a:r>
            <a:endParaRPr b="0" i="0" sz="1200" u="none" cap="none" strike="noStrike">
              <a:solidFill>
                <a:schemeClr val="dk1"/>
              </a:solidFill>
              <a:latin typeface="Twentieth Century"/>
              <a:ea typeface="Twentieth Century"/>
              <a:cs typeface="Twentieth Century"/>
              <a:sym typeface="Twentieth Century"/>
            </a:endParaRPr>
          </a:p>
        </p:txBody>
      </p:sp>
      <p:cxnSp>
        <p:nvCxnSpPr>
          <p:cNvPr id="539" name="Google Shape;539;p48"/>
          <p:cNvCxnSpPr/>
          <p:nvPr/>
        </p:nvCxnSpPr>
        <p:spPr>
          <a:xfrm>
            <a:off x="7121680" y="1071402"/>
            <a:ext cx="345900" cy="0"/>
          </a:xfrm>
          <a:prstGeom prst="straightConnector1">
            <a:avLst/>
          </a:prstGeom>
          <a:noFill/>
          <a:ln cap="flat" cmpd="sng" w="28575">
            <a:solidFill>
              <a:srgbClr val="980000"/>
            </a:solidFill>
            <a:prstDash val="solid"/>
            <a:round/>
            <a:headEnd len="sm" w="sm" type="none"/>
            <a:tailEnd len="med" w="med" type="triangle"/>
          </a:ln>
        </p:spPr>
      </p:cxnSp>
      <p:sp>
        <p:nvSpPr>
          <p:cNvPr id="540" name="Google Shape;540;p48"/>
          <p:cNvSpPr/>
          <p:nvPr/>
        </p:nvSpPr>
        <p:spPr>
          <a:xfrm>
            <a:off x="844075" y="2417100"/>
            <a:ext cx="1446300" cy="825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morpheme recognizer</a:t>
            </a:r>
            <a:endParaRPr b="0" i="0" sz="14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(stems and affixes)</a:t>
            </a:r>
            <a:endParaRPr b="0" i="0" sz="1400" u="none" cap="none" strike="noStrike">
              <a:solidFill>
                <a:schemeClr val="dk1"/>
              </a:solidFill>
              <a:latin typeface="Twentieth Century"/>
              <a:ea typeface="Twentieth Century"/>
              <a:cs typeface="Twentieth Century"/>
              <a:sym typeface="Twentieth Century"/>
            </a:endParaRPr>
          </a:p>
        </p:txBody>
      </p:sp>
      <p:cxnSp>
        <p:nvCxnSpPr>
          <p:cNvPr id="541" name="Google Shape;541;p48"/>
          <p:cNvCxnSpPr/>
          <p:nvPr/>
        </p:nvCxnSpPr>
        <p:spPr>
          <a:xfrm>
            <a:off x="5750080" y="1056313"/>
            <a:ext cx="345900" cy="0"/>
          </a:xfrm>
          <a:prstGeom prst="straightConnector1">
            <a:avLst/>
          </a:prstGeom>
          <a:noFill/>
          <a:ln cap="flat" cmpd="sng" w="28575">
            <a:solidFill>
              <a:srgbClr val="980000"/>
            </a:solidFill>
            <a:prstDash val="solid"/>
            <a:round/>
            <a:headEnd len="sm" w="sm" type="none"/>
            <a:tailEnd len="med" w="med" type="triangle"/>
          </a:ln>
        </p:spPr>
      </p:cxnSp>
      <p:sp>
        <p:nvSpPr>
          <p:cNvPr id="542" name="Google Shape;542;p48"/>
          <p:cNvSpPr/>
          <p:nvPr/>
        </p:nvSpPr>
        <p:spPr>
          <a:xfrm>
            <a:off x="234275" y="1395950"/>
            <a:ext cx="8107756" cy="1456475"/>
          </a:xfrm>
          <a:custGeom>
            <a:rect b="b" l="l" r="r" t="t"/>
            <a:pathLst>
              <a:path extrusionOk="0" h="58259" w="305147">
                <a:moveTo>
                  <a:pt x="305147" y="0"/>
                </a:moveTo>
                <a:lnTo>
                  <a:pt x="305147" y="17111"/>
                </a:lnTo>
                <a:lnTo>
                  <a:pt x="0" y="17111"/>
                </a:lnTo>
                <a:lnTo>
                  <a:pt x="0" y="58259"/>
                </a:lnTo>
                <a:lnTo>
                  <a:pt x="17925" y="58259"/>
                </a:lnTo>
              </a:path>
            </a:pathLst>
          </a:custGeom>
          <a:noFill/>
          <a:ln cap="flat" cmpd="sng" w="28575">
            <a:solidFill>
              <a:srgbClr val="980000"/>
            </a:solidFill>
            <a:prstDash val="solid"/>
            <a:round/>
            <a:headEnd len="sm" w="sm" type="none"/>
            <a:tailEnd len="med" w="med" type="triangle"/>
          </a:ln>
        </p:spPr>
      </p:sp>
      <p:sp>
        <p:nvSpPr>
          <p:cNvPr id="543" name="Google Shape;543;p48"/>
          <p:cNvSpPr txBox="1"/>
          <p:nvPr/>
        </p:nvSpPr>
        <p:spPr>
          <a:xfrm>
            <a:off x="2787675" y="2531675"/>
            <a:ext cx="1630200" cy="6156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un + forget + able</a:t>
            </a:r>
            <a:endParaRPr b="0" i="0" sz="14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site/sight/cite</a:t>
            </a:r>
            <a:endParaRPr b="0" i="0" sz="1400" u="none" cap="none" strike="noStrike">
              <a:solidFill>
                <a:schemeClr val="dk1"/>
              </a:solidFill>
              <a:latin typeface="Twentieth Century"/>
              <a:ea typeface="Twentieth Century"/>
              <a:cs typeface="Twentieth Century"/>
              <a:sym typeface="Twentieth Century"/>
            </a:endParaRPr>
          </a:p>
        </p:txBody>
      </p:sp>
      <p:cxnSp>
        <p:nvCxnSpPr>
          <p:cNvPr id="544" name="Google Shape;544;p48"/>
          <p:cNvCxnSpPr/>
          <p:nvPr/>
        </p:nvCxnSpPr>
        <p:spPr>
          <a:xfrm>
            <a:off x="2331265" y="2839469"/>
            <a:ext cx="399600" cy="0"/>
          </a:xfrm>
          <a:prstGeom prst="straightConnector1">
            <a:avLst/>
          </a:prstGeom>
          <a:noFill/>
          <a:ln cap="flat" cmpd="sng" w="28575">
            <a:solidFill>
              <a:srgbClr val="980000"/>
            </a:solidFill>
            <a:prstDash val="solid"/>
            <a:round/>
            <a:headEnd len="sm" w="sm" type="none"/>
            <a:tailEnd len="med" w="med" type="triangle"/>
          </a:ln>
        </p:spPr>
      </p:cxnSp>
      <p:sp>
        <p:nvSpPr>
          <p:cNvPr id="545" name="Google Shape;545;p48"/>
          <p:cNvSpPr txBox="1"/>
          <p:nvPr/>
        </p:nvSpPr>
        <p:spPr>
          <a:xfrm>
            <a:off x="6634499" y="2250706"/>
            <a:ext cx="2404500" cy="923299"/>
          </a:xfrm>
          <a:prstGeom prst="rect">
            <a:avLst/>
          </a:prstGeom>
          <a:solidFill>
            <a:srgbClr val="D9EAD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(NP (ADJ “unforgettable”)</a:t>
            </a:r>
            <a:br>
              <a:rPr b="0" i="0" lang="en" sz="1600" u="none" cap="none" strike="noStrike">
                <a:solidFill>
                  <a:schemeClr val="dk1"/>
                </a:solidFill>
                <a:latin typeface="Twentieth Century"/>
                <a:ea typeface="Twentieth Century"/>
                <a:cs typeface="Twentieth Century"/>
                <a:sym typeface="Twentieth Century"/>
              </a:rPr>
            </a:br>
            <a:r>
              <a:rPr b="0" i="0" lang="en" sz="1600" u="none" cap="none" strike="noStrike">
                <a:solidFill>
                  <a:schemeClr val="dk1"/>
                </a:solidFill>
                <a:latin typeface="Twentieth Century"/>
                <a:ea typeface="Twentieth Century"/>
                <a:cs typeface="Twentieth Century"/>
                <a:sym typeface="Twentieth Century"/>
              </a:rPr>
              <a:t>       (N “site”/”sight”/”cite”))</a:t>
            </a:r>
            <a:endParaRPr b="0" i="0" sz="1600" u="none" cap="none" strike="noStrike">
              <a:solidFill>
                <a:schemeClr val="dk1"/>
              </a:solidFill>
              <a:latin typeface="Twentieth Century"/>
              <a:ea typeface="Twentieth Century"/>
              <a:cs typeface="Twentieth Century"/>
              <a:sym typeface="Twentieth Century"/>
            </a:endParaRPr>
          </a:p>
        </p:txBody>
      </p:sp>
      <p:sp>
        <p:nvSpPr>
          <p:cNvPr id="546" name="Google Shape;546;p48"/>
          <p:cNvSpPr/>
          <p:nvPr/>
        </p:nvSpPr>
        <p:spPr>
          <a:xfrm>
            <a:off x="4730275" y="2417100"/>
            <a:ext cx="1446300" cy="825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parser</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(syntax)</a:t>
            </a:r>
            <a:endParaRPr b="0" i="0" sz="1800" u="none" cap="none" strike="noStrike">
              <a:solidFill>
                <a:schemeClr val="dk1"/>
              </a:solidFill>
              <a:latin typeface="Twentieth Century"/>
              <a:ea typeface="Twentieth Century"/>
              <a:cs typeface="Twentieth Century"/>
              <a:sym typeface="Twentieth Century"/>
            </a:endParaRPr>
          </a:p>
        </p:txBody>
      </p:sp>
      <p:cxnSp>
        <p:nvCxnSpPr>
          <p:cNvPr id="547" name="Google Shape;547;p48"/>
          <p:cNvCxnSpPr/>
          <p:nvPr/>
        </p:nvCxnSpPr>
        <p:spPr>
          <a:xfrm>
            <a:off x="4378480" y="2839469"/>
            <a:ext cx="399600" cy="0"/>
          </a:xfrm>
          <a:prstGeom prst="straightConnector1">
            <a:avLst/>
          </a:prstGeom>
          <a:noFill/>
          <a:ln cap="flat" cmpd="sng" w="28575">
            <a:solidFill>
              <a:srgbClr val="980000"/>
            </a:solidFill>
            <a:prstDash val="solid"/>
            <a:round/>
            <a:headEnd len="sm" w="sm" type="none"/>
            <a:tailEnd len="med" w="med" type="triangle"/>
          </a:ln>
        </p:spPr>
      </p:cxnSp>
      <p:cxnSp>
        <p:nvCxnSpPr>
          <p:cNvPr id="548" name="Google Shape;548;p48"/>
          <p:cNvCxnSpPr/>
          <p:nvPr/>
        </p:nvCxnSpPr>
        <p:spPr>
          <a:xfrm>
            <a:off x="6207280" y="2839469"/>
            <a:ext cx="399600" cy="0"/>
          </a:xfrm>
          <a:prstGeom prst="straightConnector1">
            <a:avLst/>
          </a:prstGeom>
          <a:noFill/>
          <a:ln cap="flat" cmpd="sng" w="28575">
            <a:solidFill>
              <a:srgbClr val="980000"/>
            </a:solidFill>
            <a:prstDash val="solid"/>
            <a:round/>
            <a:headEnd len="sm" w="sm" type="none"/>
            <a:tailEnd len="med" w="med" type="triangle"/>
          </a:ln>
        </p:spPr>
      </p:cxnSp>
      <p:sp>
        <p:nvSpPr>
          <p:cNvPr id="549" name="Google Shape;549;p48"/>
          <p:cNvSpPr/>
          <p:nvPr/>
        </p:nvSpPr>
        <p:spPr>
          <a:xfrm>
            <a:off x="1337450" y="4065925"/>
            <a:ext cx="1446300" cy="825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semantic analyzer</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(meaning)</a:t>
            </a:r>
            <a:endParaRPr b="0" i="0" sz="1800" u="none" cap="none" strike="noStrike">
              <a:solidFill>
                <a:schemeClr val="dk1"/>
              </a:solidFill>
              <a:latin typeface="Twentieth Century"/>
              <a:ea typeface="Twentieth Century"/>
              <a:cs typeface="Twentieth Century"/>
              <a:sym typeface="Twentieth Century"/>
            </a:endParaRPr>
          </a:p>
        </p:txBody>
      </p:sp>
      <p:sp>
        <p:nvSpPr>
          <p:cNvPr id="550" name="Google Shape;550;p48"/>
          <p:cNvSpPr txBox="1"/>
          <p:nvPr/>
        </p:nvSpPr>
        <p:spPr>
          <a:xfrm>
            <a:off x="3168675" y="4208075"/>
            <a:ext cx="1333200" cy="677078"/>
          </a:xfrm>
          <a:prstGeom prst="rect">
            <a:avLst/>
          </a:prstGeom>
          <a:solidFill>
            <a:srgbClr val="741B47"/>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FFFFFF"/>
              </a:buClr>
              <a:buSzPts val="1600"/>
              <a:buFont typeface="Twentieth Century"/>
              <a:buNone/>
            </a:pPr>
            <a:r>
              <a:rPr b="1" i="1" lang="en" sz="1600" u="none" cap="none" strike="noStrike">
                <a:solidFill>
                  <a:srgbClr val="FFFFFF"/>
                </a:solidFill>
                <a:latin typeface="Twentieth Century"/>
                <a:ea typeface="Twentieth Century"/>
                <a:cs typeface="Twentieth Century"/>
                <a:sym typeface="Twentieth Century"/>
              </a:rPr>
              <a:t>unforgettable sight</a:t>
            </a:r>
            <a:endParaRPr b="1" i="1" sz="1600" u="none" cap="none" strike="noStrike">
              <a:solidFill>
                <a:srgbClr val="FFFFFF"/>
              </a:solidFill>
              <a:latin typeface="Twentieth Century"/>
              <a:ea typeface="Twentieth Century"/>
              <a:cs typeface="Twentieth Century"/>
              <a:sym typeface="Twentieth Century"/>
            </a:endParaRPr>
          </a:p>
        </p:txBody>
      </p:sp>
      <p:cxnSp>
        <p:nvCxnSpPr>
          <p:cNvPr id="551" name="Google Shape;551;p48"/>
          <p:cNvCxnSpPr/>
          <p:nvPr/>
        </p:nvCxnSpPr>
        <p:spPr>
          <a:xfrm>
            <a:off x="2788465" y="4515869"/>
            <a:ext cx="399600" cy="0"/>
          </a:xfrm>
          <a:prstGeom prst="straightConnector1">
            <a:avLst/>
          </a:prstGeom>
          <a:noFill/>
          <a:ln cap="flat" cmpd="sng" w="28575">
            <a:solidFill>
              <a:srgbClr val="980000"/>
            </a:solidFill>
            <a:prstDash val="solid"/>
            <a:round/>
            <a:headEnd len="sm" w="sm" type="none"/>
            <a:tailEnd len="med" w="med" type="triangle"/>
          </a:ln>
        </p:spPr>
      </p:cxnSp>
      <p:sp>
        <p:nvSpPr>
          <p:cNvPr id="552" name="Google Shape;552;p48"/>
          <p:cNvSpPr/>
          <p:nvPr/>
        </p:nvSpPr>
        <p:spPr>
          <a:xfrm>
            <a:off x="985854" y="3160219"/>
            <a:ext cx="5867774" cy="1316479"/>
          </a:xfrm>
          <a:custGeom>
            <a:rect b="b" l="l" r="r" t="t"/>
            <a:pathLst>
              <a:path extrusionOk="0" h="50764" w="257073">
                <a:moveTo>
                  <a:pt x="257073" y="0"/>
                </a:moveTo>
                <a:lnTo>
                  <a:pt x="257073" y="8545"/>
                </a:lnTo>
                <a:lnTo>
                  <a:pt x="408" y="17926"/>
                </a:lnTo>
                <a:lnTo>
                  <a:pt x="0" y="50764"/>
                </a:lnTo>
                <a:lnTo>
                  <a:pt x="11408" y="50764"/>
                </a:lnTo>
              </a:path>
            </a:pathLst>
          </a:custGeom>
          <a:noFill/>
          <a:ln cap="flat" cmpd="sng" w="28575">
            <a:solidFill>
              <a:srgbClr val="980000"/>
            </a:solidFill>
            <a:prstDash val="solid"/>
            <a:round/>
            <a:headEnd len="sm" w="sm" type="none"/>
            <a:tailEnd len="med" w="med" type="triangle"/>
          </a:ln>
        </p:spPr>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9"/>
          <p:cNvSpPr txBox="1"/>
          <p:nvPr>
            <p:ph type="title"/>
          </p:nvPr>
        </p:nvSpPr>
        <p:spPr>
          <a:xfrm>
            <a:off x="386150" y="347325"/>
            <a:ext cx="7972200" cy="572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rgbClr val="000000"/>
              </a:buClr>
              <a:buSzPts val="2800"/>
              <a:buFont typeface="Twentieth Century"/>
              <a:buNone/>
            </a:pPr>
            <a:r>
              <a:rPr lang="en">
                <a:solidFill>
                  <a:srgbClr val="000000"/>
                </a:solidFill>
              </a:rPr>
              <a:t>RECAP: THE AUDIO ABSTRACTION PIPELINE </a:t>
            </a:r>
            <a:endParaRPr>
              <a:solidFill>
                <a:srgbClr val="000000"/>
              </a:solidFill>
            </a:endParaRPr>
          </a:p>
        </p:txBody>
      </p:sp>
      <p:sp>
        <p:nvSpPr>
          <p:cNvPr id="558" name="Google Shape;558;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59" name="Google Shape;559;p49"/>
          <p:cNvSpPr/>
          <p:nvPr/>
        </p:nvSpPr>
        <p:spPr>
          <a:xfrm>
            <a:off x="386150" y="1195750"/>
            <a:ext cx="1166700" cy="53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Waveform</a:t>
            </a:r>
            <a:endParaRPr b="0" i="0" sz="1600" u="none" cap="none" strike="noStrike">
              <a:solidFill>
                <a:schemeClr val="dk1"/>
              </a:solidFill>
              <a:latin typeface="Twentieth Century"/>
              <a:ea typeface="Twentieth Century"/>
              <a:cs typeface="Twentieth Century"/>
              <a:sym typeface="Twentieth Century"/>
            </a:endParaRPr>
          </a:p>
        </p:txBody>
      </p:sp>
      <p:sp>
        <p:nvSpPr>
          <p:cNvPr id="560" name="Google Shape;560;p49"/>
          <p:cNvSpPr/>
          <p:nvPr/>
        </p:nvSpPr>
        <p:spPr>
          <a:xfrm>
            <a:off x="888175" y="1885950"/>
            <a:ext cx="1264500" cy="53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Spectrogram</a:t>
            </a:r>
            <a:endParaRPr b="0" i="0" sz="1400" u="none" cap="none" strike="noStrike">
              <a:solidFill>
                <a:schemeClr val="dk1"/>
              </a:solidFill>
              <a:latin typeface="Twentieth Century"/>
              <a:ea typeface="Twentieth Century"/>
              <a:cs typeface="Twentieth Century"/>
              <a:sym typeface="Twentieth Century"/>
            </a:endParaRPr>
          </a:p>
        </p:txBody>
      </p:sp>
      <p:sp>
        <p:nvSpPr>
          <p:cNvPr id="561" name="Google Shape;561;p49"/>
          <p:cNvSpPr/>
          <p:nvPr/>
        </p:nvSpPr>
        <p:spPr>
          <a:xfrm>
            <a:off x="1356500" y="2593575"/>
            <a:ext cx="1166700" cy="53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Sounds</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000"/>
              <a:buFont typeface="Twentieth Century"/>
              <a:buNone/>
            </a:pPr>
            <a:r>
              <a:rPr b="0" i="0" lang="en" sz="1000" u="none" cap="none" strike="noStrike">
                <a:solidFill>
                  <a:schemeClr val="dk1"/>
                </a:solidFill>
                <a:latin typeface="Twentieth Century"/>
                <a:ea typeface="Twentieth Century"/>
                <a:cs typeface="Twentieth Century"/>
                <a:sym typeface="Twentieth Century"/>
              </a:rPr>
              <a:t>(Phonology)</a:t>
            </a:r>
            <a:endParaRPr b="0" i="0" sz="1000" u="none" cap="none" strike="noStrike">
              <a:solidFill>
                <a:schemeClr val="dk1"/>
              </a:solidFill>
              <a:latin typeface="Twentieth Century"/>
              <a:ea typeface="Twentieth Century"/>
              <a:cs typeface="Twentieth Century"/>
              <a:sym typeface="Twentieth Century"/>
            </a:endParaRPr>
          </a:p>
        </p:txBody>
      </p:sp>
      <p:sp>
        <p:nvSpPr>
          <p:cNvPr id="562" name="Google Shape;562;p49"/>
          <p:cNvSpPr/>
          <p:nvPr/>
        </p:nvSpPr>
        <p:spPr>
          <a:xfrm>
            <a:off x="1837550" y="3238725"/>
            <a:ext cx="1540800" cy="53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Stems + Affixes</a:t>
            </a:r>
            <a:br>
              <a:rPr b="0" i="0" lang="en" sz="1200" u="none" cap="none" strike="noStrike">
                <a:solidFill>
                  <a:schemeClr val="dk1"/>
                </a:solidFill>
                <a:latin typeface="Twentieth Century"/>
                <a:ea typeface="Twentieth Century"/>
                <a:cs typeface="Twentieth Century"/>
                <a:sym typeface="Twentieth Century"/>
              </a:rPr>
            </a:br>
            <a:r>
              <a:rPr b="0" i="0" lang="en" sz="1200" u="none" cap="none" strike="noStrike">
                <a:solidFill>
                  <a:schemeClr val="dk1"/>
                </a:solidFill>
                <a:latin typeface="Twentieth Century"/>
                <a:ea typeface="Twentieth Century"/>
                <a:cs typeface="Twentieth Century"/>
                <a:sym typeface="Twentieth Century"/>
              </a:rPr>
              <a:t>(Morphology)</a:t>
            </a:r>
            <a:endParaRPr b="0" i="0" sz="1200" u="none" cap="none" strike="noStrike">
              <a:solidFill>
                <a:schemeClr val="dk1"/>
              </a:solidFill>
              <a:latin typeface="Twentieth Century"/>
              <a:ea typeface="Twentieth Century"/>
              <a:cs typeface="Twentieth Century"/>
              <a:sym typeface="Twentieth Century"/>
            </a:endParaRPr>
          </a:p>
        </p:txBody>
      </p:sp>
      <p:sp>
        <p:nvSpPr>
          <p:cNvPr id="563" name="Google Shape;563;p49"/>
          <p:cNvSpPr/>
          <p:nvPr/>
        </p:nvSpPr>
        <p:spPr>
          <a:xfrm>
            <a:off x="2211800" y="3883875"/>
            <a:ext cx="1166700" cy="53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Grammar</a:t>
            </a:r>
            <a:br>
              <a:rPr b="0" i="0" lang="en" sz="1800" u="none" cap="none" strike="noStrike">
                <a:solidFill>
                  <a:schemeClr val="dk1"/>
                </a:solidFill>
                <a:latin typeface="Twentieth Century"/>
                <a:ea typeface="Twentieth Century"/>
                <a:cs typeface="Twentieth Century"/>
                <a:sym typeface="Twentieth Century"/>
              </a:rPr>
            </a:br>
            <a:r>
              <a:rPr b="0" i="0" lang="en" sz="1000" u="none" cap="none" strike="noStrike">
                <a:solidFill>
                  <a:schemeClr val="dk1"/>
                </a:solidFill>
                <a:latin typeface="Twentieth Century"/>
                <a:ea typeface="Twentieth Century"/>
                <a:cs typeface="Twentieth Century"/>
                <a:sym typeface="Twentieth Century"/>
              </a:rPr>
              <a:t>(Syntax)</a:t>
            </a:r>
            <a:endParaRPr b="0" i="0" sz="1000" u="none" cap="none" strike="noStrike">
              <a:solidFill>
                <a:schemeClr val="dk1"/>
              </a:solidFill>
              <a:latin typeface="Twentieth Century"/>
              <a:ea typeface="Twentieth Century"/>
              <a:cs typeface="Twentieth Century"/>
              <a:sym typeface="Twentieth Century"/>
            </a:endParaRPr>
          </a:p>
        </p:txBody>
      </p:sp>
      <p:sp>
        <p:nvSpPr>
          <p:cNvPr id="564" name="Google Shape;564;p49"/>
          <p:cNvSpPr/>
          <p:nvPr/>
        </p:nvSpPr>
        <p:spPr>
          <a:xfrm>
            <a:off x="2561375" y="4529025"/>
            <a:ext cx="1166700" cy="53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Meaning</a:t>
            </a:r>
            <a:br>
              <a:rPr b="0" i="0" lang="en" sz="1800" u="none" cap="none" strike="noStrike">
                <a:solidFill>
                  <a:schemeClr val="dk1"/>
                </a:solidFill>
                <a:latin typeface="Twentieth Century"/>
                <a:ea typeface="Twentieth Century"/>
                <a:cs typeface="Twentieth Century"/>
                <a:sym typeface="Twentieth Century"/>
              </a:rPr>
            </a:br>
            <a:r>
              <a:rPr b="0" i="0" lang="en" sz="1000" u="none" cap="none" strike="noStrike">
                <a:solidFill>
                  <a:schemeClr val="dk1"/>
                </a:solidFill>
                <a:latin typeface="Twentieth Century"/>
                <a:ea typeface="Twentieth Century"/>
                <a:cs typeface="Twentieth Century"/>
                <a:sym typeface="Twentieth Century"/>
              </a:rPr>
              <a:t>(Semantics)</a:t>
            </a:r>
            <a:endParaRPr b="0" i="0" sz="1000" u="none" cap="none" strike="noStrike">
              <a:solidFill>
                <a:schemeClr val="dk1"/>
              </a:solidFill>
              <a:latin typeface="Twentieth Century"/>
              <a:ea typeface="Twentieth Century"/>
              <a:cs typeface="Twentieth Century"/>
              <a:sym typeface="Twentieth Century"/>
            </a:endParaRPr>
          </a:p>
        </p:txBody>
      </p:sp>
      <p:cxnSp>
        <p:nvCxnSpPr>
          <p:cNvPr id="565" name="Google Shape;565;p49"/>
          <p:cNvCxnSpPr>
            <a:stCxn id="559" idx="3"/>
            <a:endCxn id="560" idx="1"/>
          </p:cNvCxnSpPr>
          <p:nvPr/>
        </p:nvCxnSpPr>
        <p:spPr>
          <a:xfrm flipH="1">
            <a:off x="888050" y="1462750"/>
            <a:ext cx="664800" cy="690300"/>
          </a:xfrm>
          <a:prstGeom prst="curvedConnector5">
            <a:avLst>
              <a:gd fmla="val -35819" name="adj1"/>
              <a:gd fmla="val 49993" name="adj2"/>
              <a:gd fmla="val 135800" name="adj3"/>
            </a:avLst>
          </a:prstGeom>
          <a:noFill/>
          <a:ln cap="flat" cmpd="sng" w="9525">
            <a:solidFill>
              <a:schemeClr val="dk2"/>
            </a:solidFill>
            <a:prstDash val="solid"/>
            <a:round/>
            <a:headEnd len="sm" w="sm" type="none"/>
            <a:tailEnd len="med" w="med" type="triangle"/>
          </a:ln>
        </p:spPr>
      </p:cxnSp>
      <p:cxnSp>
        <p:nvCxnSpPr>
          <p:cNvPr id="566" name="Google Shape;566;p49"/>
          <p:cNvCxnSpPr>
            <a:stCxn id="560" idx="3"/>
            <a:endCxn id="561" idx="1"/>
          </p:cNvCxnSpPr>
          <p:nvPr/>
        </p:nvCxnSpPr>
        <p:spPr>
          <a:xfrm flipH="1">
            <a:off x="1356475" y="2152950"/>
            <a:ext cx="796200" cy="707700"/>
          </a:xfrm>
          <a:prstGeom prst="curvedConnector5">
            <a:avLst>
              <a:gd fmla="val -29908" name="adj1"/>
              <a:gd fmla="val 49995" name="adj2"/>
              <a:gd fmla="val 129905" name="adj3"/>
            </a:avLst>
          </a:prstGeom>
          <a:noFill/>
          <a:ln cap="flat" cmpd="sng" w="9525">
            <a:solidFill>
              <a:schemeClr val="dk2"/>
            </a:solidFill>
            <a:prstDash val="solid"/>
            <a:round/>
            <a:headEnd len="sm" w="sm" type="none"/>
            <a:tailEnd len="med" w="med" type="triangle"/>
          </a:ln>
        </p:spPr>
      </p:cxnSp>
      <p:cxnSp>
        <p:nvCxnSpPr>
          <p:cNvPr id="567" name="Google Shape;567;p49"/>
          <p:cNvCxnSpPr>
            <a:stCxn id="561" idx="3"/>
            <a:endCxn id="562" idx="1"/>
          </p:cNvCxnSpPr>
          <p:nvPr/>
        </p:nvCxnSpPr>
        <p:spPr>
          <a:xfrm flipH="1">
            <a:off x="1837700" y="2860575"/>
            <a:ext cx="685500" cy="645300"/>
          </a:xfrm>
          <a:prstGeom prst="curvedConnector5">
            <a:avLst>
              <a:gd fmla="val -34737" name="adj1"/>
              <a:gd fmla="val 49988" name="adj2"/>
              <a:gd fmla="val 134759" name="adj3"/>
            </a:avLst>
          </a:prstGeom>
          <a:noFill/>
          <a:ln cap="flat" cmpd="sng" w="9525">
            <a:solidFill>
              <a:schemeClr val="dk2"/>
            </a:solidFill>
            <a:prstDash val="solid"/>
            <a:round/>
            <a:headEnd len="sm" w="sm" type="none"/>
            <a:tailEnd len="med" w="med" type="triangle"/>
          </a:ln>
        </p:spPr>
      </p:cxnSp>
      <p:cxnSp>
        <p:nvCxnSpPr>
          <p:cNvPr id="568" name="Google Shape;568;p49"/>
          <p:cNvCxnSpPr>
            <a:stCxn id="562" idx="3"/>
            <a:endCxn id="563" idx="1"/>
          </p:cNvCxnSpPr>
          <p:nvPr/>
        </p:nvCxnSpPr>
        <p:spPr>
          <a:xfrm flipH="1">
            <a:off x="2211650" y="3505725"/>
            <a:ext cx="1166700" cy="645300"/>
          </a:xfrm>
          <a:prstGeom prst="curvedConnector5">
            <a:avLst>
              <a:gd fmla="val -20410" name="adj1"/>
              <a:gd fmla="val 49988" name="adj2"/>
              <a:gd fmla="val 120397" name="adj3"/>
            </a:avLst>
          </a:prstGeom>
          <a:noFill/>
          <a:ln cap="flat" cmpd="sng" w="9525">
            <a:solidFill>
              <a:schemeClr val="dk2"/>
            </a:solidFill>
            <a:prstDash val="solid"/>
            <a:round/>
            <a:headEnd len="sm" w="sm" type="none"/>
            <a:tailEnd len="med" w="med" type="triangle"/>
          </a:ln>
        </p:spPr>
      </p:cxnSp>
      <p:cxnSp>
        <p:nvCxnSpPr>
          <p:cNvPr id="569" name="Google Shape;569;p49"/>
          <p:cNvCxnSpPr>
            <a:stCxn id="563" idx="3"/>
            <a:endCxn id="564" idx="1"/>
          </p:cNvCxnSpPr>
          <p:nvPr/>
        </p:nvCxnSpPr>
        <p:spPr>
          <a:xfrm flipH="1">
            <a:off x="2561300" y="4150875"/>
            <a:ext cx="817200" cy="645300"/>
          </a:xfrm>
          <a:prstGeom prst="curvedConnector5">
            <a:avLst>
              <a:gd fmla="val -29139" name="adj1"/>
              <a:gd fmla="val 49988" name="adj2"/>
              <a:gd fmla="val 129130" name="adj3"/>
            </a:avLst>
          </a:prstGeom>
          <a:noFill/>
          <a:ln cap="flat" cmpd="sng" w="9525">
            <a:solidFill>
              <a:schemeClr val="dk2"/>
            </a:solidFill>
            <a:prstDash val="solid"/>
            <a:round/>
            <a:headEnd len="sm" w="sm" type="none"/>
            <a:tailEnd len="med" w="med" type="triangle"/>
          </a:ln>
        </p:spPr>
      </p:cxnSp>
      <p:pic>
        <p:nvPicPr>
          <p:cNvPr id="570" name="Google Shape;570;p49"/>
          <p:cNvPicPr preferRelativeResize="0"/>
          <p:nvPr/>
        </p:nvPicPr>
        <p:blipFill rotWithShape="1">
          <a:blip r:embed="rId3">
            <a:alphaModFix/>
          </a:blip>
          <a:srcRect b="0" l="0" r="39039" t="0"/>
          <a:stretch/>
        </p:blipFill>
        <p:spPr>
          <a:xfrm>
            <a:off x="2152674" y="1106687"/>
            <a:ext cx="686579" cy="690300"/>
          </a:xfrm>
          <a:prstGeom prst="rect">
            <a:avLst/>
          </a:prstGeom>
          <a:noFill/>
          <a:ln>
            <a:noFill/>
          </a:ln>
        </p:spPr>
      </p:pic>
      <p:pic>
        <p:nvPicPr>
          <p:cNvPr id="571" name="Google Shape;571;p49"/>
          <p:cNvPicPr preferRelativeResize="0"/>
          <p:nvPr/>
        </p:nvPicPr>
        <p:blipFill rotWithShape="1">
          <a:blip r:embed="rId4">
            <a:alphaModFix/>
          </a:blip>
          <a:srcRect b="0" l="0" r="0" t="0"/>
          <a:stretch/>
        </p:blipFill>
        <p:spPr>
          <a:xfrm>
            <a:off x="2520725" y="1847151"/>
            <a:ext cx="548700" cy="562137"/>
          </a:xfrm>
          <a:prstGeom prst="rect">
            <a:avLst/>
          </a:prstGeom>
          <a:noFill/>
          <a:ln>
            <a:noFill/>
          </a:ln>
        </p:spPr>
      </p:pic>
      <p:sp>
        <p:nvSpPr>
          <p:cNvPr id="572" name="Google Shape;572;p49"/>
          <p:cNvSpPr txBox="1"/>
          <p:nvPr/>
        </p:nvSpPr>
        <p:spPr>
          <a:xfrm>
            <a:off x="3022836" y="2613088"/>
            <a:ext cx="2612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 ^ n f o r g ɜ t a b ʊ l # s a</a:t>
            </a:r>
            <a:r>
              <a:rPr b="0" i="0" lang="en" sz="1800" u="none" cap="none" strike="noStrike">
                <a:solidFill>
                  <a:schemeClr val="dk1"/>
                </a:solidFill>
                <a:latin typeface="EB Garamond"/>
                <a:ea typeface="EB Garamond"/>
                <a:cs typeface="EB Garamond"/>
                <a:sym typeface="EB Garamond"/>
              </a:rPr>
              <a:t>I</a:t>
            </a:r>
            <a:r>
              <a:rPr b="0" i="0" lang="en" sz="1800" u="none" cap="none" strike="noStrike">
                <a:solidFill>
                  <a:schemeClr val="dk1"/>
                </a:solidFill>
                <a:latin typeface="Twentieth Century"/>
                <a:ea typeface="Twentieth Century"/>
                <a:cs typeface="Twentieth Century"/>
                <a:sym typeface="Twentieth Century"/>
              </a:rPr>
              <a:t> t /</a:t>
            </a:r>
            <a:endParaRPr b="0" i="0" sz="1800" u="none" cap="none" strike="noStrike">
              <a:solidFill>
                <a:schemeClr val="dk1"/>
              </a:solidFill>
              <a:latin typeface="Twentieth Century"/>
              <a:ea typeface="Twentieth Century"/>
              <a:cs typeface="Twentieth Century"/>
              <a:sym typeface="Twentieth Century"/>
            </a:endParaRPr>
          </a:p>
        </p:txBody>
      </p:sp>
      <p:sp>
        <p:nvSpPr>
          <p:cNvPr id="573" name="Google Shape;573;p49"/>
          <p:cNvSpPr txBox="1"/>
          <p:nvPr/>
        </p:nvSpPr>
        <p:spPr>
          <a:xfrm>
            <a:off x="3580125" y="3321025"/>
            <a:ext cx="3183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un + forget + able     site/sight/cite</a:t>
            </a:r>
            <a:endParaRPr b="0" i="0" sz="1800" u="none" cap="none" strike="noStrike">
              <a:solidFill>
                <a:schemeClr val="dk1"/>
              </a:solidFill>
              <a:latin typeface="Twentieth Century"/>
              <a:ea typeface="Twentieth Century"/>
              <a:cs typeface="Twentieth Century"/>
              <a:sym typeface="Twentieth Century"/>
            </a:endParaRPr>
          </a:p>
        </p:txBody>
      </p:sp>
      <p:sp>
        <p:nvSpPr>
          <p:cNvPr id="574" name="Google Shape;574;p49"/>
          <p:cNvSpPr txBox="1"/>
          <p:nvPr/>
        </p:nvSpPr>
        <p:spPr>
          <a:xfrm>
            <a:off x="3732525" y="3810727"/>
            <a:ext cx="4288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(NP (ADJ “unforgettable”)</a:t>
            </a:r>
            <a:br>
              <a:rPr b="0" i="0" lang="en" sz="1800" u="none" cap="none" strike="noStrike">
                <a:solidFill>
                  <a:schemeClr val="dk1"/>
                </a:solidFill>
                <a:latin typeface="Twentieth Century"/>
                <a:ea typeface="Twentieth Century"/>
                <a:cs typeface="Twentieth Century"/>
                <a:sym typeface="Twentieth Century"/>
              </a:rPr>
            </a:br>
            <a:r>
              <a:rPr b="0" i="0" lang="en" sz="1800" u="none" cap="none" strike="noStrike">
                <a:solidFill>
                  <a:schemeClr val="dk1"/>
                </a:solidFill>
                <a:latin typeface="Twentieth Century"/>
                <a:ea typeface="Twentieth Century"/>
                <a:cs typeface="Twentieth Century"/>
                <a:sym typeface="Twentieth Century"/>
              </a:rPr>
              <a:t>       (N “site”/”sight”/”cite”))</a:t>
            </a:r>
            <a:endParaRPr b="0" i="0" sz="1800" u="none" cap="none" strike="noStrike">
              <a:solidFill>
                <a:schemeClr val="dk1"/>
              </a:solidFill>
              <a:latin typeface="Twentieth Century"/>
              <a:ea typeface="Twentieth Century"/>
              <a:cs typeface="Twentieth Century"/>
              <a:sym typeface="Twentieth Century"/>
            </a:endParaRPr>
          </a:p>
        </p:txBody>
      </p:sp>
      <p:sp>
        <p:nvSpPr>
          <p:cNvPr id="575" name="Google Shape;575;p49"/>
          <p:cNvSpPr txBox="1"/>
          <p:nvPr/>
        </p:nvSpPr>
        <p:spPr>
          <a:xfrm>
            <a:off x="3880300" y="4659925"/>
            <a:ext cx="2085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Twentieth Century"/>
              <a:buNone/>
            </a:pPr>
            <a:r>
              <a:rPr b="0" i="1" lang="en" sz="1800" u="none" cap="none" strike="noStrike">
                <a:solidFill>
                  <a:schemeClr val="dk1"/>
                </a:solidFill>
                <a:latin typeface="Twentieth Century"/>
                <a:ea typeface="Twentieth Century"/>
                <a:cs typeface="Twentieth Century"/>
                <a:sym typeface="Twentieth Century"/>
              </a:rPr>
              <a:t>“unforgettable sight”</a:t>
            </a:r>
            <a:endParaRPr b="0" i="1"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Computers learn to convert human speech to text with speech recognition models. Google Machine Learning Engineer Roza Chojnacka shares her expertise in Speech Recognition algorithms by discussing what it is, how it works, and the differences between traditional speech recognition systems and the more common ML model.&#10;&#10;Speech-to-Text → https://goo.gle/3lSUujj&#10;Speech Processing → https://goo.gle/3LDetNk&#10;Introducing CVSS: A Massively Multilingual Speech-to-Speech Translation Corpus → https://goo.gle/3sS0E74&#10;&#10;Learn more → https://goo.gle/WTM&#10;&#10;Watch more Women Techmakers in 60 seconds! → https://goo.gle/2LGAgK1&#10;Subscribe for more Women Techmakers videos →  https://goo.gle/WomenTech" id="581" name="Google Shape;581;p50" title="How speech recognition works in 60 seconds!">
            <a:hlinkClick r:id="rId3"/>
          </p:cNvPr>
          <p:cNvPicPr preferRelativeResize="0"/>
          <p:nvPr/>
        </p:nvPicPr>
        <p:blipFill>
          <a:blip r:embed="rId4">
            <a:alphaModFix/>
          </a:blip>
          <a:stretch>
            <a:fillRect/>
          </a:stretch>
        </p:blipFill>
        <p:spPr>
          <a:xfrm>
            <a:off x="1090425" y="1149275"/>
            <a:ext cx="6247025" cy="3513950"/>
          </a:xfrm>
          <a:prstGeom prst="rect">
            <a:avLst/>
          </a:prstGeom>
          <a:noFill/>
          <a:ln>
            <a:noFill/>
          </a:ln>
        </p:spPr>
      </p:pic>
      <p:sp>
        <p:nvSpPr>
          <p:cNvPr id="582" name="Google Shape;582;p50"/>
          <p:cNvSpPr txBox="1"/>
          <p:nvPr/>
        </p:nvSpPr>
        <p:spPr>
          <a:xfrm>
            <a:off x="0" y="0"/>
            <a:ext cx="9144000" cy="93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2700">
                <a:solidFill>
                  <a:schemeClr val="dk1"/>
                </a:solidFill>
                <a:latin typeface="Twentieth Century"/>
                <a:ea typeface="Twentieth Century"/>
                <a:cs typeface="Twentieth Century"/>
                <a:sym typeface="Twentieth Century"/>
              </a:rPr>
              <a:t>VIDEO SUMMARY OF THE AUDIO ABSTRACTION PIPELINE in MODERN AI Systems</a:t>
            </a:r>
            <a:endParaRPr sz="2700">
              <a:solidFill>
                <a:schemeClr val="dk1"/>
              </a:solidFill>
              <a:latin typeface="Twentieth Century"/>
              <a:ea typeface="Twentieth Century"/>
              <a:cs typeface="Twentieth Century"/>
              <a:sym typeface="Twentieth Century"/>
            </a:endParaRPr>
          </a:p>
        </p:txBody>
      </p:sp>
      <p:sp>
        <p:nvSpPr>
          <p:cNvPr id="583" name="Google Shape;583;p50"/>
          <p:cNvSpPr txBox="1"/>
          <p:nvPr/>
        </p:nvSpPr>
        <p:spPr>
          <a:xfrm>
            <a:off x="7650100" y="1182950"/>
            <a:ext cx="1371000" cy="22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latin typeface="Twentieth Century"/>
                <a:ea typeface="Twentieth Century"/>
                <a:cs typeface="Twentieth Century"/>
                <a:sym typeface="Twentieth Century"/>
              </a:rPr>
              <a:t>Career Highlight:</a:t>
            </a:r>
            <a:endParaRPr b="1" sz="15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None/>
            </a:pPr>
            <a:r>
              <a:rPr b="1" lang="en" sz="1500">
                <a:solidFill>
                  <a:schemeClr val="dk1"/>
                </a:solidFill>
                <a:latin typeface="Twentieth Century"/>
                <a:ea typeface="Twentieth Century"/>
                <a:cs typeface="Twentieth Century"/>
                <a:sym typeface="Twentieth Century"/>
              </a:rPr>
              <a:t>Machine Learning Engineer</a:t>
            </a:r>
            <a:endParaRPr b="1" sz="1500">
              <a:solidFill>
                <a:schemeClr val="dk1"/>
              </a:solidFill>
              <a:latin typeface="Twentieth Century"/>
              <a:ea typeface="Twentieth Century"/>
              <a:cs typeface="Twentieth Century"/>
              <a:sym typeface="Twentieth Century"/>
            </a:endParaRPr>
          </a:p>
        </p:txBody>
      </p:sp>
      <p:sp>
        <p:nvSpPr>
          <p:cNvPr id="584" name="Google Shape;584;p50"/>
          <p:cNvSpPr txBox="1"/>
          <p:nvPr/>
        </p:nvSpPr>
        <p:spPr>
          <a:xfrm>
            <a:off x="1766600" y="4552225"/>
            <a:ext cx="557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https://www.youtube.com/watch?v=eQfqcYR3HJo</a:t>
            </a:r>
            <a:r>
              <a:rPr lang="en"/>
              <a:t> (1:39 min)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1000"/>
                                        <p:tgtEl>
                                          <p:spTgt spid="5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90" name="Google Shape;590;p51"/>
          <p:cNvSpPr txBox="1"/>
          <p:nvPr/>
        </p:nvSpPr>
        <p:spPr>
          <a:xfrm>
            <a:off x="228600" y="304800"/>
            <a:ext cx="9144000" cy="55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2700">
                <a:solidFill>
                  <a:schemeClr val="dk1"/>
                </a:solidFill>
                <a:latin typeface="Twentieth Century"/>
                <a:ea typeface="Twentieth Century"/>
                <a:cs typeface="Twentieth Century"/>
                <a:sym typeface="Twentieth Century"/>
              </a:rPr>
              <a:t>AUDIO ABSTRACTION PIPELINE in MODERN AI Systems</a:t>
            </a:r>
            <a:endParaRPr sz="2700">
              <a:solidFill>
                <a:schemeClr val="dk1"/>
              </a:solidFill>
              <a:latin typeface="Twentieth Century"/>
              <a:ea typeface="Twentieth Century"/>
              <a:cs typeface="Twentieth Century"/>
              <a:sym typeface="Twentieth Century"/>
            </a:endParaRPr>
          </a:p>
        </p:txBody>
      </p:sp>
      <p:pic>
        <p:nvPicPr>
          <p:cNvPr id="591" name="Google Shape;591;p51"/>
          <p:cNvPicPr preferRelativeResize="0"/>
          <p:nvPr/>
        </p:nvPicPr>
        <p:blipFill rotWithShape="1">
          <a:blip r:embed="rId3">
            <a:alphaModFix/>
          </a:blip>
          <a:srcRect b="0" l="0" r="0" t="0"/>
          <a:stretch/>
        </p:blipFill>
        <p:spPr>
          <a:xfrm>
            <a:off x="846854" y="1439560"/>
            <a:ext cx="1591945" cy="1002565"/>
          </a:xfrm>
          <a:prstGeom prst="rect">
            <a:avLst/>
          </a:prstGeom>
          <a:noFill/>
          <a:ln>
            <a:noFill/>
          </a:ln>
        </p:spPr>
      </p:pic>
      <p:pic>
        <p:nvPicPr>
          <p:cNvPr id="592" name="Google Shape;592;p51"/>
          <p:cNvPicPr preferRelativeResize="0"/>
          <p:nvPr/>
        </p:nvPicPr>
        <p:blipFill rotWithShape="1">
          <a:blip r:embed="rId4">
            <a:alphaModFix/>
          </a:blip>
          <a:srcRect b="17797" l="8578" r="7809" t="10120"/>
          <a:stretch/>
        </p:blipFill>
        <p:spPr>
          <a:xfrm flipH="1">
            <a:off x="101151" y="1372641"/>
            <a:ext cx="1119468" cy="963549"/>
          </a:xfrm>
          <a:prstGeom prst="rect">
            <a:avLst/>
          </a:prstGeom>
          <a:noFill/>
          <a:ln>
            <a:noFill/>
          </a:ln>
        </p:spPr>
      </p:pic>
      <p:pic>
        <p:nvPicPr>
          <p:cNvPr id="593" name="Google Shape;593;p51"/>
          <p:cNvPicPr preferRelativeResize="0"/>
          <p:nvPr/>
        </p:nvPicPr>
        <p:blipFill rotWithShape="1">
          <a:blip r:embed="rId5">
            <a:alphaModFix/>
          </a:blip>
          <a:srcRect b="0" l="24927" r="39035" t="43738"/>
          <a:stretch/>
        </p:blipFill>
        <p:spPr>
          <a:xfrm>
            <a:off x="1959155" y="1565251"/>
            <a:ext cx="829954" cy="751188"/>
          </a:xfrm>
          <a:prstGeom prst="rect">
            <a:avLst/>
          </a:prstGeom>
          <a:noFill/>
          <a:ln>
            <a:noFill/>
          </a:ln>
        </p:spPr>
      </p:pic>
      <p:sp>
        <p:nvSpPr>
          <p:cNvPr id="594" name="Google Shape;594;p51"/>
          <p:cNvSpPr txBox="1"/>
          <p:nvPr/>
        </p:nvSpPr>
        <p:spPr>
          <a:xfrm>
            <a:off x="1803994" y="1276562"/>
            <a:ext cx="1175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waveform</a:t>
            </a:r>
            <a:endParaRPr b="0" i="0" sz="1200" u="none" cap="none" strike="noStrike">
              <a:solidFill>
                <a:schemeClr val="dk1"/>
              </a:solidFill>
              <a:latin typeface="Twentieth Century"/>
              <a:ea typeface="Twentieth Century"/>
              <a:cs typeface="Twentieth Century"/>
              <a:sym typeface="Twentieth Century"/>
            </a:endParaRPr>
          </a:p>
        </p:txBody>
      </p:sp>
      <p:sp>
        <p:nvSpPr>
          <p:cNvPr id="595" name="Google Shape;595;p51"/>
          <p:cNvSpPr txBox="1"/>
          <p:nvPr/>
        </p:nvSpPr>
        <p:spPr>
          <a:xfrm>
            <a:off x="575035" y="1276562"/>
            <a:ext cx="1175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sound waves</a:t>
            </a:r>
            <a:endParaRPr b="0" i="0" sz="1200" u="none" cap="none" strike="noStrike">
              <a:solidFill>
                <a:schemeClr val="dk1"/>
              </a:solidFill>
              <a:latin typeface="Twentieth Century"/>
              <a:ea typeface="Twentieth Century"/>
              <a:cs typeface="Twentieth Century"/>
              <a:sym typeface="Twentieth Century"/>
            </a:endParaRPr>
          </a:p>
        </p:txBody>
      </p:sp>
      <p:sp>
        <p:nvSpPr>
          <p:cNvPr id="596" name="Google Shape;596;p51"/>
          <p:cNvSpPr txBox="1"/>
          <p:nvPr/>
        </p:nvSpPr>
        <p:spPr>
          <a:xfrm>
            <a:off x="7568851" y="1515875"/>
            <a:ext cx="1341900" cy="677100"/>
          </a:xfrm>
          <a:prstGeom prst="rect">
            <a:avLst/>
          </a:prstGeom>
          <a:solidFill>
            <a:srgbClr val="741B47"/>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FFFFFF"/>
              </a:buClr>
              <a:buSzPts val="1600"/>
              <a:buFont typeface="Twentieth Century"/>
              <a:buNone/>
            </a:pPr>
            <a:r>
              <a:rPr b="1" i="1" lang="en" sz="1600" u="none" cap="none" strike="noStrike">
                <a:solidFill>
                  <a:srgbClr val="FFFFFF"/>
                </a:solidFill>
                <a:latin typeface="Twentieth Century"/>
                <a:ea typeface="Twentieth Century"/>
                <a:cs typeface="Twentieth Century"/>
                <a:sym typeface="Twentieth Century"/>
              </a:rPr>
              <a:t>unforgettable sight</a:t>
            </a:r>
            <a:endParaRPr b="1" i="1" sz="1600" u="none" cap="none" strike="noStrike">
              <a:solidFill>
                <a:srgbClr val="FFFFFF"/>
              </a:solidFill>
              <a:latin typeface="Twentieth Century"/>
              <a:ea typeface="Twentieth Century"/>
              <a:cs typeface="Twentieth Century"/>
              <a:sym typeface="Twentieth Century"/>
            </a:endParaRPr>
          </a:p>
        </p:txBody>
      </p:sp>
      <p:cxnSp>
        <p:nvCxnSpPr>
          <p:cNvPr id="597" name="Google Shape;597;p51"/>
          <p:cNvCxnSpPr/>
          <p:nvPr/>
        </p:nvCxnSpPr>
        <p:spPr>
          <a:xfrm>
            <a:off x="7221623" y="1781729"/>
            <a:ext cx="364800" cy="0"/>
          </a:xfrm>
          <a:prstGeom prst="straightConnector1">
            <a:avLst/>
          </a:prstGeom>
          <a:noFill/>
          <a:ln cap="flat" cmpd="sng" w="28575">
            <a:solidFill>
              <a:srgbClr val="980000"/>
            </a:solidFill>
            <a:prstDash val="solid"/>
            <a:round/>
            <a:headEnd len="sm" w="sm" type="none"/>
            <a:tailEnd len="med" w="med" type="triangle"/>
          </a:ln>
        </p:spPr>
      </p:cxnSp>
      <p:cxnSp>
        <p:nvCxnSpPr>
          <p:cNvPr id="598" name="Google Shape;598;p51"/>
          <p:cNvCxnSpPr/>
          <p:nvPr/>
        </p:nvCxnSpPr>
        <p:spPr>
          <a:xfrm>
            <a:off x="2826698" y="1854429"/>
            <a:ext cx="364800" cy="0"/>
          </a:xfrm>
          <a:prstGeom prst="straightConnector1">
            <a:avLst/>
          </a:prstGeom>
          <a:noFill/>
          <a:ln cap="flat" cmpd="sng" w="28575">
            <a:solidFill>
              <a:srgbClr val="980000"/>
            </a:solidFill>
            <a:prstDash val="solid"/>
            <a:round/>
            <a:headEnd len="sm" w="sm" type="none"/>
            <a:tailEnd len="med" w="med" type="triangle"/>
          </a:ln>
        </p:spPr>
      </p:cxnSp>
      <p:pic>
        <p:nvPicPr>
          <p:cNvPr id="599" name="Google Shape;599;p51"/>
          <p:cNvPicPr preferRelativeResize="0"/>
          <p:nvPr/>
        </p:nvPicPr>
        <p:blipFill rotWithShape="1">
          <a:blip r:embed="rId3">
            <a:alphaModFix/>
          </a:blip>
          <a:srcRect b="0" l="0" r="0" t="0"/>
          <a:stretch/>
        </p:blipFill>
        <p:spPr>
          <a:xfrm>
            <a:off x="846854" y="2887360"/>
            <a:ext cx="1591945" cy="1002565"/>
          </a:xfrm>
          <a:prstGeom prst="rect">
            <a:avLst/>
          </a:prstGeom>
          <a:noFill/>
          <a:ln>
            <a:noFill/>
          </a:ln>
        </p:spPr>
      </p:pic>
      <p:pic>
        <p:nvPicPr>
          <p:cNvPr id="600" name="Google Shape;600;p51"/>
          <p:cNvPicPr preferRelativeResize="0"/>
          <p:nvPr/>
        </p:nvPicPr>
        <p:blipFill rotWithShape="1">
          <a:blip r:embed="rId4">
            <a:alphaModFix/>
          </a:blip>
          <a:srcRect b="17797" l="8578" r="7809" t="10120"/>
          <a:stretch/>
        </p:blipFill>
        <p:spPr>
          <a:xfrm flipH="1">
            <a:off x="101151" y="2820441"/>
            <a:ext cx="1119468" cy="963549"/>
          </a:xfrm>
          <a:prstGeom prst="rect">
            <a:avLst/>
          </a:prstGeom>
          <a:noFill/>
          <a:ln>
            <a:noFill/>
          </a:ln>
        </p:spPr>
      </p:pic>
      <p:pic>
        <p:nvPicPr>
          <p:cNvPr id="601" name="Google Shape;601;p51"/>
          <p:cNvPicPr preferRelativeResize="0"/>
          <p:nvPr/>
        </p:nvPicPr>
        <p:blipFill rotWithShape="1">
          <a:blip r:embed="rId5">
            <a:alphaModFix/>
          </a:blip>
          <a:srcRect b="0" l="24927" r="39035" t="43738"/>
          <a:stretch/>
        </p:blipFill>
        <p:spPr>
          <a:xfrm>
            <a:off x="1959155" y="3013051"/>
            <a:ext cx="829954" cy="751188"/>
          </a:xfrm>
          <a:prstGeom prst="rect">
            <a:avLst/>
          </a:prstGeom>
          <a:noFill/>
          <a:ln>
            <a:noFill/>
          </a:ln>
        </p:spPr>
      </p:pic>
      <p:sp>
        <p:nvSpPr>
          <p:cNvPr id="602" name="Google Shape;602;p51"/>
          <p:cNvSpPr txBox="1"/>
          <p:nvPr/>
        </p:nvSpPr>
        <p:spPr>
          <a:xfrm>
            <a:off x="1803994" y="2724362"/>
            <a:ext cx="1175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waveform</a:t>
            </a:r>
            <a:endParaRPr b="0" i="0" sz="1200" u="none" cap="none" strike="noStrike">
              <a:solidFill>
                <a:schemeClr val="dk1"/>
              </a:solidFill>
              <a:latin typeface="Twentieth Century"/>
              <a:ea typeface="Twentieth Century"/>
              <a:cs typeface="Twentieth Century"/>
              <a:sym typeface="Twentieth Century"/>
            </a:endParaRPr>
          </a:p>
        </p:txBody>
      </p:sp>
      <p:sp>
        <p:nvSpPr>
          <p:cNvPr id="603" name="Google Shape;603;p51"/>
          <p:cNvSpPr txBox="1"/>
          <p:nvPr/>
        </p:nvSpPr>
        <p:spPr>
          <a:xfrm>
            <a:off x="575035" y="2724362"/>
            <a:ext cx="1175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sound waves</a:t>
            </a:r>
            <a:endParaRPr b="0" i="0" sz="1200" u="none" cap="none" strike="noStrike">
              <a:solidFill>
                <a:schemeClr val="dk1"/>
              </a:solidFill>
              <a:latin typeface="Twentieth Century"/>
              <a:ea typeface="Twentieth Century"/>
              <a:cs typeface="Twentieth Century"/>
              <a:sym typeface="Twentieth Century"/>
            </a:endParaRPr>
          </a:p>
        </p:txBody>
      </p:sp>
      <p:sp>
        <p:nvSpPr>
          <p:cNvPr id="604" name="Google Shape;604;p51"/>
          <p:cNvSpPr txBox="1"/>
          <p:nvPr/>
        </p:nvSpPr>
        <p:spPr>
          <a:xfrm>
            <a:off x="7552651" y="3050100"/>
            <a:ext cx="1341900" cy="677100"/>
          </a:xfrm>
          <a:prstGeom prst="rect">
            <a:avLst/>
          </a:prstGeom>
          <a:solidFill>
            <a:srgbClr val="741B47"/>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FFFFFF"/>
              </a:buClr>
              <a:buSzPts val="1600"/>
              <a:buFont typeface="Twentieth Century"/>
              <a:buNone/>
            </a:pPr>
            <a:r>
              <a:rPr b="1" i="1" lang="en" sz="1600" u="none" cap="none" strike="noStrike">
                <a:solidFill>
                  <a:srgbClr val="FFFFFF"/>
                </a:solidFill>
                <a:latin typeface="Twentieth Century"/>
                <a:ea typeface="Twentieth Century"/>
                <a:cs typeface="Twentieth Century"/>
                <a:sym typeface="Twentieth Century"/>
              </a:rPr>
              <a:t>unforgettable sight</a:t>
            </a:r>
            <a:endParaRPr b="1" i="1" sz="1600" u="none" cap="none" strike="noStrike">
              <a:solidFill>
                <a:srgbClr val="FFFFFF"/>
              </a:solidFill>
              <a:latin typeface="Twentieth Century"/>
              <a:ea typeface="Twentieth Century"/>
              <a:cs typeface="Twentieth Century"/>
              <a:sym typeface="Twentieth Century"/>
            </a:endParaRPr>
          </a:p>
        </p:txBody>
      </p:sp>
      <p:cxnSp>
        <p:nvCxnSpPr>
          <p:cNvPr id="605" name="Google Shape;605;p51"/>
          <p:cNvCxnSpPr/>
          <p:nvPr/>
        </p:nvCxnSpPr>
        <p:spPr>
          <a:xfrm>
            <a:off x="7205423" y="3315954"/>
            <a:ext cx="364800" cy="0"/>
          </a:xfrm>
          <a:prstGeom prst="straightConnector1">
            <a:avLst/>
          </a:prstGeom>
          <a:noFill/>
          <a:ln cap="flat" cmpd="sng" w="28575">
            <a:solidFill>
              <a:srgbClr val="980000"/>
            </a:solidFill>
            <a:prstDash val="solid"/>
            <a:round/>
            <a:headEnd len="sm" w="sm" type="none"/>
            <a:tailEnd len="med" w="med" type="triangle"/>
          </a:ln>
        </p:spPr>
      </p:cxnSp>
      <p:cxnSp>
        <p:nvCxnSpPr>
          <p:cNvPr id="606" name="Google Shape;606;p51"/>
          <p:cNvCxnSpPr/>
          <p:nvPr/>
        </p:nvCxnSpPr>
        <p:spPr>
          <a:xfrm>
            <a:off x="2826698" y="3302229"/>
            <a:ext cx="364800" cy="0"/>
          </a:xfrm>
          <a:prstGeom prst="straightConnector1">
            <a:avLst/>
          </a:prstGeom>
          <a:noFill/>
          <a:ln cap="flat" cmpd="sng" w="28575">
            <a:solidFill>
              <a:srgbClr val="980000"/>
            </a:solidFill>
            <a:prstDash val="solid"/>
            <a:round/>
            <a:headEnd len="sm" w="sm" type="none"/>
            <a:tailEnd len="med" w="med" type="triangle"/>
          </a:ln>
        </p:spPr>
      </p:cxnSp>
      <p:pic>
        <p:nvPicPr>
          <p:cNvPr id="607" name="Google Shape;607;p51"/>
          <p:cNvPicPr preferRelativeResize="0"/>
          <p:nvPr/>
        </p:nvPicPr>
        <p:blipFill rotWithShape="1">
          <a:blip r:embed="rId6">
            <a:alphaModFix/>
          </a:blip>
          <a:srcRect b="0" l="23108" r="27046" t="0"/>
          <a:stretch/>
        </p:blipFill>
        <p:spPr>
          <a:xfrm>
            <a:off x="3229100" y="983399"/>
            <a:ext cx="4000501" cy="1470025"/>
          </a:xfrm>
          <a:prstGeom prst="rect">
            <a:avLst/>
          </a:prstGeom>
          <a:noFill/>
          <a:ln>
            <a:noFill/>
          </a:ln>
        </p:spPr>
      </p:pic>
      <p:pic>
        <p:nvPicPr>
          <p:cNvPr id="608" name="Google Shape;608;p51"/>
          <p:cNvPicPr preferRelativeResize="0"/>
          <p:nvPr/>
        </p:nvPicPr>
        <p:blipFill rotWithShape="1">
          <a:blip r:embed="rId7">
            <a:alphaModFix/>
          </a:blip>
          <a:srcRect b="0" l="1351" r="0" t="12033"/>
          <a:stretch/>
        </p:blipFill>
        <p:spPr>
          <a:xfrm>
            <a:off x="3283000" y="2860325"/>
            <a:ext cx="3946600" cy="9635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52"/>
          <p:cNvSpPr txBox="1"/>
          <p:nvPr>
            <p:ph type="title"/>
          </p:nvPr>
        </p:nvSpPr>
        <p:spPr>
          <a:xfrm>
            <a:off x="207775" y="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chemeClr val="dk1"/>
              </a:buClr>
              <a:buSzPct val="111109"/>
              <a:buFont typeface="Twentieth Century"/>
              <a:buNone/>
            </a:pPr>
            <a:r>
              <a:rPr lang="en"/>
              <a:t>OPTIONAL VIDEO SUMMARY OF THE AUDIO ABSTRACTION PIPELINE</a:t>
            </a:r>
            <a:endParaRPr/>
          </a:p>
        </p:txBody>
      </p:sp>
      <p:sp>
        <p:nvSpPr>
          <p:cNvPr id="614" name="Google Shape;614;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15" name="Google Shape;615;p52"/>
          <p:cNvSpPr txBox="1"/>
          <p:nvPr/>
        </p:nvSpPr>
        <p:spPr>
          <a:xfrm>
            <a:off x="1130850" y="4446725"/>
            <a:ext cx="73416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hlink"/>
              </a:buClr>
              <a:buSzPts val="1800"/>
              <a:buFont typeface="Twentieth Century"/>
              <a:buNone/>
            </a:pPr>
            <a:r>
              <a:rPr lang="en" sz="1800" u="sng">
                <a:solidFill>
                  <a:schemeClr val="hlink"/>
                </a:solidFill>
                <a:latin typeface="Twentieth Century"/>
                <a:ea typeface="Twentieth Century"/>
                <a:cs typeface="Twentieth Century"/>
                <a:sym typeface="Twentieth Century"/>
                <a:hlinkClick r:id="rId3"/>
              </a:rPr>
              <a:t>https://youtu.be/uSNUmJffK4c?si=NqHPMVY5bX2EavL6 </a:t>
            </a:r>
            <a:r>
              <a:rPr b="0" i="0" lang="en" sz="1800" u="none" cap="none" strike="noStrike">
                <a:solidFill>
                  <a:schemeClr val="dk1"/>
                </a:solidFill>
                <a:latin typeface="Twentieth Century"/>
                <a:ea typeface="Twentieth Century"/>
                <a:cs typeface="Twentieth Century"/>
                <a:sym typeface="Twentieth Century"/>
              </a:rPr>
              <a:t> (</a:t>
            </a:r>
            <a:r>
              <a:rPr lang="en" sz="1800">
                <a:solidFill>
                  <a:schemeClr val="dk1"/>
                </a:solidFill>
                <a:latin typeface="Twentieth Century"/>
                <a:ea typeface="Twentieth Century"/>
                <a:cs typeface="Twentieth Century"/>
                <a:sym typeface="Twentieth Century"/>
              </a:rPr>
              <a:t>2:18 </a:t>
            </a:r>
            <a:r>
              <a:rPr b="0" i="0" lang="en" sz="1800" u="none" cap="none" strike="noStrike">
                <a:solidFill>
                  <a:schemeClr val="dk1"/>
                </a:solidFill>
                <a:latin typeface="Twentieth Century"/>
                <a:ea typeface="Twentieth Century"/>
                <a:cs typeface="Twentieth Century"/>
                <a:sym typeface="Twentieth Century"/>
              </a:rPr>
              <a:t>mins)</a:t>
            </a:r>
            <a:endParaRPr b="0" i="0" sz="1800" u="none" cap="none" strike="noStrike">
              <a:solidFill>
                <a:schemeClr val="dk1"/>
              </a:solidFill>
              <a:latin typeface="Twentieth Century"/>
              <a:ea typeface="Twentieth Century"/>
              <a:cs typeface="Twentieth Century"/>
              <a:sym typeface="Twentieth Century"/>
            </a:endParaRPr>
          </a:p>
        </p:txBody>
      </p:sp>
      <p:pic>
        <p:nvPicPr>
          <p:cNvPr descr="What is Speech Recognition? Watch this 2-min. video to learn what it is, how exactly it works, and what it can do for you." id="616" name="Google Shape;616;p52" title="What is Speech Recognition?">
            <a:hlinkClick r:id="rId4"/>
          </p:cNvPr>
          <p:cNvPicPr preferRelativeResize="0"/>
          <p:nvPr/>
        </p:nvPicPr>
        <p:blipFill>
          <a:blip r:embed="rId5">
            <a:alphaModFix/>
          </a:blip>
          <a:stretch>
            <a:fillRect/>
          </a:stretch>
        </p:blipFill>
        <p:spPr>
          <a:xfrm>
            <a:off x="1606350" y="1017725"/>
            <a:ext cx="6209955" cy="3493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1000"/>
                                        <p:tgtEl>
                                          <p:spTgt spid="6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5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90000"/>
              </a:lnSpc>
              <a:spcBef>
                <a:spcPts val="0"/>
              </a:spcBef>
              <a:spcAft>
                <a:spcPts val="0"/>
              </a:spcAft>
              <a:buClr>
                <a:schemeClr val="dk1"/>
              </a:buClr>
              <a:buSzPct val="111111"/>
              <a:buFont typeface="Twentieth Century"/>
              <a:buNone/>
            </a:pPr>
            <a:r>
              <a:rPr lang="en"/>
              <a:t>HOW DO COMPUTERS RESOLVE AMBIGUITIES IN SPEECH?</a:t>
            </a:r>
            <a:endParaRPr/>
          </a:p>
        </p:txBody>
      </p:sp>
      <p:sp>
        <p:nvSpPr>
          <p:cNvPr id="622" name="Google Shape;622;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23" name="Google Shape;623;p53"/>
          <p:cNvSpPr/>
          <p:nvPr/>
        </p:nvSpPr>
        <p:spPr>
          <a:xfrm rot="-538435">
            <a:off x="556443" y="719108"/>
            <a:ext cx="3477264" cy="1127438"/>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400"/>
              <a:buFont typeface="Twentieth Century"/>
              <a:buNone/>
            </a:pPr>
            <a:r>
              <a:rPr b="0" i="0" lang="en" sz="2400" u="none" cap="none" strike="noStrike">
                <a:solidFill>
                  <a:schemeClr val="dk1"/>
                </a:solidFill>
                <a:latin typeface="Twentieth Century"/>
                <a:ea typeface="Twentieth Century"/>
                <a:cs typeface="Twentieth Century"/>
                <a:sym typeface="Twentieth Century"/>
              </a:rPr>
              <a:t>Fact: </a:t>
            </a:r>
            <a:br>
              <a:rPr b="0" i="0" lang="en" sz="2400" u="none" cap="none" strike="noStrike">
                <a:solidFill>
                  <a:schemeClr val="dk1"/>
                </a:solidFill>
                <a:latin typeface="Twentieth Century"/>
                <a:ea typeface="Twentieth Century"/>
                <a:cs typeface="Twentieth Century"/>
                <a:sym typeface="Twentieth Century"/>
              </a:rPr>
            </a:br>
            <a:r>
              <a:rPr b="0" i="0" lang="en" sz="2400" u="none" cap="none" strike="noStrike">
                <a:solidFill>
                  <a:schemeClr val="dk1"/>
                </a:solidFill>
                <a:latin typeface="Twentieth Century"/>
                <a:ea typeface="Twentieth Century"/>
                <a:cs typeface="Twentieth Century"/>
                <a:sym typeface="Twentieth Century"/>
              </a:rPr>
              <a:t>Speech is ambiguous</a:t>
            </a:r>
            <a:endParaRPr b="0" i="0" sz="1000" u="none" cap="none" strike="noStrike">
              <a:solidFill>
                <a:schemeClr val="dk1"/>
              </a:solidFill>
              <a:latin typeface="Twentieth Century"/>
              <a:ea typeface="Twentieth Century"/>
              <a:cs typeface="Twentieth Century"/>
              <a:sym typeface="Twentieth Century"/>
            </a:endParaRPr>
          </a:p>
        </p:txBody>
      </p:sp>
      <p:pic>
        <p:nvPicPr>
          <p:cNvPr descr="Text&#10;&#10;Description automatically generated" id="624" name="Google Shape;624;p53"/>
          <p:cNvPicPr preferRelativeResize="0"/>
          <p:nvPr/>
        </p:nvPicPr>
        <p:blipFill rotWithShape="1">
          <a:blip r:embed="rId3">
            <a:alphaModFix/>
          </a:blip>
          <a:srcRect b="0" l="0" r="0" t="0"/>
          <a:stretch/>
        </p:blipFill>
        <p:spPr>
          <a:xfrm>
            <a:off x="6037062" y="3153675"/>
            <a:ext cx="2709746" cy="180649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54"/>
          <p:cNvSpPr txBox="1"/>
          <p:nvPr>
            <p:ph type="title"/>
          </p:nvPr>
        </p:nvSpPr>
        <p:spPr>
          <a:xfrm>
            <a:off x="311700" y="4616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chemeClr val="dk1"/>
              </a:buClr>
              <a:buSzPct val="100000"/>
              <a:buFont typeface="Twentieth Century"/>
              <a:buNone/>
            </a:pPr>
            <a:r>
              <a:rPr lang="en"/>
              <a:t>GOOGLE SPEECH API: REVEALING THE AMBIGUITY</a:t>
            </a:r>
            <a:endParaRPr/>
          </a:p>
        </p:txBody>
      </p:sp>
      <p:sp>
        <p:nvSpPr>
          <p:cNvPr id="630" name="Google Shape;630;p54"/>
          <p:cNvSpPr txBox="1"/>
          <p:nvPr>
            <p:ph idx="1" type="body"/>
          </p:nvPr>
        </p:nvSpPr>
        <p:spPr>
          <a:xfrm>
            <a:off x="311700" y="1152475"/>
            <a:ext cx="4565400" cy="3416400"/>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1200"/>
              </a:spcAft>
              <a:buSzPts val="1800"/>
              <a:buNone/>
            </a:pPr>
            <a:r>
              <a:rPr lang="en" sz="1400" u="sng">
                <a:solidFill>
                  <a:schemeClr val="hlink"/>
                </a:solidFill>
                <a:hlinkClick r:id="rId3"/>
              </a:rPr>
              <a:t>HTTPS://WWW.CS.CMU.EDU/~DST/SPEECHDEMO</a:t>
            </a:r>
            <a:endParaRPr sz="1400"/>
          </a:p>
        </p:txBody>
      </p:sp>
      <p:sp>
        <p:nvSpPr>
          <p:cNvPr id="631" name="Google Shape;631;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632" name="Google Shape;632;p54"/>
          <p:cNvPicPr preferRelativeResize="0"/>
          <p:nvPr/>
        </p:nvPicPr>
        <p:blipFill rotWithShape="1">
          <a:blip r:embed="rId4">
            <a:alphaModFix/>
          </a:blip>
          <a:srcRect b="0" l="0" r="0" t="0"/>
          <a:stretch/>
        </p:blipFill>
        <p:spPr>
          <a:xfrm>
            <a:off x="403251" y="1576751"/>
            <a:ext cx="4565460" cy="3416400"/>
          </a:xfrm>
          <a:prstGeom prst="rect">
            <a:avLst/>
          </a:prstGeom>
          <a:noFill/>
          <a:ln>
            <a:noFill/>
          </a:ln>
        </p:spPr>
      </p:pic>
      <p:sp>
        <p:nvSpPr>
          <p:cNvPr id="633" name="Google Shape;633;p54"/>
          <p:cNvSpPr txBox="1"/>
          <p:nvPr/>
        </p:nvSpPr>
        <p:spPr>
          <a:xfrm>
            <a:off x="5377500" y="1617725"/>
            <a:ext cx="3204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634" name="Google Shape;634;p54"/>
          <p:cNvSpPr txBox="1"/>
          <p:nvPr/>
        </p:nvSpPr>
        <p:spPr>
          <a:xfrm>
            <a:off x="5637000" y="1294268"/>
            <a:ext cx="35070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Twentieth Century"/>
              <a:buNone/>
            </a:pPr>
            <a:r>
              <a:rPr b="1" i="0" lang="en" sz="1800" u="none" cap="none" strike="noStrike">
                <a:solidFill>
                  <a:schemeClr val="dk1"/>
                </a:solidFill>
                <a:latin typeface="Twentieth Century"/>
                <a:ea typeface="Twentieth Century"/>
                <a:cs typeface="Twentieth Century"/>
                <a:sym typeface="Twentieth Century"/>
              </a:rPr>
              <a:t>Try this Demo &amp; </a:t>
            </a:r>
            <a:r>
              <a:rPr b="1" i="0" lang="en" sz="1800" u="sng" cap="none" strike="noStrike">
                <a:solidFill>
                  <a:schemeClr val="hlink"/>
                </a:solidFill>
                <a:latin typeface="Twentieth Century"/>
                <a:ea typeface="Twentieth Century"/>
                <a:cs typeface="Twentieth Century"/>
                <a:sym typeface="Twentieth Century"/>
                <a:hlinkClick r:id="rId5"/>
              </a:rPr>
              <a:t>Tutorial</a:t>
            </a:r>
            <a:r>
              <a:rPr b="1" i="0" lang="en" sz="1800" u="none" cap="none" strike="noStrike">
                <a:solidFill>
                  <a:schemeClr val="dk1"/>
                </a:solidFill>
                <a:latin typeface="Twentieth Century"/>
                <a:ea typeface="Twentieth Century"/>
                <a:cs typeface="Twentieth Century"/>
                <a:sym typeface="Twentieth Century"/>
              </a:rPr>
              <a:t>:</a:t>
            </a:r>
            <a:endParaRPr b="1"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What do you observe about how this demo works?</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pic>
        <p:nvPicPr>
          <p:cNvPr descr="A picture containing text, indoor&#10;&#10;Description automatically generated" id="635" name="Google Shape;635;p54"/>
          <p:cNvPicPr preferRelativeResize="0"/>
          <p:nvPr/>
        </p:nvPicPr>
        <p:blipFill rotWithShape="1">
          <a:blip r:embed="rId6">
            <a:alphaModFix/>
          </a:blip>
          <a:srcRect b="0" l="0" r="0" t="0"/>
          <a:stretch/>
        </p:blipFill>
        <p:spPr>
          <a:xfrm>
            <a:off x="5588500" y="2879825"/>
            <a:ext cx="2993900" cy="199593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dk1"/>
              </a:buClr>
              <a:buSzPts val="2800"/>
              <a:buFont typeface="Twentieth Century"/>
              <a:buNone/>
            </a:pPr>
            <a:r>
              <a:rPr lang="en"/>
              <a:t>SPEECH IS AMBIGUOUS</a:t>
            </a:r>
            <a:endParaRPr/>
          </a:p>
        </p:txBody>
      </p:sp>
      <p:sp>
        <p:nvSpPr>
          <p:cNvPr id="641" name="Google Shape;641;p55"/>
          <p:cNvSpPr txBox="1"/>
          <p:nvPr>
            <p:ph idx="1" type="body"/>
          </p:nvPr>
        </p:nvSpPr>
        <p:spPr>
          <a:xfrm>
            <a:off x="311700" y="1152475"/>
            <a:ext cx="6065575" cy="34164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20000"/>
              </a:lnSpc>
              <a:spcBef>
                <a:spcPts val="0"/>
              </a:spcBef>
              <a:spcAft>
                <a:spcPts val="0"/>
              </a:spcAft>
              <a:buSzPct val="108107"/>
              <a:buNone/>
            </a:pPr>
            <a:r>
              <a:rPr lang="en"/>
              <a:t>THE FOLLOWING PHRASES SOUND THE SAME:</a:t>
            </a:r>
            <a:endParaRPr/>
          </a:p>
          <a:p>
            <a:pPr indent="-324364" lvl="0" marL="457200" rtl="0" algn="l">
              <a:lnSpc>
                <a:spcPct val="120000"/>
              </a:lnSpc>
              <a:spcBef>
                <a:spcPts val="1200"/>
              </a:spcBef>
              <a:spcAft>
                <a:spcPts val="0"/>
              </a:spcAft>
              <a:buSzPct val="108107"/>
              <a:buChar char="●"/>
            </a:pPr>
            <a:r>
              <a:rPr i="1" lang="en"/>
              <a:t>“how to recognize speech”</a:t>
            </a:r>
            <a:endParaRPr i="1"/>
          </a:p>
          <a:p>
            <a:pPr indent="-324364" lvl="0" marL="457200" rtl="0" algn="l">
              <a:lnSpc>
                <a:spcPct val="120000"/>
              </a:lnSpc>
              <a:spcBef>
                <a:spcPts val="0"/>
              </a:spcBef>
              <a:spcAft>
                <a:spcPts val="0"/>
              </a:spcAft>
              <a:buSzPct val="108107"/>
              <a:buChar char="●"/>
            </a:pPr>
            <a:r>
              <a:rPr i="1" lang="en"/>
              <a:t>“how to wreck a nice beach”</a:t>
            </a:r>
            <a:endParaRPr/>
          </a:p>
          <a:p>
            <a:pPr indent="0" lvl="0" marL="0" rtl="0" algn="l">
              <a:lnSpc>
                <a:spcPct val="120000"/>
              </a:lnSpc>
              <a:spcBef>
                <a:spcPts val="1200"/>
              </a:spcBef>
              <a:spcAft>
                <a:spcPts val="0"/>
              </a:spcAft>
              <a:buSzPct val="108107"/>
              <a:buNone/>
            </a:pPr>
            <a:r>
              <a:rPr lang="en"/>
              <a:t>HOW DO WE COPE WITH AMBIGUITY?</a:t>
            </a:r>
            <a:endParaRPr/>
          </a:p>
          <a:p>
            <a:pPr indent="-324364" lvl="0" marL="457200" rtl="0" algn="l">
              <a:lnSpc>
                <a:spcPct val="120000"/>
              </a:lnSpc>
              <a:spcBef>
                <a:spcPts val="1200"/>
              </a:spcBef>
              <a:spcAft>
                <a:spcPts val="0"/>
              </a:spcAft>
              <a:buSzPct val="108107"/>
              <a:buAutoNum type="arabicParenR"/>
            </a:pPr>
            <a:r>
              <a:rPr lang="en"/>
              <a:t>MULTIPLE SOURCES OF CONSTRAINT: PHONOLOGY, MORPHOLOGY, SYNTAX, SEMANTICS</a:t>
            </a:r>
            <a:endParaRPr/>
          </a:p>
          <a:p>
            <a:pPr indent="-324364" lvl="0" marL="457200" rtl="0" algn="l">
              <a:lnSpc>
                <a:spcPct val="120000"/>
              </a:lnSpc>
              <a:spcBef>
                <a:spcPts val="0"/>
              </a:spcBef>
              <a:spcAft>
                <a:spcPts val="0"/>
              </a:spcAft>
              <a:buSzPct val="108108"/>
              <a:buAutoNum type="arabicParenR"/>
            </a:pPr>
            <a:r>
              <a:rPr lang="en"/>
              <a:t>STATISTICAL KNOWLEDGE ABOUT WORD SEQUENCES GAINED FROM HUGE CORPORA</a:t>
            </a:r>
            <a:endParaRPr/>
          </a:p>
          <a:p>
            <a:pPr indent="0" lvl="0" marL="114300" rtl="0" algn="l">
              <a:lnSpc>
                <a:spcPct val="120000"/>
              </a:lnSpc>
              <a:spcBef>
                <a:spcPts val="0"/>
              </a:spcBef>
              <a:spcAft>
                <a:spcPts val="0"/>
              </a:spcAft>
              <a:buSzPct val="108108"/>
              <a:buNone/>
            </a:pPr>
            <a:r>
              <a:t/>
            </a:r>
            <a:endParaRPr/>
          </a:p>
          <a:p>
            <a:pPr indent="0" lvl="0" marL="114300" rtl="0" algn="l">
              <a:lnSpc>
                <a:spcPct val="120000"/>
              </a:lnSpc>
              <a:spcBef>
                <a:spcPts val="0"/>
              </a:spcBef>
              <a:spcAft>
                <a:spcPts val="0"/>
              </a:spcAft>
              <a:buSzPct val="108107"/>
              <a:buNone/>
            </a:pPr>
            <a:r>
              <a:rPr lang="en"/>
              <a:t>**EXAMPLES OF HOMOPHONES</a:t>
            </a:r>
            <a:endParaRPr/>
          </a:p>
          <a:p>
            <a:pPr indent="0" lvl="0" marL="114300" rtl="0" algn="l">
              <a:lnSpc>
                <a:spcPct val="120000"/>
              </a:lnSpc>
              <a:spcBef>
                <a:spcPts val="0"/>
              </a:spcBef>
              <a:spcAft>
                <a:spcPts val="0"/>
              </a:spcAft>
              <a:buSzPct val="108107"/>
              <a:buNone/>
            </a:pPr>
            <a:r>
              <a:t/>
            </a:r>
            <a:endParaRPr/>
          </a:p>
          <a:p>
            <a:pPr indent="0" lvl="0" marL="114300" rtl="0" algn="l">
              <a:lnSpc>
                <a:spcPct val="120000"/>
              </a:lnSpc>
              <a:spcBef>
                <a:spcPts val="0"/>
              </a:spcBef>
              <a:spcAft>
                <a:spcPts val="0"/>
              </a:spcAft>
              <a:buSzPct val="108107"/>
              <a:buNone/>
            </a:pPr>
            <a:r>
              <a:t/>
            </a:r>
            <a:endParaRPr/>
          </a:p>
        </p:txBody>
      </p:sp>
      <p:sp>
        <p:nvSpPr>
          <p:cNvPr id="642" name="Google Shape;64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43" name="Google Shape;643;p55"/>
          <p:cNvSpPr txBox="1"/>
          <p:nvPr/>
        </p:nvSpPr>
        <p:spPr>
          <a:xfrm>
            <a:off x="6377275" y="241725"/>
            <a:ext cx="2384100" cy="997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A </a:t>
            </a:r>
            <a:r>
              <a:rPr b="0" i="0" lang="en" sz="1600" u="none" cap="none" strike="noStrike">
                <a:solidFill>
                  <a:srgbClr val="FF0000"/>
                </a:solidFill>
                <a:latin typeface="Permanent Marker"/>
                <a:ea typeface="Permanent Marker"/>
                <a:cs typeface="Permanent Marker"/>
                <a:sym typeface="Permanent Marker"/>
              </a:rPr>
              <a:t>corpus </a:t>
            </a:r>
            <a:r>
              <a:rPr b="0" i="1" lang="en" sz="1600" u="none" cap="none" strike="noStrike">
                <a:solidFill>
                  <a:schemeClr val="dk1"/>
                </a:solidFill>
                <a:latin typeface="Twentieth Century"/>
                <a:ea typeface="Twentieth Century"/>
                <a:cs typeface="Twentieth Century"/>
                <a:sym typeface="Twentieth Century"/>
              </a:rPr>
              <a:t>(pl. corpora)</a:t>
            </a:r>
            <a:r>
              <a:rPr b="0" i="0" lang="en" sz="1600" u="none" cap="none" strike="noStrike">
                <a:solidFill>
                  <a:srgbClr val="FF0000"/>
                </a:solidFill>
                <a:latin typeface="Permanent Marker"/>
                <a:ea typeface="Permanent Marker"/>
                <a:cs typeface="Permanent Marker"/>
                <a:sym typeface="Permanent Marker"/>
              </a:rPr>
              <a:t> </a:t>
            </a:r>
            <a:r>
              <a:rPr b="0" i="0" lang="en" sz="1600" u="none" cap="none" strike="noStrike">
                <a:solidFill>
                  <a:schemeClr val="dk1"/>
                </a:solidFill>
                <a:latin typeface="Twentieth Century"/>
                <a:ea typeface="Twentieth Century"/>
                <a:cs typeface="Twentieth Century"/>
                <a:sym typeface="Twentieth Century"/>
              </a:rPr>
              <a:t>is a collection of spoken or written text. </a:t>
            </a:r>
            <a:endParaRPr b="0" i="0" sz="1200" u="none" cap="none" strike="noStrike">
              <a:solidFill>
                <a:schemeClr val="dk1"/>
              </a:solidFill>
              <a:latin typeface="Twentieth Century"/>
              <a:ea typeface="Twentieth Century"/>
              <a:cs typeface="Twentieth Century"/>
              <a:sym typeface="Twentieth Century"/>
            </a:endParaRPr>
          </a:p>
        </p:txBody>
      </p:sp>
      <p:sp>
        <p:nvSpPr>
          <p:cNvPr id="644" name="Google Shape;644;p55"/>
          <p:cNvSpPr txBox="1"/>
          <p:nvPr/>
        </p:nvSpPr>
        <p:spPr>
          <a:xfrm>
            <a:off x="560253" y="4307270"/>
            <a:ext cx="7293000" cy="2616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3D5C82"/>
              </a:buClr>
              <a:buSzPts val="1100"/>
              <a:buFont typeface="Arial"/>
              <a:buChar char="•"/>
            </a:pPr>
            <a:r>
              <a:rPr b="0" i="0" lang="en" sz="1100" u="sng" cap="none" strike="noStrike">
                <a:solidFill>
                  <a:srgbClr val="3D5C82"/>
                </a:solidFill>
                <a:latin typeface="Roboto"/>
                <a:ea typeface="Roboto"/>
                <a:cs typeface="Roboto"/>
                <a:sym typeface="Roboto"/>
                <a:hlinkClick r:id="rId3">
                  <a:extLst>
                    <a:ext uri="{A12FA001-AC4F-418D-AE19-62706E023703}">
                      <ahyp:hlinkClr val="tx"/>
                    </a:ext>
                  </a:extLst>
                </a:hlinkClick>
              </a:rPr>
              <a:t>https://i.pinimg</a:t>
            </a:r>
            <a:r>
              <a:rPr b="0" i="0" lang="en" sz="1100" u="sng" cap="none" strike="noStrike">
                <a:solidFill>
                  <a:srgbClr val="3D5C82"/>
                </a:solidFill>
                <a:latin typeface="Roboto"/>
                <a:ea typeface="Roboto"/>
                <a:cs typeface="Roboto"/>
                <a:sym typeface="Roboto"/>
                <a:hlinkClick r:id="rId4">
                  <a:extLst>
                    <a:ext uri="{A12FA001-AC4F-418D-AE19-62706E023703}">
                      <ahyp:hlinkClr val="tx"/>
                    </a:ext>
                  </a:extLst>
                </a:hlinkClick>
              </a:rPr>
              <a:t>.com/originals/00/57/eb/0057eb7ebba044b1faec62f46eae1462.jpg</a:t>
            </a:r>
            <a:endParaRPr b="0" i="0" sz="1800" u="none" cap="none" strike="noStrike">
              <a:solidFill>
                <a:srgbClr val="3D5C82"/>
              </a:solidFill>
              <a:latin typeface="Twentieth Century"/>
              <a:ea typeface="Twentieth Century"/>
              <a:cs typeface="Twentieth Century"/>
              <a:sym typeface="Twentieth Century"/>
            </a:endParaRPr>
          </a:p>
        </p:txBody>
      </p:sp>
      <p:sp>
        <p:nvSpPr>
          <p:cNvPr id="645" name="Google Shape;645;p55"/>
          <p:cNvSpPr txBox="1"/>
          <p:nvPr/>
        </p:nvSpPr>
        <p:spPr>
          <a:xfrm>
            <a:off x="567525" y="4081378"/>
            <a:ext cx="5451600" cy="5388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3D5C82"/>
              </a:buClr>
              <a:buSzPts val="1100"/>
              <a:buFont typeface="Arial"/>
              <a:buChar char="•"/>
            </a:pPr>
            <a:r>
              <a:rPr b="0" i="0" lang="en" sz="1100" u="sng" cap="none" strike="noStrike">
                <a:solidFill>
                  <a:srgbClr val="3D5C82"/>
                </a:solidFill>
                <a:latin typeface="Roboto"/>
                <a:ea typeface="Roboto"/>
                <a:cs typeface="Roboto"/>
                <a:sym typeface="Roboto"/>
                <a:hlinkClick r:id="rId5">
                  <a:extLst>
                    <a:ext uri="{A12FA001-AC4F-418D-AE19-62706E023703}">
                      <ahyp:hlinkClr val="tx"/>
                    </a:ext>
                  </a:extLst>
                </a:hlinkClick>
              </a:rPr>
              <a:t>https://i.pinimg.com/474x/38/9a/ee/389aeee6471d961267acef6b4e80cc6d.jpg</a:t>
            </a:r>
            <a:endParaRPr b="0" i="0" sz="1100" u="none" cap="none" strike="noStrike">
              <a:solidFill>
                <a:srgbClr val="3D5C82"/>
              </a:solidFill>
              <a:latin typeface="Roboto"/>
              <a:ea typeface="Roboto"/>
              <a:cs typeface="Roboto"/>
              <a:sym typeface="Roboto"/>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pic>
        <p:nvPicPr>
          <p:cNvPr descr="A person standing in front of a whiteboard&#10;&#10;Description automatically generated" id="646" name="Google Shape;646;p55"/>
          <p:cNvPicPr preferRelativeResize="0"/>
          <p:nvPr/>
        </p:nvPicPr>
        <p:blipFill rotWithShape="1">
          <a:blip r:embed="rId6">
            <a:alphaModFix/>
          </a:blip>
          <a:srcRect b="0" l="0" r="0" t="0"/>
          <a:stretch/>
        </p:blipFill>
        <p:spPr>
          <a:xfrm>
            <a:off x="6496679" y="1301430"/>
            <a:ext cx="2264695" cy="339704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