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embeddedFontLst>
    <p:embeddedFont>
      <p:font typeface="Permanent Marker"/>
      <p:regular r:id="rId47"/>
    </p:embeddedFont>
    <p:embeddedFont>
      <p:font typeface="Helvetica Neue"/>
      <p:regular r:id="rId48"/>
      <p:bold r:id="rId49"/>
      <p:italic r:id="rId50"/>
      <p:boldItalic r:id="rId51"/>
    </p:embeddedFont>
    <p:embeddedFont>
      <p:font typeface="Merriweather"/>
      <p:regular r:id="rId52"/>
      <p:bold r:id="rId53"/>
      <p:italic r:id="rId54"/>
      <p:boldItalic r:id="rId55"/>
    </p:embeddedFont>
    <p:embeddedFont>
      <p:font typeface="Alfa Slab One"/>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4EF0E8-2E44-4BD7-9BCF-83D9B6E10316}">
  <a:tblStyle styleId="{C04EF0E8-2E44-4BD7-9BCF-83D9B6E103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HelveticaNeue-regular.fntdata"/><Relationship Id="rId47" Type="http://schemas.openxmlformats.org/officeDocument/2006/relationships/font" Target="fonts/PermanentMarker-regular.fntdata"/><Relationship Id="rId49" Type="http://schemas.openxmlformats.org/officeDocument/2006/relationships/font" Target="fonts/HelveticaNeu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boldItalic.fntdata"/><Relationship Id="rId50" Type="http://schemas.openxmlformats.org/officeDocument/2006/relationships/font" Target="fonts/HelveticaNeue-italic.fntdata"/><Relationship Id="rId53" Type="http://schemas.openxmlformats.org/officeDocument/2006/relationships/font" Target="fonts/Merriweather-bold.fntdata"/><Relationship Id="rId52" Type="http://schemas.openxmlformats.org/officeDocument/2006/relationships/font" Target="fonts/Merriweather-regular.fntdata"/><Relationship Id="rId11" Type="http://schemas.openxmlformats.org/officeDocument/2006/relationships/slide" Target="slides/slide5.xml"/><Relationship Id="rId55" Type="http://schemas.openxmlformats.org/officeDocument/2006/relationships/font" Target="fonts/Merriweather-boldItalic.fntdata"/><Relationship Id="rId10" Type="http://schemas.openxmlformats.org/officeDocument/2006/relationships/slide" Target="slides/slide4.xml"/><Relationship Id="rId54" Type="http://schemas.openxmlformats.org/officeDocument/2006/relationships/font" Target="fonts/Merriweather-italic.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AlfaSlabOne-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c38d72b3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c38d72b3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ee38ce0b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ee38ce0b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5c32de726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5c32de726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5a100a09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5a100a09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d1a571c5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d1a571c5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0d6d3437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0d6d3437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d1a571c54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d1a571c54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Teacher Resource - See Dave’s tutorial on the word embeddings demo  </a:t>
            </a:r>
            <a:endParaRPr b="1"/>
          </a:p>
          <a:p>
            <a:pPr indent="0" lvl="0" marL="0" rtl="0" algn="l">
              <a:spcBef>
                <a:spcPts val="0"/>
              </a:spcBef>
              <a:spcAft>
                <a:spcPts val="0"/>
              </a:spcAft>
              <a:buNone/>
            </a:pPr>
            <a:r>
              <a:rPr b="1" lang="en"/>
              <a:t>Student Resource - Student Handout/slides - Students can follow along</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Teacher Note: Feature </a:t>
            </a:r>
            <a:r>
              <a:rPr lang="en"/>
              <a:t>values</a:t>
            </a:r>
            <a:r>
              <a:rPr lang="en"/>
              <a:t> are coordinate values in this diagram. (Connection to prior mathematical knowledge)</a:t>
            </a:r>
            <a:endParaRPr/>
          </a:p>
          <a:p>
            <a:pPr indent="0" lvl="0" marL="0" rtl="0" algn="l">
              <a:spcBef>
                <a:spcPts val="0"/>
              </a:spcBef>
              <a:spcAft>
                <a:spcPts val="0"/>
              </a:spcAft>
              <a:buNone/>
            </a:pPr>
            <a:r>
              <a:rPr lang="en"/>
              <a:t>How to use this slide - You can do this as a class using only the slides or create a handout with info on slides 4, 5, and 7.</a:t>
            </a:r>
            <a:endParaRPr/>
          </a:p>
          <a:p>
            <a:pPr indent="0" lvl="0" marL="0" rtl="0" algn="l">
              <a:spcBef>
                <a:spcPts val="0"/>
              </a:spcBef>
              <a:spcAft>
                <a:spcPts val="0"/>
              </a:spcAft>
              <a:buNone/>
            </a:pPr>
            <a:r>
              <a:rPr lang="en"/>
              <a:t>			Answers provided on slices 5 and 6.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d1a571c54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d1a571c54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d1a571c54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d1a571c54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a:t>
            </a:r>
            <a:r>
              <a:rPr lang="en"/>
              <a:t> Note: There can some variability in the age assigned to grandfather and infant.  </a:t>
            </a:r>
            <a:endParaRPr/>
          </a:p>
          <a:p>
            <a:pPr indent="0" lvl="0" marL="0" rtl="0" algn="l">
              <a:spcBef>
                <a:spcPts val="0"/>
              </a:spcBef>
              <a:spcAft>
                <a:spcPts val="0"/>
              </a:spcAft>
              <a:buNone/>
            </a:pPr>
            <a:r>
              <a:rPr lang="en"/>
              <a:t>Discussion: Where did the students places their dots and why?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d1a571c54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d1a571c54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to the Vocabulary List - octogenarian </a:t>
            </a:r>
            <a:endParaRPr/>
          </a:p>
          <a:p>
            <a:pPr indent="0" lvl="0" marL="0" rtl="0" algn="l">
              <a:spcBef>
                <a:spcPts val="0"/>
              </a:spcBef>
              <a:spcAft>
                <a:spcPts val="0"/>
              </a:spcAft>
              <a:buNone/>
            </a:pPr>
            <a:r>
              <a:rPr lang="en"/>
              <a:t>Teacher Note: No answers provided for this slide. This is just an activity.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d1a571c54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d1a571c54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d1a571c54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d1a571c54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The age for King is slightly older than man and queen. The other adults are 7 and King is 8. This imperfection represents real world data (statistics from text corpa) and things are not perfectly symmetric. For example, there are many stories of elderly kings and young queens.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Vocabulary</a:t>
            </a:r>
            <a:r>
              <a:rPr lang="en"/>
              <a:t> - Monarch - gender neutral royal ruler - Solution: [5, 7, 8]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0d6d3437a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0d6d3437a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The age for King is slightly older than man and queen. The other adults are 7 and King is 8. This imperfection represents real world data (statistics from text corpa) and things are not perfectly symmetric. For example, there are many stories of elderly kings and young queens.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Vocabulary - Monarch - gender neutral royal ruler - Solution: [5, 7, 8]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d1a571c54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d1a571c54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Prior Knowledge Connection - Pythagorean </a:t>
            </a:r>
            <a:r>
              <a:rPr lang="en"/>
              <a:t>theorem</a:t>
            </a:r>
            <a:r>
              <a:rPr lang="en"/>
              <a:t> - add picture/slides</a:t>
            </a:r>
            <a:endParaRPr/>
          </a:p>
          <a:p>
            <a:pPr indent="0" lvl="0" marL="0" rtl="0" algn="l">
              <a:spcBef>
                <a:spcPts val="0"/>
              </a:spcBef>
              <a:spcAft>
                <a:spcPts val="0"/>
              </a:spcAft>
              <a:buNone/>
            </a:pPr>
            <a:r>
              <a:rPr lang="en"/>
              <a:t>Teacher Note Q&amp;A - Have the students identify the feature on which</a:t>
            </a:r>
            <a:r>
              <a:rPr lang="en"/>
              <a:t> boy and girl differ - &gt; gender</a:t>
            </a:r>
            <a:endParaRPr/>
          </a:p>
          <a:p>
            <a:pPr indent="0" lvl="0" marL="0" rtl="0" algn="l">
              <a:spcBef>
                <a:spcPts val="0"/>
              </a:spcBef>
              <a:spcAft>
                <a:spcPts val="0"/>
              </a:spcAft>
              <a:buNone/>
            </a:pPr>
            <a:r>
              <a:rPr lang="en"/>
              <a:t>		          </a:t>
            </a:r>
            <a:r>
              <a:rPr lang="en">
                <a:solidFill>
                  <a:schemeClr val="dk1"/>
                </a:solidFill>
              </a:rPr>
              <a:t>Have the students identify the features on which boy and queen differ - &gt; gender, age royalty</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0d6d3437a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0d6d3437a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Feature values are coordinate values in this diagram. (Connection to prior mathematical knowledge)</a:t>
            </a:r>
            <a:endParaRPr/>
          </a:p>
          <a:p>
            <a:pPr indent="0" lvl="0" marL="0" rtl="0" algn="l">
              <a:spcBef>
                <a:spcPts val="0"/>
              </a:spcBef>
              <a:spcAft>
                <a:spcPts val="0"/>
              </a:spcAft>
              <a:buNone/>
            </a:pPr>
            <a:r>
              <a:rPr lang="en"/>
              <a:t>How to use this slide - You can do this as a class using only the slides or create a handout with info on slides 4, 5, and 7.</a:t>
            </a:r>
            <a:endParaRPr/>
          </a:p>
          <a:p>
            <a:pPr indent="0" lvl="0" marL="0" rtl="0" algn="l">
              <a:spcBef>
                <a:spcPts val="0"/>
              </a:spcBef>
              <a:spcAft>
                <a:spcPts val="0"/>
              </a:spcAft>
              <a:buNone/>
            </a:pPr>
            <a:r>
              <a:rPr lang="en"/>
              <a:t>			Answers provided on slices 5 and 6.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0d6d3437a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0d6d3437a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d6d3437a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d6d3437a4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0d6d3437a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0d6d3437a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0d6d3437a4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0d6d3437a4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Do - Make these slides visually appealing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d1a571c54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d1a571c54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Vocabulary - Analogies</a:t>
            </a:r>
            <a:endParaRPr/>
          </a:p>
          <a:p>
            <a:pPr indent="0" lvl="0" marL="0" rtl="0" algn="l">
              <a:spcBef>
                <a:spcPts val="0"/>
              </a:spcBef>
              <a:spcAft>
                <a:spcPts val="0"/>
              </a:spcAft>
              <a:buNone/>
            </a:pPr>
            <a:r>
              <a:rPr lang="en"/>
              <a:t>Teacher Note: Have the students come up with the answer to this analogy</a:t>
            </a:r>
            <a:endParaRPr/>
          </a:p>
          <a:p>
            <a:pPr indent="0" lvl="0" marL="0" rtl="0" algn="l">
              <a:spcBef>
                <a:spcPts val="0"/>
              </a:spcBef>
              <a:spcAft>
                <a:spcPts val="0"/>
              </a:spcAft>
              <a:buNone/>
            </a:pPr>
            <a:r>
              <a:rPr lang="en"/>
              <a:t>Discussion: How did you come up with this answer?</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0d6d3437a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0d6d3437a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Have the students consider if they can come up with a procedure to solve analogies</a:t>
            </a:r>
            <a:endParaRPr/>
          </a:p>
          <a:p>
            <a:pPr indent="0" lvl="0" marL="0" rtl="0" algn="l">
              <a:spcBef>
                <a:spcPts val="0"/>
              </a:spcBef>
              <a:spcAft>
                <a:spcPts val="0"/>
              </a:spcAft>
              <a:buNone/>
            </a:pPr>
            <a:r>
              <a:rPr lang="en"/>
              <a:t>Discussion: How did you come up with this answer?</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d1a571c54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d1a571c54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 This is what you were doing in your head when you completed the analogy</a:t>
            </a:r>
            <a:endParaRPr/>
          </a:p>
          <a:p>
            <a:pPr indent="0" lvl="0" marL="0" rtl="0" algn="l">
              <a:spcBef>
                <a:spcPts val="0"/>
              </a:spcBef>
              <a:spcAft>
                <a:spcPts val="0"/>
              </a:spcAft>
              <a:buNone/>
            </a:pPr>
            <a:r>
              <a:rPr lang="en"/>
              <a:t>Explanation: You drew this arrow from man to king and then you take the arrow and shift it (no changes in the length and the direction)</a:t>
            </a:r>
            <a:endParaRPr/>
          </a:p>
          <a:p>
            <a:pPr indent="0" lvl="0" marL="0" rtl="0" algn="l">
              <a:spcBef>
                <a:spcPts val="0"/>
              </a:spcBef>
              <a:spcAft>
                <a:spcPts val="0"/>
              </a:spcAft>
              <a:buNone/>
            </a:pPr>
            <a:r>
              <a:rPr lang="en"/>
              <a:t>We shift the base of the arrow from man to woman and look at where the tip is pointing and find the closest word to it. This is the answer to the analogy.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Vocabulary - Vector (arrow in this diagram) - has length and direction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160ebc68ef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160ebc68e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This is what is happening in the computer.</a:t>
            </a:r>
            <a:endParaRPr/>
          </a:p>
          <a:p>
            <a:pPr indent="0" lvl="0" marL="0" rtl="0" algn="l">
              <a:spcBef>
                <a:spcPts val="0"/>
              </a:spcBef>
              <a:spcAft>
                <a:spcPts val="0"/>
              </a:spcAft>
              <a:buNone/>
            </a:pPr>
            <a:r>
              <a:rPr lang="en"/>
              <a:t>King and man are both points and vectors. King from origin to the coordinates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Math to create the red arrow on previous slide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160ebc68e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160ebc68e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green arrow. Notice that the feature values for </a:t>
            </a:r>
            <a:r>
              <a:rPr lang="en">
                <a:solidFill>
                  <a:srgbClr val="6AA84F"/>
                </a:solidFill>
              </a:rPr>
              <a:t>king - man + woman </a:t>
            </a:r>
            <a:r>
              <a:rPr lang="en">
                <a:solidFill>
                  <a:schemeClr val="dk1"/>
                </a:solidFill>
              </a:rPr>
              <a:t>and queen are almost but not perfectly identical. This is why the green arrow doesn’t point directly at queen, but close to it.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0d6d3437a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0d6d3437a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analogy for students to solve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b80af18f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b80af18f3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analogy for students to solve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5a85250d3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5a85250d3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analogy for students to solve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60ebc68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60ebc68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Note: The feature values for </a:t>
            </a:r>
            <a:r>
              <a:rPr lang="en">
                <a:solidFill>
                  <a:srgbClr val="6AA84F"/>
                </a:solidFill>
              </a:rPr>
              <a:t>girl - woman + queen </a:t>
            </a:r>
            <a:r>
              <a:rPr lang="en">
                <a:solidFill>
                  <a:schemeClr val="dk1"/>
                </a:solidFill>
              </a:rPr>
              <a:t>may not be identical to the feature values of the answer and thus the green arrow doesn’t point directly at the answer. Find the closest word to complete the analogy.</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d1a571c54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d1a571c54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We don’t have enough features to represent .</a:t>
            </a:r>
            <a:endParaRPr/>
          </a:p>
          <a:p>
            <a:pPr indent="0" lvl="0" marL="0" rtl="0" algn="l">
              <a:spcBef>
                <a:spcPts val="0"/>
              </a:spcBef>
              <a:spcAft>
                <a:spcPts val="0"/>
              </a:spcAft>
              <a:buNone/>
            </a:pPr>
            <a:r>
              <a:rPr lang="en"/>
              <a:t>Notice that even if you narrowed the terms to just kinship terms 4-5 D is not enough.</a:t>
            </a:r>
            <a:endParaRPr/>
          </a:p>
          <a:p>
            <a:pPr indent="0" lvl="0" marL="0" rtl="0" algn="l">
              <a:spcBef>
                <a:spcPts val="0"/>
              </a:spcBef>
              <a:spcAft>
                <a:spcPts val="0"/>
              </a:spcAft>
              <a:buNone/>
            </a:pPr>
            <a:r>
              <a:rPr lang="en"/>
              <a:t>To represent all the words we know we need lots of dimensions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0d6d3437a4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0d6d3437a4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slide shows a 7 word sliding window. The target word is in the middle and the three words on either side provide context. The algorithm keeps track of all the words that occur in the context of the target word.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r>
              <a:rPr lang="en">
                <a:solidFill>
                  <a:schemeClr val="dk1"/>
                </a:solidFill>
              </a:rPr>
              <a:t>k</a:t>
            </a:r>
            <a:r>
              <a:rPr lang="en">
                <a:solidFill>
                  <a:schemeClr val="dk1"/>
                </a:solidFill>
              </a:rPr>
              <a:t>ing” and “queen” can be inferred to be nouns because they appear after “the”.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Whoever is creating the embedding starts by choosing a large text corpus, e.g., all of Wikipedia, or a huge collection of news stories. They then choose an algorithm (there are many), and tun the algorithm on the text to get back a set of embedding vectors.</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d1a571c54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d1a571c54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This diagram shows 300-dimensional word embedding vectors that were created using a corpus of Wikipedia articles and news stories.</a:t>
            </a:r>
            <a:endParaRPr b="1"/>
          </a:p>
          <a:p>
            <a:pPr indent="0" lvl="0" marL="0" rtl="0" algn="l">
              <a:spcBef>
                <a:spcPts val="0"/>
              </a:spcBef>
              <a:spcAft>
                <a:spcPts val="0"/>
              </a:spcAft>
              <a:buNone/>
            </a:pPr>
            <a:r>
              <a:rPr lang="en"/>
              <a:t> Explainability - for these 6 words, feature 126 (out of 300)  has positive values (tan/orange color) for male words and negative values (blue/gray color) for female words.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0d6d3437a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0d6d3437a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Introduce to the word embedding demo (Video)</a:t>
            </a:r>
            <a:endParaRPr/>
          </a:p>
          <a:p>
            <a:pPr indent="-298450" lvl="0" marL="457200" rtl="0" algn="l">
              <a:spcBef>
                <a:spcPts val="0"/>
              </a:spcBef>
              <a:spcAft>
                <a:spcPts val="0"/>
              </a:spcAft>
              <a:buSzPts val="1100"/>
              <a:buAutoNum type="arabicPeriod"/>
            </a:pPr>
            <a:r>
              <a:rPr lang="en"/>
              <a:t>Open demo</a:t>
            </a:r>
            <a:endParaRPr/>
          </a:p>
          <a:p>
            <a:pPr indent="-298450" lvl="0" marL="457200" rtl="0" algn="l">
              <a:spcBef>
                <a:spcPts val="0"/>
              </a:spcBef>
              <a:spcAft>
                <a:spcPts val="0"/>
              </a:spcAft>
              <a:buSzPts val="1100"/>
              <a:buAutoNum type="arabicPeriod"/>
            </a:pPr>
            <a:r>
              <a:rPr lang="en"/>
              <a:t>Look at it. </a:t>
            </a:r>
            <a:endParaRPr/>
          </a:p>
          <a:p>
            <a:pPr indent="0" lvl="0" marL="457200" rtl="0" algn="l">
              <a:spcBef>
                <a:spcPts val="0"/>
              </a:spcBef>
              <a:spcAft>
                <a:spcPts val="0"/>
              </a:spcAft>
              <a:buNone/>
            </a:pPr>
            <a:r>
              <a:rPr lang="en"/>
              <a:t>THe right hand side is the 300 D feature space.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607d799053dad1c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607d799053dad1c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607d799053dad1c9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607d799053dad1c9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#2 - if students compare boy and girl they should be similar but there are places they disagree. </a:t>
            </a:r>
            <a:endParaRPr/>
          </a:p>
          <a:p>
            <a:pPr indent="0" lvl="0" marL="0" rtl="0" algn="l">
              <a:spcBef>
                <a:spcPts val="0"/>
              </a:spcBef>
              <a:spcAft>
                <a:spcPts val="0"/>
              </a:spcAft>
              <a:buNone/>
            </a:pPr>
            <a:r>
              <a:rPr lang="en"/>
              <a:t>#4 - 121 might be royalty</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607d799053dad1c9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607d799053dad1c9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d6d3437a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d6d3437a4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607d799053dad1c9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607d799053dad1c9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ff4ba30a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ff4ba30a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0d6d3437a4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0d6d3437a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 Noter: The reason word </a:t>
            </a:r>
            <a:r>
              <a:rPr lang="en"/>
              <a:t>embeddings</a:t>
            </a:r>
            <a:r>
              <a:rPr lang="en"/>
              <a:t> are </a:t>
            </a:r>
            <a:r>
              <a:rPr lang="en"/>
              <a:t>imperfect</a:t>
            </a:r>
            <a:r>
              <a:rPr lang="en"/>
              <a:t> is because words have multiple senses. Humans can keep these senses separate, but if we are trying to condense this down into a 300 </a:t>
            </a:r>
            <a:r>
              <a:rPr lang="en"/>
              <a:t>dimensional vector of numbers, then the different </a:t>
            </a:r>
            <a:r>
              <a:rPr lang="en"/>
              <a:t>meanings are going to affect each other. You can see this in the placement of these </a:t>
            </a:r>
            <a:r>
              <a:rPr lang="en"/>
              <a:t>words</a:t>
            </a:r>
            <a:r>
              <a:rPr lang="en"/>
              <a:t> within the 300 dimensional space. For example, we would want all colors and fruits to have </a:t>
            </a:r>
            <a:r>
              <a:rPr lang="en"/>
              <a:t>their</a:t>
            </a:r>
            <a:r>
              <a:rPr lang="en"/>
              <a:t> own clusters. But in the case of cherry, it is halfway between fruit and color.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Apple was near the apple brand.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0b2b986d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0b2b986d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 the bias reflects the text that the word embeddings were trained on. If the text that we trained it where all the doctors are men then it will be men. </a:t>
            </a:r>
            <a:endParaRPr/>
          </a:p>
          <a:p>
            <a:pPr indent="0" lvl="0" marL="0" rtl="0" algn="l">
              <a:spcBef>
                <a:spcPts val="0"/>
              </a:spcBef>
              <a:spcAft>
                <a:spcPts val="0"/>
              </a:spcAft>
              <a:buClr>
                <a:schemeClr val="dk1"/>
              </a:buClr>
              <a:buSzPts val="1100"/>
              <a:buFont typeface="Arial"/>
              <a:buNone/>
            </a:pPr>
            <a:r>
              <a:rPr b="1" lang="en">
                <a:solidFill>
                  <a:schemeClr val="dk1"/>
                </a:solidFill>
              </a:rPr>
              <a:t>This diagram shows 300-dimensional word embedding vectors that were created using a corpus of Wikipedia articles and news stories.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Clr>
                <a:srgbClr val="000000"/>
              </a:buClr>
              <a:buSzPts val="1400"/>
              <a:buChar char="●"/>
              <a:defRPr>
                <a:solidFill>
                  <a:srgbClr val="000000"/>
                </a:solidFill>
              </a:defRPr>
            </a:lvl4pPr>
            <a:lvl5pPr indent="-317500" lvl="4" marL="2286000">
              <a:spcBef>
                <a:spcPts val="0"/>
              </a:spcBef>
              <a:spcAft>
                <a:spcPts val="0"/>
              </a:spcAft>
              <a:buClr>
                <a:srgbClr val="000000"/>
              </a:buClr>
              <a:buSzPts val="1400"/>
              <a:buChar char="○"/>
              <a:defRPr>
                <a:solidFill>
                  <a:srgbClr val="000000"/>
                </a:solidFill>
              </a:defRPr>
            </a:lvl5pPr>
            <a:lvl6pPr indent="-317500" lvl="5" marL="2743200">
              <a:spcBef>
                <a:spcPts val="0"/>
              </a:spcBef>
              <a:spcAft>
                <a:spcPts val="0"/>
              </a:spcAft>
              <a:buClr>
                <a:srgbClr val="000000"/>
              </a:buClr>
              <a:buSzPts val="1400"/>
              <a:buChar char="■"/>
              <a:defRPr>
                <a:solidFill>
                  <a:srgbClr val="000000"/>
                </a:solidFill>
              </a:defRPr>
            </a:lvl6pPr>
            <a:lvl7pPr indent="-317500" lvl="6" marL="3200400">
              <a:spcBef>
                <a:spcPts val="0"/>
              </a:spcBef>
              <a:spcAft>
                <a:spcPts val="0"/>
              </a:spcAft>
              <a:buClr>
                <a:srgbClr val="000000"/>
              </a:buClr>
              <a:buSzPts val="1400"/>
              <a:buChar char="●"/>
              <a:defRPr>
                <a:solidFill>
                  <a:srgbClr val="000000"/>
                </a:solidFill>
              </a:defRPr>
            </a:lvl7pPr>
            <a:lvl8pPr indent="-317500" lvl="7" marL="3657600">
              <a:spcBef>
                <a:spcPts val="0"/>
              </a:spcBef>
              <a:spcAft>
                <a:spcPts val="0"/>
              </a:spcAft>
              <a:buClr>
                <a:srgbClr val="000000"/>
              </a:buClr>
              <a:buSzPts val="1400"/>
              <a:buChar char="○"/>
              <a:defRPr>
                <a:solidFill>
                  <a:srgbClr val="000000"/>
                </a:solidFill>
              </a:defRPr>
            </a:lvl8pPr>
            <a:lvl9pPr indent="-317500" lvl="8" marL="411480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hyperlink" Target="https://research.google.com/semantri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research.google.com/semantris" TargetMode="Externa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hyperlink" Target="https://www.cs.cmu.edu/~dst/WordEmbeddingDemo"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drive.google.com/file/d/15c7HIbzhPC73HX66bvxqs6wMuZlFYgaN/view" TargetMode="External"/><Relationship Id="rId4" Type="http://schemas.openxmlformats.org/officeDocument/2006/relationships/image" Target="../media/image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drive.google.com/file/d/1XNceeuvhm0gxKGzP2zUOowKN2zkKdmA0/view" TargetMode="External"/><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drive.google.com/file/d/11OiIkGGrKO_9J_ICiDmSPGPw2hHilXDn/view" TargetMode="External"/><Relationship Id="rId4" Type="http://schemas.openxmlformats.org/officeDocument/2006/relationships/image" Target="../media/image1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156750" y="733775"/>
            <a:ext cx="6987300" cy="1189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2.4</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Word Embeddings</a:t>
            </a:r>
            <a:endParaRPr sz="2355">
              <a:solidFill>
                <a:schemeClr val="dk2"/>
              </a:solidFill>
              <a:latin typeface="Merriweather"/>
              <a:ea typeface="Merriweather"/>
              <a:cs typeface="Merriweather"/>
              <a:sym typeface="Merriweather"/>
            </a:endParaRPr>
          </a:p>
        </p:txBody>
      </p:sp>
      <p:pic>
        <p:nvPicPr>
          <p:cNvPr id="55" name="Google Shape;55;p1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56" name="Google Shape;56;p1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57" name="Google Shape;57;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58" name="Google Shape;58;p13"/>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t>Developed for the AI4GA (Artificial Intelligence for Georgia) project funded by National Science Foundation awards DRL-2049029 and DRL-2048502.</a:t>
            </a:r>
            <a:endParaRPr sz="900"/>
          </a:p>
          <a:p>
            <a:pPr indent="0" lvl="0" marL="0" rtl="0" algn="l">
              <a:spcBef>
                <a:spcPts val="0"/>
              </a:spcBef>
              <a:spcAft>
                <a:spcPts val="0"/>
              </a:spcAft>
              <a:buNone/>
            </a:pPr>
            <a:r>
              <a:rPr b="1" lang="en" sz="900"/>
              <a:t>This work is licensed under the Creative Commons. Attribution-NonCommercial-ShareAlike 4.0 International License. </a:t>
            </a:r>
            <a:r>
              <a:rPr b="1" lang="en" sz="900" u="sng">
                <a:solidFill>
                  <a:srgbClr val="0097A7"/>
                </a:solidFill>
                <a:hlinkClick r:id="rId5">
                  <a:extLst>
                    <a:ext uri="{A12FA001-AC4F-418D-AE19-62706E023703}">
                      <ahyp:hlinkClr val="tx"/>
                    </a:ext>
                  </a:extLst>
                </a:hlinkClick>
              </a:rPr>
              <a:t>https://creativecommons.org/licenses/by-nc-sa/4.0/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500"/>
          </a:p>
        </p:txBody>
      </p:sp>
      <p:pic>
        <p:nvPicPr>
          <p:cNvPr id="59" name="Google Shape;59;p13"/>
          <p:cNvPicPr preferRelativeResize="0"/>
          <p:nvPr/>
        </p:nvPicPr>
        <p:blipFill rotWithShape="1">
          <a:blip r:embed="rId6">
            <a:alphaModFix/>
          </a:blip>
          <a:srcRect b="0" l="10285" r="9043" t="0"/>
          <a:stretch/>
        </p:blipFill>
        <p:spPr>
          <a:xfrm>
            <a:off x="4139077" y="1681350"/>
            <a:ext cx="3022659" cy="28102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 name="Google Shape;65;p14"/>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66" name="Google Shape;66;p14"/>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55600" lvl="0" marL="457200" rtl="0" algn="l">
              <a:spcBef>
                <a:spcPts val="1200"/>
              </a:spcBef>
              <a:spcAft>
                <a:spcPts val="0"/>
              </a:spcAft>
              <a:buClr>
                <a:schemeClr val="dk1"/>
              </a:buClr>
              <a:buSzPts val="2000"/>
              <a:buChar char="●"/>
            </a:pPr>
            <a:r>
              <a:rPr lang="en" sz="2000">
                <a:solidFill>
                  <a:schemeClr val="dk1"/>
                </a:solidFill>
              </a:rPr>
              <a:t>Explain the notion of semantic feature space</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Given a semantic feature space, determine where a word should be located in that space</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Demonstrate how to solve analogy problems using vector arithmetic</a:t>
            </a:r>
            <a:endParaRPr sz="2000">
              <a:solidFill>
                <a:schemeClr val="dk1"/>
              </a:solidFill>
            </a:endParaRPr>
          </a:p>
          <a:p>
            <a:pPr indent="0" lvl="0" marL="457200" rtl="0" algn="l">
              <a:spcBef>
                <a:spcPts val="0"/>
              </a:spcBef>
              <a:spcAft>
                <a:spcPts val="0"/>
              </a:spcAft>
              <a:buNone/>
            </a:pPr>
            <a:r>
              <a:t/>
            </a:r>
            <a:endParaRPr sz="2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First 10 minutes for studying~</a:t>
            </a:r>
            <a:endParaRPr/>
          </a:p>
        </p:txBody>
      </p:sp>
      <p:sp>
        <p:nvSpPr>
          <p:cNvPr id="72" name="Google Shape;72;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Quiz on Word Embeddings :)</a:t>
            </a:r>
            <a:endParaRPr/>
          </a:p>
        </p:txBody>
      </p:sp>
      <p:sp>
        <p:nvSpPr>
          <p:cNvPr id="73" name="Google Shape;7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6"/>
          <p:cNvSpPr txBox="1"/>
          <p:nvPr>
            <p:ph idx="1" type="subTitle"/>
          </p:nvPr>
        </p:nvSpPr>
        <p:spPr>
          <a:xfrm>
            <a:off x="258250" y="62400"/>
            <a:ext cx="8520600" cy="615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Warm Up:</a:t>
            </a:r>
            <a:endParaRPr/>
          </a:p>
        </p:txBody>
      </p:sp>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0" name="Google Shape;80;p16"/>
          <p:cNvSpPr txBox="1"/>
          <p:nvPr/>
        </p:nvSpPr>
        <p:spPr>
          <a:xfrm>
            <a:off x="294100" y="677400"/>
            <a:ext cx="7691400" cy="447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t>What is an “</a:t>
            </a:r>
            <a:r>
              <a:rPr lang="en" sz="3100">
                <a:solidFill>
                  <a:srgbClr val="FF0000"/>
                </a:solidFill>
              </a:rPr>
              <a:t>apple</a:t>
            </a:r>
            <a:r>
              <a:rPr lang="en" sz="3100"/>
              <a:t>”?</a:t>
            </a:r>
            <a:endParaRPr sz="3100"/>
          </a:p>
          <a:p>
            <a:pPr indent="-425450" lvl="0" marL="457200" rtl="0" algn="l">
              <a:spcBef>
                <a:spcPts val="0"/>
              </a:spcBef>
              <a:spcAft>
                <a:spcPts val="0"/>
              </a:spcAft>
              <a:buSzPts val="3100"/>
              <a:buChar char="-"/>
            </a:pPr>
            <a:r>
              <a:rPr lang="en" sz="3100"/>
              <a:t>What do you get when you </a:t>
            </a:r>
            <a:r>
              <a:rPr lang="en" sz="3100"/>
              <a:t>google</a:t>
            </a:r>
            <a:r>
              <a:rPr lang="en" sz="3100"/>
              <a:t> “</a:t>
            </a:r>
            <a:r>
              <a:rPr lang="en" sz="3100">
                <a:solidFill>
                  <a:srgbClr val="FF0000"/>
                </a:solidFill>
              </a:rPr>
              <a:t>apple</a:t>
            </a:r>
            <a:r>
              <a:rPr lang="en" sz="3100"/>
              <a:t>”?</a:t>
            </a:r>
            <a:endParaRPr sz="3100"/>
          </a:p>
          <a:p>
            <a:pPr indent="0" lvl="0" marL="914400" rtl="0" algn="l">
              <a:spcBef>
                <a:spcPts val="0"/>
              </a:spcBef>
              <a:spcAft>
                <a:spcPts val="0"/>
              </a:spcAft>
              <a:buNone/>
            </a:pPr>
            <a:r>
              <a:t/>
            </a:r>
            <a:endParaRPr sz="3100"/>
          </a:p>
          <a:p>
            <a:pPr indent="0" lvl="0" marL="0" rtl="0" algn="l">
              <a:spcBef>
                <a:spcPts val="0"/>
              </a:spcBef>
              <a:spcAft>
                <a:spcPts val="0"/>
              </a:spcAft>
              <a:buNone/>
            </a:pPr>
            <a:r>
              <a:rPr lang="en" sz="3100"/>
              <a:t>What is a “</a:t>
            </a:r>
            <a:r>
              <a:rPr lang="en" sz="3100">
                <a:solidFill>
                  <a:srgbClr val="FF0000"/>
                </a:solidFill>
              </a:rPr>
              <a:t>monarch</a:t>
            </a:r>
            <a:r>
              <a:rPr lang="en" sz="3100">
                <a:solidFill>
                  <a:schemeClr val="dk1"/>
                </a:solidFill>
              </a:rPr>
              <a:t>”</a:t>
            </a:r>
            <a:r>
              <a:rPr lang="en" sz="3100"/>
              <a:t>?</a:t>
            </a:r>
            <a:endParaRPr sz="3100"/>
          </a:p>
          <a:p>
            <a:pPr indent="-425450" lvl="0" marL="457200" rtl="0" algn="l">
              <a:spcBef>
                <a:spcPts val="0"/>
              </a:spcBef>
              <a:spcAft>
                <a:spcPts val="0"/>
              </a:spcAft>
              <a:buSzPts val="3100"/>
              <a:buChar char="-"/>
            </a:pPr>
            <a:r>
              <a:rPr lang="en" sz="3100"/>
              <a:t>What do you get when you google “</a:t>
            </a:r>
            <a:r>
              <a:rPr lang="en" sz="3100">
                <a:solidFill>
                  <a:srgbClr val="FF0000"/>
                </a:solidFill>
              </a:rPr>
              <a:t>monarch</a:t>
            </a:r>
            <a:r>
              <a:rPr lang="en" sz="3100">
                <a:solidFill>
                  <a:schemeClr val="dk1"/>
                </a:solidFill>
              </a:rPr>
              <a:t>”</a:t>
            </a:r>
            <a:r>
              <a:rPr lang="en" sz="3100"/>
              <a:t>?</a:t>
            </a:r>
            <a:endParaRPr sz="3100"/>
          </a:p>
          <a:p>
            <a:pPr indent="0" lvl="0" marL="0" rtl="0" algn="l">
              <a:spcBef>
                <a:spcPts val="0"/>
              </a:spcBef>
              <a:spcAft>
                <a:spcPts val="0"/>
              </a:spcAft>
              <a:buNone/>
            </a:pPr>
            <a:r>
              <a:t/>
            </a:r>
            <a:endParaRPr sz="3100"/>
          </a:p>
          <a:p>
            <a:pPr indent="0" lvl="0" marL="0" rtl="0" algn="l">
              <a:spcBef>
                <a:spcPts val="0"/>
              </a:spcBef>
              <a:spcAft>
                <a:spcPts val="0"/>
              </a:spcAft>
              <a:buNone/>
            </a:pPr>
            <a:r>
              <a:rPr lang="en" sz="3100"/>
              <a:t>What’s going on here?</a:t>
            </a:r>
            <a:endParaRPr sz="3100"/>
          </a:p>
        </p:txBody>
      </p:sp>
      <p:pic>
        <p:nvPicPr>
          <p:cNvPr id="81" name="Google Shape;81;p16"/>
          <p:cNvPicPr preferRelativeResize="0"/>
          <p:nvPr/>
        </p:nvPicPr>
        <p:blipFill>
          <a:blip r:embed="rId3">
            <a:alphaModFix/>
          </a:blip>
          <a:stretch>
            <a:fillRect/>
          </a:stretch>
        </p:blipFill>
        <p:spPr>
          <a:xfrm>
            <a:off x="6572250" y="2625200"/>
            <a:ext cx="2571750" cy="2571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Play Semantris</a:t>
            </a:r>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rPr lang="en"/>
              <a:t>How does the computer know</a:t>
            </a:r>
            <a:br>
              <a:rPr lang="en"/>
            </a:br>
            <a:r>
              <a:rPr lang="en"/>
              <a:t>w</a:t>
            </a:r>
            <a:r>
              <a:rPr lang="en"/>
              <a:t>hich words are related?</a:t>
            </a:r>
            <a:endParaRPr/>
          </a:p>
        </p:txBody>
      </p:sp>
      <p:pic>
        <p:nvPicPr>
          <p:cNvPr id="88" name="Google Shape;88;p17"/>
          <p:cNvPicPr preferRelativeResize="0"/>
          <p:nvPr/>
        </p:nvPicPr>
        <p:blipFill>
          <a:blip r:embed="rId3">
            <a:alphaModFix/>
          </a:blip>
          <a:stretch>
            <a:fillRect/>
          </a:stretch>
        </p:blipFill>
        <p:spPr>
          <a:xfrm>
            <a:off x="3553425" y="709375"/>
            <a:ext cx="5278875" cy="4302601"/>
          </a:xfrm>
          <a:prstGeom prst="rect">
            <a:avLst/>
          </a:prstGeom>
          <a:noFill/>
          <a:ln>
            <a:noFill/>
          </a:ln>
        </p:spPr>
      </p:pic>
      <p:sp>
        <p:nvSpPr>
          <p:cNvPr id="89" name="Google Shape;89;p17"/>
          <p:cNvSpPr txBox="1"/>
          <p:nvPr/>
        </p:nvSpPr>
        <p:spPr>
          <a:xfrm>
            <a:off x="3221725" y="278450"/>
            <a:ext cx="5799600" cy="87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rPr>
              <a:t>Play Blocks version</a:t>
            </a:r>
            <a:endParaRPr sz="1800">
              <a:solidFill>
                <a:schemeClr val="dk2"/>
              </a:solidFill>
            </a:endParaRPr>
          </a:p>
          <a:p>
            <a:pPr indent="0" lvl="0" marL="0" rtl="0" algn="l">
              <a:spcBef>
                <a:spcPts val="1200"/>
              </a:spcBef>
              <a:spcAft>
                <a:spcPts val="0"/>
              </a:spcAft>
              <a:buNone/>
            </a:pPr>
            <a:r>
              <a:t/>
            </a:r>
            <a:endParaRPr/>
          </a:p>
        </p:txBody>
      </p:sp>
      <p:sp>
        <p:nvSpPr>
          <p:cNvPr id="90" name="Google Shape;9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r">
              <a:spcBef>
                <a:spcPts val="0"/>
              </a:spcBef>
              <a:spcAft>
                <a:spcPts val="0"/>
              </a:spcAft>
              <a:buNone/>
            </a:pPr>
            <a:r>
              <a:rPr lang="en"/>
              <a:t>How does the computer know which </a:t>
            </a:r>
            <a:endParaRPr/>
          </a:p>
          <a:p>
            <a:pPr indent="0" lvl="0" marL="0" rtl="0" algn="r">
              <a:spcBef>
                <a:spcPts val="0"/>
              </a:spcBef>
              <a:spcAft>
                <a:spcPts val="0"/>
              </a:spcAft>
              <a:buClr>
                <a:schemeClr val="dk1"/>
              </a:buClr>
              <a:buSzPct val="30555"/>
              <a:buFont typeface="Arial"/>
              <a:buNone/>
            </a:pPr>
            <a:r>
              <a:rPr lang="en"/>
              <a:t>words are related?</a:t>
            </a:r>
            <a:endParaRPr/>
          </a:p>
          <a:p>
            <a:pPr indent="0" lvl="0" marL="0" rtl="0" algn="ctr">
              <a:spcBef>
                <a:spcPts val="0"/>
              </a:spcBef>
              <a:spcAft>
                <a:spcPts val="0"/>
              </a:spcAft>
              <a:buNone/>
            </a:pPr>
            <a:r>
              <a:t/>
            </a:r>
            <a:endParaRPr/>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7" name="Google Shape;97;p18"/>
          <p:cNvSpPr/>
          <p:nvPr/>
        </p:nvSpPr>
        <p:spPr>
          <a:xfrm>
            <a:off x="1807925" y="2943150"/>
            <a:ext cx="7213200" cy="644700"/>
          </a:xfrm>
          <a:prstGeom prst="rect">
            <a:avLst/>
          </a:prstGeom>
          <a:solidFill>
            <a:srgbClr val="FCE5CD"/>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t>Discussion</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9"/>
          <p:cNvPicPr preferRelativeResize="0"/>
          <p:nvPr/>
        </p:nvPicPr>
        <p:blipFill rotWithShape="1">
          <a:blip r:embed="rId3">
            <a:alphaModFix/>
          </a:blip>
          <a:srcRect b="0" l="14052" r="14615" t="0"/>
          <a:stretch/>
        </p:blipFill>
        <p:spPr>
          <a:xfrm>
            <a:off x="257350" y="67850"/>
            <a:ext cx="4892099" cy="5143500"/>
          </a:xfrm>
          <a:prstGeom prst="rect">
            <a:avLst/>
          </a:prstGeom>
          <a:noFill/>
          <a:ln>
            <a:noFill/>
          </a:ln>
        </p:spPr>
      </p:pic>
      <p:sp>
        <p:nvSpPr>
          <p:cNvPr id="103" name="Google Shape;10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04" name="Google Shape;104;p19"/>
          <p:cNvGraphicFramePr/>
          <p:nvPr/>
        </p:nvGraphicFramePr>
        <p:xfrm>
          <a:off x="6007825" y="804475"/>
          <a:ext cx="3000000" cy="3000000"/>
        </p:xfrm>
        <a:graphic>
          <a:graphicData uri="http://schemas.openxmlformats.org/drawingml/2006/table">
            <a:tbl>
              <a:tblPr>
                <a:noFill/>
                <a:tableStyleId>{C04EF0E8-2E44-4BD7-9BCF-83D9B6E10316}</a:tableStyleId>
              </a:tblPr>
              <a:tblGrid>
                <a:gridCol w="868650"/>
                <a:gridCol w="868650"/>
                <a:gridCol w="868650"/>
              </a:tblGrid>
              <a:tr h="6095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r>
              <a:tr h="419300">
                <a:tc>
                  <a:txBody>
                    <a:bodyPr/>
                    <a:lstStyle/>
                    <a:p>
                      <a:pPr indent="0" lvl="0" marL="0" rtl="0" algn="l">
                        <a:spcBef>
                          <a:spcPts val="0"/>
                        </a:spcBef>
                        <a:spcAft>
                          <a:spcPts val="0"/>
                        </a:spcAft>
                        <a:buNone/>
                      </a:pPr>
                      <a:r>
                        <a:rPr lang="en"/>
                        <a:t>man</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r>
              <a:tr h="419300">
                <a:tc>
                  <a:txBody>
                    <a:bodyPr/>
                    <a:lstStyle/>
                    <a:p>
                      <a:pPr indent="0" lvl="0" marL="0" rtl="0" algn="l">
                        <a:spcBef>
                          <a:spcPts val="0"/>
                        </a:spcBef>
                        <a:spcAft>
                          <a:spcPts val="0"/>
                        </a:spcAft>
                        <a:buNone/>
                      </a:pPr>
                      <a:r>
                        <a:rPr lang="en"/>
                        <a:t>woman</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419300">
                <a:tc>
                  <a:txBody>
                    <a:bodyPr/>
                    <a:lstStyle/>
                    <a:p>
                      <a:pPr indent="0" lvl="0" marL="0" rtl="0" algn="l">
                        <a:spcBef>
                          <a:spcPts val="0"/>
                        </a:spcBef>
                        <a:spcAft>
                          <a:spcPts val="0"/>
                        </a:spcAft>
                        <a:buNone/>
                      </a:pPr>
                      <a:r>
                        <a:rPr lang="en"/>
                        <a:t>boy</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419300">
                <a:tc>
                  <a:txBody>
                    <a:bodyPr/>
                    <a:lstStyle/>
                    <a:p>
                      <a:pPr indent="0" lvl="0" marL="0" rtl="0" algn="l">
                        <a:spcBef>
                          <a:spcPts val="0"/>
                        </a:spcBef>
                        <a:spcAft>
                          <a:spcPts val="0"/>
                        </a:spcAft>
                        <a:buNone/>
                      </a:pPr>
                      <a:r>
                        <a:rPr lang="en"/>
                        <a:t>girl</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bl>
          </a:graphicData>
        </a:graphic>
      </p:graphicFrame>
      <p:sp>
        <p:nvSpPr>
          <p:cNvPr id="105" name="Google Shape;105;p19"/>
          <p:cNvSpPr txBox="1"/>
          <p:nvPr/>
        </p:nvSpPr>
        <p:spPr>
          <a:xfrm>
            <a:off x="6007825" y="166600"/>
            <a:ext cx="2849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00"/>
                </a:solidFill>
                <a:latin typeface="Permanent Marker"/>
                <a:ea typeface="Permanent Marker"/>
                <a:cs typeface="Permanent Marker"/>
                <a:sym typeface="Permanent Marker"/>
              </a:rPr>
              <a:t>Fill in the missing Feature values </a:t>
            </a:r>
            <a:endParaRPr sz="1600">
              <a:solidFill>
                <a:srgbClr val="FF0000"/>
              </a:solidFill>
              <a:latin typeface="Permanent Marker"/>
              <a:ea typeface="Permanent Marker"/>
              <a:cs typeface="Permanent Marker"/>
              <a:sym typeface="Permanent Mark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0"/>
          <p:cNvPicPr preferRelativeResize="0"/>
          <p:nvPr/>
        </p:nvPicPr>
        <p:blipFill rotWithShape="1">
          <a:blip r:embed="rId3">
            <a:alphaModFix/>
          </a:blip>
          <a:srcRect b="0" l="14052" r="14615" t="0"/>
          <a:stretch/>
        </p:blipFill>
        <p:spPr>
          <a:xfrm>
            <a:off x="257350" y="67850"/>
            <a:ext cx="4892099" cy="5143500"/>
          </a:xfrm>
          <a:prstGeom prst="rect">
            <a:avLst/>
          </a:prstGeom>
          <a:noFill/>
          <a:ln>
            <a:noFill/>
          </a:ln>
        </p:spPr>
      </p:pic>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2" name="Google Shape;112;p20"/>
          <p:cNvGraphicFramePr/>
          <p:nvPr/>
        </p:nvGraphicFramePr>
        <p:xfrm>
          <a:off x="5560975" y="804475"/>
          <a:ext cx="3000000" cy="3000000"/>
        </p:xfrm>
        <a:graphic>
          <a:graphicData uri="http://schemas.openxmlformats.org/drawingml/2006/table">
            <a:tbl>
              <a:tblPr>
                <a:noFill/>
                <a:tableStyleId>{C04EF0E8-2E44-4BD7-9BCF-83D9B6E10316}</a:tableStyleId>
              </a:tblPr>
              <a:tblGrid>
                <a:gridCol w="1108225"/>
                <a:gridCol w="1108225"/>
                <a:gridCol w="1108225"/>
              </a:tblGrid>
              <a:tr h="6095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r>
              <a:tr h="419300">
                <a:tc>
                  <a:txBody>
                    <a:bodyPr/>
                    <a:lstStyle/>
                    <a:p>
                      <a:pPr indent="0" lvl="0" marL="0" rtl="0" algn="l">
                        <a:spcBef>
                          <a:spcPts val="0"/>
                        </a:spcBef>
                        <a:spcAft>
                          <a:spcPts val="0"/>
                        </a:spcAft>
                        <a:buNone/>
                      </a:pPr>
                      <a:r>
                        <a:rPr lang="en"/>
                        <a:t>man</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r>
              <a:tr h="419300">
                <a:tc>
                  <a:txBody>
                    <a:bodyPr/>
                    <a:lstStyle/>
                    <a:p>
                      <a:pPr indent="0" lvl="0" marL="0" rtl="0" algn="l">
                        <a:spcBef>
                          <a:spcPts val="0"/>
                        </a:spcBef>
                        <a:spcAft>
                          <a:spcPts val="0"/>
                        </a:spcAft>
                        <a:buNone/>
                      </a:pPr>
                      <a:r>
                        <a:rPr lang="en"/>
                        <a:t>woman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r>
              <a:tr h="419300">
                <a:tc>
                  <a:txBody>
                    <a:bodyPr/>
                    <a:lstStyle/>
                    <a:p>
                      <a:pPr indent="0" lvl="0" marL="0" rtl="0" algn="l">
                        <a:spcBef>
                          <a:spcPts val="0"/>
                        </a:spcBef>
                        <a:spcAft>
                          <a:spcPts val="0"/>
                        </a:spcAft>
                        <a:buNone/>
                      </a:pPr>
                      <a:r>
                        <a:rPr lang="en"/>
                        <a:t>boy</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19300">
                <a:tc>
                  <a:txBody>
                    <a:bodyPr/>
                    <a:lstStyle/>
                    <a:p>
                      <a:pPr indent="0" lvl="0" marL="0" rtl="0" algn="l">
                        <a:spcBef>
                          <a:spcPts val="0"/>
                        </a:spcBef>
                        <a:spcAft>
                          <a:spcPts val="0"/>
                        </a:spcAft>
                        <a:buNone/>
                      </a:pPr>
                      <a:r>
                        <a:rPr lang="en"/>
                        <a:t>girl</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19300">
                <a:tc>
                  <a:txBody>
                    <a:bodyPr/>
                    <a:lstStyle/>
                    <a:p>
                      <a:pPr indent="0" lvl="0" marL="0" rtl="0" algn="l">
                        <a:spcBef>
                          <a:spcPts val="0"/>
                        </a:spcBef>
                        <a:spcAft>
                          <a:spcPts val="0"/>
                        </a:spcAft>
                        <a:buNone/>
                      </a:pPr>
                      <a:r>
                        <a:rPr lang="en">
                          <a:highlight>
                            <a:srgbClr val="00FF00"/>
                          </a:highlight>
                        </a:rPr>
                        <a:t>grandfather</a:t>
                      </a:r>
                      <a:endParaRPr>
                        <a:highlight>
                          <a:srgbClr val="00FF00"/>
                        </a:highlight>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419300">
                <a:tc>
                  <a:txBody>
                    <a:bodyPr/>
                    <a:lstStyle/>
                    <a:p>
                      <a:pPr indent="0" lvl="0" marL="0" rtl="0" algn="l">
                        <a:spcBef>
                          <a:spcPts val="0"/>
                        </a:spcBef>
                        <a:spcAft>
                          <a:spcPts val="0"/>
                        </a:spcAft>
                        <a:buNone/>
                      </a:pPr>
                      <a:r>
                        <a:rPr lang="en">
                          <a:highlight>
                            <a:srgbClr val="FF0000"/>
                          </a:highlight>
                        </a:rPr>
                        <a:t>adult</a:t>
                      </a:r>
                      <a:endParaRPr>
                        <a:highlight>
                          <a:srgbClr val="FF0000"/>
                        </a:highlight>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419300">
                <a:tc>
                  <a:txBody>
                    <a:bodyPr/>
                    <a:lstStyle/>
                    <a:p>
                      <a:pPr indent="0" lvl="0" marL="0" rtl="0" algn="l">
                        <a:spcBef>
                          <a:spcPts val="0"/>
                        </a:spcBef>
                        <a:spcAft>
                          <a:spcPts val="0"/>
                        </a:spcAft>
                        <a:buNone/>
                      </a:pPr>
                      <a:r>
                        <a:rPr lang="en">
                          <a:highlight>
                            <a:srgbClr val="FF9900"/>
                          </a:highlight>
                        </a:rPr>
                        <a:t>child</a:t>
                      </a:r>
                      <a:endParaRPr>
                        <a:highlight>
                          <a:srgbClr val="FF9900"/>
                        </a:highlight>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419300">
                <a:tc>
                  <a:txBody>
                    <a:bodyPr/>
                    <a:lstStyle/>
                    <a:p>
                      <a:pPr indent="0" lvl="0" marL="0" rtl="0" algn="l">
                        <a:spcBef>
                          <a:spcPts val="0"/>
                        </a:spcBef>
                        <a:spcAft>
                          <a:spcPts val="0"/>
                        </a:spcAft>
                        <a:buNone/>
                      </a:pPr>
                      <a:r>
                        <a:rPr lang="en">
                          <a:highlight>
                            <a:srgbClr val="FF00FF"/>
                          </a:highlight>
                        </a:rPr>
                        <a:t>infant</a:t>
                      </a:r>
                      <a:endParaRPr>
                        <a:highlight>
                          <a:srgbClr val="FF00FF"/>
                        </a:highlight>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13" name="Google Shape;113;p20"/>
          <p:cNvSpPr txBox="1"/>
          <p:nvPr/>
        </p:nvSpPr>
        <p:spPr>
          <a:xfrm>
            <a:off x="6390000" y="166600"/>
            <a:ext cx="1872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00"/>
                </a:solidFill>
                <a:latin typeface="Permanent Marker"/>
                <a:ea typeface="Permanent Marker"/>
                <a:cs typeface="Permanent Marker"/>
                <a:sym typeface="Permanent Marker"/>
              </a:rPr>
              <a:t>Fill in the missing values</a:t>
            </a:r>
            <a:endParaRPr sz="1600">
              <a:solidFill>
                <a:srgbClr val="FF0000"/>
              </a:solidFill>
              <a:latin typeface="Permanent Marker"/>
              <a:ea typeface="Permanent Marker"/>
              <a:cs typeface="Permanent Marker"/>
              <a:sym typeface="Permanent Mark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9" name="Google Shape;119;p21"/>
          <p:cNvGraphicFramePr/>
          <p:nvPr/>
        </p:nvGraphicFramePr>
        <p:xfrm>
          <a:off x="5560975" y="804475"/>
          <a:ext cx="3000000" cy="3000000"/>
        </p:xfrm>
        <a:graphic>
          <a:graphicData uri="http://schemas.openxmlformats.org/drawingml/2006/table">
            <a:tbl>
              <a:tblPr>
                <a:noFill/>
                <a:tableStyleId>{C04EF0E8-2E44-4BD7-9BCF-83D9B6E10316}</a:tableStyleId>
              </a:tblPr>
              <a:tblGrid>
                <a:gridCol w="1174675"/>
                <a:gridCol w="1174675"/>
                <a:gridCol w="1174675"/>
              </a:tblGrid>
              <a:tr h="6095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r>
              <a:tr h="419300">
                <a:tc>
                  <a:txBody>
                    <a:bodyPr/>
                    <a:lstStyle/>
                    <a:p>
                      <a:pPr indent="0" lvl="0" marL="0" rtl="0" algn="l">
                        <a:spcBef>
                          <a:spcPts val="0"/>
                        </a:spcBef>
                        <a:spcAft>
                          <a:spcPts val="0"/>
                        </a:spcAft>
                        <a:buNone/>
                      </a:pPr>
                      <a:r>
                        <a:rPr lang="en"/>
                        <a:t>man</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r>
              <a:tr h="419300">
                <a:tc>
                  <a:txBody>
                    <a:bodyPr/>
                    <a:lstStyle/>
                    <a:p>
                      <a:pPr indent="0" lvl="0" marL="0" rtl="0" algn="l">
                        <a:spcBef>
                          <a:spcPts val="0"/>
                        </a:spcBef>
                        <a:spcAft>
                          <a:spcPts val="0"/>
                        </a:spcAft>
                        <a:buNone/>
                      </a:pPr>
                      <a:r>
                        <a:rPr lang="en"/>
                        <a:t>woman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r>
              <a:tr h="419300">
                <a:tc>
                  <a:txBody>
                    <a:bodyPr/>
                    <a:lstStyle/>
                    <a:p>
                      <a:pPr indent="0" lvl="0" marL="0" rtl="0" algn="l">
                        <a:spcBef>
                          <a:spcPts val="0"/>
                        </a:spcBef>
                        <a:spcAft>
                          <a:spcPts val="0"/>
                        </a:spcAft>
                        <a:buNone/>
                      </a:pPr>
                      <a:r>
                        <a:rPr lang="en"/>
                        <a:t>boy</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19300">
                <a:tc>
                  <a:txBody>
                    <a:bodyPr/>
                    <a:lstStyle/>
                    <a:p>
                      <a:pPr indent="0" lvl="0" marL="0" rtl="0" algn="l">
                        <a:spcBef>
                          <a:spcPts val="0"/>
                        </a:spcBef>
                        <a:spcAft>
                          <a:spcPts val="0"/>
                        </a:spcAft>
                        <a:buNone/>
                      </a:pPr>
                      <a:r>
                        <a:rPr lang="en"/>
                        <a:t>girl</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19300">
                <a:tc>
                  <a:txBody>
                    <a:bodyPr/>
                    <a:lstStyle/>
                    <a:p>
                      <a:pPr indent="0" lvl="0" marL="0" rtl="0" algn="l">
                        <a:spcBef>
                          <a:spcPts val="0"/>
                        </a:spcBef>
                        <a:spcAft>
                          <a:spcPts val="0"/>
                        </a:spcAft>
                        <a:buNone/>
                      </a:pPr>
                      <a:r>
                        <a:rPr lang="en"/>
                        <a:t>grandfather</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r>
              <a:tr h="419300">
                <a:tc>
                  <a:txBody>
                    <a:bodyPr/>
                    <a:lstStyle/>
                    <a:p>
                      <a:pPr indent="0" lvl="0" marL="0" rtl="0" algn="l">
                        <a:spcBef>
                          <a:spcPts val="0"/>
                        </a:spcBef>
                        <a:spcAft>
                          <a:spcPts val="0"/>
                        </a:spcAft>
                        <a:buNone/>
                      </a:pPr>
                      <a:r>
                        <a:rPr lang="en"/>
                        <a:t>adult</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r>
              <a:tr h="419300">
                <a:tc>
                  <a:txBody>
                    <a:bodyPr/>
                    <a:lstStyle/>
                    <a:p>
                      <a:pPr indent="0" lvl="0" marL="0" rtl="0" algn="l">
                        <a:spcBef>
                          <a:spcPts val="0"/>
                        </a:spcBef>
                        <a:spcAft>
                          <a:spcPts val="0"/>
                        </a:spcAft>
                        <a:buNone/>
                      </a:pPr>
                      <a:r>
                        <a:rPr lang="en"/>
                        <a:t>child</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r h="419300">
                <a:tc>
                  <a:txBody>
                    <a:bodyPr/>
                    <a:lstStyle/>
                    <a:p>
                      <a:pPr indent="0" lvl="0" marL="0" rtl="0" algn="l">
                        <a:spcBef>
                          <a:spcPts val="0"/>
                        </a:spcBef>
                        <a:spcAft>
                          <a:spcPts val="0"/>
                        </a:spcAft>
                        <a:buNone/>
                      </a:pPr>
                      <a:r>
                        <a:rPr lang="en"/>
                        <a:t>infant</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bl>
          </a:graphicData>
        </a:graphic>
      </p:graphicFrame>
      <p:pic>
        <p:nvPicPr>
          <p:cNvPr id="120" name="Google Shape;120;p21"/>
          <p:cNvPicPr preferRelativeResize="0"/>
          <p:nvPr/>
        </p:nvPicPr>
        <p:blipFill rotWithShape="1">
          <a:blip r:embed="rId3">
            <a:alphaModFix/>
          </a:blip>
          <a:srcRect b="0" l="14688" r="13974" t="0"/>
          <a:stretch/>
        </p:blipFill>
        <p:spPr>
          <a:xfrm>
            <a:off x="292675" y="67850"/>
            <a:ext cx="4892099"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6" name="Google Shape;126;p22"/>
          <p:cNvPicPr preferRelativeResize="0"/>
          <p:nvPr/>
        </p:nvPicPr>
        <p:blipFill rotWithShape="1">
          <a:blip r:embed="rId3">
            <a:alphaModFix/>
          </a:blip>
          <a:srcRect b="0" l="14688" r="13974" t="0"/>
          <a:stretch/>
        </p:blipFill>
        <p:spPr>
          <a:xfrm>
            <a:off x="292675" y="67850"/>
            <a:ext cx="4892099" cy="5143500"/>
          </a:xfrm>
          <a:prstGeom prst="rect">
            <a:avLst/>
          </a:prstGeom>
          <a:noFill/>
          <a:ln>
            <a:noFill/>
          </a:ln>
        </p:spPr>
      </p:pic>
      <p:sp>
        <p:nvSpPr>
          <p:cNvPr id="127" name="Google Shape;127;p22"/>
          <p:cNvSpPr txBox="1"/>
          <p:nvPr/>
        </p:nvSpPr>
        <p:spPr>
          <a:xfrm>
            <a:off x="5640175" y="918650"/>
            <a:ext cx="31164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How would you represent:</a:t>
            </a:r>
            <a:br>
              <a:rPr lang="en" sz="1800"/>
            </a:br>
            <a:endParaRPr sz="1800"/>
          </a:p>
          <a:p>
            <a:pPr indent="-342900" lvl="0" marL="457200" rtl="0" algn="l">
              <a:spcBef>
                <a:spcPts val="0"/>
              </a:spcBef>
              <a:spcAft>
                <a:spcPts val="0"/>
              </a:spcAft>
              <a:buSzPts val="1800"/>
              <a:buChar char="●"/>
            </a:pPr>
            <a:r>
              <a:rPr lang="en" sz="1800"/>
              <a:t>g</a:t>
            </a:r>
            <a:r>
              <a:rPr lang="en" sz="1800"/>
              <a:t>randmother</a:t>
            </a:r>
            <a:br>
              <a:rPr lang="en" sz="1800"/>
            </a:br>
            <a:endParaRPr sz="1800"/>
          </a:p>
          <a:p>
            <a:pPr indent="-342900" lvl="0" marL="457200" rtl="0" algn="l">
              <a:spcBef>
                <a:spcPts val="0"/>
              </a:spcBef>
              <a:spcAft>
                <a:spcPts val="0"/>
              </a:spcAft>
              <a:buSzPts val="1800"/>
              <a:buChar char="●"/>
            </a:pPr>
            <a:r>
              <a:rPr lang="en" sz="1800"/>
              <a:t>g</a:t>
            </a:r>
            <a:r>
              <a:rPr lang="en" sz="1800"/>
              <a:t>randparent</a:t>
            </a:r>
            <a:br>
              <a:rPr lang="en" sz="1800"/>
            </a:br>
            <a:endParaRPr sz="1800"/>
          </a:p>
          <a:p>
            <a:pPr indent="-342900" lvl="0" marL="457200" rtl="0" algn="l">
              <a:spcBef>
                <a:spcPts val="0"/>
              </a:spcBef>
              <a:spcAft>
                <a:spcPts val="0"/>
              </a:spcAft>
              <a:buSzPts val="1800"/>
              <a:buChar char="●"/>
            </a:pPr>
            <a:r>
              <a:rPr lang="en" sz="1800"/>
              <a:t>t</a:t>
            </a:r>
            <a:r>
              <a:rPr lang="en" sz="1800"/>
              <a:t>eenager</a:t>
            </a:r>
            <a:br>
              <a:rPr lang="en" sz="1800"/>
            </a:br>
            <a:endParaRPr sz="1800"/>
          </a:p>
          <a:p>
            <a:pPr indent="-342900" lvl="0" marL="457200" rtl="0" algn="l">
              <a:spcBef>
                <a:spcPts val="0"/>
              </a:spcBef>
              <a:spcAft>
                <a:spcPts val="0"/>
              </a:spcAft>
              <a:buSzPts val="1800"/>
              <a:buChar char="●"/>
            </a:pPr>
            <a:r>
              <a:rPr lang="en" sz="1800"/>
              <a:t>octogenarian</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Semantic Dimensions</a:t>
            </a:r>
            <a:endParaRPr/>
          </a:p>
        </p:txBody>
      </p:sp>
      <p:sp>
        <p:nvSpPr>
          <p:cNvPr id="133" name="Google Shape;13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would you represent king, queen prince, and princess?</a:t>
            </a:r>
            <a:endParaRPr/>
          </a:p>
          <a:p>
            <a:pPr indent="0" lvl="0" marL="0" rtl="0" algn="l">
              <a:spcBef>
                <a:spcPts val="1200"/>
              </a:spcBef>
              <a:spcAft>
                <a:spcPts val="0"/>
              </a:spcAft>
              <a:buNone/>
            </a:pPr>
            <a:r>
              <a:rPr lang="en"/>
              <a:t>We need another semantic dimension.</a:t>
            </a:r>
            <a:endParaRPr/>
          </a:p>
          <a:p>
            <a:pPr indent="0" lvl="0" marL="0" rtl="0" algn="l">
              <a:spcBef>
                <a:spcPts val="1200"/>
              </a:spcBef>
              <a:spcAft>
                <a:spcPts val="1200"/>
              </a:spcAft>
              <a:buNone/>
            </a:pPr>
            <a:r>
              <a:rPr lang="en"/>
              <a:t>What would you call it?</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0" name="Google Shape;140;p24"/>
          <p:cNvPicPr preferRelativeResize="0"/>
          <p:nvPr/>
        </p:nvPicPr>
        <p:blipFill rotWithShape="1">
          <a:blip r:embed="rId3">
            <a:alphaModFix/>
          </a:blip>
          <a:srcRect b="0" l="10285" r="9043" t="0"/>
          <a:stretch/>
        </p:blipFill>
        <p:spPr>
          <a:xfrm>
            <a:off x="-46050" y="0"/>
            <a:ext cx="5532298" cy="5143500"/>
          </a:xfrm>
          <a:prstGeom prst="rect">
            <a:avLst/>
          </a:prstGeom>
          <a:noFill/>
          <a:ln>
            <a:noFill/>
          </a:ln>
        </p:spPr>
      </p:pic>
      <p:graphicFrame>
        <p:nvGraphicFramePr>
          <p:cNvPr id="141" name="Google Shape;141;p24"/>
          <p:cNvGraphicFramePr/>
          <p:nvPr/>
        </p:nvGraphicFramePr>
        <p:xfrm>
          <a:off x="5458775" y="184525"/>
          <a:ext cx="3000000" cy="3000000"/>
        </p:xfrm>
        <a:graphic>
          <a:graphicData uri="http://schemas.openxmlformats.org/drawingml/2006/table">
            <a:tbl>
              <a:tblPr>
                <a:noFill/>
                <a:tableStyleId>{C04EF0E8-2E44-4BD7-9BCF-83D9B6E10316}</a:tableStyleId>
              </a:tblPr>
              <a:tblGrid>
                <a:gridCol w="891975"/>
                <a:gridCol w="891975"/>
                <a:gridCol w="891975"/>
                <a:gridCol w="891975"/>
              </a:tblGrid>
              <a:tr h="587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c>
                  <a:txBody>
                    <a:bodyPr/>
                    <a:lstStyle/>
                    <a:p>
                      <a:pPr indent="0" lvl="0" marL="0" rtl="0" algn="ctr">
                        <a:spcBef>
                          <a:spcPts val="0"/>
                        </a:spcBef>
                        <a:spcAft>
                          <a:spcPts val="0"/>
                        </a:spcAft>
                        <a:buNone/>
                      </a:pPr>
                      <a:r>
                        <a:rPr b="1" lang="en"/>
                        <a:t>Royalty</a:t>
                      </a:r>
                      <a:endParaRPr b="1"/>
                    </a:p>
                  </a:txBody>
                  <a:tcPr marT="91425" marB="91425" marR="91425" marL="91425">
                    <a:solidFill>
                      <a:srgbClr val="EAD1DC"/>
                    </a:solidFill>
                  </a:tcPr>
                </a:tc>
              </a:tr>
              <a:tr h="381650">
                <a:tc>
                  <a:txBody>
                    <a:bodyPr/>
                    <a:lstStyle/>
                    <a:p>
                      <a:pPr indent="0" lvl="0" marL="0" rtl="0" algn="l">
                        <a:spcBef>
                          <a:spcPts val="0"/>
                        </a:spcBef>
                        <a:spcAft>
                          <a:spcPts val="0"/>
                        </a:spcAft>
                        <a:buNone/>
                      </a:pPr>
                      <a:r>
                        <a:rPr lang="en"/>
                        <a:t>m</a:t>
                      </a:r>
                      <a:r>
                        <a:rPr lang="en"/>
                        <a:t>an</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woman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boy</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girl</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king</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queen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prince</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princess</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monarch</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42" name="Google Shape;142;p24"/>
          <p:cNvSpPr/>
          <p:nvPr/>
        </p:nvSpPr>
        <p:spPr>
          <a:xfrm rot="-1263728">
            <a:off x="3399538" y="4282524"/>
            <a:ext cx="2055206" cy="336284"/>
          </a:xfrm>
          <a:prstGeom prst="rect">
            <a:avLst/>
          </a:prstGeom>
          <a:solidFill>
            <a:srgbClr val="EAD1DC">
              <a:alpha val="413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8" name="Google Shape;148;p25"/>
          <p:cNvPicPr preferRelativeResize="0"/>
          <p:nvPr/>
        </p:nvPicPr>
        <p:blipFill rotWithShape="1">
          <a:blip r:embed="rId3">
            <a:alphaModFix/>
          </a:blip>
          <a:srcRect b="0" l="10285" r="9043" t="0"/>
          <a:stretch/>
        </p:blipFill>
        <p:spPr>
          <a:xfrm>
            <a:off x="-46050" y="0"/>
            <a:ext cx="5532298" cy="5143500"/>
          </a:xfrm>
          <a:prstGeom prst="rect">
            <a:avLst/>
          </a:prstGeom>
          <a:noFill/>
          <a:ln>
            <a:noFill/>
          </a:ln>
        </p:spPr>
      </p:pic>
      <p:graphicFrame>
        <p:nvGraphicFramePr>
          <p:cNvPr id="149" name="Google Shape;149;p25"/>
          <p:cNvGraphicFramePr/>
          <p:nvPr/>
        </p:nvGraphicFramePr>
        <p:xfrm>
          <a:off x="5458775" y="184525"/>
          <a:ext cx="3000000" cy="3000000"/>
        </p:xfrm>
        <a:graphic>
          <a:graphicData uri="http://schemas.openxmlformats.org/drawingml/2006/table">
            <a:tbl>
              <a:tblPr>
                <a:noFill/>
                <a:tableStyleId>{C04EF0E8-2E44-4BD7-9BCF-83D9B6E10316}</a:tableStyleId>
              </a:tblPr>
              <a:tblGrid>
                <a:gridCol w="891975"/>
                <a:gridCol w="891975"/>
                <a:gridCol w="891975"/>
                <a:gridCol w="891975"/>
              </a:tblGrid>
              <a:tr h="587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c>
                  <a:txBody>
                    <a:bodyPr/>
                    <a:lstStyle/>
                    <a:p>
                      <a:pPr indent="0" lvl="0" marL="0" rtl="0" algn="ctr">
                        <a:spcBef>
                          <a:spcPts val="0"/>
                        </a:spcBef>
                        <a:spcAft>
                          <a:spcPts val="0"/>
                        </a:spcAft>
                        <a:buNone/>
                      </a:pPr>
                      <a:r>
                        <a:rPr b="1" lang="en"/>
                        <a:t>Royalty</a:t>
                      </a:r>
                      <a:endParaRPr b="1"/>
                    </a:p>
                  </a:txBody>
                  <a:tcPr marT="91425" marB="91425" marR="91425" marL="91425">
                    <a:solidFill>
                      <a:srgbClr val="EAD1DC"/>
                    </a:solidFill>
                  </a:tcPr>
                </a:tc>
              </a:tr>
              <a:tr h="381650">
                <a:tc>
                  <a:txBody>
                    <a:bodyPr/>
                    <a:lstStyle/>
                    <a:p>
                      <a:pPr indent="0" lvl="0" marL="0" rtl="0" algn="l">
                        <a:spcBef>
                          <a:spcPts val="0"/>
                        </a:spcBef>
                        <a:spcAft>
                          <a:spcPts val="0"/>
                        </a:spcAft>
                        <a:buNone/>
                      </a:pPr>
                      <a:r>
                        <a:rPr lang="en"/>
                        <a:t>man</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woman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boy</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girl</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650">
                <a:tc>
                  <a:txBody>
                    <a:bodyPr/>
                    <a:lstStyle/>
                    <a:p>
                      <a:pPr indent="0" lvl="0" marL="0" rtl="0" algn="l">
                        <a:spcBef>
                          <a:spcPts val="0"/>
                        </a:spcBef>
                        <a:spcAft>
                          <a:spcPts val="0"/>
                        </a:spcAft>
                        <a:buNone/>
                      </a:pPr>
                      <a:r>
                        <a:rPr lang="en"/>
                        <a:t>king</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queen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prince</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princess</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650">
                <a:tc>
                  <a:txBody>
                    <a:bodyPr/>
                    <a:lstStyle/>
                    <a:p>
                      <a:pPr indent="0" lvl="0" marL="0" rtl="0" algn="l">
                        <a:spcBef>
                          <a:spcPts val="0"/>
                        </a:spcBef>
                        <a:spcAft>
                          <a:spcPts val="0"/>
                        </a:spcAft>
                        <a:buNone/>
                      </a:pPr>
                      <a:r>
                        <a:rPr lang="en"/>
                        <a:t>monarch</a:t>
                      </a:r>
                      <a:endParaRPr/>
                    </a:p>
                  </a:txBody>
                  <a:tcPr marT="91425" marB="91425" marR="91425" marL="91425"/>
                </a:tc>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bl>
          </a:graphicData>
        </a:graphic>
      </p:graphicFrame>
      <p:sp>
        <p:nvSpPr>
          <p:cNvPr id="150" name="Google Shape;150;p25"/>
          <p:cNvSpPr/>
          <p:nvPr/>
        </p:nvSpPr>
        <p:spPr>
          <a:xfrm rot="-1263728">
            <a:off x="3517783" y="4240479"/>
            <a:ext cx="2055206" cy="336284"/>
          </a:xfrm>
          <a:prstGeom prst="rect">
            <a:avLst/>
          </a:prstGeom>
          <a:solidFill>
            <a:srgbClr val="EAD1DC">
              <a:alpha val="413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Semantic Distance</a:t>
            </a:r>
            <a:endParaRPr/>
          </a:p>
        </p:txBody>
      </p:sp>
      <p:sp>
        <p:nvSpPr>
          <p:cNvPr id="156" name="Google Shape;156;p26"/>
          <p:cNvSpPr txBox="1"/>
          <p:nvPr>
            <p:ph idx="1" type="body"/>
          </p:nvPr>
        </p:nvSpPr>
        <p:spPr>
          <a:xfrm>
            <a:off x="311700" y="1152475"/>
            <a:ext cx="4260300" cy="3904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Is “boy” closer to “girl” or to “queen”?</a:t>
            </a:r>
            <a:endParaRPr/>
          </a:p>
          <a:p>
            <a:pPr indent="0" lvl="0" marL="0" rtl="0" algn="l">
              <a:spcBef>
                <a:spcPts val="1200"/>
              </a:spcBef>
              <a:spcAft>
                <a:spcPts val="0"/>
              </a:spcAft>
              <a:buNone/>
            </a:pPr>
            <a:r>
              <a:rPr b="1" lang="en"/>
              <a:t>How can we measure the distance?</a:t>
            </a:r>
            <a:endParaRPr b="1"/>
          </a:p>
          <a:p>
            <a:pPr indent="-342900" lvl="0" marL="457200" rtl="0" algn="l">
              <a:spcBef>
                <a:spcPts val="1200"/>
              </a:spcBef>
              <a:spcAft>
                <a:spcPts val="0"/>
              </a:spcAft>
              <a:buSzPts val="1800"/>
              <a:buChar char="●"/>
            </a:pPr>
            <a:r>
              <a:rPr lang="en"/>
              <a:t>Count the number of features where they differ:</a:t>
            </a:r>
            <a:br>
              <a:rPr lang="en"/>
            </a:br>
            <a:r>
              <a:rPr lang="en"/>
              <a:t>  </a:t>
            </a:r>
            <a:r>
              <a:rPr lang="en"/>
              <a:t>b</a:t>
            </a:r>
            <a:r>
              <a:rPr lang="en"/>
              <a:t>oy:girl - 1 feature</a:t>
            </a:r>
            <a:br>
              <a:rPr lang="en"/>
            </a:br>
            <a:r>
              <a:rPr lang="en"/>
              <a:t>  </a:t>
            </a:r>
            <a:r>
              <a:rPr lang="en"/>
              <a:t>b</a:t>
            </a:r>
            <a:r>
              <a:rPr lang="en"/>
              <a:t>oy:queen - 3 features</a:t>
            </a:r>
            <a:br>
              <a:rPr lang="en"/>
            </a:br>
            <a:endParaRPr/>
          </a:p>
          <a:p>
            <a:pPr indent="-342900" lvl="0" marL="457200" rtl="0" algn="l">
              <a:spcBef>
                <a:spcPts val="0"/>
              </a:spcBef>
              <a:spcAft>
                <a:spcPts val="0"/>
              </a:spcAft>
              <a:buSzPts val="1800"/>
              <a:buChar char="●"/>
            </a:pPr>
            <a:r>
              <a:rPr lang="en"/>
              <a:t>Measure distance between points using the Pythagorean theorem:</a:t>
            </a:r>
            <a:br>
              <a:rPr lang="en"/>
            </a:br>
            <a:r>
              <a:rPr lang="en"/>
              <a:t>  </a:t>
            </a:r>
            <a:r>
              <a:rPr lang="en"/>
              <a:t>b</a:t>
            </a:r>
            <a:r>
              <a:rPr lang="en"/>
              <a:t>oy:girl distance 8</a:t>
            </a:r>
            <a:br>
              <a:rPr lang="en"/>
            </a:br>
            <a:r>
              <a:rPr lang="en"/>
              <a:t>  boy:queen distance 11.75</a:t>
            </a:r>
            <a:endParaRPr/>
          </a:p>
        </p:txBody>
      </p:sp>
      <p:sp>
        <p:nvSpPr>
          <p:cNvPr id="157" name="Google Shape;15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58" name="Google Shape;158;p26"/>
          <p:cNvGraphicFramePr/>
          <p:nvPr/>
        </p:nvGraphicFramePr>
        <p:xfrm>
          <a:off x="5572900" y="857250"/>
          <a:ext cx="3000000" cy="3000000"/>
        </p:xfrm>
        <a:graphic>
          <a:graphicData uri="http://schemas.openxmlformats.org/drawingml/2006/table">
            <a:tbl>
              <a:tblPr>
                <a:noFill/>
                <a:tableStyleId>{C04EF0E8-2E44-4BD7-9BCF-83D9B6E10316}</a:tableStyleId>
              </a:tblPr>
              <a:tblGrid>
                <a:gridCol w="846425"/>
                <a:gridCol w="846425"/>
                <a:gridCol w="846425"/>
                <a:gridCol w="846425"/>
              </a:tblGrid>
              <a:tr h="6095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c>
                  <a:txBody>
                    <a:bodyPr/>
                    <a:lstStyle/>
                    <a:p>
                      <a:pPr indent="0" lvl="0" marL="0" rtl="0" algn="ctr">
                        <a:spcBef>
                          <a:spcPts val="0"/>
                        </a:spcBef>
                        <a:spcAft>
                          <a:spcPts val="0"/>
                        </a:spcAft>
                        <a:buNone/>
                      </a:pPr>
                      <a:r>
                        <a:rPr b="1" lang="en"/>
                        <a:t>Royalty</a:t>
                      </a:r>
                      <a:endParaRPr b="1"/>
                    </a:p>
                  </a:txBody>
                  <a:tcPr marT="91425" marB="91425" marR="91425" marL="91425"/>
                </a:tc>
              </a:tr>
              <a:tr h="381000">
                <a:tc>
                  <a:txBody>
                    <a:bodyPr/>
                    <a:lstStyle/>
                    <a:p>
                      <a:pPr indent="0" lvl="0" marL="0" rtl="0" algn="l">
                        <a:spcBef>
                          <a:spcPts val="0"/>
                        </a:spcBef>
                        <a:spcAft>
                          <a:spcPts val="0"/>
                        </a:spcAft>
                        <a:buNone/>
                      </a:pPr>
                      <a:r>
                        <a:rPr lang="en"/>
                        <a:t>man</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woman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boy</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girl</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king</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000">
                <a:tc>
                  <a:txBody>
                    <a:bodyPr/>
                    <a:lstStyle/>
                    <a:p>
                      <a:pPr indent="0" lvl="0" marL="0" rtl="0" algn="l">
                        <a:spcBef>
                          <a:spcPts val="0"/>
                        </a:spcBef>
                        <a:spcAft>
                          <a:spcPts val="0"/>
                        </a:spcAft>
                        <a:buNone/>
                      </a:pPr>
                      <a:r>
                        <a:rPr lang="en"/>
                        <a:t>queen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000">
                <a:tc>
                  <a:txBody>
                    <a:bodyPr/>
                    <a:lstStyle/>
                    <a:p>
                      <a:pPr indent="0" lvl="0" marL="0" rtl="0" algn="l">
                        <a:spcBef>
                          <a:spcPts val="0"/>
                        </a:spcBef>
                        <a:spcAft>
                          <a:spcPts val="0"/>
                        </a:spcAft>
                        <a:buNone/>
                      </a:pPr>
                      <a:r>
                        <a:rPr lang="en"/>
                        <a:t>prince</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r h="381000">
                <a:tc>
                  <a:txBody>
                    <a:bodyPr/>
                    <a:lstStyle/>
                    <a:p>
                      <a:pPr indent="0" lvl="0" marL="0" rtl="0" algn="l">
                        <a:spcBef>
                          <a:spcPts val="0"/>
                        </a:spcBef>
                        <a:spcAft>
                          <a:spcPts val="0"/>
                        </a:spcAft>
                        <a:buNone/>
                      </a:pPr>
                      <a:r>
                        <a:rPr lang="en"/>
                        <a:t>princess</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8</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7"/>
          <p:cNvPicPr preferRelativeResize="0"/>
          <p:nvPr/>
        </p:nvPicPr>
        <p:blipFill rotWithShape="1">
          <a:blip r:embed="rId3">
            <a:alphaModFix/>
          </a:blip>
          <a:srcRect b="0" l="14330" r="14337" t="0"/>
          <a:stretch/>
        </p:blipFill>
        <p:spPr>
          <a:xfrm>
            <a:off x="257350" y="67850"/>
            <a:ext cx="4892099" cy="5143500"/>
          </a:xfrm>
          <a:prstGeom prst="rect">
            <a:avLst/>
          </a:prstGeom>
          <a:noFill/>
          <a:ln>
            <a:noFill/>
          </a:ln>
        </p:spPr>
      </p:pic>
      <p:sp>
        <p:nvSpPr>
          <p:cNvPr id="164" name="Google Shape;16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65" name="Google Shape;165;p27"/>
          <p:cNvGraphicFramePr/>
          <p:nvPr/>
        </p:nvGraphicFramePr>
        <p:xfrm>
          <a:off x="5782175" y="1154850"/>
          <a:ext cx="3000000" cy="3000000"/>
        </p:xfrm>
        <a:graphic>
          <a:graphicData uri="http://schemas.openxmlformats.org/drawingml/2006/table">
            <a:tbl>
              <a:tblPr>
                <a:noFill/>
                <a:tableStyleId>{C04EF0E8-2E44-4BD7-9BCF-83D9B6E10316}</a:tableStyleId>
              </a:tblPr>
              <a:tblGrid>
                <a:gridCol w="868650"/>
                <a:gridCol w="868650"/>
                <a:gridCol w="868650"/>
              </a:tblGrid>
              <a:tr h="6095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r>
              <a:tr h="419300">
                <a:tc>
                  <a:txBody>
                    <a:bodyPr/>
                    <a:lstStyle/>
                    <a:p>
                      <a:pPr indent="0" lvl="0" marL="0" rtl="0" algn="l">
                        <a:spcBef>
                          <a:spcPts val="0"/>
                        </a:spcBef>
                        <a:spcAft>
                          <a:spcPts val="0"/>
                        </a:spcAft>
                        <a:buNone/>
                      </a:pPr>
                      <a:r>
                        <a:rPr lang="en"/>
                        <a:t>man</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7</a:t>
                      </a:r>
                      <a:endParaRPr/>
                    </a:p>
                  </a:txBody>
                  <a:tcPr marT="91425" marB="91425" marR="91425" marL="91425"/>
                </a:tc>
              </a:tr>
              <a:tr h="419300">
                <a:tc>
                  <a:txBody>
                    <a:bodyPr/>
                    <a:lstStyle/>
                    <a:p>
                      <a:pPr indent="0" lvl="0" marL="0" rtl="0" algn="l">
                        <a:spcBef>
                          <a:spcPts val="0"/>
                        </a:spcBef>
                        <a:spcAft>
                          <a:spcPts val="0"/>
                        </a:spcAft>
                        <a:buNone/>
                      </a:pPr>
                      <a:r>
                        <a:rPr lang="en"/>
                        <a:t>woman</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solidFill>
                      <a:srgbClr val="CFE2F3"/>
                    </a:solidFill>
                  </a:tcPr>
                </a:tc>
                <a:tc>
                  <a:txBody>
                    <a:bodyPr/>
                    <a:lstStyle/>
                    <a:p>
                      <a:pPr indent="0" lvl="0" marL="0" rtl="0" algn="ctr">
                        <a:spcBef>
                          <a:spcPts val="0"/>
                        </a:spcBef>
                        <a:spcAft>
                          <a:spcPts val="0"/>
                        </a:spcAft>
                        <a:buNone/>
                      </a:pPr>
                      <a:r>
                        <a:rPr lang="en"/>
                        <a:t>7</a:t>
                      </a:r>
                      <a:endParaRPr/>
                    </a:p>
                  </a:txBody>
                  <a:tcPr marT="91425" marB="91425" marR="91425" marL="91425">
                    <a:solidFill>
                      <a:srgbClr val="EAD1DC"/>
                    </a:solidFill>
                  </a:tcPr>
                </a:tc>
              </a:tr>
              <a:tr h="419300">
                <a:tc>
                  <a:txBody>
                    <a:bodyPr/>
                    <a:lstStyle/>
                    <a:p>
                      <a:pPr indent="0" lvl="0" marL="0" rtl="0" algn="l">
                        <a:spcBef>
                          <a:spcPts val="0"/>
                        </a:spcBef>
                        <a:spcAft>
                          <a:spcPts val="0"/>
                        </a:spcAft>
                        <a:buNone/>
                      </a:pPr>
                      <a:r>
                        <a:rPr lang="en"/>
                        <a:t>boy</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solidFill>
                      <a:srgbClr val="CFE2F3"/>
                    </a:solidFill>
                  </a:tcPr>
                </a:tc>
                <a:tc>
                  <a:txBody>
                    <a:bodyPr/>
                    <a:lstStyle/>
                    <a:p>
                      <a:pPr indent="0" lvl="0" marL="0" rtl="0" algn="ctr">
                        <a:spcBef>
                          <a:spcPts val="0"/>
                        </a:spcBef>
                        <a:spcAft>
                          <a:spcPts val="0"/>
                        </a:spcAft>
                        <a:buNone/>
                      </a:pPr>
                      <a:r>
                        <a:rPr lang="en"/>
                        <a:t>2</a:t>
                      </a:r>
                      <a:endParaRPr/>
                    </a:p>
                  </a:txBody>
                  <a:tcPr marT="91425" marB="91425" marR="91425" marL="91425">
                    <a:solidFill>
                      <a:srgbClr val="EAD1DC"/>
                    </a:solidFill>
                  </a:tcPr>
                </a:tc>
              </a:tr>
              <a:tr h="419300">
                <a:tc>
                  <a:txBody>
                    <a:bodyPr/>
                    <a:lstStyle/>
                    <a:p>
                      <a:pPr indent="0" lvl="0" marL="0" rtl="0" algn="l">
                        <a:spcBef>
                          <a:spcPts val="0"/>
                        </a:spcBef>
                        <a:spcAft>
                          <a:spcPts val="0"/>
                        </a:spcAft>
                        <a:buNone/>
                      </a:pPr>
                      <a:r>
                        <a:rPr lang="en"/>
                        <a:t>girl</a:t>
                      </a:r>
                      <a:endParaRPr/>
                    </a:p>
                  </a:txBody>
                  <a:tcPr marT="91425" marB="91425" marR="91425" marL="91425"/>
                </a:tc>
                <a:tc>
                  <a:txBody>
                    <a:bodyPr/>
                    <a:lstStyle/>
                    <a:p>
                      <a:pPr indent="0" lvl="0" marL="0" rtl="0" algn="ctr">
                        <a:spcBef>
                          <a:spcPts val="0"/>
                        </a:spcBef>
                        <a:spcAft>
                          <a:spcPts val="0"/>
                        </a:spcAft>
                        <a:buNone/>
                      </a:pPr>
                      <a:r>
                        <a:rPr lang="en"/>
                        <a:t>9</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r>
            </a:tbl>
          </a:graphicData>
        </a:graphic>
      </p:graphicFrame>
      <p:sp>
        <p:nvSpPr>
          <p:cNvPr id="166" name="Google Shape;166;p27"/>
          <p:cNvSpPr txBox="1"/>
          <p:nvPr/>
        </p:nvSpPr>
        <p:spPr>
          <a:xfrm>
            <a:off x="5606125" y="166600"/>
            <a:ext cx="325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0000"/>
                </a:solidFill>
                <a:latin typeface="Permanent Marker"/>
                <a:ea typeface="Permanent Marker"/>
                <a:cs typeface="Permanent Marker"/>
                <a:sym typeface="Permanent Marker"/>
              </a:rPr>
              <a:t>Pythagorean</a:t>
            </a:r>
            <a:r>
              <a:rPr lang="en" sz="2000">
                <a:solidFill>
                  <a:srgbClr val="FF0000"/>
                </a:solidFill>
                <a:latin typeface="Permanent Marker"/>
                <a:ea typeface="Permanent Marker"/>
                <a:cs typeface="Permanent Marker"/>
                <a:sym typeface="Permanent Marker"/>
              </a:rPr>
              <a:t> theorem</a:t>
            </a:r>
            <a:endParaRPr sz="2000">
              <a:solidFill>
                <a:srgbClr val="FF0000"/>
              </a:solidFill>
              <a:latin typeface="Permanent Marker"/>
              <a:ea typeface="Permanent Marker"/>
              <a:cs typeface="Permanent Marker"/>
              <a:sym typeface="Permanent Marker"/>
            </a:endParaRPr>
          </a:p>
        </p:txBody>
      </p:sp>
      <p:sp>
        <p:nvSpPr>
          <p:cNvPr id="167" name="Google Shape;167;p27"/>
          <p:cNvSpPr txBox="1"/>
          <p:nvPr/>
        </p:nvSpPr>
        <p:spPr>
          <a:xfrm>
            <a:off x="2853712" y="3717563"/>
            <a:ext cx="548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9900FF"/>
                </a:solidFill>
              </a:rPr>
              <a:t>8</a:t>
            </a:r>
            <a:endParaRPr b="1" sz="2100">
              <a:solidFill>
                <a:srgbClr val="9900FF"/>
              </a:solidFill>
            </a:endParaRPr>
          </a:p>
        </p:txBody>
      </p:sp>
      <p:sp>
        <p:nvSpPr>
          <p:cNvPr id="168" name="Google Shape;168;p27"/>
          <p:cNvSpPr txBox="1"/>
          <p:nvPr/>
        </p:nvSpPr>
        <p:spPr>
          <a:xfrm>
            <a:off x="4457385" y="2510916"/>
            <a:ext cx="336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9900FF"/>
                </a:solidFill>
              </a:rPr>
              <a:t>5</a:t>
            </a:r>
            <a:endParaRPr b="1" sz="2100">
              <a:solidFill>
                <a:srgbClr val="9900FF"/>
              </a:solidFill>
            </a:endParaRPr>
          </a:p>
        </p:txBody>
      </p:sp>
      <p:sp>
        <p:nvSpPr>
          <p:cNvPr id="169" name="Google Shape;169;p27"/>
          <p:cNvSpPr txBox="1"/>
          <p:nvPr/>
        </p:nvSpPr>
        <p:spPr>
          <a:xfrm rot="-1803897">
            <a:off x="1772002" y="2290587"/>
            <a:ext cx="2158164" cy="507818"/>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9900FF"/>
                </a:solidFill>
              </a:rPr>
              <a:t>√(8</a:t>
            </a:r>
            <a:r>
              <a:rPr b="1" baseline="30000" lang="en" sz="2100">
                <a:solidFill>
                  <a:srgbClr val="9900FF"/>
                </a:solidFill>
              </a:rPr>
              <a:t>2</a:t>
            </a:r>
            <a:r>
              <a:rPr b="1" lang="en" sz="2100">
                <a:solidFill>
                  <a:srgbClr val="9900FF"/>
                </a:solidFill>
              </a:rPr>
              <a:t> + 5</a:t>
            </a:r>
            <a:r>
              <a:rPr b="1" baseline="30000" lang="en" sz="2100">
                <a:solidFill>
                  <a:srgbClr val="9900FF"/>
                </a:solidFill>
              </a:rPr>
              <a:t>2</a:t>
            </a:r>
            <a:r>
              <a:rPr b="1" lang="en" sz="2100">
                <a:solidFill>
                  <a:srgbClr val="9900FF"/>
                </a:solidFill>
              </a:rPr>
              <a:t>) = 9.43</a:t>
            </a:r>
            <a:endParaRPr b="1" sz="2100">
              <a:solidFill>
                <a:srgbClr val="9900FF"/>
              </a:solidFill>
            </a:endParaRPr>
          </a:p>
        </p:txBody>
      </p:sp>
      <p:sp>
        <p:nvSpPr>
          <p:cNvPr id="170" name="Google Shape;170;p27"/>
          <p:cNvSpPr txBox="1"/>
          <p:nvPr/>
        </p:nvSpPr>
        <p:spPr>
          <a:xfrm>
            <a:off x="5660300" y="3650975"/>
            <a:ext cx="2849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distance from boy to woman is </a:t>
            </a:r>
            <a:r>
              <a:rPr lang="en">
                <a:solidFill>
                  <a:srgbClr val="9900FF"/>
                </a:solidFill>
              </a:rPr>
              <a:t>9.43</a:t>
            </a:r>
            <a:endParaRPr>
              <a:solidFill>
                <a:srgbClr val="9900FF"/>
              </a:solidFill>
            </a:endParaRPr>
          </a:p>
        </p:txBody>
      </p:sp>
      <p:sp>
        <p:nvSpPr>
          <p:cNvPr id="171" name="Google Shape;171;p27"/>
          <p:cNvSpPr txBox="1"/>
          <p:nvPr/>
        </p:nvSpPr>
        <p:spPr>
          <a:xfrm>
            <a:off x="5336125" y="562175"/>
            <a:ext cx="36360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300">
                <a:solidFill>
                  <a:schemeClr val="dk1"/>
                </a:solidFill>
              </a:rPr>
              <a:t>Measure distance between points using the Pythagorean theorem:</a:t>
            </a:r>
            <a:endParaRPr sz="900"/>
          </a:p>
        </p:txBody>
      </p:sp>
      <p:cxnSp>
        <p:nvCxnSpPr>
          <p:cNvPr id="172" name="Google Shape;172;p27"/>
          <p:cNvCxnSpPr/>
          <p:nvPr/>
        </p:nvCxnSpPr>
        <p:spPr>
          <a:xfrm>
            <a:off x="1265625" y="3823900"/>
            <a:ext cx="3227100" cy="0"/>
          </a:xfrm>
          <a:prstGeom prst="straightConnector1">
            <a:avLst/>
          </a:prstGeom>
          <a:noFill/>
          <a:ln cap="flat" cmpd="sng" w="28575">
            <a:solidFill>
              <a:srgbClr val="FF00FF"/>
            </a:solidFill>
            <a:prstDash val="solid"/>
            <a:round/>
            <a:headEnd len="med" w="med" type="none"/>
            <a:tailEnd len="med" w="med" type="none"/>
          </a:ln>
        </p:spPr>
      </p:cxnSp>
      <p:cxnSp>
        <p:nvCxnSpPr>
          <p:cNvPr id="173" name="Google Shape;173;p27"/>
          <p:cNvCxnSpPr/>
          <p:nvPr/>
        </p:nvCxnSpPr>
        <p:spPr>
          <a:xfrm flipH="1">
            <a:off x="4501850" y="1840700"/>
            <a:ext cx="4800" cy="1992600"/>
          </a:xfrm>
          <a:prstGeom prst="straightConnector1">
            <a:avLst/>
          </a:prstGeom>
          <a:noFill/>
          <a:ln cap="flat" cmpd="sng" w="28575">
            <a:solidFill>
              <a:srgbClr val="FF00FF"/>
            </a:solidFill>
            <a:prstDash val="solid"/>
            <a:round/>
            <a:headEnd len="med" w="med" type="none"/>
            <a:tailEnd len="med" w="med" type="none"/>
          </a:ln>
        </p:spPr>
      </p:cxnSp>
      <p:cxnSp>
        <p:nvCxnSpPr>
          <p:cNvPr id="174" name="Google Shape;174;p27"/>
          <p:cNvCxnSpPr/>
          <p:nvPr/>
        </p:nvCxnSpPr>
        <p:spPr>
          <a:xfrm flipH="1" rot="10800000">
            <a:off x="1247800" y="1793325"/>
            <a:ext cx="3140100" cy="1967100"/>
          </a:xfrm>
          <a:prstGeom prst="straightConnector1">
            <a:avLst/>
          </a:prstGeom>
          <a:noFill/>
          <a:ln cap="flat" cmpd="sng" w="28575">
            <a:solidFill>
              <a:srgbClr val="FF00FF"/>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Remember </a:t>
            </a:r>
            <a:r>
              <a:rPr lang="en"/>
              <a:t>Semantris</a:t>
            </a:r>
            <a:endParaRPr/>
          </a:p>
        </p:txBody>
      </p:sp>
      <p:sp>
        <p:nvSpPr>
          <p:cNvPr id="180" name="Google Shape;180;p28"/>
          <p:cNvSpPr txBox="1"/>
          <p:nvPr>
            <p:ph idx="1" type="body"/>
          </p:nvPr>
        </p:nvSpPr>
        <p:spPr>
          <a:xfrm>
            <a:off x="311700" y="1152475"/>
            <a:ext cx="32418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To do what Semantris does, we can select a clue word and measure the distances from our clue to the </a:t>
            </a:r>
            <a:r>
              <a:rPr lang="en">
                <a:solidFill>
                  <a:schemeClr val="dk1"/>
                </a:solidFill>
              </a:rPr>
              <a:t>target words in the blocks.</a:t>
            </a:r>
            <a:endParaRPr>
              <a:solidFill>
                <a:schemeClr val="dk1"/>
              </a:solidFill>
            </a:endParaRPr>
          </a:p>
          <a:p>
            <a:pPr indent="0" lvl="0" marL="0" rtl="0" algn="l">
              <a:spcBef>
                <a:spcPts val="1200"/>
              </a:spcBef>
              <a:spcAft>
                <a:spcPts val="0"/>
              </a:spcAft>
              <a:buNone/>
            </a:pPr>
            <a:r>
              <a:rPr lang="en">
                <a:solidFill>
                  <a:schemeClr val="dk1"/>
                </a:solidFill>
              </a:rPr>
              <a:t>The target word with the smallest distance should be selected.</a:t>
            </a:r>
            <a:endParaRPr/>
          </a:p>
          <a:p>
            <a:pPr indent="0" lvl="0" marL="0" rtl="0" algn="l">
              <a:spcBef>
                <a:spcPts val="1200"/>
              </a:spcBef>
              <a:spcAft>
                <a:spcPts val="0"/>
              </a:spcAft>
              <a:buNone/>
            </a:pPr>
            <a:r>
              <a:rPr lang="en"/>
              <a:t>Our chosen target: Pasta (red block)</a:t>
            </a:r>
            <a:endParaRPr/>
          </a:p>
          <a:p>
            <a:pPr indent="0" lvl="0" marL="0" rtl="0" algn="l">
              <a:spcBef>
                <a:spcPts val="1200"/>
              </a:spcBef>
              <a:spcAft>
                <a:spcPts val="0"/>
              </a:spcAft>
              <a:buNone/>
            </a:pPr>
            <a:r>
              <a:rPr lang="en"/>
              <a:t>Our clue word: Macaroni</a:t>
            </a:r>
            <a:endParaRPr/>
          </a:p>
          <a:p>
            <a:pPr indent="0" lvl="0" marL="0" rtl="0" algn="l">
              <a:spcBef>
                <a:spcPts val="1200"/>
              </a:spcBef>
              <a:spcAft>
                <a:spcPts val="1200"/>
              </a:spcAft>
              <a:buNone/>
            </a:pPr>
            <a:r>
              <a:rPr lang="en"/>
              <a:t>Note another target word might have a smaller distance and be selected instead, e.g., Cheese (blue block) might be chosen because “macaroni and cheese” is a common phrase.</a:t>
            </a:r>
            <a:endParaRPr/>
          </a:p>
        </p:txBody>
      </p:sp>
      <p:pic>
        <p:nvPicPr>
          <p:cNvPr id="181" name="Google Shape;181;p28"/>
          <p:cNvPicPr preferRelativeResize="0"/>
          <p:nvPr/>
        </p:nvPicPr>
        <p:blipFill>
          <a:blip r:embed="rId3">
            <a:alphaModFix/>
          </a:blip>
          <a:stretch>
            <a:fillRect/>
          </a:stretch>
        </p:blipFill>
        <p:spPr>
          <a:xfrm>
            <a:off x="3770800" y="886550"/>
            <a:ext cx="5061500" cy="4125425"/>
          </a:xfrm>
          <a:prstGeom prst="rect">
            <a:avLst/>
          </a:prstGeom>
          <a:noFill/>
          <a:ln>
            <a:noFill/>
          </a:ln>
        </p:spPr>
      </p:pic>
      <p:sp>
        <p:nvSpPr>
          <p:cNvPr id="182" name="Google Shape;182;p28"/>
          <p:cNvSpPr txBox="1"/>
          <p:nvPr/>
        </p:nvSpPr>
        <p:spPr>
          <a:xfrm>
            <a:off x="3672175" y="278450"/>
            <a:ext cx="4928400" cy="87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u="sng">
                <a:solidFill>
                  <a:schemeClr val="hlink"/>
                </a:solidFill>
                <a:hlinkClick r:id="rId4"/>
              </a:rPr>
              <a:t>research.google.com/semantris</a:t>
            </a:r>
            <a:endParaRPr sz="1800">
              <a:solidFill>
                <a:schemeClr val="dk2"/>
              </a:solidFill>
            </a:endParaRPr>
          </a:p>
          <a:p>
            <a:pPr indent="0" lvl="0" marL="0" rtl="0" algn="l">
              <a:spcBef>
                <a:spcPts val="1200"/>
              </a:spcBef>
              <a:spcAft>
                <a:spcPts val="0"/>
              </a:spcAft>
              <a:buNone/>
            </a:pPr>
            <a:r>
              <a:t/>
            </a:r>
            <a:endParaRPr/>
          </a:p>
        </p:txBody>
      </p:sp>
      <p:sp>
        <p:nvSpPr>
          <p:cNvPr id="183" name="Google Shape;18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Remember Semantris</a:t>
            </a:r>
            <a:endParaRPr/>
          </a:p>
        </p:txBody>
      </p:sp>
      <p:sp>
        <p:nvSpPr>
          <p:cNvPr id="189" name="Google Shape;189;p29"/>
          <p:cNvSpPr txBox="1"/>
          <p:nvPr>
            <p:ph idx="1" type="body"/>
          </p:nvPr>
        </p:nvSpPr>
        <p:spPr>
          <a:xfrm>
            <a:off x="311700" y="1152475"/>
            <a:ext cx="32418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solidFill>
                  <a:schemeClr val="dk1"/>
                </a:solidFill>
              </a:rPr>
              <a:t>Using multiple words as clues: </a:t>
            </a:r>
            <a:r>
              <a:rPr lang="en">
                <a:solidFill>
                  <a:schemeClr val="dk1"/>
                </a:solidFill>
              </a:rPr>
              <a:t>We can average the clue words together and measure the distance from the average to each of the target words.</a:t>
            </a:r>
            <a:endParaRPr b="1"/>
          </a:p>
          <a:p>
            <a:pPr indent="0" lvl="0" marL="0" rtl="0" algn="l">
              <a:spcBef>
                <a:spcPts val="1200"/>
              </a:spcBef>
              <a:spcAft>
                <a:spcPts val="0"/>
              </a:spcAft>
              <a:buNone/>
            </a:pPr>
            <a:r>
              <a:rPr b="1" lang="en"/>
              <a:t>Our chosen target:</a:t>
            </a:r>
            <a:r>
              <a:rPr lang="en"/>
              <a:t> Pasta</a:t>
            </a:r>
            <a:endParaRPr/>
          </a:p>
          <a:p>
            <a:pPr indent="0" lvl="0" marL="0" rtl="0" algn="l">
              <a:spcBef>
                <a:spcPts val="1200"/>
              </a:spcBef>
              <a:spcAft>
                <a:spcPts val="0"/>
              </a:spcAft>
              <a:buNone/>
            </a:pPr>
            <a:r>
              <a:rPr b="1" lang="en"/>
              <a:t>Clue </a:t>
            </a:r>
            <a:r>
              <a:rPr b="1" lang="en"/>
              <a:t>words: </a:t>
            </a:r>
            <a:r>
              <a:rPr lang="en"/>
              <a:t>Macaroni, Spaghetti, Linguini, Italian.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90" name="Google Shape;190;p29"/>
          <p:cNvSpPr txBox="1"/>
          <p:nvPr/>
        </p:nvSpPr>
        <p:spPr>
          <a:xfrm>
            <a:off x="3672175" y="278450"/>
            <a:ext cx="4928400" cy="87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800" u="sng">
                <a:solidFill>
                  <a:schemeClr val="hlink"/>
                </a:solidFill>
                <a:hlinkClick r:id="rId3"/>
              </a:rPr>
              <a:t>research.google.com/semantris</a:t>
            </a:r>
            <a:endParaRPr sz="1800">
              <a:solidFill>
                <a:schemeClr val="dk2"/>
              </a:solidFill>
            </a:endParaRPr>
          </a:p>
          <a:p>
            <a:pPr indent="0" lvl="0" marL="0" rtl="0" algn="l">
              <a:spcBef>
                <a:spcPts val="1200"/>
              </a:spcBef>
              <a:spcAft>
                <a:spcPts val="0"/>
              </a:spcAft>
              <a:buNone/>
            </a:pPr>
            <a:r>
              <a:t/>
            </a:r>
            <a:endParaRPr/>
          </a:p>
        </p:txBody>
      </p:sp>
      <p:sp>
        <p:nvSpPr>
          <p:cNvPr id="191" name="Google Shape;19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2" name="Google Shape;192;p29"/>
          <p:cNvPicPr preferRelativeResize="0"/>
          <p:nvPr/>
        </p:nvPicPr>
        <p:blipFill>
          <a:blip r:embed="rId4">
            <a:alphaModFix/>
          </a:blip>
          <a:stretch>
            <a:fillRect/>
          </a:stretch>
        </p:blipFill>
        <p:spPr>
          <a:xfrm>
            <a:off x="3770800" y="886550"/>
            <a:ext cx="5061500" cy="4125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311700" y="3674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What other types of reasoning could a computer do using semantic feature space?</a:t>
            </a:r>
            <a:endParaRPr/>
          </a:p>
        </p:txBody>
      </p:sp>
      <p:sp>
        <p:nvSpPr>
          <p:cNvPr id="198" name="Google Shape;19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9" name="Google Shape;199;p30"/>
          <p:cNvPicPr preferRelativeResize="0"/>
          <p:nvPr/>
        </p:nvPicPr>
        <p:blipFill rotWithShape="1">
          <a:blip r:embed="rId3">
            <a:alphaModFix/>
          </a:blip>
          <a:srcRect b="0" l="10285" r="9043" t="0"/>
          <a:stretch/>
        </p:blipFill>
        <p:spPr>
          <a:xfrm>
            <a:off x="2477400" y="224275"/>
            <a:ext cx="3525473" cy="32777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200">
                <a:solidFill>
                  <a:srgbClr val="FF0000"/>
                </a:solidFill>
                <a:latin typeface="Permanent Marker"/>
                <a:ea typeface="Permanent Marker"/>
                <a:cs typeface="Permanent Marker"/>
                <a:sym typeface="Permanent Marker"/>
              </a:rPr>
              <a:t>Lots of stuff!</a:t>
            </a:r>
            <a:endParaRPr sz="5200">
              <a:solidFill>
                <a:srgbClr val="FF0000"/>
              </a:solidFill>
              <a:latin typeface="Permanent Marker"/>
              <a:ea typeface="Permanent Marker"/>
              <a:cs typeface="Permanent Marker"/>
              <a:sym typeface="Permanent Marker"/>
            </a:endParaRPr>
          </a:p>
        </p:txBody>
      </p:sp>
      <p:sp>
        <p:nvSpPr>
          <p:cNvPr id="205" name="Google Shape;20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1"/>
          <p:cNvSpPr txBox="1"/>
          <p:nvPr/>
        </p:nvSpPr>
        <p:spPr>
          <a:xfrm>
            <a:off x="535325" y="727875"/>
            <a:ext cx="282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How Google understands the questions you ask it.</a:t>
            </a:r>
            <a:endParaRPr/>
          </a:p>
        </p:txBody>
      </p:sp>
      <p:sp>
        <p:nvSpPr>
          <p:cNvPr id="207" name="Google Shape;207;p31"/>
          <p:cNvSpPr txBox="1"/>
          <p:nvPr/>
        </p:nvSpPr>
        <p:spPr>
          <a:xfrm>
            <a:off x="6337175" y="865050"/>
            <a:ext cx="28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Translating between </a:t>
            </a:r>
            <a:r>
              <a:rPr lang="en"/>
              <a:t>languages</a:t>
            </a:r>
            <a:endParaRPr/>
          </a:p>
        </p:txBody>
      </p:sp>
      <p:sp>
        <p:nvSpPr>
          <p:cNvPr id="208" name="Google Shape;208;p31"/>
          <p:cNvSpPr txBox="1"/>
          <p:nvPr/>
        </p:nvSpPr>
        <p:spPr>
          <a:xfrm>
            <a:off x="768475" y="3690550"/>
            <a:ext cx="271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Summarizing an online article</a:t>
            </a:r>
            <a:endParaRPr/>
          </a:p>
        </p:txBody>
      </p:sp>
      <p:sp>
        <p:nvSpPr>
          <p:cNvPr id="209" name="Google Shape;209;p31"/>
          <p:cNvSpPr txBox="1"/>
          <p:nvPr/>
        </p:nvSpPr>
        <p:spPr>
          <a:xfrm>
            <a:off x="5651375" y="3279075"/>
            <a:ext cx="29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Writing a fictional story</a:t>
            </a:r>
            <a:endParaRPr/>
          </a:p>
        </p:txBody>
      </p:sp>
      <p:sp>
        <p:nvSpPr>
          <p:cNvPr id="210" name="Google Shape;210;p31"/>
          <p:cNvSpPr txBox="1"/>
          <p:nvPr/>
        </p:nvSpPr>
        <p:spPr>
          <a:xfrm>
            <a:off x="3484250" y="4211775"/>
            <a:ext cx="23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Solving analogy problems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Analogies</a:t>
            </a:r>
            <a:endParaRPr/>
          </a:p>
        </p:txBody>
      </p:sp>
      <p:sp>
        <p:nvSpPr>
          <p:cNvPr id="216" name="Google Shape;21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 is to “king” as “woman” is to </a:t>
            </a:r>
            <a:r>
              <a:rPr lang="en" u="sng"/>
              <a:t>            </a:t>
            </a:r>
            <a:r>
              <a:rPr lang="en"/>
              <a: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17" name="Google Shape;21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2"/>
          <p:cNvSpPr txBox="1"/>
          <p:nvPr/>
        </p:nvSpPr>
        <p:spPr>
          <a:xfrm>
            <a:off x="505000" y="4313925"/>
            <a:ext cx="7215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00"/>
                </a:solidFill>
                <a:latin typeface="Permanent Marker"/>
                <a:ea typeface="Permanent Marker"/>
                <a:cs typeface="Permanent Marker"/>
                <a:sym typeface="Permanent Marker"/>
              </a:rPr>
              <a:t>AnalogY</a:t>
            </a:r>
            <a:r>
              <a:rPr lang="en"/>
              <a:t> - A comparison between two things based on their relationships.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Analogies</a:t>
            </a:r>
            <a:endParaRPr/>
          </a:p>
        </p:txBody>
      </p:sp>
      <p:sp>
        <p:nvSpPr>
          <p:cNvPr id="224" name="Google Shape;22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“Man” is to “king” as “woman” is to </a:t>
            </a:r>
            <a:r>
              <a:rPr lang="en" u="sng"/>
              <a:t>queen </a:t>
            </a:r>
            <a:r>
              <a:rPr lang="en"/>
              <a: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25" name="Google Shape;225;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33"/>
          <p:cNvSpPr txBox="1"/>
          <p:nvPr/>
        </p:nvSpPr>
        <p:spPr>
          <a:xfrm>
            <a:off x="591500" y="2287300"/>
            <a:ext cx="75438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800">
                <a:solidFill>
                  <a:schemeClr val="dk1"/>
                </a:solidFill>
              </a:rPr>
              <a:t>Can we use semantic features to solve this problem?</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2" name="Google Shape;232;p34"/>
          <p:cNvPicPr preferRelativeResize="0"/>
          <p:nvPr/>
        </p:nvPicPr>
        <p:blipFill>
          <a:blip r:embed="rId3">
            <a:alphaModFix/>
          </a:blip>
          <a:stretch>
            <a:fillRect/>
          </a:stretch>
        </p:blipFill>
        <p:spPr>
          <a:xfrm>
            <a:off x="2362200" y="0"/>
            <a:ext cx="6858000" cy="5143500"/>
          </a:xfrm>
          <a:prstGeom prst="rect">
            <a:avLst/>
          </a:prstGeom>
          <a:noFill/>
          <a:ln>
            <a:noFill/>
          </a:ln>
        </p:spPr>
      </p:pic>
      <p:sp>
        <p:nvSpPr>
          <p:cNvPr id="233" name="Google Shape;233;p34"/>
          <p:cNvSpPr txBox="1"/>
          <p:nvPr/>
        </p:nvSpPr>
        <p:spPr>
          <a:xfrm>
            <a:off x="272275" y="1004650"/>
            <a:ext cx="2364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0000"/>
                </a:solidFill>
                <a:latin typeface="Permanent Marker"/>
                <a:ea typeface="Permanent Marker"/>
                <a:cs typeface="Permanent Marker"/>
                <a:sym typeface="Permanent Marker"/>
              </a:rPr>
              <a:t>This is what you were doing inside your head:</a:t>
            </a:r>
            <a:endParaRPr sz="1700"/>
          </a:p>
        </p:txBody>
      </p:sp>
      <p:sp>
        <p:nvSpPr>
          <p:cNvPr id="234" name="Google Shape;234;p34"/>
          <p:cNvSpPr txBox="1"/>
          <p:nvPr/>
        </p:nvSpPr>
        <p:spPr>
          <a:xfrm>
            <a:off x="142600" y="2308275"/>
            <a:ext cx="3003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Man</a:t>
            </a:r>
            <a:r>
              <a:rPr b="1" lang="en" sz="1800"/>
              <a:t> is to king as…</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Woman is to___________</a:t>
            </a:r>
            <a:endParaRPr sz="1800"/>
          </a:p>
          <a:p>
            <a:pPr indent="0" lvl="0" marL="0" rtl="0" algn="l">
              <a:spcBef>
                <a:spcPts val="0"/>
              </a:spcBef>
              <a:spcAft>
                <a:spcPts val="0"/>
              </a:spcAft>
              <a:buNone/>
            </a:pPr>
            <a:r>
              <a:rPr lang="en" sz="1800"/>
              <a:t>Girl is to ___________</a:t>
            </a:r>
            <a:endParaRPr sz="1800"/>
          </a:p>
          <a:p>
            <a:pPr indent="0" lvl="0" marL="0" rtl="0" algn="l">
              <a:spcBef>
                <a:spcPts val="0"/>
              </a:spcBef>
              <a:spcAft>
                <a:spcPts val="0"/>
              </a:spcAft>
              <a:buNone/>
            </a:pPr>
            <a:r>
              <a:rPr lang="en" sz="1800"/>
              <a:t>Boy is to ___________</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“king” - “man” ?</a:t>
            </a:r>
            <a:endParaRPr/>
          </a:p>
        </p:txBody>
      </p:sp>
      <p:sp>
        <p:nvSpPr>
          <p:cNvPr id="240" name="Google Shape;24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41" name="Google Shape;241;p35"/>
          <p:cNvGraphicFramePr/>
          <p:nvPr/>
        </p:nvGraphicFramePr>
        <p:xfrm>
          <a:off x="952500" y="1466850"/>
          <a:ext cx="3000000" cy="3000000"/>
        </p:xfrm>
        <a:graphic>
          <a:graphicData uri="http://schemas.openxmlformats.org/drawingml/2006/table">
            <a:tbl>
              <a:tblPr>
                <a:noFill/>
                <a:tableStyleId>{C04EF0E8-2E44-4BD7-9BCF-83D9B6E10316}</a:tableStyleId>
              </a:tblPr>
              <a:tblGrid>
                <a:gridCol w="2268775"/>
                <a:gridCol w="1688950"/>
                <a:gridCol w="1761425"/>
                <a:gridCol w="1519850"/>
              </a:tblGrid>
              <a:tr h="381000">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t>Gender</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t>Age</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t>Royalty</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king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rPr lang="en"/>
                        <a:t>man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rPr lang="en">
                          <a:solidFill>
                            <a:srgbClr val="FF0000"/>
                          </a:solidFill>
                        </a:rPr>
                        <a:t>king - man</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D9EAD3"/>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rgbClr val="FF0000"/>
                          </a:solidFill>
                        </a:rPr>
                        <a:t>0</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D9EAD3"/>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D9EAD3"/>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D9EAD3"/>
                      </a:solidFill>
                      <a:prstDash val="solid"/>
                      <a:round/>
                      <a:headEnd len="sm" w="sm" type="none"/>
                      <a:tailEnd len="sm" w="sm" type="none"/>
                    </a:lnB>
                    <a:solidFill>
                      <a:srgbClr val="F4CCCC"/>
                    </a:solidFill>
                  </a:tcPr>
                </a:tc>
              </a:tr>
            </a:tbl>
          </a:graphicData>
        </a:graphic>
      </p:graphicFrame>
      <p:sp>
        <p:nvSpPr>
          <p:cNvPr id="242" name="Google Shape;242;p35"/>
          <p:cNvSpPr txBox="1"/>
          <p:nvPr/>
        </p:nvSpPr>
        <p:spPr>
          <a:xfrm>
            <a:off x="132425" y="2532000"/>
            <a:ext cx="72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red arrow</a:t>
            </a:r>
            <a:endParaRPr>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“king” - “man” + “woman” ?</a:t>
            </a:r>
            <a:endParaRPr/>
          </a:p>
        </p:txBody>
      </p:sp>
      <p:sp>
        <p:nvSpPr>
          <p:cNvPr id="248" name="Google Shape;248;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49" name="Google Shape;249;p36"/>
          <p:cNvGraphicFramePr/>
          <p:nvPr/>
        </p:nvGraphicFramePr>
        <p:xfrm>
          <a:off x="952500" y="1466850"/>
          <a:ext cx="3000000" cy="3000000"/>
        </p:xfrm>
        <a:graphic>
          <a:graphicData uri="http://schemas.openxmlformats.org/drawingml/2006/table">
            <a:tbl>
              <a:tblPr>
                <a:noFill/>
                <a:tableStyleId>{C04EF0E8-2E44-4BD7-9BCF-83D9B6E10316}</a:tableStyleId>
              </a:tblPr>
              <a:tblGrid>
                <a:gridCol w="2268775"/>
                <a:gridCol w="1688950"/>
                <a:gridCol w="1761425"/>
                <a:gridCol w="1519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tc>
                <a:tc>
                  <a:txBody>
                    <a:bodyPr/>
                    <a:lstStyle/>
                    <a:p>
                      <a:pPr indent="0" lvl="0" marL="0" rtl="0" algn="ctr">
                        <a:spcBef>
                          <a:spcPts val="0"/>
                        </a:spcBef>
                        <a:spcAft>
                          <a:spcPts val="0"/>
                        </a:spcAft>
                        <a:buNone/>
                      </a:pPr>
                      <a:r>
                        <a:rPr b="1" lang="en"/>
                        <a:t>Age</a:t>
                      </a:r>
                      <a:endParaRPr b="1"/>
                    </a:p>
                  </a:txBody>
                  <a:tcPr marT="91425" marB="91425" marR="91425" marL="91425"/>
                </a:tc>
                <a:tc>
                  <a:txBody>
                    <a:bodyPr/>
                    <a:lstStyle/>
                    <a:p>
                      <a:pPr indent="0" lvl="0" marL="0" rtl="0" algn="ctr">
                        <a:spcBef>
                          <a:spcPts val="0"/>
                        </a:spcBef>
                        <a:spcAft>
                          <a:spcPts val="0"/>
                        </a:spcAft>
                        <a:buNone/>
                      </a:pPr>
                      <a:r>
                        <a:rPr b="1" lang="en"/>
                        <a:t>Royalty</a:t>
                      </a:r>
                      <a:endParaRPr b="1"/>
                    </a:p>
                  </a:txBody>
                  <a:tcPr marT="91425" marB="91425" marR="91425" marL="91425"/>
                </a:tc>
              </a:tr>
              <a:tr h="381000">
                <a:tc>
                  <a:txBody>
                    <a:bodyPr/>
                    <a:lstStyle/>
                    <a:p>
                      <a:pPr indent="0" lvl="0" marL="0" rtl="0" algn="l">
                        <a:spcBef>
                          <a:spcPts val="0"/>
                        </a:spcBef>
                        <a:spcAft>
                          <a:spcPts val="0"/>
                        </a:spcAft>
                        <a:buNone/>
                      </a:pPr>
                      <a:r>
                        <a:rPr lang="en"/>
                        <a:t>king</a:t>
                      </a:r>
                      <a:endParaRPr/>
                    </a:p>
                  </a:txBody>
                  <a:tcPr marT="91425" marB="91425" marR="91425" marL="91425">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4CCCC"/>
                    </a:solidFill>
                  </a:tcPr>
                </a:tc>
                <a:tc>
                  <a:txBody>
                    <a:bodyPr/>
                    <a:lstStyle/>
                    <a:p>
                      <a:pPr indent="0" lvl="0" marL="0" rtl="0" algn="ctr">
                        <a:spcBef>
                          <a:spcPts val="0"/>
                        </a:spcBef>
                        <a:spcAft>
                          <a:spcPts val="0"/>
                        </a:spcAft>
                        <a:buNone/>
                      </a:pPr>
                      <a:r>
                        <a:rPr lang="en"/>
                        <a:t>8</a:t>
                      </a:r>
                      <a:endParaRPr/>
                    </a:p>
                  </a:txBody>
                  <a:tcPr marT="91425" marB="91425" marR="91425" marL="91425">
                    <a:solidFill>
                      <a:srgbClr val="F4CCCC"/>
                    </a:solidFill>
                  </a:tcPr>
                </a:tc>
                <a:tc>
                  <a:txBody>
                    <a:bodyPr/>
                    <a:lstStyle/>
                    <a:p>
                      <a:pPr indent="0" lvl="0" marL="0" rtl="0" algn="ctr">
                        <a:spcBef>
                          <a:spcPts val="0"/>
                        </a:spcBef>
                        <a:spcAft>
                          <a:spcPts val="0"/>
                        </a:spcAft>
                        <a:buNone/>
                      </a:pPr>
                      <a:r>
                        <a:rPr lang="en"/>
                        <a:t>8</a:t>
                      </a:r>
                      <a:endParaRPr/>
                    </a:p>
                  </a:txBody>
                  <a:tcPr marT="91425" marB="91425" marR="91425" marL="91425">
                    <a:solidFill>
                      <a:srgbClr val="F4CCCC"/>
                    </a:solidFill>
                  </a:tcPr>
                </a:tc>
              </a:tr>
              <a:tr h="381000">
                <a:tc>
                  <a:txBody>
                    <a:bodyPr/>
                    <a:lstStyle/>
                    <a:p>
                      <a:pPr indent="0" lvl="0" marL="0" rtl="0" algn="l">
                        <a:spcBef>
                          <a:spcPts val="0"/>
                        </a:spcBef>
                        <a:spcAft>
                          <a:spcPts val="0"/>
                        </a:spcAft>
                        <a:buNone/>
                      </a:pPr>
                      <a:r>
                        <a:rPr lang="en"/>
                        <a:t>man</a:t>
                      </a:r>
                      <a:endParaRPr/>
                    </a:p>
                  </a:txBody>
                  <a:tcPr marT="91425" marB="91425" marR="91425" marL="91425">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4CCCC"/>
                    </a:solidFill>
                  </a:tcPr>
                </a:tc>
                <a:tc>
                  <a:txBody>
                    <a:bodyPr/>
                    <a:lstStyle/>
                    <a:p>
                      <a:pPr indent="0" lvl="0" marL="0" rtl="0" algn="ctr">
                        <a:spcBef>
                          <a:spcPts val="0"/>
                        </a:spcBef>
                        <a:spcAft>
                          <a:spcPts val="0"/>
                        </a:spcAft>
                        <a:buNone/>
                      </a:pPr>
                      <a:r>
                        <a:rPr lang="en"/>
                        <a:t>7</a:t>
                      </a:r>
                      <a:endParaRPr/>
                    </a:p>
                  </a:txBody>
                  <a:tcPr marT="91425" marB="91425" marR="91425" marL="91425">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4CCCC"/>
                    </a:solidFill>
                  </a:tcPr>
                </a:tc>
              </a:tr>
              <a:tr h="381000">
                <a:tc>
                  <a:txBody>
                    <a:bodyPr/>
                    <a:lstStyle/>
                    <a:p>
                      <a:pPr indent="0" lvl="0" marL="0" rtl="0" algn="l">
                        <a:spcBef>
                          <a:spcPts val="0"/>
                        </a:spcBef>
                        <a:spcAft>
                          <a:spcPts val="0"/>
                        </a:spcAft>
                        <a:buNone/>
                      </a:pPr>
                      <a:r>
                        <a:rPr lang="en">
                          <a:solidFill>
                            <a:srgbClr val="FF0000"/>
                          </a:solidFill>
                        </a:rPr>
                        <a:t>king - man</a:t>
                      </a:r>
                      <a:endParaRPr>
                        <a:solidFill>
                          <a:srgbClr val="FF0000"/>
                        </a:solidFill>
                      </a:endParaRPr>
                    </a:p>
                  </a:txBody>
                  <a:tcPr marT="91425" marB="91425" marR="91425" marL="91425">
                    <a:lnB cap="flat" cmpd="sng" w="9525">
                      <a:solidFill>
                        <a:srgbClr val="D9EAD3"/>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rgbClr val="FF0000"/>
                          </a:solidFill>
                        </a:rPr>
                        <a:t>0</a:t>
                      </a:r>
                      <a:endParaRPr>
                        <a:solidFill>
                          <a:srgbClr val="FF0000"/>
                        </a:solidFill>
                      </a:endParaRPr>
                    </a:p>
                  </a:txBody>
                  <a:tcPr marT="91425" marB="91425" marR="91425" marL="91425">
                    <a:lnB cap="flat" cmpd="sng" w="9525">
                      <a:solidFill>
                        <a:srgbClr val="D9EAD3"/>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B cap="flat" cmpd="sng" w="9525">
                      <a:solidFill>
                        <a:srgbClr val="D9EAD3"/>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B cap="flat" cmpd="sng" w="9525">
                      <a:solidFill>
                        <a:srgbClr val="D9EAD3"/>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rPr lang="en"/>
                        <a:t>woman</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None/>
                      </a:pPr>
                      <a:r>
                        <a:rPr lang="en">
                          <a:solidFill>
                            <a:srgbClr val="6AA84F"/>
                          </a:solidFill>
                        </a:rPr>
                        <a:t>king - man </a:t>
                      </a:r>
                      <a:r>
                        <a:rPr lang="en">
                          <a:solidFill>
                            <a:srgbClr val="6AA84F"/>
                          </a:solidFill>
                        </a:rPr>
                        <a:t>+ woman</a:t>
                      </a:r>
                      <a:endParaRPr>
                        <a:solidFill>
                          <a:srgbClr val="6AA84F"/>
                        </a:solidFill>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solidFill>
                            <a:srgbClr val="6AA84F"/>
                          </a:solidFill>
                        </a:rPr>
                        <a:t>9</a:t>
                      </a:r>
                      <a:endParaRPr>
                        <a:solidFill>
                          <a:srgbClr val="6AA84F"/>
                        </a:solidFill>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solidFill>
                            <a:srgbClr val="6AA84F"/>
                          </a:solidFill>
                        </a:rPr>
                        <a:t>8</a:t>
                      </a:r>
                      <a:endParaRPr>
                        <a:solidFill>
                          <a:srgbClr val="6AA84F"/>
                        </a:solidFill>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solidFill>
                            <a:srgbClr val="6AA84F"/>
                          </a:solidFill>
                        </a:rPr>
                        <a:t>8</a:t>
                      </a:r>
                      <a:endParaRPr>
                        <a:solidFill>
                          <a:srgbClr val="6AA84F"/>
                        </a:solidFill>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None/>
                      </a:pPr>
                      <a:r>
                        <a:rPr lang="en"/>
                        <a:t>queen</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r>
            </a:tbl>
          </a:graphicData>
        </a:graphic>
      </p:graphicFrame>
      <p:sp>
        <p:nvSpPr>
          <p:cNvPr id="250" name="Google Shape;250;p36"/>
          <p:cNvSpPr txBox="1"/>
          <p:nvPr/>
        </p:nvSpPr>
        <p:spPr>
          <a:xfrm>
            <a:off x="132425" y="2532000"/>
            <a:ext cx="72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red arrow</a:t>
            </a:r>
            <a:endParaRPr>
              <a:solidFill>
                <a:srgbClr val="FF0000"/>
              </a:solidFill>
            </a:endParaRPr>
          </a:p>
        </p:txBody>
      </p:sp>
      <p:sp>
        <p:nvSpPr>
          <p:cNvPr id="251" name="Google Shape;251;p36"/>
          <p:cNvSpPr txBox="1"/>
          <p:nvPr/>
        </p:nvSpPr>
        <p:spPr>
          <a:xfrm>
            <a:off x="132425" y="3370200"/>
            <a:ext cx="72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6AA84F"/>
                </a:solidFill>
              </a:rPr>
              <a:t>green arrow</a:t>
            </a:r>
            <a:endParaRPr>
              <a:solidFill>
                <a:srgbClr val="6AA84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7"/>
          <p:cNvPicPr preferRelativeResize="0"/>
          <p:nvPr/>
        </p:nvPicPr>
        <p:blipFill rotWithShape="1">
          <a:blip r:embed="rId3">
            <a:alphaModFix/>
          </a:blip>
          <a:srcRect b="0" l="19" r="19" t="0"/>
          <a:stretch/>
        </p:blipFill>
        <p:spPr>
          <a:xfrm>
            <a:off x="2554386" y="140225"/>
            <a:ext cx="6427264" cy="4822452"/>
          </a:xfrm>
          <a:prstGeom prst="rect">
            <a:avLst/>
          </a:prstGeom>
          <a:noFill/>
          <a:ln>
            <a:noFill/>
          </a:ln>
        </p:spPr>
      </p:pic>
      <p:sp>
        <p:nvSpPr>
          <p:cNvPr id="257" name="Google Shape;25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Try it: </a:t>
            </a:r>
            <a:endParaRPr/>
          </a:p>
        </p:txBody>
      </p:sp>
      <p:sp>
        <p:nvSpPr>
          <p:cNvPr id="258" name="Google Shape;25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37"/>
          <p:cNvSpPr txBox="1"/>
          <p:nvPr/>
        </p:nvSpPr>
        <p:spPr>
          <a:xfrm>
            <a:off x="135325" y="1137900"/>
            <a:ext cx="3039000" cy="204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“woman” is to “girl” as</a:t>
            </a:r>
            <a:br>
              <a:rPr lang="en" sz="1800">
                <a:solidFill>
                  <a:schemeClr val="dk1"/>
                </a:solidFill>
              </a:rPr>
            </a:br>
            <a:r>
              <a:rPr lang="en" sz="1800">
                <a:solidFill>
                  <a:schemeClr val="dk1"/>
                </a:solidFill>
              </a:rPr>
              <a:t>“man” is to ______.</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rPr lang="en" sz="1800">
                <a:solidFill>
                  <a:schemeClr val="dk1"/>
                </a:solidFill>
              </a:rPr>
              <a:t>Draw the red and green arrows.</a:t>
            </a:r>
            <a:endParaRPr sz="18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38"/>
          <p:cNvPicPr preferRelativeResize="0"/>
          <p:nvPr/>
        </p:nvPicPr>
        <p:blipFill rotWithShape="1">
          <a:blip r:embed="rId3">
            <a:alphaModFix/>
          </a:blip>
          <a:srcRect b="0" l="19" r="19" t="0"/>
          <a:stretch/>
        </p:blipFill>
        <p:spPr>
          <a:xfrm>
            <a:off x="2554386" y="140225"/>
            <a:ext cx="6427264" cy="4822452"/>
          </a:xfrm>
          <a:prstGeom prst="rect">
            <a:avLst/>
          </a:prstGeom>
          <a:noFill/>
          <a:ln>
            <a:noFill/>
          </a:ln>
        </p:spPr>
      </p:pic>
      <p:sp>
        <p:nvSpPr>
          <p:cNvPr id="265" name="Google Shape;26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Try it: </a:t>
            </a:r>
            <a:endParaRPr/>
          </a:p>
        </p:txBody>
      </p:sp>
      <p:sp>
        <p:nvSpPr>
          <p:cNvPr id="266" name="Google Shape;26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38"/>
          <p:cNvSpPr txBox="1"/>
          <p:nvPr/>
        </p:nvSpPr>
        <p:spPr>
          <a:xfrm>
            <a:off x="135325" y="1137900"/>
            <a:ext cx="3039000" cy="125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“woman” is to “girl” as</a:t>
            </a:r>
            <a:br>
              <a:rPr lang="en" sz="1800">
                <a:solidFill>
                  <a:schemeClr val="dk1"/>
                </a:solidFill>
              </a:rPr>
            </a:br>
            <a:r>
              <a:rPr lang="en" sz="1800">
                <a:solidFill>
                  <a:schemeClr val="dk1"/>
                </a:solidFill>
              </a:rPr>
              <a:t>“man” is to </a:t>
            </a:r>
            <a:r>
              <a:rPr lang="en" sz="1800" u="sng">
                <a:solidFill>
                  <a:schemeClr val="dk1"/>
                </a:solidFill>
              </a:rPr>
              <a:t> boy</a:t>
            </a:r>
            <a:r>
              <a:rPr lang="en" sz="1800" u="sng">
                <a:solidFill>
                  <a:schemeClr val="dk1"/>
                </a:solidFill>
              </a:rPr>
              <a:t> </a:t>
            </a:r>
            <a:r>
              <a:rPr lang="en" sz="1800">
                <a:solidFill>
                  <a:schemeClr val="dk1"/>
                </a:solidFill>
              </a:rPr>
              <a:t>.</a:t>
            </a:r>
            <a:endParaRPr sz="1800">
              <a:solidFill>
                <a:schemeClr val="dk1"/>
              </a:solidFill>
            </a:endParaRPr>
          </a:p>
          <a:p>
            <a:pPr indent="0" lvl="0" marL="0" rtl="0" algn="l">
              <a:lnSpc>
                <a:spcPct val="115000"/>
              </a:lnSpc>
              <a:spcBef>
                <a:spcPts val="1200"/>
              </a:spcBef>
              <a:spcAft>
                <a:spcPts val="1200"/>
              </a:spcAft>
              <a:buNone/>
            </a:pPr>
            <a:r>
              <a:t/>
            </a:r>
            <a:endParaRPr sz="1800">
              <a:solidFill>
                <a:schemeClr val="dk1"/>
              </a:solidFill>
            </a:endParaRPr>
          </a:p>
        </p:txBody>
      </p:sp>
      <p:cxnSp>
        <p:nvCxnSpPr>
          <p:cNvPr id="268" name="Google Shape;268;p38"/>
          <p:cNvCxnSpPr/>
          <p:nvPr/>
        </p:nvCxnSpPr>
        <p:spPr>
          <a:xfrm>
            <a:off x="3887615" y="1729950"/>
            <a:ext cx="0" cy="1216800"/>
          </a:xfrm>
          <a:prstGeom prst="straightConnector1">
            <a:avLst/>
          </a:prstGeom>
          <a:noFill/>
          <a:ln cap="flat" cmpd="sng" w="38100">
            <a:solidFill>
              <a:srgbClr val="FF0000"/>
            </a:solidFill>
            <a:prstDash val="solid"/>
            <a:round/>
            <a:headEnd len="med" w="med" type="none"/>
            <a:tailEnd len="med" w="med" type="triangle"/>
          </a:ln>
        </p:spPr>
      </p:cxnSp>
      <p:cxnSp>
        <p:nvCxnSpPr>
          <p:cNvPr id="269" name="Google Shape;269;p38"/>
          <p:cNvCxnSpPr/>
          <p:nvPr/>
        </p:nvCxnSpPr>
        <p:spPr>
          <a:xfrm>
            <a:off x="4363825" y="2368066"/>
            <a:ext cx="0" cy="1216800"/>
          </a:xfrm>
          <a:prstGeom prst="straightConnector1">
            <a:avLst/>
          </a:prstGeom>
          <a:noFill/>
          <a:ln cap="flat" cmpd="sng" w="38100">
            <a:solidFill>
              <a:srgbClr val="6AA84F"/>
            </a:solidFill>
            <a:prstDash val="dash"/>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9"/>
          <p:cNvPicPr preferRelativeResize="0"/>
          <p:nvPr/>
        </p:nvPicPr>
        <p:blipFill rotWithShape="1">
          <a:blip r:embed="rId3">
            <a:alphaModFix/>
          </a:blip>
          <a:srcRect b="0" l="19" r="19" t="0"/>
          <a:stretch/>
        </p:blipFill>
        <p:spPr>
          <a:xfrm>
            <a:off x="2554386" y="140225"/>
            <a:ext cx="6427264" cy="4822452"/>
          </a:xfrm>
          <a:prstGeom prst="rect">
            <a:avLst/>
          </a:prstGeom>
          <a:noFill/>
          <a:ln>
            <a:noFill/>
          </a:ln>
        </p:spPr>
      </p:pic>
      <p:sp>
        <p:nvSpPr>
          <p:cNvPr id="275" name="Google Shape;27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Try it #2: </a:t>
            </a:r>
            <a:endParaRPr/>
          </a:p>
        </p:txBody>
      </p:sp>
      <p:sp>
        <p:nvSpPr>
          <p:cNvPr id="276" name="Google Shape;27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39"/>
          <p:cNvSpPr txBox="1"/>
          <p:nvPr/>
        </p:nvSpPr>
        <p:spPr>
          <a:xfrm>
            <a:off x="135325" y="1137900"/>
            <a:ext cx="3039000" cy="204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“boy” is to “prince” as</a:t>
            </a:r>
            <a:br>
              <a:rPr lang="en" sz="1800">
                <a:solidFill>
                  <a:schemeClr val="dk1"/>
                </a:solidFill>
              </a:rPr>
            </a:br>
            <a:r>
              <a:rPr lang="en" sz="1800">
                <a:solidFill>
                  <a:schemeClr val="dk1"/>
                </a:solidFill>
              </a:rPr>
              <a:t>“girl” is to ______.</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rPr lang="en" sz="1800">
                <a:solidFill>
                  <a:schemeClr val="dk1"/>
                </a:solidFill>
              </a:rPr>
              <a:t>Draw the red and green arrows.</a:t>
            </a: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“woman” is to “girl” as “queen” is to ______.</a:t>
            </a:r>
            <a:endParaRPr/>
          </a:p>
        </p:txBody>
      </p:sp>
      <p:sp>
        <p:nvSpPr>
          <p:cNvPr id="283" name="Google Shape;283;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84" name="Google Shape;284;p40"/>
          <p:cNvGraphicFramePr/>
          <p:nvPr/>
        </p:nvGraphicFramePr>
        <p:xfrm>
          <a:off x="952500" y="1466850"/>
          <a:ext cx="3000000" cy="3000000"/>
        </p:xfrm>
        <a:graphic>
          <a:graphicData uri="http://schemas.openxmlformats.org/drawingml/2006/table">
            <a:tbl>
              <a:tblPr>
                <a:noFill/>
                <a:tableStyleId>{C04EF0E8-2E44-4BD7-9BCF-83D9B6E10316}</a:tableStyleId>
              </a:tblPr>
              <a:tblGrid>
                <a:gridCol w="2268775"/>
                <a:gridCol w="1688950"/>
                <a:gridCol w="1761425"/>
                <a:gridCol w="1519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
                        <a:t>Gender</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t>Age</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t>Royalty</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girl</a:t>
                      </a:r>
                      <a:endParaRPr/>
                    </a:p>
                  </a:txBody>
                  <a:tcPr marT="91425" marB="91425" marR="91425" marL="91425">
                    <a:lnR cap="flat" cmpd="sng" w="9525">
                      <a:solidFill>
                        <a:srgbClr val="9E9E9E"/>
                      </a:solidFill>
                      <a:prstDash val="solid"/>
                      <a:round/>
                      <a:headEnd len="sm" w="sm" type="none"/>
                      <a:tailEnd len="sm" w="sm" type="none"/>
                    </a:lnR>
                    <a:solidFill>
                      <a:srgbClr val="F4CCCC"/>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rPr lang="en"/>
                        <a:t>woman</a:t>
                      </a:r>
                      <a:endParaRPr/>
                    </a:p>
                  </a:txBody>
                  <a:tcPr marT="91425" marB="91425" marR="91425" marL="91425">
                    <a:lnR cap="flat" cmpd="sng" w="9525">
                      <a:solidFill>
                        <a:srgbClr val="9E9E9E"/>
                      </a:solidFill>
                      <a:prstDash val="solid"/>
                      <a:round/>
                      <a:headEnd len="sm" w="sm" type="none"/>
                      <a:tailEnd len="sm" w="sm" type="none"/>
                    </a:lnR>
                    <a:solidFill>
                      <a:srgbClr val="F4CCCC"/>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rPr lang="en">
                          <a:solidFill>
                            <a:srgbClr val="FF0000"/>
                          </a:solidFill>
                        </a:rPr>
                        <a:t>girl - woman</a:t>
                      </a:r>
                      <a:endParaRPr>
                        <a:solidFill>
                          <a:srgbClr val="FF0000"/>
                        </a:solidFill>
                      </a:endParaRPr>
                    </a:p>
                  </a:txBody>
                  <a:tcPr marT="91425" marB="91425" marR="91425" marL="91425">
                    <a:solidFill>
                      <a:srgbClr val="F4CCCC"/>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rPr lang="en"/>
                        <a:t>queen</a:t>
                      </a:r>
                      <a:endParaRPr/>
                    </a:p>
                  </a:txBody>
                  <a:tcPr marT="91425" marB="91425" marR="91425" marL="91425">
                    <a:lnR cap="flat" cmpd="sng" w="9525">
                      <a:solidFill>
                        <a:srgbClr val="9E9E9E"/>
                      </a:solidFill>
                      <a:prstDash val="solid"/>
                      <a:round/>
                      <a:headEnd len="sm" w="sm" type="none"/>
                      <a:tailEnd len="sm" w="sm" type="none"/>
                    </a:lnR>
                    <a:solidFill>
                      <a:srgbClr val="D9EAD3"/>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r>
              <a:tr h="381000">
                <a:tc>
                  <a:txBody>
                    <a:bodyPr/>
                    <a:lstStyle/>
                    <a:p>
                      <a:pPr indent="0" lvl="0" marL="0" rtl="0" algn="l">
                        <a:spcBef>
                          <a:spcPts val="0"/>
                        </a:spcBef>
                        <a:spcAft>
                          <a:spcPts val="0"/>
                        </a:spcAft>
                        <a:buNone/>
                      </a:pPr>
                      <a:r>
                        <a:rPr lang="en">
                          <a:solidFill>
                            <a:srgbClr val="6AA84F"/>
                          </a:solidFill>
                        </a:rPr>
                        <a:t>girl - woman </a:t>
                      </a:r>
                      <a:r>
                        <a:rPr lang="en">
                          <a:solidFill>
                            <a:srgbClr val="6AA84F"/>
                          </a:solidFill>
                        </a:rPr>
                        <a:t>+ queen</a:t>
                      </a:r>
                      <a:endParaRPr>
                        <a:solidFill>
                          <a:srgbClr val="6AA84F"/>
                        </a:solidFill>
                      </a:endParaRPr>
                    </a:p>
                  </a:txBody>
                  <a:tcPr marT="91425" marB="91425" marR="91425" marL="91425">
                    <a:solidFill>
                      <a:srgbClr val="D9EAD3"/>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solidFill>
                      <a:srgbClr val="D9EAD3"/>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solidFill>
                      <a:srgbClr val="D9EAD3"/>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solidFill>
                      <a:srgbClr val="D9EAD3"/>
                    </a:solidFill>
                  </a:tcPr>
                </a:tc>
              </a:tr>
              <a:tr h="381000">
                <a:tc>
                  <a:txBody>
                    <a:bodyPr/>
                    <a:lstStyle/>
                    <a:p>
                      <a:pPr indent="0" lvl="0" marL="0" rtl="0" algn="l">
                        <a:spcBef>
                          <a:spcPts val="0"/>
                        </a:spcBef>
                        <a:spcAft>
                          <a:spcPts val="0"/>
                        </a:spcAft>
                        <a:buNone/>
                      </a:pPr>
                      <a:r>
                        <a:rPr lang="en"/>
                        <a:t>Answer: ____________</a:t>
                      </a:r>
                      <a:endParaRPr/>
                    </a:p>
                  </a:txBody>
                  <a:tcPr marT="91425" marB="91425" marR="91425" marL="91425">
                    <a:solidFill>
                      <a:srgbClr val="D9EAD3"/>
                    </a:solidFill>
                  </a:tcPr>
                </a:tc>
                <a:tc>
                  <a:txBody>
                    <a:bodyPr/>
                    <a:lstStyle/>
                    <a:p>
                      <a:pPr indent="0" lvl="0" marL="0" rtl="0" algn="l">
                        <a:spcBef>
                          <a:spcPts val="0"/>
                        </a:spcBef>
                        <a:spcAft>
                          <a:spcPts val="0"/>
                        </a:spcAft>
                        <a:buNone/>
                      </a:pPr>
                      <a:r>
                        <a:t/>
                      </a:r>
                      <a:endParaRPr/>
                    </a:p>
                  </a:txBody>
                  <a:tcPr marT="91425" marB="91425" marR="91425" marL="91425">
                    <a:solidFill>
                      <a:srgbClr val="D9EAD3"/>
                    </a:solidFill>
                  </a:tcPr>
                </a:tc>
                <a:tc>
                  <a:txBody>
                    <a:bodyPr/>
                    <a:lstStyle/>
                    <a:p>
                      <a:pPr indent="0" lvl="0" marL="0" rtl="0" algn="l">
                        <a:spcBef>
                          <a:spcPts val="0"/>
                        </a:spcBef>
                        <a:spcAft>
                          <a:spcPts val="0"/>
                        </a:spcAft>
                        <a:buNone/>
                      </a:pPr>
                      <a:r>
                        <a:t/>
                      </a:r>
                      <a:endParaRPr/>
                    </a:p>
                  </a:txBody>
                  <a:tcPr marT="91425" marB="91425" marR="91425" marL="91425">
                    <a:solidFill>
                      <a:srgbClr val="D9EAD3"/>
                    </a:solidFill>
                  </a:tcPr>
                </a:tc>
                <a:tc>
                  <a:txBody>
                    <a:bodyPr/>
                    <a:lstStyle/>
                    <a:p>
                      <a:pPr indent="0" lvl="0" marL="0" rtl="0" algn="l">
                        <a:spcBef>
                          <a:spcPts val="0"/>
                        </a:spcBef>
                        <a:spcAft>
                          <a:spcPts val="0"/>
                        </a:spcAft>
                        <a:buNone/>
                      </a:pPr>
                      <a:r>
                        <a:t/>
                      </a:r>
                      <a:endParaRPr/>
                    </a:p>
                  </a:txBody>
                  <a:tcPr marT="91425" marB="91425" marR="91425" marL="91425">
                    <a:solidFill>
                      <a:srgbClr val="D9EAD3"/>
                    </a:solidFill>
                  </a:tcPr>
                </a:tc>
              </a:tr>
            </a:tbl>
          </a:graphicData>
        </a:graphic>
      </p:graphicFrame>
      <p:sp>
        <p:nvSpPr>
          <p:cNvPr id="285" name="Google Shape;285;p40"/>
          <p:cNvSpPr txBox="1"/>
          <p:nvPr/>
        </p:nvSpPr>
        <p:spPr>
          <a:xfrm>
            <a:off x="396100" y="914100"/>
            <a:ext cx="80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Directions: Use the table to look up the feature values and compute the answer.  </a:t>
            </a:r>
            <a:endParaRPr/>
          </a:p>
        </p:txBody>
      </p:sp>
      <p:sp>
        <p:nvSpPr>
          <p:cNvPr id="286" name="Google Shape;286;p40"/>
          <p:cNvSpPr txBox="1"/>
          <p:nvPr/>
        </p:nvSpPr>
        <p:spPr>
          <a:xfrm>
            <a:off x="132425" y="3370200"/>
            <a:ext cx="72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6AA84F"/>
                </a:solidFill>
              </a:rPr>
              <a:t>green arrow</a:t>
            </a:r>
            <a:endParaRPr>
              <a:solidFill>
                <a:srgbClr val="6AA84F"/>
              </a:solidFill>
            </a:endParaRPr>
          </a:p>
        </p:txBody>
      </p:sp>
      <p:sp>
        <p:nvSpPr>
          <p:cNvPr id="287" name="Google Shape;287;p40"/>
          <p:cNvSpPr txBox="1"/>
          <p:nvPr/>
        </p:nvSpPr>
        <p:spPr>
          <a:xfrm>
            <a:off x="132425" y="2532000"/>
            <a:ext cx="72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red arrow</a:t>
            </a:r>
            <a:endParaRPr>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many dimensions do we need?</a:t>
            </a:r>
            <a:endParaRPr/>
          </a:p>
        </p:txBody>
      </p:sp>
      <p:sp>
        <p:nvSpPr>
          <p:cNvPr id="293" name="Google Shape;293;p41"/>
          <p:cNvSpPr txBox="1"/>
          <p:nvPr>
            <p:ph idx="1" type="body"/>
          </p:nvPr>
        </p:nvSpPr>
        <p:spPr>
          <a:xfrm>
            <a:off x="311700" y="1152475"/>
            <a:ext cx="8520600" cy="3904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How would you represent “father”, “uncle”, “sister”, “cousin”?</a:t>
            </a:r>
            <a:endParaRPr/>
          </a:p>
          <a:p>
            <a:pPr indent="0" lvl="0" marL="0" rtl="0" algn="l">
              <a:spcBef>
                <a:spcPts val="1200"/>
              </a:spcBef>
              <a:spcAft>
                <a:spcPts val="0"/>
              </a:spcAft>
              <a:buNone/>
            </a:pPr>
            <a:r>
              <a:rPr lang="en"/>
              <a:t>What dimension would you add to help you</a:t>
            </a:r>
            <a:r>
              <a:rPr lang="en"/>
              <a:t> repr</a:t>
            </a:r>
            <a:r>
              <a:rPr lang="en"/>
              <a:t>esent “cucumber”? </a:t>
            </a:r>
            <a:endParaRPr/>
          </a:p>
          <a:p>
            <a:pPr indent="0" lvl="0" marL="0" rtl="0" algn="l">
              <a:spcBef>
                <a:spcPts val="1200"/>
              </a:spcBef>
              <a:spcAft>
                <a:spcPts val="0"/>
              </a:spcAft>
              <a:buNone/>
            </a:pPr>
            <a:r>
              <a:rPr lang="en"/>
              <a:t>Your Answer: __________________________</a:t>
            </a:r>
            <a:endParaRPr/>
          </a:p>
          <a:p>
            <a:pPr indent="0" lvl="0" marL="0" rtl="0" algn="l">
              <a:spcBef>
                <a:spcPts val="1200"/>
              </a:spcBef>
              <a:spcAft>
                <a:spcPts val="0"/>
              </a:spcAft>
              <a:buNone/>
            </a:pPr>
            <a:r>
              <a:rPr lang="en">
                <a:solidFill>
                  <a:schemeClr val="dk1"/>
                </a:solidFill>
              </a:rPr>
              <a:t>What dimension would you add to help you represent</a:t>
            </a:r>
            <a:r>
              <a:rPr lang="en"/>
              <a:t> “smile”? Or “honesty”?</a:t>
            </a:r>
            <a:endParaRPr/>
          </a:p>
          <a:p>
            <a:pPr indent="0" lvl="0" marL="0" rtl="0" algn="l">
              <a:spcBef>
                <a:spcPts val="1200"/>
              </a:spcBef>
              <a:spcAft>
                <a:spcPts val="0"/>
              </a:spcAft>
              <a:buNone/>
            </a:pPr>
            <a:r>
              <a:rPr lang="en">
                <a:solidFill>
                  <a:schemeClr val="dk1"/>
                </a:solidFill>
              </a:rPr>
              <a:t>Your Answer:</a:t>
            </a:r>
            <a:r>
              <a:rPr lang="en">
                <a:solidFill>
                  <a:schemeClr val="dk1"/>
                </a:solidFill>
              </a:rPr>
              <a:t>__________________________</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Clr>
                <a:schemeClr val="dk1"/>
              </a:buClr>
              <a:buSzPct val="61111"/>
              <a:buFont typeface="Arial"/>
              <a:buNone/>
            </a:pPr>
            <a:r>
              <a:t/>
            </a:r>
            <a:endParaRPr>
              <a:solidFill>
                <a:schemeClr val="dk1"/>
              </a:solidFill>
            </a:endParaRPr>
          </a:p>
          <a:p>
            <a:pPr indent="0" lvl="0" marL="0" rtl="0" algn="l">
              <a:spcBef>
                <a:spcPts val="1200"/>
              </a:spcBef>
              <a:spcAft>
                <a:spcPts val="0"/>
              </a:spcAft>
              <a:buNone/>
            </a:pPr>
            <a:r>
              <a:rPr lang="en"/>
              <a:t>We need many more dimensions. </a:t>
            </a:r>
            <a:r>
              <a:rPr b="1" lang="en"/>
              <a:t>Can we get the computer to help us?</a:t>
            </a:r>
            <a:endParaRPr b="1"/>
          </a:p>
          <a:p>
            <a:pPr indent="0" lvl="0" marL="0" rtl="0" algn="l">
              <a:lnSpc>
                <a:spcPct val="100000"/>
              </a:lnSpc>
              <a:spcBef>
                <a:spcPts val="1200"/>
              </a:spcBef>
              <a:spcAft>
                <a:spcPts val="0"/>
              </a:spcAft>
              <a:buClr>
                <a:schemeClr val="dk1"/>
              </a:buClr>
              <a:buSzPct val="61111"/>
              <a:buFont typeface="Arial"/>
              <a:buNone/>
            </a:pPr>
            <a:r>
              <a:rPr lang="en">
                <a:solidFill>
                  <a:srgbClr val="FF0000"/>
                </a:solidFill>
                <a:latin typeface="Permanent Marker"/>
                <a:ea typeface="Permanent Marker"/>
                <a:cs typeface="Permanent Marker"/>
                <a:sym typeface="Permanent Marker"/>
              </a:rPr>
              <a:t>Word embeddings: </a:t>
            </a:r>
            <a:r>
              <a:rPr lang="en">
                <a:solidFill>
                  <a:schemeClr val="dk1"/>
                </a:solidFill>
                <a:latin typeface="Comic Sans MS"/>
                <a:ea typeface="Comic Sans MS"/>
                <a:cs typeface="Comic Sans MS"/>
                <a:sym typeface="Comic Sans MS"/>
              </a:rPr>
              <a:t>type of word representation that allows words with similar meaning to have a similar representation</a:t>
            </a:r>
            <a:endParaRPr b="1">
              <a:solidFill>
                <a:schemeClr val="dk1"/>
              </a:solidFill>
              <a:latin typeface="Comic Sans MS"/>
              <a:ea typeface="Comic Sans MS"/>
              <a:cs typeface="Comic Sans MS"/>
              <a:sym typeface="Comic Sans MS"/>
            </a:endParaRPr>
          </a:p>
        </p:txBody>
      </p:sp>
      <p:sp>
        <p:nvSpPr>
          <p:cNvPr id="294" name="Google Shape;29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are word embeddings created?</a:t>
            </a:r>
            <a:endParaRPr/>
          </a:p>
        </p:txBody>
      </p:sp>
      <p:sp>
        <p:nvSpPr>
          <p:cNvPr id="300" name="Google Shape;300;p42"/>
          <p:cNvSpPr txBox="1"/>
          <p:nvPr>
            <p:ph idx="1" type="body"/>
          </p:nvPr>
        </p:nvSpPr>
        <p:spPr>
          <a:xfrm>
            <a:off x="311700" y="1152475"/>
            <a:ext cx="8520600" cy="383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Start with lots of text. For each word, pay attention to which words occur before it and after it. Create features that capture these statistics.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lnSpc>
                <a:spcPct val="115000"/>
              </a:lnSpc>
              <a:spcBef>
                <a:spcPts val="1200"/>
              </a:spcBef>
              <a:spcAft>
                <a:spcPts val="0"/>
              </a:spcAft>
              <a:buSzPts val="1800"/>
              <a:buChar char="➔"/>
            </a:pPr>
            <a:r>
              <a:rPr lang="en"/>
              <a:t>“</a:t>
            </a:r>
            <a:r>
              <a:rPr lang="en"/>
              <a:t>k</a:t>
            </a:r>
            <a:r>
              <a:rPr lang="en"/>
              <a:t>ing” and “queen” should be similar because both occur with words like “the”, “palace”, “crown”, “castle”, etc.</a:t>
            </a:r>
            <a:endParaRPr/>
          </a:p>
          <a:p>
            <a:pPr indent="-342900" lvl="0" marL="457200" rtl="0" algn="l">
              <a:spcBef>
                <a:spcPts val="1200"/>
              </a:spcBef>
              <a:spcAft>
                <a:spcPts val="0"/>
              </a:spcAft>
              <a:buSzPts val="1800"/>
              <a:buChar char="➔"/>
            </a:pPr>
            <a:r>
              <a:rPr lang="en"/>
              <a:t>But they are also different because “king” occurs more with “he” and “his” while “queen” occurs more with “she” and “her”.</a:t>
            </a:r>
            <a:endParaRPr/>
          </a:p>
        </p:txBody>
      </p:sp>
      <p:sp>
        <p:nvSpPr>
          <p:cNvPr id="301" name="Google Shape;30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02" name="Google Shape;302;p42"/>
          <p:cNvGraphicFramePr/>
          <p:nvPr/>
        </p:nvGraphicFramePr>
        <p:xfrm>
          <a:off x="952475" y="2076450"/>
          <a:ext cx="3000000" cy="3000000"/>
        </p:xfrm>
        <a:graphic>
          <a:graphicData uri="http://schemas.openxmlformats.org/drawingml/2006/table">
            <a:tbl>
              <a:tblPr>
                <a:noFill/>
                <a:tableStyleId>{C04EF0E8-2E44-4BD7-9BCF-83D9B6E10316}</a:tableStyleId>
              </a:tblPr>
              <a:tblGrid>
                <a:gridCol w="1034150"/>
                <a:gridCol w="1034150"/>
                <a:gridCol w="1034150"/>
                <a:gridCol w="1034150"/>
                <a:gridCol w="1034150"/>
                <a:gridCol w="1034150"/>
                <a:gridCol w="1034150"/>
              </a:tblGrid>
              <a:tr h="381000">
                <a:tc>
                  <a:txBody>
                    <a:bodyPr/>
                    <a:lstStyle/>
                    <a:p>
                      <a:pPr indent="0" lvl="0" marL="0" rtl="0" algn="ctr">
                        <a:spcBef>
                          <a:spcPts val="0"/>
                        </a:spcBef>
                        <a:spcAft>
                          <a:spcPts val="0"/>
                        </a:spcAft>
                        <a:buNone/>
                      </a:pPr>
                      <a:r>
                        <a:rPr lang="en"/>
                        <a:t>were</a:t>
                      </a:r>
                      <a:endParaRPr/>
                    </a:p>
                  </a:txBody>
                  <a:tcPr marT="91425" marB="91425" marR="91425" marL="91425"/>
                </a:tc>
                <a:tc>
                  <a:txBody>
                    <a:bodyPr/>
                    <a:lstStyle/>
                    <a:p>
                      <a:pPr indent="0" lvl="0" marL="0" rtl="0" algn="ctr">
                        <a:spcBef>
                          <a:spcPts val="0"/>
                        </a:spcBef>
                        <a:spcAft>
                          <a:spcPts val="0"/>
                        </a:spcAft>
                        <a:buNone/>
                      </a:pPr>
                      <a:r>
                        <a:rPr lang="en"/>
                        <a:t>visiting</a:t>
                      </a:r>
                      <a:endParaRPr/>
                    </a:p>
                  </a:txBody>
                  <a:tcPr marT="91425" marB="91425" marR="91425" marL="91425"/>
                </a:tc>
                <a:tc>
                  <a:txBody>
                    <a:bodyPr/>
                    <a:lstStyle/>
                    <a:p>
                      <a:pPr indent="0" lvl="0" marL="0" rtl="0" algn="ctr">
                        <a:spcBef>
                          <a:spcPts val="0"/>
                        </a:spcBef>
                        <a:spcAft>
                          <a:spcPts val="0"/>
                        </a:spcAft>
                        <a:buNone/>
                      </a:pPr>
                      <a:r>
                        <a:rPr lang="en"/>
                        <a:t>the</a:t>
                      </a:r>
                      <a:endParaRPr/>
                    </a:p>
                  </a:txBody>
                  <a:tcPr marT="91425" marB="91425" marR="91425" marL="91425">
                    <a:solidFill>
                      <a:srgbClr val="D9EAD3"/>
                    </a:solidFill>
                  </a:tcPr>
                </a:tc>
                <a:tc>
                  <a:txBody>
                    <a:bodyPr/>
                    <a:lstStyle/>
                    <a:p>
                      <a:pPr indent="0" lvl="0" marL="0" rtl="0" algn="ctr">
                        <a:spcBef>
                          <a:spcPts val="0"/>
                        </a:spcBef>
                        <a:spcAft>
                          <a:spcPts val="0"/>
                        </a:spcAft>
                        <a:buNone/>
                      </a:pPr>
                      <a:r>
                        <a:rPr lang="en"/>
                        <a:t>king</a:t>
                      </a:r>
                      <a:endParaRPr/>
                    </a:p>
                  </a:txBody>
                  <a:tcPr marT="91425" marB="91425" marR="91425" marL="91425"/>
                </a:tc>
                <a:tc>
                  <a:txBody>
                    <a:bodyPr/>
                    <a:lstStyle/>
                    <a:p>
                      <a:pPr indent="0" lvl="0" marL="0" rtl="0" algn="ctr">
                        <a:spcBef>
                          <a:spcPts val="0"/>
                        </a:spcBef>
                        <a:spcAft>
                          <a:spcPts val="0"/>
                        </a:spcAft>
                        <a:buNone/>
                      </a:pPr>
                      <a:r>
                        <a:rPr lang="en"/>
                        <a:t>i</a:t>
                      </a:r>
                      <a:r>
                        <a:rPr lang="en"/>
                        <a:t>n </a:t>
                      </a:r>
                      <a:endParaRPr/>
                    </a:p>
                  </a:txBody>
                  <a:tcPr marT="91425" marB="91425" marR="91425" marL="91425"/>
                </a:tc>
                <a:tc>
                  <a:txBody>
                    <a:bodyPr/>
                    <a:lstStyle/>
                    <a:p>
                      <a:pPr indent="0" lvl="0" marL="0" rtl="0" algn="ctr">
                        <a:spcBef>
                          <a:spcPts val="0"/>
                        </a:spcBef>
                        <a:spcAft>
                          <a:spcPts val="0"/>
                        </a:spcAft>
                        <a:buNone/>
                      </a:pPr>
                      <a:r>
                        <a:rPr lang="en"/>
                        <a:t>his</a:t>
                      </a:r>
                      <a:endParaRPr/>
                    </a:p>
                  </a:txBody>
                  <a:tcPr marT="91425" marB="91425" marR="91425" marL="91425">
                    <a:solidFill>
                      <a:srgbClr val="C9DAF8"/>
                    </a:solidFill>
                  </a:tcPr>
                </a:tc>
                <a:tc>
                  <a:txBody>
                    <a:bodyPr/>
                    <a:lstStyle/>
                    <a:p>
                      <a:pPr indent="0" lvl="0" marL="0" rtl="0" algn="ctr">
                        <a:spcBef>
                          <a:spcPts val="0"/>
                        </a:spcBef>
                        <a:spcAft>
                          <a:spcPts val="0"/>
                        </a:spcAft>
                        <a:buNone/>
                      </a:pPr>
                      <a:r>
                        <a:rPr lang="en"/>
                        <a:t>palace</a:t>
                      </a:r>
                      <a:endParaRPr/>
                    </a:p>
                  </a:txBody>
                  <a:tcPr marT="91425" marB="91425" marR="91425" marL="91425">
                    <a:solidFill>
                      <a:srgbClr val="D9EAD3"/>
                    </a:solidFill>
                  </a:tcPr>
                </a:tc>
              </a:tr>
            </a:tbl>
          </a:graphicData>
        </a:graphic>
      </p:graphicFrame>
      <p:graphicFrame>
        <p:nvGraphicFramePr>
          <p:cNvPr id="303" name="Google Shape;303;p42"/>
          <p:cNvGraphicFramePr/>
          <p:nvPr/>
        </p:nvGraphicFramePr>
        <p:xfrm>
          <a:off x="952475" y="2762250"/>
          <a:ext cx="3000000" cy="3000000"/>
        </p:xfrm>
        <a:graphic>
          <a:graphicData uri="http://schemas.openxmlformats.org/drawingml/2006/table">
            <a:tbl>
              <a:tblPr>
                <a:noFill/>
                <a:tableStyleId>{C04EF0E8-2E44-4BD7-9BCF-83D9B6E10316}</a:tableStyleId>
              </a:tblPr>
              <a:tblGrid>
                <a:gridCol w="1034150"/>
                <a:gridCol w="1034150"/>
                <a:gridCol w="1034150"/>
                <a:gridCol w="1034150"/>
                <a:gridCol w="1034150"/>
                <a:gridCol w="1034150"/>
                <a:gridCol w="1034150"/>
              </a:tblGrid>
              <a:tr h="265650">
                <a:tc>
                  <a:txBody>
                    <a:bodyPr/>
                    <a:lstStyle/>
                    <a:p>
                      <a:pPr indent="0" lvl="0" marL="0" rtl="0" algn="ctr">
                        <a:spcBef>
                          <a:spcPts val="0"/>
                        </a:spcBef>
                        <a:spcAft>
                          <a:spcPts val="0"/>
                        </a:spcAft>
                        <a:buNone/>
                      </a:pPr>
                      <a:r>
                        <a:rPr lang="en"/>
                        <a:t>reported</a:t>
                      </a:r>
                      <a:endParaRPr/>
                    </a:p>
                  </a:txBody>
                  <a:tcPr marT="91425" marB="91425" marR="91425" marL="91425"/>
                </a:tc>
                <a:tc>
                  <a:txBody>
                    <a:bodyPr/>
                    <a:lstStyle/>
                    <a:p>
                      <a:pPr indent="0" lvl="0" marL="0" rtl="0" algn="ctr">
                        <a:spcBef>
                          <a:spcPts val="0"/>
                        </a:spcBef>
                        <a:spcAft>
                          <a:spcPts val="0"/>
                        </a:spcAft>
                        <a:buNone/>
                      </a:pPr>
                      <a:r>
                        <a:rPr lang="en"/>
                        <a:t>to</a:t>
                      </a:r>
                      <a:endParaRPr/>
                    </a:p>
                  </a:txBody>
                  <a:tcPr marT="91425" marB="91425" marR="91425" marL="91425"/>
                </a:tc>
                <a:tc>
                  <a:txBody>
                    <a:bodyPr/>
                    <a:lstStyle/>
                    <a:p>
                      <a:pPr indent="0" lvl="0" marL="0" rtl="0" algn="ctr">
                        <a:spcBef>
                          <a:spcPts val="0"/>
                        </a:spcBef>
                        <a:spcAft>
                          <a:spcPts val="0"/>
                        </a:spcAft>
                        <a:buNone/>
                      </a:pPr>
                      <a:r>
                        <a:rPr lang="en"/>
                        <a:t>the</a:t>
                      </a:r>
                      <a:endParaRPr/>
                    </a:p>
                  </a:txBody>
                  <a:tcPr marT="91425" marB="91425" marR="91425" marL="91425">
                    <a:solidFill>
                      <a:srgbClr val="D9EAD3"/>
                    </a:solidFill>
                  </a:tcPr>
                </a:tc>
                <a:tc>
                  <a:txBody>
                    <a:bodyPr/>
                    <a:lstStyle/>
                    <a:p>
                      <a:pPr indent="0" lvl="0" marL="0" rtl="0" algn="ctr">
                        <a:spcBef>
                          <a:spcPts val="0"/>
                        </a:spcBef>
                        <a:spcAft>
                          <a:spcPts val="0"/>
                        </a:spcAft>
                        <a:buNone/>
                      </a:pPr>
                      <a:r>
                        <a:rPr lang="en"/>
                        <a:t>queen</a:t>
                      </a:r>
                      <a:endParaRPr/>
                    </a:p>
                  </a:txBody>
                  <a:tcPr marT="91425" marB="91425" marR="91425" marL="91425"/>
                </a:tc>
                <a:tc>
                  <a:txBody>
                    <a:bodyPr/>
                    <a:lstStyle/>
                    <a:p>
                      <a:pPr indent="0" lvl="0" marL="0" rtl="0" algn="ctr">
                        <a:spcBef>
                          <a:spcPts val="0"/>
                        </a:spcBef>
                        <a:spcAft>
                          <a:spcPts val="0"/>
                        </a:spcAft>
                        <a:buNone/>
                      </a:pPr>
                      <a:r>
                        <a:rPr lang="en"/>
                        <a:t>in </a:t>
                      </a:r>
                      <a:endParaRPr/>
                    </a:p>
                  </a:txBody>
                  <a:tcPr marT="91425" marB="91425" marR="91425" marL="91425"/>
                </a:tc>
                <a:tc>
                  <a:txBody>
                    <a:bodyPr/>
                    <a:lstStyle/>
                    <a:p>
                      <a:pPr indent="0" lvl="0" marL="0" rtl="0" algn="ctr">
                        <a:spcBef>
                          <a:spcPts val="0"/>
                        </a:spcBef>
                        <a:spcAft>
                          <a:spcPts val="0"/>
                        </a:spcAft>
                        <a:buNone/>
                      </a:pPr>
                      <a:r>
                        <a:rPr lang="en"/>
                        <a:t>her</a:t>
                      </a:r>
                      <a:endParaRPr/>
                    </a:p>
                  </a:txBody>
                  <a:tcPr marT="91425" marB="91425" marR="91425" marL="91425">
                    <a:solidFill>
                      <a:srgbClr val="F4CCCC"/>
                    </a:solidFill>
                  </a:tcPr>
                </a:tc>
                <a:tc>
                  <a:txBody>
                    <a:bodyPr/>
                    <a:lstStyle/>
                    <a:p>
                      <a:pPr indent="0" lvl="0" marL="0" rtl="0" algn="ctr">
                        <a:spcBef>
                          <a:spcPts val="0"/>
                        </a:spcBef>
                        <a:spcAft>
                          <a:spcPts val="0"/>
                        </a:spcAft>
                        <a:buNone/>
                      </a:pPr>
                      <a:r>
                        <a:rPr lang="en"/>
                        <a:t>palace</a:t>
                      </a:r>
                      <a:endParaRPr/>
                    </a:p>
                  </a:txBody>
                  <a:tcPr marT="91425" marB="91425" marR="91425" marL="91425">
                    <a:solidFill>
                      <a:srgbClr val="D9EAD3"/>
                    </a:solidFill>
                  </a:tcPr>
                </a:tc>
              </a:tr>
            </a:tbl>
          </a:graphicData>
        </a:graphic>
      </p:graphicFrame>
      <p:sp>
        <p:nvSpPr>
          <p:cNvPr id="304" name="Google Shape;304;p42"/>
          <p:cNvSpPr/>
          <p:nvPr/>
        </p:nvSpPr>
        <p:spPr>
          <a:xfrm>
            <a:off x="4071476" y="2788802"/>
            <a:ext cx="1006500" cy="393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2"/>
          <p:cNvSpPr/>
          <p:nvPr/>
        </p:nvSpPr>
        <p:spPr>
          <a:xfrm>
            <a:off x="4071476" y="2103002"/>
            <a:ext cx="1006500" cy="393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2"/>
          <p:cNvSpPr txBox="1"/>
          <p:nvPr/>
        </p:nvSpPr>
        <p:spPr>
          <a:xfrm>
            <a:off x="432700" y="2063859"/>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
        <p:nvSpPr>
          <p:cNvPr id="307" name="Google Shape;307;p42"/>
          <p:cNvSpPr txBox="1"/>
          <p:nvPr/>
        </p:nvSpPr>
        <p:spPr>
          <a:xfrm>
            <a:off x="432700" y="2749659"/>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
        <p:nvSpPr>
          <p:cNvPr id="308" name="Google Shape;308;p42"/>
          <p:cNvSpPr txBox="1"/>
          <p:nvPr/>
        </p:nvSpPr>
        <p:spPr>
          <a:xfrm>
            <a:off x="8205100" y="2749659"/>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
        <p:nvSpPr>
          <p:cNvPr id="309" name="Google Shape;309;p42"/>
          <p:cNvSpPr txBox="1"/>
          <p:nvPr/>
        </p:nvSpPr>
        <p:spPr>
          <a:xfrm>
            <a:off x="8205100" y="2063859"/>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5" name="Google Shape;315;p43"/>
          <p:cNvPicPr preferRelativeResize="0"/>
          <p:nvPr/>
        </p:nvPicPr>
        <p:blipFill>
          <a:blip r:embed="rId3">
            <a:alphaModFix/>
          </a:blip>
          <a:stretch>
            <a:fillRect/>
          </a:stretch>
        </p:blipFill>
        <p:spPr>
          <a:xfrm>
            <a:off x="1862578" y="0"/>
            <a:ext cx="6180844" cy="5143500"/>
          </a:xfrm>
          <a:prstGeom prst="rect">
            <a:avLst/>
          </a:prstGeom>
          <a:noFill/>
          <a:ln>
            <a:noFill/>
          </a:ln>
        </p:spPr>
      </p:pic>
      <p:sp>
        <p:nvSpPr>
          <p:cNvPr id="316" name="Google Shape;316;p43"/>
          <p:cNvSpPr txBox="1"/>
          <p:nvPr/>
        </p:nvSpPr>
        <p:spPr>
          <a:xfrm>
            <a:off x="944909" y="4113155"/>
            <a:ext cx="9879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feature</a:t>
            </a:r>
            <a:endParaRPr/>
          </a:p>
        </p:txBody>
      </p:sp>
      <p:sp>
        <p:nvSpPr>
          <p:cNvPr id="317" name="Google Shape;317;p43"/>
          <p:cNvSpPr txBox="1"/>
          <p:nvPr/>
        </p:nvSpPr>
        <p:spPr>
          <a:xfrm>
            <a:off x="4822025" y="0"/>
            <a:ext cx="441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https://www.cs.cmu.edu/~dst/WordEmbeddingDemo</a:t>
            </a:r>
            <a:endParaRPr/>
          </a:p>
        </p:txBody>
      </p:sp>
      <p:sp>
        <p:nvSpPr>
          <p:cNvPr id="318" name="Google Shape;318;p43"/>
          <p:cNvSpPr txBox="1"/>
          <p:nvPr/>
        </p:nvSpPr>
        <p:spPr>
          <a:xfrm>
            <a:off x="193550" y="611550"/>
            <a:ext cx="16689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 </a:t>
            </a:r>
            <a:r>
              <a:rPr b="1" lang="en" sz="2000"/>
              <a:t>300</a:t>
            </a:r>
            <a:endParaRPr b="1" sz="2000"/>
          </a:p>
          <a:p>
            <a:pPr indent="0" lvl="0" marL="0" rtl="0" algn="l">
              <a:spcBef>
                <a:spcPts val="0"/>
              </a:spcBef>
              <a:spcAft>
                <a:spcPts val="0"/>
              </a:spcAft>
              <a:buNone/>
            </a:pPr>
            <a:r>
              <a:rPr lang="en" sz="2000"/>
              <a:t>Dimensional </a:t>
            </a:r>
            <a:r>
              <a:rPr lang="en"/>
              <a:t>word embedding used in the online “WordEmbeddingDemo”.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4"/>
          <p:cNvSpPr txBox="1"/>
          <p:nvPr>
            <p:ph type="title"/>
          </p:nvPr>
        </p:nvSpPr>
        <p:spPr>
          <a:xfrm>
            <a:off x="311700" y="1769050"/>
            <a:ext cx="8520600" cy="1324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740"/>
              <a:t>I</a:t>
            </a:r>
            <a:r>
              <a:rPr lang="en" sz="2740"/>
              <a:t>ntroduction to Dave’s Word Embedding Demos</a:t>
            </a:r>
            <a:endParaRPr sz="2740"/>
          </a:p>
          <a:p>
            <a:pPr indent="0" lvl="0" marL="0" rtl="0" algn="ctr">
              <a:spcBef>
                <a:spcPts val="0"/>
              </a:spcBef>
              <a:spcAft>
                <a:spcPts val="0"/>
              </a:spcAft>
              <a:buSzPts val="990"/>
              <a:buNone/>
            </a:pPr>
            <a:r>
              <a:rPr lang="en" sz="2740"/>
              <a:t>&amp; Student Activities</a:t>
            </a:r>
            <a:endParaRPr sz="2740"/>
          </a:p>
        </p:txBody>
      </p:sp>
      <p:sp>
        <p:nvSpPr>
          <p:cNvPr id="324" name="Google Shape;32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the 3D Semantic Space</a:t>
            </a:r>
            <a:endParaRPr/>
          </a:p>
        </p:txBody>
      </p:sp>
      <p:sp>
        <p:nvSpPr>
          <p:cNvPr id="330" name="Google Shape;33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5"/>
          <p:cNvSpPr txBox="1"/>
          <p:nvPr>
            <p:ph idx="1" type="body"/>
          </p:nvPr>
        </p:nvSpPr>
        <p:spPr>
          <a:xfrm>
            <a:off x="4955275" y="1232925"/>
            <a:ext cx="3737400" cy="32151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solidFill>
                  <a:srgbClr val="0000FF"/>
                </a:solidFill>
                <a:latin typeface="Alfa Slab One"/>
                <a:ea typeface="Alfa Slab One"/>
                <a:cs typeface="Alfa Slab One"/>
                <a:sym typeface="Alfa Slab One"/>
              </a:rPr>
              <a:t>Try It: </a:t>
            </a:r>
            <a:r>
              <a:rPr lang="en">
                <a:solidFill>
                  <a:schemeClr val="dk1"/>
                </a:solidFill>
                <a:latin typeface="Alfa Slab One"/>
                <a:ea typeface="Alfa Slab One"/>
                <a:cs typeface="Alfa Slab One"/>
                <a:sym typeface="Alfa Slab One"/>
              </a:rPr>
              <a:t>3D Semantic Space</a:t>
            </a:r>
            <a:endParaRPr>
              <a:solidFill>
                <a:schemeClr val="dk1"/>
              </a:solidFill>
              <a:latin typeface="Alfa Slab One"/>
              <a:ea typeface="Alfa Slab One"/>
              <a:cs typeface="Alfa Slab One"/>
              <a:sym typeface="Alfa Slab One"/>
            </a:endParaRPr>
          </a:p>
          <a:p>
            <a:pPr indent="-317182" lvl="0" marL="457200" rtl="0" algn="l">
              <a:spcBef>
                <a:spcPts val="1200"/>
              </a:spcBef>
              <a:spcAft>
                <a:spcPts val="0"/>
              </a:spcAft>
              <a:buSzPct val="100000"/>
              <a:buAutoNum type="arabicPeriod"/>
            </a:pPr>
            <a:r>
              <a:rPr lang="en"/>
              <a:t>Get comfortable interacting with the demo  </a:t>
            </a:r>
            <a:endParaRPr/>
          </a:p>
          <a:p>
            <a:pPr indent="-297497" lvl="1" marL="914400" rtl="0" algn="l">
              <a:spcBef>
                <a:spcPts val="0"/>
              </a:spcBef>
              <a:spcAft>
                <a:spcPts val="0"/>
              </a:spcAft>
              <a:buSzPct val="100000"/>
              <a:buAutoNum type="alphaLcPeriod"/>
            </a:pPr>
            <a:r>
              <a:rPr lang="en"/>
              <a:t>Rotate the word display</a:t>
            </a:r>
            <a:endParaRPr/>
          </a:p>
          <a:p>
            <a:pPr indent="-297497" lvl="1" marL="914400" rtl="0" algn="l">
              <a:spcBef>
                <a:spcPts val="0"/>
              </a:spcBef>
              <a:spcAft>
                <a:spcPts val="0"/>
              </a:spcAft>
              <a:buSzPct val="100000"/>
              <a:buAutoNum type="alphaLcPeriod"/>
            </a:pPr>
            <a:r>
              <a:rPr lang="en"/>
              <a:t>Zoom in and out</a:t>
            </a:r>
            <a:endParaRPr/>
          </a:p>
          <a:p>
            <a:pPr indent="-317182" lvl="0" marL="457200" rtl="0" algn="l">
              <a:spcBef>
                <a:spcPts val="0"/>
              </a:spcBef>
              <a:spcAft>
                <a:spcPts val="0"/>
              </a:spcAft>
              <a:buSzPct val="100000"/>
              <a:buAutoNum type="arabicPeriod"/>
            </a:pPr>
            <a:r>
              <a:rPr lang="en"/>
              <a:t>Hover over a word to see which words are closest to it</a:t>
            </a:r>
            <a:endParaRPr/>
          </a:p>
          <a:p>
            <a:pPr indent="-317182" lvl="0" marL="457200" rtl="0" algn="l">
              <a:spcBef>
                <a:spcPts val="0"/>
              </a:spcBef>
              <a:spcAft>
                <a:spcPts val="0"/>
              </a:spcAft>
              <a:buSzPct val="100000"/>
              <a:buAutoNum type="arabicPeriod"/>
            </a:pPr>
            <a:r>
              <a:rPr lang="en"/>
              <a:t>Add new words</a:t>
            </a:r>
            <a:endParaRPr/>
          </a:p>
          <a:p>
            <a:pPr indent="-297497" lvl="1" marL="914400" rtl="0" algn="l">
              <a:spcBef>
                <a:spcPts val="0"/>
              </a:spcBef>
              <a:spcAft>
                <a:spcPts val="0"/>
              </a:spcAft>
              <a:buSzPct val="100000"/>
              <a:buAutoNum type="alphaLcPeriod"/>
            </a:pPr>
            <a:r>
              <a:rPr lang="en"/>
              <a:t>Does the demo know that word?</a:t>
            </a:r>
            <a:endParaRPr/>
          </a:p>
          <a:p>
            <a:pPr indent="-297497" lvl="1" marL="914400" rtl="0" algn="l">
              <a:spcBef>
                <a:spcPts val="0"/>
              </a:spcBef>
              <a:spcAft>
                <a:spcPts val="0"/>
              </a:spcAft>
              <a:buSzPct val="100000"/>
              <a:buAutoNum type="alphaLcPeriod"/>
            </a:pPr>
            <a:r>
              <a:rPr lang="en"/>
              <a:t>The demo has a 50,000 word vocabulary, so it doesn’t know all words</a:t>
            </a:r>
            <a:endParaRPr/>
          </a:p>
          <a:p>
            <a:pPr indent="-317182" lvl="0" marL="457200" rtl="0" algn="l">
              <a:spcBef>
                <a:spcPts val="0"/>
              </a:spcBef>
              <a:spcAft>
                <a:spcPts val="0"/>
              </a:spcAft>
              <a:buSzPct val="100000"/>
              <a:buAutoNum type="arabicPeriod"/>
            </a:pPr>
            <a:r>
              <a:rPr lang="en"/>
              <a:t>Add related words (e.g., apple, cherry, orange, lemon, and lime) and see how they cluster.</a:t>
            </a:r>
            <a:endParaRPr/>
          </a:p>
        </p:txBody>
      </p:sp>
      <p:pic>
        <p:nvPicPr>
          <p:cNvPr id="332" name="Google Shape;332;p45" title="Word_Embedding_Tour_part_1.mp4">
            <a:hlinkClick r:id="rId3"/>
          </p:cNvPr>
          <p:cNvPicPr preferRelativeResize="0"/>
          <p:nvPr/>
        </p:nvPicPr>
        <p:blipFill>
          <a:blip r:embed="rId4">
            <a:alphaModFix/>
          </a:blip>
          <a:stretch>
            <a:fillRect/>
          </a:stretch>
        </p:blipFill>
        <p:spPr>
          <a:xfrm>
            <a:off x="181275" y="1616200"/>
            <a:ext cx="4650475" cy="2615892"/>
          </a:xfrm>
          <a:prstGeom prst="rect">
            <a:avLst/>
          </a:prstGeom>
          <a:noFill/>
          <a:ln>
            <a:noFill/>
          </a:ln>
        </p:spPr>
      </p:pic>
      <p:sp>
        <p:nvSpPr>
          <p:cNvPr id="333" name="Google Shape;333;p45"/>
          <p:cNvSpPr txBox="1"/>
          <p:nvPr/>
        </p:nvSpPr>
        <p:spPr>
          <a:xfrm>
            <a:off x="181275" y="1246325"/>
            <a:ext cx="30000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350">
                <a:solidFill>
                  <a:srgbClr val="0000FF"/>
                </a:solidFill>
                <a:latin typeface="Alfa Slab One"/>
                <a:ea typeface="Alfa Slab One"/>
                <a:cs typeface="Alfa Slab One"/>
                <a:sym typeface="Alfa Slab One"/>
              </a:rPr>
              <a:t>Watch It</a:t>
            </a:r>
            <a:endParaRPr sz="1350"/>
          </a:p>
        </p:txBody>
      </p:sp>
      <p:sp>
        <p:nvSpPr>
          <p:cNvPr id="334" name="Google Shape;334;p45"/>
          <p:cNvSpPr txBox="1"/>
          <p:nvPr/>
        </p:nvSpPr>
        <p:spPr>
          <a:xfrm>
            <a:off x="806550" y="4263025"/>
            <a:ext cx="333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Word Embedding Demo, Part 1 (3:37)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the Feature Vector Display</a:t>
            </a:r>
            <a:endParaRPr/>
          </a:p>
        </p:txBody>
      </p:sp>
      <p:sp>
        <p:nvSpPr>
          <p:cNvPr id="340" name="Google Shape;34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1" name="Google Shape;341;p46"/>
          <p:cNvSpPr txBox="1"/>
          <p:nvPr>
            <p:ph idx="1" type="body"/>
          </p:nvPr>
        </p:nvSpPr>
        <p:spPr>
          <a:xfrm>
            <a:off x="4955275" y="1232925"/>
            <a:ext cx="3737400" cy="3479100"/>
          </a:xfrm>
          <a:prstGeom prst="rect">
            <a:avLst/>
          </a:prstGeom>
        </p:spPr>
        <p:txBody>
          <a:bodyPr anchorCtr="0" anchor="t" bIns="91425" lIns="91425" spcFirstLastPara="1" rIns="91425" wrap="square" tIns="91425">
            <a:normAutofit fontScale="62500"/>
          </a:bodyPr>
          <a:lstStyle/>
          <a:p>
            <a:pPr indent="0" lvl="0" marL="0" rtl="0" algn="l">
              <a:lnSpc>
                <a:spcPct val="100000"/>
              </a:lnSpc>
              <a:spcBef>
                <a:spcPts val="0"/>
              </a:spcBef>
              <a:spcAft>
                <a:spcPts val="0"/>
              </a:spcAft>
              <a:buNone/>
            </a:pPr>
            <a:r>
              <a:rPr lang="en" sz="2150">
                <a:solidFill>
                  <a:srgbClr val="0000FF"/>
                </a:solidFill>
                <a:latin typeface="Alfa Slab One"/>
                <a:ea typeface="Alfa Slab One"/>
                <a:cs typeface="Alfa Slab One"/>
                <a:sym typeface="Alfa Slab One"/>
              </a:rPr>
              <a:t>Try it:</a:t>
            </a:r>
            <a:r>
              <a:rPr lang="en" sz="2150"/>
              <a:t> </a:t>
            </a:r>
            <a:r>
              <a:rPr lang="en" sz="2150">
                <a:latin typeface="Alfa Slab One"/>
                <a:ea typeface="Alfa Slab One"/>
                <a:cs typeface="Alfa Slab One"/>
                <a:sym typeface="Alfa Slab One"/>
              </a:rPr>
              <a:t>Vector </a:t>
            </a:r>
            <a:r>
              <a:rPr lang="en" sz="2150">
                <a:latin typeface="Alfa Slab One"/>
                <a:ea typeface="Alfa Slab One"/>
                <a:cs typeface="Alfa Slab One"/>
                <a:sym typeface="Alfa Slab One"/>
              </a:rPr>
              <a:t>Visualization</a:t>
            </a:r>
            <a:endParaRPr sz="2150">
              <a:latin typeface="Alfa Slab One"/>
              <a:ea typeface="Alfa Slab One"/>
              <a:cs typeface="Alfa Slab One"/>
              <a:sym typeface="Alfa Slab One"/>
            </a:endParaRPr>
          </a:p>
          <a:p>
            <a:pPr indent="-300037" lvl="0" marL="457200" rtl="0" algn="l">
              <a:lnSpc>
                <a:spcPct val="100000"/>
              </a:lnSpc>
              <a:spcBef>
                <a:spcPts val="1200"/>
              </a:spcBef>
              <a:spcAft>
                <a:spcPts val="0"/>
              </a:spcAft>
              <a:buSzPct val="100000"/>
              <a:buAutoNum type="arabicPeriod"/>
            </a:pPr>
            <a:r>
              <a:rPr lang="en"/>
              <a:t>Drag the mouse across a word and look at its feature values. </a:t>
            </a:r>
            <a:br>
              <a:rPr lang="en"/>
            </a:br>
            <a:r>
              <a:rPr lang="en"/>
              <a:t>Observe the relationship </a:t>
            </a:r>
            <a:r>
              <a:rPr lang="en"/>
              <a:t>between</a:t>
            </a:r>
            <a:r>
              <a:rPr lang="en"/>
              <a:t> the numerical value and the colors</a:t>
            </a:r>
            <a:endParaRPr/>
          </a:p>
          <a:p>
            <a:pPr indent="-284162" lvl="1" marL="914400" rtl="0" algn="l">
              <a:lnSpc>
                <a:spcPct val="100000"/>
              </a:lnSpc>
              <a:spcBef>
                <a:spcPts val="0"/>
              </a:spcBef>
              <a:spcAft>
                <a:spcPts val="0"/>
              </a:spcAft>
              <a:buSzPct val="100000"/>
              <a:buAutoNum type="alphaLcPeriod"/>
            </a:pPr>
            <a:r>
              <a:rPr lang="en"/>
              <a:t>The more positive the number the redder it should be</a:t>
            </a:r>
            <a:endParaRPr/>
          </a:p>
          <a:p>
            <a:pPr indent="-284162" lvl="1" marL="914400" rtl="0" algn="l">
              <a:lnSpc>
                <a:spcPct val="100000"/>
              </a:lnSpc>
              <a:spcBef>
                <a:spcPts val="0"/>
              </a:spcBef>
              <a:spcAft>
                <a:spcPts val="0"/>
              </a:spcAft>
              <a:buSzPct val="100000"/>
              <a:buAutoNum type="alphaLcPeriod"/>
            </a:pPr>
            <a:r>
              <a:rPr lang="en"/>
              <a:t>The more negative the bluer</a:t>
            </a:r>
            <a:r>
              <a:rPr lang="en">
                <a:solidFill>
                  <a:schemeClr val="dk1"/>
                </a:solidFill>
              </a:rPr>
              <a:t> it should be</a:t>
            </a:r>
            <a:r>
              <a:rPr lang="en"/>
              <a:t> </a:t>
            </a:r>
            <a:endParaRPr/>
          </a:p>
          <a:p>
            <a:pPr indent="-284162" lvl="1" marL="914400" rtl="0" algn="l">
              <a:lnSpc>
                <a:spcPct val="100000"/>
              </a:lnSpc>
              <a:spcBef>
                <a:spcPts val="0"/>
              </a:spcBef>
              <a:spcAft>
                <a:spcPts val="0"/>
              </a:spcAft>
              <a:buSzPct val="100000"/>
              <a:buAutoNum type="alphaLcPeriod"/>
            </a:pPr>
            <a:r>
              <a:rPr lang="en"/>
              <a:t>Zero is gray</a:t>
            </a:r>
            <a:endParaRPr/>
          </a:p>
          <a:p>
            <a:pPr indent="-300037" lvl="0" marL="457200" rtl="0" algn="l">
              <a:lnSpc>
                <a:spcPct val="100000"/>
              </a:lnSpc>
              <a:spcBef>
                <a:spcPts val="0"/>
              </a:spcBef>
              <a:spcAft>
                <a:spcPts val="0"/>
              </a:spcAft>
              <a:buSzPct val="100000"/>
              <a:buAutoNum type="arabicPeriod"/>
            </a:pPr>
            <a:r>
              <a:rPr lang="en"/>
              <a:t>Compare the feature vectors of two words that have similar meanings</a:t>
            </a:r>
            <a:endParaRPr/>
          </a:p>
          <a:p>
            <a:pPr indent="-284162" lvl="1" marL="914400" rtl="0" algn="l">
              <a:lnSpc>
                <a:spcPct val="100000"/>
              </a:lnSpc>
              <a:spcBef>
                <a:spcPts val="0"/>
              </a:spcBef>
              <a:spcAft>
                <a:spcPts val="0"/>
              </a:spcAft>
              <a:buSzPct val="100000"/>
              <a:buAutoNum type="alphaLcPeriod"/>
            </a:pPr>
            <a:r>
              <a:rPr lang="en"/>
              <a:t>Try boy and girl - What do you notice</a:t>
            </a:r>
            <a:endParaRPr/>
          </a:p>
          <a:p>
            <a:pPr indent="-284162" lvl="1" marL="914400" rtl="0" algn="l">
              <a:lnSpc>
                <a:spcPct val="100000"/>
              </a:lnSpc>
              <a:spcBef>
                <a:spcPts val="0"/>
              </a:spcBef>
              <a:spcAft>
                <a:spcPts val="0"/>
              </a:spcAft>
              <a:buSzPct val="100000"/>
              <a:buAutoNum type="alphaLcPeriod"/>
            </a:pPr>
            <a:r>
              <a:rPr lang="en"/>
              <a:t>Try another pair of words</a:t>
            </a:r>
            <a:endParaRPr/>
          </a:p>
          <a:p>
            <a:pPr indent="-300037" lvl="0" marL="457200" rtl="0" algn="l">
              <a:lnSpc>
                <a:spcPct val="100000"/>
              </a:lnSpc>
              <a:spcBef>
                <a:spcPts val="0"/>
              </a:spcBef>
              <a:spcAft>
                <a:spcPts val="0"/>
              </a:spcAft>
              <a:buSzPct val="100000"/>
              <a:buAutoNum type="arabicPeriod"/>
            </a:pPr>
            <a:r>
              <a:rPr lang="en"/>
              <a:t>Replace a word in the feature vector display</a:t>
            </a:r>
            <a:endParaRPr/>
          </a:p>
          <a:p>
            <a:pPr indent="-284162" lvl="1" marL="914400" rtl="0" algn="l">
              <a:lnSpc>
                <a:spcPct val="100000"/>
              </a:lnSpc>
              <a:spcBef>
                <a:spcPts val="0"/>
              </a:spcBef>
              <a:spcAft>
                <a:spcPts val="0"/>
              </a:spcAft>
              <a:buSzPct val="100000"/>
              <a:buAutoNum type="alphaLcPeriod"/>
            </a:pPr>
            <a:r>
              <a:rPr lang="en"/>
              <a:t>Look at the features of the word</a:t>
            </a:r>
            <a:endParaRPr/>
          </a:p>
          <a:p>
            <a:pPr indent="-284162" lvl="1" marL="914400" rtl="0" algn="l">
              <a:lnSpc>
                <a:spcPct val="100000"/>
              </a:lnSpc>
              <a:spcBef>
                <a:spcPts val="0"/>
              </a:spcBef>
              <a:spcAft>
                <a:spcPts val="0"/>
              </a:spcAft>
              <a:buSzPct val="100000"/>
              <a:buAutoNum type="alphaLcPeriod"/>
            </a:pPr>
            <a:r>
              <a:rPr lang="en"/>
              <a:t>Compare it to </a:t>
            </a:r>
            <a:r>
              <a:rPr lang="en"/>
              <a:t>another</a:t>
            </a:r>
            <a:r>
              <a:rPr lang="en"/>
              <a:t> word, what do you notice?</a:t>
            </a:r>
            <a:endParaRPr/>
          </a:p>
          <a:p>
            <a:pPr indent="-300037" lvl="0" marL="457200" rtl="0" algn="l">
              <a:lnSpc>
                <a:spcPct val="100000"/>
              </a:lnSpc>
              <a:spcBef>
                <a:spcPts val="0"/>
              </a:spcBef>
              <a:spcAft>
                <a:spcPts val="0"/>
              </a:spcAft>
              <a:buSzPct val="100000"/>
              <a:buAutoNum type="arabicPeriod"/>
            </a:pPr>
            <a:r>
              <a:rPr lang="en"/>
              <a:t>Choose a specific feature (gender is 126), see how the value differs for different words, are the values of the features marked correctly?</a:t>
            </a:r>
            <a:endParaRPr/>
          </a:p>
          <a:p>
            <a:pPr indent="-284162" lvl="1" marL="914400" rtl="0" algn="l">
              <a:lnSpc>
                <a:spcPct val="100000"/>
              </a:lnSpc>
              <a:spcBef>
                <a:spcPts val="0"/>
              </a:spcBef>
              <a:spcAft>
                <a:spcPts val="0"/>
              </a:spcAft>
              <a:buSzPct val="100000"/>
              <a:buAutoNum type="alphaLcPeriod"/>
            </a:pPr>
            <a:r>
              <a:rPr lang="en"/>
              <a:t>Check out 121, what do you think that </a:t>
            </a:r>
            <a:r>
              <a:rPr lang="en"/>
              <a:t>feature</a:t>
            </a:r>
            <a:r>
              <a:rPr lang="en"/>
              <a:t> might be related to.</a:t>
            </a:r>
            <a:endParaRPr/>
          </a:p>
        </p:txBody>
      </p:sp>
      <p:pic>
        <p:nvPicPr>
          <p:cNvPr id="342" name="Google Shape;342;p46" title="Word_Embedding_Tour_part_2.mp4">
            <a:hlinkClick r:id="rId3"/>
          </p:cNvPr>
          <p:cNvPicPr preferRelativeResize="0"/>
          <p:nvPr/>
        </p:nvPicPr>
        <p:blipFill>
          <a:blip r:embed="rId4">
            <a:alphaModFix/>
          </a:blip>
          <a:stretch>
            <a:fillRect/>
          </a:stretch>
        </p:blipFill>
        <p:spPr>
          <a:xfrm>
            <a:off x="272400" y="1532525"/>
            <a:ext cx="4650475" cy="2615892"/>
          </a:xfrm>
          <a:prstGeom prst="rect">
            <a:avLst/>
          </a:prstGeom>
          <a:noFill/>
          <a:ln>
            <a:noFill/>
          </a:ln>
        </p:spPr>
      </p:pic>
      <p:sp>
        <p:nvSpPr>
          <p:cNvPr id="343" name="Google Shape;343;p46"/>
          <p:cNvSpPr txBox="1"/>
          <p:nvPr/>
        </p:nvSpPr>
        <p:spPr>
          <a:xfrm>
            <a:off x="181275" y="1232175"/>
            <a:ext cx="30000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350">
                <a:solidFill>
                  <a:srgbClr val="0000FF"/>
                </a:solidFill>
                <a:latin typeface="Alfa Slab One"/>
                <a:ea typeface="Alfa Slab One"/>
                <a:cs typeface="Alfa Slab One"/>
                <a:sym typeface="Alfa Slab One"/>
              </a:rPr>
              <a:t>Watch It</a:t>
            </a:r>
            <a:endParaRPr sz="1350"/>
          </a:p>
        </p:txBody>
      </p:sp>
      <p:sp>
        <p:nvSpPr>
          <p:cNvPr id="344" name="Google Shape;344;p46"/>
          <p:cNvSpPr txBox="1"/>
          <p:nvPr/>
        </p:nvSpPr>
        <p:spPr>
          <a:xfrm>
            <a:off x="742875" y="4148425"/>
            <a:ext cx="333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Word Embedding Demo, Part 2 (2:56)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Analogies</a:t>
            </a:r>
            <a:endParaRPr/>
          </a:p>
        </p:txBody>
      </p:sp>
      <p:sp>
        <p:nvSpPr>
          <p:cNvPr id="350" name="Google Shape;35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47"/>
          <p:cNvSpPr txBox="1"/>
          <p:nvPr>
            <p:ph idx="1" type="body"/>
          </p:nvPr>
        </p:nvSpPr>
        <p:spPr>
          <a:xfrm>
            <a:off x="4849150" y="445025"/>
            <a:ext cx="4122000" cy="46986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n" sz="1350">
                <a:solidFill>
                  <a:srgbClr val="0000FF"/>
                </a:solidFill>
                <a:latin typeface="Alfa Slab One"/>
                <a:ea typeface="Alfa Slab One"/>
                <a:cs typeface="Alfa Slab One"/>
                <a:sym typeface="Alfa Slab One"/>
              </a:rPr>
              <a:t>Try it:</a:t>
            </a:r>
            <a:r>
              <a:rPr lang="en" sz="1350">
                <a:solidFill>
                  <a:schemeClr val="dk1"/>
                </a:solidFill>
              </a:rPr>
              <a:t> </a:t>
            </a:r>
            <a:r>
              <a:rPr lang="en" sz="1350">
                <a:solidFill>
                  <a:schemeClr val="dk1"/>
                </a:solidFill>
                <a:latin typeface="Alfa Slab One"/>
                <a:ea typeface="Alfa Slab One"/>
                <a:cs typeface="Alfa Slab One"/>
                <a:sym typeface="Alfa Slab One"/>
              </a:rPr>
              <a:t>Analogies</a:t>
            </a:r>
            <a:endParaRPr sz="1100">
              <a:solidFill>
                <a:schemeClr val="dk1"/>
              </a:solidFill>
            </a:endParaRPr>
          </a:p>
          <a:p>
            <a:pPr indent="-293211" lvl="0" marL="457200" rtl="0" algn="l">
              <a:lnSpc>
                <a:spcPct val="100000"/>
              </a:lnSpc>
              <a:spcBef>
                <a:spcPts val="1200"/>
              </a:spcBef>
              <a:spcAft>
                <a:spcPts val="0"/>
              </a:spcAft>
              <a:buClr>
                <a:schemeClr val="dk1"/>
              </a:buClr>
              <a:buSzPct val="100000"/>
              <a:buAutoNum type="arabicPeriod"/>
            </a:pPr>
            <a:r>
              <a:rPr lang="en" sz="1100">
                <a:solidFill>
                  <a:schemeClr val="dk1"/>
                </a:solidFill>
              </a:rPr>
              <a:t>Start by trying the analogies in the video and rotate and zoom so you can see what the 3D positioning of these words looks like </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man is to king as woman is to ______</a:t>
            </a:r>
            <a:br>
              <a:rPr lang="en" sz="1100">
                <a:solidFill>
                  <a:schemeClr val="dk1"/>
                </a:solidFill>
              </a:rPr>
            </a:br>
            <a:r>
              <a:rPr lang="en" sz="1100">
                <a:solidFill>
                  <a:schemeClr val="dk1"/>
                </a:solidFill>
              </a:rPr>
              <a:t>What do you notice?</a:t>
            </a:r>
            <a:endParaRPr sz="1100">
              <a:solidFill>
                <a:schemeClr val="dk1"/>
              </a:solidFill>
            </a:endParaRPr>
          </a:p>
          <a:p>
            <a:pPr indent="0" lvl="0" marL="914400" rtl="0" algn="l">
              <a:lnSpc>
                <a:spcPct val="100000"/>
              </a:lnSpc>
              <a:spcBef>
                <a:spcPts val="1200"/>
              </a:spcBef>
              <a:spcAft>
                <a:spcPts val="0"/>
              </a:spcAft>
              <a:buNone/>
            </a:pPr>
            <a:r>
              <a:t/>
            </a:r>
            <a:endParaRPr sz="1100">
              <a:solidFill>
                <a:schemeClr val="dk1"/>
              </a:solidFill>
            </a:endParaRPr>
          </a:p>
          <a:p>
            <a:pPr indent="-293211" lvl="1" marL="914400" rtl="0" algn="l">
              <a:lnSpc>
                <a:spcPct val="100000"/>
              </a:lnSpc>
              <a:spcBef>
                <a:spcPts val="1200"/>
              </a:spcBef>
              <a:spcAft>
                <a:spcPts val="0"/>
              </a:spcAft>
              <a:buClr>
                <a:schemeClr val="dk1"/>
              </a:buClr>
              <a:buSzPct val="100000"/>
              <a:buAutoNum type="alphaLcPeriod"/>
            </a:pPr>
            <a:r>
              <a:rPr lang="en" sz="1100">
                <a:solidFill>
                  <a:schemeClr val="dk1"/>
                </a:solidFill>
              </a:rPr>
              <a:t>cat is to cats as goose is to ________</a:t>
            </a:r>
            <a:br>
              <a:rPr lang="en" sz="1100">
                <a:solidFill>
                  <a:schemeClr val="dk1"/>
                </a:solidFill>
              </a:rPr>
            </a:br>
            <a:r>
              <a:rPr lang="en" sz="1100">
                <a:solidFill>
                  <a:schemeClr val="dk1"/>
                </a:solidFill>
              </a:rPr>
              <a:t>What do you notice?</a:t>
            </a:r>
            <a:br>
              <a:rPr lang="en" sz="1100">
                <a:solidFill>
                  <a:schemeClr val="dk1"/>
                </a:solidFill>
              </a:rPr>
            </a:br>
            <a:br>
              <a:rPr lang="en" sz="1100">
                <a:solidFill>
                  <a:schemeClr val="dk1"/>
                </a:solidFill>
              </a:rPr>
            </a:br>
            <a:br>
              <a:rPr lang="en" sz="1100">
                <a:solidFill>
                  <a:schemeClr val="dk1"/>
                </a:solidFill>
              </a:rPr>
            </a:br>
            <a:endParaRPr sz="1100">
              <a:solidFill>
                <a:schemeClr val="dk1"/>
              </a:solidFill>
            </a:endParaRPr>
          </a:p>
          <a:p>
            <a:pPr indent="-293211" lvl="0" marL="457200" rtl="0" algn="l">
              <a:lnSpc>
                <a:spcPct val="100000"/>
              </a:lnSpc>
              <a:spcBef>
                <a:spcPts val="0"/>
              </a:spcBef>
              <a:spcAft>
                <a:spcPts val="0"/>
              </a:spcAft>
              <a:buClr>
                <a:schemeClr val="dk1"/>
              </a:buClr>
              <a:buSzPct val="100000"/>
              <a:buAutoNum type="arabicPeriod"/>
            </a:pPr>
            <a:r>
              <a:rPr lang="en" sz="1100">
                <a:solidFill>
                  <a:schemeClr val="dk1"/>
                </a:solidFill>
              </a:rPr>
              <a:t>Change the Age semantic dimension to Number</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What do you notice now about the positions of singular versus plural</a:t>
            </a:r>
            <a:br>
              <a:rPr lang="en" sz="1100">
                <a:solidFill>
                  <a:schemeClr val="dk1"/>
                </a:solidFill>
              </a:rPr>
            </a:br>
            <a:br>
              <a:rPr lang="en" sz="1100">
                <a:solidFill>
                  <a:schemeClr val="dk1"/>
                </a:solidFill>
              </a:rPr>
            </a:br>
            <a:br>
              <a:rPr lang="en" sz="1100">
                <a:solidFill>
                  <a:schemeClr val="dk1"/>
                </a:solidFill>
              </a:rPr>
            </a:b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Add additional words to the semantic space, what do you notice</a:t>
            </a:r>
            <a:br>
              <a:rPr lang="en" sz="1100">
                <a:solidFill>
                  <a:schemeClr val="dk1"/>
                </a:solidFill>
              </a:rPr>
            </a:br>
            <a:br>
              <a:rPr lang="en" sz="1100">
                <a:solidFill>
                  <a:schemeClr val="dk1"/>
                </a:solidFill>
              </a:rPr>
            </a:br>
            <a:endParaRPr sz="1100">
              <a:solidFill>
                <a:schemeClr val="dk1"/>
              </a:solidFill>
            </a:endParaRPr>
          </a:p>
          <a:p>
            <a:pPr indent="-293211" lvl="0" marL="457200" rtl="0" algn="l">
              <a:lnSpc>
                <a:spcPct val="100000"/>
              </a:lnSpc>
              <a:spcBef>
                <a:spcPts val="0"/>
              </a:spcBef>
              <a:spcAft>
                <a:spcPts val="0"/>
              </a:spcAft>
              <a:buClr>
                <a:schemeClr val="dk1"/>
              </a:buClr>
              <a:buSzPct val="100000"/>
              <a:buAutoNum type="arabicPeriod"/>
            </a:pPr>
            <a:r>
              <a:rPr lang="en" sz="1100">
                <a:solidFill>
                  <a:schemeClr val="dk1"/>
                </a:solidFill>
              </a:rPr>
              <a:t>Create your own analogies and see if the demo finds the answer that you expect.</a:t>
            </a: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________ is to______as ______ is to ______</a:t>
            </a:r>
            <a:br>
              <a:rPr lang="en" sz="1100">
                <a:solidFill>
                  <a:schemeClr val="dk1"/>
                </a:solidFill>
              </a:rPr>
            </a:br>
            <a:r>
              <a:rPr lang="en" sz="1100">
                <a:solidFill>
                  <a:schemeClr val="dk1"/>
                </a:solidFill>
              </a:rPr>
              <a:t>What do you notice?</a:t>
            </a:r>
            <a:br>
              <a:rPr lang="en" sz="1100">
                <a:solidFill>
                  <a:schemeClr val="dk1"/>
                </a:solidFill>
              </a:rPr>
            </a:br>
            <a:br>
              <a:rPr lang="en" sz="1100">
                <a:solidFill>
                  <a:schemeClr val="dk1"/>
                </a:solidFill>
              </a:rPr>
            </a:br>
            <a:endParaRPr sz="1100">
              <a:solidFill>
                <a:schemeClr val="dk1"/>
              </a:solidFill>
            </a:endParaRPr>
          </a:p>
          <a:p>
            <a:pPr indent="-293211" lvl="1" marL="914400" rtl="0" algn="l">
              <a:lnSpc>
                <a:spcPct val="100000"/>
              </a:lnSpc>
              <a:spcBef>
                <a:spcPts val="0"/>
              </a:spcBef>
              <a:spcAft>
                <a:spcPts val="0"/>
              </a:spcAft>
              <a:buClr>
                <a:schemeClr val="dk1"/>
              </a:buClr>
              <a:buSzPct val="100000"/>
              <a:buAutoNum type="alphaLcPeriod"/>
            </a:pPr>
            <a:r>
              <a:rPr lang="en" sz="1100">
                <a:solidFill>
                  <a:schemeClr val="dk1"/>
                </a:solidFill>
              </a:rPr>
              <a:t>________ is to______as ______ is to ______</a:t>
            </a:r>
            <a:br>
              <a:rPr lang="en" sz="1100">
                <a:solidFill>
                  <a:schemeClr val="dk1"/>
                </a:solidFill>
              </a:rPr>
            </a:br>
            <a:r>
              <a:rPr lang="en" sz="1100">
                <a:solidFill>
                  <a:schemeClr val="dk1"/>
                </a:solidFill>
              </a:rPr>
              <a:t>What do you notice?</a:t>
            </a:r>
            <a:endParaRPr sz="1100">
              <a:solidFill>
                <a:schemeClr val="dk1"/>
              </a:solidFill>
            </a:endParaRPr>
          </a:p>
          <a:p>
            <a:pPr indent="0" lvl="0" marL="0" rtl="0" algn="l">
              <a:lnSpc>
                <a:spcPct val="100000"/>
              </a:lnSpc>
              <a:spcBef>
                <a:spcPts val="1200"/>
              </a:spcBef>
              <a:spcAft>
                <a:spcPts val="1200"/>
              </a:spcAft>
              <a:buNone/>
            </a:pPr>
            <a:r>
              <a:t/>
            </a:r>
            <a:endParaRPr sz="1100">
              <a:solidFill>
                <a:schemeClr val="dk1"/>
              </a:solidFill>
            </a:endParaRPr>
          </a:p>
        </p:txBody>
      </p:sp>
      <p:pic>
        <p:nvPicPr>
          <p:cNvPr id="352" name="Google Shape;352;p47" title="Word_Embedding_Tour_part_3.mp4">
            <a:hlinkClick r:id="rId3"/>
          </p:cNvPr>
          <p:cNvPicPr preferRelativeResize="0"/>
          <p:nvPr/>
        </p:nvPicPr>
        <p:blipFill>
          <a:blip r:embed="rId4">
            <a:alphaModFix/>
          </a:blip>
          <a:stretch>
            <a:fillRect/>
          </a:stretch>
        </p:blipFill>
        <p:spPr>
          <a:xfrm>
            <a:off x="152400" y="1551125"/>
            <a:ext cx="4650475" cy="2615892"/>
          </a:xfrm>
          <a:prstGeom prst="rect">
            <a:avLst/>
          </a:prstGeom>
          <a:noFill/>
          <a:ln>
            <a:noFill/>
          </a:ln>
        </p:spPr>
      </p:pic>
      <p:sp>
        <p:nvSpPr>
          <p:cNvPr id="353" name="Google Shape;353;p47"/>
          <p:cNvSpPr txBox="1"/>
          <p:nvPr/>
        </p:nvSpPr>
        <p:spPr>
          <a:xfrm>
            <a:off x="181275" y="1232175"/>
            <a:ext cx="30000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350">
                <a:solidFill>
                  <a:srgbClr val="0000FF"/>
                </a:solidFill>
                <a:latin typeface="Alfa Slab One"/>
                <a:ea typeface="Alfa Slab One"/>
                <a:cs typeface="Alfa Slab One"/>
                <a:sym typeface="Alfa Slab One"/>
              </a:rPr>
              <a:t>Watch It</a:t>
            </a:r>
            <a:endParaRPr sz="135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 away </a:t>
            </a:r>
            <a:endParaRPr/>
          </a:p>
        </p:txBody>
      </p:sp>
      <p:sp>
        <p:nvSpPr>
          <p:cNvPr id="359" name="Google Shape;35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1100"/>
              <a:buFont typeface="Arial"/>
              <a:buNone/>
            </a:pPr>
            <a:r>
              <a:rPr lang="en" sz="2100">
                <a:solidFill>
                  <a:schemeClr val="dk1"/>
                </a:solidFill>
              </a:rPr>
              <a:t>Real AI systems use word embeddings</a:t>
            </a:r>
            <a:br>
              <a:rPr lang="en" sz="2100">
                <a:solidFill>
                  <a:schemeClr val="dk1"/>
                </a:solidFill>
              </a:rPr>
            </a:br>
            <a:endParaRPr sz="2100">
              <a:solidFill>
                <a:schemeClr val="dk1"/>
              </a:solidFill>
            </a:endParaRPr>
          </a:p>
          <a:p>
            <a:pPr indent="-361950" lvl="0" marL="457200" rtl="0" algn="l">
              <a:lnSpc>
                <a:spcPct val="90000"/>
              </a:lnSpc>
              <a:spcBef>
                <a:spcPts val="0"/>
              </a:spcBef>
              <a:spcAft>
                <a:spcPts val="0"/>
              </a:spcAft>
              <a:buClr>
                <a:schemeClr val="dk1"/>
              </a:buClr>
              <a:buSzPts val="2100"/>
              <a:buChar char="●"/>
            </a:pPr>
            <a:r>
              <a:rPr lang="en" sz="2100">
                <a:solidFill>
                  <a:schemeClr val="dk1"/>
                </a:solidFill>
              </a:rPr>
              <a:t>for handling search queries</a:t>
            </a:r>
            <a:br>
              <a:rPr lang="en" sz="2100">
                <a:solidFill>
                  <a:schemeClr val="dk1"/>
                </a:solidFill>
              </a:rPr>
            </a:br>
            <a:endParaRPr sz="2100">
              <a:solidFill>
                <a:schemeClr val="dk1"/>
              </a:solidFill>
            </a:endParaRPr>
          </a:p>
          <a:p>
            <a:pPr indent="-361950" lvl="0" marL="457200" rtl="0" algn="l">
              <a:lnSpc>
                <a:spcPct val="90000"/>
              </a:lnSpc>
              <a:spcBef>
                <a:spcPts val="0"/>
              </a:spcBef>
              <a:spcAft>
                <a:spcPts val="0"/>
              </a:spcAft>
              <a:buClr>
                <a:schemeClr val="dk1"/>
              </a:buClr>
              <a:buSzPts val="2100"/>
              <a:buChar char="●"/>
            </a:pPr>
            <a:r>
              <a:rPr lang="en" sz="2100">
                <a:solidFill>
                  <a:schemeClr val="dk1"/>
                </a:solidFill>
              </a:rPr>
              <a:t>for machine translation</a:t>
            </a:r>
            <a:br>
              <a:rPr lang="en" sz="2100">
                <a:solidFill>
                  <a:schemeClr val="dk1"/>
                </a:solidFill>
              </a:rPr>
            </a:br>
            <a:endParaRPr sz="2100">
              <a:solidFill>
                <a:schemeClr val="dk1"/>
              </a:solidFill>
            </a:endParaRPr>
          </a:p>
          <a:p>
            <a:pPr indent="-361950" lvl="0" marL="457200" rtl="0" algn="l">
              <a:lnSpc>
                <a:spcPct val="90000"/>
              </a:lnSpc>
              <a:spcBef>
                <a:spcPts val="0"/>
              </a:spcBef>
              <a:spcAft>
                <a:spcPts val="0"/>
              </a:spcAft>
              <a:buClr>
                <a:schemeClr val="dk1"/>
              </a:buClr>
              <a:buSzPts val="2100"/>
              <a:buChar char="●"/>
            </a:pPr>
            <a:r>
              <a:rPr lang="en" sz="2100">
                <a:solidFill>
                  <a:schemeClr val="dk1"/>
                </a:solidFill>
              </a:rPr>
              <a:t>for intent recognition</a:t>
            </a:r>
            <a:endParaRPr sz="2100">
              <a:solidFill>
                <a:schemeClr val="dk1"/>
              </a:solidFill>
            </a:endParaRPr>
          </a:p>
          <a:p>
            <a:pPr indent="0" lvl="0" marL="0" rtl="0" algn="l">
              <a:lnSpc>
                <a:spcPct val="105000"/>
              </a:lnSpc>
              <a:spcBef>
                <a:spcPts val="0"/>
              </a:spcBef>
              <a:spcAft>
                <a:spcPts val="1200"/>
              </a:spcAft>
              <a:buNone/>
            </a:pPr>
            <a:r>
              <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4" name="Shape 364"/>
        <p:cNvGrpSpPr/>
        <p:nvPr/>
      </p:nvGrpSpPr>
      <p:grpSpPr>
        <a:xfrm>
          <a:off x="0" y="0"/>
          <a:ext cx="0" cy="0"/>
          <a:chOff x="0" y="0"/>
          <a:chExt cx="0" cy="0"/>
        </a:xfrm>
      </p:grpSpPr>
      <p:sp>
        <p:nvSpPr>
          <p:cNvPr id="365" name="Google Shape;365;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6" name="Google Shape;366;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67" name="Google Shape;36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320"/>
              <a:t>Exit Ticket</a:t>
            </a:r>
            <a:endParaRPr sz="3320"/>
          </a:p>
        </p:txBody>
      </p:sp>
      <p:sp>
        <p:nvSpPr>
          <p:cNvPr id="373" name="Google Shape;373;p50"/>
          <p:cNvSpPr txBox="1"/>
          <p:nvPr>
            <p:ph idx="1" type="body"/>
          </p:nvPr>
        </p:nvSpPr>
        <p:spPr>
          <a:xfrm>
            <a:off x="311700" y="1152475"/>
            <a:ext cx="5909100" cy="34164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n" sz="5300">
                <a:solidFill>
                  <a:schemeClr val="dk1"/>
                </a:solidFill>
              </a:rPr>
              <a:t>Explain: </a:t>
            </a:r>
            <a:r>
              <a:rPr lang="en" sz="5300">
                <a:solidFill>
                  <a:schemeClr val="dk1"/>
                </a:solidFill>
              </a:rPr>
              <a:t>How does the computer know which words are related?</a:t>
            </a:r>
            <a:endParaRPr sz="3500"/>
          </a:p>
        </p:txBody>
      </p:sp>
      <p:sp>
        <p:nvSpPr>
          <p:cNvPr id="374" name="Google Shape;37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75" name="Google Shape;375;p50"/>
          <p:cNvPicPr preferRelativeResize="0"/>
          <p:nvPr/>
        </p:nvPicPr>
        <p:blipFill>
          <a:blip r:embed="rId3">
            <a:alphaModFix/>
          </a:blip>
          <a:stretch>
            <a:fillRect/>
          </a:stretch>
        </p:blipFill>
        <p:spPr>
          <a:xfrm>
            <a:off x="6043325" y="1685400"/>
            <a:ext cx="2977826" cy="29778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sp>
        <p:nvSpPr>
          <p:cNvPr id="380" name="Google Shape;38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381" name="Google Shape;381;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277495" lvl="0" marL="457200" rtl="0" algn="l">
              <a:spcBef>
                <a:spcPts val="0"/>
              </a:spcBef>
              <a:spcAft>
                <a:spcPts val="0"/>
              </a:spcAft>
              <a:buClr>
                <a:schemeClr val="dk1"/>
              </a:buClr>
              <a:buSzPct val="100000"/>
              <a:buChar char="-"/>
            </a:pPr>
            <a:r>
              <a:rPr lang="en" sz="1100">
                <a:solidFill>
                  <a:schemeClr val="dk1"/>
                </a:solidFill>
              </a:rPr>
              <a:t>Limitations</a:t>
            </a:r>
            <a:endParaRPr sz="1100">
              <a:solidFill>
                <a:schemeClr val="dk1"/>
              </a:solidFill>
            </a:endParaRPr>
          </a:p>
          <a:p>
            <a:pPr indent="-277494" lvl="1" marL="914400" rtl="0" algn="l">
              <a:spcBef>
                <a:spcPts val="0"/>
              </a:spcBef>
              <a:spcAft>
                <a:spcPts val="0"/>
              </a:spcAft>
              <a:buClr>
                <a:schemeClr val="dk1"/>
              </a:buClr>
              <a:buSzPct val="100000"/>
              <a:buChar char="-"/>
            </a:pPr>
            <a:r>
              <a:rPr lang="en" sz="1100">
                <a:solidFill>
                  <a:schemeClr val="dk1"/>
                </a:solidFill>
              </a:rPr>
              <a:t>Homonyns - same word with same spelling or different meaning. Their statistics will be glommed together. </a:t>
            </a:r>
            <a:endParaRPr sz="1100">
              <a:solidFill>
                <a:schemeClr val="dk1"/>
              </a:solidFill>
            </a:endParaRPr>
          </a:p>
          <a:p>
            <a:pPr indent="-277494" lvl="1" marL="914400" rtl="0" algn="l">
              <a:spcBef>
                <a:spcPts val="0"/>
              </a:spcBef>
              <a:spcAft>
                <a:spcPts val="0"/>
              </a:spcAft>
              <a:buClr>
                <a:schemeClr val="dk1"/>
              </a:buClr>
              <a:buSzPct val="100000"/>
              <a:buChar char="-"/>
            </a:pPr>
            <a:r>
              <a:rPr lang="en" sz="1100">
                <a:solidFill>
                  <a:schemeClr val="dk1"/>
                </a:solidFill>
              </a:rPr>
              <a:t>Word embeddings are imperfect encoding</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Ex. apple - near chair and computer. </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What are the closet things to apple. Expect orange</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But instead it ipad, iphone cupertino</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This is because of the training data. This word embedding relates to the tech company</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Ex. man</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Man mankind</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Man adult man</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Man - verb</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Very different than woman </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Cherry - new unspoiled, flavor, fruit, color</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Peach - peachy</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Bananas - crazy</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Orange - neutral</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Plum - sweet job</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Prune - age</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Idiomatic usages, fun fact about language that we didn’t think about before. </a:t>
            </a:r>
            <a:endParaRPr sz="1100">
              <a:solidFill>
                <a:schemeClr val="dk1"/>
              </a:solidFill>
            </a:endParaRPr>
          </a:p>
          <a:p>
            <a:pPr indent="-277494" lvl="1" marL="914400" rtl="0" algn="l">
              <a:spcBef>
                <a:spcPts val="0"/>
              </a:spcBef>
              <a:spcAft>
                <a:spcPts val="0"/>
              </a:spcAft>
              <a:buClr>
                <a:schemeClr val="dk1"/>
              </a:buClr>
              <a:buSzPct val="100000"/>
              <a:buChar char="-"/>
            </a:pPr>
            <a:r>
              <a:rPr lang="en" sz="1100">
                <a:solidFill>
                  <a:schemeClr val="dk1"/>
                </a:solidFill>
              </a:rPr>
              <a:t>Biased toward cisgender. </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Gender non-binary will fit into the middle (neutral)</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They, Them, their (neutral)</a:t>
            </a:r>
            <a:endParaRPr sz="1100">
              <a:solidFill>
                <a:schemeClr val="dk1"/>
              </a:solidFill>
            </a:endParaRPr>
          </a:p>
          <a:p>
            <a:pPr indent="-277495" lvl="0" marL="457200" rtl="0" algn="l">
              <a:spcBef>
                <a:spcPts val="0"/>
              </a:spcBef>
              <a:spcAft>
                <a:spcPts val="0"/>
              </a:spcAft>
              <a:buClr>
                <a:schemeClr val="dk1"/>
              </a:buClr>
              <a:buSzPct val="100000"/>
              <a:buChar char="-"/>
            </a:pPr>
            <a:r>
              <a:rPr lang="en" sz="1100">
                <a:solidFill>
                  <a:schemeClr val="dk1"/>
                </a:solidFill>
              </a:rPr>
              <a:t>Ethical issues</a:t>
            </a:r>
            <a:endParaRPr sz="1100">
              <a:solidFill>
                <a:schemeClr val="dk1"/>
              </a:solidFill>
            </a:endParaRPr>
          </a:p>
          <a:p>
            <a:pPr indent="-277494" lvl="1" marL="914400" rtl="0" algn="l">
              <a:spcBef>
                <a:spcPts val="0"/>
              </a:spcBef>
              <a:spcAft>
                <a:spcPts val="0"/>
              </a:spcAft>
              <a:buClr>
                <a:schemeClr val="dk1"/>
              </a:buClr>
              <a:buSzPct val="100000"/>
              <a:buChar char="-"/>
            </a:pPr>
            <a:r>
              <a:rPr lang="en" sz="1100">
                <a:solidFill>
                  <a:schemeClr val="dk1"/>
                </a:solidFill>
              </a:rPr>
              <a:t>Analogies -&gt; gender and professions</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Man : doctor , woman : nurse</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Look for some of these biases. </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This comes up in google translate.</a:t>
            </a:r>
            <a:endParaRPr sz="1100">
              <a:solidFill>
                <a:schemeClr val="dk1"/>
              </a:solidFill>
            </a:endParaRPr>
          </a:p>
          <a:p>
            <a:pPr indent="-277494" lvl="2" marL="1371600" rtl="0" algn="l">
              <a:spcBef>
                <a:spcPts val="0"/>
              </a:spcBef>
              <a:spcAft>
                <a:spcPts val="0"/>
              </a:spcAft>
              <a:buClr>
                <a:schemeClr val="dk1"/>
              </a:buClr>
              <a:buSzPct val="100000"/>
              <a:buChar char="-"/>
            </a:pPr>
            <a:r>
              <a:rPr lang="en" sz="1100">
                <a:solidFill>
                  <a:schemeClr val="dk1"/>
                </a:solidFill>
              </a:rPr>
              <a:t>Google image -&gt; is something different. </a:t>
            </a:r>
            <a:endParaRPr/>
          </a:p>
        </p:txBody>
      </p:sp>
      <p:sp>
        <p:nvSpPr>
          <p:cNvPr id="382" name="Google Shape;38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51"/>
          <p:cNvSpPr txBox="1"/>
          <p:nvPr/>
        </p:nvSpPr>
        <p:spPr>
          <a:xfrm>
            <a:off x="3998650" y="258950"/>
            <a:ext cx="3804600" cy="8313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Christina - turn into pictures - These were some other notes we had in the Unit 2 Overview Table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7" name="Shape 387"/>
        <p:cNvGrpSpPr/>
        <p:nvPr/>
      </p:nvGrpSpPr>
      <p:grpSpPr>
        <a:xfrm>
          <a:off x="0" y="0"/>
          <a:ext cx="0" cy="0"/>
          <a:chOff x="0" y="0"/>
          <a:chExt cx="0" cy="0"/>
        </a:xfrm>
      </p:grpSpPr>
      <p:sp>
        <p:nvSpPr>
          <p:cNvPr id="388" name="Google Shape;38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89" name="Google Shape;389;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Ethical issues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Analogies -&gt; gender and professions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Man : doctor , woman : nurse</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Look for some of these biases. </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This comes up in google translate.</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Google image -&gt; is something different. </a:t>
            </a:r>
            <a:endParaRPr/>
          </a:p>
        </p:txBody>
      </p:sp>
      <p:sp>
        <p:nvSpPr>
          <p:cNvPr id="390" name="Google Shape;39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