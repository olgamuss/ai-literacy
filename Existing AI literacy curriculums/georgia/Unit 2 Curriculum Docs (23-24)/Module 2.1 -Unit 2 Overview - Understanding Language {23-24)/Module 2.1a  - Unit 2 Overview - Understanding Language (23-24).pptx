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Garamond"/>
      <p:regular r:id="rId19"/>
      <p:bold r:id="rId20"/>
      <p:italic r:id="rId21"/>
      <p:boldItalic r:id="rId22"/>
    </p:embeddedFont>
    <p:embeddedFont>
      <p:font typeface="Helvetica Neue"/>
      <p:regular r:id="rId23"/>
      <p:bold r:id="rId24"/>
      <p:italic r:id="rId25"/>
      <p:boldItalic r:id="rId26"/>
    </p:embeddedFont>
    <p:embeddedFont>
      <p:font typeface="Merriweather"/>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Garamond-bold.fntdata"/><Relationship Id="rId22" Type="http://schemas.openxmlformats.org/officeDocument/2006/relationships/font" Target="fonts/Garamond-boldItalic.fntdata"/><Relationship Id="rId21" Type="http://schemas.openxmlformats.org/officeDocument/2006/relationships/font" Target="fonts/Garamond-italic.fntdata"/><Relationship Id="rId24" Type="http://schemas.openxmlformats.org/officeDocument/2006/relationships/font" Target="fonts/HelveticaNeue-bold.fntdata"/><Relationship Id="rId23" Type="http://schemas.openxmlformats.org/officeDocument/2006/relationships/font" Target="fonts/HelveticaNeue-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HelveticaNeue-boldItalic.fntdata"/><Relationship Id="rId25" Type="http://schemas.openxmlformats.org/officeDocument/2006/relationships/font" Target="fonts/HelveticaNeue-italic.fntdata"/><Relationship Id="rId28" Type="http://schemas.openxmlformats.org/officeDocument/2006/relationships/font" Target="fonts/Merriweather-bold.fntdata"/><Relationship Id="rId27" Type="http://schemas.openxmlformats.org/officeDocument/2006/relationships/font" Target="fonts/Merriweather-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erriweather-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Merriweather-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Garamond-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5c23c52a2a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5c23c52a2a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1bd783204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1bd783204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Possible Student responses - speech recognition, text generation,queries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goal of this activity is to just give students a change to use a smart assistant and use voice to ask it questions. </a:t>
            </a:r>
            <a:endParaRPr/>
          </a:p>
          <a:p>
            <a:pPr indent="0" lvl="0" marL="0" rtl="0" algn="l">
              <a:lnSpc>
                <a:spcPct val="100000"/>
              </a:lnSpc>
              <a:spcBef>
                <a:spcPts val="0"/>
              </a:spcBef>
              <a:spcAft>
                <a:spcPts val="0"/>
              </a:spcAft>
              <a:buSzPts val="1100"/>
              <a:buNone/>
            </a:pPr>
            <a:r>
              <a:rPr lang="en"/>
              <a:t>See how well it understands it.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973b544db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g1973b544db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973b544db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g1973b544db8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161fb14d5e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g1161fb14d5e_0_2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161fb14d5e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g1161fb14d5e_0_1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161fb14d5e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g1161fb14d5e_0_1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161fb14d5e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g1161fb14d5e_0_2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cxnSp>
        <p:nvCxnSpPr>
          <p:cNvPr id="51" name="Google Shape;51;p13"/>
          <p:cNvCxnSpPr/>
          <p:nvPr/>
        </p:nvCxnSpPr>
        <p:spPr>
          <a:xfrm>
            <a:off x="1047127" y="1816100"/>
            <a:ext cx="7055400" cy="0"/>
          </a:xfrm>
          <a:prstGeom prst="straightConnector1">
            <a:avLst/>
          </a:prstGeom>
          <a:noFill/>
          <a:ln cap="flat" cmpd="sng" w="15875">
            <a:solidFill>
              <a:schemeClr val="accent1"/>
            </a:solidFill>
            <a:prstDash val="solid"/>
            <a:round/>
            <a:headEnd len="sm" w="sm" type="none"/>
            <a:tailEnd len="sm" w="sm" type="none"/>
          </a:ln>
        </p:spPr>
      </p:cxnSp>
      <p:sp>
        <p:nvSpPr>
          <p:cNvPr id="52" name="Google Shape;52;p13"/>
          <p:cNvSpPr txBox="1"/>
          <p:nvPr>
            <p:ph type="title"/>
          </p:nvPr>
        </p:nvSpPr>
        <p:spPr>
          <a:xfrm>
            <a:off x="971552" y="736600"/>
            <a:ext cx="7200900" cy="978000"/>
          </a:xfrm>
          <a:prstGeom prst="rect">
            <a:avLst/>
          </a:prstGeom>
          <a:noFill/>
          <a:ln>
            <a:noFill/>
          </a:ln>
        </p:spPr>
        <p:txBody>
          <a:bodyPr anchorCtr="0" anchor="ctr" bIns="45700" lIns="91425" spcFirstLastPara="1" rIns="91425" wrap="square" tIns="45700">
            <a:normAutofit/>
          </a:bodyPr>
          <a:lstStyle>
            <a:lvl1pPr lvl="0" rtl="0" algn="ctr">
              <a:lnSpc>
                <a:spcPct val="100000"/>
              </a:lnSpc>
              <a:spcBef>
                <a:spcPts val="0"/>
              </a:spcBef>
              <a:spcAft>
                <a:spcPts val="0"/>
              </a:spcAft>
              <a:buClr>
                <a:srgbClr val="262626"/>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3" name="Google Shape;53;p13"/>
          <p:cNvSpPr txBox="1"/>
          <p:nvPr>
            <p:ph idx="1" type="body"/>
          </p:nvPr>
        </p:nvSpPr>
        <p:spPr>
          <a:xfrm>
            <a:off x="971551" y="1917699"/>
            <a:ext cx="7200900" cy="2489100"/>
          </a:xfrm>
          <a:prstGeom prst="rect">
            <a:avLst/>
          </a:prstGeom>
          <a:noFill/>
          <a:ln>
            <a:noFill/>
          </a:ln>
        </p:spPr>
        <p:txBody>
          <a:bodyPr anchorCtr="0" anchor="t" bIns="45700" lIns="91425" spcFirstLastPara="1" rIns="91425" wrap="square" tIns="45700">
            <a:normAutofit/>
          </a:bodyPr>
          <a:lstStyle>
            <a:lvl1pPr indent="-360045" lvl="0" marL="457200" rtl="0" algn="l">
              <a:lnSpc>
                <a:spcPct val="100000"/>
              </a:lnSpc>
              <a:spcBef>
                <a:spcPts val="360"/>
              </a:spcBef>
              <a:spcAft>
                <a:spcPts val="0"/>
              </a:spcAft>
              <a:buSzPts val="2070"/>
              <a:buChar char="•"/>
              <a:defRPr/>
            </a:lvl1pPr>
            <a:lvl2pPr indent="-360044" lvl="1" marL="914400" rtl="0" algn="l">
              <a:lnSpc>
                <a:spcPct val="100000"/>
              </a:lnSpc>
              <a:spcBef>
                <a:spcPts val="450"/>
              </a:spcBef>
              <a:spcAft>
                <a:spcPts val="0"/>
              </a:spcAft>
              <a:buSzPts val="2070"/>
              <a:buChar char="•"/>
              <a:defRPr/>
            </a:lvl2pPr>
            <a:lvl3pPr indent="-360044" lvl="2" marL="1371600" rtl="0" algn="l">
              <a:lnSpc>
                <a:spcPct val="100000"/>
              </a:lnSpc>
              <a:spcBef>
                <a:spcPts val="450"/>
              </a:spcBef>
              <a:spcAft>
                <a:spcPts val="0"/>
              </a:spcAft>
              <a:buSzPts val="2070"/>
              <a:buChar char="•"/>
              <a:defRPr/>
            </a:lvl3pPr>
            <a:lvl4pPr indent="-360044" lvl="3" marL="1828800" rtl="0" algn="l">
              <a:lnSpc>
                <a:spcPct val="100000"/>
              </a:lnSpc>
              <a:spcBef>
                <a:spcPts val="450"/>
              </a:spcBef>
              <a:spcAft>
                <a:spcPts val="0"/>
              </a:spcAft>
              <a:buSzPts val="2070"/>
              <a:buChar char="•"/>
              <a:defRPr/>
            </a:lvl4pPr>
            <a:lvl5pPr indent="-360045" lvl="4" marL="2286000" rtl="0" algn="l">
              <a:lnSpc>
                <a:spcPct val="100000"/>
              </a:lnSpc>
              <a:spcBef>
                <a:spcPts val="450"/>
              </a:spcBef>
              <a:spcAft>
                <a:spcPts val="0"/>
              </a:spcAft>
              <a:buSzPts val="2070"/>
              <a:buChar char="•"/>
              <a:defRPr/>
            </a:lvl5pPr>
            <a:lvl6pPr indent="-360045" lvl="5" marL="2743200" rtl="0" algn="l">
              <a:lnSpc>
                <a:spcPct val="100000"/>
              </a:lnSpc>
              <a:spcBef>
                <a:spcPts val="450"/>
              </a:spcBef>
              <a:spcAft>
                <a:spcPts val="0"/>
              </a:spcAft>
              <a:buSzPts val="2070"/>
              <a:buChar char="•"/>
              <a:defRPr/>
            </a:lvl6pPr>
            <a:lvl7pPr indent="-360045" lvl="6" marL="3200400" rtl="0" algn="l">
              <a:lnSpc>
                <a:spcPct val="100000"/>
              </a:lnSpc>
              <a:spcBef>
                <a:spcPts val="450"/>
              </a:spcBef>
              <a:spcAft>
                <a:spcPts val="0"/>
              </a:spcAft>
              <a:buSzPts val="2070"/>
              <a:buChar char="•"/>
              <a:defRPr/>
            </a:lvl7pPr>
            <a:lvl8pPr indent="-360045" lvl="7" marL="3657600" rtl="0" algn="l">
              <a:lnSpc>
                <a:spcPct val="100000"/>
              </a:lnSpc>
              <a:spcBef>
                <a:spcPts val="450"/>
              </a:spcBef>
              <a:spcAft>
                <a:spcPts val="0"/>
              </a:spcAft>
              <a:buSzPts val="2070"/>
              <a:buChar char="•"/>
              <a:defRPr/>
            </a:lvl8pPr>
            <a:lvl9pPr indent="-360045" lvl="8" marL="4114800" rtl="0" algn="l">
              <a:lnSpc>
                <a:spcPct val="100000"/>
              </a:lnSpc>
              <a:spcBef>
                <a:spcPts val="450"/>
              </a:spcBef>
              <a:spcAft>
                <a:spcPts val="450"/>
              </a:spcAft>
              <a:buSzPts val="2070"/>
              <a:buChar char="•"/>
              <a:defRPr/>
            </a:lvl9pPr>
          </a:lstStyle>
          <a:p/>
        </p:txBody>
      </p:sp>
      <p:sp>
        <p:nvSpPr>
          <p:cNvPr id="54" name="Google Shape;54;p13"/>
          <p:cNvSpPr txBox="1"/>
          <p:nvPr>
            <p:ph idx="10" type="dt"/>
          </p:nvPr>
        </p:nvSpPr>
        <p:spPr>
          <a:xfrm>
            <a:off x="6508126" y="4476750"/>
            <a:ext cx="1200300" cy="209700"/>
          </a:xfrm>
          <a:prstGeom prst="rect">
            <a:avLst/>
          </a:prstGeom>
          <a:noFill/>
          <a:ln>
            <a:noFill/>
          </a:ln>
        </p:spPr>
        <p:txBody>
          <a:bodyPr anchorCtr="0" anchor="ctr" bIns="45700" lIns="91425" spcFirstLastPara="1" rIns="91425" wrap="square" tIns="45700">
            <a:noAutofit/>
          </a:bodyPr>
          <a:lstStyle>
            <a:lvl1pPr lvl="0" rtl="0" algn="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5" name="Google Shape;55;p13"/>
          <p:cNvSpPr txBox="1"/>
          <p:nvPr>
            <p:ph idx="11" type="ftr"/>
          </p:nvPr>
        </p:nvSpPr>
        <p:spPr>
          <a:xfrm>
            <a:off x="971551" y="4476750"/>
            <a:ext cx="5479500" cy="2097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6" name="Google Shape;56;p13"/>
          <p:cNvSpPr txBox="1"/>
          <p:nvPr>
            <p:ph idx="12" type="sldNum"/>
          </p:nvPr>
        </p:nvSpPr>
        <p:spPr>
          <a:xfrm>
            <a:off x="7765426" y="4476750"/>
            <a:ext cx="407100" cy="2097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700"/>
              <a:buFont typeface="Arial"/>
              <a:buNone/>
              <a:defRPr b="0" i="0" sz="750" u="none" cap="none" strike="noStrike">
                <a:solidFill>
                  <a:schemeClr val="dk1"/>
                </a:solidFill>
                <a:latin typeface="Garamond"/>
                <a:ea typeface="Garamond"/>
                <a:cs typeface="Garamond"/>
                <a:sym typeface="Garamond"/>
              </a:defRPr>
            </a:lvl1pPr>
            <a:lvl2pPr indent="0" lvl="1" marL="0" marR="0" rtl="0" algn="r">
              <a:lnSpc>
                <a:spcPct val="100000"/>
              </a:lnSpc>
              <a:spcBef>
                <a:spcPts val="0"/>
              </a:spcBef>
              <a:spcAft>
                <a:spcPts val="0"/>
              </a:spcAft>
              <a:buClr>
                <a:srgbClr val="000000"/>
              </a:buClr>
              <a:buSzPts val="700"/>
              <a:buFont typeface="Arial"/>
              <a:buNone/>
              <a:defRPr b="0" i="0" sz="750" u="none" cap="none" strike="noStrike">
                <a:solidFill>
                  <a:schemeClr val="dk1"/>
                </a:solidFill>
                <a:latin typeface="Garamond"/>
                <a:ea typeface="Garamond"/>
                <a:cs typeface="Garamond"/>
                <a:sym typeface="Garamond"/>
              </a:defRPr>
            </a:lvl2pPr>
            <a:lvl3pPr indent="0" lvl="2" marL="0" marR="0" rtl="0" algn="r">
              <a:lnSpc>
                <a:spcPct val="100000"/>
              </a:lnSpc>
              <a:spcBef>
                <a:spcPts val="0"/>
              </a:spcBef>
              <a:spcAft>
                <a:spcPts val="0"/>
              </a:spcAft>
              <a:buClr>
                <a:srgbClr val="000000"/>
              </a:buClr>
              <a:buSzPts val="700"/>
              <a:buFont typeface="Arial"/>
              <a:buNone/>
              <a:defRPr b="0" i="0" sz="750" u="none" cap="none" strike="noStrike">
                <a:solidFill>
                  <a:schemeClr val="dk1"/>
                </a:solidFill>
                <a:latin typeface="Garamond"/>
                <a:ea typeface="Garamond"/>
                <a:cs typeface="Garamond"/>
                <a:sym typeface="Garamond"/>
              </a:defRPr>
            </a:lvl3pPr>
            <a:lvl4pPr indent="0" lvl="3" marL="0" marR="0" rtl="0" algn="r">
              <a:lnSpc>
                <a:spcPct val="100000"/>
              </a:lnSpc>
              <a:spcBef>
                <a:spcPts val="0"/>
              </a:spcBef>
              <a:spcAft>
                <a:spcPts val="0"/>
              </a:spcAft>
              <a:buClr>
                <a:srgbClr val="000000"/>
              </a:buClr>
              <a:buSzPts val="700"/>
              <a:buFont typeface="Arial"/>
              <a:buNone/>
              <a:defRPr b="0" i="0" sz="750" u="none" cap="none" strike="noStrike">
                <a:solidFill>
                  <a:schemeClr val="dk1"/>
                </a:solidFill>
                <a:latin typeface="Garamond"/>
                <a:ea typeface="Garamond"/>
                <a:cs typeface="Garamond"/>
                <a:sym typeface="Garamond"/>
              </a:defRPr>
            </a:lvl4pPr>
            <a:lvl5pPr indent="0" lvl="4" marL="0" marR="0" rtl="0" algn="r">
              <a:lnSpc>
                <a:spcPct val="100000"/>
              </a:lnSpc>
              <a:spcBef>
                <a:spcPts val="0"/>
              </a:spcBef>
              <a:spcAft>
                <a:spcPts val="0"/>
              </a:spcAft>
              <a:buClr>
                <a:srgbClr val="000000"/>
              </a:buClr>
              <a:buSzPts val="700"/>
              <a:buFont typeface="Arial"/>
              <a:buNone/>
              <a:defRPr b="0" i="0" sz="750" u="none" cap="none" strike="noStrike">
                <a:solidFill>
                  <a:schemeClr val="dk1"/>
                </a:solidFill>
                <a:latin typeface="Garamond"/>
                <a:ea typeface="Garamond"/>
                <a:cs typeface="Garamond"/>
                <a:sym typeface="Garamond"/>
              </a:defRPr>
            </a:lvl5pPr>
            <a:lvl6pPr indent="0" lvl="5" marL="0" marR="0" rtl="0" algn="r">
              <a:lnSpc>
                <a:spcPct val="100000"/>
              </a:lnSpc>
              <a:spcBef>
                <a:spcPts val="0"/>
              </a:spcBef>
              <a:spcAft>
                <a:spcPts val="0"/>
              </a:spcAft>
              <a:buClr>
                <a:srgbClr val="000000"/>
              </a:buClr>
              <a:buSzPts val="700"/>
              <a:buFont typeface="Arial"/>
              <a:buNone/>
              <a:defRPr b="0" i="0" sz="750" u="none" cap="none" strike="noStrike">
                <a:solidFill>
                  <a:schemeClr val="dk1"/>
                </a:solidFill>
                <a:latin typeface="Garamond"/>
                <a:ea typeface="Garamond"/>
                <a:cs typeface="Garamond"/>
                <a:sym typeface="Garamond"/>
              </a:defRPr>
            </a:lvl6pPr>
            <a:lvl7pPr indent="0" lvl="6" marL="0" marR="0" rtl="0" algn="r">
              <a:lnSpc>
                <a:spcPct val="100000"/>
              </a:lnSpc>
              <a:spcBef>
                <a:spcPts val="0"/>
              </a:spcBef>
              <a:spcAft>
                <a:spcPts val="0"/>
              </a:spcAft>
              <a:buClr>
                <a:srgbClr val="000000"/>
              </a:buClr>
              <a:buSzPts val="700"/>
              <a:buFont typeface="Arial"/>
              <a:buNone/>
              <a:defRPr b="0" i="0" sz="750" u="none" cap="none" strike="noStrike">
                <a:solidFill>
                  <a:schemeClr val="dk1"/>
                </a:solidFill>
                <a:latin typeface="Garamond"/>
                <a:ea typeface="Garamond"/>
                <a:cs typeface="Garamond"/>
                <a:sym typeface="Garamond"/>
              </a:defRPr>
            </a:lvl7pPr>
            <a:lvl8pPr indent="0" lvl="7" marL="0" marR="0" rtl="0" algn="r">
              <a:lnSpc>
                <a:spcPct val="100000"/>
              </a:lnSpc>
              <a:spcBef>
                <a:spcPts val="0"/>
              </a:spcBef>
              <a:spcAft>
                <a:spcPts val="0"/>
              </a:spcAft>
              <a:buClr>
                <a:srgbClr val="000000"/>
              </a:buClr>
              <a:buSzPts val="700"/>
              <a:buFont typeface="Arial"/>
              <a:buNone/>
              <a:defRPr b="0" i="0" sz="750" u="none" cap="none" strike="noStrike">
                <a:solidFill>
                  <a:schemeClr val="dk1"/>
                </a:solidFill>
                <a:latin typeface="Garamond"/>
                <a:ea typeface="Garamond"/>
                <a:cs typeface="Garamond"/>
                <a:sym typeface="Garamond"/>
              </a:defRPr>
            </a:lvl8pPr>
            <a:lvl9pPr indent="0" lvl="8" marL="0" marR="0" rtl="0" algn="r">
              <a:lnSpc>
                <a:spcPct val="100000"/>
              </a:lnSpc>
              <a:spcBef>
                <a:spcPts val="0"/>
              </a:spcBef>
              <a:spcAft>
                <a:spcPts val="0"/>
              </a:spcAft>
              <a:buClr>
                <a:srgbClr val="000000"/>
              </a:buClr>
              <a:buSzPts val="700"/>
              <a:buFont typeface="Arial"/>
              <a:buNone/>
              <a:defRPr b="0" i="0" sz="750" u="none" cap="none" strike="noStrike">
                <a:solidFill>
                  <a:schemeClr val="dk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hyperlink" Target="https://creativecommons.org/licenses/by-nc-sa/4.0/" TargetMode="External"/><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18.jpg"/><Relationship Id="rId5" Type="http://schemas.openxmlformats.org/officeDocument/2006/relationships/image" Target="../media/image15.png"/><Relationship Id="rId6" Type="http://schemas.openxmlformats.org/officeDocument/2006/relationships/image" Target="../media/image21.png"/><Relationship Id="rId7"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8.png"/><Relationship Id="rId9" Type="http://schemas.openxmlformats.org/officeDocument/2006/relationships/image" Target="../media/image3.png"/><Relationship Id="rId5" Type="http://schemas.openxmlformats.org/officeDocument/2006/relationships/image" Target="../media/image14.png"/><Relationship Id="rId6" Type="http://schemas.openxmlformats.org/officeDocument/2006/relationships/image" Target="../media/image20.png"/><Relationship Id="rId7" Type="http://schemas.openxmlformats.org/officeDocument/2006/relationships/image" Target="../media/image17.png"/><Relationship Id="rId8"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www.youtube.com/watch?v=2RRT1YuyBCo" TargetMode="External"/><Relationship Id="rId4" Type="http://schemas.openxmlformats.org/officeDocument/2006/relationships/image" Target="../media/image6.jpg"/><Relationship Id="rId5" Type="http://schemas.openxmlformats.org/officeDocument/2006/relationships/hyperlink" Target="https://www.youtube.com/watch?v=2RRT1YuyBCo"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7.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2.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www.youtube.com/watch?v=gcHkxP9adiM" TargetMode="External"/><Relationship Id="rId4" Type="http://schemas.openxmlformats.org/officeDocument/2006/relationships/image" Target="../media/image23.jpg"/><Relationship Id="rId5" Type="http://schemas.openxmlformats.org/officeDocument/2006/relationships/hyperlink" Target="https://youtu.be/gcHkxP9adi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www.youtube.com/watch?v=41U78QP8nBk" TargetMode="External"/><Relationship Id="rId4" Type="http://schemas.openxmlformats.org/officeDocument/2006/relationships/image" Target="../media/image24.jpg"/><Relationship Id="rId5" Type="http://schemas.openxmlformats.org/officeDocument/2006/relationships/hyperlink" Target="https://youtu.be/41U78QP8nBk" TargetMode="External"/></Relationships>
</file>

<file path=ppt/slides/_rels/slide13.xml.rels><?xml version="1.0" encoding="UTF-8" standalone="yes"?><Relationships xmlns="http://schemas.openxmlformats.org/package/2006/relationships"><Relationship Id="rId10" Type="http://schemas.openxmlformats.org/officeDocument/2006/relationships/image" Target="../media/image19.png"/><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resilienteducator.com/classroom-resources/how-to-write-a-case-study-the-basics/" TargetMode="External"/><Relationship Id="rId4" Type="http://schemas.openxmlformats.org/officeDocument/2006/relationships/hyperlink" Target="https://www.bbc.com/news/technology-57680173" TargetMode="External"/><Relationship Id="rId9" Type="http://schemas.openxmlformats.org/officeDocument/2006/relationships/image" Target="../media/image16.png"/><Relationship Id="rId5" Type="http://schemas.openxmlformats.org/officeDocument/2006/relationships/hyperlink" Target="https://smarthomestarter.com/is-alexa-safe-for-kids/" TargetMode="External"/><Relationship Id="rId6" Type="http://schemas.openxmlformats.org/officeDocument/2006/relationships/hyperlink" Target="https://www.techradar.com/news/are-smart-speakers-really-safe-for-children" TargetMode="External"/><Relationship Id="rId7" Type="http://schemas.openxmlformats.org/officeDocument/2006/relationships/hyperlink" Target="https://resourced.prometheanworld.com/amazon-alexa-harmful-childrens-educational-development/" TargetMode="External"/><Relationship Id="rId8" Type="http://schemas.openxmlformats.org/officeDocument/2006/relationships/hyperlink" Target="https://nypost.com/2018/08/07/parents-say-using-alexa-to-entertain-kids-comes-with-problem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nvSpPr>
        <p:spPr>
          <a:xfrm>
            <a:off x="180475" y="2745150"/>
            <a:ext cx="9490800" cy="1591200"/>
          </a:xfrm>
          <a:prstGeom prst="rect">
            <a:avLst/>
          </a:prstGeom>
          <a:solidFill>
            <a:srgbClr val="FCE5CD">
              <a:alpha val="3396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595959"/>
                </a:solidFill>
                <a:latin typeface="Merriweather"/>
                <a:ea typeface="Merriweather"/>
                <a:cs typeface="Merriweather"/>
                <a:sym typeface="Merriweather"/>
              </a:rPr>
              <a:t>Unit 2</a:t>
            </a:r>
            <a:endParaRPr sz="2000">
              <a:solidFill>
                <a:srgbClr val="595959"/>
              </a:solidFill>
              <a:latin typeface="Merriweather"/>
              <a:ea typeface="Merriweather"/>
              <a:cs typeface="Merriweather"/>
              <a:sym typeface="Merriweather"/>
            </a:endParaRPr>
          </a:p>
          <a:p>
            <a:pPr indent="0" lvl="0" marL="0" rtl="0" algn="l">
              <a:spcBef>
                <a:spcPts val="0"/>
              </a:spcBef>
              <a:spcAft>
                <a:spcPts val="0"/>
              </a:spcAft>
              <a:buNone/>
            </a:pPr>
            <a:r>
              <a:rPr lang="en" sz="2000">
                <a:solidFill>
                  <a:srgbClr val="595959"/>
                </a:solidFill>
                <a:latin typeface="Merriweather"/>
                <a:ea typeface="Merriweather"/>
                <a:cs typeface="Merriweather"/>
                <a:sym typeface="Merriweather"/>
              </a:rPr>
              <a:t>Understanding </a:t>
            </a:r>
            <a:endParaRPr sz="2000">
              <a:solidFill>
                <a:srgbClr val="595959"/>
              </a:solidFill>
              <a:latin typeface="Merriweather"/>
              <a:ea typeface="Merriweather"/>
              <a:cs typeface="Merriweather"/>
              <a:sym typeface="Merriweather"/>
            </a:endParaRPr>
          </a:p>
          <a:p>
            <a:pPr indent="0" lvl="0" marL="0" rtl="0" algn="l">
              <a:spcBef>
                <a:spcPts val="0"/>
              </a:spcBef>
              <a:spcAft>
                <a:spcPts val="0"/>
              </a:spcAft>
              <a:buNone/>
            </a:pPr>
            <a:r>
              <a:rPr lang="en" sz="2000">
                <a:solidFill>
                  <a:srgbClr val="595959"/>
                </a:solidFill>
                <a:latin typeface="Merriweather"/>
                <a:ea typeface="Merriweather"/>
                <a:cs typeface="Merriweather"/>
                <a:sym typeface="Merriweather"/>
              </a:rPr>
              <a:t>Language</a:t>
            </a:r>
            <a:endParaRPr sz="2000">
              <a:solidFill>
                <a:srgbClr val="595959"/>
              </a:solidFill>
              <a:latin typeface="Merriweather"/>
              <a:ea typeface="Merriweather"/>
              <a:cs typeface="Merriweather"/>
              <a:sym typeface="Merriweather"/>
            </a:endParaRPr>
          </a:p>
        </p:txBody>
      </p:sp>
      <p:sp>
        <p:nvSpPr>
          <p:cNvPr id="62" name="Google Shape;62;p14"/>
          <p:cNvSpPr txBox="1"/>
          <p:nvPr>
            <p:ph type="ctrTitle"/>
          </p:nvPr>
        </p:nvSpPr>
        <p:spPr>
          <a:xfrm>
            <a:off x="2156750" y="733775"/>
            <a:ext cx="6987300" cy="1189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2.1</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rPr lang="en" sz="2355">
                <a:solidFill>
                  <a:schemeClr val="dk2"/>
                </a:solidFill>
                <a:latin typeface="Merriweather"/>
                <a:ea typeface="Merriweather"/>
                <a:cs typeface="Merriweather"/>
                <a:sym typeface="Merriweather"/>
              </a:rPr>
              <a:t>Module Overview - Understanding Language</a:t>
            </a:r>
            <a:endParaRPr sz="2355">
              <a:solidFill>
                <a:schemeClr val="dk2"/>
              </a:solidFill>
              <a:latin typeface="Merriweather"/>
              <a:ea typeface="Merriweather"/>
              <a:cs typeface="Merriweather"/>
              <a:sym typeface="Merriweather"/>
            </a:endParaRPr>
          </a:p>
        </p:txBody>
      </p:sp>
      <p:pic>
        <p:nvPicPr>
          <p:cNvPr id="63" name="Google Shape;63;p14"/>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64" name="Google Shape;64;p14"/>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65" name="Google Shape;65;p14"/>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66" name="Google Shape;66;p14"/>
          <p:cNvSpPr txBox="1"/>
          <p:nvPr/>
        </p:nvSpPr>
        <p:spPr>
          <a:xfrm>
            <a:off x="1377450" y="4491585"/>
            <a:ext cx="9053100" cy="55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t>Developed for the AI4GA (Artificial Intelligence for Georgia) project funded by National Science Foundation awards DRL-2049029 and DRL-2048502.</a:t>
            </a:r>
            <a:endParaRPr sz="900"/>
          </a:p>
          <a:p>
            <a:pPr indent="0" lvl="0" marL="0" rtl="0" algn="l">
              <a:spcBef>
                <a:spcPts val="0"/>
              </a:spcBef>
              <a:spcAft>
                <a:spcPts val="0"/>
              </a:spcAft>
              <a:buNone/>
            </a:pPr>
            <a:r>
              <a:rPr b="1" lang="en" sz="900"/>
              <a:t>This work is licensed under the Creative Commons. Attribution-</a:t>
            </a:r>
            <a:r>
              <a:rPr b="1" lang="en" sz="900"/>
              <a:t>NonCommercial</a:t>
            </a:r>
            <a:r>
              <a:rPr b="1" lang="en" sz="900"/>
              <a:t>-ShareAlike 4.0 International License. </a:t>
            </a:r>
            <a:r>
              <a:rPr b="1" lang="en" sz="900" u="sng">
                <a:solidFill>
                  <a:srgbClr val="0097A7"/>
                </a:solidFill>
                <a:hlinkClick r:id="rId5">
                  <a:extLst>
                    <a:ext uri="{A12FA001-AC4F-418D-AE19-62706E023703}">
                      <ahyp:hlinkClr val="tx"/>
                    </a:ext>
                  </a:extLst>
                </a:hlinkClick>
              </a:rPr>
              <a:t>https://creativecommons.org/licenses/by-nc-sa/4.0/</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500"/>
          </a:p>
        </p:txBody>
      </p:sp>
      <p:pic>
        <p:nvPicPr>
          <p:cNvPr id="67" name="Google Shape;67;p14"/>
          <p:cNvPicPr preferRelativeResize="0"/>
          <p:nvPr/>
        </p:nvPicPr>
        <p:blipFill rotWithShape="1">
          <a:blip r:embed="rId6">
            <a:alphaModFix/>
          </a:blip>
          <a:srcRect b="0" l="0" r="0" t="0"/>
          <a:stretch/>
        </p:blipFill>
        <p:spPr>
          <a:xfrm>
            <a:off x="2222148" y="2079000"/>
            <a:ext cx="6769501" cy="18567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3" name="Google Shape;73;p15"/>
          <p:cNvSpPr txBox="1"/>
          <p:nvPr/>
        </p:nvSpPr>
        <p:spPr>
          <a:xfrm>
            <a:off x="311700" y="354600"/>
            <a:ext cx="4629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solidFill>
                  <a:schemeClr val="dk1"/>
                </a:solidFill>
              </a:rPr>
              <a:t>Learning Objectives</a:t>
            </a:r>
            <a:endParaRPr/>
          </a:p>
        </p:txBody>
      </p:sp>
      <p:sp>
        <p:nvSpPr>
          <p:cNvPr id="74" name="Google Shape;74;p15"/>
          <p:cNvSpPr txBox="1"/>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i="1" lang="en" sz="2000">
                <a:solidFill>
                  <a:schemeClr val="dk1"/>
                </a:solidFill>
              </a:rPr>
              <a:t>Students should be able to: </a:t>
            </a:r>
            <a:endParaRPr i="1" sz="2000">
              <a:solidFill>
                <a:schemeClr val="dk1"/>
              </a:solidFill>
            </a:endParaRPr>
          </a:p>
          <a:p>
            <a:pPr indent="-355600" lvl="0" marL="457200" rtl="0" algn="l">
              <a:spcBef>
                <a:spcPts val="1200"/>
              </a:spcBef>
              <a:spcAft>
                <a:spcPts val="0"/>
              </a:spcAft>
              <a:buClr>
                <a:schemeClr val="dk1"/>
              </a:buClr>
              <a:buSzPts val="2000"/>
              <a:buChar char="●"/>
            </a:pPr>
            <a:r>
              <a:rPr lang="en" sz="2000">
                <a:solidFill>
                  <a:schemeClr val="dk1"/>
                </a:solidFill>
              </a:rPr>
              <a:t>List various ways in which they or people around them use language to interact with computers in their daily lives.</a:t>
            </a:r>
            <a:endParaRPr sz="2000">
              <a:solidFill>
                <a:schemeClr val="dk1"/>
              </a:solidFill>
            </a:endParaRPr>
          </a:p>
          <a:p>
            <a:pPr indent="-355600" lvl="0" marL="457200" rtl="0" algn="l">
              <a:spcBef>
                <a:spcPts val="0"/>
              </a:spcBef>
              <a:spcAft>
                <a:spcPts val="0"/>
              </a:spcAft>
              <a:buClr>
                <a:schemeClr val="dk1"/>
              </a:buClr>
              <a:buSzPts val="2000"/>
              <a:buChar char="●"/>
            </a:pPr>
            <a:r>
              <a:rPr lang="en" sz="2000">
                <a:solidFill>
                  <a:schemeClr val="dk1"/>
                </a:solidFill>
              </a:rPr>
              <a:t>Distinguish concepts such as speech recognition, speech generation, and question answering.</a:t>
            </a:r>
            <a:endParaRPr sz="2000">
              <a:solidFill>
                <a:schemeClr val="dk1"/>
              </a:solidFill>
            </a:endParaRPr>
          </a:p>
          <a:p>
            <a:pPr indent="0" lvl="0" marL="457200" rtl="0" algn="l">
              <a:spcBef>
                <a:spcPts val="0"/>
              </a:spcBef>
              <a:spcAft>
                <a:spcPts val="0"/>
              </a:spcAft>
              <a:buNone/>
            </a:pPr>
            <a:r>
              <a:t/>
            </a:r>
            <a:endParaRPr sz="2000">
              <a:solidFill>
                <a:srgbClr val="59595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129240" y="2201184"/>
            <a:ext cx="8520600" cy="841800"/>
          </a:xfrm>
          <a:prstGeom prst="rect">
            <a:avLst/>
          </a:prstGeom>
          <a:noFill/>
          <a:ln>
            <a:noFill/>
          </a:ln>
        </p:spPr>
        <p:txBody>
          <a:bodyPr anchorCtr="0" anchor="ctr" bIns="91425" lIns="91425" spcFirstLastPara="1" rIns="91425" wrap="square" tIns="91425">
            <a:normAutofit fontScale="90000"/>
          </a:bodyPr>
          <a:lstStyle/>
          <a:p>
            <a:pPr indent="0" lvl="0" marL="0" rtl="0" algn="r">
              <a:lnSpc>
                <a:spcPct val="100000"/>
              </a:lnSpc>
              <a:spcBef>
                <a:spcPts val="0"/>
              </a:spcBef>
              <a:spcAft>
                <a:spcPts val="0"/>
              </a:spcAft>
              <a:buClr>
                <a:srgbClr val="262626"/>
              </a:buClr>
              <a:buSzPct val="128571"/>
              <a:buFont typeface="Garamond"/>
              <a:buNone/>
            </a:pPr>
            <a:r>
              <a:rPr lang="en" sz="2800"/>
              <a:t>How do computers interact with humans using language?</a:t>
            </a:r>
            <a:endParaRPr/>
          </a:p>
        </p:txBody>
      </p:sp>
      <p:sp>
        <p:nvSpPr>
          <p:cNvPr id="80" name="Google Shape;80;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chemeClr val="dk2"/>
                </a:solidFill>
                <a:latin typeface="Arial"/>
                <a:ea typeface="Arial"/>
                <a:cs typeface="Arial"/>
                <a:sym typeface="Arial"/>
              </a:rPr>
              <a:t>‹#›</a:t>
            </a:fld>
            <a:endParaRPr sz="1000">
              <a:solidFill>
                <a:schemeClr val="dk2"/>
              </a:solidFill>
              <a:latin typeface="Arial"/>
              <a:ea typeface="Arial"/>
              <a:cs typeface="Arial"/>
              <a:sym typeface="Arial"/>
            </a:endParaRPr>
          </a:p>
        </p:txBody>
      </p:sp>
      <p:sp>
        <p:nvSpPr>
          <p:cNvPr id="81" name="Google Shape;81;p16"/>
          <p:cNvSpPr/>
          <p:nvPr/>
        </p:nvSpPr>
        <p:spPr>
          <a:xfrm>
            <a:off x="453006" y="3287098"/>
            <a:ext cx="8196834" cy="644700"/>
          </a:xfrm>
          <a:prstGeom prst="rect">
            <a:avLst/>
          </a:prstGeom>
          <a:solidFill>
            <a:srgbClr val="FCE5C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lang="en" sz="2400"/>
              <a:t>Think Pair Share (TPS)</a:t>
            </a:r>
            <a:r>
              <a:rPr b="0" i="0" lang="en" sz="2400" u="none" cap="none" strike="noStrike">
                <a:solidFill>
                  <a:srgbClr val="000000"/>
                </a:solidFill>
                <a:latin typeface="Arial"/>
                <a:ea typeface="Arial"/>
                <a:cs typeface="Arial"/>
                <a:sym typeface="Arial"/>
              </a:rPr>
              <a:t> - Discussion</a:t>
            </a:r>
            <a:endParaRPr b="0" i="0" sz="2400" u="none" cap="none" strike="noStrike">
              <a:solidFill>
                <a:srgbClr val="000000"/>
              </a:solidFill>
              <a:latin typeface="Arial"/>
              <a:ea typeface="Arial"/>
              <a:cs typeface="Arial"/>
              <a:sym typeface="Arial"/>
            </a:endParaRPr>
          </a:p>
        </p:txBody>
      </p:sp>
      <p:pic>
        <p:nvPicPr>
          <p:cNvPr descr="459 Panel Discussion Illustrations &amp;amp; Clip Art - iStock" id="82" name="Google Shape;82;p16"/>
          <p:cNvPicPr preferRelativeResize="0"/>
          <p:nvPr/>
        </p:nvPicPr>
        <p:blipFill rotWithShape="1">
          <a:blip r:embed="rId3">
            <a:alphaModFix/>
          </a:blip>
          <a:srcRect b="0" l="0" r="0" t="0"/>
          <a:stretch/>
        </p:blipFill>
        <p:spPr>
          <a:xfrm>
            <a:off x="2588193" y="580951"/>
            <a:ext cx="3602693" cy="1801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id="87" name="Google Shape;87;p17"/>
          <p:cNvPicPr preferRelativeResize="0"/>
          <p:nvPr/>
        </p:nvPicPr>
        <p:blipFill rotWithShape="1">
          <a:blip r:embed="rId3">
            <a:alphaModFix/>
          </a:blip>
          <a:srcRect b="0" l="0" r="0" t="0"/>
          <a:stretch/>
        </p:blipFill>
        <p:spPr>
          <a:xfrm>
            <a:off x="4109000" y="2547684"/>
            <a:ext cx="3124025" cy="2000835"/>
          </a:xfrm>
          <a:prstGeom prst="rect">
            <a:avLst/>
          </a:prstGeom>
          <a:noFill/>
          <a:ln>
            <a:noFill/>
          </a:ln>
        </p:spPr>
      </p:pic>
      <p:pic>
        <p:nvPicPr>
          <p:cNvPr id="88" name="Google Shape;88;p17"/>
          <p:cNvPicPr preferRelativeResize="0"/>
          <p:nvPr/>
        </p:nvPicPr>
        <p:blipFill rotWithShape="1">
          <a:blip r:embed="rId4">
            <a:alphaModFix/>
          </a:blip>
          <a:srcRect b="0" l="0" r="0" t="0"/>
          <a:stretch/>
        </p:blipFill>
        <p:spPr>
          <a:xfrm>
            <a:off x="2455888" y="453601"/>
            <a:ext cx="2963673" cy="1976750"/>
          </a:xfrm>
          <a:prstGeom prst="rect">
            <a:avLst/>
          </a:prstGeom>
          <a:noFill/>
          <a:ln>
            <a:noFill/>
          </a:ln>
        </p:spPr>
      </p:pic>
      <p:pic>
        <p:nvPicPr>
          <p:cNvPr id="89" name="Google Shape;89;p17"/>
          <p:cNvPicPr preferRelativeResize="0"/>
          <p:nvPr/>
        </p:nvPicPr>
        <p:blipFill rotWithShape="1">
          <a:blip r:embed="rId5">
            <a:alphaModFix/>
          </a:blip>
          <a:srcRect b="0" l="0" r="0" t="0"/>
          <a:stretch/>
        </p:blipFill>
        <p:spPr>
          <a:xfrm>
            <a:off x="597338" y="2709793"/>
            <a:ext cx="3457737" cy="1820538"/>
          </a:xfrm>
          <a:prstGeom prst="rect">
            <a:avLst/>
          </a:prstGeom>
          <a:noFill/>
          <a:ln>
            <a:noFill/>
          </a:ln>
        </p:spPr>
      </p:pic>
      <p:pic>
        <p:nvPicPr>
          <p:cNvPr id="90" name="Google Shape;90;p17"/>
          <p:cNvPicPr preferRelativeResize="0"/>
          <p:nvPr/>
        </p:nvPicPr>
        <p:blipFill rotWithShape="1">
          <a:blip r:embed="rId6">
            <a:alphaModFix/>
          </a:blip>
          <a:srcRect b="0" l="0" r="0" t="0"/>
          <a:stretch/>
        </p:blipFill>
        <p:spPr>
          <a:xfrm>
            <a:off x="5534725" y="526055"/>
            <a:ext cx="3000326" cy="2045695"/>
          </a:xfrm>
          <a:prstGeom prst="rect">
            <a:avLst/>
          </a:prstGeom>
          <a:noFill/>
          <a:ln>
            <a:noFill/>
          </a:ln>
        </p:spPr>
      </p:pic>
      <p:sp>
        <p:nvSpPr>
          <p:cNvPr id="91" name="Google Shape;91;p17"/>
          <p:cNvSpPr txBox="1"/>
          <p:nvPr/>
        </p:nvSpPr>
        <p:spPr>
          <a:xfrm>
            <a:off x="195150" y="320600"/>
            <a:ext cx="1993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2" name="Google Shape;92;p17"/>
          <p:cNvPicPr preferRelativeResize="0"/>
          <p:nvPr/>
        </p:nvPicPr>
        <p:blipFill rotWithShape="1">
          <a:blip r:embed="rId7">
            <a:alphaModFix/>
          </a:blip>
          <a:srcRect b="0" l="14449" r="0" t="0"/>
          <a:stretch/>
        </p:blipFill>
        <p:spPr>
          <a:xfrm>
            <a:off x="597352" y="1172500"/>
            <a:ext cx="1993200" cy="1343500"/>
          </a:xfrm>
          <a:prstGeom prst="rect">
            <a:avLst/>
          </a:prstGeom>
          <a:noFill/>
          <a:ln>
            <a:noFill/>
          </a:ln>
        </p:spPr>
      </p:pic>
      <p:sp>
        <p:nvSpPr>
          <p:cNvPr id="93" name="Google Shape;93;p17"/>
          <p:cNvSpPr txBox="1"/>
          <p:nvPr/>
        </p:nvSpPr>
        <p:spPr>
          <a:xfrm>
            <a:off x="671487" y="526055"/>
            <a:ext cx="2126700" cy="446400"/>
          </a:xfrm>
          <a:prstGeom prst="rect">
            <a:avLst/>
          </a:prstGeom>
          <a:solidFill>
            <a:srgbClr val="FCE5CD">
              <a:alpha val="33960"/>
            </a:srgbClr>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000000"/>
                </a:solidFill>
                <a:latin typeface="Arial"/>
                <a:ea typeface="Arial"/>
                <a:cs typeface="Arial"/>
                <a:sym typeface="Arial"/>
              </a:rPr>
              <a:t>Speech to Text</a:t>
            </a:r>
            <a:endParaRPr b="1" i="0" sz="1700" u="none" cap="none" strike="noStrike">
              <a:solidFill>
                <a:srgbClr val="000000"/>
              </a:solidFill>
              <a:latin typeface="Arial"/>
              <a:ea typeface="Arial"/>
              <a:cs typeface="Arial"/>
              <a:sym typeface="Arial"/>
            </a:endParaRPr>
          </a:p>
        </p:txBody>
      </p:sp>
      <p:sp>
        <p:nvSpPr>
          <p:cNvPr id="94" name="Google Shape;94;p17"/>
          <p:cNvSpPr txBox="1"/>
          <p:nvPr/>
        </p:nvSpPr>
        <p:spPr>
          <a:xfrm>
            <a:off x="2652976" y="2333250"/>
            <a:ext cx="2569500" cy="477000"/>
          </a:xfrm>
          <a:prstGeom prst="rect">
            <a:avLst/>
          </a:prstGeom>
          <a:solidFill>
            <a:srgbClr val="FCE5CD">
              <a:alpha val="33960"/>
            </a:srgbClr>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n" sz="1900" u="none" cap="none" strike="noStrike">
                <a:solidFill>
                  <a:srgbClr val="000000"/>
                </a:solidFill>
                <a:latin typeface="Arial"/>
                <a:ea typeface="Arial"/>
                <a:cs typeface="Arial"/>
                <a:sym typeface="Arial"/>
              </a:rPr>
              <a:t>Speech Recognition</a:t>
            </a:r>
            <a:endParaRPr b="1" i="0" sz="1900" u="none" cap="none" strike="noStrike">
              <a:solidFill>
                <a:srgbClr val="000000"/>
              </a:solidFill>
              <a:latin typeface="Arial"/>
              <a:ea typeface="Arial"/>
              <a:cs typeface="Arial"/>
              <a:sym typeface="Arial"/>
            </a:endParaRPr>
          </a:p>
        </p:txBody>
      </p:sp>
      <p:sp>
        <p:nvSpPr>
          <p:cNvPr id="95" name="Google Shape;95;p17"/>
          <p:cNvSpPr txBox="1"/>
          <p:nvPr/>
        </p:nvSpPr>
        <p:spPr>
          <a:xfrm>
            <a:off x="1479000" y="4665850"/>
            <a:ext cx="3163200" cy="446400"/>
          </a:xfrm>
          <a:prstGeom prst="rect">
            <a:avLst/>
          </a:prstGeom>
          <a:solidFill>
            <a:srgbClr val="EEEEEE">
              <a:alpha val="34509"/>
            </a:srgbClr>
          </a:solid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700"/>
              <a:buFont typeface="Arial"/>
              <a:buNone/>
            </a:pPr>
            <a:r>
              <a:rPr b="1" i="0" lang="en" sz="1700" u="none" cap="none" strike="noStrike">
                <a:solidFill>
                  <a:schemeClr val="lt2"/>
                </a:solidFill>
                <a:latin typeface="Arial"/>
                <a:ea typeface="Arial"/>
                <a:cs typeface="Arial"/>
                <a:sym typeface="Arial"/>
              </a:rPr>
              <a:t>Smart TV Voice Commands</a:t>
            </a:r>
            <a:endParaRPr b="1" i="0" sz="1700" u="none" cap="none" strike="noStrike">
              <a:solidFill>
                <a:schemeClr val="lt2"/>
              </a:solidFill>
              <a:latin typeface="Arial"/>
              <a:ea typeface="Arial"/>
              <a:cs typeface="Arial"/>
              <a:sym typeface="Arial"/>
            </a:endParaRPr>
          </a:p>
        </p:txBody>
      </p:sp>
      <p:sp>
        <p:nvSpPr>
          <p:cNvPr id="96" name="Google Shape;96;p17"/>
          <p:cNvSpPr txBox="1"/>
          <p:nvPr/>
        </p:nvSpPr>
        <p:spPr>
          <a:xfrm>
            <a:off x="7124700" y="2512750"/>
            <a:ext cx="1993200" cy="1354500"/>
          </a:xfrm>
          <a:prstGeom prst="rect">
            <a:avLst/>
          </a:prstGeom>
          <a:solidFill>
            <a:srgbClr val="FCE5CD">
              <a:alpha val="33960"/>
            </a:srgbClr>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n" sz="1900" u="none" cap="none" strike="noStrike">
                <a:solidFill>
                  <a:schemeClr val="dk1"/>
                </a:solidFill>
                <a:latin typeface="Arial"/>
                <a:ea typeface="Arial"/>
                <a:cs typeface="Arial"/>
                <a:sym typeface="Arial"/>
              </a:rPr>
              <a:t>Siri, Alexa, Google Intelligent Assistants</a:t>
            </a:r>
            <a:endParaRPr b="1" i="0" sz="1900" u="none" cap="none" strike="noStrike">
              <a:solidFill>
                <a:schemeClr val="dk1"/>
              </a:solidFill>
              <a:latin typeface="Arial"/>
              <a:ea typeface="Arial"/>
              <a:cs typeface="Arial"/>
              <a:sym typeface="Arial"/>
            </a:endParaRPr>
          </a:p>
        </p:txBody>
      </p:sp>
      <p:sp>
        <p:nvSpPr>
          <p:cNvPr id="97" name="Google Shape;97;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chemeClr val="dk2"/>
                </a:solidFill>
                <a:latin typeface="Arial"/>
                <a:ea typeface="Arial"/>
                <a:cs typeface="Arial"/>
                <a:sym typeface="Arial"/>
              </a:rPr>
              <a:t>‹#›</a:t>
            </a:fld>
            <a:endParaRPr sz="1000">
              <a:solidFill>
                <a:schemeClr val="dk2"/>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p18"/>
          <p:cNvPicPr preferRelativeResize="0"/>
          <p:nvPr/>
        </p:nvPicPr>
        <p:blipFill rotWithShape="1">
          <a:blip r:embed="rId3">
            <a:alphaModFix/>
          </a:blip>
          <a:srcRect b="0" l="0" r="0" t="0"/>
          <a:stretch/>
        </p:blipFill>
        <p:spPr>
          <a:xfrm>
            <a:off x="3057707" y="2967150"/>
            <a:ext cx="2696771" cy="1627489"/>
          </a:xfrm>
          <a:prstGeom prst="rect">
            <a:avLst/>
          </a:prstGeom>
          <a:noFill/>
          <a:ln>
            <a:noFill/>
          </a:ln>
        </p:spPr>
      </p:pic>
      <p:sp>
        <p:nvSpPr>
          <p:cNvPr id="103" name="Google Shape;103;p18"/>
          <p:cNvSpPr txBox="1"/>
          <p:nvPr>
            <p:ph idx="1" type="body"/>
          </p:nvPr>
        </p:nvSpPr>
        <p:spPr>
          <a:xfrm>
            <a:off x="582550" y="3734282"/>
            <a:ext cx="3127500" cy="461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1200"/>
              </a:spcAft>
              <a:buSzPts val="3273"/>
              <a:buNone/>
            </a:pPr>
            <a:r>
              <a:rPr lang="en">
                <a:latin typeface="Arial"/>
                <a:ea typeface="Arial"/>
                <a:cs typeface="Arial"/>
                <a:sym typeface="Arial"/>
              </a:rPr>
              <a:t>Document search</a:t>
            </a:r>
            <a:endParaRPr>
              <a:latin typeface="Arial"/>
              <a:ea typeface="Arial"/>
              <a:cs typeface="Arial"/>
              <a:sym typeface="Arial"/>
            </a:endParaRPr>
          </a:p>
        </p:txBody>
      </p:sp>
      <p:sp>
        <p:nvSpPr>
          <p:cNvPr id="104" name="Google Shape;104;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chemeClr val="dk2"/>
                </a:solidFill>
                <a:latin typeface="Arial"/>
                <a:ea typeface="Arial"/>
                <a:cs typeface="Arial"/>
                <a:sym typeface="Arial"/>
              </a:rPr>
              <a:t>‹#›</a:t>
            </a:fld>
            <a:endParaRPr sz="1000">
              <a:solidFill>
                <a:schemeClr val="dk2"/>
              </a:solidFill>
              <a:latin typeface="Arial"/>
              <a:ea typeface="Arial"/>
              <a:cs typeface="Arial"/>
              <a:sym typeface="Arial"/>
            </a:endParaRPr>
          </a:p>
        </p:txBody>
      </p:sp>
      <p:pic>
        <p:nvPicPr>
          <p:cNvPr id="105" name="Google Shape;105;p18"/>
          <p:cNvPicPr preferRelativeResize="0"/>
          <p:nvPr/>
        </p:nvPicPr>
        <p:blipFill rotWithShape="1">
          <a:blip r:embed="rId4">
            <a:alphaModFix/>
          </a:blip>
          <a:srcRect b="0" l="5320" r="0" t="0"/>
          <a:stretch/>
        </p:blipFill>
        <p:spPr>
          <a:xfrm>
            <a:off x="2659826" y="696285"/>
            <a:ext cx="2585480" cy="1767789"/>
          </a:xfrm>
          <a:prstGeom prst="rect">
            <a:avLst/>
          </a:prstGeom>
          <a:noFill/>
          <a:ln>
            <a:noFill/>
          </a:ln>
        </p:spPr>
      </p:pic>
      <p:sp>
        <p:nvSpPr>
          <p:cNvPr id="106" name="Google Shape;106;p18"/>
          <p:cNvSpPr txBox="1"/>
          <p:nvPr/>
        </p:nvSpPr>
        <p:spPr>
          <a:xfrm>
            <a:off x="2821421" y="234569"/>
            <a:ext cx="2267400" cy="461700"/>
          </a:xfrm>
          <a:prstGeom prst="rect">
            <a:avLst/>
          </a:prstGeom>
          <a:solidFill>
            <a:srgbClr val="FCE5CD">
              <a:alpha val="33960"/>
            </a:srgbClr>
          </a:solid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chemeClr val="dk1"/>
              </a:buClr>
              <a:buSzPts val="1100"/>
              <a:buFont typeface="Arial"/>
              <a:buNone/>
            </a:pPr>
            <a:r>
              <a:rPr b="0" i="0" lang="en" sz="1800" u="none" cap="none" strike="noStrike">
                <a:solidFill>
                  <a:srgbClr val="262626"/>
                </a:solidFill>
                <a:latin typeface="Arial"/>
                <a:ea typeface="Arial"/>
                <a:cs typeface="Arial"/>
                <a:sym typeface="Arial"/>
              </a:rPr>
              <a:t>Machine translation</a:t>
            </a:r>
            <a:endParaRPr b="0" i="0" sz="1400" u="none" cap="none" strike="noStrike">
              <a:solidFill>
                <a:srgbClr val="262626"/>
              </a:solidFill>
              <a:latin typeface="Arial"/>
              <a:ea typeface="Arial"/>
              <a:cs typeface="Arial"/>
              <a:sym typeface="Arial"/>
            </a:endParaRPr>
          </a:p>
        </p:txBody>
      </p:sp>
      <p:pic>
        <p:nvPicPr>
          <p:cNvPr id="107" name="Google Shape;107;p18"/>
          <p:cNvPicPr preferRelativeResize="0"/>
          <p:nvPr/>
        </p:nvPicPr>
        <p:blipFill rotWithShape="1">
          <a:blip r:embed="rId5">
            <a:alphaModFix/>
          </a:blip>
          <a:srcRect b="0" l="0" r="0" t="0"/>
          <a:stretch/>
        </p:blipFill>
        <p:spPr>
          <a:xfrm>
            <a:off x="5665404" y="2886550"/>
            <a:ext cx="2609536" cy="1618338"/>
          </a:xfrm>
          <a:prstGeom prst="rect">
            <a:avLst/>
          </a:prstGeom>
          <a:noFill/>
          <a:ln>
            <a:noFill/>
          </a:ln>
        </p:spPr>
      </p:pic>
      <p:sp>
        <p:nvSpPr>
          <p:cNvPr id="108" name="Google Shape;108;p18"/>
          <p:cNvSpPr txBox="1"/>
          <p:nvPr/>
        </p:nvSpPr>
        <p:spPr>
          <a:xfrm>
            <a:off x="5397706" y="2513488"/>
            <a:ext cx="3275400" cy="461700"/>
          </a:xfrm>
          <a:prstGeom prst="rect">
            <a:avLst/>
          </a:prstGeom>
          <a:solidFill>
            <a:srgbClr val="FCE5CD">
              <a:alpha val="33960"/>
            </a:srgbClr>
          </a:solid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800"/>
              <a:buFont typeface="Arial"/>
              <a:buNone/>
            </a:pPr>
            <a:r>
              <a:rPr b="0" i="0" lang="en" sz="1800" u="none" cap="none" strike="noStrike">
                <a:solidFill>
                  <a:srgbClr val="262626"/>
                </a:solidFill>
                <a:latin typeface="Arial"/>
                <a:ea typeface="Arial"/>
                <a:cs typeface="Arial"/>
                <a:sym typeface="Arial"/>
              </a:rPr>
              <a:t>Understanding search queries</a:t>
            </a:r>
            <a:endParaRPr b="0" i="0" sz="1400" u="none" cap="none" strike="noStrike">
              <a:solidFill>
                <a:srgbClr val="262626"/>
              </a:solidFill>
              <a:latin typeface="Arial"/>
              <a:ea typeface="Arial"/>
              <a:cs typeface="Arial"/>
              <a:sym typeface="Arial"/>
            </a:endParaRPr>
          </a:p>
        </p:txBody>
      </p:sp>
      <p:pic>
        <p:nvPicPr>
          <p:cNvPr id="109" name="Google Shape;109;p18"/>
          <p:cNvPicPr preferRelativeResize="0"/>
          <p:nvPr/>
        </p:nvPicPr>
        <p:blipFill rotWithShape="1">
          <a:blip r:embed="rId6">
            <a:alphaModFix/>
          </a:blip>
          <a:srcRect b="0" l="0" r="0" t="0"/>
          <a:stretch/>
        </p:blipFill>
        <p:spPr>
          <a:xfrm>
            <a:off x="5394285" y="582949"/>
            <a:ext cx="3352523" cy="1856151"/>
          </a:xfrm>
          <a:prstGeom prst="rect">
            <a:avLst/>
          </a:prstGeom>
          <a:noFill/>
          <a:ln>
            <a:noFill/>
          </a:ln>
        </p:spPr>
      </p:pic>
      <p:sp>
        <p:nvSpPr>
          <p:cNvPr id="110" name="Google Shape;110;p18"/>
          <p:cNvSpPr txBox="1"/>
          <p:nvPr/>
        </p:nvSpPr>
        <p:spPr>
          <a:xfrm>
            <a:off x="5665401" y="234575"/>
            <a:ext cx="2777400" cy="461700"/>
          </a:xfrm>
          <a:prstGeom prst="rect">
            <a:avLst/>
          </a:prstGeom>
          <a:solidFill>
            <a:srgbClr val="FCE5CD">
              <a:alpha val="33960"/>
            </a:srgbClr>
          </a:solidFill>
          <a:ln>
            <a:noFill/>
          </a:ln>
        </p:spPr>
        <p:txBody>
          <a:bodyPr anchorCtr="0" anchor="t" bIns="91425" lIns="91425" spcFirstLastPara="1" rIns="91425" wrap="square" tIns="91425">
            <a:spAutoFit/>
          </a:bodyPr>
          <a:lstStyle/>
          <a:p>
            <a:pPr indent="0" lvl="0" marL="0" marR="0" rtl="0" algn="r">
              <a:lnSpc>
                <a:spcPct val="115000"/>
              </a:lnSpc>
              <a:spcBef>
                <a:spcPts val="0"/>
              </a:spcBef>
              <a:spcAft>
                <a:spcPts val="1200"/>
              </a:spcAft>
              <a:buClr>
                <a:srgbClr val="000000"/>
              </a:buClr>
              <a:buSzPts val="1800"/>
              <a:buFont typeface="Arial"/>
              <a:buNone/>
            </a:pPr>
            <a:r>
              <a:rPr b="0" i="0" lang="en" sz="1800" u="none" cap="none" strike="noStrike">
                <a:solidFill>
                  <a:srgbClr val="262626"/>
                </a:solidFill>
                <a:latin typeface="Arial"/>
                <a:ea typeface="Arial"/>
                <a:cs typeface="Arial"/>
                <a:sym typeface="Arial"/>
              </a:rPr>
              <a:t>Automatic Transcription</a:t>
            </a:r>
            <a:endParaRPr b="0" i="0" sz="1800" u="none" cap="none" strike="noStrike">
              <a:solidFill>
                <a:srgbClr val="262626"/>
              </a:solidFill>
              <a:latin typeface="Arial"/>
              <a:ea typeface="Arial"/>
              <a:cs typeface="Arial"/>
              <a:sym typeface="Arial"/>
            </a:endParaRPr>
          </a:p>
        </p:txBody>
      </p:sp>
      <p:pic>
        <p:nvPicPr>
          <p:cNvPr id="111" name="Google Shape;111;p18"/>
          <p:cNvPicPr preferRelativeResize="0"/>
          <p:nvPr/>
        </p:nvPicPr>
        <p:blipFill rotWithShape="1">
          <a:blip r:embed="rId7">
            <a:alphaModFix/>
          </a:blip>
          <a:srcRect b="0" l="0" r="0" t="13889"/>
          <a:stretch/>
        </p:blipFill>
        <p:spPr>
          <a:xfrm>
            <a:off x="525734" y="872731"/>
            <a:ext cx="1940130" cy="762813"/>
          </a:xfrm>
          <a:prstGeom prst="rect">
            <a:avLst/>
          </a:prstGeom>
          <a:noFill/>
          <a:ln>
            <a:noFill/>
          </a:ln>
        </p:spPr>
      </p:pic>
      <p:sp>
        <p:nvSpPr>
          <p:cNvPr id="112" name="Google Shape;112;p18"/>
          <p:cNvSpPr txBox="1"/>
          <p:nvPr/>
        </p:nvSpPr>
        <p:spPr>
          <a:xfrm>
            <a:off x="432450" y="234575"/>
            <a:ext cx="2126700" cy="461700"/>
          </a:xfrm>
          <a:prstGeom prst="rect">
            <a:avLst/>
          </a:prstGeom>
          <a:solidFill>
            <a:srgbClr val="FCE5CD">
              <a:alpha val="33960"/>
            </a:srgbClr>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700"/>
              <a:buFont typeface="Arial"/>
              <a:buNone/>
            </a:pPr>
            <a:r>
              <a:rPr i="0" lang="en" sz="1800" u="none" cap="none" strike="noStrike">
                <a:solidFill>
                  <a:srgbClr val="262626"/>
                </a:solidFill>
              </a:rPr>
              <a:t>Text to Speech</a:t>
            </a:r>
            <a:endParaRPr i="0" sz="1800" u="none" cap="none" strike="noStrike">
              <a:solidFill>
                <a:srgbClr val="262626"/>
              </a:solidFill>
            </a:endParaRPr>
          </a:p>
        </p:txBody>
      </p:sp>
      <p:pic>
        <p:nvPicPr>
          <p:cNvPr id="113" name="Google Shape;113;p18"/>
          <p:cNvPicPr preferRelativeResize="0"/>
          <p:nvPr/>
        </p:nvPicPr>
        <p:blipFill rotWithShape="1">
          <a:blip r:embed="rId8">
            <a:alphaModFix/>
          </a:blip>
          <a:srcRect b="0" l="0" r="0" t="0"/>
          <a:stretch/>
        </p:blipFill>
        <p:spPr>
          <a:xfrm>
            <a:off x="671119" y="2083075"/>
            <a:ext cx="2139857" cy="1440301"/>
          </a:xfrm>
          <a:prstGeom prst="rect">
            <a:avLst/>
          </a:prstGeom>
          <a:noFill/>
          <a:ln>
            <a:noFill/>
          </a:ln>
        </p:spPr>
      </p:pic>
      <p:pic>
        <p:nvPicPr>
          <p:cNvPr id="114" name="Google Shape;114;p18"/>
          <p:cNvPicPr preferRelativeResize="0"/>
          <p:nvPr/>
        </p:nvPicPr>
        <p:blipFill rotWithShape="1">
          <a:blip r:embed="rId9">
            <a:alphaModFix/>
          </a:blip>
          <a:srcRect b="0" l="0" r="0" t="0"/>
          <a:stretch/>
        </p:blipFill>
        <p:spPr>
          <a:xfrm>
            <a:off x="525734" y="4145770"/>
            <a:ext cx="2510765" cy="448869"/>
          </a:xfrm>
          <a:prstGeom prst="rect">
            <a:avLst/>
          </a:prstGeom>
          <a:noFill/>
          <a:ln>
            <a:noFill/>
          </a:ln>
        </p:spPr>
      </p:pic>
      <p:sp>
        <p:nvSpPr>
          <p:cNvPr id="115" name="Google Shape;115;p18"/>
          <p:cNvSpPr txBox="1"/>
          <p:nvPr/>
        </p:nvSpPr>
        <p:spPr>
          <a:xfrm>
            <a:off x="3040825" y="2505450"/>
            <a:ext cx="2126700" cy="461700"/>
          </a:xfrm>
          <a:prstGeom prst="rect">
            <a:avLst/>
          </a:prstGeom>
          <a:solidFill>
            <a:srgbClr val="FCE5CD">
              <a:alpha val="33960"/>
            </a:srgbClr>
          </a:solid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800"/>
              <a:buFont typeface="Arial"/>
              <a:buNone/>
            </a:pPr>
            <a:r>
              <a:rPr lang="en" sz="1800">
                <a:solidFill>
                  <a:srgbClr val="262626"/>
                </a:solidFill>
              </a:rPr>
              <a:t>   </a:t>
            </a:r>
            <a:r>
              <a:rPr b="0" i="0" lang="en" sz="1800" u="none" cap="none" strike="noStrike">
                <a:solidFill>
                  <a:srgbClr val="262626"/>
                </a:solidFill>
                <a:latin typeface="Arial"/>
                <a:ea typeface="Arial"/>
                <a:cs typeface="Arial"/>
                <a:sym typeface="Arial"/>
              </a:rPr>
              <a:t>Text generation </a:t>
            </a:r>
            <a:endParaRPr b="0" i="0" sz="1800" u="none" cap="none" strike="noStrike">
              <a:solidFill>
                <a:srgbClr val="262626"/>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Clr>
                <a:srgbClr val="262626"/>
              </a:buClr>
              <a:buSzPct val="111111"/>
              <a:buFont typeface="Garamond"/>
              <a:buNone/>
            </a:pPr>
            <a:r>
              <a:rPr lang="en"/>
              <a:t>*Try It: Use a Smart Assistant </a:t>
            </a:r>
            <a:endParaRPr/>
          </a:p>
        </p:txBody>
      </p:sp>
      <p:sp>
        <p:nvSpPr>
          <p:cNvPr id="121" name="Google Shape;121;p19"/>
          <p:cNvSpPr txBox="1"/>
          <p:nvPr>
            <p:ph idx="1" type="body"/>
          </p:nvPr>
        </p:nvSpPr>
        <p:spPr>
          <a:xfrm>
            <a:off x="705979" y="1246825"/>
            <a:ext cx="4504500" cy="3416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rPr b="1" lang="en" sz="1700">
                <a:solidFill>
                  <a:schemeClr val="dk1"/>
                </a:solidFill>
              </a:rPr>
              <a:t>Directions:</a:t>
            </a:r>
            <a:endParaRPr b="1" sz="17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700">
                <a:solidFill>
                  <a:schemeClr val="dk1"/>
                </a:solidFill>
              </a:rPr>
              <a:t>Use Google Assistant in Chrome Browser</a:t>
            </a:r>
            <a:endParaRPr sz="1700">
              <a:solidFill>
                <a:schemeClr val="dk1"/>
              </a:solidFill>
            </a:endParaRPr>
          </a:p>
          <a:p>
            <a:pPr indent="0" lvl="0" marL="0" rtl="0" algn="l">
              <a:lnSpc>
                <a:spcPct val="100000"/>
              </a:lnSpc>
              <a:spcBef>
                <a:spcPts val="0"/>
              </a:spcBef>
              <a:spcAft>
                <a:spcPts val="0"/>
              </a:spcAft>
              <a:buSzPts val="1800"/>
              <a:buNone/>
            </a:pPr>
            <a:r>
              <a:rPr b="1" lang="en" sz="1700">
                <a:solidFill>
                  <a:schemeClr val="dk1"/>
                </a:solidFill>
              </a:rPr>
              <a:t>Or </a:t>
            </a:r>
            <a:endParaRPr b="1" sz="17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700">
                <a:solidFill>
                  <a:schemeClr val="dk1"/>
                </a:solidFill>
              </a:rPr>
              <a:t>Use speech input to Google search</a:t>
            </a:r>
            <a:endParaRPr sz="17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700">
                <a:solidFill>
                  <a:schemeClr val="dk1"/>
                </a:solidFill>
              </a:rPr>
              <a:t>or</a:t>
            </a:r>
            <a:endParaRPr sz="17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700">
                <a:solidFill>
                  <a:schemeClr val="dk1"/>
                </a:solidFill>
              </a:rPr>
              <a:t>*Ask Alexa or Siri what the weather is outside. (Teacher smartphone)</a:t>
            </a:r>
            <a:endParaRPr sz="1700">
              <a:solidFill>
                <a:schemeClr val="dk1"/>
              </a:solidFill>
            </a:endParaRPr>
          </a:p>
          <a:p>
            <a:pPr indent="0" lvl="0" marL="0" rtl="0" algn="l">
              <a:lnSpc>
                <a:spcPct val="100000"/>
              </a:lnSpc>
              <a:spcBef>
                <a:spcPts val="0"/>
              </a:spcBef>
              <a:spcAft>
                <a:spcPts val="0"/>
              </a:spcAft>
              <a:buSzPts val="1800"/>
              <a:buNone/>
            </a:pPr>
            <a:r>
              <a:rPr lang="en" sz="1700">
                <a:solidFill>
                  <a:schemeClr val="dk1"/>
                </a:solidFill>
              </a:rPr>
              <a:t>or</a:t>
            </a:r>
            <a:endParaRPr sz="1700">
              <a:solidFill>
                <a:schemeClr val="dk1"/>
              </a:solidFill>
            </a:endParaRPr>
          </a:p>
          <a:p>
            <a:pPr indent="0" lvl="0" marL="0" rtl="0" algn="l">
              <a:lnSpc>
                <a:spcPct val="100000"/>
              </a:lnSpc>
              <a:spcBef>
                <a:spcPts val="0"/>
              </a:spcBef>
              <a:spcAft>
                <a:spcPts val="0"/>
              </a:spcAft>
              <a:buSzPts val="1800"/>
              <a:buNone/>
            </a:pPr>
            <a:r>
              <a:rPr lang="en" sz="1700">
                <a:solidFill>
                  <a:schemeClr val="dk1"/>
                </a:solidFill>
              </a:rPr>
              <a:t>*Use speech input to Google translate.</a:t>
            </a:r>
            <a:endParaRPr sz="1700">
              <a:solidFill>
                <a:schemeClr val="dk1"/>
              </a:solidFill>
            </a:endParaRPr>
          </a:p>
          <a:p>
            <a:pPr indent="0" lvl="0" marL="0" rtl="0" algn="l">
              <a:lnSpc>
                <a:spcPct val="100000"/>
              </a:lnSpc>
              <a:spcBef>
                <a:spcPts val="0"/>
              </a:spcBef>
              <a:spcAft>
                <a:spcPts val="1200"/>
              </a:spcAft>
              <a:buSzPts val="1800"/>
              <a:buNone/>
            </a:pPr>
            <a:r>
              <a:t/>
            </a:r>
            <a:endParaRPr/>
          </a:p>
        </p:txBody>
      </p:sp>
      <p:sp>
        <p:nvSpPr>
          <p:cNvPr id="122" name="Google Shape;122;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chemeClr val="dk2"/>
                </a:solidFill>
                <a:latin typeface="Arial"/>
                <a:ea typeface="Arial"/>
                <a:cs typeface="Arial"/>
                <a:sym typeface="Arial"/>
              </a:rPr>
              <a:t>‹#›</a:t>
            </a:fld>
            <a:endParaRPr sz="1000">
              <a:solidFill>
                <a:schemeClr val="dk2"/>
              </a:solidFill>
              <a:latin typeface="Arial"/>
              <a:ea typeface="Arial"/>
              <a:cs typeface="Arial"/>
              <a:sym typeface="Arial"/>
            </a:endParaRPr>
          </a:p>
        </p:txBody>
      </p:sp>
      <p:pic>
        <p:nvPicPr>
          <p:cNvPr descr="14 Amazon Echo Stock Photos, Pictures &amp;amp; Royalty-Free Images - iStock" id="123" name="Google Shape;123;p19"/>
          <p:cNvPicPr preferRelativeResize="0"/>
          <p:nvPr/>
        </p:nvPicPr>
        <p:blipFill rotWithShape="1">
          <a:blip r:embed="rId3">
            <a:alphaModFix/>
          </a:blip>
          <a:srcRect b="0" l="0" r="0" t="0"/>
          <a:stretch/>
        </p:blipFill>
        <p:spPr>
          <a:xfrm>
            <a:off x="5262114" y="2375744"/>
            <a:ext cx="3300976" cy="221350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311700" y="198475"/>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262626"/>
              </a:buClr>
              <a:buSzPts val="3600"/>
              <a:buFont typeface="Garamond"/>
              <a:buNone/>
            </a:pPr>
            <a:r>
              <a:rPr lang="en"/>
              <a:t>How Speech Recognition Works</a:t>
            </a:r>
            <a:endParaRPr/>
          </a:p>
        </p:txBody>
      </p:sp>
      <p:sp>
        <p:nvSpPr>
          <p:cNvPr id="129" name="Google Shape;12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chemeClr val="dk2"/>
                </a:solidFill>
                <a:latin typeface="Arial"/>
                <a:ea typeface="Arial"/>
                <a:cs typeface="Arial"/>
                <a:sym typeface="Arial"/>
              </a:rPr>
              <a:t>‹#›</a:t>
            </a:fld>
            <a:endParaRPr sz="1000">
              <a:solidFill>
                <a:schemeClr val="dk2"/>
              </a:solidFill>
              <a:latin typeface="Arial"/>
              <a:ea typeface="Arial"/>
              <a:cs typeface="Arial"/>
              <a:sym typeface="Arial"/>
            </a:endParaRPr>
          </a:p>
        </p:txBody>
      </p:sp>
      <p:pic>
        <p:nvPicPr>
          <p:cNvPr descr="Look around. We’re surrounded by technology that until recently seemed like it could only exist in the realm of science fiction. The most prominent example? Computers we can talk to.&#10; &#10;In 2020, it was estimated that there were as many as 4.2 billion voice assistant devices being used worldwide, and that number is expected to reach a whopping 8 billion by 2023. &#10; &#10;The launch of Google’s voice search in 2011, and Apple’s Siri shortly afterwards, signalled the beginning of a new era for this technology - an era that is now in full swing since Amazon’s Alexa joined the party. &#10; &#10;But the increased ubiquity and improved computing power of these devices doesn’t mean a free ticket to unlimited progress. There are still significant challenges: understanding natural speech, tackling error rates and earning trust, to name but a few.&#10; &#10;Learn how voice recognition works – and the challenges it faces – in the latest explainer video from iluli by Mike Lamb. Making sense of technology, one byte at a time. See more at https://iluli.eu&#10;&#10;---&#10;&#10;Sources and Further Reading&#10;&#10;The machines that learned to listen&#10;https://www.bbc.com/future/article/20170214-the-machines-that-learned-to-listen &#10;&#10;Digital Voice Assistants in Use to Triple to 8 Billion by 2023, Driven by Smart Home &#10;https://www.juniperresearch.com/press/digital-voice-assistants-in-use-to-8-million-2023 &#10;&#10;How does speech recognition software work? &#10;https://www.explainthatstuff.com/voicerecognition.html" id="130" name="Google Shape;130;p20" title="How Voice Recognition Works">
            <a:hlinkClick r:id="rId3"/>
          </p:cNvPr>
          <p:cNvPicPr preferRelativeResize="0"/>
          <p:nvPr/>
        </p:nvPicPr>
        <p:blipFill rotWithShape="1">
          <a:blip r:embed="rId4">
            <a:alphaModFix/>
          </a:blip>
          <a:srcRect b="0" l="0" r="0" t="0"/>
          <a:stretch/>
        </p:blipFill>
        <p:spPr>
          <a:xfrm>
            <a:off x="2286000" y="1040275"/>
            <a:ext cx="4572000" cy="3429000"/>
          </a:xfrm>
          <a:prstGeom prst="rect">
            <a:avLst/>
          </a:prstGeom>
          <a:noFill/>
          <a:ln>
            <a:noFill/>
          </a:ln>
        </p:spPr>
      </p:pic>
      <p:sp>
        <p:nvSpPr>
          <p:cNvPr id="131" name="Google Shape;131;p20"/>
          <p:cNvSpPr txBox="1"/>
          <p:nvPr/>
        </p:nvSpPr>
        <p:spPr>
          <a:xfrm>
            <a:off x="2286000" y="4384614"/>
            <a:ext cx="5422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sng" cap="none" strike="noStrike">
                <a:solidFill>
                  <a:schemeClr val="hlink"/>
                </a:solidFill>
                <a:latin typeface="Arial"/>
                <a:ea typeface="Arial"/>
                <a:cs typeface="Arial"/>
                <a:sym typeface="Arial"/>
                <a:hlinkClick r:id="rId5"/>
              </a:rPr>
              <a:t>https://www.youtube.com/watch?v=2RRT1YuyBCo</a:t>
            </a:r>
            <a:r>
              <a:rPr b="0" i="0" lang="en" sz="1400" u="none" cap="none" strike="noStrike">
                <a:solidFill>
                  <a:srgbClr val="000000"/>
                </a:solidFill>
                <a:latin typeface="Arial"/>
                <a:ea typeface="Arial"/>
                <a:cs typeface="Arial"/>
                <a:sym typeface="Arial"/>
              </a:rPr>
              <a:t> (5 mins)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1000"/>
                                        <p:tgtEl>
                                          <p:spTgt spid="1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txBox="1"/>
          <p:nvPr>
            <p:ph type="title"/>
          </p:nvPr>
        </p:nvSpPr>
        <p:spPr>
          <a:xfrm>
            <a:off x="971552" y="736600"/>
            <a:ext cx="7200900" cy="978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
              <a:t>Unit Overview</a:t>
            </a:r>
            <a:endParaRPr/>
          </a:p>
        </p:txBody>
      </p:sp>
      <p:sp>
        <p:nvSpPr>
          <p:cNvPr id="137" name="Google Shape;137;p21"/>
          <p:cNvSpPr txBox="1"/>
          <p:nvPr>
            <p:ph idx="12" type="sldNum"/>
          </p:nvPr>
        </p:nvSpPr>
        <p:spPr>
          <a:xfrm>
            <a:off x="7765426" y="4476750"/>
            <a:ext cx="407100" cy="209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700"/>
              <a:buFont typeface="Arial"/>
              <a:buNone/>
            </a:pPr>
            <a:fld id="{00000000-1234-1234-1234-123412341234}" type="slidenum">
              <a:rPr lang="en"/>
              <a:t>‹#›</a:t>
            </a:fld>
            <a:endParaRPr/>
          </a:p>
        </p:txBody>
      </p:sp>
      <p:sp>
        <p:nvSpPr>
          <p:cNvPr id="138" name="Google Shape;138;p21"/>
          <p:cNvSpPr txBox="1"/>
          <p:nvPr>
            <p:ph idx="1" type="body"/>
          </p:nvPr>
        </p:nvSpPr>
        <p:spPr>
          <a:xfrm>
            <a:off x="971551" y="1917699"/>
            <a:ext cx="7200900" cy="2489100"/>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360"/>
              </a:spcBef>
              <a:spcAft>
                <a:spcPts val="0"/>
              </a:spcAft>
              <a:buSzPct val="164285"/>
              <a:buNone/>
            </a:pPr>
            <a:r>
              <a:rPr lang="en"/>
              <a:t>In this unit, we will explore  </a:t>
            </a:r>
            <a:endParaRPr/>
          </a:p>
          <a:p>
            <a:pPr indent="-320611" lvl="0" marL="457200" rtl="0" algn="l">
              <a:lnSpc>
                <a:spcPct val="100000"/>
              </a:lnSpc>
              <a:spcBef>
                <a:spcPts val="360"/>
              </a:spcBef>
              <a:spcAft>
                <a:spcPts val="0"/>
              </a:spcAft>
              <a:buSzPct val="115000"/>
              <a:buChar char="•"/>
            </a:pPr>
            <a:r>
              <a:rPr lang="en"/>
              <a:t>How computers understand what we say when we talk to them</a:t>
            </a:r>
            <a:endParaRPr/>
          </a:p>
          <a:p>
            <a:pPr indent="-320611" lvl="0" marL="457200" rtl="0" algn="l">
              <a:lnSpc>
                <a:spcPct val="100000"/>
              </a:lnSpc>
              <a:spcBef>
                <a:spcPts val="0"/>
              </a:spcBef>
              <a:spcAft>
                <a:spcPts val="0"/>
              </a:spcAft>
              <a:buSzPct val="115000"/>
              <a:buChar char="•"/>
            </a:pPr>
            <a:r>
              <a:rPr lang="en"/>
              <a:t>How computers understand what we type into Google and other search engines</a:t>
            </a:r>
            <a:endParaRPr/>
          </a:p>
          <a:p>
            <a:pPr indent="-320611" lvl="0" marL="457200" rtl="0" algn="l">
              <a:lnSpc>
                <a:spcPct val="100000"/>
              </a:lnSpc>
              <a:spcBef>
                <a:spcPts val="0"/>
              </a:spcBef>
              <a:spcAft>
                <a:spcPts val="0"/>
              </a:spcAft>
              <a:buSzPct val="115000"/>
              <a:buChar char="•"/>
            </a:pPr>
            <a:r>
              <a:rPr lang="en"/>
              <a:t>How computer translate english into other languages</a:t>
            </a:r>
            <a:endParaRPr/>
          </a:p>
          <a:p>
            <a:pPr indent="-320611" lvl="0" marL="457200" rtl="0" algn="l">
              <a:lnSpc>
                <a:spcPct val="100000"/>
              </a:lnSpc>
              <a:spcBef>
                <a:spcPts val="0"/>
              </a:spcBef>
              <a:spcAft>
                <a:spcPts val="0"/>
              </a:spcAft>
              <a:buSzPct val="115000"/>
              <a:buChar char="•"/>
            </a:pPr>
            <a:r>
              <a:rPr lang="en"/>
              <a:t>How computers understand emotion or sentiment in text</a:t>
            </a:r>
            <a:endParaRPr/>
          </a:p>
          <a:p>
            <a:pPr indent="-320611" lvl="0" marL="457200" rtl="0" algn="l">
              <a:lnSpc>
                <a:spcPct val="100000"/>
              </a:lnSpc>
              <a:spcBef>
                <a:spcPts val="0"/>
              </a:spcBef>
              <a:spcAft>
                <a:spcPts val="0"/>
              </a:spcAft>
              <a:buSzPct val="115000"/>
              <a:buChar char="•"/>
            </a:pPr>
            <a:r>
              <a:rPr lang="en"/>
              <a:t>Case Study on Alexa</a:t>
            </a:r>
            <a:endParaRPr/>
          </a:p>
          <a:p>
            <a:pPr indent="0" lvl="0" marL="0" rtl="0" algn="l">
              <a:lnSpc>
                <a:spcPct val="100000"/>
              </a:lnSpc>
              <a:spcBef>
                <a:spcPts val="360"/>
              </a:spcBef>
              <a:spcAft>
                <a:spcPts val="0"/>
              </a:spcAft>
              <a:buSzPct val="164285"/>
              <a:buNone/>
            </a:pPr>
            <a:r>
              <a:t/>
            </a:r>
            <a:endParaRPr/>
          </a:p>
          <a:p>
            <a:pPr indent="0" lvl="0" marL="0" rtl="0" algn="l">
              <a:lnSpc>
                <a:spcPct val="100000"/>
              </a:lnSpc>
              <a:spcBef>
                <a:spcPts val="360"/>
              </a:spcBef>
              <a:spcAft>
                <a:spcPts val="0"/>
              </a:spcAft>
              <a:buSzPct val="164285"/>
              <a:buNone/>
            </a:pPr>
            <a:r>
              <a:rPr lang="en"/>
              <a:t>In this unit, we will create</a:t>
            </a:r>
            <a:endParaRPr/>
          </a:p>
          <a:p>
            <a:pPr indent="-320611" lvl="0" marL="457200" rtl="0" algn="l">
              <a:lnSpc>
                <a:spcPct val="100000"/>
              </a:lnSpc>
              <a:spcBef>
                <a:spcPts val="360"/>
              </a:spcBef>
              <a:spcAft>
                <a:spcPts val="0"/>
              </a:spcAft>
              <a:buSzPct val="115000"/>
              <a:buChar char="•"/>
            </a:pPr>
            <a:r>
              <a:rPr lang="en"/>
              <a:t>A program that understand sentiment</a:t>
            </a:r>
            <a:endParaRPr/>
          </a:p>
          <a:p>
            <a:pPr indent="-320611" lvl="0" marL="457200" rtl="0" algn="l">
              <a:lnSpc>
                <a:spcPct val="100000"/>
              </a:lnSpc>
              <a:spcBef>
                <a:spcPts val="0"/>
              </a:spcBef>
              <a:spcAft>
                <a:spcPts val="0"/>
              </a:spcAft>
              <a:buSzPct val="115000"/>
              <a:buChar char="•"/>
            </a:pPr>
            <a:r>
              <a:rPr lang="en"/>
              <a:t>A program that can answer questions</a:t>
            </a:r>
            <a:endParaRPr/>
          </a:p>
          <a:p>
            <a:pPr indent="-320611" lvl="0" marL="457200" rtl="0" algn="l">
              <a:lnSpc>
                <a:spcPct val="100000"/>
              </a:lnSpc>
              <a:spcBef>
                <a:spcPts val="0"/>
              </a:spcBef>
              <a:spcAft>
                <a:spcPts val="0"/>
              </a:spcAft>
              <a:buSzPct val="115000"/>
              <a:buChar char="•"/>
            </a:pPr>
            <a:r>
              <a:rPr lang="en"/>
              <a:t>A chatbot</a:t>
            </a:r>
            <a:endParaRPr/>
          </a:p>
          <a:p>
            <a:pPr indent="0" lvl="0" marL="0" rtl="0" algn="l">
              <a:lnSpc>
                <a:spcPct val="100000"/>
              </a:lnSpc>
              <a:spcBef>
                <a:spcPts val="360"/>
              </a:spcBef>
              <a:spcAft>
                <a:spcPts val="0"/>
              </a:spcAft>
              <a:buSzPct val="164285"/>
              <a:buNone/>
            </a:pPr>
            <a:r>
              <a:t/>
            </a:r>
            <a:endParaRPr/>
          </a:p>
        </p:txBody>
      </p:sp>
      <p:pic>
        <p:nvPicPr>
          <p:cNvPr id="139" name="Google Shape;139;p21"/>
          <p:cNvPicPr preferRelativeResize="0"/>
          <p:nvPr/>
        </p:nvPicPr>
        <p:blipFill rotWithShape="1">
          <a:blip r:embed="rId3">
            <a:alphaModFix/>
          </a:blip>
          <a:srcRect b="0" l="0" r="0" t="0"/>
          <a:stretch/>
        </p:blipFill>
        <p:spPr>
          <a:xfrm>
            <a:off x="7143000" y="385825"/>
            <a:ext cx="1494650" cy="1868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a:t>Deeper Dives (Extensions)</a:t>
            </a:r>
            <a:endParaRPr/>
          </a:p>
        </p:txBody>
      </p:sp>
      <p:sp>
        <p:nvSpPr>
          <p:cNvPr id="145" name="Google Shape;145;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chemeClr val="dk2"/>
                </a:solidFill>
                <a:latin typeface="Arial"/>
                <a:ea typeface="Arial"/>
                <a:cs typeface="Arial"/>
                <a:sym typeface="Arial"/>
              </a:rPr>
              <a:t>‹#›</a:t>
            </a:fld>
            <a:endParaRPr sz="1000">
              <a:solidFill>
                <a:schemeClr val="dk2"/>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Deeper Dives</a:t>
            </a:r>
            <a:endParaRPr/>
          </a:p>
        </p:txBody>
      </p:sp>
      <p:sp>
        <p:nvSpPr>
          <p:cNvPr id="151" name="Google Shape;151;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t/>
            </a:r>
            <a:endParaRPr b="1"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 sz="1100">
                <a:solidFill>
                  <a:schemeClr val="dk1"/>
                </a:solidFill>
              </a:rPr>
              <a:t>What sorts of things can Alexa or Siri understand? What are their limitations?</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 sz="1100">
                <a:solidFill>
                  <a:schemeClr val="dk1"/>
                </a:solidFill>
              </a:rPr>
              <a:t>How does Google translate work?</a:t>
            </a:r>
            <a:endParaRPr sz="11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00000"/>
              </a:lnSpc>
              <a:spcBef>
                <a:spcPts val="0"/>
              </a:spcBef>
              <a:spcAft>
                <a:spcPts val="0"/>
              </a:spcAft>
              <a:buSzPts val="1800"/>
              <a:buNone/>
            </a:pPr>
            <a:r>
              <a:t/>
            </a:r>
            <a:endParaRPr/>
          </a:p>
        </p:txBody>
      </p:sp>
      <p:sp>
        <p:nvSpPr>
          <p:cNvPr id="152" name="Google Shape;15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chemeClr val="dk2"/>
                </a:solidFill>
                <a:latin typeface="Arial"/>
                <a:ea typeface="Arial"/>
                <a:cs typeface="Arial"/>
                <a:sym typeface="Arial"/>
              </a:rPr>
              <a:t>‹#›</a:t>
            </a:fld>
            <a:endParaRPr sz="1000">
              <a:solidFill>
                <a:schemeClr val="dk2"/>
              </a:solidFill>
              <a:latin typeface="Arial"/>
              <a:ea typeface="Arial"/>
              <a:cs typeface="Arial"/>
              <a:sym typeface="Arial"/>
            </a:endParaRPr>
          </a:p>
        </p:txBody>
      </p:sp>
      <p:pic>
        <p:nvPicPr>
          <p:cNvPr id="153" name="Google Shape;153;p23"/>
          <p:cNvPicPr preferRelativeResize="0"/>
          <p:nvPr/>
        </p:nvPicPr>
        <p:blipFill rotWithShape="1">
          <a:blip r:embed="rId3">
            <a:alphaModFix/>
          </a:blip>
          <a:srcRect b="0" l="0" r="0" t="0"/>
          <a:stretch/>
        </p:blipFill>
        <p:spPr>
          <a:xfrm>
            <a:off x="3390600" y="2161825"/>
            <a:ext cx="2362800" cy="2362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Text Generation - How computers generate stories</a:t>
            </a:r>
            <a:endParaRPr/>
          </a:p>
        </p:txBody>
      </p:sp>
      <p:pic>
        <p:nvPicPr>
          <p:cNvPr descr="How machines can mimic our language.&#10;&#10;Join the Open Sourced Reporting Network: http://www.vox.com/opensourcednetwork&#10;&#10;Something big happened in the past year: Researchers created computer programs that can write long passages of coherent, original text.&#10;&#10;Language models like GPT-2, Grover, and CTRL create text passages that seem written by someone fluent in the language, but not in the truth. That AI field, Natural Language Processing (NLP), didn’t exactly set out to create a fake news machine. Rather, it’s the byproduct of a line of research into massive pretrained language models: Machine learning programs that store vast statistical maps of how we use our language. So far, the technology’s creative uses seem to outnumber its malicious ones. But it’s not difficult to imagine how these text-fakes could cause harm, especially as these models become widely shared and deployable by anyone with basic know-how. Read more here: https://www.vox.com/recode/2020/3/4/21163743/ai-language-generation-fake-text-gpt2&#10;&#10;Open Sourced is a year-long reporting project from Recode by Vox that goes deep into the closed ecosystems of data, privacy, algorithms, and artificial intelligence. Learn more at http://www.vox.com/opensourced&#10;&#10;This project is made possible by the Omidyar Network. All Open Sourced content is editorially independent and produced by our journalists.&#10;&#10;Watch all episodes of Open Sourced right here on YouTube: http://bit.ly/2tIHftD&#10;&#10;Try out natural language generation and detection with these tools:&#10;https://demo.allennlp.org/next-token-lm&#10;https://talktotransformer.com/&#10;https://transformer.huggingface.co/&#10;https://grover.allenai.org/&#10;https://www.ai21.com/haim&#10;http://gltr.io/ &#10;https://play.aidungeon.io/&#10;https://huggingface.co/openai-detector/&#10;&#10;Sources:&#10;https://ruder.io/nlp-imagenet/&#10;https://medium.com/@ageitgey/deepfaking-the-news-with-nlp-and-transformer-models-5e057ebd697d&#10;https://openai.com/blog/better-language-models/&#10;https://blog.einstein.ai/introducing-a-conditional-transformer-language-model-for-controllable-generation/&#10;https://veredshwartz.blogspot.com/2019/08/text-generation.html&#10;http://www.mattkenney.me/gpt-2-345/&#10;http://www.mattkenney.me/gpt-2/&#10;https://jalammar.github.io/illustrated-gpt2/&#10;https://mc.ai/introduction-to-language-modelling-and-deep-neural-network-based-text-generation/&#10;https://fortune.com/2020/01/20/natural-language-processing-business/&#10;https://www.vox.com/future-perfect/2019/2/14/18222270/artificial-intelligence-open-ai-natural-language-processing&#10;https://www.newyorker.com/magazine/2019/10/14/can-a-machine-learn-to-write-for-the-new-yorker&#10;https://www.youtube.com/watch?v=GEtbD6pqTTE&#10;https://arxiv.org/pdf/1905.12616.pdf&#10;https://arxiv.org/abs/1911.03343&#10;https://arxiv.org/abs/1904.09751&#10;https://techscience.org/a/2019121801/&#10;https://www.middlebury.edu/institute/sites/www.middlebury.edu.institute/files/2019-11/The%20Industrialization%20of%20Terrorist%20Propaganda%20-%20CTEC.pdf?fv=TzdJnlDw&#10;http://newsyoucantuse.com/&#10;https://aiweirdness.com/post/168051907512/the-first-line-of-a-novel-by-an-improved-neural&#10;https://aiweirdness.com/post/159302925452/the-neural-network-generated-pickup-lines-that-are&#10;https://www.nytimes.com/interactive/2018/10/26/opinion/halloween-spooky-costumes-machine-learning-generator.html&#10;https://aiweirdness.com/post/160985569682/paint-colors-designed-by-neural-network-part-2&#10;https://www.reddit.com/r/SubSimulatorGPT2/&#10;https://twitter.com/dril_gpt2 &#10;https://cloud.google.com/text-to-speech/&#10;&#10;Vox.com is a news website that helps you cut through the noise and understand what's really driving the events in the headlines. Check out http://www.vox.com.&#10;&#10;Watch our full video catalog: http://goo.gl/IZONyE&#10;Follow Vox on Facebook: http://goo.gl/U2g06o&#10;Or Twitter: http://goo.gl/XFrZ5H" id="159" name="Google Shape;159;p24" title="Computers just got a lot better at writing">
            <a:hlinkClick r:id="rId3"/>
          </p:cNvPr>
          <p:cNvPicPr preferRelativeResize="0"/>
          <p:nvPr/>
        </p:nvPicPr>
        <p:blipFill rotWithShape="1">
          <a:blip r:embed="rId4">
            <a:alphaModFix/>
          </a:blip>
          <a:srcRect b="0" l="0" r="0" t="0"/>
          <a:stretch/>
        </p:blipFill>
        <p:spPr>
          <a:xfrm>
            <a:off x="2286000" y="1156200"/>
            <a:ext cx="3953675" cy="2965250"/>
          </a:xfrm>
          <a:prstGeom prst="rect">
            <a:avLst/>
          </a:prstGeom>
          <a:noFill/>
          <a:ln>
            <a:noFill/>
          </a:ln>
        </p:spPr>
      </p:pic>
      <p:sp>
        <p:nvSpPr>
          <p:cNvPr id="160" name="Google Shape;160;p24"/>
          <p:cNvSpPr txBox="1"/>
          <p:nvPr/>
        </p:nvSpPr>
        <p:spPr>
          <a:xfrm>
            <a:off x="2019825" y="4320325"/>
            <a:ext cx="5505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sng" cap="none" strike="noStrike">
                <a:solidFill>
                  <a:schemeClr val="hlink"/>
                </a:solidFill>
                <a:latin typeface="Arial"/>
                <a:ea typeface="Arial"/>
                <a:cs typeface="Arial"/>
                <a:sym typeface="Arial"/>
                <a:hlinkClick r:id="rId5"/>
              </a:rPr>
              <a:t>https://youtu.be/gcHkxP9adiM</a:t>
            </a:r>
            <a:r>
              <a:rPr b="0" i="0" lang="en" sz="1400" u="none" cap="none" strike="noStrike">
                <a:solidFill>
                  <a:srgbClr val="000000"/>
                </a:solidFill>
                <a:latin typeface="Arial"/>
                <a:ea typeface="Arial"/>
                <a:cs typeface="Arial"/>
                <a:sym typeface="Arial"/>
              </a:rPr>
              <a:t> (1 min - short) (7 mins full)</a:t>
            </a:r>
            <a:endParaRPr b="0" i="0" sz="1400" u="none" cap="none" strike="noStrike">
              <a:solidFill>
                <a:srgbClr val="000000"/>
              </a:solidFill>
              <a:latin typeface="Arial"/>
              <a:ea typeface="Arial"/>
              <a:cs typeface="Arial"/>
              <a:sym typeface="Arial"/>
            </a:endParaRPr>
          </a:p>
        </p:txBody>
      </p:sp>
      <p:sp>
        <p:nvSpPr>
          <p:cNvPr id="161" name="Google Shape;161;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chemeClr val="dk2"/>
                </a:solidFill>
                <a:latin typeface="Arial"/>
                <a:ea typeface="Arial"/>
                <a:cs typeface="Arial"/>
                <a:sym typeface="Arial"/>
              </a:rPr>
              <a:t>‹#›</a:t>
            </a:fld>
            <a:endParaRPr sz="1000">
              <a:solidFill>
                <a:schemeClr val="dk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1000"/>
                                        <p:tgtEl>
                                          <p:spTgt spid="1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Text to Speech - Daisy Bell - First Singing Computer</a:t>
            </a:r>
            <a:endParaRPr/>
          </a:p>
        </p:txBody>
      </p:sp>
      <p:pic>
        <p:nvPicPr>
          <p:cNvPr descr="&quot;Daisy Bell&quot; was composed by Harry Dacre in 1892. In 1961, the IBM 7094 became the first computer to sing, singing the song Daisy Bell. Vocals were programmed by John Kelly and Carol Lockbaum and the accompaniment was programmed by Max Mathews. This performance was the inspiration for a similar scene in 2001: A Space Odyssey. &#10; &#10; &#10; &#10;Daisy, Daisy, give me your answer do &#10; &#10;I'm half crazy all for the love of you &#10; &#10;It won't be a stylish marriage &#10; &#10;I can't afford a carriage &#10; &#10;But you'll look sweet upon the seat &#10; &#10;Of a bicycle built for two." id="167" name="Google Shape;167;p25" title="First computer to sing - Daisy Bell">
            <a:hlinkClick r:id="rId3"/>
          </p:cNvPr>
          <p:cNvPicPr preferRelativeResize="0"/>
          <p:nvPr/>
        </p:nvPicPr>
        <p:blipFill rotWithShape="1">
          <a:blip r:embed="rId4">
            <a:alphaModFix/>
          </a:blip>
          <a:srcRect b="0" l="0" r="0" t="0"/>
          <a:stretch/>
        </p:blipFill>
        <p:spPr>
          <a:xfrm>
            <a:off x="2173550" y="1253750"/>
            <a:ext cx="4572000" cy="3321650"/>
          </a:xfrm>
          <a:prstGeom prst="rect">
            <a:avLst/>
          </a:prstGeom>
          <a:noFill/>
          <a:ln>
            <a:noFill/>
          </a:ln>
        </p:spPr>
      </p:pic>
      <p:sp>
        <p:nvSpPr>
          <p:cNvPr id="168" name="Google Shape;168;p25"/>
          <p:cNvSpPr txBox="1"/>
          <p:nvPr/>
        </p:nvSpPr>
        <p:spPr>
          <a:xfrm>
            <a:off x="2007225" y="4808975"/>
            <a:ext cx="5352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25"/>
          <p:cNvSpPr txBox="1"/>
          <p:nvPr/>
        </p:nvSpPr>
        <p:spPr>
          <a:xfrm>
            <a:off x="2062975" y="4808975"/>
            <a:ext cx="47253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sng" cap="none" strike="noStrike">
                <a:solidFill>
                  <a:schemeClr val="hlink"/>
                </a:solidFill>
                <a:latin typeface="Arial"/>
                <a:ea typeface="Arial"/>
                <a:cs typeface="Arial"/>
                <a:sym typeface="Arial"/>
                <a:hlinkClick r:id="rId5"/>
              </a:rPr>
              <a:t>https://youtu.be/41U78QP8nBk</a:t>
            </a:r>
            <a:r>
              <a:rPr b="0" i="0" lang="en" sz="1400" u="none" cap="none" strike="noStrike">
                <a:solidFill>
                  <a:srgbClr val="000000"/>
                </a:solidFill>
                <a:latin typeface="Arial"/>
                <a:ea typeface="Arial"/>
                <a:cs typeface="Arial"/>
                <a:sym typeface="Arial"/>
              </a:rPr>
              <a:t> (1.5 mins)</a:t>
            </a:r>
            <a:endParaRPr b="0" i="0" sz="1400" u="none" cap="none" strike="noStrike">
              <a:solidFill>
                <a:srgbClr val="000000"/>
              </a:solidFill>
              <a:latin typeface="Arial"/>
              <a:ea typeface="Arial"/>
              <a:cs typeface="Arial"/>
              <a:sym typeface="Arial"/>
            </a:endParaRPr>
          </a:p>
        </p:txBody>
      </p:sp>
      <p:sp>
        <p:nvSpPr>
          <p:cNvPr id="170" name="Google Shape;170;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chemeClr val="dk2"/>
                </a:solidFill>
                <a:latin typeface="Arial"/>
                <a:ea typeface="Arial"/>
                <a:cs typeface="Arial"/>
                <a:sym typeface="Arial"/>
              </a:rPr>
              <a:t>‹#›</a:t>
            </a:fld>
            <a:endParaRPr sz="1000">
              <a:solidFill>
                <a:schemeClr val="dk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1000"/>
                                        <p:tgtEl>
                                          <p:spTgt spid="1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Case Studies</a:t>
            </a:r>
            <a:r>
              <a:rPr lang="en" u="sng">
                <a:solidFill>
                  <a:schemeClr val="dk1"/>
                </a:solidFill>
                <a:hlinkClick r:id="rId3">
                  <a:extLst>
                    <a:ext uri="{A12FA001-AC4F-418D-AE19-62706E023703}">
                      <ahyp:hlinkClr val="tx"/>
                    </a:ext>
                  </a:extLst>
                </a:hlinkClick>
              </a:rPr>
              <a:t>*</a:t>
            </a:r>
            <a:endParaRPr>
              <a:solidFill>
                <a:schemeClr val="dk1"/>
              </a:solidFill>
            </a:endParaRPr>
          </a:p>
        </p:txBody>
      </p:sp>
      <p:sp>
        <p:nvSpPr>
          <p:cNvPr id="176" name="Google Shape;176;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457200" rtl="0" algn="l">
              <a:lnSpc>
                <a:spcPct val="100000"/>
              </a:lnSpc>
              <a:spcBef>
                <a:spcPts val="0"/>
              </a:spcBef>
              <a:spcAft>
                <a:spcPts val="0"/>
              </a:spcAft>
              <a:buSzPts val="1800"/>
              <a:buNone/>
            </a:pPr>
            <a:r>
              <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 sz="1100">
                <a:solidFill>
                  <a:schemeClr val="dk1"/>
                </a:solidFill>
              </a:rPr>
              <a:t>Bullying a girl named Alexa- </a:t>
            </a:r>
            <a:r>
              <a:rPr lang="en" sz="1100" u="sng">
                <a:solidFill>
                  <a:srgbClr val="1155CC"/>
                </a:solidFill>
                <a:hlinkClick r:id="rId4">
                  <a:extLst>
                    <a:ext uri="{A12FA001-AC4F-418D-AE19-62706E023703}">
                      <ahyp:hlinkClr val="tx"/>
                    </a:ext>
                  </a:extLst>
                </a:hlinkClick>
              </a:rPr>
              <a:t>Parents of children called Alexa challenge Amazon</a:t>
            </a:r>
            <a:endParaRPr sz="11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 sz="1100">
                <a:solidFill>
                  <a:schemeClr val="dk1"/>
                </a:solidFill>
              </a:rPr>
              <a:t>Risk of some features - </a:t>
            </a:r>
            <a:r>
              <a:rPr lang="en" sz="1100" u="sng">
                <a:solidFill>
                  <a:srgbClr val="1155CC"/>
                </a:solidFill>
                <a:hlinkClick r:id="rId5">
                  <a:extLst>
                    <a:ext uri="{A12FA001-AC4F-418D-AE19-62706E023703}">
                      <ahyp:hlinkClr val="tx"/>
                    </a:ext>
                  </a:extLst>
                </a:hlinkClick>
              </a:rPr>
              <a:t>IS ALEXA SAFE FOR KIDS?</a:t>
            </a:r>
            <a:endParaRPr sz="1100">
              <a:solidFill>
                <a:schemeClr val="dk1"/>
              </a:solidFill>
            </a:endParaRPr>
          </a:p>
          <a:p>
            <a:pPr indent="0" lvl="0" marL="457200" rtl="0" algn="l">
              <a:lnSpc>
                <a:spcPct val="100000"/>
              </a:lnSpc>
              <a:spcBef>
                <a:spcPts val="0"/>
              </a:spcBef>
              <a:spcAft>
                <a:spcPts val="0"/>
              </a:spcAft>
              <a:buClr>
                <a:schemeClr val="dk1"/>
              </a:buClr>
              <a:buSzPts val="1100"/>
              <a:buFont typeface="Arial"/>
              <a:buNone/>
            </a:pPr>
            <a:r>
              <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 sz="1100">
                <a:solidFill>
                  <a:schemeClr val="dk1"/>
                </a:solidFill>
              </a:rPr>
              <a:t>Rude kids?/ privacy concerns? - </a:t>
            </a:r>
            <a:r>
              <a:rPr lang="en" sz="1100" u="sng">
                <a:solidFill>
                  <a:schemeClr val="hlink"/>
                </a:solidFill>
                <a:hlinkClick r:id="rId6"/>
              </a:rPr>
              <a:t>Are smart speakers really safe for children?</a:t>
            </a:r>
            <a:endParaRPr sz="1100">
              <a:solidFill>
                <a:schemeClr val="dk1"/>
              </a:solidFill>
            </a:endParaRPr>
          </a:p>
          <a:p>
            <a:pPr indent="0" lvl="0" marL="457200" rtl="0" algn="l">
              <a:lnSpc>
                <a:spcPct val="100000"/>
              </a:lnSpc>
              <a:spcBef>
                <a:spcPts val="0"/>
              </a:spcBef>
              <a:spcAft>
                <a:spcPts val="0"/>
              </a:spcAft>
              <a:buClr>
                <a:schemeClr val="dk1"/>
              </a:buClr>
              <a:buSzPts val="1100"/>
              <a:buFont typeface="Arial"/>
              <a:buNone/>
            </a:pPr>
            <a:r>
              <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highlight>
                  <a:srgbClr val="FFFFFF"/>
                </a:highlight>
              </a:rPr>
              <a:t>Conversation complexity/Jeopardising teaching professions? - </a:t>
            </a:r>
            <a:r>
              <a:rPr lang="en" sz="1100" u="sng">
                <a:solidFill>
                  <a:srgbClr val="1155CC"/>
                </a:solidFill>
                <a:hlinkClick r:id="rId7">
                  <a:extLst>
                    <a:ext uri="{A12FA001-AC4F-418D-AE19-62706E023703}">
                      <ahyp:hlinkClr val="tx"/>
                    </a:ext>
                  </a:extLst>
                </a:hlinkClick>
              </a:rPr>
              <a:t>Is Amazon Alexa harmful to children’s educational development?</a:t>
            </a:r>
            <a:br>
              <a:rPr lang="en" sz="1100">
                <a:solidFill>
                  <a:schemeClr val="dk1"/>
                </a:solidFill>
              </a:rPr>
            </a:br>
            <a:br>
              <a:rPr lang="en" sz="1100">
                <a:solidFill>
                  <a:schemeClr val="dk1"/>
                </a:solidFill>
              </a:rPr>
            </a:br>
            <a:r>
              <a:rPr lang="en" sz="1100">
                <a:solidFill>
                  <a:schemeClr val="dk1"/>
                </a:solidFill>
              </a:rPr>
              <a:t>Wrong/incomplete answers, discourage critical thinking - </a:t>
            </a:r>
            <a:r>
              <a:rPr lang="en" sz="1100" u="sng">
                <a:solidFill>
                  <a:srgbClr val="1155CC"/>
                </a:solidFill>
                <a:hlinkClick r:id="rId8">
                  <a:extLst>
                    <a:ext uri="{A12FA001-AC4F-418D-AE19-62706E023703}">
                      <ahyp:hlinkClr val="tx"/>
                    </a:ext>
                  </a:extLst>
                </a:hlinkClick>
              </a:rPr>
              <a:t>Parents say using Alexa to entertain kids comes with problems</a:t>
            </a:r>
            <a:endParaRPr sz="1100">
              <a:solidFill>
                <a:schemeClr val="dk1"/>
              </a:solidFill>
            </a:endParaRPr>
          </a:p>
          <a:p>
            <a:pPr indent="0" lvl="0" marL="457200" rtl="0" algn="l">
              <a:lnSpc>
                <a:spcPct val="100000"/>
              </a:lnSpc>
              <a:spcBef>
                <a:spcPts val="2300"/>
              </a:spcBef>
              <a:spcAft>
                <a:spcPts val="0"/>
              </a:spcAft>
              <a:buClr>
                <a:schemeClr val="dk1"/>
              </a:buClr>
              <a:buSzPts val="1100"/>
              <a:buFont typeface="Arial"/>
              <a:buNone/>
            </a:pPr>
            <a:r>
              <a:t/>
            </a:r>
            <a:endParaRPr sz="1100">
              <a:solidFill>
                <a:schemeClr val="dk1"/>
              </a:solidFill>
            </a:endParaRPr>
          </a:p>
          <a:p>
            <a:pPr indent="0" lvl="0" marL="0" rtl="0" algn="l">
              <a:lnSpc>
                <a:spcPct val="100000"/>
              </a:lnSpc>
              <a:spcBef>
                <a:spcPts val="0"/>
              </a:spcBef>
              <a:spcAft>
                <a:spcPts val="0"/>
              </a:spcAft>
              <a:buSzPts val="1800"/>
              <a:buNone/>
            </a:pPr>
            <a:r>
              <a:t/>
            </a:r>
            <a:endParaRPr/>
          </a:p>
        </p:txBody>
      </p:sp>
      <p:sp>
        <p:nvSpPr>
          <p:cNvPr id="177" name="Google Shape;177;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chemeClr val="dk2"/>
                </a:solidFill>
                <a:latin typeface="Arial"/>
                <a:ea typeface="Arial"/>
                <a:cs typeface="Arial"/>
                <a:sym typeface="Arial"/>
              </a:rPr>
              <a:t>‹#›</a:t>
            </a:fld>
            <a:endParaRPr sz="1000">
              <a:solidFill>
                <a:schemeClr val="dk2"/>
              </a:solidFill>
              <a:latin typeface="Arial"/>
              <a:ea typeface="Arial"/>
              <a:cs typeface="Arial"/>
              <a:sym typeface="Arial"/>
            </a:endParaRPr>
          </a:p>
        </p:txBody>
      </p:sp>
      <p:pic>
        <p:nvPicPr>
          <p:cNvPr id="178" name="Google Shape;178;p26"/>
          <p:cNvPicPr preferRelativeResize="0"/>
          <p:nvPr/>
        </p:nvPicPr>
        <p:blipFill rotWithShape="1">
          <a:blip r:embed="rId9">
            <a:alphaModFix/>
          </a:blip>
          <a:srcRect b="0" l="0" r="0" t="0"/>
          <a:stretch/>
        </p:blipFill>
        <p:spPr>
          <a:xfrm>
            <a:off x="3265525" y="3294350"/>
            <a:ext cx="2217825" cy="1274525"/>
          </a:xfrm>
          <a:prstGeom prst="rect">
            <a:avLst/>
          </a:prstGeom>
          <a:noFill/>
          <a:ln>
            <a:noFill/>
          </a:ln>
        </p:spPr>
      </p:pic>
      <p:pic>
        <p:nvPicPr>
          <p:cNvPr id="179" name="Google Shape;179;p26"/>
          <p:cNvPicPr preferRelativeResize="0"/>
          <p:nvPr/>
        </p:nvPicPr>
        <p:blipFill rotWithShape="1">
          <a:blip r:embed="rId10">
            <a:alphaModFix/>
          </a:blip>
          <a:srcRect b="0" l="0" r="0" t="0"/>
          <a:stretch/>
        </p:blipFill>
        <p:spPr>
          <a:xfrm>
            <a:off x="6568700" y="536725"/>
            <a:ext cx="2060575" cy="13737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