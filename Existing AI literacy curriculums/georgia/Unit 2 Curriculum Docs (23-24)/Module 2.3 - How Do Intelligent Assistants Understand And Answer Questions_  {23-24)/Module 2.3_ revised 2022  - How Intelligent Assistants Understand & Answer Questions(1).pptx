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4" roundtripDataSignature="AMtx7mgntroKKwlyEyVv2L39xDE8I8JKS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Christina Gardner-McCun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regular.fntdata"/><Relationship Id="rId11" Type="http://schemas.openxmlformats.org/officeDocument/2006/relationships/slide" Target="slides/slide5.xml"/><Relationship Id="rId22" Type="http://schemas.openxmlformats.org/officeDocument/2006/relationships/font" Target="fonts/Constantia-italic.fntdata"/><Relationship Id="rId10" Type="http://schemas.openxmlformats.org/officeDocument/2006/relationships/slide" Target="slides/slide4.xml"/><Relationship Id="rId21" Type="http://schemas.openxmlformats.org/officeDocument/2006/relationships/font" Target="fonts/Constantia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Constanti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2-11-09T00:37:12.504">
    <p:pos x="1454" y="1710"/>
    <p:text>May need to find a similar representation.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joeMTxQ"/>
      </p:ext>
    </p:extLst>
  </p:cm>
  <p:cm authorId="0" idx="2" dt="2022-11-09T00:37:12.504">
    <p:pos x="1454" y="1710"/>
    <p:text>Takeaway - converting the query into computer language. The SQL expression is the search request.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AjoeMTx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arser.kitaev.io/" TargetMode="External"/><Relationship Id="rId3" Type="http://schemas.openxmlformats.org/officeDocument/2006/relationships/hyperlink" Target="http://surdeanu.cs.arizona.edu/mihai/teaching/ista555-fall13/readings/PennTreebankConstituents.html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Ah-txCne_CMkeyBscgJmR4ns5f3KWh4J_b3Jr7_lgIc/edit?usp=sharing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Day 3 - How do intelligent assistants understand and answer questions?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(Query) Syntax and Question Answering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Google queries; Berkeley parser; mention schemas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Question Answering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Representation for the questions - Berkeley Neural Parser</a:t>
            </a:r>
            <a:endParaRPr>
              <a:solidFill>
                <a:schemeClr val="dk1"/>
              </a:solidFill>
            </a:endParaRPr>
          </a:p>
          <a:p>
            <a:pPr indent="-2984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Parts of speech: nouns, verbs, prepositions </a:t>
            </a:r>
            <a:endParaRPr>
              <a:solidFill>
                <a:schemeClr val="dk1"/>
              </a:solidFill>
            </a:endParaRPr>
          </a:p>
          <a:p>
            <a:pPr indent="-2984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Syntactic relationships</a:t>
            </a:r>
            <a:endParaRPr>
              <a:solidFill>
                <a:schemeClr val="dk1"/>
              </a:solidFill>
            </a:endParaRPr>
          </a:p>
          <a:p>
            <a:pPr indent="-2984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How BNP works - Not a purely syntactic parser it uses meaning of words and statistics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Semantic parsing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Sources of knowledge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Limitation: Systems are a collection of techniques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Question: </a:t>
            </a:r>
            <a:r>
              <a:rPr lang="en">
                <a:solidFill>
                  <a:schemeClr val="dk1"/>
                </a:solidFill>
              </a:rPr>
              <a:t>How does Google understand and answer questions?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Demo</a:t>
            </a:r>
            <a:r>
              <a:rPr lang="en">
                <a:solidFill>
                  <a:schemeClr val="dk1"/>
                </a:solidFill>
              </a:rPr>
              <a:t> - 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Try asking Google these questions: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*What do wolves eat?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*Where do wolves live?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*What sounds do wolves make?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*How long do wolves live?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*Do wolves have families?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*Where did President Obama grow up?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*What are the biggest cities in Georgia?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*What are the smallest towns in Georgia?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Conversion: Convert feets to yard?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Flights: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Facts: Presidents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Q. Let’s explore how Google might make sense of these queries: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 u="sng">
                <a:solidFill>
                  <a:srgbClr val="1155CC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Berkeley Neural Parser</a:t>
            </a:r>
            <a:r>
              <a:rPr lang="en">
                <a:solidFill>
                  <a:schemeClr val="dk1"/>
                </a:solidFill>
              </a:rPr>
              <a:t> to parse sentences and observe the </a:t>
            </a: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parse tree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Uses the parse to figure out the primary intent / type of query of your question</a:t>
            </a:r>
            <a:endParaRPr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Google knows about a bunch of different types of queries (uses specialized reasoning engines - use different techniques to understand the query, if they don’t understand than they do keyword search)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Here are some query engines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Definition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Current Information modules (Time,  weather, temperatures, movie schedules, bus schedules, train schedules, flights)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Conversions (units, currencies, distance, time)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Restaurant reservations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Flights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Facts - Knowledge graph queries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Note: some of these modules have a way of failing -&gt; perhaps there is a typo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Google has thousands of engineers trying to salvaging 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Knowledge boxes, knowledge panels or similar queries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Otherwise a generic keyword search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Student Activities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Sentence -&gt; formula -&gt; module computes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Convert 5 feets to ? meters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Ask a non-sensical questions - COnvert 5 feet to years - suggests a corrections for years to yards and then when you force it then it sends generic 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Show a schema related to one of the project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</a:rPr>
              <a:t>Explore Schemas (Part of the deeper dive)</a:t>
            </a:r>
            <a:endParaRPr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698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Schema.org - restaurants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Deeper Dive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What is everything google knows about restaurants? Look at the schema at schema.org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What is a restaurant? Different conceptual understandings - a business, location, chain vs individual store, brand, -Take away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When you design a knowledge graph you have to decide how much complexity you want to include. Humans make decisions about what is important to encode and for what purpose.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areas of ambiguity in human speech that makes it complex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Explain how computers/AI overcome the ambiguities in human speech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To Do: Convert this to a worksheet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Goal: We want to create queries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Draft of student activity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Google knows about a bunch of different types of queries (uses specialized reasoning engines - use different techniques to understand the query, if they don’t understand than they do keyword search)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are some query engines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Definition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Current Information modules (Time,  weather, temperatures, movie schedules, bus schedules, train schedules, flights)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Conversions (units, currencies, distance, time)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Restaurant reservations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Flights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Facts - Knowledge graph queries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Note: some of these modules have a way of failing -&gt; perhaps there is a typo 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Google has thousands of engineers trying to salvaging 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Knowledge boxes, knowledge panels or similar queries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Otherwise a generic keyword search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Student Activities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Sentence -&gt; formula -&gt; module computes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Convert 5 feets to ? meters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Ask a non-sensical questions - COnvert 5 feet to years - suggests a corrections for years to yards and then when you force it then it sends generic information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Show a schema related to one of the project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02122"/>
                </a:solidFill>
                <a:highlight>
                  <a:srgbClr val="FFFFFF"/>
                </a:highlight>
              </a:rPr>
              <a:t>Explore Schemas (Part of the deeper dive)</a:t>
            </a:r>
            <a:endParaRPr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6985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Schema.org - restaurants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Let’s look at the 3rd step in this process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To process the query we have to parse it. The first step is to break the sentence down into words and separate out punctuation.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Vocab parse - understand it’s syntactic structure. Understand what role each word plays in the sentence.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</a:t>
            </a:r>
            <a:r>
              <a:rPr lang="en"/>
              <a:t>slide is for informational purposes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Next we want to assign a part of speech to every word. This is called part of speech tagging.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If we were to change the meaning of the query, Google will return a different set of responses.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Teacher Note: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47a04244d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147a04244d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/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0"/>
          <p:cNvSpPr txBox="1"/>
          <p:nvPr>
            <p:ph type="ctrTitle"/>
          </p:nvPr>
        </p:nvSpPr>
        <p:spPr>
          <a:xfrm>
            <a:off x="832485" y="661782"/>
            <a:ext cx="74752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1" sz="5400" cap="none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" type="subTitle"/>
          </p:nvPr>
        </p:nvSpPr>
        <p:spPr>
          <a:xfrm>
            <a:off x="1282148" y="2902226"/>
            <a:ext cx="6575895" cy="104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320"/>
              <a:buNone/>
              <a:defRPr sz="165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320"/>
              <a:buNone/>
              <a:defRPr sz="165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20"/>
              <a:buNone/>
              <a:defRPr sz="165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sz="1500"/>
            </a:lvl9pPr>
          </a:lstStyle>
          <a:p/>
        </p:txBody>
      </p:sp>
      <p:sp>
        <p:nvSpPr>
          <p:cNvPr id="16" name="Google Shape;16;p30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" name="Google Shape;19;p30"/>
          <p:cNvCxnSpPr/>
          <p:nvPr/>
        </p:nvCxnSpPr>
        <p:spPr>
          <a:xfrm>
            <a:off x="1483995" y="2800350"/>
            <a:ext cx="6172201" cy="0"/>
          </a:xfrm>
          <a:prstGeom prst="straightConnector1">
            <a:avLst/>
          </a:prstGeom>
          <a:noFill/>
          <a:ln cap="flat" cmpd="sng" w="10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3" name="Google Shape;2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39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39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829818" y="880181"/>
            <a:ext cx="74752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b="0" sz="5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1282446" y="3115890"/>
            <a:ext cx="6576822" cy="1022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320"/>
              <a:buNone/>
              <a:defRPr sz="165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4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" name="Google Shape;39;p34"/>
          <p:cNvCxnSpPr/>
          <p:nvPr/>
        </p:nvCxnSpPr>
        <p:spPr>
          <a:xfrm>
            <a:off x="1485900" y="3015306"/>
            <a:ext cx="6172201" cy="0"/>
          </a:xfrm>
          <a:prstGeom prst="straightConnector1">
            <a:avLst/>
          </a:prstGeom>
          <a:noFill/>
          <a:ln cap="flat" cmpd="sng" w="100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857250" y="1543049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42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320"/>
              <a:buChar char="•"/>
              <a:defRPr sz="1650"/>
            </a:lvl1pPr>
            <a:lvl2pPr indent="-3048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200"/>
              <a:buChar char="•"/>
              <a:defRPr sz="1500"/>
            </a:lvl2pPr>
            <a:lvl3pPr indent="-29718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80"/>
              <a:buChar char="•"/>
              <a:defRPr sz="1350"/>
            </a:lvl3pPr>
            <a:lvl4pPr indent="-28956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4pPr>
            <a:lvl5pPr indent="-28956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5pPr>
            <a:lvl6pPr indent="-28956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6pPr>
            <a:lvl7pPr indent="-28956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7pPr>
            <a:lvl8pPr indent="-289559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8pPr>
            <a:lvl9pPr indent="-289559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60"/>
              <a:buChar char="•"/>
              <a:defRPr sz="12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4700709" y="154305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42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320"/>
              <a:buChar char="•"/>
              <a:defRPr sz="1650"/>
            </a:lvl1pPr>
            <a:lvl2pPr indent="-3048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200"/>
              <a:buChar char="•"/>
              <a:defRPr sz="1500"/>
            </a:lvl2pPr>
            <a:lvl3pPr indent="-29718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80"/>
              <a:buChar char="•"/>
              <a:defRPr sz="1350"/>
            </a:lvl3pPr>
            <a:lvl4pPr indent="-28956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4pPr>
            <a:lvl5pPr indent="-28956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5pPr>
            <a:lvl6pPr indent="-28956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6pPr>
            <a:lvl7pPr indent="-28956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7pPr>
            <a:lvl8pPr indent="-289559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8pPr>
            <a:lvl9pPr indent="-289559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60"/>
              <a:buChar char="•"/>
              <a:defRPr sz="1200"/>
            </a:lvl9pPr>
          </a:lstStyle>
          <a:p/>
        </p:txBody>
      </p:sp>
      <p:sp>
        <p:nvSpPr>
          <p:cNvPr id="44" name="Google Shape;44;p35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857250" y="1501133"/>
            <a:ext cx="35661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857250" y="2041112"/>
            <a:ext cx="3566160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42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320"/>
              <a:buChar char="•"/>
              <a:defRPr sz="1650"/>
            </a:lvl1pPr>
            <a:lvl2pPr indent="-3048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200"/>
              <a:buChar char="•"/>
              <a:defRPr sz="1500"/>
            </a:lvl2pPr>
            <a:lvl3pPr indent="-29718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80"/>
              <a:buChar char="•"/>
              <a:defRPr sz="1350"/>
            </a:lvl3pPr>
            <a:lvl4pPr indent="-28956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4pPr>
            <a:lvl5pPr indent="-28956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5pPr>
            <a:lvl6pPr indent="-28956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6pPr>
            <a:lvl7pPr indent="-28956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7pPr>
            <a:lvl8pPr indent="-289559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8pPr>
            <a:lvl9pPr indent="-289559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60"/>
              <a:buChar char="•"/>
              <a:defRPr sz="1200"/>
            </a:lvl9pPr>
          </a:lstStyle>
          <a:p/>
        </p:txBody>
      </p:sp>
      <p:sp>
        <p:nvSpPr>
          <p:cNvPr id="51" name="Google Shape;51;p36"/>
          <p:cNvSpPr txBox="1"/>
          <p:nvPr>
            <p:ph idx="3" type="body"/>
          </p:nvPr>
        </p:nvSpPr>
        <p:spPr>
          <a:xfrm>
            <a:off x="4701880" y="1499274"/>
            <a:ext cx="35661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52" name="Google Shape;52;p36"/>
          <p:cNvSpPr txBox="1"/>
          <p:nvPr>
            <p:ph idx="4" type="body"/>
          </p:nvPr>
        </p:nvSpPr>
        <p:spPr>
          <a:xfrm>
            <a:off x="4701880" y="2039492"/>
            <a:ext cx="3566160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42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320"/>
              <a:buChar char="•"/>
              <a:defRPr sz="1650"/>
            </a:lvl1pPr>
            <a:lvl2pPr indent="-3048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200"/>
              <a:buChar char="•"/>
              <a:defRPr sz="1500"/>
            </a:lvl2pPr>
            <a:lvl3pPr indent="-29718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80"/>
              <a:buChar char="•"/>
              <a:defRPr sz="1350"/>
            </a:lvl3pPr>
            <a:lvl4pPr indent="-28956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4pPr>
            <a:lvl5pPr indent="-28956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5pPr>
            <a:lvl6pPr indent="-28956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6pPr>
            <a:lvl7pPr indent="-28956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7pPr>
            <a:lvl8pPr indent="-289559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60"/>
              <a:buChar char="•"/>
              <a:defRPr sz="1200"/>
            </a:lvl8pPr>
            <a:lvl9pPr indent="-289559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60"/>
              <a:buChar char="•"/>
              <a:defRPr sz="1200"/>
            </a:lvl9pPr>
          </a:lstStyle>
          <a:p/>
        </p:txBody>
      </p:sp>
      <p:sp>
        <p:nvSpPr>
          <p:cNvPr id="53" name="Google Shape;53;p36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7"/>
          <p:cNvSpPr txBox="1"/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857250" y="822960"/>
            <a:ext cx="294894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body"/>
          </p:nvPr>
        </p:nvSpPr>
        <p:spPr>
          <a:xfrm>
            <a:off x="4389119" y="822960"/>
            <a:ext cx="390906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920"/>
              <a:buChar char="•"/>
              <a:defRPr sz="2400"/>
            </a:lvl1pPr>
            <a:lvl2pPr indent="-33528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680"/>
              <a:buChar char="•"/>
              <a:defRPr sz="2100"/>
            </a:lvl2pPr>
            <a:lvl3pPr indent="-32003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48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500"/>
            </a:lvl4pPr>
            <a:lvl5pPr indent="-3048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500"/>
            </a:lvl5pPr>
            <a:lvl6pPr indent="-3048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500"/>
            </a:lvl6pPr>
            <a:lvl7pPr indent="-3048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500"/>
            </a:lvl7pPr>
            <a:lvl8pPr indent="-3048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500"/>
            </a:lvl8pPr>
            <a:lvl9pPr indent="-3048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Char char="•"/>
              <a:defRPr sz="1500"/>
            </a:lvl9pPr>
          </a:lstStyle>
          <a:p/>
        </p:txBody>
      </p:sp>
      <p:sp>
        <p:nvSpPr>
          <p:cNvPr id="68" name="Google Shape;68;p39"/>
          <p:cNvSpPr txBox="1"/>
          <p:nvPr>
            <p:ph idx="2" type="body"/>
          </p:nvPr>
        </p:nvSpPr>
        <p:spPr>
          <a:xfrm>
            <a:off x="857250" y="2125980"/>
            <a:ext cx="2948940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20"/>
              <a:buNone/>
              <a:defRPr sz="1275"/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72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540"/>
              <a:buNone/>
              <a:defRPr sz="675"/>
            </a:lvl9pPr>
          </a:lstStyle>
          <a:p/>
        </p:txBody>
      </p:sp>
      <p:sp>
        <p:nvSpPr>
          <p:cNvPr id="69" name="Google Shape;69;p39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857250" y="822960"/>
            <a:ext cx="294894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0"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/>
          <p:nvPr>
            <p:ph idx="2" type="pic"/>
          </p:nvPr>
        </p:nvSpPr>
        <p:spPr>
          <a:xfrm>
            <a:off x="4059936" y="802385"/>
            <a:ext cx="4574286" cy="360045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0"/>
          <p:cNvSpPr txBox="1"/>
          <p:nvPr>
            <p:ph idx="1" type="body"/>
          </p:nvPr>
        </p:nvSpPr>
        <p:spPr>
          <a:xfrm>
            <a:off x="857250" y="2125980"/>
            <a:ext cx="294894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20"/>
              <a:buNone/>
              <a:defRPr sz="1275"/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72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540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540"/>
              <a:buNone/>
              <a:defRPr sz="675"/>
            </a:lvl9pPr>
          </a:lstStyle>
          <a:p/>
        </p:txBody>
      </p:sp>
      <p:sp>
        <p:nvSpPr>
          <p:cNvPr id="76" name="Google Shape;76;p40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" type="body"/>
          </p:nvPr>
        </p:nvSpPr>
        <p:spPr>
          <a:xfrm rot="5400000">
            <a:off x="3045102" y="-644801"/>
            <a:ext cx="3028950" cy="7404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39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39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/>
          <p:nvPr>
            <p:ph type="title"/>
          </p:nvPr>
        </p:nvSpPr>
        <p:spPr>
          <a:xfrm rot="5400000">
            <a:off x="5386388" y="1728788"/>
            <a:ext cx="405765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1" type="body"/>
          </p:nvPr>
        </p:nvSpPr>
        <p:spPr>
          <a:xfrm rot="5400000">
            <a:off x="1614488" y="-185737"/>
            <a:ext cx="4057650" cy="557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39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39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39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39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/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9"/>
          <p:cNvSpPr txBox="1"/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2420" lvl="0" marL="457200" marR="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Corbel"/>
              <a:buChar char="•"/>
              <a:defRPr b="0" i="0" sz="165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orbel"/>
              <a:buChar char="•"/>
              <a:defRPr b="0" i="0" sz="150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29718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Corbel"/>
              <a:buChar char="•"/>
              <a:defRPr b="0" i="0" sz="135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28956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Corbel"/>
              <a:buChar char="•"/>
              <a:defRPr b="0" i="0" sz="120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8956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Corbel"/>
              <a:buChar char="•"/>
              <a:defRPr b="0" i="0" sz="120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28956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Corbel"/>
              <a:buChar char="•"/>
              <a:defRPr b="0" i="0" sz="120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28956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Corbel"/>
              <a:buChar char="•"/>
              <a:defRPr b="0" i="0" sz="120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289559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Corbel"/>
              <a:buChar char="•"/>
              <a:defRPr b="0" i="0" sz="120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289559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960"/>
              <a:buFont typeface="Corbel"/>
              <a:buChar char="•"/>
              <a:defRPr b="0" i="0" sz="1200" u="none" cap="none" strike="noStrik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0" type="dt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1" type="ftr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Relationship Id="rId4" Type="http://schemas.openxmlformats.org/officeDocument/2006/relationships/image" Target="../media/image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elopers.google.com/search/docs/basics/how-search-works" TargetMode="External"/><Relationship Id="rId4" Type="http://schemas.openxmlformats.org/officeDocument/2006/relationships/hyperlink" Target="https://docs.google.com/document/d/1Ah-txCne_CMkeyBscgJmR4ns5f3KWh4J_b3Jr7_lgIc/edit?usp=sharing" TargetMode="External"/><Relationship Id="rId5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document/d/1kJc_p3VSHCwBaB2AckM715gN8m66bIHrDe-GyEqkwb0/edit?usp=sharing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832485" y="661782"/>
            <a:ext cx="74752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Calibri"/>
              <a:buNone/>
            </a:pPr>
            <a:r>
              <a:rPr lang="en" sz="4180"/>
              <a:t>HOW DO INTELLIGENT ASSISTANTS UNDERSTAND AND ANSWER QUESTIONS? </a:t>
            </a:r>
            <a:endParaRPr sz="4180"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1282148" y="2902226"/>
            <a:ext cx="6575895" cy="1041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80"/>
              <a:buNone/>
            </a:pPr>
            <a:r>
              <a:rPr lang="en"/>
              <a:t>Unit 2, Module 2.3</a:t>
            </a:r>
            <a:endParaRPr/>
          </a:p>
        </p:txBody>
      </p:sp>
      <p:sp>
        <p:nvSpPr>
          <p:cNvPr id="97" name="Google Shape;97;p1"/>
          <p:cNvSpPr txBox="1"/>
          <p:nvPr>
            <p:ph idx="12" type="sldNum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9304" y="3288554"/>
            <a:ext cx="2480362" cy="1653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rPr lang="en"/>
              <a:t>Overview of Topics</a:t>
            </a: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182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Question Answering</a:t>
            </a:r>
            <a:endParaRPr/>
          </a:p>
          <a:p>
            <a:pPr indent="-31718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Representation for the questions - Berkeley Neural Parser</a:t>
            </a:r>
            <a:endParaRPr/>
          </a:p>
          <a:p>
            <a:pPr indent="-31718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Parts of speech: nouns, verbs, prepositions </a:t>
            </a:r>
            <a:endParaRPr/>
          </a:p>
          <a:p>
            <a:pPr indent="-31718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Syntactic relationships</a:t>
            </a:r>
            <a:endParaRPr/>
          </a:p>
          <a:p>
            <a:pPr indent="-31718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BNP works - Not a purely syntactic parser it uses meaning of words and statistics</a:t>
            </a:r>
            <a:endParaRPr/>
          </a:p>
          <a:p>
            <a:pPr indent="-31718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Semantic parsing</a:t>
            </a:r>
            <a:endParaRPr/>
          </a:p>
          <a:p>
            <a:pPr indent="-31718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Sources of knowledge</a:t>
            </a:r>
            <a:endParaRPr/>
          </a:p>
          <a:p>
            <a:pPr indent="-317182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Limitation: Systems are a collection of techniques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8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8797" y="371888"/>
            <a:ext cx="2123661" cy="2123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158027" y="1501267"/>
            <a:ext cx="8813693" cy="11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5262"/>
              <a:buFont typeface="Calibri"/>
              <a:buNone/>
            </a:pPr>
            <a:r>
              <a:rPr i="1" lang="en" sz="3800"/>
              <a:t>How do you think Google understands and</a:t>
            </a:r>
            <a:endParaRPr i="1" sz="3800"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5262"/>
              <a:buFont typeface="Calibri"/>
              <a:buNone/>
            </a:pPr>
            <a:r>
              <a:rPr i="1" lang="en" sz="3800"/>
              <a:t> answers questions?</a:t>
            </a:r>
            <a:endParaRPr i="1" sz="4600"/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158028" y="3095550"/>
            <a:ext cx="8813693" cy="644700"/>
          </a:xfrm>
          <a:prstGeom prst="rect">
            <a:avLst/>
          </a:prstGeom>
          <a:solidFill>
            <a:srgbClr val="A5B5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7750" y="331304"/>
            <a:ext cx="1005342" cy="1256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196" y="3809453"/>
            <a:ext cx="1124778" cy="102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Google Query Scavenger Hunt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146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1180"/>
              <a:buAutoNum type="arabicPeriod"/>
            </a:pPr>
            <a:r>
              <a:rPr b="1" lang="en"/>
              <a:t>Units conversion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20680"/>
              <a:buNone/>
            </a:pPr>
            <a:r>
              <a:rPr lang="en"/>
              <a:t>Ask Google: “Convert 5 Dollars to Euros” or</a:t>
            </a:r>
            <a:r>
              <a:rPr lang="en">
                <a:solidFill>
                  <a:schemeClr val="dk1"/>
                </a:solidFill>
              </a:rPr>
              <a:t> “Convert 5 Miles to Kilometers”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20680"/>
              <a:buNone/>
            </a:pPr>
            <a:r>
              <a:rPr lang="en"/>
              <a:t>Pick your own conversion problem: ____________________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20680"/>
              <a:buNone/>
            </a:pPr>
            <a:r>
              <a:rPr lang="en"/>
              <a:t>What does Google return?_____________</a:t>
            </a:r>
            <a:endParaRPr/>
          </a:p>
          <a:p>
            <a:pPr indent="-291465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91180"/>
              <a:buAutoNum type="arabicPeriod"/>
            </a:pPr>
            <a:r>
              <a:rPr b="1" lang="en"/>
              <a:t>Facts about famous people or places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20680"/>
              <a:buNone/>
            </a:pPr>
            <a:r>
              <a:rPr lang="en"/>
              <a:t>Where was </a:t>
            </a:r>
            <a:r>
              <a:rPr i="1" lang="en" u="sng"/>
              <a:t>famous person </a:t>
            </a:r>
            <a:r>
              <a:rPr lang="en"/>
              <a:t>born?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20680"/>
              <a:buNone/>
            </a:pPr>
            <a:r>
              <a:rPr lang="en">
                <a:solidFill>
                  <a:schemeClr val="dk1"/>
                </a:solidFill>
              </a:rPr>
              <a:t>Pick your own fact: ____________________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20680"/>
              <a:buNone/>
            </a:pPr>
            <a:r>
              <a:rPr lang="en">
                <a:solidFill>
                  <a:schemeClr val="dk1"/>
                </a:solidFill>
              </a:rPr>
              <a:t>What does Google return?_____________</a:t>
            </a:r>
            <a:endParaRPr/>
          </a:p>
          <a:p>
            <a:pPr indent="-291465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91180"/>
              <a:buAutoNum type="arabicPeriod"/>
            </a:pPr>
            <a:r>
              <a:rPr lang="en"/>
              <a:t>Look up restaurant hours</a:t>
            </a:r>
            <a:endParaRPr/>
          </a:p>
          <a:p>
            <a:pPr indent="-29146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1180"/>
              <a:buAutoNum type="arabicPeriod"/>
            </a:pPr>
            <a:r>
              <a:rPr lang="en"/>
              <a:t>Look up weather</a:t>
            </a:r>
            <a:endParaRPr/>
          </a:p>
          <a:p>
            <a:pPr indent="-29146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1180"/>
              <a:buAutoNum type="arabicPeriod"/>
            </a:pPr>
            <a:r>
              <a:rPr lang="en"/>
              <a:t>Look up airline flights, bus, or train schedules</a:t>
            </a:r>
            <a:endParaRPr/>
          </a:p>
          <a:p>
            <a:pPr indent="-29146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1180"/>
              <a:buAutoNum type="arabicPeriod"/>
            </a:pPr>
            <a:r>
              <a:rPr lang="en"/>
              <a:t>Word definitions: define “craven”</a:t>
            </a:r>
            <a:endParaRPr/>
          </a:p>
          <a:p>
            <a:pPr indent="-29146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1180"/>
              <a:buAutoNum type="arabicPeriod"/>
            </a:pPr>
            <a:r>
              <a:rPr lang="en"/>
              <a:t>Movie times</a:t>
            </a:r>
            <a:endParaRPr/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368150" y="489850"/>
            <a:ext cx="252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https://developers.google.com/search/docs/basics/how-search-works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6712225" y="1596500"/>
            <a:ext cx="221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Link to student assignment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5339" y="2127210"/>
            <a:ext cx="2746059" cy="2746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8623" y="617055"/>
            <a:ext cx="1260577" cy="126057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Font typeface="Calibri"/>
              <a:buNone/>
            </a:pPr>
            <a:r>
              <a:rPr lang="en"/>
              <a:t>Let’s explore how Google might make sense of these queries.</a:t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311700" y="2150850"/>
            <a:ext cx="8520600" cy="24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Font typeface="Calibri"/>
              <a:buNone/>
            </a:pPr>
            <a:r>
              <a:rPr lang="en" sz="2540"/>
              <a:t>Processing the Query: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Font typeface="Calibri"/>
              <a:buAutoNum type="arabicPeriod"/>
            </a:pPr>
            <a:r>
              <a:rPr lang="en" sz="2540"/>
              <a:t>Tokenizing - Breaking the sentence into words and punctuation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Font typeface="Calibri"/>
              <a:buAutoNum type="arabicPeriod"/>
            </a:pPr>
            <a:r>
              <a:rPr lang="en" sz="2540"/>
              <a:t>Part of speech tagging 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AutoNum type="arabicPeriod"/>
            </a:pPr>
            <a:r>
              <a:rPr lang="en" sz="2540"/>
              <a:t>Parsing the request to determine the meaning of the user’s question</a:t>
            </a:r>
            <a:endParaRPr sz="2540"/>
          </a:p>
          <a:p>
            <a:pPr indent="-38989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40"/>
              <a:buFont typeface="Calibri"/>
              <a:buAutoNum type="arabicPeriod"/>
            </a:pPr>
            <a:r>
              <a:rPr lang="en" sz="2540"/>
              <a:t>Creating a search request that reflects the user’s intent</a:t>
            </a:r>
            <a:endParaRPr sz="2540"/>
          </a:p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4627" y="427594"/>
            <a:ext cx="1680754" cy="2100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rPr lang="en"/>
              <a:t>Tokenizing the Query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Ask Google: “What are the largest cities in Georgia?”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Break the sentence down into words and separate out punctuation.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790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17048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26192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35336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4480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5362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6276800" y="3882500"/>
            <a:ext cx="9081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Georgia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7290400" y="3882500"/>
            <a:ext cx="7326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rPr lang="en"/>
              <a:t>Part of Speech Tagging</a:t>
            </a:r>
            <a:endParaRPr/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Assign a part of speech to each word.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790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7048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26192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35336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44480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362400" y="3882500"/>
            <a:ext cx="8040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6276800" y="3882500"/>
            <a:ext cx="9081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Georgia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7290400" y="3882500"/>
            <a:ext cx="732600" cy="4002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7904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17048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VBP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26192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35336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44480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5362400" y="3196700"/>
            <a:ext cx="8040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6276800" y="3196700"/>
            <a:ext cx="9081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NNP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7290400" y="3196700"/>
            <a:ext cx="7326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7"/>
          <p:cNvCxnSpPr>
            <a:stCxn id="170" idx="2"/>
            <a:endCxn id="162" idx="0"/>
          </p:cNvCxnSpPr>
          <p:nvPr/>
        </p:nvCxnSpPr>
        <p:spPr>
          <a:xfrm>
            <a:off x="11924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7"/>
          <p:cNvCxnSpPr>
            <a:stCxn id="171" idx="2"/>
            <a:endCxn id="163" idx="0"/>
          </p:cNvCxnSpPr>
          <p:nvPr/>
        </p:nvCxnSpPr>
        <p:spPr>
          <a:xfrm>
            <a:off x="21068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7"/>
          <p:cNvCxnSpPr>
            <a:stCxn id="172" idx="2"/>
            <a:endCxn id="164" idx="0"/>
          </p:cNvCxnSpPr>
          <p:nvPr/>
        </p:nvCxnSpPr>
        <p:spPr>
          <a:xfrm>
            <a:off x="30212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7"/>
          <p:cNvCxnSpPr>
            <a:stCxn id="173" idx="2"/>
            <a:endCxn id="165" idx="0"/>
          </p:cNvCxnSpPr>
          <p:nvPr/>
        </p:nvCxnSpPr>
        <p:spPr>
          <a:xfrm>
            <a:off x="39356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7"/>
          <p:cNvCxnSpPr>
            <a:stCxn id="174" idx="2"/>
            <a:endCxn id="166" idx="0"/>
          </p:cNvCxnSpPr>
          <p:nvPr/>
        </p:nvCxnSpPr>
        <p:spPr>
          <a:xfrm>
            <a:off x="48500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7"/>
          <p:cNvCxnSpPr>
            <a:stCxn id="175" idx="2"/>
            <a:endCxn id="167" idx="0"/>
          </p:cNvCxnSpPr>
          <p:nvPr/>
        </p:nvCxnSpPr>
        <p:spPr>
          <a:xfrm>
            <a:off x="57644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7"/>
          <p:cNvCxnSpPr>
            <a:stCxn id="176" idx="2"/>
            <a:endCxn id="168" idx="0"/>
          </p:cNvCxnSpPr>
          <p:nvPr/>
        </p:nvCxnSpPr>
        <p:spPr>
          <a:xfrm>
            <a:off x="673085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7"/>
          <p:cNvCxnSpPr>
            <a:stCxn id="177" idx="2"/>
            <a:endCxn id="169" idx="0"/>
          </p:cNvCxnSpPr>
          <p:nvPr/>
        </p:nvCxnSpPr>
        <p:spPr>
          <a:xfrm>
            <a:off x="7656700" y="359690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7"/>
          <p:cNvSpPr txBox="1"/>
          <p:nvPr/>
        </p:nvSpPr>
        <p:spPr>
          <a:xfrm rot="-2700509">
            <a:off x="711185" y="2476269"/>
            <a:ext cx="143252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WH-pronoun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 txBox="1"/>
          <p:nvPr/>
        </p:nvSpPr>
        <p:spPr>
          <a:xfrm rot="-2700850">
            <a:off x="16601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Verb: present tense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 rot="-2700850">
            <a:off x="25745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 rot="-2700850">
            <a:off x="35651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Adjective: superlative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 rot="-2700850">
            <a:off x="44795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Noun: plural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 rot="-2700850">
            <a:off x="53939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Preposition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 rot="-2700850">
            <a:off x="63083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 noun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 rot="-2700850">
            <a:off x="7298977" y="2375910"/>
            <a:ext cx="1716148" cy="369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Terminator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8775" y="258417"/>
            <a:ext cx="5017775" cy="457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00" name="Google Shape;2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368400" y="2088825"/>
            <a:ext cx="176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noun phrase is what the query is 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18"/>
          <p:cNvCxnSpPr/>
          <p:nvPr/>
        </p:nvCxnSpPr>
        <p:spPr>
          <a:xfrm rot="10800000">
            <a:off x="6740500" y="2496925"/>
            <a:ext cx="627900" cy="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18"/>
          <p:cNvSpPr txBox="1"/>
          <p:nvPr/>
        </p:nvSpPr>
        <p:spPr>
          <a:xfrm>
            <a:off x="7368400" y="2874742"/>
            <a:ext cx="1761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prepositional phrase modifies “cities” by specifying a </a:t>
            </a:r>
            <a:r>
              <a:rPr b="1" i="0" lang="en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1" i="0" sz="14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18"/>
          <p:cNvCxnSpPr/>
          <p:nvPr/>
        </p:nvCxnSpPr>
        <p:spPr>
          <a:xfrm rot="10800000">
            <a:off x="6740500" y="3182725"/>
            <a:ext cx="627900" cy="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18"/>
          <p:cNvSpPr txBox="1"/>
          <p:nvPr/>
        </p:nvSpPr>
        <p:spPr>
          <a:xfrm>
            <a:off x="3954692" y="4312200"/>
            <a:ext cx="176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noun is the </a:t>
            </a:r>
            <a:r>
              <a:rPr b="1" i="0" lang="en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thing we’re asking 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565442" y="2734206"/>
            <a:ext cx="136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tells us that we have a “what”-type question.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8"/>
          <p:cNvCxnSpPr/>
          <p:nvPr/>
        </p:nvCxnSpPr>
        <p:spPr>
          <a:xfrm flipH="1" rot="10800000">
            <a:off x="1665650" y="2088200"/>
            <a:ext cx="713400" cy="738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18"/>
          <p:cNvCxnSpPr/>
          <p:nvPr/>
        </p:nvCxnSpPr>
        <p:spPr>
          <a:xfrm flipH="1" rot="10800000">
            <a:off x="4827525" y="4148975"/>
            <a:ext cx="161400" cy="309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18"/>
          <p:cNvSpPr txBox="1"/>
          <p:nvPr/>
        </p:nvSpPr>
        <p:spPr>
          <a:xfrm>
            <a:off x="2114425" y="4225517"/>
            <a:ext cx="176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adjective modifies “cities” by specifying a </a:t>
            </a:r>
            <a:r>
              <a:rPr b="1" i="0" lang="en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endParaRPr b="1" i="0" sz="1400" u="none" cap="none" strike="noStrik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8"/>
          <p:cNvCxnSpPr/>
          <p:nvPr/>
        </p:nvCxnSpPr>
        <p:spPr>
          <a:xfrm flipH="1" rot="10800000">
            <a:off x="3456675" y="4138750"/>
            <a:ext cx="672000" cy="363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18"/>
          <p:cNvSpPr txBox="1"/>
          <p:nvPr/>
        </p:nvSpPr>
        <p:spPr>
          <a:xfrm>
            <a:off x="100950" y="92775"/>
            <a:ext cx="2019000" cy="14931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Parsing the request to determine the meaning of the user’s question</a:t>
            </a:r>
            <a:endParaRPr b="1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90"/>
              <a:buFont typeface="Calibri"/>
              <a:buNone/>
            </a:pPr>
            <a:r>
              <a:rPr lang="en" sz="2220"/>
              <a:t>Creating a database search request that reflects the user’s intent</a:t>
            </a:r>
            <a:endParaRPr sz="2220"/>
          </a:p>
        </p:txBody>
      </p:sp>
      <p:sp>
        <p:nvSpPr>
          <p:cNvPr id="217" name="Google Shape;217;p19"/>
          <p:cNvSpPr txBox="1"/>
          <p:nvPr>
            <p:ph idx="1" type="body"/>
          </p:nvPr>
        </p:nvSpPr>
        <p:spPr>
          <a:xfrm>
            <a:off x="311700" y="1140163"/>
            <a:ext cx="85206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query generator knows that the “size” of a city most often refers to its population size. It creates the following query: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“Find cities where population size of city is large and location of city is Georgia.”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18" name="Google Shape;2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2308400" y="2715000"/>
            <a:ext cx="5282400" cy="173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FIND x WHERE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  class(x) = “city” AND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  population_size(x) is large AND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  location(x) = “Georgia”</a:t>
            </a:r>
            <a:b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SORT BY population_size</a:t>
            </a:r>
            <a:endParaRPr b="0" i="0" sz="1400" u="none" cap="none" strike="noStrike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59"/>
              <a:buFont typeface="Calibri"/>
              <a:buNone/>
            </a:pPr>
            <a:r>
              <a:rPr lang="en"/>
              <a:t>Google’s Response</a:t>
            </a:r>
            <a:br>
              <a:rPr lang="en"/>
            </a:br>
            <a:r>
              <a:rPr lang="en" sz="1577"/>
              <a:t>What are the largest cities in Georgia?</a:t>
            </a:r>
            <a:endParaRPr sz="1577"/>
          </a:p>
        </p:txBody>
      </p:sp>
      <p:sp>
        <p:nvSpPr>
          <p:cNvPr id="225" name="Google Shape;2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7781" y="0"/>
            <a:ext cx="44508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398475" y="1213425"/>
            <a:ext cx="3819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Specialized Google Response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results of cities ordered by population sizes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captured from a website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people also 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list of websites with relevant content based on keywords “largest cities in Georgia”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20"/>
          <p:cNvCxnSpPr/>
          <p:nvPr/>
        </p:nvCxnSpPr>
        <p:spPr>
          <a:xfrm flipH="1" rot="10800000">
            <a:off x="3932125" y="1213325"/>
            <a:ext cx="888900" cy="315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20"/>
          <p:cNvCxnSpPr/>
          <p:nvPr/>
        </p:nvCxnSpPr>
        <p:spPr>
          <a:xfrm flipH="1" rot="10800000">
            <a:off x="2634275" y="2797800"/>
            <a:ext cx="2124600" cy="172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20"/>
          <p:cNvCxnSpPr/>
          <p:nvPr/>
        </p:nvCxnSpPr>
        <p:spPr>
          <a:xfrm flipH="1" rot="10800000">
            <a:off x="3363775" y="2038950"/>
            <a:ext cx="1413600" cy="456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20"/>
          <p:cNvCxnSpPr/>
          <p:nvPr/>
        </p:nvCxnSpPr>
        <p:spPr>
          <a:xfrm>
            <a:off x="3403375" y="2518875"/>
            <a:ext cx="1422300" cy="1067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20"/>
          <p:cNvCxnSpPr/>
          <p:nvPr/>
        </p:nvCxnSpPr>
        <p:spPr>
          <a:xfrm>
            <a:off x="3576425" y="3691775"/>
            <a:ext cx="1182600" cy="63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rPr lang="en"/>
              <a:t>Google has specialized modules for handling some common types of queries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4276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 txBox="1"/>
          <p:nvPr>
            <p:ph idx="1" type="body"/>
          </p:nvPr>
        </p:nvSpPr>
        <p:spPr>
          <a:xfrm>
            <a:off x="311700" y="1536200"/>
            <a:ext cx="8520600" cy="30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Unit conversions (measurements, currencies, distance, time)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Weather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Airline, train, and bus schedules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Restaurant hours, locations, phone numbers, websites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Movie showtimes and locations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Biographical information about famous people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39" name="Google Shape;23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47a04244d5_1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None/>
            </a:pPr>
            <a:r>
              <a:rPr lang="en"/>
              <a:t>Lesson Recap Activity</a:t>
            </a:r>
            <a:endParaRPr/>
          </a:p>
        </p:txBody>
      </p:sp>
      <p:sp>
        <p:nvSpPr>
          <p:cNvPr id="245" name="Google Shape;245;g147a04244d5_1_6"/>
          <p:cNvSpPr txBox="1"/>
          <p:nvPr>
            <p:ph idx="1" type="body"/>
          </p:nvPr>
        </p:nvSpPr>
        <p:spPr>
          <a:xfrm>
            <a:off x="366850" y="1209525"/>
            <a:ext cx="85206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Complete the assignment using Google:  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Search Activity</a:t>
            </a:r>
            <a:endParaRPr/>
          </a:p>
        </p:txBody>
      </p:sp>
      <p:sp>
        <p:nvSpPr>
          <p:cNvPr id="246" name="Google Shape;246;g147a04244d5_1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7" name="Google Shape;247;g147a04244d5_1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1738" y="2264725"/>
            <a:ext cx="3606767" cy="23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sis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Betia Bentley</dc:creator>
</cp:coreProperties>
</file>