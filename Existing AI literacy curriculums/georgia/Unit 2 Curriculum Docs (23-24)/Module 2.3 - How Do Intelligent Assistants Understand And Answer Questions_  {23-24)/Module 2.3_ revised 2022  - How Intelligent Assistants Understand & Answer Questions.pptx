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Helvetica Neue"/>
      <p:regular r:id="rId20"/>
      <p:bold r:id="rId21"/>
      <p:italic r:id="rId22"/>
      <p:boldItalic r:id="rId23"/>
    </p:embeddedFont>
    <p:embeddedFont>
      <p:font typeface="Merriweath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regular.fntdata"/><Relationship Id="rId22" Type="http://schemas.openxmlformats.org/officeDocument/2006/relationships/font" Target="fonts/HelveticaNeue-italic.fntdata"/><Relationship Id="rId21" Type="http://schemas.openxmlformats.org/officeDocument/2006/relationships/font" Target="fonts/HelveticaNeue-bold.fntdata"/><Relationship Id="rId24" Type="http://schemas.openxmlformats.org/officeDocument/2006/relationships/font" Target="fonts/Merriweather-regular.fntdata"/><Relationship Id="rId23" Type="http://schemas.openxmlformats.org/officeDocument/2006/relationships/font" Target="fonts/HelveticaNeue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italic.fntdata"/><Relationship Id="rId25" Type="http://schemas.openxmlformats.org/officeDocument/2006/relationships/font" Target="fonts/Merriweather-bold.fntdata"/><Relationship Id="rId27" Type="http://schemas.openxmlformats.org/officeDocument/2006/relationships/font" Target="fonts/Merriweath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document/d/1Ah-txCne_CMkeyBscgJmR4ns5f3KWh4J_b3Jr7_lgIc/edit?usp=sharing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c2c9e04d6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c2c9e04d6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1bd774dcd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1bd774dc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To Do: Convert this to a worksheet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Goal: We want to create queries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Draft of student activity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45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Google knows about a bunch of different types of queries (uses specialized reasoning engines - use different techniques to understand the query, if they don’t understand than they do keyword search)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Here are some query engines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Definition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Current Information modules (Time,  weather, temperatures, movie schedules, bus schedules, train schedules, flights)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Conversions (units, currencies, distance, time)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Restaurant reservations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Flights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Facts - Knowledge graph queries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Note: some of these modules have a way of failing -&gt; perhaps there is a typo 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Google has thousands of engineers trying to salvaging it.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Knowledge boxes, knowledge panels or similar queries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Otherwise a generic keyword search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Student Activities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Sentence -&gt; formula -&gt; module computes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Convert 5 feets to ? meters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Ask a non-sensical questions - COnvert 5 feet to years - suggests a corrections for years to yards and then when you force it then it sends generic information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Show a schema related to one of the project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02122"/>
                </a:solidFill>
                <a:highlight>
                  <a:srgbClr val="FFFFFF"/>
                </a:highlight>
              </a:rPr>
              <a:t>Explore Schemas (Part of the deeper dive)</a:t>
            </a:r>
            <a:endParaRPr b="1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-6985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Schema.org - restaurants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Teacher Note: Let’s look at the 3rd step in this process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Teacher Note: To process the query we have to parse it. The first step is to break the sentence down into words and separate out punctuation.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Vocab parse - understand it’s syntactic structure. Understand what role each word plays in the sentence.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This slide is for informational purposes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Teacher Note: Next we want to assign a part of speech to every word. This is called part of speech tagging.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Teacher Note: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Teacher Note: If we were to change the meaning of the query, Google will return a different set of responses.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Teacher Note: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47a04244d5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147a04244d5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hyperlink" Target="https://creativecommons.org/licenses/by-nc-sa/4.0/" TargetMode="External"/><Relationship Id="rId6" Type="http://schemas.openxmlformats.org/officeDocument/2006/relationships/image" Target="../media/image11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gif"/><Relationship Id="rId4" Type="http://schemas.openxmlformats.org/officeDocument/2006/relationships/image" Target="../media/image8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evelopers.google.com/search/docs/basics/how-search-works" TargetMode="External"/><Relationship Id="rId4" Type="http://schemas.openxmlformats.org/officeDocument/2006/relationships/hyperlink" Target="https://docs.google.com/document/d/1Ah-txCne_CMkeyBscgJmR4ns5f3KWh4J_b3Jr7_lgIc/edit?usp=sharing" TargetMode="External"/><Relationship Id="rId5" Type="http://schemas.openxmlformats.org/officeDocument/2006/relationships/image" Target="../media/image7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ocs.google.com/document/d/1kJc_p3VSHCwBaB2AckM715gN8m66bIHrDe-GyEqkwb0/edit?usp=sharing" TargetMode="Externa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156750" y="733775"/>
            <a:ext cx="6987300" cy="1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Module 2.3</a:t>
            </a:r>
            <a:endParaRPr sz="2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5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How Do Intelligent Assistants Understand &amp; Answer Questions</a:t>
            </a:r>
            <a:endParaRPr sz="2355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5" y="4552275"/>
            <a:ext cx="1375825" cy="4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25" y="237362"/>
            <a:ext cx="1979932" cy="23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558900" y="237350"/>
            <a:ext cx="7447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89D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Living and Working with Artificial Intelligence</a:t>
            </a:r>
            <a:endParaRPr b="1" sz="2600">
              <a:solidFill>
                <a:srgbClr val="F89D7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377450" y="4491585"/>
            <a:ext cx="90531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Developed for the AI4GA (Artificial Intelligence for Georgia) project funded by National Science Foundation awards DRL-2049029 and DRL-2048502.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This work is licensed under the Creative Commons. Attribution-NonCommercial-ShareAlike 4.0 International License. </a:t>
            </a:r>
            <a:r>
              <a:rPr b="1" lang="en" sz="900" u="sng">
                <a:solidFill>
                  <a:srgbClr val="0097A7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59" name="Google Shape;5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99161" y="2040080"/>
            <a:ext cx="3502465" cy="233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311700" y="354600"/>
            <a:ext cx="462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Learning Objectives</a:t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1"/>
                </a:solidFill>
              </a:rPr>
              <a:t>Students should be able to: </a:t>
            </a:r>
            <a:endParaRPr i="1"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Explain what a parse tree is, and list some parts of speech.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Describe different types of queries that Google can answer.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11"/>
              <a:buFont typeface="Calibri"/>
              <a:buNone/>
            </a:pPr>
            <a:r>
              <a:rPr lang="en"/>
              <a:t>Overview of Topics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09562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8888"/>
              <a:buChar char="●"/>
            </a:pPr>
            <a:r>
              <a:rPr lang="en"/>
              <a:t>Question Answering</a:t>
            </a:r>
            <a:endParaRPr/>
          </a:p>
          <a:p>
            <a:pPr indent="-309562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88888"/>
              <a:buChar char="●"/>
            </a:pPr>
            <a:r>
              <a:rPr lang="en"/>
              <a:t>Representation for the questions - Berkeley Neural Parser</a:t>
            </a:r>
            <a:endParaRPr/>
          </a:p>
          <a:p>
            <a:pPr indent="-309562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88888"/>
              <a:buChar char="●"/>
            </a:pPr>
            <a:r>
              <a:rPr lang="en"/>
              <a:t>Parts of speech: nouns, verbs, prepositions </a:t>
            </a:r>
            <a:endParaRPr/>
          </a:p>
          <a:p>
            <a:pPr indent="-309562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88888"/>
              <a:buChar char="●"/>
            </a:pPr>
            <a:r>
              <a:rPr lang="en"/>
              <a:t>Syntactic relationships</a:t>
            </a:r>
            <a:endParaRPr/>
          </a:p>
          <a:p>
            <a:pPr indent="-309562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88888"/>
              <a:buChar char="●"/>
            </a:pPr>
            <a:r>
              <a:rPr lang="en"/>
              <a:t>How BNP works - Not a purely syntactic parser it uses meaning of words and statistics</a:t>
            </a:r>
            <a:endParaRPr/>
          </a:p>
          <a:p>
            <a:pPr indent="-309562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88888"/>
              <a:buChar char="●"/>
            </a:pPr>
            <a:r>
              <a:rPr lang="en"/>
              <a:t>Semantic parsing</a:t>
            </a:r>
            <a:endParaRPr/>
          </a:p>
          <a:p>
            <a:pPr indent="-309562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88888"/>
              <a:buChar char="●"/>
            </a:pPr>
            <a:r>
              <a:rPr lang="en"/>
              <a:t>Sources of knowledge</a:t>
            </a:r>
            <a:endParaRPr/>
          </a:p>
          <a:p>
            <a:pPr indent="-309562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88888"/>
              <a:buChar char="●"/>
            </a:pPr>
            <a:r>
              <a:rPr lang="en"/>
              <a:t>Limitation: Systems are a collection of techniques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6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</a:rPr>
              <a:t>‹#›</a:t>
            </a:fld>
            <a:endParaRPr sz="1000">
              <a:solidFill>
                <a:schemeClr val="dk2"/>
              </a:solidFill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8797" y="371888"/>
            <a:ext cx="2123661" cy="2123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158027" y="1501267"/>
            <a:ext cx="8813693" cy="11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5262"/>
              <a:buFont typeface="Calibri"/>
              <a:buNone/>
            </a:pPr>
            <a:r>
              <a:rPr i="1" lang="en" sz="3800"/>
              <a:t>How do you think Google understands and</a:t>
            </a:r>
            <a:endParaRPr i="1" sz="3800"/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5262"/>
              <a:buFont typeface="Calibri"/>
              <a:buNone/>
            </a:pPr>
            <a:r>
              <a:rPr i="1" lang="en" sz="3800"/>
              <a:t> answers questions?</a:t>
            </a:r>
            <a:endParaRPr i="1" sz="4600"/>
          </a:p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</a:rPr>
              <a:t>‹#›</a:t>
            </a:fld>
            <a:endParaRPr sz="1000">
              <a:solidFill>
                <a:schemeClr val="dk2"/>
              </a:solidFill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158028" y="3095550"/>
            <a:ext cx="8813693" cy="644700"/>
          </a:xfrm>
          <a:prstGeom prst="rect">
            <a:avLst/>
          </a:prstGeom>
          <a:solidFill>
            <a:srgbClr val="F89D77">
              <a:alpha val="455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Discussion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7750" y="331304"/>
            <a:ext cx="1005342" cy="1256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0196" y="3809453"/>
            <a:ext cx="1124778" cy="1029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6300"/>
              <a:buFont typeface="Arial"/>
              <a:buNone/>
            </a:pPr>
            <a:r>
              <a:rPr lang="en"/>
              <a:t>Google Query Scavenger Hunt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63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1111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284517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1048"/>
              <a:buAutoNum type="arabicPeriod"/>
            </a:pPr>
            <a:r>
              <a:rPr b="1" lang="en"/>
              <a:t>Units conversion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07271"/>
              <a:buNone/>
            </a:pPr>
            <a:r>
              <a:rPr lang="en"/>
              <a:t>Ask Google: “Convert 5 Dollars to Euros” or</a:t>
            </a:r>
            <a:r>
              <a:rPr lang="en">
                <a:solidFill>
                  <a:schemeClr val="dk1"/>
                </a:solidFill>
              </a:rPr>
              <a:t> “Convert 5 Miles to Kilometers”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07271"/>
              <a:buNone/>
            </a:pPr>
            <a:r>
              <a:rPr lang="en"/>
              <a:t>Pick your own conversion problem: ____________________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07271"/>
              <a:buNone/>
            </a:pPr>
            <a:r>
              <a:rPr lang="en"/>
              <a:t>What does Google return?_____________</a:t>
            </a:r>
            <a:endParaRPr/>
          </a:p>
          <a:p>
            <a:pPr indent="-284517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1048"/>
              <a:buAutoNum type="arabicPeriod"/>
            </a:pPr>
            <a:r>
              <a:rPr b="1" lang="en"/>
              <a:t>Facts about famous people or places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07271"/>
              <a:buNone/>
            </a:pPr>
            <a:r>
              <a:rPr lang="en"/>
              <a:t>Where was </a:t>
            </a:r>
            <a:r>
              <a:rPr i="1" lang="en" u="sng"/>
              <a:t>famous person </a:t>
            </a:r>
            <a:r>
              <a:rPr lang="en"/>
              <a:t>born?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07271"/>
              <a:buNone/>
            </a:pPr>
            <a:r>
              <a:rPr lang="en">
                <a:solidFill>
                  <a:schemeClr val="dk1"/>
                </a:solidFill>
              </a:rPr>
              <a:t>Pick your own fact: ____________________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07271"/>
              <a:buNone/>
            </a:pPr>
            <a:r>
              <a:rPr lang="en">
                <a:solidFill>
                  <a:schemeClr val="dk1"/>
                </a:solidFill>
              </a:rPr>
              <a:t>What does Google return?_____________</a:t>
            </a:r>
            <a:endParaRPr/>
          </a:p>
          <a:p>
            <a:pPr indent="-284517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1048"/>
              <a:buAutoNum type="arabicPeriod"/>
            </a:pPr>
            <a:r>
              <a:rPr lang="en"/>
              <a:t>Look up restaurant hours</a:t>
            </a:r>
            <a:endParaRPr/>
          </a:p>
          <a:p>
            <a:pPr indent="-284517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1048"/>
              <a:buAutoNum type="arabicPeriod"/>
            </a:pPr>
            <a:r>
              <a:rPr lang="en"/>
              <a:t>Look up weather</a:t>
            </a:r>
            <a:endParaRPr/>
          </a:p>
          <a:p>
            <a:pPr indent="-284517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1048"/>
              <a:buAutoNum type="arabicPeriod"/>
            </a:pPr>
            <a:r>
              <a:rPr lang="en"/>
              <a:t>Look up airline flights, bus, or train schedules</a:t>
            </a:r>
            <a:endParaRPr/>
          </a:p>
          <a:p>
            <a:pPr indent="-284517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1048"/>
              <a:buAutoNum type="arabicPeriod"/>
            </a:pPr>
            <a:r>
              <a:rPr lang="en"/>
              <a:t>Word definitions: define “craven”</a:t>
            </a:r>
            <a:endParaRPr/>
          </a:p>
          <a:p>
            <a:pPr indent="-284517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1048"/>
              <a:buAutoNum type="arabicPeriod"/>
            </a:pPr>
            <a:r>
              <a:rPr lang="en"/>
              <a:t>Movie times</a:t>
            </a:r>
            <a:endParaRPr/>
          </a:p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</a:rPr>
              <a:t>‹#›</a:t>
            </a:fld>
            <a:endParaRPr sz="1000">
              <a:solidFill>
                <a:schemeClr val="dk2"/>
              </a:solidFill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6368150" y="489850"/>
            <a:ext cx="2521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https://developers.google.com/search/docs/basics/how-search-works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6712225" y="1596500"/>
            <a:ext cx="2214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Link to student assignment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15339" y="2127210"/>
            <a:ext cx="2746059" cy="2746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8623" y="617055"/>
            <a:ext cx="1260577" cy="126057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Font typeface="Calibri"/>
              <a:buNone/>
            </a:pPr>
            <a:r>
              <a:rPr lang="en"/>
              <a:t>Let’s explore how Google might make sense of these queries.</a:t>
            </a:r>
            <a:endParaRPr/>
          </a:p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</a:rPr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2150850"/>
            <a:ext cx="8520600" cy="24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90"/>
              <a:buFont typeface="Calibri"/>
              <a:buNone/>
            </a:pPr>
            <a:r>
              <a:rPr lang="en" sz="2540"/>
              <a:t>Processing the Query:</a:t>
            </a:r>
            <a:endParaRPr sz="2540"/>
          </a:p>
          <a:p>
            <a:pPr indent="-38989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40"/>
              <a:buFont typeface="Calibri"/>
              <a:buAutoNum type="arabicPeriod"/>
            </a:pPr>
            <a:r>
              <a:rPr lang="en" sz="2540"/>
              <a:t>Tokenizing - Breaking the sentence into words and punctuation</a:t>
            </a:r>
            <a:endParaRPr sz="2540"/>
          </a:p>
          <a:p>
            <a:pPr indent="-38989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40"/>
              <a:buFont typeface="Calibri"/>
              <a:buAutoNum type="arabicPeriod"/>
            </a:pPr>
            <a:r>
              <a:rPr lang="en" sz="2540"/>
              <a:t>Part of speech tagging </a:t>
            </a:r>
            <a:endParaRPr sz="2540"/>
          </a:p>
          <a:p>
            <a:pPr indent="-38989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40"/>
              <a:buAutoNum type="arabicPeriod"/>
            </a:pPr>
            <a:r>
              <a:rPr lang="en" sz="2540"/>
              <a:t>Parsing the request to determine the meaning of the user’s question</a:t>
            </a:r>
            <a:endParaRPr sz="2540"/>
          </a:p>
          <a:p>
            <a:pPr indent="-38989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40"/>
              <a:buFont typeface="Calibri"/>
              <a:buAutoNum type="arabicPeriod"/>
            </a:pPr>
            <a:r>
              <a:rPr lang="en" sz="2540"/>
              <a:t>Creating a search request that reflects the user’s intent</a:t>
            </a:r>
            <a:endParaRPr sz="2540"/>
          </a:p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</a:rPr>
              <a:t>‹#›</a:t>
            </a:fld>
            <a:endParaRPr sz="1000">
              <a:solidFill>
                <a:schemeClr val="dk2"/>
              </a:solidFill>
            </a:endParaRPr>
          </a:p>
        </p:txBody>
      </p:sp>
      <p:pic>
        <p:nvPicPr>
          <p:cNvPr id="107" name="Google Shape;10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64627" y="427594"/>
            <a:ext cx="1680754" cy="2100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11"/>
              <a:buFont typeface="Calibri"/>
              <a:buNone/>
            </a:pPr>
            <a:r>
              <a:rPr lang="en"/>
              <a:t>Tokenizing the Query</a:t>
            </a:r>
            <a:endParaRPr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Ask Google: “What are the largest cities in Georgia?”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Break the sentence down into words and separate out punctuation.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</a:rPr>
              <a:t>‹#›</a:t>
            </a:fld>
            <a:endParaRPr sz="1000">
              <a:solidFill>
                <a:schemeClr val="dk2"/>
              </a:solidFill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790400" y="3882500"/>
            <a:ext cx="804000" cy="4002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1704800" y="3882500"/>
            <a:ext cx="804000" cy="4002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2619200" y="3882500"/>
            <a:ext cx="804000" cy="4002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3533600" y="3882500"/>
            <a:ext cx="804000" cy="4002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largest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4448000" y="3882500"/>
            <a:ext cx="804000" cy="4002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cities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5362400" y="3882500"/>
            <a:ext cx="804000" cy="4002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6276800" y="3882500"/>
            <a:ext cx="908100" cy="4002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Georgia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7290400" y="3882500"/>
            <a:ext cx="732600" cy="4002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11"/>
              <a:buFont typeface="Calibri"/>
              <a:buNone/>
            </a:pPr>
            <a:r>
              <a:rPr lang="en"/>
              <a:t>Part of Speech Tagging</a:t>
            </a:r>
            <a:endParaRPr/>
          </a:p>
        </p:txBody>
      </p:sp>
      <p:sp>
        <p:nvSpPr>
          <p:cNvPr id="128" name="Google Shape;128;p21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Assign a part of speech to each word.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29" name="Google Shape;12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</a:rPr>
              <a:t>‹#›</a:t>
            </a:fld>
            <a:endParaRPr sz="1000">
              <a:solidFill>
                <a:schemeClr val="dk2"/>
              </a:solidFill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790400" y="3882500"/>
            <a:ext cx="804000" cy="4002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1704800" y="3882500"/>
            <a:ext cx="804000" cy="4002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2619200" y="3882500"/>
            <a:ext cx="804000" cy="4002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3533600" y="3882500"/>
            <a:ext cx="804000" cy="4002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largest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4448000" y="3882500"/>
            <a:ext cx="804000" cy="4002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cities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1"/>
          <p:cNvSpPr txBox="1"/>
          <p:nvPr/>
        </p:nvSpPr>
        <p:spPr>
          <a:xfrm>
            <a:off x="5362400" y="3882500"/>
            <a:ext cx="804000" cy="4002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1"/>
          <p:cNvSpPr txBox="1"/>
          <p:nvPr/>
        </p:nvSpPr>
        <p:spPr>
          <a:xfrm>
            <a:off x="6276800" y="3882500"/>
            <a:ext cx="908100" cy="4002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Georgia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1"/>
          <p:cNvSpPr txBox="1"/>
          <p:nvPr/>
        </p:nvSpPr>
        <p:spPr>
          <a:xfrm>
            <a:off x="7290400" y="3882500"/>
            <a:ext cx="732600" cy="4002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790400" y="3196700"/>
            <a:ext cx="804000" cy="4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1704800" y="3196700"/>
            <a:ext cx="804000" cy="4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VBP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2619200" y="3196700"/>
            <a:ext cx="804000" cy="4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3533600" y="3196700"/>
            <a:ext cx="804000" cy="4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1"/>
          <p:cNvSpPr txBox="1"/>
          <p:nvPr/>
        </p:nvSpPr>
        <p:spPr>
          <a:xfrm>
            <a:off x="4448000" y="3196700"/>
            <a:ext cx="804000" cy="4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5362400" y="3196700"/>
            <a:ext cx="804000" cy="4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1"/>
          <p:cNvSpPr txBox="1"/>
          <p:nvPr/>
        </p:nvSpPr>
        <p:spPr>
          <a:xfrm>
            <a:off x="6276800" y="3196700"/>
            <a:ext cx="908100" cy="4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NNP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1"/>
          <p:cNvSpPr txBox="1"/>
          <p:nvPr/>
        </p:nvSpPr>
        <p:spPr>
          <a:xfrm>
            <a:off x="7290400" y="3196700"/>
            <a:ext cx="732600" cy="4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" name="Google Shape;146;p21"/>
          <p:cNvCxnSpPr>
            <a:stCxn id="138" idx="2"/>
            <a:endCxn id="130" idx="0"/>
          </p:cNvCxnSpPr>
          <p:nvPr/>
        </p:nvCxnSpPr>
        <p:spPr>
          <a:xfrm>
            <a:off x="1192400" y="3596900"/>
            <a:ext cx="0" cy="2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" name="Google Shape;147;p21"/>
          <p:cNvCxnSpPr>
            <a:stCxn id="139" idx="2"/>
            <a:endCxn id="131" idx="0"/>
          </p:cNvCxnSpPr>
          <p:nvPr/>
        </p:nvCxnSpPr>
        <p:spPr>
          <a:xfrm>
            <a:off x="2106800" y="3596900"/>
            <a:ext cx="0" cy="2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p21"/>
          <p:cNvCxnSpPr>
            <a:stCxn id="140" idx="2"/>
            <a:endCxn id="132" idx="0"/>
          </p:cNvCxnSpPr>
          <p:nvPr/>
        </p:nvCxnSpPr>
        <p:spPr>
          <a:xfrm>
            <a:off x="3021200" y="3596900"/>
            <a:ext cx="0" cy="2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" name="Google Shape;149;p21"/>
          <p:cNvCxnSpPr>
            <a:stCxn id="141" idx="2"/>
            <a:endCxn id="133" idx="0"/>
          </p:cNvCxnSpPr>
          <p:nvPr/>
        </p:nvCxnSpPr>
        <p:spPr>
          <a:xfrm>
            <a:off x="3935600" y="3596900"/>
            <a:ext cx="0" cy="2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21"/>
          <p:cNvCxnSpPr>
            <a:stCxn id="142" idx="2"/>
            <a:endCxn id="134" idx="0"/>
          </p:cNvCxnSpPr>
          <p:nvPr/>
        </p:nvCxnSpPr>
        <p:spPr>
          <a:xfrm>
            <a:off x="4850000" y="3596900"/>
            <a:ext cx="0" cy="2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21"/>
          <p:cNvCxnSpPr>
            <a:stCxn id="143" idx="2"/>
            <a:endCxn id="135" idx="0"/>
          </p:cNvCxnSpPr>
          <p:nvPr/>
        </p:nvCxnSpPr>
        <p:spPr>
          <a:xfrm>
            <a:off x="5764400" y="3596900"/>
            <a:ext cx="0" cy="2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21"/>
          <p:cNvCxnSpPr>
            <a:stCxn id="144" idx="2"/>
            <a:endCxn id="136" idx="0"/>
          </p:cNvCxnSpPr>
          <p:nvPr/>
        </p:nvCxnSpPr>
        <p:spPr>
          <a:xfrm>
            <a:off x="6730850" y="3596900"/>
            <a:ext cx="0" cy="2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21"/>
          <p:cNvCxnSpPr>
            <a:stCxn id="145" idx="2"/>
            <a:endCxn id="137" idx="0"/>
          </p:cNvCxnSpPr>
          <p:nvPr/>
        </p:nvCxnSpPr>
        <p:spPr>
          <a:xfrm>
            <a:off x="7656700" y="3596900"/>
            <a:ext cx="0" cy="2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21"/>
          <p:cNvSpPr txBox="1"/>
          <p:nvPr/>
        </p:nvSpPr>
        <p:spPr>
          <a:xfrm rot="-2700509">
            <a:off x="711185" y="2476269"/>
            <a:ext cx="1432528" cy="3695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WH-pronoun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1"/>
          <p:cNvSpPr txBox="1"/>
          <p:nvPr/>
        </p:nvSpPr>
        <p:spPr>
          <a:xfrm rot="-2700850">
            <a:off x="1660177" y="2375910"/>
            <a:ext cx="1716148" cy="3695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Verb: present tense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1"/>
          <p:cNvSpPr txBox="1"/>
          <p:nvPr/>
        </p:nvSpPr>
        <p:spPr>
          <a:xfrm rot="-2700850">
            <a:off x="2574577" y="2375910"/>
            <a:ext cx="1716148" cy="3695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Determiner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1"/>
          <p:cNvSpPr txBox="1"/>
          <p:nvPr/>
        </p:nvSpPr>
        <p:spPr>
          <a:xfrm rot="-2700850">
            <a:off x="3565177" y="2375910"/>
            <a:ext cx="1716148" cy="3695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Adjective: superlative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1"/>
          <p:cNvSpPr txBox="1"/>
          <p:nvPr/>
        </p:nvSpPr>
        <p:spPr>
          <a:xfrm rot="-2700850">
            <a:off x="4479577" y="2375910"/>
            <a:ext cx="1716148" cy="3695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Noun: plural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1"/>
          <p:cNvSpPr txBox="1"/>
          <p:nvPr/>
        </p:nvSpPr>
        <p:spPr>
          <a:xfrm rot="-2700850">
            <a:off x="5393977" y="2375910"/>
            <a:ext cx="1716148" cy="3695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Preposition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1"/>
          <p:cNvSpPr txBox="1"/>
          <p:nvPr/>
        </p:nvSpPr>
        <p:spPr>
          <a:xfrm rot="-2700850">
            <a:off x="6308377" y="2375910"/>
            <a:ext cx="1716148" cy="3695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Proper noun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1"/>
          <p:cNvSpPr txBox="1"/>
          <p:nvPr/>
        </p:nvSpPr>
        <p:spPr>
          <a:xfrm rot="-2700850">
            <a:off x="7298977" y="2375910"/>
            <a:ext cx="1716148" cy="3695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Terminator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8775" y="258417"/>
            <a:ext cx="5017775" cy="457331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11"/>
              <a:buFont typeface="Calibri"/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168" name="Google Shape;16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</a:rPr>
              <a:t>‹#›</a:t>
            </a:fld>
            <a:endParaRPr sz="1000">
              <a:solidFill>
                <a:schemeClr val="dk2"/>
              </a:solidFill>
            </a:endParaRPr>
          </a:p>
        </p:txBody>
      </p:sp>
      <p:sp>
        <p:nvSpPr>
          <p:cNvPr id="169" name="Google Shape;169;p22"/>
          <p:cNvSpPr txBox="1"/>
          <p:nvPr/>
        </p:nvSpPr>
        <p:spPr>
          <a:xfrm>
            <a:off x="7368400" y="2088825"/>
            <a:ext cx="1761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noun phrase is what the query is about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22"/>
          <p:cNvCxnSpPr/>
          <p:nvPr/>
        </p:nvCxnSpPr>
        <p:spPr>
          <a:xfrm rot="10800000">
            <a:off x="6740500" y="2496925"/>
            <a:ext cx="627900" cy="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1" name="Google Shape;171;p22"/>
          <p:cNvSpPr txBox="1"/>
          <p:nvPr/>
        </p:nvSpPr>
        <p:spPr>
          <a:xfrm>
            <a:off x="7368400" y="2874742"/>
            <a:ext cx="176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prepositional phrase modifies “cities” by specifying a </a:t>
            </a:r>
            <a:r>
              <a:rPr b="1" i="0" lang="en" sz="1400" u="none" cap="none" strike="noStrike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location</a:t>
            </a:r>
            <a:endParaRPr b="1" i="0" sz="1400" u="none" cap="none" strike="noStrike">
              <a:solidFill>
                <a:srgbClr val="98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" name="Google Shape;172;p22"/>
          <p:cNvCxnSpPr/>
          <p:nvPr/>
        </p:nvCxnSpPr>
        <p:spPr>
          <a:xfrm rot="10800000">
            <a:off x="6740500" y="3182725"/>
            <a:ext cx="627900" cy="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3" name="Google Shape;173;p22"/>
          <p:cNvSpPr txBox="1"/>
          <p:nvPr/>
        </p:nvSpPr>
        <p:spPr>
          <a:xfrm>
            <a:off x="3954692" y="4312200"/>
            <a:ext cx="1761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noun is the </a:t>
            </a:r>
            <a:r>
              <a:rPr b="1" i="0" lang="en" sz="1400" u="none" cap="none" strike="noStrike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thing we’re asking about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2"/>
          <p:cNvSpPr txBox="1"/>
          <p:nvPr/>
        </p:nvSpPr>
        <p:spPr>
          <a:xfrm>
            <a:off x="565442" y="2734206"/>
            <a:ext cx="1368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tells us that we have a “what”-type question.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" name="Google Shape;175;p22"/>
          <p:cNvCxnSpPr/>
          <p:nvPr/>
        </p:nvCxnSpPr>
        <p:spPr>
          <a:xfrm flipH="1" rot="10800000">
            <a:off x="1665650" y="2088200"/>
            <a:ext cx="713400" cy="7383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6" name="Google Shape;176;p22"/>
          <p:cNvCxnSpPr/>
          <p:nvPr/>
        </p:nvCxnSpPr>
        <p:spPr>
          <a:xfrm flipH="1" rot="10800000">
            <a:off x="4827525" y="4148975"/>
            <a:ext cx="161400" cy="3093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7" name="Google Shape;177;p22"/>
          <p:cNvSpPr txBox="1"/>
          <p:nvPr/>
        </p:nvSpPr>
        <p:spPr>
          <a:xfrm>
            <a:off x="2114425" y="4225517"/>
            <a:ext cx="1761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adjective modifies “cities” by specifying a </a:t>
            </a:r>
            <a:r>
              <a:rPr b="1" i="0" lang="en" sz="1400" u="none" cap="none" strike="noStrike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size</a:t>
            </a:r>
            <a:endParaRPr b="1" i="0" sz="1400" u="none" cap="none" strike="noStrike">
              <a:solidFill>
                <a:srgbClr val="98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" name="Google Shape;178;p22"/>
          <p:cNvCxnSpPr/>
          <p:nvPr/>
        </p:nvCxnSpPr>
        <p:spPr>
          <a:xfrm flipH="1" rot="10800000">
            <a:off x="3456675" y="4138750"/>
            <a:ext cx="672000" cy="3636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9" name="Google Shape;179;p22"/>
          <p:cNvSpPr txBox="1"/>
          <p:nvPr/>
        </p:nvSpPr>
        <p:spPr>
          <a:xfrm>
            <a:off x="100950" y="92775"/>
            <a:ext cx="2019000" cy="1493100"/>
          </a:xfrm>
          <a:prstGeom prst="rect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Parsing the request to determine the meaning of the user’s question</a:t>
            </a:r>
            <a:endParaRPr b="1" i="0" sz="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90"/>
              <a:buFont typeface="Calibri"/>
              <a:buNone/>
            </a:pPr>
            <a:r>
              <a:rPr lang="en" sz="2220"/>
              <a:t>Creating a database search request that reflects the user’s intent</a:t>
            </a:r>
            <a:endParaRPr sz="2220"/>
          </a:p>
        </p:txBody>
      </p:sp>
      <p:sp>
        <p:nvSpPr>
          <p:cNvPr id="185" name="Google Shape;185;p23"/>
          <p:cNvSpPr txBox="1"/>
          <p:nvPr>
            <p:ph idx="1" type="body"/>
          </p:nvPr>
        </p:nvSpPr>
        <p:spPr>
          <a:xfrm>
            <a:off x="311700" y="1140163"/>
            <a:ext cx="8520600" cy="3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The query generator knows that the “size” of a city most often refers to its population size. It creates the following query: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“Find cities where population size of city is large and location of city is Georgia.”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86" name="Google Shape;18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</a:rPr>
              <a:t>‹#›</a:t>
            </a:fld>
            <a:endParaRPr sz="1000">
              <a:solidFill>
                <a:schemeClr val="dk2"/>
              </a:solidFill>
            </a:endParaRPr>
          </a:p>
        </p:txBody>
      </p:sp>
      <p:sp>
        <p:nvSpPr>
          <p:cNvPr id="187" name="Google Shape;187;p23"/>
          <p:cNvSpPr txBox="1"/>
          <p:nvPr/>
        </p:nvSpPr>
        <p:spPr>
          <a:xfrm>
            <a:off x="2308400" y="2715000"/>
            <a:ext cx="5282400" cy="1736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FIND x WHERE</a:t>
            </a:r>
            <a:br>
              <a:rPr b="0" i="0" lang="en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class(x) = “city” AND</a:t>
            </a:r>
            <a:br>
              <a:rPr b="0" i="0" lang="en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population_size(x) is large AND</a:t>
            </a:r>
            <a:br>
              <a:rPr b="0" i="0" lang="en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location(x) = “Georgia”</a:t>
            </a:r>
            <a:br>
              <a:rPr b="0" i="0" lang="en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SORT BY population_size</a:t>
            </a:r>
            <a:endParaRPr b="0" i="0" sz="1400" u="none" cap="none" strike="noStrike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59"/>
              <a:buFont typeface="Calibri"/>
              <a:buNone/>
            </a:pPr>
            <a:r>
              <a:rPr lang="en"/>
              <a:t>Google’s Response</a:t>
            </a:r>
            <a:br>
              <a:rPr lang="en"/>
            </a:br>
            <a:r>
              <a:rPr lang="en" sz="1577"/>
              <a:t>What are the largest cities in Georgia?</a:t>
            </a:r>
            <a:endParaRPr sz="1577"/>
          </a:p>
        </p:txBody>
      </p:sp>
      <p:sp>
        <p:nvSpPr>
          <p:cNvPr id="193" name="Google Shape;19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</a:rPr>
              <a:t>‹#›</a:t>
            </a:fld>
            <a:endParaRPr sz="1000">
              <a:solidFill>
                <a:schemeClr val="dk2"/>
              </a:solidFill>
            </a:endParaRPr>
          </a:p>
        </p:txBody>
      </p:sp>
      <p:pic>
        <p:nvPicPr>
          <p:cNvPr id="194" name="Google Shape;19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7781" y="0"/>
            <a:ext cx="445088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4"/>
          <p:cNvSpPr txBox="1"/>
          <p:nvPr/>
        </p:nvSpPr>
        <p:spPr>
          <a:xfrm>
            <a:off x="398475" y="1213425"/>
            <a:ext cx="38193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Specialized Google Response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 results of cities ordered by population sizes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 captured from a website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Questions people also ask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list of websites with relevant content based on keywords “largest cities in Georgia”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" name="Google Shape;196;p24"/>
          <p:cNvCxnSpPr/>
          <p:nvPr/>
        </p:nvCxnSpPr>
        <p:spPr>
          <a:xfrm flipH="1" rot="10800000">
            <a:off x="3932125" y="1213325"/>
            <a:ext cx="888900" cy="3153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7" name="Google Shape;197;p24"/>
          <p:cNvCxnSpPr/>
          <p:nvPr/>
        </p:nvCxnSpPr>
        <p:spPr>
          <a:xfrm flipH="1" rot="10800000">
            <a:off x="2634275" y="2797800"/>
            <a:ext cx="2124600" cy="172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98" name="Google Shape;198;p24"/>
          <p:cNvCxnSpPr/>
          <p:nvPr/>
        </p:nvCxnSpPr>
        <p:spPr>
          <a:xfrm flipH="1" rot="10800000">
            <a:off x="3363775" y="2038950"/>
            <a:ext cx="1413600" cy="4566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9" name="Google Shape;199;p24"/>
          <p:cNvCxnSpPr/>
          <p:nvPr/>
        </p:nvCxnSpPr>
        <p:spPr>
          <a:xfrm>
            <a:off x="3403375" y="2518875"/>
            <a:ext cx="1422300" cy="10677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0" name="Google Shape;200;p24"/>
          <p:cNvCxnSpPr/>
          <p:nvPr/>
        </p:nvCxnSpPr>
        <p:spPr>
          <a:xfrm>
            <a:off x="3576425" y="3691775"/>
            <a:ext cx="1182600" cy="63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1111"/>
              <a:buFont typeface="Calibri"/>
              <a:buNone/>
            </a:pPr>
            <a:r>
              <a:rPr lang="en"/>
              <a:t>Google has specialized modules for handling some common types of queries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1111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1111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6" name="Google Shape;206;p25"/>
          <p:cNvSpPr txBox="1"/>
          <p:nvPr>
            <p:ph idx="1" type="body"/>
          </p:nvPr>
        </p:nvSpPr>
        <p:spPr>
          <a:xfrm>
            <a:off x="311700" y="1536200"/>
            <a:ext cx="8520600" cy="30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Unit conversions (measurements, currencies, distance, time)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Weather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Airline, train, and bus schedules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Restaurant hours, locations, phone numbers, websites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Movie showtimes and locations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Biographical information about famous people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07" name="Google Shape;20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</a:rPr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Lesson Recap Activity</a:t>
            </a:r>
            <a:endParaRPr/>
          </a:p>
        </p:txBody>
      </p:sp>
      <p:sp>
        <p:nvSpPr>
          <p:cNvPr id="213" name="Google Shape;213;p26"/>
          <p:cNvSpPr txBox="1"/>
          <p:nvPr>
            <p:ph idx="1" type="body"/>
          </p:nvPr>
        </p:nvSpPr>
        <p:spPr>
          <a:xfrm>
            <a:off x="366850" y="1209525"/>
            <a:ext cx="85206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Complete the assignment using Google:   </a:t>
            </a:r>
            <a:r>
              <a:rPr lang="en" u="sng">
                <a:solidFill>
                  <a:schemeClr val="hlink"/>
                </a:solidFill>
                <a:hlinkClick r:id="rId3"/>
              </a:rPr>
              <a:t>Google Search Activity</a:t>
            </a:r>
            <a:endParaRPr/>
          </a:p>
        </p:txBody>
      </p:sp>
      <p:sp>
        <p:nvSpPr>
          <p:cNvPr id="214" name="Google Shape;21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</a:rPr>
              <a:t>‹#›</a:t>
            </a:fld>
            <a:endParaRPr sz="1000">
              <a:solidFill>
                <a:schemeClr val="dk2"/>
              </a:solidFill>
            </a:endParaRPr>
          </a:p>
        </p:txBody>
      </p:sp>
      <p:pic>
        <p:nvPicPr>
          <p:cNvPr id="215" name="Google Shape;21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61738" y="2264725"/>
            <a:ext cx="3606767" cy="239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