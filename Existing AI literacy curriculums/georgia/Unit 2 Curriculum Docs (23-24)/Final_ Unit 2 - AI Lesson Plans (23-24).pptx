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Lato"/>
      <p:regular r:id="rId10"/>
      <p:bold r:id="rId11"/>
      <p:italic r:id="rId12"/>
      <p:boldItalic r:id="rId13"/>
    </p:embeddedFon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071962-2CC0-451C-A9BE-4A3CFE919D66}">
  <a:tblStyle styleId="{51071962-2CC0-451C-A9BE-4A3CFE919D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 b="off" i="off"/>
      <a:tcStyle>
        <a:fill>
          <a:solidFill>
            <a:srgbClr val="E0E0E0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0E0E0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Lato-bold.fntdata"/><Relationship Id="rId10" Type="http://schemas.openxmlformats.org/officeDocument/2006/relationships/font" Target="fonts/Lato-regular.fntdata"/><Relationship Id="rId13" Type="http://schemas.openxmlformats.org/officeDocument/2006/relationships/font" Target="fonts/Lato-boldItalic.fntdata"/><Relationship Id="rId12" Type="http://schemas.openxmlformats.org/officeDocument/2006/relationships/font" Target="fonts/Lato-italic.fntdata"/><Relationship Id="rId14" Type="http://schemas.openxmlformats.org/officeDocument/2006/relationships/font" Target="fonts/ArialBla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785" y="434338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aa499293b4_0_0:notes"/>
          <p:cNvSpPr txBox="1"/>
          <p:nvPr>
            <p:ph idx="1" type="body"/>
          </p:nvPr>
        </p:nvSpPr>
        <p:spPr>
          <a:xfrm>
            <a:off x="685785" y="434338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1aa499293b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aa499293b4_0_7:notes"/>
          <p:cNvSpPr txBox="1"/>
          <p:nvPr>
            <p:ph idx="1" type="body"/>
          </p:nvPr>
        </p:nvSpPr>
        <p:spPr>
          <a:xfrm>
            <a:off x="685785" y="434338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1aa499293b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hyperlink" Target="https://drive.google.com/file/d/11C4XcoBSQ2l79hoYdD2fPJvC8QGWfeWz/view?usp=sharing" TargetMode="External"/><Relationship Id="rId22" Type="http://schemas.openxmlformats.org/officeDocument/2006/relationships/hyperlink" Target="https://www.cs.cmu.edu/~dst/SpeechDemo" TargetMode="External"/><Relationship Id="rId21" Type="http://schemas.openxmlformats.org/officeDocument/2006/relationships/hyperlink" Target="https://www.cs.cmu.edu/~dst/SpeechDemo" TargetMode="External"/><Relationship Id="rId24" Type="http://schemas.openxmlformats.org/officeDocument/2006/relationships/image" Target="../media/image2.jpg"/><Relationship Id="rId23" Type="http://schemas.openxmlformats.org/officeDocument/2006/relationships/hyperlink" Target="https://docs.google.com/presentation/d/1lwPXm6E6mcRp4tTkl1A6UptMvZhkkzaC7D1hBrHJX7Y/edit?usp=sharing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d/1gNbVb2jTUwXAVR1AbyG8QWtvSGQ3-w_gvXHlJDppqbI/edit?usp=sharing" TargetMode="External"/><Relationship Id="rId4" Type="http://schemas.openxmlformats.org/officeDocument/2006/relationships/hyperlink" Target="https://docs.google.com/presentation/d/1SfFZR87Rfc8Jc6YZtdDBuZi2HvnIL7zL4Xz86vgKULE/edit?usp=sharing" TargetMode="External"/><Relationship Id="rId9" Type="http://schemas.openxmlformats.org/officeDocument/2006/relationships/hyperlink" Target="https://www.techradar.com/news/are-smart-speakers-really-safe-for-children" TargetMode="External"/><Relationship Id="rId26" Type="http://schemas.openxmlformats.org/officeDocument/2006/relationships/image" Target="../media/image1.png"/><Relationship Id="rId25" Type="http://schemas.openxmlformats.org/officeDocument/2006/relationships/hyperlink" Target="https://creativecommons.org/licenses/by-nc-sa/4.0/" TargetMode="External"/><Relationship Id="rId28" Type="http://schemas.openxmlformats.org/officeDocument/2006/relationships/image" Target="../media/image3.png"/><Relationship Id="rId27" Type="http://schemas.openxmlformats.org/officeDocument/2006/relationships/hyperlink" Target="https://docs.google.com/forms/d/e/1FAIpQLSfSAsSrzip5eXDhGZcT4YmBdQ0-j4ktrI05iF3kMPTSFeGB2A/viewform?usp=sf_link" TargetMode="External"/><Relationship Id="rId5" Type="http://schemas.openxmlformats.org/officeDocument/2006/relationships/hyperlink" Target="https://www.bbc.com/news/technology-57680173" TargetMode="External"/><Relationship Id="rId6" Type="http://schemas.openxmlformats.org/officeDocument/2006/relationships/hyperlink" Target="https://www.bbc.com/news/technology-57680173" TargetMode="External"/><Relationship Id="rId7" Type="http://schemas.openxmlformats.org/officeDocument/2006/relationships/hyperlink" Target="https://smarthomestarter.com/is-alexa-safe-for-kids/" TargetMode="External"/><Relationship Id="rId8" Type="http://schemas.openxmlformats.org/officeDocument/2006/relationships/hyperlink" Target="https://smarthomestarter.com/is-alexa-safe-for-kids/" TargetMode="External"/><Relationship Id="rId11" Type="http://schemas.openxmlformats.org/officeDocument/2006/relationships/hyperlink" Target="https://resourced.prometheanworld.com/amazon-alexa-harmful-childrens-educational-development/" TargetMode="External"/><Relationship Id="rId10" Type="http://schemas.openxmlformats.org/officeDocument/2006/relationships/hyperlink" Target="https://www.techradar.com/news/are-smart-speakers-really-safe-for-children" TargetMode="External"/><Relationship Id="rId13" Type="http://schemas.openxmlformats.org/officeDocument/2006/relationships/hyperlink" Target="https://nypost.com/2018/08/07/parents-say-using-alexa-to-entertain-kids-comes-with-problems/" TargetMode="External"/><Relationship Id="rId12" Type="http://schemas.openxmlformats.org/officeDocument/2006/relationships/hyperlink" Target="https://resourced.prometheanworld.com/amazon-alexa-harmful-childrens-educational-development/" TargetMode="External"/><Relationship Id="rId15" Type="http://schemas.openxmlformats.org/officeDocument/2006/relationships/hyperlink" Target="https://docs.google.com/presentation/d/15z9T_h_j2z0TZZw3bN986cnt2SJ58JmNewJXb9J4q0k/edit?usp=sharing" TargetMode="External"/><Relationship Id="rId14" Type="http://schemas.openxmlformats.org/officeDocument/2006/relationships/hyperlink" Target="https://nypost.com/2018/08/07/parents-say-using-alexa-to-entertain-kids-comes-with-problems/" TargetMode="External"/><Relationship Id="rId17" Type="http://schemas.openxmlformats.org/officeDocument/2006/relationships/hyperlink" Target="https://docs.google.com/document/d/1He8o6a0jM1pYxZFb_B6Q5ci1wtCa0Baz-Zz35TyrtEo/edit?usp=sharing" TargetMode="External"/><Relationship Id="rId16" Type="http://schemas.openxmlformats.org/officeDocument/2006/relationships/hyperlink" Target="https://drive.google.com/file/d/14ae1iHWzdCxRQ3S9ebgPylGaew8VXlOu/view?usp=sharing" TargetMode="External"/><Relationship Id="rId19" Type="http://schemas.openxmlformats.org/officeDocument/2006/relationships/hyperlink" Target="https://spectrogram.sciencemusic.org/" TargetMode="External"/><Relationship Id="rId18" Type="http://schemas.openxmlformats.org/officeDocument/2006/relationships/hyperlink" Target="https://spectrogram.sciencemusic.org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gNbVb2jTUwXAVR1AbyG8QWtvSGQ3-w_gvXHlJDppqbI/edit?usp=sharing" TargetMode="External"/><Relationship Id="rId4" Type="http://schemas.openxmlformats.org/officeDocument/2006/relationships/hyperlink" Target="https://docs.google.com/presentation/d/1olN04XnWkg0xUrj4_L6Yivk_XlNEkTY6rpdfyM9rfms/edit?usp=drive_link" TargetMode="External"/><Relationship Id="rId9" Type="http://schemas.openxmlformats.org/officeDocument/2006/relationships/hyperlink" Target="https://docs.google.com/document/d/1IoVJmLeQAjikfwgkajqqwtdDAgz-rTMotaSfAtOrNNA/edit?usp=drive_link" TargetMode="External"/><Relationship Id="rId5" Type="http://schemas.openxmlformats.org/officeDocument/2006/relationships/hyperlink" Target="https://docs.google.com/document/d/1uttg6ji2SlL2ZO2dz-98qQMVnCV4x97zGDvtNFx4zx8/edit?usp=drive_link" TargetMode="External"/><Relationship Id="rId6" Type="http://schemas.openxmlformats.org/officeDocument/2006/relationships/hyperlink" Target="https://docs.google.com/presentation/d/1lwPXm6E6mcRp4tTkl1A6UptMvZhkkzaC7D1hBrHJX7Y/edit?usp=sharing" TargetMode="External"/><Relationship Id="rId7" Type="http://schemas.openxmlformats.org/officeDocument/2006/relationships/hyperlink" Target="https://docs.google.com/presentation/d/1nlwaxcjhA4zsGfVZqE8fki7GnG3HCxWXXGS4jn0r0eQ/edit?usp=sharing" TargetMode="External"/><Relationship Id="rId8" Type="http://schemas.openxmlformats.org/officeDocument/2006/relationships/hyperlink" Target="https://docs.google.com/document/d/101rkBuRZCGETAnLDmvxX7EVQW_UCM50KPCtqMZR6g_s/edit?usp=drive_link" TargetMode="External"/><Relationship Id="rId11" Type="http://schemas.openxmlformats.org/officeDocument/2006/relationships/hyperlink" Target="https://docs.google.com/document/d/1bPBcb64rrTv1dOXv_NJEw2iX104ggY1s/edit?usp=sharing&amp;ouid=106324177635312546302&amp;rtpof=true&amp;sd=true" TargetMode="External"/><Relationship Id="rId10" Type="http://schemas.openxmlformats.org/officeDocument/2006/relationships/hyperlink" Target="https://docs.google.com/presentation/d/1Q_IYILwODZfLH1lMCfb6IUlDXt6hFJqs/edit?usp=sharing&amp;ouid=106324177635312546302&amp;rtpof=true&amp;sd=truehttps://docs.google.com/presentation/d/1Q_IYILwODZfLH1lMCfb6IUlDXt6hFJqs/edit?usp=sharing&amp;ouid=106324177635312546302&amp;rtpof=true&amp;sd=true" TargetMode="External"/><Relationship Id="rId13" Type="http://schemas.openxmlformats.org/officeDocument/2006/relationships/hyperlink" Target="https://docs.google.com/document/d/1IPpCZusy_lHVKm6Jhac-6BW5l9WhhHmNjeoFShvtrRs/edit?usp=sharing" TargetMode="External"/><Relationship Id="rId12" Type="http://schemas.openxmlformats.org/officeDocument/2006/relationships/hyperlink" Target="https://docs.google.com/presentation/d/1RLKk_hLXFCfh_8-g2a0vL8W0ebVYGzWl/edit?usp=sharing&amp;ouid=106324177635312546302&amp;rtpof=true&amp;sd=true" TargetMode="External"/><Relationship Id="rId15" Type="http://schemas.openxmlformats.org/officeDocument/2006/relationships/hyperlink" Target="https://docs.google.com/forms/d/e/1FAIpQLSfSAsSrzip5eXDhGZcT4YmBdQ0-j4ktrI05iF3kMPTSFeGB2A/viewform?usp=sf_link" TargetMode="External"/><Relationship Id="rId14" Type="http://schemas.openxmlformats.org/officeDocument/2006/relationships/hyperlink" Target="https://docs.google.com/presentation/d/12JAovEnrqa31cGWxjvqFZivs8GeDlhGpcfWWCRaAjqk/edit?usp=sharing" TargetMode="External"/><Relationship Id="rId17" Type="http://schemas.openxmlformats.org/officeDocument/2006/relationships/image" Target="../media/image2.jpg"/><Relationship Id="rId1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hyperlink" Target="https://codelab.cognimates.me/" TargetMode="External"/><Relationship Id="rId22" Type="http://schemas.openxmlformats.org/officeDocument/2006/relationships/hyperlink" Target="https://cmu.ca1.qualtrics.com/jfe/form/SV_6JTrwwSw2RR3iMC" TargetMode="External"/><Relationship Id="rId21" Type="http://schemas.openxmlformats.org/officeDocument/2006/relationships/hyperlink" Target="https://cmu.ca1.qualtrics.com/jfe/form/SV_2b4lFo6rbmqaDjw" TargetMode="External"/><Relationship Id="rId24" Type="http://schemas.openxmlformats.org/officeDocument/2006/relationships/hyperlink" Target="https://docs.google.com/forms/d/e/1FAIpQLSfSAsSrzip5eXDhGZcT4YmBdQ0-j4ktrI05iF3kMPTSFeGB2A/viewform?usp=sf_link" TargetMode="External"/><Relationship Id="rId23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d/1gNbVb2jTUwXAVR1AbyG8QWtvSGQ3-w_gvXHlJDppqbI/edit?usp=sharing" TargetMode="External"/><Relationship Id="rId4" Type="http://schemas.openxmlformats.org/officeDocument/2006/relationships/hyperlink" Target="https://docs.google.com/presentation/d/1akaOhy85DX0oAZZclQ61GYLPgrszqpNV/edit?usp=sharing&amp;ouid=106324177635312546302&amp;rtpof=true&amp;sd=true" TargetMode="External"/><Relationship Id="rId9" Type="http://schemas.openxmlformats.org/officeDocument/2006/relationships/hyperlink" Target="https://drive.google.com/file/d/1JmBB_uWTFMEMW2LfccSv6jVES-CGZWr3/view?usp=sharing" TargetMode="External"/><Relationship Id="rId25" Type="http://schemas.openxmlformats.org/officeDocument/2006/relationships/image" Target="../media/image3.png"/><Relationship Id="rId5" Type="http://schemas.openxmlformats.org/officeDocument/2006/relationships/hyperlink" Target="https://docs.google.com/presentation/d/1C2FBMO2oOJ2sPtdfh_CMpQxMMmre_H8G/edit?usp=sharing&amp;ouid=106324177635312546302&amp;rtpof=true&amp;sd=true" TargetMode="External"/><Relationship Id="rId6" Type="http://schemas.openxmlformats.org/officeDocument/2006/relationships/hyperlink" Target="https://docs.google.com/document/d/1H1T0N_uyg9KoQGEOObjfHaOp_J2D-JtUDGltVgcBybE/edit?usp=sharing" TargetMode="External"/><Relationship Id="rId7" Type="http://schemas.openxmlformats.org/officeDocument/2006/relationships/hyperlink" Target="https://docs.google.com/document/d/1LJWNatyBsEGJUP2nB_vO93J6LZW9vGz7SHKJs1kSDdc/edit?usp=sharing" TargetMode="External"/><Relationship Id="rId8" Type="http://schemas.openxmlformats.org/officeDocument/2006/relationships/hyperlink" Target="https://docs.google.com/document/d/1OYkW-xU5koeSBGQgHflJUreILn7SQn_enD7jYcaMmbw/edit?usp=sharing" TargetMode="External"/><Relationship Id="rId11" Type="http://schemas.openxmlformats.org/officeDocument/2006/relationships/hyperlink" Target="https://scratch.machinelearningforkids.co.uk/" TargetMode="External"/><Relationship Id="rId10" Type="http://schemas.openxmlformats.org/officeDocument/2006/relationships/hyperlink" Target="https://scratch.machinelearningforkids.co.uk/" TargetMode="External"/><Relationship Id="rId13" Type="http://schemas.openxmlformats.org/officeDocument/2006/relationships/hyperlink" Target="https://drive.google.com/file/d/1k1ZSBKP9wxrK_HIJWU-17LMrThhOK-YU/view?usp=sharing" TargetMode="External"/><Relationship Id="rId12" Type="http://schemas.openxmlformats.org/officeDocument/2006/relationships/hyperlink" Target="https://drive.google.com/file/d/1k1ZSBKP9wxrK_HIJWU-17LMrThhOK-YU/view?usp=sharing" TargetMode="External"/><Relationship Id="rId15" Type="http://schemas.openxmlformats.org/officeDocument/2006/relationships/hyperlink" Target="https://codelab.cognimates.me/" TargetMode="External"/><Relationship Id="rId14" Type="http://schemas.openxmlformats.org/officeDocument/2006/relationships/hyperlink" Target="https://drive.google.com/file/d/1E34VCw6q0iXnfWd_CxgGYNDiEuQ1I6GX/view?usp=share_link" TargetMode="External"/><Relationship Id="rId17" Type="http://schemas.openxmlformats.org/officeDocument/2006/relationships/hyperlink" Target="https://drive.google.com/file/d/1oInOMmxHvn34kwttupYGh6sC_y272uEU/view?usp=sharing" TargetMode="External"/><Relationship Id="rId16" Type="http://schemas.openxmlformats.org/officeDocument/2006/relationships/hyperlink" Target="https://codelab.cognimates.me/" TargetMode="External"/><Relationship Id="rId19" Type="http://schemas.openxmlformats.org/officeDocument/2006/relationships/hyperlink" Target="https://docs.google.com/presentation/d/1-HfpUcnUwHjqB8DQkhIMwlvVQh-Jl6cQ_dnPXWw9fnw/edit?usp=drive_link" TargetMode="External"/><Relationship Id="rId18" Type="http://schemas.openxmlformats.org/officeDocument/2006/relationships/hyperlink" Target="https://drive.google.com/file/d/1oInOMmxHvn34kwttupYGh6sC_y272uEU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DE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628650" y="2"/>
            <a:ext cx="7886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 Black"/>
              <a:buNone/>
            </a:pPr>
            <a:r>
              <a:rPr b="1" lang="en" sz="1900" u="sng">
                <a:solidFill>
                  <a:srgbClr val="558345"/>
                </a:solidFill>
                <a:latin typeface="Arial Black"/>
                <a:ea typeface="Arial Black"/>
                <a:cs typeface="Arial Black"/>
                <a:sym typeface="Arial Blac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Artificial Intelligence for GA</a:t>
            </a:r>
            <a:br>
              <a:rPr b="0" i="0" lang="en" sz="1900" u="none" cap="none" strike="noStrike">
                <a:solidFill>
                  <a:srgbClr val="5583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500">
                <a:solidFill>
                  <a:srgbClr val="558345"/>
                </a:solidFill>
              </a:rPr>
              <a:t>Unit 2 - Understanding Language</a:t>
            </a:r>
            <a:r>
              <a:rPr b="1" i="0" lang="en" sz="1500" u="none" cap="none" strike="noStrike">
                <a:solidFill>
                  <a:srgbClr val="55834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1" i="1" lang="en" sz="1500">
                <a:solidFill>
                  <a:srgbClr val="558345"/>
                </a:solidFill>
              </a:rPr>
              <a:t>Week #</a:t>
            </a:r>
            <a:endParaRPr b="1" i="1" sz="1500" u="none" cap="none" strike="noStrike">
              <a:solidFill>
                <a:srgbClr val="5583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13"/>
          <p:cNvGraphicFramePr/>
          <p:nvPr/>
        </p:nvGraphicFramePr>
        <p:xfrm>
          <a:off x="699463" y="6068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{51071962-2CC0-451C-A9BE-4A3CFE919D66}</a:tableStyleId>
              </a:tblPr>
              <a:tblGrid>
                <a:gridCol w="7949300"/>
              </a:tblGrid>
              <a:tr h="400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Daily Assignments:</a:t>
                      </a:r>
                      <a:endParaRPr sz="900" u="none" cap="none" strike="noStrike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2.1 - Understanding Language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Slides</a:t>
                      </a:r>
                      <a:r>
                        <a:rPr lang="en" sz="900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lpha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Activities to Complete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roman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Case Studies (Slide 12)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3" marL="182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Bullying a girl named Alexa-</a:t>
                      </a:r>
                      <a:r>
                        <a:rPr b="0" lang="en" sz="900">
                          <a:solidFill>
                            <a:srgbClr val="558345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Parents of children called Alexa challenge Amazon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3" marL="182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of some features -</a:t>
                      </a:r>
                      <a:r>
                        <a:rPr lang="en" sz="900">
                          <a:solidFill>
                            <a:srgbClr val="6CA658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IS ALEXA SAFE FOR KIDS?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3" marL="182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Rude kids?/ privacy concerns? -</a:t>
                      </a:r>
                      <a:r>
                        <a:rPr b="0" lang="en" sz="900">
                          <a:solidFill>
                            <a:srgbClr val="558345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Are smart speakers really safe for children?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3" marL="182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Conversation complexity/Jeopardising teaching professions? -</a:t>
                      </a:r>
                      <a:r>
                        <a:rPr lang="en" sz="900">
                          <a:solidFill>
                            <a:srgbClr val="6CA658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Is Amazon Alexa harmful to children’s educational development?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3" marL="182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Wrong/incomplete answers, discourage critical thinking -</a:t>
                      </a:r>
                      <a:r>
                        <a:rPr b="0" lang="en" sz="900">
                          <a:solidFill>
                            <a:srgbClr val="558345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Parents say using Alexa to entertain kids comes with problems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2.2 - How Computers Understand Language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Slides</a:t>
                      </a:r>
                      <a:endParaRPr sz="900" u="sng">
                        <a:solidFill>
                          <a:srgbClr val="6CA658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lpha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Activities to Complete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roman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Waveforms &amp; Spectrograms Activity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3" marL="182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rabi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Waveforms &amp; Spectrograms Activity Guide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3" marL="182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rabi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Student's Waveform &amp; Spectrograms worksheet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4" marL="22860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lphaLcPeriod"/>
                      </a:pPr>
                      <a:r>
                        <a:rPr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Software:</a:t>
                      </a:r>
                      <a:r>
                        <a:rPr lang="en" sz="900">
                          <a:solidFill>
                            <a:srgbClr val="558345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Spectrogram demo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roman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Speech Demo Activity 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3" marL="182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rabi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Speech Demo activity guide 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3" marL="182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Software:</a:t>
                      </a:r>
                      <a:r>
                        <a:rPr lang="en" sz="900">
                          <a:solidFill>
                            <a:srgbClr val="558345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b="0" lang="en" sz="900" u="sng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SpeechDemo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2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Dream Bot - Ticket Out the Door (Slide 2)</a:t>
                      </a:r>
                      <a:endParaRPr sz="900" u="none" cap="none" strike="noStrike">
                        <a:solidFill>
                          <a:srgbClr val="6CA658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3BE"/>
                    </a:solidFill>
                  </a:tcPr>
                </a:tc>
              </a:tr>
            </a:tbl>
          </a:graphicData>
        </a:graphic>
      </p:graphicFrame>
      <p:pic>
        <p:nvPicPr>
          <p:cNvPr id="86" name="Google Shape;86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923944" y="222725"/>
            <a:ext cx="1040100" cy="1035600"/>
          </a:xfrm>
          <a:prstGeom prst="ellipse">
            <a:avLst/>
          </a:prstGeom>
          <a:noFill/>
          <a:ln cap="rnd" cmpd="sng" w="63500">
            <a:solidFill>
              <a:srgbClr val="55834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3"/>
          <p:cNvSpPr txBox="1"/>
          <p:nvPr/>
        </p:nvSpPr>
        <p:spPr>
          <a:xfrm>
            <a:off x="1785225" y="4614500"/>
            <a:ext cx="688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</a:rPr>
              <a:t>Developed for the AI4GA (Artificial Intelligence for Georgia) project funded by National Science Foundation awards DRL-2049029 and DRL-2048502.</a:t>
            </a:r>
            <a:endParaRPr sz="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</a:rPr>
              <a:t>This work is licensed under the Creative Commons. Attribution-NonComercial-ShareAlike 4.0 International License. </a:t>
            </a:r>
            <a:r>
              <a:rPr b="1" lang="en" sz="800" u="sng">
                <a:solidFill>
                  <a:srgbClr val="0097A7"/>
                </a:solidFill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sz="1300"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75025" y="4686513"/>
            <a:ext cx="1157850" cy="4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>
            <a:hlinkClick r:id="rId27"/>
          </p:cNvPr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6700" y="53425"/>
            <a:ext cx="692738" cy="81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DE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628650" y="155602"/>
            <a:ext cx="7886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 Black"/>
              <a:buNone/>
            </a:pPr>
            <a:r>
              <a:rPr b="1" lang="en" sz="1900" u="sng">
                <a:solidFill>
                  <a:srgbClr val="558345"/>
                </a:solidFill>
                <a:latin typeface="Arial Black"/>
                <a:ea typeface="Arial Black"/>
                <a:cs typeface="Arial Black"/>
                <a:sym typeface="Arial Blac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Artificial Intelligence for GA</a:t>
            </a:r>
            <a:br>
              <a:rPr b="0" i="0" lang="en" sz="1900" u="none" cap="none" strike="noStrike">
                <a:solidFill>
                  <a:srgbClr val="5583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500">
                <a:solidFill>
                  <a:srgbClr val="558345"/>
                </a:solidFill>
              </a:rPr>
              <a:t>Unit 2 - Understanding Language</a:t>
            </a:r>
            <a:r>
              <a:rPr b="1" i="0" lang="en" sz="1500" u="none" cap="none" strike="noStrike">
                <a:solidFill>
                  <a:srgbClr val="55834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1" i="1" lang="en" sz="1500">
                <a:solidFill>
                  <a:srgbClr val="558345"/>
                </a:solidFill>
              </a:rPr>
              <a:t>Week #</a:t>
            </a:r>
            <a:endParaRPr b="1" i="1" sz="1500" u="none" cap="none" strike="noStrike">
              <a:solidFill>
                <a:srgbClr val="5583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" name="Google Shape;95;p14"/>
          <p:cNvGraphicFramePr/>
          <p:nvPr/>
        </p:nvGraphicFramePr>
        <p:xfrm>
          <a:off x="710788" y="8674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{51071962-2CC0-451C-A9BE-4A3CFE919D66}</a:tableStyleId>
              </a:tblPr>
              <a:tblGrid>
                <a:gridCol w="7949300"/>
              </a:tblGrid>
              <a:tr h="4051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Daily Assignments:</a:t>
                      </a:r>
                      <a:endParaRPr sz="1200" u="none" cap="none" strike="noStrike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2.3 - How Intelligent Assistants Understand &amp; Answer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Slides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lpha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Activities to Complete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What can Google Search Do?  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 Dream Bot - Ticket Out the Door (Slide 3)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2.4 - Word Embeddings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Slides</a:t>
                      </a:r>
                      <a:r>
                        <a:rPr lang="en" sz="900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lpha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Activities to Complete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Word Associations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Semantic Feature Space Unplugged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2.5 - How Computers Represent and Generate Meaning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Slides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lpha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Activities to Complete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Translations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2.6 - Sentiment Analysis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Slides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lpha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Activities to Complete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Song Sentiment Analysi</a:t>
                      </a:r>
                      <a:r>
                        <a:rPr lang="en" sz="900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Dream Bot - Ticket Out the Door (Slide 4)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558345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558345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3BE"/>
                    </a:solidFill>
                  </a:tcPr>
                </a:tc>
              </a:tr>
            </a:tbl>
          </a:graphicData>
        </a:graphic>
      </p:graphicFrame>
      <p:pic>
        <p:nvPicPr>
          <p:cNvPr id="96" name="Google Shape;96;p14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6700" y="53425"/>
            <a:ext cx="692738" cy="8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923944" y="222725"/>
            <a:ext cx="1040100" cy="1035600"/>
          </a:xfrm>
          <a:prstGeom prst="ellipse">
            <a:avLst/>
          </a:prstGeom>
          <a:noFill/>
          <a:ln cap="rnd" cmpd="sng" w="63500">
            <a:solidFill>
              <a:srgbClr val="55834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DE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628650" y="2"/>
            <a:ext cx="7886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 Black"/>
              <a:buNone/>
            </a:pPr>
            <a:r>
              <a:rPr b="1" lang="en" sz="1800" u="sng">
                <a:solidFill>
                  <a:srgbClr val="558345"/>
                </a:solidFill>
                <a:latin typeface="Arial Black"/>
                <a:ea typeface="Arial Black"/>
                <a:cs typeface="Arial Black"/>
                <a:sym typeface="Arial Blac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Artificial Intelligence for GA</a:t>
            </a:r>
            <a:br>
              <a:rPr b="0" i="0" lang="en" sz="1800" u="none" cap="none" strike="noStrike">
                <a:solidFill>
                  <a:srgbClr val="55834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400">
                <a:solidFill>
                  <a:srgbClr val="558345"/>
                </a:solidFill>
              </a:rPr>
              <a:t>Unit 2 - Understanding Language</a:t>
            </a:r>
            <a:r>
              <a:rPr b="1" i="0" lang="en" sz="1400" u="none" cap="none" strike="noStrike">
                <a:solidFill>
                  <a:srgbClr val="55834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1" i="1" lang="en" sz="1400">
                <a:solidFill>
                  <a:srgbClr val="558345"/>
                </a:solidFill>
              </a:rPr>
              <a:t>Week #</a:t>
            </a:r>
            <a:endParaRPr b="1" i="1" sz="1400" u="none" cap="none" strike="noStrike">
              <a:solidFill>
                <a:srgbClr val="5583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15"/>
          <p:cNvGraphicFramePr/>
          <p:nvPr/>
        </p:nvGraphicFramePr>
        <p:xfrm>
          <a:off x="165813" y="5277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{51071962-2CC0-451C-A9BE-4A3CFE919D66}</a:tableStyleId>
              </a:tblPr>
              <a:tblGrid>
                <a:gridCol w="8812350"/>
              </a:tblGrid>
              <a:tr h="457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Daily Assignments:</a:t>
                      </a:r>
                      <a:endParaRPr sz="1100" u="none" cap="none" strike="noStrike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2.7 - Chatbots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Teachers Slides 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Students Slides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lpha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Activities to Complete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Creating Your Own Keyword Matching Chatbot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Creating Your Own Template-Filling Chatbot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roman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Creating Your Own Intent Recognition Chatbot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roman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Chatbot with BERT Activity 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 a simple chatbot that represents a character in a story and can answer questions about itself and the story. This activity uses the BERT language model, a transformer neural network that can understand text and answer questions.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55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Char char="■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Chatbot with BERT Activity Guide 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55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Char char="■"/>
                      </a:pPr>
                      <a:r>
                        <a:rPr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Software:</a:t>
                      </a:r>
                      <a:r>
                        <a:rPr lang="en" sz="900">
                          <a:solidFill>
                            <a:srgbClr val="6CA658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ML4K Scratch 3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10160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Char char="■"/>
                      </a:pPr>
                      <a:r>
                        <a:rPr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Note: This is a separate instance from the traditional Scratch hosted by MIT</a:t>
                      </a:r>
                      <a:endParaRPr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55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Char char="■"/>
                      </a:pPr>
                      <a:r>
                        <a:rPr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Optional: Pre-made demo</a:t>
                      </a:r>
                      <a:r>
                        <a:rPr lang="en" sz="900">
                          <a:solidFill>
                            <a:srgbClr val="6CA658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Chatbot with BERT.sb3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romanL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Intelligent Assistant with Keywords (Cognimates)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 a simulated intelligent assistant in Scratch using Machine Learning for Kids (ML4K) that responds to voice input, modeled after Siri or Alexa. This is a simulation that outputs predetermined responses to selected keywords in the input; real assistants do much more.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55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Char char="■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Intelligent Assistant with Keywords (Cognimates) Activity Guide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5588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Char char="■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Software:</a:t>
                      </a:r>
                      <a:r>
                        <a:rPr b="0" lang="en" sz="900" u="sng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Cognimates website</a:t>
                      </a:r>
                      <a:endParaRPr sz="900" u="sng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2" marL="13716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Font typeface="Lato"/>
                        <a:buAutoNum type="romanLcPeriod"/>
                      </a:pPr>
                      <a:r>
                        <a:rPr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Optional: Pre-made demo</a:t>
                      </a:r>
                      <a:r>
                        <a:rPr b="0" lang="en" sz="900">
                          <a:solidFill>
                            <a:srgbClr val="558345"/>
                          </a:solidFill>
                          <a:uFill>
                            <a:noFill/>
                          </a:uFill>
                          <a:latin typeface="Arial"/>
                          <a:ea typeface="Arial"/>
                          <a:cs typeface="Arial"/>
                          <a:sym typeface="Arial"/>
                          <a:hlinkClick r:id="rId1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Intelligent Assistant Cognimates.sb3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8345"/>
                        </a:buClr>
                        <a:buSzPts val="900"/>
                        <a:buAutoNum type="arabicPeriod"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 2 - Mini project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Slides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AutoNum type="alphaLcPeriod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2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Software: Codelab Cognimates 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" sz="900">
                          <a:solidFill>
                            <a:srgbClr val="5583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Weekly Feedback</a:t>
                      </a:r>
                      <a:endParaRPr b="0" sz="900">
                        <a:solidFill>
                          <a:srgbClr val="5583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Char char="●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2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Student feedback</a:t>
                      </a:r>
                      <a:endParaRPr sz="900">
                        <a:solidFill>
                          <a:srgbClr val="6CA65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A658"/>
                        </a:buClr>
                        <a:buSzPts val="900"/>
                        <a:buChar char="●"/>
                      </a:pPr>
                      <a:r>
                        <a:rPr lang="en" sz="900" u="sng">
                          <a:solidFill>
                            <a:srgbClr val="6CA658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2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Teacher feedback</a:t>
                      </a:r>
                      <a:endParaRPr sz="900" u="none" cap="none" strike="noStrike">
                        <a:solidFill>
                          <a:srgbClr val="6CA658"/>
                        </a:solidFill>
                      </a:endParaRPr>
                    </a:p>
                  </a:txBody>
                  <a:tcPr marT="34300" marB="34300" marR="68600" marL="686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3BE"/>
                    </a:solidFill>
                  </a:tcPr>
                </a:tc>
              </a:tr>
            </a:tbl>
          </a:graphicData>
        </a:graphic>
      </p:graphicFrame>
      <p:pic>
        <p:nvPicPr>
          <p:cNvPr id="104" name="Google Shape;104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923944" y="222725"/>
            <a:ext cx="1040100" cy="1035600"/>
          </a:xfrm>
          <a:prstGeom prst="ellipse">
            <a:avLst/>
          </a:prstGeom>
          <a:noFill/>
          <a:ln cap="rnd" cmpd="sng" w="63500">
            <a:solidFill>
              <a:srgbClr val="55834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" name="Google Shape;105;p15">
            <a:hlinkClick r:id="rId24"/>
          </p:cNvPr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700" y="53425"/>
            <a:ext cx="571950" cy="674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