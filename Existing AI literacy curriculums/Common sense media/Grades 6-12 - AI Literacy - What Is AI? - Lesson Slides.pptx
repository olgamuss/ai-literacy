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ubik Medium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Indie Flower"/>
      <p:regular r:id="rId32"/>
    </p:embeddedFont>
    <p:embeddedFont>
      <p:font typeface="Rubik"/>
      <p:regular r:id="rId33"/>
      <p:bold r:id="rId34"/>
      <p:italic r:id="rId35"/>
      <p:boldItalic r:id="rId36"/>
    </p:embeddedFont>
    <p:embeddedFont>
      <p:font typeface="Kalam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ubikMedium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ubikMedium-italic.fntdata"/><Relationship Id="rId25" Type="http://schemas.openxmlformats.org/officeDocument/2006/relationships/font" Target="fonts/RubikMedium-bold.fntdata"/><Relationship Id="rId28" Type="http://schemas.openxmlformats.org/officeDocument/2006/relationships/font" Target="fonts/Lato-regular.fntdata"/><Relationship Id="rId27" Type="http://schemas.openxmlformats.org/officeDocument/2006/relationships/font" Target="fonts/Rubik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33" Type="http://schemas.openxmlformats.org/officeDocument/2006/relationships/font" Target="fonts/Rubik-regular.fntdata"/><Relationship Id="rId10" Type="http://schemas.openxmlformats.org/officeDocument/2006/relationships/slide" Target="slides/slide4.xml"/><Relationship Id="rId32" Type="http://schemas.openxmlformats.org/officeDocument/2006/relationships/font" Target="fonts/IndieFlower-regular.fntdata"/><Relationship Id="rId13" Type="http://schemas.openxmlformats.org/officeDocument/2006/relationships/slide" Target="slides/slide7.xml"/><Relationship Id="rId35" Type="http://schemas.openxmlformats.org/officeDocument/2006/relationships/font" Target="fonts/Rubik-italic.fntdata"/><Relationship Id="rId12" Type="http://schemas.openxmlformats.org/officeDocument/2006/relationships/slide" Target="slides/slide6.xml"/><Relationship Id="rId34" Type="http://schemas.openxmlformats.org/officeDocument/2006/relationships/font" Target="fonts/Rubik-bold.fntdata"/><Relationship Id="rId15" Type="http://schemas.openxmlformats.org/officeDocument/2006/relationships/slide" Target="slides/slide9.xml"/><Relationship Id="rId37" Type="http://schemas.openxmlformats.org/officeDocument/2006/relationships/font" Target="fonts/Kalam-regular.fntdata"/><Relationship Id="rId14" Type="http://schemas.openxmlformats.org/officeDocument/2006/relationships/slide" Target="slides/slide8.xml"/><Relationship Id="rId36" Type="http://schemas.openxmlformats.org/officeDocument/2006/relationships/font" Target="fonts/Rubik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Kala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4cbe908a3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4cbe908a3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e1a6c290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2e1a6c290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2e1a6c2900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2e1a6c2900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2e1a6c2900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2e1a6c2900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7916525c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77916525c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2e1a6c2900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2e1a6c2900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7916525c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7916525c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8146849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48146849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7916525c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7916525c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e79ec02d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e79ec02d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2e1a6c2900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2e1a6c2900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ca489465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7ca489465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7916525c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7916525c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ca489465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ca489465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ca489465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7ca489465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7ca489465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7ca489465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2e1a6c2900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2e1a6c2900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sential Question">
  <p:cSld name="CUSTOM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0" y="123140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/>
        </p:nvSpPr>
        <p:spPr>
          <a:xfrm>
            <a:off x="-10950" y="2081350"/>
            <a:ext cx="9165900" cy="1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8855"/>
              </a:buClr>
              <a:buSzPts val="1600"/>
              <a:buFont typeface="Lato"/>
              <a:buNone/>
            </a:pPr>
            <a:r>
              <a:t/>
            </a:r>
            <a:endParaRPr sz="2400"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0" y="2223050"/>
            <a:ext cx="91440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●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1pPr>
            <a:lvl2pPr indent="-381000" lvl="1" marL="9144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○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2pPr>
            <a:lvl3pPr indent="-381000" lvl="2" marL="13716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■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3pPr>
            <a:lvl4pPr indent="-381000" lvl="3" marL="18288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●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4pPr>
            <a:lvl5pPr indent="-381000" lvl="4" marL="22860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○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5pPr>
            <a:lvl6pPr indent="-381000" lvl="5" marL="27432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■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6pPr>
            <a:lvl7pPr indent="-381000" lvl="6" marL="32004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●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7pPr>
            <a:lvl8pPr indent="-381000" lvl="7" marL="36576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○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8pPr>
            <a:lvl9pPr indent="-381000" lvl="8" marL="41148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■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">
  <p:cSld name="CUSTOM_1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0" y="4449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2213400" y="1313600"/>
            <a:ext cx="6353100" cy="30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sential Question">
  <p:cSld name="CUSTOM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0" y="123140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/>
        </p:nvSpPr>
        <p:spPr>
          <a:xfrm>
            <a:off x="-10950" y="2081350"/>
            <a:ext cx="9165900" cy="1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8855"/>
              </a:buClr>
              <a:buSzPts val="1600"/>
              <a:buFont typeface="Lato"/>
              <a:buNone/>
            </a:pPr>
            <a:r>
              <a:t/>
            </a:r>
            <a:endParaRPr sz="2400">
              <a:latin typeface="Indie Flower"/>
              <a:ea typeface="Indie Flower"/>
              <a:cs typeface="Indie Flower"/>
              <a:sym typeface="Indie Flower"/>
            </a:endParaRPr>
          </a:p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0" y="2223050"/>
            <a:ext cx="91440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●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1pPr>
            <a:lvl2pPr indent="-381000" lvl="1" marL="9144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○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2pPr>
            <a:lvl3pPr indent="-381000" lvl="2" marL="13716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■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3pPr>
            <a:lvl4pPr indent="-381000" lvl="3" marL="18288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●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4pPr>
            <a:lvl5pPr indent="-381000" lvl="4" marL="22860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○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5pPr>
            <a:lvl6pPr indent="-381000" lvl="5" marL="27432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■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6pPr>
            <a:lvl7pPr indent="-381000" lvl="6" marL="32004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●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7pPr>
            <a:lvl8pPr indent="-381000" lvl="7" marL="36576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○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8pPr>
            <a:lvl9pPr indent="-381000" lvl="8" marL="4114800" rtl="0" algn="ctr">
              <a:spcBef>
                <a:spcPts val="0"/>
              </a:spcBef>
              <a:spcAft>
                <a:spcPts val="0"/>
              </a:spcAft>
              <a:buClr>
                <a:srgbClr val="44AA00"/>
              </a:buClr>
              <a:buSzPts val="2400"/>
              <a:buFont typeface="Indie Flower"/>
              <a:buChar char="■"/>
              <a:defRPr b="1" sz="2400">
                <a:solidFill>
                  <a:srgbClr val="44AA00"/>
                </a:solidFill>
                <a:latin typeface="Indie Flower"/>
                <a:ea typeface="Indie Flower"/>
                <a:cs typeface="Indie Flower"/>
                <a:sym typeface="Indie Flow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">
  <p:cSld name="CUSTOM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0" y="4449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2213400" y="1313600"/>
            <a:ext cx="6353100" cy="30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Vocabulary">
  <p:cSld name="CUSTOM_1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/>
        </p:nvSpPr>
        <p:spPr>
          <a:xfrm>
            <a:off x="887850" y="1020500"/>
            <a:ext cx="17358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9" name="Google Shape;39;p11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0" name="Google Shape;40;p11"/>
          <p:cNvSpPr txBox="1"/>
          <p:nvPr>
            <p:ph type="title"/>
          </p:nvPr>
        </p:nvSpPr>
        <p:spPr>
          <a:xfrm>
            <a:off x="915375" y="1035250"/>
            <a:ext cx="71703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893575" y="2190350"/>
            <a:ext cx="73446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+ Directions">
  <p:cSld name="CUSTOM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4" name="Google Shape;44;p12"/>
          <p:cNvSpPr txBox="1"/>
          <p:nvPr>
            <p:ph type="title"/>
          </p:nvPr>
        </p:nvSpPr>
        <p:spPr>
          <a:xfrm>
            <a:off x="577550" y="1002550"/>
            <a:ext cx="85773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566750" y="2648025"/>
            <a:ext cx="8577300" cy="17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rections Only">
  <p:cSld name="CUSTOM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48" name="Google Shape;48;p13"/>
          <p:cNvSpPr txBox="1"/>
          <p:nvPr>
            <p:ph idx="2" type="body"/>
          </p:nvPr>
        </p:nvSpPr>
        <p:spPr>
          <a:xfrm>
            <a:off x="1138200" y="1770800"/>
            <a:ext cx="6867600" cy="17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  <a:defRPr sz="2000">
                <a:latin typeface="Lato"/>
                <a:ea typeface="Lato"/>
                <a:cs typeface="Lato"/>
                <a:sym typeface="Lato"/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○"/>
              <a:defRPr sz="2000">
                <a:latin typeface="Lato"/>
                <a:ea typeface="Lato"/>
                <a:cs typeface="Lato"/>
                <a:sym typeface="Lato"/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■"/>
              <a:defRPr sz="2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type="title"/>
          </p:nvPr>
        </p:nvSpPr>
        <p:spPr>
          <a:xfrm>
            <a:off x="0" y="7497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CUSTOM_4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4"/>
          <p:cNvCxnSpPr/>
          <p:nvPr/>
        </p:nvCxnSpPr>
        <p:spPr>
          <a:xfrm>
            <a:off x="3166753" y="1960850"/>
            <a:ext cx="0" cy="2244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14"/>
          <p:cNvCxnSpPr/>
          <p:nvPr/>
        </p:nvCxnSpPr>
        <p:spPr>
          <a:xfrm>
            <a:off x="5977234" y="1960850"/>
            <a:ext cx="0" cy="2244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14"/>
          <p:cNvSpPr txBox="1"/>
          <p:nvPr>
            <p:ph type="title"/>
          </p:nvPr>
        </p:nvSpPr>
        <p:spPr>
          <a:xfrm>
            <a:off x="0" y="2670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611613" y="1960850"/>
            <a:ext cx="22998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2" type="body"/>
          </p:nvPr>
        </p:nvSpPr>
        <p:spPr>
          <a:xfrm>
            <a:off x="3422094" y="1960850"/>
            <a:ext cx="22998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3" type="body"/>
          </p:nvPr>
        </p:nvSpPr>
        <p:spPr>
          <a:xfrm>
            <a:off x="6232575" y="1960850"/>
            <a:ext cx="2299800" cy="23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4" type="subTitle"/>
          </p:nvPr>
        </p:nvSpPr>
        <p:spPr>
          <a:xfrm>
            <a:off x="611625" y="1234075"/>
            <a:ext cx="2299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40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5" type="subTitle"/>
          </p:nvPr>
        </p:nvSpPr>
        <p:spPr>
          <a:xfrm>
            <a:off x="3422100" y="1234075"/>
            <a:ext cx="2299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40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6" type="subTitle"/>
          </p:nvPr>
        </p:nvSpPr>
        <p:spPr>
          <a:xfrm>
            <a:off x="6232575" y="1234075"/>
            <a:ext cx="2299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400"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Only">
  <p:cSld name="CUSTOM_5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0" y="519850"/>
            <a:ext cx="91440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577550" y="196150"/>
            <a:ext cx="36396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65" name="Google Shape;65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2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476875" y="4767625"/>
            <a:ext cx="2532437" cy="24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/>
        </p:nvSpPr>
        <p:spPr>
          <a:xfrm>
            <a:off x="622525" y="4720200"/>
            <a:ext cx="5026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commonsense.org/education</a:t>
            </a:r>
            <a:r>
              <a:rPr lang="en" sz="8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600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9999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Shareable with attribution for noncommercial use. Remixing is permitted.</a:t>
            </a:r>
            <a:endParaRPr sz="600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">
            <a:alphaModFix/>
          </a:blip>
          <a:srcRect b="0" l="357" r="357" t="0"/>
          <a:stretch/>
        </p:blipFill>
        <p:spPr>
          <a:xfrm>
            <a:off x="134575" y="4835977"/>
            <a:ext cx="487950" cy="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/>
          <p:nvPr/>
        </p:nvSpPr>
        <p:spPr>
          <a:xfrm>
            <a:off x="0" y="4656675"/>
            <a:ext cx="9144000" cy="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476875" y="4767625"/>
            <a:ext cx="2532437" cy="24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/>
        </p:nvSpPr>
        <p:spPr>
          <a:xfrm>
            <a:off x="622525" y="4720200"/>
            <a:ext cx="5026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commonsense.org/education</a:t>
            </a:r>
            <a:r>
              <a:rPr lang="en" sz="800">
                <a:solidFill>
                  <a:srgbClr val="99999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600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999999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Shareable with attribution for noncommercial use. Remixing is permitted.</a:t>
            </a:r>
            <a:endParaRPr sz="600">
              <a:solidFill>
                <a:srgbClr val="99999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" name="Google Shape;27;p7"/>
          <p:cNvPicPr preferRelativeResize="0"/>
          <p:nvPr/>
        </p:nvPicPr>
        <p:blipFill rotWithShape="1">
          <a:blip r:embed="rId2">
            <a:alphaModFix/>
          </a:blip>
          <a:srcRect b="0" l="357" r="357" t="0"/>
          <a:stretch/>
        </p:blipFill>
        <p:spPr>
          <a:xfrm>
            <a:off x="134575" y="4835977"/>
            <a:ext cx="487950" cy="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/>
          <p:nvPr/>
        </p:nvSpPr>
        <p:spPr>
          <a:xfrm>
            <a:off x="0" y="4656675"/>
            <a:ext cx="9144000" cy="9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5.jpg"/><Relationship Id="rId5" Type="http://schemas.openxmlformats.org/officeDocument/2006/relationships/image" Target="../media/image22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8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commonsense.org/education/videos/ai-explained" TargetMode="External"/><Relationship Id="rId4" Type="http://schemas.openxmlformats.org/officeDocument/2006/relationships/hyperlink" Target="http://www.youtube.com/watch?v=b0KaGBOU4Ys" TargetMode="External"/><Relationship Id="rId5" Type="http://schemas.openxmlformats.org/officeDocument/2006/relationships/image" Target="../media/image9.jpg"/><Relationship Id="rId6" Type="http://schemas.openxmlformats.org/officeDocument/2006/relationships/image" Target="../media/image23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Relationship Id="rId5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3">
            <a:alphaModFix/>
          </a:blip>
          <a:srcRect b="0" l="17321" r="22618" t="0"/>
          <a:stretch/>
        </p:blipFill>
        <p:spPr>
          <a:xfrm>
            <a:off x="3642750" y="-3074"/>
            <a:ext cx="55012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7"/>
          <p:cNvSpPr/>
          <p:nvPr/>
        </p:nvSpPr>
        <p:spPr>
          <a:xfrm>
            <a:off x="-150" y="-3075"/>
            <a:ext cx="3642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125" y="4563276"/>
            <a:ext cx="3064000" cy="2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7"/>
          <p:cNvPicPr preferRelativeResize="0"/>
          <p:nvPr/>
        </p:nvPicPr>
        <p:blipFill rotWithShape="1">
          <a:blip r:embed="rId5">
            <a:alphaModFix/>
          </a:blip>
          <a:srcRect b="-10698" l="15823" r="-1867" t="45025"/>
          <a:stretch/>
        </p:blipFill>
        <p:spPr>
          <a:xfrm>
            <a:off x="0" y="0"/>
            <a:ext cx="2842051" cy="16585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38125" y="1319650"/>
            <a:ext cx="3393000" cy="29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Source Serif Pro"/>
                <a:ea typeface="Source Serif Pro"/>
                <a:cs typeface="Source Serif Pro"/>
                <a:sym typeface="Source Serif Pro"/>
              </a:rPr>
              <a:t>What Is AI?</a:t>
            </a:r>
            <a:endParaRPr sz="3500">
              <a:latin typeface="Source Serif Pro"/>
              <a:ea typeface="Source Serif Pro"/>
              <a:cs typeface="Source Serif Pro"/>
              <a:sym typeface="Source Serif Pro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238125" y="312250"/>
            <a:ext cx="28767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GRADES 6–12</a:t>
            </a:r>
            <a:endParaRPr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lt=&quot;&quot;" id="77" name="Google Shape;77;p17" title="alt=&quot;&quot;"/>
          <p:cNvPicPr preferRelativeResize="0"/>
          <p:nvPr/>
        </p:nvPicPr>
        <p:blipFill rotWithShape="1">
          <a:blip r:embed="rId6">
            <a:alphaModFix/>
          </a:blip>
          <a:srcRect b="10827" l="15935" r="15935" t="10827"/>
          <a:stretch/>
        </p:blipFill>
        <p:spPr>
          <a:xfrm rot="214571">
            <a:off x="5731577" y="134642"/>
            <a:ext cx="1139039" cy="1231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=&quot;&quot;" id="78" name="Google Shape;78;p17" title="alt=&quot;&quot;"/>
          <p:cNvPicPr preferRelativeResize="0"/>
          <p:nvPr/>
        </p:nvPicPr>
        <p:blipFill rotWithShape="1">
          <a:blip r:embed="rId6">
            <a:alphaModFix/>
          </a:blip>
          <a:srcRect b="10827" l="15935" r="15935" t="10827"/>
          <a:stretch/>
        </p:blipFill>
        <p:spPr>
          <a:xfrm rot="1008803">
            <a:off x="6398553" y="1254176"/>
            <a:ext cx="841667" cy="9099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=&quot;&quot;" id="79" name="Google Shape;79;p17" title="alt=&quot;&quot;"/>
          <p:cNvPicPr preferRelativeResize="0"/>
          <p:nvPr/>
        </p:nvPicPr>
        <p:blipFill rotWithShape="1">
          <a:blip r:embed="rId6">
            <a:alphaModFix/>
          </a:blip>
          <a:srcRect b="10827" l="15935" r="15935" t="10827"/>
          <a:stretch/>
        </p:blipFill>
        <p:spPr>
          <a:xfrm rot="-150428">
            <a:off x="5636285" y="1550181"/>
            <a:ext cx="636555" cy="688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b="0" l="5364" r="5373" t="0"/>
          <a:stretch/>
        </p:blipFill>
        <p:spPr>
          <a:xfrm rot="420656">
            <a:off x="767721" y="1650401"/>
            <a:ext cx="2773108" cy="3046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8"/>
          <p:cNvPicPr preferRelativeResize="0"/>
          <p:nvPr/>
        </p:nvPicPr>
        <p:blipFill rotWithShape="1">
          <a:blip r:embed="rId4">
            <a:alphaModFix/>
          </a:blip>
          <a:srcRect b="16395" l="10181" r="2497" t="3707"/>
          <a:stretch/>
        </p:blipFill>
        <p:spPr>
          <a:xfrm>
            <a:off x="5826050" y="230500"/>
            <a:ext cx="2664599" cy="238822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/>
          <p:nvPr/>
        </p:nvSpPr>
        <p:spPr>
          <a:xfrm>
            <a:off x="1865475" y="857000"/>
            <a:ext cx="5413200" cy="3068400"/>
          </a:xfrm>
          <a:prstGeom prst="roundRect">
            <a:avLst>
              <a:gd fmla="val 3591" name="adj"/>
            </a:avLst>
          </a:prstGeom>
          <a:solidFill>
            <a:srgbClr val="FFFFFF"/>
          </a:solidFill>
          <a:ln>
            <a:noFill/>
          </a:ln>
          <a:effectLst>
            <a:outerShdw blurRad="200025" rotWithShape="0" algn="bl" dir="5580000" dist="76200">
              <a:srgbClr val="000000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/>
        </p:nvSpPr>
        <p:spPr>
          <a:xfrm>
            <a:off x="2284525" y="2284175"/>
            <a:ext cx="47307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Lato"/>
                <a:ea typeface="Lato"/>
                <a:cs typeface="Lato"/>
                <a:sym typeface="Lato"/>
              </a:rPr>
              <a:t>What is </a:t>
            </a:r>
            <a:r>
              <a:rPr b="1" lang="en" sz="2400">
                <a:latin typeface="Kalam"/>
                <a:ea typeface="Kalam"/>
                <a:cs typeface="Kalam"/>
                <a:sym typeface="Kalam"/>
              </a:rPr>
              <a:t>artificial intelligence</a:t>
            </a:r>
            <a:r>
              <a:rPr lang="en" sz="2400">
                <a:latin typeface="Kalam"/>
                <a:ea typeface="Kalam"/>
                <a:cs typeface="Kalam"/>
                <a:sym typeface="Kalam"/>
              </a:rPr>
              <a:t>,</a:t>
            </a:r>
            <a:r>
              <a:rPr b="1" lang="en" sz="2400">
                <a:latin typeface="Lato"/>
                <a:ea typeface="Lato"/>
                <a:cs typeface="Lato"/>
                <a:sym typeface="Lato"/>
              </a:rPr>
              <a:t> and what are its potential benefits and drawbacks? </a:t>
            </a:r>
            <a:endParaRPr b="1" sz="2400">
              <a:solidFill>
                <a:srgbClr val="0070F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lt=&quot;&quot;" id="88" name="Google Shape;88;p18" title="alt=&quot;&quot;"/>
          <p:cNvPicPr preferRelativeResize="0"/>
          <p:nvPr/>
        </p:nvPicPr>
        <p:blipFill rotWithShape="1">
          <a:blip r:embed="rId5">
            <a:alphaModFix/>
          </a:blip>
          <a:srcRect b="10827" l="15935" r="15935" t="10827"/>
          <a:stretch/>
        </p:blipFill>
        <p:spPr>
          <a:xfrm>
            <a:off x="2284525" y="640350"/>
            <a:ext cx="798625" cy="86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1772325" y="1551425"/>
            <a:ext cx="55995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Essential Question</a:t>
            </a:r>
            <a:endParaRPr b="1" sz="3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2812" l="0" r="0" t="2803"/>
          <a:stretch/>
        </p:blipFill>
        <p:spPr>
          <a:xfrm>
            <a:off x="3" y="0"/>
            <a:ext cx="1081596" cy="100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=&quot;&quot;" id="95" name="Google Shape;95;p19" title="alt=&quot;&quot;"/>
          <p:cNvPicPr preferRelativeResize="0"/>
          <p:nvPr/>
        </p:nvPicPr>
        <p:blipFill rotWithShape="1">
          <a:blip r:embed="rId4">
            <a:alphaModFix/>
          </a:blip>
          <a:srcRect b="0" l="592" r="583" t="0"/>
          <a:stretch/>
        </p:blipFill>
        <p:spPr>
          <a:xfrm>
            <a:off x="100623" y="108512"/>
            <a:ext cx="824200" cy="78417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1729500" y="1174175"/>
            <a:ext cx="6791400" cy="28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Lato"/>
                <a:ea typeface="Lato"/>
                <a:cs typeface="Lato"/>
                <a:sym typeface="Lato"/>
              </a:rPr>
              <a:t>Define what </a:t>
            </a:r>
            <a:r>
              <a:rPr b="1" lang="en" sz="2400">
                <a:latin typeface="Kalam"/>
                <a:ea typeface="Kalam"/>
                <a:cs typeface="Kalam"/>
                <a:sym typeface="Kalam"/>
              </a:rPr>
              <a:t>artificial</a:t>
            </a:r>
            <a:r>
              <a:rPr b="1" lang="en" sz="2400">
                <a:latin typeface="Kalam"/>
                <a:ea typeface="Kalam"/>
                <a:cs typeface="Kalam"/>
                <a:sym typeface="Kalam"/>
              </a:rPr>
              <a:t> intelligence</a:t>
            </a:r>
            <a:r>
              <a:rPr b="1" lang="en" sz="2400">
                <a:latin typeface="Lato"/>
                <a:ea typeface="Lato"/>
                <a:cs typeface="Lato"/>
                <a:sym typeface="Lato"/>
              </a:rPr>
              <a:t> (AI) is.</a:t>
            </a:r>
            <a:endParaRPr b="1" sz="2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Lato"/>
                <a:ea typeface="Lato"/>
                <a:cs typeface="Lato"/>
                <a:sym typeface="Lato"/>
              </a:rPr>
              <a:t>Understand what makes </a:t>
            </a:r>
            <a:r>
              <a:rPr b="1" lang="en" sz="2400">
                <a:latin typeface="Kalam"/>
                <a:ea typeface="Kalam"/>
                <a:cs typeface="Kalam"/>
                <a:sym typeface="Kalam"/>
              </a:rPr>
              <a:t>generative AI</a:t>
            </a:r>
            <a:r>
              <a:rPr b="1" lang="en" sz="2400">
                <a:latin typeface="Lato"/>
                <a:ea typeface="Lato"/>
                <a:cs typeface="Lato"/>
                <a:sym typeface="Lato"/>
              </a:rPr>
              <a:t> unique.  </a:t>
            </a:r>
            <a:endParaRPr b="1" sz="2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Lato"/>
                <a:ea typeface="Lato"/>
                <a:cs typeface="Lato"/>
                <a:sym typeface="Lato"/>
              </a:rPr>
              <a:t>Reflect on the </a:t>
            </a:r>
            <a:r>
              <a:rPr b="1" lang="en" sz="2400">
                <a:latin typeface="Kalam"/>
                <a:ea typeface="Kalam"/>
                <a:cs typeface="Kalam"/>
                <a:sym typeface="Kalam"/>
              </a:rPr>
              <a:t>benefits and drawbacks</a:t>
            </a:r>
            <a:r>
              <a:rPr b="1" lang="en" sz="2400">
                <a:latin typeface="Lato"/>
                <a:ea typeface="Lato"/>
                <a:cs typeface="Lato"/>
                <a:sym typeface="Lato"/>
              </a:rPr>
              <a:t> of generative AI.</a:t>
            </a:r>
            <a:endParaRPr b="1"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889300" y="323900"/>
            <a:ext cx="26607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LEARNING OBJECTIVES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5605" y="1250367"/>
            <a:ext cx="556375" cy="59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600" y="2188850"/>
            <a:ext cx="556375" cy="61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4825" y="3149375"/>
            <a:ext cx="637875" cy="59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969650" y="1250475"/>
            <a:ext cx="5565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b="1" sz="26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969650" y="2199925"/>
            <a:ext cx="5565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b="1" sz="26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969650" y="3149075"/>
            <a:ext cx="5565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b="1" sz="26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 rotWithShape="1">
          <a:blip r:embed="rId3">
            <a:alphaModFix/>
          </a:blip>
          <a:srcRect b="2812" l="0" r="0" t="2803"/>
          <a:stretch/>
        </p:blipFill>
        <p:spPr>
          <a:xfrm>
            <a:off x="3" y="0"/>
            <a:ext cx="1081596" cy="10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889300" y="323900"/>
            <a:ext cx="27426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WARM-UP POLL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lt=&quot;&quot;" id="110" name="Google Shape;110;p20" title="alt=&quot;&quot;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51" y="288950"/>
            <a:ext cx="423300" cy="4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889300" y="1647000"/>
            <a:ext cx="3766200" cy="18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Lato"/>
                <a:ea typeface="Lato"/>
                <a:cs typeface="Lato"/>
                <a:sym typeface="Lato"/>
              </a:rPr>
              <a:t>Have you ever heard about artificial intelligence, or AI?</a:t>
            </a:r>
            <a:endParaRPr sz="3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6085600" y="1492800"/>
            <a:ext cx="2211900" cy="2157900"/>
          </a:xfrm>
          <a:prstGeom prst="roundRect">
            <a:avLst>
              <a:gd fmla="val 3591" name="adj"/>
            </a:avLst>
          </a:prstGeom>
          <a:solidFill>
            <a:srgbClr val="FFFFFF"/>
          </a:solidFill>
          <a:ln>
            <a:noFill/>
          </a:ln>
          <a:effectLst>
            <a:outerShdw blurRad="200025" rotWithShape="0" algn="bl" dir="5580000" dist="76200">
              <a:srgbClr val="000000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5600" y="1492789"/>
            <a:ext cx="2211901" cy="2092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1"/>
          <p:cNvPicPr preferRelativeResize="0"/>
          <p:nvPr/>
        </p:nvPicPr>
        <p:blipFill rotWithShape="1">
          <a:blip r:embed="rId3">
            <a:alphaModFix/>
          </a:blip>
          <a:srcRect b="2812" l="0" r="0" t="2803"/>
          <a:stretch/>
        </p:blipFill>
        <p:spPr>
          <a:xfrm>
            <a:off x="3" y="0"/>
            <a:ext cx="1081596" cy="10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889300" y="323900"/>
            <a:ext cx="27426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FOLLOW-UP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lt=&quot;&quot;" id="120" name="Google Shape;120;p21" title="alt=&quot;&quot;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151" y="288950"/>
            <a:ext cx="423300" cy="42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/>
          <p:nvPr/>
        </p:nvSpPr>
        <p:spPr>
          <a:xfrm rot="563808">
            <a:off x="7245333" y="1718049"/>
            <a:ext cx="733138" cy="116345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1"/>
          <p:cNvSpPr txBox="1"/>
          <p:nvPr/>
        </p:nvSpPr>
        <p:spPr>
          <a:xfrm>
            <a:off x="889300" y="1132950"/>
            <a:ext cx="4793700" cy="28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Lato"/>
                <a:ea typeface="Lato"/>
                <a:cs typeface="Lato"/>
                <a:sym typeface="Lato"/>
              </a:rPr>
              <a:t>Where have you heard </a:t>
            </a:r>
            <a:br>
              <a:rPr lang="en" sz="3000">
                <a:latin typeface="Lato"/>
                <a:ea typeface="Lato"/>
                <a:cs typeface="Lato"/>
                <a:sym typeface="Lato"/>
              </a:rPr>
            </a:br>
            <a:r>
              <a:rPr lang="en" sz="3000">
                <a:latin typeface="Lato"/>
                <a:ea typeface="Lato"/>
                <a:cs typeface="Lato"/>
                <a:sym typeface="Lato"/>
              </a:rPr>
              <a:t>or seen AI?</a:t>
            </a:r>
            <a:endParaRPr sz="3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Lato"/>
                <a:ea typeface="Lato"/>
                <a:cs typeface="Lato"/>
                <a:sym typeface="Lato"/>
              </a:rPr>
              <a:t>What are some examples of things you think AI can do?</a:t>
            </a:r>
            <a:endParaRPr sz="3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6085600" y="1492800"/>
            <a:ext cx="2211900" cy="2157900"/>
          </a:xfrm>
          <a:prstGeom prst="roundRect">
            <a:avLst>
              <a:gd fmla="val 3591" name="adj"/>
            </a:avLst>
          </a:prstGeom>
          <a:solidFill>
            <a:srgbClr val="FFFFFF"/>
          </a:solidFill>
          <a:ln>
            <a:noFill/>
          </a:ln>
          <a:effectLst>
            <a:outerShdw blurRad="200025" rotWithShape="0" algn="bl" dir="5580000" dist="76200">
              <a:srgbClr val="000000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5">
            <a:alphaModFix/>
          </a:blip>
          <a:srcRect b="0" l="-10" r="10" t="0"/>
          <a:stretch/>
        </p:blipFill>
        <p:spPr>
          <a:xfrm flipH="1" rot="281645">
            <a:off x="6265625" y="1699012"/>
            <a:ext cx="1963750" cy="174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2812" l="0" r="0" t="2803"/>
          <a:stretch/>
        </p:blipFill>
        <p:spPr>
          <a:xfrm>
            <a:off x="3" y="0"/>
            <a:ext cx="1081596" cy="10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874650" y="323900"/>
            <a:ext cx="1779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WATCH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lt=&quot;&quot;" id="131" name="Google Shape;131;p22" title="alt=&quot;&quot;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625" y="265425"/>
            <a:ext cx="470350" cy="4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/>
        </p:nvSpPr>
        <p:spPr>
          <a:xfrm>
            <a:off x="874650" y="1081650"/>
            <a:ext cx="7248300" cy="29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We're going to watch a video that explains what </a:t>
            </a:r>
            <a:br>
              <a:rPr lang="en" sz="2400">
                <a:latin typeface="Lato"/>
                <a:ea typeface="Lato"/>
                <a:cs typeface="Lato"/>
                <a:sym typeface="Lato"/>
              </a:rPr>
            </a:br>
            <a:r>
              <a:rPr lang="en" sz="2400">
                <a:latin typeface="Lato"/>
                <a:ea typeface="Lato"/>
                <a:cs typeface="Lato"/>
                <a:sym typeface="Lato"/>
              </a:rPr>
              <a:t>AI is. And we'll learn about a specific kind of AI that is quite popular right now, called </a:t>
            </a:r>
            <a:r>
              <a:rPr b="1" lang="en" sz="2400">
                <a:latin typeface="Kalam"/>
                <a:ea typeface="Kalam"/>
                <a:cs typeface="Kalam"/>
                <a:sym typeface="Kalam"/>
              </a:rPr>
              <a:t>generative AI</a:t>
            </a:r>
            <a:r>
              <a:rPr lang="en" sz="2400">
                <a:latin typeface="Lato"/>
                <a:ea typeface="Lato"/>
                <a:cs typeface="Lato"/>
                <a:sym typeface="Lato"/>
              </a:rPr>
              <a:t>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Complete the active viewing guide as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you watch the video. 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/>
        </p:nvSpPr>
        <p:spPr>
          <a:xfrm>
            <a:off x="305625" y="3906900"/>
            <a:ext cx="45720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latin typeface="Lato"/>
                <a:ea typeface="Lato"/>
                <a:cs typeface="Lato"/>
                <a:sym typeface="Lato"/>
              </a:rPr>
              <a:t>To watch the video on the Common Sense Education website, </a:t>
            </a:r>
            <a:r>
              <a:rPr b="1" lang="en" sz="800">
                <a:solidFill>
                  <a:srgbClr val="423FE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</a:t>
            </a:r>
            <a:r>
              <a:rPr lang="en" sz="800">
                <a:latin typeface="Lato"/>
                <a:ea typeface="Lato"/>
                <a:cs typeface="Lato"/>
                <a:sym typeface="Lato"/>
              </a:rPr>
              <a:t>.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What is AI and how does it work? And is generative AI the same thing? (Spoiler alert: it's not!) &#10;We'll break it down for you and have you considering benefits and drawbacks of this rapidly evolving technology.&quot;" id="138" name="Google Shape;138;p23" title="AI Explaine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625" y="1236600"/>
            <a:ext cx="4747200" cy="26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/>
        </p:nvSpPr>
        <p:spPr>
          <a:xfrm>
            <a:off x="874650" y="323900"/>
            <a:ext cx="1779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WATCH 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5230475" y="1236700"/>
            <a:ext cx="3630900" cy="26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What is artificial intelligence?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How does artificial intelligence learn?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Lato"/>
              <a:buChar char="●"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What makes </a:t>
            </a:r>
            <a:br>
              <a:rPr lang="en" sz="2000">
                <a:latin typeface="Lato"/>
                <a:ea typeface="Lato"/>
                <a:cs typeface="Lato"/>
                <a:sym typeface="Lato"/>
              </a:rPr>
            </a:br>
            <a:r>
              <a:rPr lang="en" sz="2000">
                <a:latin typeface="Lato"/>
                <a:ea typeface="Lato"/>
                <a:cs typeface="Lato"/>
                <a:sym typeface="Lato"/>
              </a:rPr>
              <a:t>"generative AI" unique?</a:t>
            </a:r>
            <a:endParaRPr b="1" sz="2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1" name="Google Shape;141;p23"/>
          <p:cNvPicPr preferRelativeResize="0"/>
          <p:nvPr/>
        </p:nvPicPr>
        <p:blipFill rotWithShape="1">
          <a:blip r:embed="rId6">
            <a:alphaModFix/>
          </a:blip>
          <a:srcRect b="2812" l="0" r="0" t="2803"/>
          <a:stretch/>
        </p:blipFill>
        <p:spPr>
          <a:xfrm>
            <a:off x="3" y="0"/>
            <a:ext cx="1081596" cy="100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=&quot;&quot;" id="142" name="Google Shape;142;p23" title="alt=&quot;&quot;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5625" y="265425"/>
            <a:ext cx="470350" cy="47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4"/>
          <p:cNvPicPr preferRelativeResize="0"/>
          <p:nvPr/>
        </p:nvPicPr>
        <p:blipFill rotWithShape="1">
          <a:blip r:embed="rId3">
            <a:alphaModFix/>
          </a:blip>
          <a:srcRect b="0" l="5364" r="5373" t="0"/>
          <a:stretch/>
        </p:blipFill>
        <p:spPr>
          <a:xfrm rot="420656">
            <a:off x="767721" y="1650401"/>
            <a:ext cx="2773108" cy="3046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/>
          <p:cNvPicPr preferRelativeResize="0"/>
          <p:nvPr/>
        </p:nvPicPr>
        <p:blipFill rotWithShape="1">
          <a:blip r:embed="rId4">
            <a:alphaModFix/>
          </a:blip>
          <a:srcRect b="0" l="1380" r="1380" t="0"/>
          <a:stretch/>
        </p:blipFill>
        <p:spPr>
          <a:xfrm rot="175627">
            <a:off x="5359348" y="18325"/>
            <a:ext cx="3026878" cy="30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/>
          <p:nvPr/>
        </p:nvSpPr>
        <p:spPr>
          <a:xfrm>
            <a:off x="1865475" y="857000"/>
            <a:ext cx="5413200" cy="3068400"/>
          </a:xfrm>
          <a:prstGeom prst="roundRect">
            <a:avLst>
              <a:gd fmla="val 3591" name="adj"/>
            </a:avLst>
          </a:prstGeom>
          <a:solidFill>
            <a:srgbClr val="FFFFFF"/>
          </a:solidFill>
          <a:ln>
            <a:noFill/>
          </a:ln>
          <a:effectLst>
            <a:outerShdw blurRad="200025" rotWithShape="0" algn="bl" dir="5580000" dist="76200">
              <a:srgbClr val="000000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/>
        </p:nvSpPr>
        <p:spPr>
          <a:xfrm>
            <a:off x="2003825" y="1872575"/>
            <a:ext cx="52236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700">
                <a:latin typeface="Kalam"/>
                <a:ea typeface="Kalam"/>
                <a:cs typeface="Kalam"/>
                <a:sym typeface="Kalam"/>
              </a:rPr>
              <a:t>Artificial Intelligence</a:t>
            </a:r>
            <a:r>
              <a:rPr b="1" lang="en" sz="23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2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Lato"/>
                <a:ea typeface="Lato"/>
                <a:cs typeface="Lato"/>
                <a:sym typeface="Lato"/>
              </a:rPr>
              <a:t>a computer program that can perform tasks that typically require human intelligence</a:t>
            </a:r>
            <a:endParaRPr b="1"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1772325" y="1139825"/>
            <a:ext cx="55995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Key Vocabulary</a:t>
            </a:r>
            <a:endParaRPr b="1" sz="3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2" name="Google Shape;152;p24"/>
          <p:cNvPicPr preferRelativeResize="0"/>
          <p:nvPr/>
        </p:nvPicPr>
        <p:blipFill rotWithShape="1">
          <a:blip r:embed="rId5">
            <a:alphaModFix/>
          </a:blip>
          <a:srcRect b="1996" l="0" r="0" t="1996"/>
          <a:stretch/>
        </p:blipFill>
        <p:spPr>
          <a:xfrm rot="-3">
            <a:off x="2654173" y="2184860"/>
            <a:ext cx="3738030" cy="393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=&quot;&quot;" id="153" name="Google Shape;153;p24" title="alt=&quot;&quot;"/>
          <p:cNvPicPr preferRelativeResize="0"/>
          <p:nvPr/>
        </p:nvPicPr>
        <p:blipFill rotWithShape="1">
          <a:blip r:embed="rId6">
            <a:alphaModFix/>
          </a:blip>
          <a:srcRect b="0" l="22883" r="22889" t="0"/>
          <a:stretch/>
        </p:blipFill>
        <p:spPr>
          <a:xfrm>
            <a:off x="2378775" y="353525"/>
            <a:ext cx="785926" cy="136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/>
          <p:nvPr/>
        </p:nvSpPr>
        <p:spPr>
          <a:xfrm>
            <a:off x="75" y="-12"/>
            <a:ext cx="9144000" cy="4655400"/>
          </a:xfrm>
          <a:prstGeom prst="rect">
            <a:avLst/>
          </a:prstGeom>
          <a:solidFill>
            <a:srgbClr val="FFEA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425" y="138500"/>
            <a:ext cx="6495876" cy="43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/>
          <p:nvPr/>
        </p:nvSpPr>
        <p:spPr>
          <a:xfrm>
            <a:off x="1865475" y="793488"/>
            <a:ext cx="5413200" cy="3068400"/>
          </a:xfrm>
          <a:prstGeom prst="roundRect">
            <a:avLst>
              <a:gd fmla="val 3591" name="adj"/>
            </a:avLst>
          </a:prstGeom>
          <a:solidFill>
            <a:srgbClr val="FFFFFF"/>
          </a:solidFill>
          <a:ln>
            <a:noFill/>
          </a:ln>
          <a:effectLst>
            <a:outerShdw blurRad="200025" rotWithShape="0" algn="bl" dir="5580000" dist="76200">
              <a:srgbClr val="000000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5"/>
          <p:cNvSpPr txBox="1"/>
          <p:nvPr/>
        </p:nvSpPr>
        <p:spPr>
          <a:xfrm>
            <a:off x="1865475" y="793488"/>
            <a:ext cx="5413200" cy="30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Artificial intelligence learns by </a:t>
            </a:r>
            <a:br>
              <a:rPr lang="en" sz="2400">
                <a:latin typeface="Lato"/>
                <a:ea typeface="Lato"/>
                <a:cs typeface="Lato"/>
                <a:sym typeface="Lato"/>
              </a:rPr>
            </a:br>
            <a:r>
              <a:rPr lang="en" sz="2400">
                <a:latin typeface="Lato"/>
                <a:ea typeface="Lato"/>
                <a:cs typeface="Lato"/>
                <a:sym typeface="Lato"/>
              </a:rPr>
              <a:t>analyzing </a:t>
            </a:r>
            <a:r>
              <a:rPr b="1" lang="en" sz="2400">
                <a:latin typeface="Kalam"/>
                <a:ea typeface="Kalam"/>
                <a:cs typeface="Kalam"/>
                <a:sym typeface="Kalam"/>
              </a:rPr>
              <a:t>data</a:t>
            </a:r>
            <a:r>
              <a:rPr lang="en" sz="2400">
                <a:latin typeface="Lato"/>
                <a:ea typeface="Lato"/>
                <a:cs typeface="Lato"/>
                <a:sym typeface="Lato"/>
              </a:rPr>
              <a:t>, or information. </a:t>
            </a:r>
            <a:br>
              <a:rPr lang="en" sz="2400">
                <a:latin typeface="Lato"/>
                <a:ea typeface="Lato"/>
                <a:cs typeface="Lato"/>
                <a:sym typeface="Lato"/>
              </a:rPr>
            </a:br>
            <a:r>
              <a:rPr lang="en" sz="2400">
                <a:latin typeface="Lato"/>
                <a:ea typeface="Lato"/>
                <a:cs typeface="Lato"/>
                <a:sym typeface="Lato"/>
              </a:rPr>
              <a:t>The more data you feed to an AI, the more </a:t>
            </a:r>
            <a:r>
              <a:rPr lang="en" sz="2400">
                <a:latin typeface="Lato"/>
                <a:ea typeface="Lato"/>
                <a:cs typeface="Lato"/>
                <a:sym typeface="Lato"/>
              </a:rPr>
              <a:t>accurate</a:t>
            </a:r>
            <a:r>
              <a:rPr lang="en" sz="2400">
                <a:latin typeface="Lato"/>
                <a:ea typeface="Lato"/>
                <a:cs typeface="Lato"/>
                <a:sym typeface="Lato"/>
              </a:rPr>
              <a:t> it can become at completing a task.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889300" y="323900"/>
            <a:ext cx="1969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EXPLAIN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 rotWithShape="1">
          <a:blip r:embed="rId4">
            <a:alphaModFix/>
          </a:blip>
          <a:srcRect b="2812" l="0" r="0" t="2803"/>
          <a:stretch/>
        </p:blipFill>
        <p:spPr>
          <a:xfrm>
            <a:off x="3" y="0"/>
            <a:ext cx="1081596" cy="10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 rotWithShape="1">
          <a:blip r:embed="rId5">
            <a:alphaModFix/>
          </a:blip>
          <a:srcRect b="0" l="5737" r="5728" t="0"/>
          <a:stretch/>
        </p:blipFill>
        <p:spPr>
          <a:xfrm>
            <a:off x="280863" y="240663"/>
            <a:ext cx="519875" cy="5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5364" r="5373" t="0"/>
          <a:stretch/>
        </p:blipFill>
        <p:spPr>
          <a:xfrm rot="420656">
            <a:off x="767721" y="1650401"/>
            <a:ext cx="2773108" cy="3046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6"/>
          <p:cNvPicPr preferRelativeResize="0"/>
          <p:nvPr/>
        </p:nvPicPr>
        <p:blipFill rotWithShape="1">
          <a:blip r:embed="rId4">
            <a:alphaModFix/>
          </a:blip>
          <a:srcRect b="0" l="1380" r="1380" t="0"/>
          <a:stretch/>
        </p:blipFill>
        <p:spPr>
          <a:xfrm rot="175627">
            <a:off x="5359348" y="18325"/>
            <a:ext cx="3026878" cy="308117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/>
          <p:nvPr/>
        </p:nvSpPr>
        <p:spPr>
          <a:xfrm>
            <a:off x="1865475" y="857000"/>
            <a:ext cx="5413200" cy="3068400"/>
          </a:xfrm>
          <a:prstGeom prst="roundRect">
            <a:avLst>
              <a:gd fmla="val 3591" name="adj"/>
            </a:avLst>
          </a:prstGeom>
          <a:solidFill>
            <a:srgbClr val="FFFFFF"/>
          </a:solidFill>
          <a:ln>
            <a:noFill/>
          </a:ln>
          <a:effectLst>
            <a:outerShdw blurRad="200025" rotWithShape="0" algn="bl" dir="5580000" dist="76200">
              <a:srgbClr val="000000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2003825" y="1872575"/>
            <a:ext cx="52236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700">
                <a:latin typeface="Kalam"/>
                <a:ea typeface="Kalam"/>
                <a:cs typeface="Kalam"/>
                <a:sym typeface="Kalam"/>
              </a:rPr>
              <a:t>Generative AI</a:t>
            </a:r>
            <a:endParaRPr b="1" sz="2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Lato"/>
                <a:ea typeface="Lato"/>
                <a:cs typeface="Lato"/>
                <a:sym typeface="Lato"/>
              </a:rPr>
              <a:t>a type of AI that can create content, including text, images, and audio</a:t>
            </a:r>
            <a:endParaRPr b="1"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1772325" y="1139825"/>
            <a:ext cx="5599500" cy="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Key Vocabulary</a:t>
            </a:r>
            <a:endParaRPr b="1" sz="3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4" name="Google Shape;174;p26"/>
          <p:cNvPicPr preferRelativeResize="0"/>
          <p:nvPr/>
        </p:nvPicPr>
        <p:blipFill rotWithShape="1">
          <a:blip r:embed="rId5">
            <a:alphaModFix/>
          </a:blip>
          <a:srcRect b="1996" l="0" r="0" t="1996"/>
          <a:stretch/>
        </p:blipFill>
        <p:spPr>
          <a:xfrm rot="4">
            <a:off x="3223648" y="2184412"/>
            <a:ext cx="2619918" cy="39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=&quot;&quot;" id="175" name="Google Shape;175;p26" title="alt=&quot;&quot;"/>
          <p:cNvPicPr preferRelativeResize="0"/>
          <p:nvPr/>
        </p:nvPicPr>
        <p:blipFill rotWithShape="1">
          <a:blip r:embed="rId6">
            <a:alphaModFix/>
          </a:blip>
          <a:srcRect b="0" l="22883" r="22889" t="0"/>
          <a:stretch/>
        </p:blipFill>
        <p:spPr>
          <a:xfrm>
            <a:off x="2378775" y="353525"/>
            <a:ext cx="785926" cy="136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889300" y="967950"/>
            <a:ext cx="47295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Lato"/>
                <a:ea typeface="Lato"/>
                <a:cs typeface="Lato"/>
                <a:sym typeface="Lato"/>
              </a:rPr>
              <a:t>Given what you know, do you think generative AI will be </a:t>
            </a:r>
            <a:r>
              <a:rPr b="1" lang="en" sz="2400">
                <a:latin typeface="Kalam"/>
                <a:ea typeface="Kalam"/>
                <a:cs typeface="Kalam"/>
                <a:sym typeface="Kalam"/>
              </a:rPr>
              <a:t>more helpful</a:t>
            </a:r>
            <a:r>
              <a:rPr b="1" lang="en" sz="2400">
                <a:latin typeface="Lato"/>
                <a:ea typeface="Lato"/>
                <a:cs typeface="Lato"/>
                <a:sym typeface="Lato"/>
              </a:rPr>
              <a:t> or </a:t>
            </a:r>
            <a:r>
              <a:rPr b="1" lang="en" sz="2400">
                <a:latin typeface="Kalam"/>
                <a:ea typeface="Kalam"/>
                <a:cs typeface="Kalam"/>
                <a:sym typeface="Kalam"/>
              </a:rPr>
              <a:t>more </a:t>
            </a:r>
            <a:r>
              <a:rPr b="1" lang="en" sz="2400">
                <a:latin typeface="Kalam"/>
                <a:ea typeface="Kalam"/>
                <a:cs typeface="Kalam"/>
                <a:sym typeface="Kalam"/>
              </a:rPr>
              <a:t>harmful</a:t>
            </a:r>
            <a:r>
              <a:rPr b="1" lang="en" sz="2400">
                <a:latin typeface="Lato"/>
                <a:ea typeface="Lato"/>
                <a:cs typeface="Lato"/>
                <a:sym typeface="Lato"/>
              </a:rPr>
              <a:t> to society?</a:t>
            </a:r>
            <a:endParaRPr b="1" sz="24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Pick the side that you agree with the most. Be sure to have at least one reason to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support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 your opinion.</a:t>
            </a:r>
            <a:endParaRPr b="1"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889300" y="323900"/>
            <a:ext cx="1779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TAKE A STAND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2" name="Google Shape;182;p27"/>
          <p:cNvPicPr preferRelativeResize="0"/>
          <p:nvPr/>
        </p:nvPicPr>
        <p:blipFill rotWithShape="1">
          <a:blip r:embed="rId3">
            <a:alphaModFix/>
          </a:blip>
          <a:srcRect b="2812" l="0" r="0" t="2803"/>
          <a:stretch/>
        </p:blipFill>
        <p:spPr>
          <a:xfrm>
            <a:off x="3" y="0"/>
            <a:ext cx="1081596" cy="100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 rotWithShape="1">
          <a:blip r:embed="rId4">
            <a:alphaModFix/>
          </a:blip>
          <a:srcRect b="0" l="3470" r="3480" t="0"/>
          <a:stretch/>
        </p:blipFill>
        <p:spPr>
          <a:xfrm>
            <a:off x="255875" y="256700"/>
            <a:ext cx="569850" cy="54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/>
          <p:nvPr/>
        </p:nvSpPr>
        <p:spPr>
          <a:xfrm>
            <a:off x="6085600" y="1492800"/>
            <a:ext cx="2211900" cy="2157900"/>
          </a:xfrm>
          <a:prstGeom prst="roundRect">
            <a:avLst>
              <a:gd fmla="val 3591" name="adj"/>
            </a:avLst>
          </a:prstGeom>
          <a:solidFill>
            <a:srgbClr val="FFFFFF"/>
          </a:solidFill>
          <a:ln>
            <a:noFill/>
          </a:ln>
          <a:effectLst>
            <a:outerShdw blurRad="200025" rotWithShape="0" algn="bl" dir="5580000" dist="76200">
              <a:srgbClr val="000000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6125000" y="1623747"/>
            <a:ext cx="2133100" cy="1896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/>
        </p:nvSpPr>
        <p:spPr>
          <a:xfrm>
            <a:off x="889300" y="323900"/>
            <a:ext cx="1779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REFLECT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 rotWithShape="1">
          <a:blip r:embed="rId3">
            <a:alphaModFix/>
          </a:blip>
          <a:srcRect b="2812" l="0" r="0" t="2803"/>
          <a:stretch/>
        </p:blipFill>
        <p:spPr>
          <a:xfrm>
            <a:off x="3" y="0"/>
            <a:ext cx="1081596" cy="100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=&quot;&quot;&#10;" id="192" name="Google Shape;192;p28" title="alt=&quot;&quot;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675" y="275150"/>
            <a:ext cx="660251" cy="62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8"/>
          <p:cNvSpPr txBox="1"/>
          <p:nvPr/>
        </p:nvSpPr>
        <p:spPr>
          <a:xfrm>
            <a:off x="150" y="750925"/>
            <a:ext cx="9144000" cy="18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Lato"/>
                <a:ea typeface="Lato"/>
                <a:cs typeface="Lato"/>
                <a:sym typeface="Lato"/>
              </a:rPr>
              <a:t>How could generative </a:t>
            </a:r>
            <a:br>
              <a:rPr b="1" lang="en" sz="3000">
                <a:latin typeface="Lato"/>
                <a:ea typeface="Lato"/>
                <a:cs typeface="Lato"/>
                <a:sym typeface="Lato"/>
              </a:rPr>
            </a:br>
            <a:r>
              <a:rPr b="1" lang="en" sz="3000">
                <a:latin typeface="Lato"/>
                <a:ea typeface="Lato"/>
                <a:cs typeface="Lato"/>
                <a:sym typeface="Lato"/>
              </a:rPr>
              <a:t>AI be harmful to society?</a:t>
            </a:r>
            <a:endParaRPr b="1" sz="3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3847052" y="2600425"/>
            <a:ext cx="1449900" cy="1414500"/>
          </a:xfrm>
          <a:prstGeom prst="roundRect">
            <a:avLst>
              <a:gd fmla="val 3591" name="adj"/>
            </a:avLst>
          </a:prstGeom>
          <a:solidFill>
            <a:srgbClr val="FFFFFF"/>
          </a:solidFill>
          <a:ln>
            <a:noFill/>
          </a:ln>
          <a:effectLst>
            <a:outerShdw blurRad="200025" rotWithShape="0" algn="bl" dir="5580000" dist="76200">
              <a:srgbClr val="000000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6813" y="2716400"/>
            <a:ext cx="1330375" cy="118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/>
        </p:nvSpPr>
        <p:spPr>
          <a:xfrm>
            <a:off x="889300" y="970050"/>
            <a:ext cx="8090100" cy="3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Lato"/>
                <a:ea typeface="Lato"/>
                <a:cs typeface="Lato"/>
                <a:sym typeface="Lato"/>
              </a:rPr>
              <a:t>How could generative AI be harmful to society?</a:t>
            </a:r>
            <a:endParaRPr b="1" sz="24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b="1" lang="en" sz="2000">
                <a:latin typeface="Lato"/>
                <a:ea typeface="Lato"/>
                <a:cs typeface="Lato"/>
                <a:sym typeface="Lato"/>
              </a:rPr>
              <a:t>Misinformation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: It could be used to create fake articles, videos, or images that are convincing and can be shared easily. 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b="1" lang="en" sz="2000">
                <a:latin typeface="Lato"/>
                <a:ea typeface="Lato"/>
                <a:cs typeface="Lato"/>
                <a:sym typeface="Lato"/>
              </a:rPr>
              <a:t>Plagiarism and copyright issues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: It might have learned using data without permission, or it might not give credit to its sources.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Char char="●"/>
            </a:pPr>
            <a:r>
              <a:rPr b="1" lang="en" sz="2000">
                <a:latin typeface="Lato"/>
                <a:ea typeface="Lato"/>
                <a:cs typeface="Lato"/>
                <a:sym typeface="Lato"/>
              </a:rPr>
              <a:t>Bias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: It might be trained on biased or incomplete information.</a:t>
            </a:r>
            <a:endParaRPr sz="20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Font typeface="Lato"/>
              <a:buChar char="●"/>
            </a:pPr>
            <a:r>
              <a:rPr b="1"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Other harms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Impersonation, cyberbullying, privacy threats, etc.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889300" y="323900"/>
            <a:ext cx="1779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REFLECT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2" name="Google Shape;202;p29"/>
          <p:cNvPicPr preferRelativeResize="0"/>
          <p:nvPr/>
        </p:nvPicPr>
        <p:blipFill rotWithShape="1">
          <a:blip r:embed="rId3">
            <a:alphaModFix/>
          </a:blip>
          <a:srcRect b="2812" l="0" r="0" t="2803"/>
          <a:stretch/>
        </p:blipFill>
        <p:spPr>
          <a:xfrm>
            <a:off x="3" y="0"/>
            <a:ext cx="1081596" cy="100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=&quot;&quot;&#10;" id="203" name="Google Shape;203;p29" title="alt=&quot;&quot;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675" y="275150"/>
            <a:ext cx="660251" cy="62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/>
        </p:nvSpPr>
        <p:spPr>
          <a:xfrm>
            <a:off x="889300" y="323900"/>
            <a:ext cx="1779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REFLECT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9" name="Google Shape;209;p30"/>
          <p:cNvPicPr preferRelativeResize="0"/>
          <p:nvPr/>
        </p:nvPicPr>
        <p:blipFill rotWithShape="1">
          <a:blip r:embed="rId3">
            <a:alphaModFix/>
          </a:blip>
          <a:srcRect b="2812" l="0" r="0" t="2803"/>
          <a:stretch/>
        </p:blipFill>
        <p:spPr>
          <a:xfrm>
            <a:off x="3" y="0"/>
            <a:ext cx="1081596" cy="100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=&quot;&quot;&#10;" id="210" name="Google Shape;210;p30" title="alt=&quot;&quot;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675" y="275150"/>
            <a:ext cx="660251" cy="62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0"/>
          <p:cNvSpPr txBox="1"/>
          <p:nvPr/>
        </p:nvSpPr>
        <p:spPr>
          <a:xfrm>
            <a:off x="150" y="750925"/>
            <a:ext cx="9144000" cy="18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Lato"/>
                <a:ea typeface="Lato"/>
                <a:cs typeface="Lato"/>
                <a:sym typeface="Lato"/>
              </a:rPr>
              <a:t>How could generative AI </a:t>
            </a:r>
            <a:br>
              <a:rPr b="1" lang="en" sz="3000">
                <a:latin typeface="Lato"/>
                <a:ea typeface="Lato"/>
                <a:cs typeface="Lato"/>
                <a:sym typeface="Lato"/>
              </a:rPr>
            </a:br>
            <a:r>
              <a:rPr b="1" lang="en" sz="3000">
                <a:latin typeface="Lato"/>
                <a:ea typeface="Lato"/>
                <a:cs typeface="Lato"/>
                <a:sym typeface="Lato"/>
              </a:rPr>
              <a:t>be helpful to society?</a:t>
            </a:r>
            <a:endParaRPr b="1" sz="3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2" name="Google Shape;212;p30"/>
          <p:cNvSpPr/>
          <p:nvPr/>
        </p:nvSpPr>
        <p:spPr>
          <a:xfrm>
            <a:off x="3847052" y="2600425"/>
            <a:ext cx="1449900" cy="1414500"/>
          </a:xfrm>
          <a:prstGeom prst="roundRect">
            <a:avLst>
              <a:gd fmla="val 3591" name="adj"/>
            </a:avLst>
          </a:prstGeom>
          <a:solidFill>
            <a:srgbClr val="FFFFFF"/>
          </a:solidFill>
          <a:ln>
            <a:noFill/>
          </a:ln>
          <a:effectLst>
            <a:outerShdw blurRad="200025" rotWithShape="0" algn="bl" dir="5580000" dist="76200">
              <a:srgbClr val="000000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0712" y="2728625"/>
            <a:ext cx="1302875" cy="115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/>
        </p:nvSpPr>
        <p:spPr>
          <a:xfrm>
            <a:off x="889300" y="323900"/>
            <a:ext cx="1779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REFLECT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9" name="Google Shape;219;p31"/>
          <p:cNvPicPr preferRelativeResize="0"/>
          <p:nvPr/>
        </p:nvPicPr>
        <p:blipFill rotWithShape="1">
          <a:blip r:embed="rId3">
            <a:alphaModFix/>
          </a:blip>
          <a:srcRect b="2812" l="0" r="0" t="2803"/>
          <a:stretch/>
        </p:blipFill>
        <p:spPr>
          <a:xfrm>
            <a:off x="3" y="0"/>
            <a:ext cx="1081596" cy="100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t=&quot;&quot;&#10;" id="220" name="Google Shape;220;p31" title="alt=&quot;&quot;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675" y="275150"/>
            <a:ext cx="660251" cy="628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/>
          <p:nvPr/>
        </p:nvSpPr>
        <p:spPr>
          <a:xfrm>
            <a:off x="889300" y="970050"/>
            <a:ext cx="8090100" cy="3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Lato"/>
                <a:ea typeface="Lato"/>
                <a:cs typeface="Lato"/>
                <a:sym typeface="Lato"/>
              </a:rPr>
              <a:t>How could generative AI be helpful to society? </a:t>
            </a:r>
            <a:endParaRPr b="1" sz="24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b="1"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Efficiency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People could use it to be more productive in their jobs (data entry, writing, analyzing information, etc.)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b="1"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Creativity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Could produce high-quality creative content, including art, music, and writing.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b="1"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Learning</a:t>
            </a: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It can help people learn new skills.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Lato"/>
              <a:buChar char="●"/>
            </a:pPr>
            <a:r>
              <a:rPr lang="en" sz="2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Other helpful contributions?</a:t>
            </a:r>
            <a:endParaRPr b="1" sz="2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/>
          <p:nvPr/>
        </p:nvSpPr>
        <p:spPr>
          <a:xfrm>
            <a:off x="75" y="0"/>
            <a:ext cx="9144000" cy="4655400"/>
          </a:xfrm>
          <a:prstGeom prst="rect">
            <a:avLst/>
          </a:prstGeom>
          <a:solidFill>
            <a:srgbClr val="F1E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2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1301425" y="138500"/>
            <a:ext cx="6495877" cy="437837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/>
          <p:nvPr/>
        </p:nvSpPr>
        <p:spPr>
          <a:xfrm>
            <a:off x="1865475" y="793488"/>
            <a:ext cx="5413200" cy="3068400"/>
          </a:xfrm>
          <a:prstGeom prst="roundRect">
            <a:avLst>
              <a:gd fmla="val 3591" name="adj"/>
            </a:avLst>
          </a:prstGeom>
          <a:solidFill>
            <a:srgbClr val="FFFFFF"/>
          </a:solidFill>
          <a:ln>
            <a:noFill/>
          </a:ln>
          <a:effectLst>
            <a:outerShdw blurRad="200025" rotWithShape="0" algn="bl" dir="5580000" dist="76200">
              <a:srgbClr val="000000">
                <a:alpha val="2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32"/>
          <p:cNvPicPr preferRelativeResize="0"/>
          <p:nvPr/>
        </p:nvPicPr>
        <p:blipFill rotWithShape="1">
          <a:blip r:embed="rId4">
            <a:alphaModFix/>
          </a:blip>
          <a:srcRect b="2812" l="0" r="0" t="2803"/>
          <a:stretch/>
        </p:blipFill>
        <p:spPr>
          <a:xfrm>
            <a:off x="3" y="0"/>
            <a:ext cx="1081596" cy="10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/>
          <p:nvPr/>
        </p:nvSpPr>
        <p:spPr>
          <a:xfrm>
            <a:off x="1865475" y="793500"/>
            <a:ext cx="5413200" cy="30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Balancing the potential benefits </a:t>
            </a:r>
            <a:br>
              <a:rPr lang="en" sz="2000">
                <a:latin typeface="Lato"/>
                <a:ea typeface="Lato"/>
                <a:cs typeface="Lato"/>
                <a:sym typeface="Lato"/>
              </a:rPr>
            </a:br>
            <a:r>
              <a:rPr lang="en" sz="2000">
                <a:latin typeface="Lato"/>
                <a:ea typeface="Lato"/>
                <a:cs typeface="Lato"/>
                <a:sym typeface="Lato"/>
              </a:rPr>
              <a:t>and drawbacks of a new technology </a:t>
            </a:r>
            <a:br>
              <a:rPr lang="en" sz="2000">
                <a:latin typeface="Lato"/>
                <a:ea typeface="Lato"/>
                <a:cs typeface="Lato"/>
                <a:sym typeface="Lato"/>
              </a:rPr>
            </a:br>
            <a:r>
              <a:rPr lang="en" sz="2000">
                <a:latin typeface="Lato"/>
                <a:ea typeface="Lato"/>
                <a:cs typeface="Lato"/>
                <a:sym typeface="Lato"/>
              </a:rPr>
              <a:t>can be tricky. When it comes to AI and generative AI, we must </a:t>
            </a:r>
            <a:r>
              <a:rPr b="1" lang="en" sz="2000">
                <a:latin typeface="Kalam"/>
                <a:ea typeface="Kalam"/>
                <a:cs typeface="Kalam"/>
                <a:sym typeface="Kalam"/>
              </a:rPr>
              <a:t>think critically </a:t>
            </a:r>
            <a:br>
              <a:rPr b="1" lang="en" sz="2000">
                <a:latin typeface="Kalam"/>
                <a:ea typeface="Kalam"/>
                <a:cs typeface="Kalam"/>
                <a:sym typeface="Kalam"/>
              </a:rPr>
            </a:br>
            <a:r>
              <a:rPr b="1" lang="en" sz="2000">
                <a:latin typeface="Kalam"/>
                <a:ea typeface="Kalam"/>
                <a:cs typeface="Kalam"/>
                <a:sym typeface="Kalam"/>
              </a:rPr>
              <a:t>about its impacts</a:t>
            </a:r>
            <a:r>
              <a:rPr b="1" lang="en" sz="20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2000">
                <a:latin typeface="Lato"/>
                <a:ea typeface="Lato"/>
                <a:cs typeface="Lato"/>
                <a:sym typeface="Lato"/>
              </a:rPr>
              <a:t>and remember that we're each in control of how we use it.</a:t>
            </a:r>
            <a:endParaRPr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32"/>
          <p:cNvSpPr txBox="1"/>
          <p:nvPr/>
        </p:nvSpPr>
        <p:spPr>
          <a:xfrm>
            <a:off x="889300" y="323900"/>
            <a:ext cx="1969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CLOSING REFLECTION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2" name="Google Shape;232;p32"/>
          <p:cNvPicPr preferRelativeResize="0"/>
          <p:nvPr/>
        </p:nvPicPr>
        <p:blipFill rotWithShape="1">
          <a:blip r:embed="rId5">
            <a:alphaModFix/>
          </a:blip>
          <a:srcRect b="0" l="3470" r="3480" t="0"/>
          <a:stretch/>
        </p:blipFill>
        <p:spPr>
          <a:xfrm>
            <a:off x="250825" y="237150"/>
            <a:ext cx="579950" cy="55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"/>
          <p:cNvSpPr/>
          <p:nvPr/>
        </p:nvSpPr>
        <p:spPr>
          <a:xfrm>
            <a:off x="-287" y="0"/>
            <a:ext cx="9144000" cy="51435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and drawn sentence that says, &quot;We can thrive in a digital world&quot;." id="238" name="Google Shape;238;p33" title="We can thrive in a digital world"/>
          <p:cNvPicPr preferRelativeResize="0"/>
          <p:nvPr/>
        </p:nvPicPr>
        <p:blipFill rotWithShape="1">
          <a:blip r:embed="rId3">
            <a:alphaModFix/>
          </a:blip>
          <a:srcRect b="0" l="1370" r="-1370" t="0"/>
          <a:stretch/>
        </p:blipFill>
        <p:spPr>
          <a:xfrm>
            <a:off x="2076199" y="1390050"/>
            <a:ext cx="4991026" cy="172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1950" y="4411325"/>
            <a:ext cx="3179525" cy="30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gCit 2.0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gCit 2.0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